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  <p:sldMasterId id="2147483680" r:id="rId3"/>
  </p:sldMasterIdLst>
  <p:notesMasterIdLst>
    <p:notesMasterId r:id="rId43"/>
  </p:notesMasterIdLst>
  <p:handoutMasterIdLst>
    <p:handoutMasterId r:id="rId44"/>
  </p:handoutMasterIdLst>
  <p:sldIdLst>
    <p:sldId id="303" r:id="rId4"/>
    <p:sldId id="1739" r:id="rId5"/>
    <p:sldId id="2125" r:id="rId6"/>
    <p:sldId id="2218" r:id="rId7"/>
    <p:sldId id="2170" r:id="rId8"/>
    <p:sldId id="2219" r:id="rId9"/>
    <p:sldId id="2220" r:id="rId10"/>
    <p:sldId id="2221" r:id="rId11"/>
    <p:sldId id="2222" r:id="rId12"/>
    <p:sldId id="2223" r:id="rId13"/>
    <p:sldId id="2252" r:id="rId14"/>
    <p:sldId id="2225" r:id="rId15"/>
    <p:sldId id="2226" r:id="rId16"/>
    <p:sldId id="2227" r:id="rId17"/>
    <p:sldId id="2228" r:id="rId18"/>
    <p:sldId id="2229" r:id="rId19"/>
    <p:sldId id="2230" r:id="rId20"/>
    <p:sldId id="2231" r:id="rId21"/>
    <p:sldId id="526" r:id="rId22"/>
    <p:sldId id="2232" r:id="rId23"/>
    <p:sldId id="2233" r:id="rId24"/>
    <p:sldId id="2234" r:id="rId25"/>
    <p:sldId id="2235" r:id="rId26"/>
    <p:sldId id="2236" r:id="rId27"/>
    <p:sldId id="2237" r:id="rId28"/>
    <p:sldId id="2238" r:id="rId29"/>
    <p:sldId id="2239" r:id="rId30"/>
    <p:sldId id="2240" r:id="rId31"/>
    <p:sldId id="2241" r:id="rId32"/>
    <p:sldId id="2243" r:id="rId33"/>
    <p:sldId id="2244" r:id="rId34"/>
    <p:sldId id="2245" r:id="rId35"/>
    <p:sldId id="2246" r:id="rId36"/>
    <p:sldId id="2247" r:id="rId37"/>
    <p:sldId id="2248" r:id="rId38"/>
    <p:sldId id="2249" r:id="rId39"/>
    <p:sldId id="2250" r:id="rId40"/>
    <p:sldId id="2251" r:id="rId41"/>
    <p:sldId id="2253" r:id="rId42"/>
  </p:sldIdLst>
  <p:sldSz cx="9144000" cy="6858000" type="screen4x3"/>
  <p:notesSz cx="6858000" cy="9144000"/>
  <p:custDataLst>
    <p:tags r:id="rId4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43" userDrawn="1">
          <p15:clr>
            <a:srgbClr val="A4A3A4"/>
          </p15:clr>
        </p15:guide>
        <p15:guide id="2" pos="308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0510" initials="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4F80BD"/>
    <a:srgbClr val="7E7E7E"/>
    <a:srgbClr val="FFFFFF"/>
    <a:srgbClr val="E9EDF4"/>
    <a:srgbClr val="D0D8E8"/>
    <a:srgbClr val="EDEDED"/>
    <a:srgbClr val="AF00E1"/>
    <a:srgbClr val="0000FF"/>
    <a:srgbClr val="7C5E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06"/>
    <p:restoredTop sz="90602"/>
  </p:normalViewPr>
  <p:slideViewPr>
    <p:cSldViewPr showGuides="1">
      <p:cViewPr varScale="1">
        <p:scale>
          <a:sx n="118" d="100"/>
          <a:sy n="118" d="100"/>
        </p:scale>
        <p:origin x="216" y="1896"/>
      </p:cViewPr>
      <p:guideLst>
        <p:guide orient="horz" pos="2543"/>
        <p:guide pos="308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38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ags" Target="tags/tag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commentAuthors" Target="commentAuthor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176A8A89-3B7A-5C4C-B581-531BD114E402}" type="datetimeFigureOut">
              <a:rPr lang="zh-CN" altLang="en-US"/>
              <a:t>2026/3/24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fld id="{C0ED605E-627C-7F46-9798-A3AAE67DD01A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A32DAA-E91B-4E64-A167-ADD60F34773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000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032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736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963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370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600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EBDFB-8B05-D84C-90A8-B4DBE5F9992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4530E4-1CD8-444E-81D5-5F66436C890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CB608F-E12A-3549-B868-81EE2E7A15C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4628FA-1C9F-CA4C-8834-F725C577D04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9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77AF45-E783-8746-8293-670B25546A8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5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46D8-C88D-FA4D-986C-69AC2F0DF1A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77E43-71A7-B549-A063-C3D872E30EC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B83FE-A26A-694A-9EA9-37B5FD9BD54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86CF4-72A5-2A44-B066-CBCAD08B115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6705C-2595-F74D-9428-31CB3AA2B6F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DABA17-3AE6-CB4F-87E0-327679BA9C7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t>3/24/26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BD345B-6D02-CE4F-BE34-A7D154638067}" type="slidenum">
              <a:rPr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6537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FC51B9C-615E-3E87-9C96-4F785C738C5A}"/>
              </a:ext>
            </a:extLst>
          </p:cNvPr>
          <p:cNvSpPr/>
          <p:nvPr userDrawn="1"/>
        </p:nvSpPr>
        <p:spPr>
          <a:xfrm>
            <a:off x="0" y="287382"/>
            <a:ext cx="9144000" cy="598796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244" y="287382"/>
            <a:ext cx="8449734" cy="598796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243" y="999067"/>
            <a:ext cx="8449733" cy="5177896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1243" y="6356351"/>
            <a:ext cx="2057400" cy="365125"/>
          </a:xfrm>
        </p:spPr>
        <p:txBody>
          <a:bodyPr/>
          <a:lstStyle/>
          <a:p>
            <a:fld id="{8A44B6B4-937D-054D-BEF6-8660ACCA85B8}" type="datetimeFigureOut">
              <a:rPr kumimoji="1" lang="zh-CN" altLang="en-US" smtClean="0"/>
              <a:t>2026/3/24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53576" y="6356351"/>
            <a:ext cx="2057400" cy="365125"/>
          </a:xfrm>
        </p:spPr>
        <p:txBody>
          <a:bodyPr/>
          <a:lstStyle/>
          <a:p>
            <a:fld id="{62597CCC-4A0B-5244-AD6B-955C19867F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72408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72504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9197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21434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8759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33855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12773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94161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92488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55235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963A01E-4848-BF4B-9906-C57392373D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21" y="136525"/>
            <a:ext cx="9042850" cy="1279582"/>
          </a:xfrm>
        </p:spPr>
        <p:txBody>
          <a:bodyPr anchor="b">
            <a:normAutofit/>
          </a:bodyPr>
          <a:lstStyle>
            <a:lvl1pPr algn="ctr">
              <a:defRPr sz="33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C687D2A-9185-C743-93A9-24F9C92A8B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21" y="1959356"/>
            <a:ext cx="9042850" cy="365125"/>
          </a:xfrm>
        </p:spPr>
        <p:txBody>
          <a:bodyPr/>
          <a:lstStyle>
            <a:lvl1pPr marL="0" indent="0" algn="ctr">
              <a:buNone/>
              <a:defRPr sz="1800" b="1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948189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CDC7EF8-F7CE-6D41-BB50-4AFB87BCB969}"/>
              </a:ext>
            </a:extLst>
          </p:cNvPr>
          <p:cNvSpPr/>
          <p:nvPr userDrawn="1"/>
        </p:nvSpPr>
        <p:spPr>
          <a:xfrm>
            <a:off x="0" y="287382"/>
            <a:ext cx="9144000" cy="757646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05775C74-8B6A-054B-A23A-9A2FA51C1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7570"/>
            <a:ext cx="7886700" cy="961293"/>
          </a:xfrm>
        </p:spPr>
        <p:txBody>
          <a:bodyPr>
            <a:normAutofit/>
          </a:bodyPr>
          <a:lstStyle>
            <a:lvl1pPr>
              <a:defRPr sz="27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ABA7FF9-1C74-584B-94A4-58E31F820A7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1248676"/>
            <a:ext cx="7886700" cy="4952832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zh-CN" altLang="en-US" dirty="0"/>
              <a:t>编辑母版文本样式</a:t>
            </a:r>
          </a:p>
          <a:p>
            <a:pPr lvl="1"/>
            <a:r>
              <a:rPr kumimoji="1" lang="zh-CN" altLang="en-US" dirty="0"/>
              <a:t>第二级</a:t>
            </a:r>
          </a:p>
          <a:p>
            <a:pPr lvl="2"/>
            <a:r>
              <a:rPr kumimoji="1" lang="zh-CN" altLang="en-US" dirty="0"/>
              <a:t>第三级</a:t>
            </a:r>
          </a:p>
          <a:p>
            <a:pPr lvl="3"/>
            <a:r>
              <a:rPr kumimoji="1" lang="zh-CN" altLang="en-US" dirty="0"/>
              <a:t>第四级</a:t>
            </a:r>
          </a:p>
          <a:p>
            <a:pPr lvl="4"/>
            <a:r>
              <a:rPr kumimoji="1" lang="zh-CN" altLang="en-US" dirty="0"/>
              <a:t>第五级</a:t>
            </a:r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BB58DE52-1A7F-9E42-8369-739F5502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8A44B6B4-937D-054D-BEF6-8660ACCA85B8}" type="datetimeFigureOut">
              <a:rPr kumimoji="1" lang="zh-CN" altLang="en-US" smtClean="0"/>
              <a:t>2026/3/24</a:t>
            </a:fld>
            <a:endParaRPr kumimoji="1" lang="zh-CN" altLang="en-US" dirty="0"/>
          </a:p>
        </p:txBody>
      </p:sp>
      <p:sp>
        <p:nvSpPr>
          <p:cNvPr id="11" name="页脚占位符 4">
            <a:extLst>
              <a:ext uri="{FF2B5EF4-FFF2-40B4-BE49-F238E27FC236}">
                <a16:creationId xmlns:a16="http://schemas.microsoft.com/office/drawing/2014/main" id="{15E3F1D0-3C0A-7B4C-921D-46F39DAE5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12" name="幻灯片编号占位符 5">
            <a:extLst>
              <a:ext uri="{FF2B5EF4-FFF2-40B4-BE49-F238E27FC236}">
                <a16:creationId xmlns:a16="http://schemas.microsoft.com/office/drawing/2014/main" id="{6AC2F1C8-5607-BD4A-B976-70653C8E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62597CCC-4A0B-5244-AD6B-955C19867F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240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>
              <a:defRPr/>
            </a:pPr>
            <a:fld id="{DC899EFB-6059-D44E-8C95-09916307E1FB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 kern="12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00" y="688577"/>
            <a:ext cx="8663940" cy="0"/>
          </a:xfrm>
          <a:custGeom>
            <a:avLst/>
            <a:gdLst/>
            <a:ahLst/>
            <a:cxnLst/>
            <a:rect l="l" t="t" r="r" b="b"/>
            <a:pathLst>
              <a:path w="8663940">
                <a:moveTo>
                  <a:pt x="0" y="0"/>
                </a:moveTo>
                <a:lnTo>
                  <a:pt x="8663880" y="1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136056"/>
            <a:ext cx="8379459" cy="4763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60705" y="6433001"/>
            <a:ext cx="282575" cy="232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48734-831C-F94B-866B-7951737D3FB9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4415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33400" y="1219200"/>
            <a:ext cx="8077200" cy="4837823"/>
            <a:chOff x="609600" y="1219200"/>
            <a:chExt cx="8077200" cy="4837823"/>
          </a:xfrm>
        </p:grpSpPr>
        <p:sp>
          <p:nvSpPr>
            <p:cNvPr id="14337" name="文本框 4099"/>
            <p:cNvSpPr txBox="1">
              <a:spLocks noChangeArrowheads="1"/>
            </p:cNvSpPr>
            <p:nvPr/>
          </p:nvSpPr>
          <p:spPr bwMode="auto">
            <a:xfrm>
              <a:off x="609600" y="4715630"/>
              <a:ext cx="8077200" cy="134139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zh-CN" altLang="en-US" sz="3200" b="1" dirty="0">
                  <a:latin typeface="微软雅黑" panose="020B0503020204020204" charset="-122"/>
                  <a:ea typeface="微软雅黑" panose="020B0503020204020204" charset="-122"/>
                </a:rPr>
                <a:t>陈明帅</a:t>
              </a:r>
              <a:endParaRPr kumimoji="0" lang="en-US" altLang="zh-CN" sz="32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6350" algn="ctr">
                <a:lnSpc>
                  <a:spcPct val="100000"/>
                </a:lnSpc>
                <a:spcBef>
                  <a:spcPts val="965"/>
                </a:spcBef>
              </a:pPr>
              <a:r>
                <a:rPr lang="en-US" altLang="zh-CN" sz="2000" b="1" spc="-10" dirty="0" err="1">
                  <a:solidFill>
                    <a:schemeClr val="tx1"/>
                  </a:solidFill>
                  <a:uFill>
                    <a:solidFill>
                      <a:srgbClr val="0000FF"/>
                    </a:solidFill>
                  </a:uFill>
                  <a:latin typeface="Times New Roman" panose="02020603050405020304"/>
                  <a:cs typeface="Times New Roman" panose="02020603050405020304"/>
                </a:rPr>
                <a:t>m.chen@zju.edu.cn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endParaRPr>
            </a:p>
            <a:p>
              <a:pPr marL="6350" marR="76200" algn="ctr">
                <a:lnSpc>
                  <a:spcPct val="100000"/>
                </a:lnSpc>
                <a:spcBef>
                  <a:spcPts val="120"/>
                </a:spcBef>
              </a:pPr>
              <a:r>
                <a:rPr lang="zh-CN" altLang="en-US" sz="2000" b="1" spc="-25" dirty="0">
                  <a:solidFill>
                    <a:srgbClr val="25252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浙江大学 </a:t>
              </a:r>
              <a:r>
                <a:rPr lang="en-US" altLang="zh-CN" sz="2000" b="1" spc="-25" dirty="0">
                  <a:solidFill>
                    <a:srgbClr val="25252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2000" b="1" spc="-25" dirty="0">
                  <a:solidFill>
                    <a:srgbClr val="25252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2000" b="1" spc="-15" dirty="0">
                  <a:solidFill>
                    <a:srgbClr val="25252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计算机科学与技术学院</a:t>
              </a:r>
              <a:endParaRPr kumimoji="0" lang="en-US" altLang="zh-CN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338" name="文本框 4101"/>
            <p:cNvSpPr txBox="1">
              <a:spLocks noChangeArrowheads="1"/>
            </p:cNvSpPr>
            <p:nvPr/>
          </p:nvSpPr>
          <p:spPr bwMode="auto">
            <a:xfrm>
              <a:off x="609600" y="1219200"/>
              <a:ext cx="8077200" cy="92392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zh-CN" altLang="en-US" sz="5400" b="1" dirty="0">
                  <a:latin typeface="微软雅黑" panose="020B0503020204020204" charset="-122"/>
                  <a:ea typeface="微软雅黑" panose="020B0503020204020204" charset="-122"/>
                </a:rPr>
                <a:t>编译原理</a:t>
              </a:r>
              <a:endParaRPr kumimoji="0" lang="en-US" altLang="zh-CN" sz="5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026" name="Picture 2" descr="Algorithmic trading - Energy Risk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1880" y="2641401"/>
              <a:ext cx="2705786" cy="1670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268" y="137667"/>
            <a:ext cx="1442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课程内容</a:t>
            </a:r>
          </a:p>
        </p:txBody>
      </p:sp>
      <p:grpSp>
        <p:nvGrpSpPr>
          <p:cNvPr id="148" name="组合 147"/>
          <p:cNvGrpSpPr/>
          <p:nvPr/>
        </p:nvGrpSpPr>
        <p:grpSpPr>
          <a:xfrm>
            <a:off x="3812671" y="1315319"/>
            <a:ext cx="1512000" cy="654393"/>
            <a:chOff x="3831472" y="983123"/>
            <a:chExt cx="1512000" cy="654393"/>
          </a:xfrm>
        </p:grpSpPr>
        <p:sp>
          <p:nvSpPr>
            <p:cNvPr id="96" name="圆角矩形 95"/>
            <p:cNvSpPr/>
            <p:nvPr/>
          </p:nvSpPr>
          <p:spPr>
            <a:xfrm>
              <a:off x="3831472" y="1133460"/>
              <a:ext cx="1512000" cy="504056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>
                <a:lnSpc>
                  <a:spcPts val="1800"/>
                </a:lnSpc>
              </a:pPr>
              <a:r>
                <a:rPr kumimoji="1" lang="en-US" altLang="zh-CN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97" name="矩形 96"/>
            <p:cNvSpPr/>
            <p:nvPr/>
          </p:nvSpPr>
          <p:spPr>
            <a:xfrm>
              <a:off x="3940712" y="983123"/>
              <a:ext cx="237478" cy="2848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263550" y="2343372"/>
            <a:ext cx="8610242" cy="3828828"/>
            <a:chOff x="263550" y="2362200"/>
            <a:chExt cx="8610242" cy="3828828"/>
          </a:xfrm>
        </p:grpSpPr>
        <p:grpSp>
          <p:nvGrpSpPr>
            <p:cNvPr id="98" name="组合 97"/>
            <p:cNvGrpSpPr/>
            <p:nvPr>
              <p:custDataLst>
                <p:tags r:id="rId1"/>
              </p:custDataLst>
            </p:nvPr>
          </p:nvGrpSpPr>
          <p:grpSpPr>
            <a:xfrm>
              <a:off x="450658" y="2492896"/>
              <a:ext cx="8242684" cy="3548019"/>
              <a:chOff x="566592" y="2324036"/>
              <a:chExt cx="8242684" cy="3548019"/>
            </a:xfrm>
          </p:grpSpPr>
          <p:grpSp>
            <p:nvGrpSpPr>
              <p:cNvPr id="99" name="组合 98"/>
              <p:cNvGrpSpPr/>
              <p:nvPr/>
            </p:nvGrpSpPr>
            <p:grpSpPr>
              <a:xfrm>
                <a:off x="566592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41" name="圆角矩形 140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Lexical Analysis</a:t>
                  </a:r>
                </a:p>
              </p:txBody>
            </p:sp>
            <p:sp>
              <p:nvSpPr>
                <p:cNvPr id="142" name="矩形 141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grpSp>
            <p:nvGrpSpPr>
              <p:cNvPr id="100" name="组合 99"/>
              <p:cNvGrpSpPr/>
              <p:nvPr/>
            </p:nvGrpSpPr>
            <p:grpSpPr>
              <a:xfrm>
                <a:off x="2256999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9" name="圆角矩形 138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en-GB" altLang="zh-CN" dirty="0">
                      <a:solidFill>
                        <a:srgbClr val="C00000"/>
                      </a:solidFill>
                    </a:rPr>
                    <a:t>Parsing</a:t>
                  </a:r>
                  <a:endParaRPr kumimoji="1" lang="en-GB" altLang="zh-CN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40" name="矩形 139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rgbClr val="C00000"/>
                      </a:solidFill>
                    </a:rPr>
                    <a:t>3</a:t>
                  </a:r>
                </a:p>
              </p:txBody>
            </p:sp>
          </p:grpSp>
          <p:grpSp>
            <p:nvGrpSpPr>
              <p:cNvPr id="101" name="组合 100"/>
              <p:cNvGrpSpPr/>
              <p:nvPr/>
            </p:nvGrpSpPr>
            <p:grpSpPr>
              <a:xfrm>
                <a:off x="3947406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7" name="圆角矩形 136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Abstract Syntax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8" name="矩形 137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4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2" name="组合 101"/>
              <p:cNvGrpSpPr/>
              <p:nvPr/>
            </p:nvGrpSpPr>
            <p:grpSpPr>
              <a:xfrm>
                <a:off x="5637813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5" name="圆角矩形 134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Semantic Analysis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6" name="矩形 135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5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7297276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3" name="圆角矩形 132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Activation Records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4" name="矩形 133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6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4" name="组合 103"/>
              <p:cNvGrpSpPr/>
              <p:nvPr/>
            </p:nvGrpSpPr>
            <p:grpSpPr>
              <a:xfrm>
                <a:off x="5637813" y="3218640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1" name="圆角矩形 130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 err="1">
                      <a:solidFill>
                        <a:schemeClr val="tx1"/>
                      </a:solidFill>
                    </a:rPr>
                    <a:t>Interm</a:t>
                  </a: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. Code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2" name="矩形 131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7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5" name="组合 104"/>
              <p:cNvGrpSpPr/>
              <p:nvPr/>
            </p:nvGrpSpPr>
            <p:grpSpPr>
              <a:xfrm>
                <a:off x="3949602" y="3218640"/>
                <a:ext cx="1512000" cy="654393"/>
                <a:chOff x="566592" y="2270551"/>
                <a:chExt cx="1481056" cy="654393"/>
              </a:xfrm>
            </p:grpSpPr>
            <p:sp>
              <p:nvSpPr>
                <p:cNvPr id="129" name="圆角矩形 128"/>
                <p:cNvSpPr/>
                <p:nvPr/>
              </p:nvSpPr>
              <p:spPr>
                <a:xfrm>
                  <a:off x="566592" y="2420888"/>
                  <a:ext cx="1481056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en-GB" altLang="zh-CN" dirty="0">
                      <a:solidFill>
                        <a:schemeClr val="tx1"/>
                      </a:solidFill>
                    </a:rPr>
                    <a:t>Blocks &amp; Traces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0" name="矩形 129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8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6" name="组合 105"/>
              <p:cNvGrpSpPr/>
              <p:nvPr/>
            </p:nvGrpSpPr>
            <p:grpSpPr>
              <a:xfrm>
                <a:off x="2258123" y="3218640"/>
                <a:ext cx="1512000" cy="654393"/>
                <a:chOff x="584046" y="2270551"/>
                <a:chExt cx="1512000" cy="654393"/>
              </a:xfrm>
            </p:grpSpPr>
            <p:sp>
              <p:nvSpPr>
                <p:cNvPr id="127" name="圆角矩形 126"/>
                <p:cNvSpPr/>
                <p:nvPr/>
              </p:nvSpPr>
              <p:spPr>
                <a:xfrm>
                  <a:off x="584046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Instruct. Selection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" name="矩形 127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9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3013423" y="4082260"/>
                <a:ext cx="1512000" cy="654393"/>
                <a:chOff x="590792" y="2270551"/>
                <a:chExt cx="1512000" cy="654393"/>
              </a:xfrm>
            </p:grpSpPr>
            <p:sp>
              <p:nvSpPr>
                <p:cNvPr id="125" name="圆角矩形 124"/>
                <p:cNvSpPr/>
                <p:nvPr/>
              </p:nvSpPr>
              <p:spPr>
                <a:xfrm>
                  <a:off x="5907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Liveness Analysis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6" name="矩形 125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10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8" name="组合 107"/>
              <p:cNvGrpSpPr/>
              <p:nvPr/>
            </p:nvGrpSpPr>
            <p:grpSpPr>
              <a:xfrm>
                <a:off x="4912722" y="4082260"/>
                <a:ext cx="1512000" cy="654393"/>
                <a:chOff x="566592" y="2270551"/>
                <a:chExt cx="1512000" cy="654393"/>
              </a:xfrm>
            </p:grpSpPr>
            <p:sp>
              <p:nvSpPr>
                <p:cNvPr id="123" name="圆角矩形 122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Register Allocation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" name="矩形 123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11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9" name="组合 108"/>
              <p:cNvGrpSpPr/>
              <p:nvPr/>
            </p:nvGrpSpPr>
            <p:grpSpPr>
              <a:xfrm>
                <a:off x="3013423" y="5217662"/>
                <a:ext cx="1512000" cy="654393"/>
                <a:chOff x="590792" y="2270551"/>
                <a:chExt cx="1512000" cy="654393"/>
              </a:xfrm>
            </p:grpSpPr>
            <p:sp>
              <p:nvSpPr>
                <p:cNvPr id="121" name="圆角矩形 120"/>
                <p:cNvSpPr/>
                <p:nvPr/>
              </p:nvSpPr>
              <p:spPr>
                <a:xfrm>
                  <a:off x="5907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Garbage Collection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矩形 121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13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10" name="组合 109"/>
              <p:cNvGrpSpPr/>
              <p:nvPr/>
            </p:nvGrpSpPr>
            <p:grpSpPr>
              <a:xfrm>
                <a:off x="4912722" y="5217662"/>
                <a:ext cx="1512000" cy="654393"/>
                <a:chOff x="566592" y="2270551"/>
                <a:chExt cx="1512000" cy="654393"/>
              </a:xfrm>
            </p:grpSpPr>
            <p:sp>
              <p:nvSpPr>
                <p:cNvPr id="119" name="圆角矩形 118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en-GB" altLang="zh-CN" dirty="0">
                      <a:solidFill>
                        <a:schemeClr val="tx1"/>
                      </a:solidFill>
                    </a:rPr>
                    <a:t>Loop Optimizations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矩形 119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18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cxnSp>
            <p:nvCxnSpPr>
              <p:cNvPr id="111" name="直线箭头连接符 110"/>
              <p:cNvCxnSpPr>
                <a:stCxn id="141" idx="3"/>
                <a:endCxn id="139" idx="1"/>
              </p:cNvCxnSpPr>
              <p:nvPr/>
            </p:nvCxnSpPr>
            <p:spPr>
              <a:xfrm>
                <a:off x="2078592" y="2726401"/>
                <a:ext cx="178407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线箭头连接符 111"/>
              <p:cNvCxnSpPr>
                <a:stCxn id="139" idx="3"/>
                <a:endCxn id="137" idx="1"/>
              </p:cNvCxnSpPr>
              <p:nvPr/>
            </p:nvCxnSpPr>
            <p:spPr>
              <a:xfrm>
                <a:off x="3768999" y="2726401"/>
                <a:ext cx="178407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线箭头连接符 112"/>
              <p:cNvCxnSpPr>
                <a:stCxn id="137" idx="3"/>
                <a:endCxn id="135" idx="1"/>
              </p:cNvCxnSpPr>
              <p:nvPr/>
            </p:nvCxnSpPr>
            <p:spPr>
              <a:xfrm>
                <a:off x="5459406" y="2726401"/>
                <a:ext cx="178407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线箭头连接符 113"/>
              <p:cNvCxnSpPr>
                <a:stCxn id="135" idx="2"/>
                <a:endCxn id="131" idx="0"/>
              </p:cNvCxnSpPr>
              <p:nvPr/>
            </p:nvCxnSpPr>
            <p:spPr>
              <a:xfrm>
                <a:off x="6393813" y="2978429"/>
                <a:ext cx="0" cy="390548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线箭头连接符 114"/>
              <p:cNvCxnSpPr>
                <a:stCxn id="131" idx="1"/>
                <a:endCxn id="129" idx="3"/>
              </p:cNvCxnSpPr>
              <p:nvPr/>
            </p:nvCxnSpPr>
            <p:spPr>
              <a:xfrm flipH="1">
                <a:off x="5461602" y="3621005"/>
                <a:ext cx="176211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线箭头连接符 115"/>
              <p:cNvCxnSpPr>
                <a:stCxn id="125" idx="3"/>
                <a:endCxn id="123" idx="1"/>
              </p:cNvCxnSpPr>
              <p:nvPr/>
            </p:nvCxnSpPr>
            <p:spPr>
              <a:xfrm>
                <a:off x="4525423" y="4484625"/>
                <a:ext cx="387299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肘形连接符 116"/>
              <p:cNvCxnSpPr>
                <a:stCxn id="133" idx="2"/>
                <a:endCxn id="131" idx="3"/>
              </p:cNvCxnSpPr>
              <p:nvPr/>
            </p:nvCxnSpPr>
            <p:spPr>
              <a:xfrm rot="5400000">
                <a:off x="7280257" y="2847986"/>
                <a:ext cx="642576" cy="903463"/>
              </a:xfrm>
              <a:prstGeom prst="bentConnector2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肘形连接符 117"/>
              <p:cNvCxnSpPr>
                <a:endCxn id="119" idx="1"/>
              </p:cNvCxnSpPr>
              <p:nvPr/>
            </p:nvCxnSpPr>
            <p:spPr>
              <a:xfrm rot="16200000" flipH="1">
                <a:off x="4246668" y="4953972"/>
                <a:ext cx="1135403" cy="196706"/>
              </a:xfrm>
              <a:prstGeom prst="bentConnector2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3" name="矩形 27"/>
            <p:cNvSpPr/>
            <p:nvPr>
              <p:custDataLst>
                <p:tags r:id="rId2"/>
              </p:custDataLst>
            </p:nvPr>
          </p:nvSpPr>
          <p:spPr bwMode="gray">
            <a:xfrm rot="5400000">
              <a:off x="3185852" y="-553447"/>
              <a:ext cx="2772293" cy="8603587"/>
            </a:xfrm>
            <a:prstGeom prst="rect">
              <a:avLst/>
            </a:prstGeom>
            <a:noFill/>
            <a:ln w="19050" algn="ctr">
              <a:solidFill>
                <a:srgbClr val="002060">
                  <a:alpha val="35000"/>
                </a:srgbClr>
              </a:solidFill>
              <a:prstDash val="sysDash"/>
              <a:miter lim="800000"/>
            </a:ln>
            <a:effectLst/>
          </p:spPr>
          <p:txBody>
            <a:bodyPr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endParaRPr lang="zh-CN" altLang="en-US" sz="1350" kern="0">
                <a:solidFill>
                  <a:srgbClr val="000000"/>
                </a:solidFill>
              </a:endParaRPr>
            </a:p>
          </p:txBody>
        </p:sp>
        <p:sp>
          <p:nvSpPr>
            <p:cNvPr id="144" name="矩形 27"/>
            <p:cNvSpPr/>
            <p:nvPr>
              <p:custDataLst>
                <p:tags r:id="rId3"/>
              </p:custDataLst>
            </p:nvPr>
          </p:nvSpPr>
          <p:spPr bwMode="gray">
            <a:xfrm rot="5400000">
              <a:off x="4103808" y="1409056"/>
              <a:ext cx="936379" cy="8603587"/>
            </a:xfrm>
            <a:prstGeom prst="rect">
              <a:avLst/>
            </a:prstGeom>
            <a:noFill/>
            <a:ln w="19050" algn="ctr">
              <a:solidFill>
                <a:srgbClr val="002060">
                  <a:alpha val="35000"/>
                </a:srgbClr>
              </a:solidFill>
              <a:prstDash val="sysDash"/>
              <a:miter lim="800000"/>
            </a:ln>
            <a:effectLst/>
          </p:spPr>
          <p:txBody>
            <a:bodyPr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endParaRPr lang="zh-CN" altLang="en-US" sz="1350" kern="0">
                <a:solidFill>
                  <a:srgbClr val="000000"/>
                </a:solidFill>
              </a:endParaRPr>
            </a:p>
          </p:txBody>
        </p:sp>
        <p:sp>
          <p:nvSpPr>
            <p:cNvPr id="145" name="文本框 144"/>
            <p:cNvSpPr txBox="1"/>
            <p:nvPr>
              <p:custDataLst>
                <p:tags r:id="rId4"/>
              </p:custDataLst>
            </p:nvPr>
          </p:nvSpPr>
          <p:spPr>
            <a:xfrm>
              <a:off x="263550" y="4769978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altLang="zh-CN" b="1" dirty="0">
                  <a:solidFill>
                    <a:schemeClr val="tx2"/>
                  </a:solidFill>
                </a:rPr>
                <a:t>Fundamentals</a:t>
              </a:r>
              <a:endParaRPr lang="zh-CN" altLang="en-US" b="1" dirty="0">
                <a:solidFill>
                  <a:schemeClr val="tx2"/>
                </a:solidFill>
              </a:endParaRPr>
            </a:p>
          </p:txBody>
        </p:sp>
        <p:sp>
          <p:nvSpPr>
            <p:cNvPr id="146" name="文本框 145"/>
            <p:cNvSpPr txBox="1"/>
            <p:nvPr>
              <p:custDataLst>
                <p:tags r:id="rId5"/>
              </p:custDataLst>
            </p:nvPr>
          </p:nvSpPr>
          <p:spPr>
            <a:xfrm>
              <a:off x="263550" y="5821696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altLang="zh-CN" b="1" dirty="0">
                  <a:solidFill>
                    <a:schemeClr val="tx2"/>
                  </a:solidFill>
                </a:rPr>
                <a:t>Advanced Topics</a:t>
              </a:r>
              <a:endParaRPr lang="zh-CN" altLang="en-US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3" name="圆角矩形 120">
            <a:extLst>
              <a:ext uri="{FF2B5EF4-FFF2-40B4-BE49-F238E27FC236}">
                <a16:creationId xmlns:a16="http://schemas.microsoft.com/office/drawing/2014/main" id="{E7EFCB1D-29D3-471D-9937-DCEA4CBCD588}"/>
              </a:ext>
            </a:extLst>
          </p:cNvPr>
          <p:cNvSpPr/>
          <p:nvPr/>
        </p:nvSpPr>
        <p:spPr>
          <a:xfrm>
            <a:off x="6696087" y="5520094"/>
            <a:ext cx="1512000" cy="50405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 anchorCtr="1"/>
          <a:lstStyle/>
          <a:p>
            <a:pPr marL="0" marR="0" lvl="0" indent="0" algn="ctr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/>
                <a:ea typeface="等线" panose="02010600030101010101" pitchFamily="2" charset="-122"/>
              </a:rPr>
              <a:t>Obj.-Ori. Languages</a:t>
            </a:r>
            <a:endParaRPr kumimoji="1" lang="zh-CN" altLang="en-US" dirty="0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DD527C-CB64-A121-8CED-90528823E3CA}"/>
              </a:ext>
            </a:extLst>
          </p:cNvPr>
          <p:cNvSpPr/>
          <p:nvPr/>
        </p:nvSpPr>
        <p:spPr>
          <a:xfrm>
            <a:off x="6781126" y="5369757"/>
            <a:ext cx="310836" cy="284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1" lang="en-US" altLang="zh-CN" sz="2000" dirty="0">
                <a:solidFill>
                  <a:schemeClr val="tx2"/>
                </a:solidFill>
              </a:rPr>
              <a:t>14</a:t>
            </a:r>
            <a:endParaRPr kumimoji="1" lang="zh-CN" altLang="en-US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Outline: </a:t>
            </a:r>
            <a:r>
              <a:rPr lang="en-US" dirty="0">
                <a:sym typeface="+mn-ea"/>
              </a:rPr>
              <a:t>How to Build a Parser</a:t>
            </a:r>
            <a:endParaRPr lang="en-US" dirty="0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Specifying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the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syntax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of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a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programming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language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with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Context-Free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Grammars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  <a:sym typeface="Wingdings" panose="05000000000000000000" pitchFamily="2" charset="2"/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  <a:sym typeface="Wingdings" panose="05000000000000000000" pitchFamily="2" charset="2"/>
              </a:rPr>
              <a:t>(CFG)</a:t>
            </a:r>
          </a:p>
          <a:p>
            <a:endParaRPr kumimoji="1" lang="en-US" altLang="zh-CN" dirty="0">
              <a:sym typeface="Wingdings" panose="05000000000000000000" pitchFamily="2" charset="2"/>
            </a:endParaRPr>
          </a:p>
          <a:p>
            <a:r>
              <a:rPr kumimoji="1" lang="en-US" altLang="zh-CN" dirty="0"/>
              <a:t>Build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parser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CFG:</a:t>
            </a:r>
          </a:p>
          <a:p>
            <a:pPr lvl="1"/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Top-Down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Parsing</a:t>
            </a:r>
          </a:p>
          <a:p>
            <a:pPr lvl="2"/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Predictive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Parsing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(LL(k)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Parsing)</a:t>
            </a:r>
          </a:p>
          <a:p>
            <a:pPr lvl="1"/>
            <a:r>
              <a:rPr kumimoji="1" lang="en-US" altLang="zh-CN" b="1" dirty="0">
                <a:solidFill>
                  <a:srgbClr val="0070C0"/>
                </a:solidFill>
              </a:rPr>
              <a:t>Bottom-Up</a:t>
            </a:r>
            <a:r>
              <a:rPr kumimoji="1" lang="zh-CN" altLang="en-US" b="1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</a:rPr>
              <a:t>Parsing</a:t>
            </a:r>
          </a:p>
          <a:p>
            <a:pPr lvl="2"/>
            <a:r>
              <a:rPr kumimoji="1" lang="en-US" altLang="zh-CN" b="1" dirty="0">
                <a:solidFill>
                  <a:srgbClr val="0070C0"/>
                </a:solidFill>
              </a:rPr>
              <a:t>LR</a:t>
            </a:r>
            <a:r>
              <a:rPr kumimoji="1" lang="zh-CN" altLang="en-US" b="1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</a:rPr>
              <a:t>Parsing</a:t>
            </a:r>
          </a:p>
          <a:p>
            <a:endParaRPr kumimoji="1" lang="en-US" altLang="zh-CN" dirty="0">
              <a:solidFill>
                <a:sysClr val="window" lastClr="FFFFFF">
                  <a:lumMod val="50000"/>
                </a:sysClr>
              </a:solidFill>
            </a:endParaRPr>
          </a:p>
          <a:p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More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about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parsing:</a:t>
            </a:r>
          </a:p>
          <a:p>
            <a:pPr lvl="1"/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Automatic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parser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generation</a:t>
            </a:r>
          </a:p>
          <a:p>
            <a:pPr lvl="1"/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Error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Recovery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endParaRPr kumimoji="1" lang="en-US" altLang="zh-CN" dirty="0">
              <a:solidFill>
                <a:sysClr val="window" lastClr="FFFFFF">
                  <a:lumMod val="50000"/>
                </a:sys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Review</a:t>
            </a: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b="1" dirty="0">
                <a:solidFill>
                  <a:srgbClr val="4F80BD"/>
                </a:solidFill>
              </a:rPr>
              <a:t>Specifying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the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syntax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of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a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programming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language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with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Context-Free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Grammars</a:t>
            </a:r>
            <a:r>
              <a:rPr kumimoji="1" lang="zh-CN" altLang="en-US" b="1" dirty="0">
                <a:solidFill>
                  <a:srgbClr val="4F80BD"/>
                </a:solidFill>
                <a:sym typeface="Wingdings" panose="05000000000000000000" pitchFamily="2" charset="2"/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  <a:sym typeface="Wingdings" panose="05000000000000000000" pitchFamily="2" charset="2"/>
              </a:rPr>
              <a:t>(CFG)</a:t>
            </a:r>
          </a:p>
          <a:p>
            <a:pPr marL="457200" lvl="1" indent="0" eaLnBrk="1" hangingPunct="1">
              <a:buNone/>
            </a:pPr>
            <a:r>
              <a:rPr lang="en-US" altLang="zh-CN" sz="2600" dirty="0">
                <a:ea typeface="宋体" panose="02010600030101010101" pitchFamily="2" charset="-122"/>
                <a:sym typeface="+mn-ea"/>
              </a:rPr>
              <a:t>terminals, non-terminals, start</a:t>
            </a:r>
            <a:r>
              <a:rPr lang="zh-CN" altLang="en-US" sz="2600" dirty="0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600" dirty="0">
                <a:ea typeface="宋体" panose="02010600030101010101" pitchFamily="2" charset="-122"/>
                <a:sym typeface="+mn-ea"/>
              </a:rPr>
              <a:t>symbol,</a:t>
            </a:r>
            <a:r>
              <a:rPr lang="zh-CN" altLang="en-US" sz="2600" dirty="0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600" dirty="0">
                <a:ea typeface="宋体" panose="02010600030101010101" pitchFamily="2" charset="-122"/>
                <a:sym typeface="+mn-ea"/>
              </a:rPr>
              <a:t>productions</a:t>
            </a:r>
            <a:r>
              <a:rPr lang="zh-CN" altLang="en-US" sz="2600" dirty="0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600" dirty="0">
                <a:ea typeface="宋体" panose="02010600030101010101" pitchFamily="2" charset="-122"/>
                <a:sym typeface="+mn-ea"/>
              </a:rPr>
              <a:t>(rules)</a:t>
            </a:r>
            <a:endParaRPr kumimoji="0" lang="en-US" altLang="zh-CN" sz="2600" dirty="0">
              <a:ea typeface="宋体" panose="02010600030101010101" pitchFamily="2" charset="-122"/>
            </a:endParaRPr>
          </a:p>
          <a:p>
            <a:pPr marL="457200" lvl="1" indent="0" eaLnBrk="1" hangingPunct="1">
              <a:buNone/>
            </a:pPr>
            <a:r>
              <a:rPr lang="en-US" altLang="zh-CN" sz="2600" dirty="0">
                <a:ea typeface="宋体" panose="02010600030101010101" pitchFamily="2" charset="-122"/>
                <a:sym typeface="+mn-ea"/>
              </a:rPr>
              <a:t>derivations &amp; parse trees</a:t>
            </a:r>
            <a:endParaRPr kumimoji="0" lang="en-US" altLang="zh-CN" sz="2600" dirty="0">
              <a:ea typeface="宋体" panose="02010600030101010101" pitchFamily="2" charset="-122"/>
            </a:endParaRPr>
          </a:p>
          <a:p>
            <a:pPr marL="457200" lvl="1" indent="0" eaLnBrk="1" hangingPunct="1">
              <a:buNone/>
            </a:pPr>
            <a:r>
              <a:rPr lang="en-US" altLang="zh-CN" sz="2600" dirty="0">
                <a:ea typeface="宋体" panose="02010600030101010101" pitchFamily="2" charset="-122"/>
                <a:sym typeface="+mn-ea"/>
              </a:rPr>
              <a:t>ambiguous grammars</a:t>
            </a:r>
          </a:p>
          <a:p>
            <a:pPr marL="457200" lvl="1" indent="0" eaLnBrk="1" hangingPunct="1">
              <a:buNone/>
            </a:pPr>
            <a:endParaRPr kumimoji="0" lang="en-US" altLang="zh-CN" sz="2600" dirty="0">
              <a:ea typeface="宋体" panose="02010600030101010101" pitchFamily="2" charset="-122"/>
            </a:endParaRPr>
          </a:p>
          <a:p>
            <a:r>
              <a:rPr kumimoji="1" lang="en-US" altLang="zh-CN" b="1" dirty="0">
                <a:solidFill>
                  <a:srgbClr val="4F80BD"/>
                </a:solidFill>
              </a:rPr>
              <a:t>Build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the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parser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based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on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the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CFG:</a:t>
            </a:r>
            <a:endParaRPr kumimoji="1" lang="en-US" altLang="zh-CN" dirty="0">
              <a:solidFill>
                <a:srgbClr val="4F80BD"/>
              </a:solidFill>
            </a:endParaRPr>
          </a:p>
          <a:p>
            <a:pPr lvl="1"/>
            <a:r>
              <a:rPr kumimoji="1" lang="en-US" altLang="zh-CN" b="1" dirty="0">
                <a:solidFill>
                  <a:srgbClr val="4F80BD"/>
                </a:solidFill>
              </a:rPr>
              <a:t>Top-Down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Parsing</a:t>
            </a:r>
          </a:p>
          <a:p>
            <a:pPr lvl="2"/>
            <a:r>
              <a:rPr kumimoji="1" lang="en-US" altLang="zh-CN" b="1" dirty="0">
                <a:solidFill>
                  <a:srgbClr val="4F80BD"/>
                </a:solidFill>
              </a:rPr>
              <a:t>Predictive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Parsing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(LL(k)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Parsing)</a:t>
            </a:r>
            <a:endParaRPr kumimoji="1" lang="en-US" altLang="zh-CN" dirty="0">
              <a:solidFill>
                <a:srgbClr val="4F80BD"/>
              </a:solidFill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  <a:sym typeface="+mn-ea"/>
              </a:rPr>
              <a:t>easy to write as C programs</a:t>
            </a:r>
            <a:endParaRPr kumimoji="0"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  <a:sym typeface="+mn-ea"/>
              </a:rPr>
              <a:t>algorithms for automatic construction from a CFG</a:t>
            </a:r>
            <a:endParaRPr kumimoji="0"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  <a:sym typeface="+mn-ea"/>
              </a:rPr>
              <a:t>error recovery</a:t>
            </a:r>
            <a:endParaRPr kumimoji="0" lang="en-US" altLang="zh-CN" dirty="0">
              <a:ea typeface="宋体" panose="02010600030101010101" pitchFamily="2" charset="-122"/>
            </a:endParaRPr>
          </a:p>
          <a:p>
            <a:pPr marL="457200" lvl="1" indent="0">
              <a:buNone/>
            </a:pPr>
            <a:endParaRPr kumimoji="1" lang="en-US" altLang="zh-CN" dirty="0">
              <a:solidFill>
                <a:sysClr val="window" lastClr="FFFFFF">
                  <a:lumMod val="50000"/>
                </a:sysClr>
              </a:solidFill>
            </a:endParaRPr>
          </a:p>
        </p:txBody>
      </p:sp>
      <p:sp>
        <p:nvSpPr>
          <p:cNvPr id="3" name="五角星 2"/>
          <p:cNvSpPr/>
          <p:nvPr/>
        </p:nvSpPr>
        <p:spPr>
          <a:xfrm>
            <a:off x="6019800" y="3886200"/>
            <a:ext cx="533400" cy="457200"/>
          </a:xfrm>
          <a:prstGeom prst="star5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905751" cy="430887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– </a:t>
            </a:r>
            <a:r>
              <a:rPr kumimoji="1" lang="en-US" altLang="zh-CN" dirty="0"/>
              <a:t>Nullable, </a:t>
            </a:r>
            <a:r>
              <a:rPr kumimoji="1" lang="en-US" altLang="zh-CN" dirty="0">
                <a:sym typeface="+mn-ea"/>
              </a:rPr>
              <a:t>First, Follow Sets</a:t>
            </a:r>
            <a:endParaRPr kumimoji="1" lang="zh-CN" altLang="en-US" dirty="0">
              <a:sym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162F9E1-8A35-BC30-0F17-0759471D6A55}"/>
              </a:ext>
            </a:extLst>
          </p:cNvPr>
          <p:cNvGrpSpPr/>
          <p:nvPr/>
        </p:nvGrpSpPr>
        <p:grpSpPr>
          <a:xfrm>
            <a:off x="1958181" y="1030349"/>
            <a:ext cx="5227638" cy="743268"/>
            <a:chOff x="1720936" y="1030349"/>
            <a:chExt cx="5227638" cy="743268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1720936" y="1066862"/>
              <a:ext cx="1355090" cy="706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cs typeface="Arial" panose="020B0604020202020204" pitchFamily="34" charset="0"/>
                </a:rPr>
                <a:t>Z </a:t>
              </a:r>
              <a:r>
                <a:rPr kumimoji="0" lang="en-US" altLang="zh-CN" sz="2000" b="1" dirty="0">
                  <a:cs typeface="Arial" panose="020B0604020202020204" pitchFamily="34" charset="0"/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 X Y Z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cs typeface="Arial" panose="020B0604020202020204" pitchFamily="34" charset="0"/>
                </a:rPr>
                <a:t>Z</a:t>
              </a:r>
              <a:r>
                <a:rPr kumimoji="0" lang="en-US" altLang="zh-CN" sz="2000" b="1" dirty="0">
                  <a:cs typeface="Arial" panose="020B0604020202020204" pitchFamily="34" charset="0"/>
                  <a:sym typeface="Symbol" panose="05050102010706020507" pitchFamily="2" charset="2"/>
                </a:rPr>
                <a:t>  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3972011" y="1030349"/>
              <a:ext cx="889000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>
                  <a:cs typeface="Arial" panose="020B0604020202020204" pitchFamily="34" charset="0"/>
                </a:rPr>
                <a:t>Y</a:t>
              </a:r>
              <a:r>
                <a:rPr kumimoji="0" lang="en-US" altLang="zh-CN" sz="2000" b="1">
                  <a:cs typeface="Arial" panose="020B0604020202020204" pitchFamily="34" charset="0"/>
                  <a:sym typeface="Symbol" panose="05050102010706020507" pitchFamily="2" charset="2"/>
                </a:rPr>
                <a:t>  </a:t>
              </a:r>
              <a:r>
                <a:rPr kumimoji="0" lang="en-US" altLang="zh-CN" sz="2000" b="1">
                  <a:cs typeface="Arial" panose="020B0604020202020204" pitchFamily="34" charset="0"/>
                </a:rPr>
                <a:t>c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>
                  <a:cs typeface="Arial" panose="020B0604020202020204" pitchFamily="34" charset="0"/>
                </a:rPr>
                <a:t>Y</a:t>
              </a:r>
              <a:r>
                <a:rPr kumimoji="0" lang="en-US" altLang="zh-CN" sz="2000" b="1">
                  <a:cs typeface="Arial" panose="020B0604020202020204" pitchFamily="34" charset="0"/>
                  <a:sym typeface="Symbol" panose="05050102010706020507" pitchFamily="2" charset="2"/>
                </a:rPr>
                <a:t> </a:t>
              </a:r>
              <a:endParaRPr kumimoji="0" lang="en-US" altLang="zh-CN" sz="2000" b="1">
                <a:cs typeface="Arial" panose="020B0604020202020204" pitchFamily="34" charset="0"/>
              </a:endParaRPr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5965911" y="1030349"/>
              <a:ext cx="982663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cs typeface="Arial" panose="020B0604020202020204" pitchFamily="34" charset="0"/>
                </a:rPr>
                <a:t>X </a:t>
              </a:r>
              <a:r>
                <a:rPr kumimoji="0" lang="en-US" altLang="zh-CN" sz="2000" b="1" dirty="0">
                  <a:cs typeface="Arial" panose="020B0604020202020204" pitchFamily="34" charset="0"/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 a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cs typeface="Arial" panose="020B0604020202020204" pitchFamily="34" charset="0"/>
                </a:rPr>
                <a:t>X </a:t>
              </a:r>
              <a:r>
                <a:rPr kumimoji="0" lang="en-US" altLang="zh-CN" sz="2000" b="1" dirty="0">
                  <a:cs typeface="Arial" panose="020B0604020202020204" pitchFamily="34" charset="0"/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 Y </a:t>
              </a:r>
            </a:p>
          </p:txBody>
        </p:sp>
      </p:grpSp>
      <p:graphicFrame>
        <p:nvGraphicFramePr>
          <p:cNvPr id="9" name="Group 6"/>
          <p:cNvGraphicFramePr/>
          <p:nvPr>
            <p:extLst>
              <p:ext uri="{D42A27DB-BD31-4B8C-83A1-F6EECF244321}">
                <p14:modId xmlns:p14="http://schemas.microsoft.com/office/powerpoint/2010/main" val="2433652419"/>
              </p:ext>
            </p:extLst>
          </p:nvPr>
        </p:nvGraphicFramePr>
        <p:xfrm>
          <a:off x="2097880" y="2145122"/>
          <a:ext cx="4946400" cy="192649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2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19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5312" marR="65312" marT="32657" marB="3265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nullable</a:t>
                      </a:r>
                    </a:p>
                  </a:txBody>
                  <a:tcPr marL="65312" marR="65312" marT="32657" marB="32657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first</a:t>
                      </a:r>
                    </a:p>
                  </a:txBody>
                  <a:tcPr marL="65312" marR="65312" marT="32657" marB="32657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follow</a:t>
                      </a:r>
                    </a:p>
                  </a:txBody>
                  <a:tcPr marL="65312" marR="65312" marT="32657" marB="32657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Z</a:t>
                      </a:r>
                    </a:p>
                  </a:txBody>
                  <a:tcPr marL="65312" marR="65312" marT="32657" marB="3265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5312" marR="65312" marT="32657" marB="32657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5312" marR="65312" marT="32657" marB="32657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5312" marR="65312" marT="32657" marB="32657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77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65312" marR="65312" marT="32657" marB="3265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5312" marR="65312" marT="32657" marB="32657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5312" marR="65312" marT="32657" marB="32657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5312" marR="65312" marT="32657" marB="32657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9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65312" marR="65312" marT="32657" marB="3265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5312" marR="65312" marT="32657" marB="32657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5312" marR="65312" marT="32657" marB="32657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5312" marR="65312" marT="32657" marB="32657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Group 127">
            <a:extLst>
              <a:ext uri="{FF2B5EF4-FFF2-40B4-BE49-F238E27FC236}">
                <a16:creationId xmlns:a16="http://schemas.microsoft.com/office/drawing/2014/main" id="{F20487E7-58FC-B490-D086-8CAEAF5207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5123935"/>
              </p:ext>
            </p:extLst>
          </p:nvPr>
        </p:nvGraphicFramePr>
        <p:xfrm>
          <a:off x="379679" y="4648168"/>
          <a:ext cx="4192321" cy="1768476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968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72">
                <a:extLst>
                  <a:ext uri="{FF2B5EF4-FFF2-40B4-BE49-F238E27FC236}">
                    <a16:creationId xmlns:a16="http://schemas.microsoft.com/office/drawing/2014/main" id="{96613E00-ADA5-4C7B-45D5-F8A88A138A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7739" y="4870686"/>
                <a:ext cx="4309943" cy="1323439"/>
              </a:xfrm>
              <a:prstGeom prst="rect">
                <a:avLst/>
              </a:prstGeom>
              <a:noFill/>
              <a:ln w="12700">
                <a:solidFill>
                  <a:sysClr val="windowText" lastClr="000000"/>
                </a:solidFill>
                <a:miter lim="800000"/>
              </a:ln>
              <a:effectLst/>
              <a:extLst>
                <a:ext uri="{909E8E84-426E-40DD-AFC4-6F175D3DCCD1}">
                  <a14:hiddenFill>
                    <a:solidFill>
                      <a:srgbClr val="4472C4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E7E6E6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defRPr/>
                </a:pPr>
                <a:r>
                  <a:rPr lang="zh-CN" altLang="en-US" sz="1800" b="1" dirty="0"/>
                  <a:t> </a:t>
                </a:r>
                <a:r>
                  <a:rPr lang="en-US" altLang="zh-CN" sz="2000" b="1" dirty="0"/>
                  <a:t>if T </a:t>
                </a:r>
                <a:r>
                  <a:rPr lang="en-US" altLang="zh-CN" sz="2000" b="1" dirty="0">
                    <a:sym typeface="Symbol" panose="05050102010706020507" pitchFamily="2" charset="2"/>
                  </a:rPr>
                  <a:t></a:t>
                </a:r>
                <a:r>
                  <a:rPr lang="en-US" altLang="zh-CN" sz="2000" b="1" dirty="0"/>
                  <a:t> First(</a:t>
                </a:r>
                <a14:m>
                  <m:oMath xmlns:m="http://schemas.openxmlformats.org/officeDocument/2006/math">
                    <m:r>
                      <a:rPr kumimoji="1" lang="zh-CN" altLang="en-US" sz="18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000" b="1" dirty="0"/>
                  <a:t>) then</a:t>
                </a: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2000" b="1" dirty="0"/>
                  <a:t>      enter (</a:t>
                </a:r>
                <a:r>
                  <a:rPr lang="en-US" altLang="zh-CN" sz="2000" b="1" dirty="0">
                    <a:solidFill>
                      <a:srgbClr val="0070C0"/>
                    </a:solidFill>
                  </a:rPr>
                  <a:t>X</a:t>
                </a:r>
                <a:r>
                  <a:rPr lang="en-US" altLang="zh-CN" sz="2000" b="1" dirty="0">
                    <a:solidFill>
                      <a:srgbClr val="0070C0"/>
                    </a:solidFill>
                    <a:sym typeface="Symbol" panose="05050102010706020507"/>
                  </a:rPr>
                  <a:t> </a:t>
                </a:r>
                <a:r>
                  <a:rPr lang="zh-CN" altLang="en-US" sz="2000" b="1" dirty="0">
                    <a:solidFill>
                      <a:srgbClr val="0070C0"/>
                    </a:solidFill>
                    <a:sym typeface="Symbol" panose="0505010201070602050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000" b="1" dirty="0"/>
                  <a:t>) in row X, col T</a:t>
                </a:r>
              </a:p>
              <a:p>
                <a:pPr>
                  <a:spcBef>
                    <a:spcPct val="0"/>
                  </a:spcBef>
                  <a:defRPr/>
                </a:pPr>
                <a:r>
                  <a:rPr lang="en-US" altLang="zh-CN" sz="2000" b="1" dirty="0"/>
                  <a:t> if</a:t>
                </a:r>
                <a:r>
                  <a:rPr lang="zh-CN" altLang="en-US" sz="2000" b="1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sz="20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zh-CN" altLang="en-US" sz="2000" b="1" dirty="0"/>
                  <a:t> </a:t>
                </a:r>
                <a:r>
                  <a:rPr lang="en-US" altLang="zh-CN" sz="2000" b="1" dirty="0"/>
                  <a:t>is Nullable and T </a:t>
                </a:r>
                <a:r>
                  <a:rPr lang="en-US" altLang="zh-CN" sz="2000" b="1" dirty="0">
                    <a:sym typeface="Symbol" panose="05050102010706020507" pitchFamily="2" charset="2"/>
                  </a:rPr>
                  <a:t></a:t>
                </a:r>
                <a:r>
                  <a:rPr lang="en-US" altLang="zh-CN" sz="2000" b="1" dirty="0"/>
                  <a:t> Follow(X)</a:t>
                </a: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2000" b="1" dirty="0"/>
                  <a:t>      enter (</a:t>
                </a:r>
                <a:r>
                  <a:rPr lang="en-US" altLang="zh-CN" sz="2000" b="1" dirty="0">
                    <a:solidFill>
                      <a:srgbClr val="0070C0"/>
                    </a:solidFill>
                  </a:rPr>
                  <a:t>X</a:t>
                </a:r>
                <a:r>
                  <a:rPr lang="en-US" altLang="zh-CN" sz="2000" b="1" dirty="0">
                    <a:solidFill>
                      <a:srgbClr val="0070C0"/>
                    </a:solidFill>
                    <a:sym typeface="Symbol" panose="05050102010706020507"/>
                  </a:rPr>
                  <a:t> </a:t>
                </a:r>
                <a:r>
                  <a:rPr lang="zh-CN" altLang="en-US" sz="2000" b="1" dirty="0">
                    <a:solidFill>
                      <a:srgbClr val="0070C0"/>
                    </a:solidFill>
                    <a:sym typeface="Symbol" panose="0505010201070602050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000" b="1" dirty="0"/>
                  <a:t>) in row X, col T</a:t>
                </a:r>
              </a:p>
            </p:txBody>
          </p:sp>
        </mc:Choice>
        <mc:Fallback xmlns="">
          <p:sp>
            <p:nvSpPr>
              <p:cNvPr id="10" name="Text Box 72">
                <a:extLst>
                  <a:ext uri="{FF2B5EF4-FFF2-40B4-BE49-F238E27FC236}">
                    <a16:creationId xmlns:a16="http://schemas.microsoft.com/office/drawing/2014/main" id="{96613E00-ADA5-4C7B-45D5-F8A88A138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7739" y="4870686"/>
                <a:ext cx="4309943" cy="1323439"/>
              </a:xfrm>
              <a:prstGeom prst="rect">
                <a:avLst/>
              </a:prstGeom>
              <a:blipFill>
                <a:blip r:embed="rId3"/>
                <a:stretch>
                  <a:fillRect l="-877" t="-3774" r="-585" b="-6604"/>
                </a:stretch>
              </a:blipFill>
              <a:ln w="12700">
                <a:solidFill>
                  <a:sysClr val="windowText" lastClr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4472C4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7E6E6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Review: Drawbacks of LL(k)</a:t>
            </a:r>
            <a:endParaRPr lang="zh-CN" altLang="en-US" dirty="0" err="1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361243" y="84793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lang="en-US" altLang="zh-CN" sz="2800" dirty="0">
                <a:latin typeface="Arial" panose="020B0604020202020204" pitchFamily="34" charset="0"/>
              </a:rPr>
              <a:t>LL(k)</a:t>
            </a:r>
            <a:r>
              <a:rPr lang="zh-CN" altLang="en-US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parsing</a:t>
            </a:r>
            <a:r>
              <a:rPr lang="zh-CN" altLang="en-US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is</a:t>
            </a:r>
            <a:r>
              <a:rPr lang="zh-CN" altLang="en-US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efficient</a:t>
            </a:r>
            <a:r>
              <a:rPr lang="zh-CN" altLang="en-US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and</a:t>
            </a:r>
            <a:r>
              <a:rPr lang="zh-CN" altLang="en-US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easy</a:t>
            </a:r>
            <a:r>
              <a:rPr lang="zh-CN" altLang="en-US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to</a:t>
            </a:r>
            <a:r>
              <a:rPr lang="zh-CN" altLang="en-US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write</a:t>
            </a:r>
            <a:r>
              <a:rPr lang="zh-CN" altLang="en-US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by</a:t>
            </a:r>
            <a:r>
              <a:rPr lang="zh-CN" altLang="en-US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hand</a:t>
            </a:r>
          </a:p>
          <a:p>
            <a:endParaRPr lang="en-US" altLang="zh-CN" sz="2800" dirty="0">
              <a:latin typeface="Arial" panose="020B0604020202020204" pitchFamily="34" charset="0"/>
            </a:endParaRPr>
          </a:p>
          <a:p>
            <a:endParaRPr lang="en-US" altLang="zh-CN" sz="2800" dirty="0">
              <a:latin typeface="Arial" panose="020B0604020202020204" pitchFamily="34" charset="0"/>
            </a:endParaRPr>
          </a:p>
          <a:p>
            <a:endParaRPr lang="en-US" altLang="zh-CN" sz="2800" dirty="0">
              <a:latin typeface="Arial" panose="020B0604020202020204" pitchFamily="34" charset="0"/>
            </a:endParaRPr>
          </a:p>
          <a:p>
            <a:r>
              <a:rPr lang="en-US" altLang="zh-CN" sz="28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The weakness of LL(</a:t>
            </a:r>
            <a:r>
              <a:rPr lang="en-US" altLang="zh-CN" sz="2800" i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k</a:t>
            </a:r>
            <a:r>
              <a:rPr lang="en-US" altLang="zh-CN" sz="28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) parsing is that they must </a:t>
            </a:r>
            <a:r>
              <a:rPr lang="en-US" altLang="zh-CN" sz="2800" i="1" dirty="0">
                <a:solidFill>
                  <a:srgbClr val="0070C0"/>
                </a:solidFill>
                <a:latin typeface="Arial" panose="020B0604020202020204" pitchFamily="34" charset="0"/>
              </a:rPr>
              <a:t>predict</a:t>
            </a:r>
            <a:r>
              <a:rPr lang="en-US" altLang="zh-CN" sz="28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which production to use, having seen </a:t>
            </a:r>
            <a:r>
              <a:rPr lang="en-US" altLang="zh-CN" sz="2800" dirty="0">
                <a:solidFill>
                  <a:srgbClr val="0070C0"/>
                </a:solidFill>
                <a:latin typeface="Arial" panose="020B0604020202020204" pitchFamily="34" charset="0"/>
              </a:rPr>
              <a:t>only the first </a:t>
            </a:r>
            <a:r>
              <a:rPr lang="en-US" altLang="zh-CN" sz="2800" i="1" dirty="0">
                <a:solidFill>
                  <a:srgbClr val="0070C0"/>
                </a:solidFill>
                <a:latin typeface="Arial" panose="020B0604020202020204" pitchFamily="34" charset="0"/>
              </a:rPr>
              <a:t>k</a:t>
            </a:r>
            <a:r>
              <a:rPr lang="en-US" altLang="zh-CN" sz="2800" dirty="0">
                <a:solidFill>
                  <a:srgbClr val="0070C0"/>
                </a:solidFill>
                <a:latin typeface="Arial" panose="020B0604020202020204" pitchFamily="34" charset="0"/>
              </a:rPr>
              <a:t> tokens </a:t>
            </a:r>
            <a:r>
              <a:rPr lang="en-US" altLang="zh-CN" sz="28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of the right-hand side. 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114812" y="4299870"/>
            <a:ext cx="19505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73301" y="5970607"/>
            <a:ext cx="522287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dirty="0"/>
              <a:t>Cannot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be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handled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by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LL(1)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parsing</a:t>
            </a:r>
            <a:endParaRPr kumimoji="1"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/>
              <p:cNvGraphicFramePr/>
              <p:nvPr>
                <p:custDataLst>
                  <p:tags r:id="rId1"/>
                </p:custDataLst>
                <p:extLst>
                  <p:ext uri="{D42A27DB-BD31-4B8C-83A1-F6EECF244321}">
                    <p14:modId xmlns:p14="http://schemas.microsoft.com/office/powerpoint/2010/main" val="4273008233"/>
                  </p:ext>
                </p:extLst>
              </p:nvPr>
            </p:nvGraphicFramePr>
            <p:xfrm>
              <a:off x="2072640" y="1490307"/>
              <a:ext cx="4937760" cy="10369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44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344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344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344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97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(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$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3721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en-US" altLang="zh-CN" sz="20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→(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en-US" altLang="zh-CN" sz="20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𝜀</m:t>
                                </m:r>
                              </m:oMath>
                            </m:oMathPara>
                          </a14:m>
                          <a:endParaRPr lang="en-US" altLang="zh-CN" sz="20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𝜀</m:t>
                                </m:r>
                              </m:oMath>
                            </m:oMathPara>
                          </a14:m>
                          <a:endPara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/>
              <p:cNvGraphicFramePr/>
              <p:nvPr>
                <p:custDataLst>
                  <p:tags r:id="rId3"/>
                </p:custDataLst>
                <p:extLst>
                  <p:ext uri="{D42A27DB-BD31-4B8C-83A1-F6EECF244321}">
                    <p14:modId xmlns:p14="http://schemas.microsoft.com/office/powerpoint/2010/main" val="4273008233"/>
                  </p:ext>
                </p:extLst>
              </p:nvPr>
            </p:nvGraphicFramePr>
            <p:xfrm>
              <a:off x="2072640" y="1490307"/>
              <a:ext cx="4937760" cy="10369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44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344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344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344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97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(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$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3721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31" t="-102381" r="-304124" b="-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02381" r="-201020" b="-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2062" t="-102381" r="-103093" b="-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302062" t="-102381" r="-3093" b="-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文本框 14"/>
          <p:cNvSpPr txBox="1"/>
          <p:nvPr/>
        </p:nvSpPr>
        <p:spPr>
          <a:xfrm>
            <a:off x="973301" y="4561480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Grammars like: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B62CF8-629A-0DDE-0526-C6AC25CFEB5B}"/>
              </a:ext>
            </a:extLst>
          </p:cNvPr>
          <p:cNvSpPr txBox="1"/>
          <p:nvPr/>
        </p:nvSpPr>
        <p:spPr>
          <a:xfrm>
            <a:off x="6375034" y="4561480"/>
            <a:ext cx="3048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Stack top: </a:t>
            </a:r>
            <a:r>
              <a:rPr lang="en-US" altLang="zh-CN" sz="2800" b="1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T</a:t>
            </a:r>
          </a:p>
          <a:p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Next token: </a:t>
            </a:r>
            <a:r>
              <a:rPr lang="en-US" altLang="zh-CN" sz="2800" b="1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Bottom-Up Parsing</a:t>
            </a: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567689" y="1141730"/>
            <a:ext cx="8271509" cy="4970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lang="en-US" altLang="zh-CN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LR(</a:t>
            </a:r>
            <a:r>
              <a:rPr lang="en-US" altLang="zh-CN" i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k</a:t>
            </a:r>
            <a:r>
              <a:rPr lang="en-US" altLang="zh-CN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) parsing: 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The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most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prevalent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type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>
              <a:spcAft>
                <a:spcPts val="600"/>
              </a:spcAft>
            </a:pPr>
            <a:r>
              <a:rPr lang="en-US" altLang="zh-CN" dirty="0">
                <a:latin typeface="Arial" panose="020B0604020202020204" pitchFamily="34" charset="0"/>
              </a:rPr>
              <a:t>Shift-Reduce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Parsing</a:t>
            </a:r>
          </a:p>
          <a:p>
            <a:pPr lvl="1">
              <a:spcAft>
                <a:spcPts val="600"/>
              </a:spcAft>
            </a:pPr>
            <a:r>
              <a:rPr lang="en-US" altLang="zh-CN" dirty="0">
                <a:latin typeface="Arial" panose="020B0604020202020204" pitchFamily="34" charset="0"/>
              </a:rPr>
              <a:t>More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powerful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than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LL(</a:t>
            </a:r>
            <a:r>
              <a:rPr lang="en-US" altLang="zh-CN" i="1" dirty="0">
                <a:latin typeface="Arial" panose="020B0604020202020204" pitchFamily="34" charset="0"/>
              </a:rPr>
              <a:t>k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parsing: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able to postpone the decision until it has seen </a:t>
            </a: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input tokens corresponding to the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entire right-hand side</a:t>
            </a: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 of the production</a:t>
            </a:r>
            <a:r>
              <a:rPr lang="en-US" altLang="zh-CN" dirty="0">
                <a:latin typeface="Arial" panose="020B0604020202020204" pitchFamily="34" charset="0"/>
              </a:rPr>
              <a:t> in question. </a:t>
            </a:r>
          </a:p>
          <a:p>
            <a:pPr lvl="1">
              <a:tabLst>
                <a:tab pos="1730375" algn="l"/>
              </a:tabLst>
            </a:pPr>
            <a:r>
              <a:rPr kumimoji="0"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LR(k): 	L</a:t>
            </a:r>
            <a:r>
              <a:rPr kumimoji="0" lang="en-US" altLang="zh-CN" dirty="0">
                <a:ea typeface="宋体" panose="02010600030101010101" pitchFamily="2" charset="-122"/>
              </a:rPr>
              <a:t>eft-to-right parse</a:t>
            </a:r>
          </a:p>
          <a:p>
            <a:pPr lvl="1" eaLnBrk="1" hangingPunct="1">
              <a:lnSpc>
                <a:spcPct val="90000"/>
              </a:lnSpc>
              <a:buClr>
                <a:srgbClr val="0563C1"/>
              </a:buClr>
              <a:buSzPct val="80000"/>
              <a:buFontTx/>
              <a:buNone/>
              <a:tabLst>
                <a:tab pos="1730375" algn="l"/>
              </a:tabLst>
              <a:defRPr/>
            </a:pPr>
            <a:r>
              <a:rPr kumimoji="0" lang="en-US" altLang="zh-CN" dirty="0">
                <a:ea typeface="宋体" panose="02010600030101010101" pitchFamily="2" charset="-122"/>
              </a:rPr>
              <a:t>               	</a:t>
            </a:r>
            <a:r>
              <a:rPr kumimoji="0"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R</a:t>
            </a:r>
            <a:r>
              <a:rPr kumimoji="0" lang="en-US" altLang="zh-CN" dirty="0">
                <a:ea typeface="宋体" panose="02010600030101010101" pitchFamily="2" charset="-122"/>
              </a:rPr>
              <a:t>ightmost derivation</a:t>
            </a:r>
          </a:p>
          <a:p>
            <a:pPr lvl="1" eaLnBrk="1" hangingPunct="1">
              <a:lnSpc>
                <a:spcPct val="90000"/>
              </a:lnSpc>
              <a:buClr>
                <a:srgbClr val="0563C1"/>
              </a:buClr>
              <a:buSzPct val="80000"/>
              <a:buFontTx/>
              <a:buNone/>
              <a:tabLst>
                <a:tab pos="1730375" algn="l"/>
              </a:tabLst>
              <a:defRPr/>
            </a:pPr>
            <a:r>
              <a:rPr kumimoji="0" lang="en-US" altLang="zh-CN" dirty="0">
                <a:ea typeface="宋体" panose="02010600030101010101" pitchFamily="2" charset="-122"/>
              </a:rPr>
              <a:t>               	</a:t>
            </a:r>
            <a:r>
              <a:rPr kumimoji="0"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k</a:t>
            </a:r>
            <a:r>
              <a:rPr kumimoji="0" lang="en-US" altLang="zh-CN" dirty="0">
                <a:ea typeface="宋体" panose="02010600030101010101" pitchFamily="2" charset="-122"/>
              </a:rPr>
              <a:t>-token lookahead</a:t>
            </a:r>
          </a:p>
          <a:p>
            <a:pPr lvl="1" eaLnBrk="1" hangingPunct="1">
              <a:lnSpc>
                <a:spcPct val="90000"/>
              </a:lnSpc>
              <a:buClr>
                <a:srgbClr val="0563C1"/>
              </a:buClr>
              <a:buSzPct val="80000"/>
              <a:buFontTx/>
              <a:buNone/>
              <a:tabLst>
                <a:tab pos="1730375" algn="l"/>
              </a:tabLst>
              <a:defRPr/>
            </a:pPr>
            <a:endParaRPr kumimoji="1" lang="en-US" altLang="zh-CN" dirty="0">
              <a:solidFill>
                <a:sysClr val="windowText" lastClr="000000"/>
              </a:solidFill>
              <a:latin typeface="Arial" panose="020B0604020202020204" pitchFamily="34" charset="0"/>
            </a:endParaRPr>
          </a:p>
          <a:p>
            <a:r>
              <a:rPr kumimoji="1" lang="en-US" altLang="zh-CN" dirty="0"/>
              <a:t>Variant: LALR</a:t>
            </a:r>
            <a:r>
              <a:rPr kumimoji="1" lang="zh-CN" altLang="en-US" dirty="0"/>
              <a:t> </a:t>
            </a:r>
            <a:r>
              <a:rPr kumimoji="1" lang="en-US" altLang="zh-CN" dirty="0"/>
              <a:t>(Look-Ahead LR) parsing:</a:t>
            </a:r>
          </a:p>
          <a:p>
            <a:pPr marL="457200" lvl="1" indent="0">
              <a:buNone/>
            </a:pPr>
            <a:r>
              <a:rPr kumimoji="1" lang="en-GB" altLang="zh-CN" dirty="0"/>
              <a:t>basis for parsers </a:t>
            </a:r>
            <a:r>
              <a:rPr kumimoji="1" lang="en-US" altLang="en-GB" dirty="0"/>
              <a:t>of</a:t>
            </a:r>
            <a:r>
              <a:rPr kumimoji="1" lang="en-GB" altLang="zh-CN" dirty="0"/>
              <a:t> most modern programming languages </a:t>
            </a:r>
          </a:p>
          <a:p>
            <a:pPr lvl="1"/>
            <a:r>
              <a:rPr kumimoji="1" lang="en-GB" altLang="zh-CN" dirty="0"/>
              <a:t>implemented in tools such as </a:t>
            </a:r>
            <a:r>
              <a:rPr kumimoji="1" lang="en-GB" altLang="zh-CN" dirty="0" err="1"/>
              <a:t>Yacc</a:t>
            </a:r>
            <a:r>
              <a:rPr kumimoji="1" lang="en-GB" altLang="zh-CN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Bottom-Up Parsing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68691" y="1156440"/>
            <a:ext cx="1759103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T</a:t>
            </a:r>
          </a:p>
          <a:p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int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T</a:t>
            </a:r>
          </a:p>
          <a:p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int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505194" y="721225"/>
            <a:ext cx="18121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int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int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int</a:t>
            </a:r>
          </a:p>
          <a:p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int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int</a:t>
            </a:r>
          </a:p>
          <a:p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int</a:t>
            </a:r>
          </a:p>
          <a:p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</a:t>
            </a:r>
          </a:p>
          <a:p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E</a:t>
            </a:r>
            <a:endParaRPr kumimoji="1" lang="zh-CN" alt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79256" y="1156440"/>
            <a:ext cx="16548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int</a:t>
            </a:r>
          </a:p>
          <a:p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int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T</a:t>
            </a:r>
          </a:p>
          <a:p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int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endParaRPr kumimoji="1" lang="en-US" altLang="zh-CN" sz="2200" b="1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T</a:t>
            </a:r>
          </a:p>
          <a:p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T+E</a:t>
            </a:r>
            <a:endParaRPr kumimoji="1" lang="zh-CN" altLang="en-US" sz="22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1788" y="3075802"/>
            <a:ext cx="8768645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Idea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: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reduce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string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to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start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symbol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Reduce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: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replace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RHS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production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with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its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LHS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Read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input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from</a:t>
            </a:r>
            <a:r>
              <a:rPr kumimoji="1" lang="zh-CN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left</a:t>
            </a:r>
            <a:r>
              <a:rPr kumimoji="1" lang="zh-CN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to</a:t>
            </a:r>
            <a:r>
              <a:rPr kumimoji="1" lang="zh-CN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right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L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R(k))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Reduce the string to the start symbol by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inverting the right-most derivation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(L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R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(k))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Bottom-up</a:t>
            </a:r>
            <a:r>
              <a:rPr kumimoji="1" lang="zh-CN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parsing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: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from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bottom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parse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tree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to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root.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if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we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can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reduce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to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start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symbol,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then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we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successfully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parse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string.</a:t>
            </a:r>
          </a:p>
        </p:txBody>
      </p:sp>
      <p:sp>
        <p:nvSpPr>
          <p:cNvPr id="12" name="下箭头 11"/>
          <p:cNvSpPr/>
          <p:nvPr/>
        </p:nvSpPr>
        <p:spPr>
          <a:xfrm>
            <a:off x="4184784" y="1332642"/>
            <a:ext cx="159026" cy="1112746"/>
          </a:xfrm>
          <a:prstGeom prst="down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3" name="下箭头 12"/>
          <p:cNvSpPr/>
          <p:nvPr/>
        </p:nvSpPr>
        <p:spPr>
          <a:xfrm rot="10800000">
            <a:off x="2208753" y="1367147"/>
            <a:ext cx="159026" cy="1112746"/>
          </a:xfrm>
          <a:prstGeom prst="down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7871790" y="836192"/>
            <a:ext cx="556591" cy="32244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2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E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7063410" y="1416607"/>
            <a:ext cx="556591" cy="32244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2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T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8388623" y="1403354"/>
            <a:ext cx="556591" cy="32244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2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E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8388622" y="1928510"/>
            <a:ext cx="556591" cy="32244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2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T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8388622" y="2463466"/>
            <a:ext cx="556591" cy="32244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2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int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6656950" y="2489970"/>
            <a:ext cx="556591" cy="32244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2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int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7469867" y="1962206"/>
            <a:ext cx="556591" cy="32244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2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T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7463138" y="2464214"/>
            <a:ext cx="556591" cy="32244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2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int</a:t>
            </a:r>
          </a:p>
        </p:txBody>
      </p:sp>
      <p:cxnSp>
        <p:nvCxnSpPr>
          <p:cNvPr id="25" name="直线箭头连接符 24"/>
          <p:cNvCxnSpPr>
            <a:stCxn id="14" idx="2"/>
            <a:endCxn id="17" idx="0"/>
          </p:cNvCxnSpPr>
          <p:nvPr/>
        </p:nvCxnSpPr>
        <p:spPr>
          <a:xfrm flipH="1">
            <a:off x="7341706" y="1158639"/>
            <a:ext cx="808380" cy="257968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26" name="直线箭头连接符 25"/>
          <p:cNvCxnSpPr>
            <a:stCxn id="14" idx="2"/>
            <a:endCxn id="18" idx="0"/>
          </p:cNvCxnSpPr>
          <p:nvPr/>
        </p:nvCxnSpPr>
        <p:spPr>
          <a:xfrm>
            <a:off x="8150086" y="1158639"/>
            <a:ext cx="516833" cy="244715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29" name="直线箭头连接符 28"/>
          <p:cNvCxnSpPr>
            <a:stCxn id="17" idx="2"/>
            <a:endCxn id="21" idx="0"/>
          </p:cNvCxnSpPr>
          <p:nvPr/>
        </p:nvCxnSpPr>
        <p:spPr>
          <a:xfrm flipH="1">
            <a:off x="6935246" y="1739054"/>
            <a:ext cx="406460" cy="75091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32" name="直线箭头连接符 31"/>
          <p:cNvCxnSpPr>
            <a:stCxn id="17" idx="2"/>
          </p:cNvCxnSpPr>
          <p:nvPr/>
        </p:nvCxnSpPr>
        <p:spPr>
          <a:xfrm>
            <a:off x="7341706" y="1739054"/>
            <a:ext cx="399728" cy="216622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35" name="直线箭头连接符 34"/>
          <p:cNvCxnSpPr>
            <a:stCxn id="18" idx="2"/>
            <a:endCxn id="19" idx="0"/>
          </p:cNvCxnSpPr>
          <p:nvPr/>
        </p:nvCxnSpPr>
        <p:spPr>
          <a:xfrm flipH="1">
            <a:off x="8666918" y="1725801"/>
            <a:ext cx="1" cy="202709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39" name="直线箭头连接符 38"/>
          <p:cNvCxnSpPr>
            <a:endCxn id="23" idx="0"/>
          </p:cNvCxnSpPr>
          <p:nvPr/>
        </p:nvCxnSpPr>
        <p:spPr>
          <a:xfrm>
            <a:off x="7741434" y="2251619"/>
            <a:ext cx="0" cy="212595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42" name="直线箭头连接符 41"/>
          <p:cNvCxnSpPr>
            <a:stCxn id="19" idx="2"/>
            <a:endCxn id="20" idx="0"/>
          </p:cNvCxnSpPr>
          <p:nvPr/>
        </p:nvCxnSpPr>
        <p:spPr>
          <a:xfrm>
            <a:off x="8666918" y="2250957"/>
            <a:ext cx="0" cy="212509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none"/>
          </a:ln>
          <a:effectLst/>
        </p:spPr>
      </p:cxnSp>
      <p:sp>
        <p:nvSpPr>
          <p:cNvPr id="45" name="圆角矩形 44"/>
          <p:cNvSpPr/>
          <p:nvPr/>
        </p:nvSpPr>
        <p:spPr>
          <a:xfrm>
            <a:off x="7056681" y="2500890"/>
            <a:ext cx="556591" cy="32244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zh-CN" altLang="en-US" sz="22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*</a:t>
            </a:r>
          </a:p>
        </p:txBody>
      </p:sp>
      <p:cxnSp>
        <p:nvCxnSpPr>
          <p:cNvPr id="46" name="直线箭头连接符 45"/>
          <p:cNvCxnSpPr>
            <a:stCxn id="17" idx="2"/>
            <a:endCxn id="45" idx="0"/>
          </p:cNvCxnSpPr>
          <p:nvPr/>
        </p:nvCxnSpPr>
        <p:spPr>
          <a:xfrm flipH="1">
            <a:off x="7334977" y="1739054"/>
            <a:ext cx="6729" cy="76183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none"/>
          </a:ln>
          <a:effectLst/>
        </p:spPr>
      </p:cxnSp>
      <p:sp>
        <p:nvSpPr>
          <p:cNvPr id="49" name="圆角矩形 48"/>
          <p:cNvSpPr/>
          <p:nvPr/>
        </p:nvSpPr>
        <p:spPr>
          <a:xfrm>
            <a:off x="7889373" y="2441681"/>
            <a:ext cx="556591" cy="32244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2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+</a:t>
            </a:r>
          </a:p>
        </p:txBody>
      </p:sp>
      <p:cxnSp>
        <p:nvCxnSpPr>
          <p:cNvPr id="50" name="直线箭头连接符 49"/>
          <p:cNvCxnSpPr>
            <a:stCxn id="14" idx="2"/>
            <a:endCxn id="49" idx="0"/>
          </p:cNvCxnSpPr>
          <p:nvPr/>
        </p:nvCxnSpPr>
        <p:spPr>
          <a:xfrm>
            <a:off x="8150086" y="1158639"/>
            <a:ext cx="17583" cy="1283042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none"/>
          </a:ln>
          <a:effectLst/>
        </p:spPr>
      </p:cxnSp>
      <p:sp>
        <p:nvSpPr>
          <p:cNvPr id="56" name="文本框 55"/>
          <p:cNvSpPr txBox="1"/>
          <p:nvPr/>
        </p:nvSpPr>
        <p:spPr>
          <a:xfrm>
            <a:off x="207110" y="754130"/>
            <a:ext cx="12824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grammar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4773240" y="757692"/>
            <a:ext cx="15820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productions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45" grpId="0" bldLvl="0" animBg="1"/>
      <p:bldP spid="49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 Parsing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1244" y="3145461"/>
            <a:ext cx="173181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</p:txBody>
      </p:sp>
      <p:graphicFrame>
        <p:nvGraphicFramePr>
          <p:cNvPr id="11" name="表格 11"/>
          <p:cNvGraphicFramePr>
            <a:graphicFrameLocks noGrp="1"/>
          </p:cNvGraphicFramePr>
          <p:nvPr/>
        </p:nvGraphicFramePr>
        <p:xfrm>
          <a:off x="2450871" y="1939746"/>
          <a:ext cx="2121129" cy="469392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21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.</a:t>
                      </a:r>
                      <a:r>
                        <a:rPr kumimoji="1"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kumimoji="1"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int</a:t>
                      </a:r>
                      <a:r>
                        <a:rPr kumimoji="1"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* </a:t>
                      </a:r>
                      <a:r>
                        <a:rPr kumimoji="1"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int</a:t>
                      </a:r>
                      <a:r>
                        <a:rPr kumimoji="1"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kumimoji="1"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+</a:t>
                      </a:r>
                      <a:r>
                        <a:rPr kumimoji="1"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kumimoji="1"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int</a:t>
                      </a:r>
                      <a:r>
                        <a:rPr kumimoji="1"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kumimoji="1"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$</a:t>
                      </a: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2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en-US" altLang="zh-CN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int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*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T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.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+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int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$</a:t>
                      </a:r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T</a:t>
                      </a:r>
                      <a:r>
                        <a:rPr lang="zh-CN" altLang="en-US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.</a:t>
                      </a:r>
                      <a:r>
                        <a:rPr lang="zh-CN" altLang="en-US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+</a:t>
                      </a:r>
                      <a:r>
                        <a:rPr lang="zh-CN" altLang="en-US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int</a:t>
                      </a:r>
                      <a:r>
                        <a:rPr lang="zh-CN" altLang="en-US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$</a:t>
                      </a:r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T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+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T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.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$</a:t>
                      </a:r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T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+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E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.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$</a:t>
                      </a:r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E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.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$</a:t>
                      </a:r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47133" y="822148"/>
                <a:ext cx="84497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1" lang="zh-CN" altLang="en-US" sz="24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.</a:t>
                </a:r>
                <a:r>
                  <a:rPr kumimoji="1" lang="zh-CN" altLang="en-US" sz="24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β</a:t>
                </a:r>
                <a:r>
                  <a:rPr kumimoji="1" lang="en-US" altLang="zh-CN" sz="2400" dirty="0"/>
                  <a:t>: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left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substring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has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terminals</a:t>
                </a:r>
                <a:r>
                  <a:rPr kumimoji="1" lang="zh-CN" altLang="en-US" sz="24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and</a:t>
                </a:r>
                <a:r>
                  <a:rPr kumimoji="1" lang="zh-CN" altLang="en-US" sz="24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non-terminals</a:t>
                </a:r>
                <a:r>
                  <a:rPr kumimoji="1" lang="en-US" altLang="zh-CN" sz="2400" dirty="0"/>
                  <a:t>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right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substring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contains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only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terminals</a:t>
                </a:r>
                <a:r>
                  <a:rPr kumimoji="1" lang="en-US" altLang="zh-CN" sz="2400" dirty="0"/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3" y="822148"/>
                <a:ext cx="8449734" cy="830997"/>
              </a:xfrm>
              <a:prstGeom prst="rect">
                <a:avLst/>
              </a:prstGeom>
              <a:blipFill rotWithShape="1">
                <a:blip r:embed="rId2"/>
                <a:stretch>
                  <a:fillRect l="-5" t="-55" r="3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 Parsing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1244" y="3145461"/>
            <a:ext cx="173181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</p:txBody>
      </p:sp>
      <p:graphicFrame>
        <p:nvGraphicFramePr>
          <p:cNvPr id="11" name="表格 11"/>
          <p:cNvGraphicFramePr>
            <a:graphicFrameLocks noGrp="1"/>
          </p:cNvGraphicFramePr>
          <p:nvPr/>
        </p:nvGraphicFramePr>
        <p:xfrm>
          <a:off x="2450871" y="1939746"/>
          <a:ext cx="2121129" cy="469392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21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.</a:t>
                      </a:r>
                      <a:r>
                        <a:rPr kumimoji="1"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kumimoji="1"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int</a:t>
                      </a:r>
                      <a:r>
                        <a:rPr kumimoji="1"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* </a:t>
                      </a:r>
                      <a:r>
                        <a:rPr kumimoji="1"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int</a:t>
                      </a:r>
                      <a:r>
                        <a:rPr kumimoji="1"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kumimoji="1"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+</a:t>
                      </a:r>
                      <a:r>
                        <a:rPr kumimoji="1"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kumimoji="1"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int</a:t>
                      </a:r>
                      <a:r>
                        <a:rPr kumimoji="1"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kumimoji="1"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$</a:t>
                      </a: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2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en-US" altLang="zh-CN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int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*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T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.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+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int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$</a:t>
                      </a:r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T</a:t>
                      </a:r>
                      <a:r>
                        <a:rPr lang="zh-CN" altLang="en-US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.</a:t>
                      </a:r>
                      <a:r>
                        <a:rPr lang="zh-CN" altLang="en-US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+</a:t>
                      </a:r>
                      <a:r>
                        <a:rPr lang="zh-CN" altLang="en-US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int</a:t>
                      </a:r>
                      <a:r>
                        <a:rPr lang="zh-CN" altLang="en-US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$</a:t>
                      </a:r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T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+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T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.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$</a:t>
                      </a:r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T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+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E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.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$</a:t>
                      </a:r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E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.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$</a:t>
                      </a:r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47133" y="822148"/>
                <a:ext cx="84497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1" lang="zh-CN" altLang="en-US" sz="24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.</a:t>
                </a:r>
                <a:r>
                  <a:rPr kumimoji="1" lang="zh-CN" altLang="en-US" sz="24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β</a:t>
                </a:r>
                <a:r>
                  <a:rPr kumimoji="1" lang="en-US" altLang="zh-CN" sz="2400" dirty="0"/>
                  <a:t>: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left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substring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has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terminals</a:t>
                </a:r>
                <a:r>
                  <a:rPr kumimoji="1" lang="zh-CN" altLang="en-US" sz="24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and</a:t>
                </a:r>
                <a:r>
                  <a:rPr kumimoji="1" lang="zh-CN" altLang="en-US" sz="24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non-terminals</a:t>
                </a:r>
                <a:r>
                  <a:rPr kumimoji="1" lang="en-US" altLang="zh-CN" sz="2400" dirty="0"/>
                  <a:t>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right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substring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contains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only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terminals</a:t>
                </a:r>
                <a:r>
                  <a:rPr kumimoji="1" lang="en-US" altLang="zh-CN" sz="2400" dirty="0"/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3" y="822148"/>
                <a:ext cx="8449734" cy="830997"/>
              </a:xfrm>
              <a:prstGeom prst="rect">
                <a:avLst/>
              </a:prstGeom>
              <a:blipFill rotWithShape="1">
                <a:blip r:embed="rId2"/>
                <a:stretch>
                  <a:fillRect l="-5" t="-55" r="3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798741" y="1939746"/>
          <a:ext cx="3701881" cy="469392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601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208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798741" y="2364078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int</a:t>
            </a:r>
            <a:endParaRPr kumimoji="1" lang="zh-CN" altLang="en-US" sz="2200" dirty="0"/>
          </a:p>
        </p:txBody>
      </p:sp>
      <p:sp>
        <p:nvSpPr>
          <p:cNvPr id="7" name="文本框 6"/>
          <p:cNvSpPr txBox="1"/>
          <p:nvPr/>
        </p:nvSpPr>
        <p:spPr>
          <a:xfrm>
            <a:off x="4798741" y="2794965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int</a:t>
            </a:r>
            <a:r>
              <a:rPr lang="zh-CN" altLang="en-US" sz="2200" dirty="0"/>
              <a:t> *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798736" y="3219297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int</a:t>
            </a:r>
            <a:r>
              <a:rPr lang="zh-CN" altLang="en-US" sz="2200" dirty="0"/>
              <a:t> * </a:t>
            </a:r>
            <a:r>
              <a:rPr lang="en-US" altLang="zh-CN" sz="2200" dirty="0"/>
              <a:t>int</a:t>
            </a:r>
            <a:r>
              <a:rPr lang="zh-CN" altLang="en-US" sz="2200" dirty="0"/>
              <a:t>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798736" y="3640375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int</a:t>
            </a:r>
            <a:r>
              <a:rPr lang="zh-CN" altLang="en-US" sz="2200" dirty="0"/>
              <a:t> * </a:t>
            </a:r>
            <a:r>
              <a:rPr lang="en-US" altLang="zh-CN" sz="2200" dirty="0"/>
              <a:t>T</a:t>
            </a:r>
            <a:endParaRPr lang="zh-CN" altLang="en-US" sz="2200" dirty="0"/>
          </a:p>
        </p:txBody>
      </p:sp>
      <p:sp>
        <p:nvSpPr>
          <p:cNvPr id="10" name="文本框 9"/>
          <p:cNvSpPr txBox="1"/>
          <p:nvPr/>
        </p:nvSpPr>
        <p:spPr>
          <a:xfrm>
            <a:off x="4809980" y="4071262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T</a:t>
            </a:r>
            <a:endParaRPr lang="zh-CN" altLang="en-US" sz="2200" dirty="0"/>
          </a:p>
        </p:txBody>
      </p:sp>
      <p:sp>
        <p:nvSpPr>
          <p:cNvPr id="12" name="文本框 11"/>
          <p:cNvSpPr txBox="1"/>
          <p:nvPr/>
        </p:nvSpPr>
        <p:spPr>
          <a:xfrm>
            <a:off x="4821219" y="4485866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T</a:t>
            </a:r>
            <a:r>
              <a:rPr lang="zh-CN" altLang="en-US" sz="2200" dirty="0"/>
              <a:t> </a:t>
            </a:r>
            <a:r>
              <a:rPr lang="en-US" altLang="zh-CN" sz="2200" dirty="0"/>
              <a:t>+</a:t>
            </a:r>
            <a:r>
              <a:rPr lang="zh-CN" altLang="en-US" sz="2200" dirty="0"/>
              <a:t> 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798740" y="4929735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T</a:t>
            </a:r>
            <a:r>
              <a:rPr lang="zh-CN" altLang="en-US" sz="2200" dirty="0"/>
              <a:t> </a:t>
            </a:r>
            <a:r>
              <a:rPr lang="en-US" altLang="zh-CN" sz="2200" dirty="0"/>
              <a:t>+</a:t>
            </a:r>
            <a:r>
              <a:rPr lang="zh-CN" altLang="en-US" sz="2200" dirty="0"/>
              <a:t> </a:t>
            </a:r>
            <a:r>
              <a:rPr lang="en-US" altLang="zh-CN" sz="2200" dirty="0"/>
              <a:t>int</a:t>
            </a:r>
            <a:endParaRPr lang="zh-CN" altLang="en-US" sz="2200" dirty="0"/>
          </a:p>
        </p:txBody>
      </p:sp>
      <p:sp>
        <p:nvSpPr>
          <p:cNvPr id="15" name="文本框 14"/>
          <p:cNvSpPr txBox="1"/>
          <p:nvPr/>
        </p:nvSpPr>
        <p:spPr>
          <a:xfrm>
            <a:off x="4798739" y="5373604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T</a:t>
            </a:r>
            <a:r>
              <a:rPr lang="zh-CN" altLang="en-US" sz="2200" dirty="0"/>
              <a:t> </a:t>
            </a:r>
            <a:r>
              <a:rPr lang="en-US" altLang="zh-CN" sz="2200" dirty="0"/>
              <a:t>+</a:t>
            </a:r>
            <a:r>
              <a:rPr lang="zh-CN" altLang="en-US" sz="2200" dirty="0"/>
              <a:t> </a:t>
            </a:r>
            <a:r>
              <a:rPr lang="en-US" altLang="zh-CN" sz="2200" dirty="0"/>
              <a:t>T</a:t>
            </a:r>
            <a:endParaRPr lang="zh-CN" altLang="en-US" sz="2200" dirty="0"/>
          </a:p>
        </p:txBody>
      </p:sp>
      <p:sp>
        <p:nvSpPr>
          <p:cNvPr id="18" name="文本框 17"/>
          <p:cNvSpPr txBox="1"/>
          <p:nvPr/>
        </p:nvSpPr>
        <p:spPr>
          <a:xfrm>
            <a:off x="4788564" y="5771891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T</a:t>
            </a:r>
            <a:r>
              <a:rPr lang="zh-CN" altLang="en-US" sz="2200" dirty="0"/>
              <a:t> </a:t>
            </a:r>
            <a:r>
              <a:rPr lang="en-US" altLang="zh-CN" sz="2200" dirty="0"/>
              <a:t>+</a:t>
            </a:r>
            <a:r>
              <a:rPr lang="zh-CN" altLang="en-US" sz="2200" dirty="0"/>
              <a:t> </a:t>
            </a:r>
            <a:r>
              <a:rPr lang="en-US" altLang="zh-CN" sz="2200" dirty="0"/>
              <a:t>E</a:t>
            </a:r>
            <a:endParaRPr lang="zh-CN" altLang="en-US" sz="2200" dirty="0"/>
          </a:p>
        </p:txBody>
      </p:sp>
      <p:sp>
        <p:nvSpPr>
          <p:cNvPr id="19" name="文本框 18"/>
          <p:cNvSpPr txBox="1"/>
          <p:nvPr/>
        </p:nvSpPr>
        <p:spPr>
          <a:xfrm>
            <a:off x="4788564" y="6189467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E</a:t>
            </a:r>
            <a:endParaRPr lang="zh-CN" altLang="en-US" sz="2200" dirty="0"/>
          </a:p>
        </p:txBody>
      </p:sp>
      <p:sp>
        <p:nvSpPr>
          <p:cNvPr id="20" name="文本框 19"/>
          <p:cNvSpPr txBox="1"/>
          <p:nvPr/>
        </p:nvSpPr>
        <p:spPr>
          <a:xfrm>
            <a:off x="6390623" y="1957153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*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+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21" name="文本框 20"/>
          <p:cNvSpPr txBox="1"/>
          <p:nvPr/>
        </p:nvSpPr>
        <p:spPr>
          <a:xfrm>
            <a:off x="6398872" y="2371740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*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+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22" name="文本框 21"/>
          <p:cNvSpPr txBox="1"/>
          <p:nvPr/>
        </p:nvSpPr>
        <p:spPr>
          <a:xfrm>
            <a:off x="6407121" y="2818947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+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24" name="文本框 23"/>
          <p:cNvSpPr txBox="1"/>
          <p:nvPr/>
        </p:nvSpPr>
        <p:spPr>
          <a:xfrm>
            <a:off x="6374124" y="3650094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+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25" name="文本框 24"/>
          <p:cNvSpPr txBox="1"/>
          <p:nvPr/>
        </p:nvSpPr>
        <p:spPr>
          <a:xfrm>
            <a:off x="6428041" y="4087718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+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26" name="文本框 25"/>
          <p:cNvSpPr txBox="1"/>
          <p:nvPr/>
        </p:nvSpPr>
        <p:spPr>
          <a:xfrm>
            <a:off x="6404988" y="4528113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27" name="文本框 26"/>
          <p:cNvSpPr txBox="1"/>
          <p:nvPr/>
        </p:nvSpPr>
        <p:spPr>
          <a:xfrm>
            <a:off x="6431902" y="4925685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28" name="文本框 27"/>
          <p:cNvSpPr txBox="1"/>
          <p:nvPr/>
        </p:nvSpPr>
        <p:spPr>
          <a:xfrm>
            <a:off x="6425130" y="5334669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29" name="文本框 28"/>
          <p:cNvSpPr txBox="1"/>
          <p:nvPr/>
        </p:nvSpPr>
        <p:spPr>
          <a:xfrm>
            <a:off x="6419774" y="5771891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31" name="文本框 30"/>
          <p:cNvSpPr txBox="1"/>
          <p:nvPr/>
        </p:nvSpPr>
        <p:spPr>
          <a:xfrm>
            <a:off x="6431902" y="6213529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33" name="文本框 32"/>
          <p:cNvSpPr txBox="1"/>
          <p:nvPr/>
        </p:nvSpPr>
        <p:spPr>
          <a:xfrm>
            <a:off x="6390622" y="3235235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+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C4D73D-CB18-48DD-D2EC-1A6C79DA9470}"/>
              </a:ext>
            </a:extLst>
          </p:cNvPr>
          <p:cNvSpPr txBox="1"/>
          <p:nvPr/>
        </p:nvSpPr>
        <p:spPr>
          <a:xfrm>
            <a:off x="6734465" y="1508859"/>
            <a:ext cx="13753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Input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4" grpId="0"/>
      <p:bldP spid="9" grpId="0"/>
      <p:bldP spid="10" grpId="0"/>
      <p:bldP spid="12" grpId="0"/>
      <p:bldP spid="14" grpId="0"/>
      <p:bldP spid="15" grpId="0"/>
      <p:bldP spid="18" grpId="0"/>
      <p:bldP spid="19" grpId="0"/>
      <p:bldP spid="21" grpId="0"/>
      <p:bldP spid="22" grpId="0"/>
      <p:bldP spid="24" grpId="0"/>
      <p:bldP spid="25" grpId="0"/>
      <p:bldP spid="26" grpId="0"/>
      <p:bldP spid="27" grpId="0"/>
      <p:bldP spid="28" grpId="0"/>
      <p:bldP spid="29" grpId="0"/>
      <p:bldP spid="31" grpId="0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 Parsing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1244" y="3145461"/>
            <a:ext cx="173181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</p:txBody>
      </p:sp>
      <p:graphicFrame>
        <p:nvGraphicFramePr>
          <p:cNvPr id="11" name="表格 11"/>
          <p:cNvGraphicFramePr>
            <a:graphicFrameLocks noGrp="1"/>
          </p:cNvGraphicFramePr>
          <p:nvPr/>
        </p:nvGraphicFramePr>
        <p:xfrm>
          <a:off x="2450871" y="1939746"/>
          <a:ext cx="2121129" cy="469392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21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.</a:t>
                      </a:r>
                      <a:r>
                        <a:rPr kumimoji="1"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kumimoji="1"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int</a:t>
                      </a:r>
                      <a:r>
                        <a:rPr kumimoji="1"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* </a:t>
                      </a:r>
                      <a:r>
                        <a:rPr kumimoji="1"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int</a:t>
                      </a:r>
                      <a:r>
                        <a:rPr kumimoji="1"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kumimoji="1"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+</a:t>
                      </a:r>
                      <a:r>
                        <a:rPr kumimoji="1"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kumimoji="1"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int</a:t>
                      </a:r>
                      <a:r>
                        <a:rPr kumimoji="1"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kumimoji="1"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$</a:t>
                      </a: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2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en-US" altLang="zh-CN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int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*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T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.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+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int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$</a:t>
                      </a:r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T</a:t>
                      </a:r>
                      <a:r>
                        <a:rPr lang="zh-CN" altLang="en-US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.</a:t>
                      </a:r>
                      <a:r>
                        <a:rPr lang="zh-CN" altLang="en-US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+</a:t>
                      </a:r>
                      <a:r>
                        <a:rPr lang="zh-CN" altLang="en-US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int</a:t>
                      </a:r>
                      <a:r>
                        <a:rPr lang="zh-CN" altLang="en-US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$</a:t>
                      </a:r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T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+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T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.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$</a:t>
                      </a:r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T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+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E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.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$</a:t>
                      </a:r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E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.</a:t>
                      </a:r>
                      <a:r>
                        <a:rPr lang="zh-CN" altLang="en-US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22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</a:rPr>
                        <a:t>$</a:t>
                      </a:r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47133" y="822148"/>
                <a:ext cx="84497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1" lang="zh-CN" altLang="en-US" sz="24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.</a:t>
                </a:r>
                <a:r>
                  <a:rPr kumimoji="1" lang="zh-CN" altLang="en-US" sz="24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β</a:t>
                </a:r>
                <a:r>
                  <a:rPr kumimoji="1" lang="en-US" altLang="zh-CN" sz="2400" dirty="0"/>
                  <a:t>: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left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substring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has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terminals</a:t>
                </a:r>
                <a:r>
                  <a:rPr kumimoji="1" lang="zh-CN" altLang="en-US" sz="24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and</a:t>
                </a:r>
                <a:r>
                  <a:rPr kumimoji="1" lang="zh-CN" altLang="en-US" sz="24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non-terminals</a:t>
                </a:r>
                <a:r>
                  <a:rPr kumimoji="1" lang="en-US" altLang="zh-CN" sz="2400" dirty="0"/>
                  <a:t>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right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substring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contains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only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terminals</a:t>
                </a:r>
                <a:r>
                  <a:rPr kumimoji="1" lang="en-US" altLang="zh-CN" sz="2400" dirty="0"/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3" y="822148"/>
                <a:ext cx="8449734" cy="830997"/>
              </a:xfrm>
              <a:prstGeom prst="rect">
                <a:avLst/>
              </a:prstGeom>
              <a:blipFill rotWithShape="1">
                <a:blip r:embed="rId2"/>
                <a:stretch>
                  <a:fillRect l="-5" t="-55" r="3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798741" y="1939746"/>
          <a:ext cx="3701881" cy="469392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601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208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798741" y="2364078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int</a:t>
            </a:r>
            <a:endParaRPr kumimoji="1" lang="zh-CN" altLang="en-US" sz="2200" dirty="0"/>
          </a:p>
        </p:txBody>
      </p:sp>
      <p:sp>
        <p:nvSpPr>
          <p:cNvPr id="7" name="文本框 6"/>
          <p:cNvSpPr txBox="1"/>
          <p:nvPr/>
        </p:nvSpPr>
        <p:spPr>
          <a:xfrm>
            <a:off x="4798741" y="2794965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int</a:t>
            </a:r>
            <a:r>
              <a:rPr lang="zh-CN" altLang="en-US" sz="2200" dirty="0"/>
              <a:t> *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798736" y="3219297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int</a:t>
            </a:r>
            <a:r>
              <a:rPr lang="zh-CN" altLang="en-US" sz="2200" dirty="0"/>
              <a:t> * </a:t>
            </a:r>
            <a:r>
              <a:rPr lang="en-US" altLang="zh-CN" sz="2200" dirty="0"/>
              <a:t>int</a:t>
            </a:r>
            <a:r>
              <a:rPr lang="zh-CN" altLang="en-US" sz="2200" dirty="0"/>
              <a:t>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798736" y="3640375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int</a:t>
            </a:r>
            <a:r>
              <a:rPr lang="zh-CN" altLang="en-US" sz="2200" dirty="0"/>
              <a:t> * </a:t>
            </a:r>
            <a:r>
              <a:rPr lang="en-US" altLang="zh-CN" sz="2200" dirty="0"/>
              <a:t>T</a:t>
            </a:r>
            <a:endParaRPr lang="zh-CN" altLang="en-US" sz="2200" dirty="0"/>
          </a:p>
        </p:txBody>
      </p:sp>
      <p:sp>
        <p:nvSpPr>
          <p:cNvPr id="10" name="文本框 9"/>
          <p:cNvSpPr txBox="1"/>
          <p:nvPr/>
        </p:nvSpPr>
        <p:spPr>
          <a:xfrm>
            <a:off x="4809980" y="4071262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T</a:t>
            </a:r>
            <a:endParaRPr lang="zh-CN" altLang="en-US" sz="2200" dirty="0"/>
          </a:p>
        </p:txBody>
      </p:sp>
      <p:sp>
        <p:nvSpPr>
          <p:cNvPr id="12" name="文本框 11"/>
          <p:cNvSpPr txBox="1"/>
          <p:nvPr/>
        </p:nvSpPr>
        <p:spPr>
          <a:xfrm>
            <a:off x="4821219" y="4485866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T</a:t>
            </a:r>
            <a:r>
              <a:rPr lang="zh-CN" altLang="en-US" sz="2200" dirty="0"/>
              <a:t> </a:t>
            </a:r>
            <a:r>
              <a:rPr lang="en-US" altLang="zh-CN" sz="2200" dirty="0"/>
              <a:t>+</a:t>
            </a:r>
            <a:r>
              <a:rPr lang="zh-CN" altLang="en-US" sz="2200" dirty="0"/>
              <a:t> 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798740" y="4929735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T</a:t>
            </a:r>
            <a:r>
              <a:rPr lang="zh-CN" altLang="en-US" sz="2200" dirty="0"/>
              <a:t> </a:t>
            </a:r>
            <a:r>
              <a:rPr lang="en-US" altLang="zh-CN" sz="2200" dirty="0"/>
              <a:t>+</a:t>
            </a:r>
            <a:r>
              <a:rPr lang="zh-CN" altLang="en-US" sz="2200" dirty="0"/>
              <a:t> </a:t>
            </a:r>
            <a:r>
              <a:rPr lang="en-US" altLang="zh-CN" sz="2200" dirty="0"/>
              <a:t>int</a:t>
            </a:r>
            <a:endParaRPr lang="zh-CN" altLang="en-US" sz="2200" dirty="0"/>
          </a:p>
        </p:txBody>
      </p:sp>
      <p:sp>
        <p:nvSpPr>
          <p:cNvPr id="15" name="文本框 14"/>
          <p:cNvSpPr txBox="1"/>
          <p:nvPr/>
        </p:nvSpPr>
        <p:spPr>
          <a:xfrm>
            <a:off x="4798739" y="5373604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T</a:t>
            </a:r>
            <a:r>
              <a:rPr lang="zh-CN" altLang="en-US" sz="2200" dirty="0"/>
              <a:t> </a:t>
            </a:r>
            <a:r>
              <a:rPr lang="en-US" altLang="zh-CN" sz="2200" dirty="0"/>
              <a:t>+</a:t>
            </a:r>
            <a:r>
              <a:rPr lang="zh-CN" altLang="en-US" sz="2200" dirty="0"/>
              <a:t> </a:t>
            </a:r>
            <a:r>
              <a:rPr lang="en-US" altLang="zh-CN" sz="2200" dirty="0"/>
              <a:t>T</a:t>
            </a:r>
            <a:endParaRPr lang="zh-CN" altLang="en-US" sz="2200" dirty="0"/>
          </a:p>
        </p:txBody>
      </p:sp>
      <p:sp>
        <p:nvSpPr>
          <p:cNvPr id="18" name="文本框 17"/>
          <p:cNvSpPr txBox="1"/>
          <p:nvPr/>
        </p:nvSpPr>
        <p:spPr>
          <a:xfrm>
            <a:off x="4788564" y="5771891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T</a:t>
            </a:r>
            <a:r>
              <a:rPr lang="zh-CN" altLang="en-US" sz="2200" dirty="0"/>
              <a:t> </a:t>
            </a:r>
            <a:r>
              <a:rPr lang="en-US" altLang="zh-CN" sz="2200" dirty="0"/>
              <a:t>+</a:t>
            </a:r>
            <a:r>
              <a:rPr lang="zh-CN" altLang="en-US" sz="2200" dirty="0"/>
              <a:t> </a:t>
            </a:r>
            <a:r>
              <a:rPr lang="en-US" altLang="zh-CN" sz="2200" dirty="0"/>
              <a:t>E</a:t>
            </a:r>
            <a:endParaRPr lang="zh-CN" altLang="en-US" sz="2200" dirty="0"/>
          </a:p>
        </p:txBody>
      </p:sp>
      <p:sp>
        <p:nvSpPr>
          <p:cNvPr id="19" name="文本框 18"/>
          <p:cNvSpPr txBox="1"/>
          <p:nvPr/>
        </p:nvSpPr>
        <p:spPr>
          <a:xfrm>
            <a:off x="4788564" y="6189467"/>
            <a:ext cx="160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E</a:t>
            </a:r>
            <a:endParaRPr lang="zh-CN" altLang="en-US" sz="2200" dirty="0"/>
          </a:p>
        </p:txBody>
      </p:sp>
      <p:sp>
        <p:nvSpPr>
          <p:cNvPr id="20" name="文本框 19"/>
          <p:cNvSpPr txBox="1"/>
          <p:nvPr/>
        </p:nvSpPr>
        <p:spPr>
          <a:xfrm>
            <a:off x="6390623" y="1957153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*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+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21" name="文本框 20"/>
          <p:cNvSpPr txBox="1"/>
          <p:nvPr/>
        </p:nvSpPr>
        <p:spPr>
          <a:xfrm>
            <a:off x="6398872" y="2371740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*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+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22" name="文本框 21"/>
          <p:cNvSpPr txBox="1"/>
          <p:nvPr/>
        </p:nvSpPr>
        <p:spPr>
          <a:xfrm>
            <a:off x="6407121" y="2818947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+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24" name="文本框 23"/>
          <p:cNvSpPr txBox="1"/>
          <p:nvPr/>
        </p:nvSpPr>
        <p:spPr>
          <a:xfrm>
            <a:off x="6374124" y="3650094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+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25" name="文本框 24"/>
          <p:cNvSpPr txBox="1"/>
          <p:nvPr/>
        </p:nvSpPr>
        <p:spPr>
          <a:xfrm>
            <a:off x="6428041" y="4087718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+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26" name="文本框 25"/>
          <p:cNvSpPr txBox="1"/>
          <p:nvPr/>
        </p:nvSpPr>
        <p:spPr>
          <a:xfrm>
            <a:off x="6404988" y="4528113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27" name="文本框 26"/>
          <p:cNvSpPr txBox="1"/>
          <p:nvPr/>
        </p:nvSpPr>
        <p:spPr>
          <a:xfrm>
            <a:off x="6431902" y="4925685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28" name="文本框 27"/>
          <p:cNvSpPr txBox="1"/>
          <p:nvPr/>
        </p:nvSpPr>
        <p:spPr>
          <a:xfrm>
            <a:off x="6425130" y="5334669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29" name="文本框 28"/>
          <p:cNvSpPr txBox="1"/>
          <p:nvPr/>
        </p:nvSpPr>
        <p:spPr>
          <a:xfrm>
            <a:off x="6419774" y="5771891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31" name="文本框 30"/>
          <p:cNvSpPr txBox="1"/>
          <p:nvPr/>
        </p:nvSpPr>
        <p:spPr>
          <a:xfrm>
            <a:off x="6431902" y="6213529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33" name="文本框 32"/>
          <p:cNvSpPr txBox="1"/>
          <p:nvPr/>
        </p:nvSpPr>
        <p:spPr>
          <a:xfrm>
            <a:off x="6390622" y="3235235"/>
            <a:ext cx="210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.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+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$</a:t>
            </a:r>
            <a:endParaRPr kumimoji="1" lang="zh-CN" altLang="en-US" sz="2200" dirty="0"/>
          </a:p>
        </p:txBody>
      </p:sp>
      <p:sp>
        <p:nvSpPr>
          <p:cNvPr id="38" name="文本框 37"/>
          <p:cNvSpPr txBox="1"/>
          <p:nvPr/>
        </p:nvSpPr>
        <p:spPr>
          <a:xfrm>
            <a:off x="4901698" y="1219330"/>
            <a:ext cx="137534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Stack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6734465" y="1508859"/>
            <a:ext cx="13753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Input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4742625" y="1546481"/>
            <a:ext cx="1737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“parse</a:t>
            </a:r>
            <a:r>
              <a:rPr kumimoji="1" lang="zh-CN" altLang="en-US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state”</a:t>
            </a:r>
            <a:endParaRPr kumimoji="1" lang="zh-CN" altLang="en-US" sz="2200" b="1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 Parsing</a:t>
            </a: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457200" y="916305"/>
            <a:ext cx="8204835" cy="54381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GB" altLang="zh-CN" sz="2890" dirty="0"/>
              <a:t>Parser keeps track of</a:t>
            </a:r>
          </a:p>
          <a:p>
            <a:pPr lvl="1">
              <a:lnSpc>
                <a:spcPct val="100000"/>
              </a:lnSpc>
            </a:pPr>
            <a:r>
              <a:rPr kumimoji="1" lang="en-GB" altLang="zh-CN" dirty="0">
                <a:solidFill>
                  <a:srgbClr val="0070C0"/>
                </a:solidFill>
              </a:rPr>
              <a:t>position in current input </a:t>
            </a:r>
            <a:r>
              <a:rPr kumimoji="1" lang="en-GB" altLang="zh-CN" dirty="0"/>
              <a:t>(what input to read next)</a:t>
            </a:r>
          </a:p>
          <a:p>
            <a:pPr lvl="1">
              <a:lnSpc>
                <a:spcPct val="100000"/>
              </a:lnSpc>
            </a:pPr>
            <a:r>
              <a:rPr kumimoji="1" lang="en-GB" altLang="zh-CN" dirty="0">
                <a:solidFill>
                  <a:srgbClr val="0070C0"/>
                </a:solidFill>
              </a:rPr>
              <a:t>a stack of terminal &amp; non-terminal symbols </a:t>
            </a:r>
            <a:r>
              <a:rPr kumimoji="1" lang="en-GB" altLang="zh-CN" dirty="0"/>
              <a:t>representing the “parse so far”</a:t>
            </a:r>
          </a:p>
          <a:p>
            <a:pPr>
              <a:lnSpc>
                <a:spcPct val="100000"/>
              </a:lnSpc>
            </a:pPr>
            <a:r>
              <a:rPr kumimoji="1" lang="en-US" altLang="zh-CN" sz="2890" dirty="0"/>
              <a:t>The</a:t>
            </a:r>
            <a:r>
              <a:rPr kumimoji="1" lang="zh-CN" altLang="en-US" sz="2890" dirty="0"/>
              <a:t> </a:t>
            </a:r>
            <a:r>
              <a:rPr kumimoji="1" lang="en-US" altLang="zh-CN" sz="2890" dirty="0"/>
              <a:t>parser</a:t>
            </a:r>
            <a:r>
              <a:rPr kumimoji="1" lang="zh-CN" altLang="en-US" sz="2890" dirty="0"/>
              <a:t> </a:t>
            </a:r>
            <a:r>
              <a:rPr kumimoji="1" lang="en-US" altLang="zh-CN" sz="2890" dirty="0"/>
              <a:t>performs</a:t>
            </a:r>
            <a:r>
              <a:rPr kumimoji="1" lang="zh-CN" altLang="en-US" sz="2890" dirty="0"/>
              <a:t> </a:t>
            </a:r>
            <a:r>
              <a:rPr kumimoji="1" lang="en-US" altLang="zh-CN" sz="2890" dirty="0"/>
              <a:t>several</a:t>
            </a:r>
            <a:r>
              <a:rPr kumimoji="1" lang="zh-CN" altLang="en-US" sz="2890" dirty="0"/>
              <a:t> </a:t>
            </a:r>
            <a:r>
              <a:rPr kumimoji="1" lang="en-US" altLang="zh-CN" sz="2890" dirty="0"/>
              <a:t>actions:</a:t>
            </a:r>
          </a:p>
          <a:p>
            <a:pPr lvl="1">
              <a:lnSpc>
                <a:spcPct val="100000"/>
              </a:lnSpc>
            </a:pPr>
            <a:r>
              <a:rPr kumimoji="1" lang="en-GB" altLang="zh-CN" b="1" dirty="0">
                <a:solidFill>
                  <a:srgbClr val="0070C0"/>
                </a:solidFill>
              </a:rPr>
              <a:t>shift</a:t>
            </a:r>
            <a:r>
              <a:rPr kumimoji="1" lang="en-GB" altLang="zh-CN" dirty="0"/>
              <a:t>: </a:t>
            </a:r>
            <a:r>
              <a:rPr kumimoji="1" lang="en-US" altLang="zh-CN" dirty="0"/>
              <a:t>push</a:t>
            </a:r>
            <a:r>
              <a:rPr kumimoji="1" lang="en-GB" altLang="zh-CN" dirty="0"/>
              <a:t> next input onto top of stack</a:t>
            </a:r>
          </a:p>
          <a:p>
            <a:pPr lvl="1">
              <a:lnSpc>
                <a:spcPct val="100000"/>
              </a:lnSpc>
            </a:pPr>
            <a:r>
              <a:rPr kumimoji="1" lang="en-GB" altLang="zh-CN" b="1" dirty="0">
                <a:solidFill>
                  <a:srgbClr val="0070C0"/>
                </a:solidFill>
              </a:rPr>
              <a:t>reduce R</a:t>
            </a:r>
            <a:r>
              <a:rPr kumimoji="1" lang="en-US" altLang="zh-CN" dirty="0">
                <a:solidFill>
                  <a:srgbClr val="0070C0"/>
                </a:solidFill>
              </a:rPr>
              <a:t>:</a:t>
            </a:r>
            <a:r>
              <a:rPr kumimoji="1" lang="zh-CN" altLang="en-US" dirty="0"/>
              <a:t> </a:t>
            </a:r>
            <a:r>
              <a:rPr kumimoji="1" lang="en-GB" altLang="zh-CN" dirty="0"/>
              <a:t> </a:t>
            </a:r>
          </a:p>
          <a:p>
            <a:pPr lvl="2">
              <a:lnSpc>
                <a:spcPct val="100000"/>
              </a:lnSpc>
            </a:pPr>
            <a:r>
              <a:rPr kumimoji="1" lang="en-GB" altLang="zh-CN" dirty="0">
                <a:solidFill>
                  <a:schemeClr val="tx1"/>
                </a:solidFill>
              </a:rPr>
              <a:t>top of stack should match RHS of rule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R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(e.g.,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X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-&gt;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A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B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C)</a:t>
            </a:r>
          </a:p>
          <a:p>
            <a:pPr lvl="2">
              <a:lnSpc>
                <a:spcPct val="100000"/>
              </a:lnSpc>
            </a:pPr>
            <a:r>
              <a:rPr kumimoji="1" lang="en-US" altLang="zh-CN" dirty="0">
                <a:solidFill>
                  <a:schemeClr val="tx1"/>
                </a:solidFill>
              </a:rPr>
              <a:t>pop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the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RHS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from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the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top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of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stack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(e.g.,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pop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C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B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A)</a:t>
            </a:r>
          </a:p>
          <a:p>
            <a:pPr lvl="2">
              <a:lnSpc>
                <a:spcPct val="100000"/>
              </a:lnSpc>
            </a:pPr>
            <a:r>
              <a:rPr kumimoji="1" lang="en-US" altLang="zh-CN" dirty="0">
                <a:solidFill>
                  <a:schemeClr val="tx1"/>
                </a:solidFill>
              </a:rPr>
              <a:t>push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the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LHS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onto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the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stack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(e.g.,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push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X)</a:t>
            </a:r>
          </a:p>
          <a:p>
            <a:pPr lvl="1">
              <a:lnSpc>
                <a:spcPct val="100000"/>
              </a:lnSpc>
            </a:pPr>
            <a:r>
              <a:rPr kumimoji="1" lang="en-US" altLang="zh-CN" b="1" dirty="0">
                <a:solidFill>
                  <a:srgbClr val="0070C0"/>
                </a:solidFill>
              </a:rPr>
              <a:t>error</a:t>
            </a:r>
          </a:p>
          <a:p>
            <a:pPr lvl="1">
              <a:lnSpc>
                <a:spcPct val="100000"/>
              </a:lnSpc>
            </a:pPr>
            <a:r>
              <a:rPr kumimoji="1" lang="en-US" altLang="zh-CN" b="1" dirty="0">
                <a:solidFill>
                  <a:srgbClr val="0070C0"/>
                </a:solidFill>
              </a:rPr>
              <a:t>accept:</a:t>
            </a:r>
            <a:r>
              <a:rPr kumimoji="1" lang="zh-CN" altLang="en-US" b="1" dirty="0">
                <a:solidFill>
                  <a:srgbClr val="0070C0"/>
                </a:solidFill>
              </a:rPr>
              <a:t> </a:t>
            </a:r>
            <a:r>
              <a:rPr kumimoji="1" lang="en-GB" altLang="zh-CN" dirty="0"/>
              <a:t>shift </a:t>
            </a:r>
            <a:r>
              <a:rPr kumimoji="1" lang="en-US" altLang="zh-CN" dirty="0"/>
              <a:t>$</a:t>
            </a:r>
            <a:r>
              <a:rPr kumimoji="1" lang="en-GB" altLang="zh-CN" dirty="0"/>
              <a:t> </a:t>
            </a:r>
            <a:r>
              <a:rPr kumimoji="1" lang="en-US" altLang="zh-CN" dirty="0"/>
              <a:t>and</a:t>
            </a:r>
            <a:r>
              <a:rPr kumimoji="1" lang="en-GB" altLang="zh-CN" dirty="0"/>
              <a:t> </a:t>
            </a:r>
            <a:r>
              <a:rPr kumimoji="1" lang="en-US" altLang="en-GB" dirty="0"/>
              <a:t>can </a:t>
            </a:r>
            <a:r>
              <a:rPr kumimoji="1" lang="en-GB" altLang="zh-CN" dirty="0"/>
              <a:t>reduce what remains on stack </a:t>
            </a:r>
          </a:p>
          <a:p>
            <a:pPr marL="0" lv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kumimoji="1" lang="en-GB" altLang="zh-CN" sz="2890" b="1" dirty="0">
                <a:solidFill>
                  <a:srgbClr val="C00000"/>
                </a:solidFill>
              </a:rPr>
              <a:t>How does parser know when to shift and when to reduce?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LR(0) Parsing</a:t>
            </a: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04240" y="1371600"/>
            <a:ext cx="7229475" cy="4516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Start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simplest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LR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parsing,</a:t>
            </a:r>
            <a:r>
              <a:rPr kumimoji="1" lang="zh-CN" altLang="en-US" dirty="0"/>
              <a:t> </a:t>
            </a:r>
            <a:r>
              <a:rPr kumimoji="1" lang="en-US" altLang="zh-CN" dirty="0"/>
              <a:t>i.e.,</a:t>
            </a:r>
            <a:r>
              <a:rPr kumimoji="1" lang="zh-CN" altLang="en-US" dirty="0"/>
              <a:t> </a:t>
            </a:r>
            <a:r>
              <a:rPr kumimoji="1" lang="en-US" altLang="zh-CN" dirty="0"/>
              <a:t>LR(0)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LR(0)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grammars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those</a:t>
            </a:r>
            <a:r>
              <a:rPr kumimoji="1" lang="zh-CN" altLang="en-US" dirty="0"/>
              <a:t> </a:t>
            </a:r>
            <a:r>
              <a:rPr kumimoji="1" lang="en-GB" altLang="zh-CN" dirty="0"/>
              <a:t>can be parsed </a:t>
            </a:r>
            <a:r>
              <a:rPr kumimoji="1" lang="en-GB" altLang="zh-CN" dirty="0">
                <a:solidFill>
                  <a:srgbClr val="0070C0"/>
                </a:solidFill>
              </a:rPr>
              <a:t>looking only at the stack</a:t>
            </a:r>
            <a:r>
              <a:rPr kumimoji="1" lang="en-GB" altLang="zh-CN" dirty="0"/>
              <a:t>, making shift/reduce decisions </a:t>
            </a:r>
            <a:r>
              <a:rPr kumimoji="1" lang="en-GB" altLang="zh-CN" dirty="0">
                <a:solidFill>
                  <a:srgbClr val="0070C0"/>
                </a:solidFill>
              </a:rPr>
              <a:t>without any lookahead</a:t>
            </a:r>
            <a:r>
              <a:rPr kumimoji="1" lang="en-GB" altLang="zh-CN" dirty="0"/>
              <a:t>.</a:t>
            </a:r>
          </a:p>
          <a:p>
            <a:endParaRPr kumimoji="1" lang="en-GB" altLang="zh-CN" dirty="0"/>
          </a:p>
          <a:p>
            <a:pPr marL="0" indent="0">
              <a:buNone/>
            </a:pPr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make</a:t>
            </a:r>
            <a:r>
              <a:rPr kumimoji="1" lang="zh-CN" altLang="en-US" dirty="0"/>
              <a:t> </a:t>
            </a:r>
            <a:r>
              <a:rPr kumimoji="1" lang="en-US" altLang="zh-CN" dirty="0"/>
              <a:t>such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decisions?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Use DFA! </a:t>
            </a:r>
            <a:r>
              <a:rPr kumimoji="1" lang="en-US" altLang="zh-CN" dirty="0">
                <a:solidFill>
                  <a:schemeClr val="tx1"/>
                </a:solidFill>
              </a:rPr>
              <a:t>(</a:t>
            </a:r>
            <a:r>
              <a:rPr kumimoji="1" lang="en-US" altLang="zh-CN" dirty="0"/>
              <a:t>summarize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“parsing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state”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enumerate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valid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transitions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between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them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grammar).</a:t>
            </a:r>
          </a:p>
          <a:p>
            <a:pPr marL="0" indent="0">
              <a:buNone/>
            </a:pPr>
            <a:endParaRPr kumimoji="1"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LR(0) Parsing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3160" y="4653891"/>
            <a:ext cx="14675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166804" y="4032064"/>
            <a:ext cx="1371511" cy="429895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S’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$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0408" y="821791"/>
            <a:ext cx="881727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rgbClr val="0070C0"/>
                </a:solidFill>
              </a:rPr>
              <a:t>.</a:t>
            </a:r>
            <a:r>
              <a:rPr kumimoji="1" lang="zh-CN" altLang="en-US" sz="2200" b="1" dirty="0"/>
              <a:t> </a:t>
            </a:r>
            <a:r>
              <a:rPr kumimoji="1" lang="en-US" altLang="zh-CN" sz="2200" dirty="0"/>
              <a:t>: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the current position of the parser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200" dirty="0">
                <a:solidFill>
                  <a:srgbClr val="0070C0"/>
                </a:solidFill>
              </a:rPr>
              <a:t>start</a:t>
            </a:r>
            <a:r>
              <a:rPr kumimoji="1" lang="zh-CN" altLang="en-US" sz="2200" dirty="0">
                <a:solidFill>
                  <a:srgbClr val="0070C0"/>
                </a:solidFill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</a:rPr>
              <a:t>with</a:t>
            </a:r>
            <a:r>
              <a:rPr kumimoji="1" lang="zh-CN" altLang="en-US" sz="2200" dirty="0">
                <a:solidFill>
                  <a:srgbClr val="0070C0"/>
                </a:solidFill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</a:rPr>
              <a:t>S’</a:t>
            </a:r>
            <a:r>
              <a:rPr kumimoji="1" lang="zh-CN" altLang="en-US" sz="2200" dirty="0">
                <a:solidFill>
                  <a:srgbClr val="0070C0"/>
                </a:solidFill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</a:rPr>
              <a:t>-&gt;</a:t>
            </a:r>
            <a:r>
              <a:rPr kumimoji="1" lang="zh-CN" altLang="en-US" sz="2200" dirty="0">
                <a:solidFill>
                  <a:srgbClr val="0070C0"/>
                </a:solidFill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</a:rPr>
              <a:t>.</a:t>
            </a:r>
            <a:r>
              <a:rPr kumimoji="1" lang="zh-CN" altLang="en-US" sz="2200" dirty="0">
                <a:solidFill>
                  <a:srgbClr val="0070C0"/>
                </a:solidFill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</a:rPr>
              <a:t>S</a:t>
            </a:r>
            <a:r>
              <a:rPr kumimoji="1" lang="zh-CN" altLang="en-US" sz="2200" dirty="0">
                <a:solidFill>
                  <a:srgbClr val="0070C0"/>
                </a:solidFill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</a:rPr>
              <a:t>$</a:t>
            </a:r>
            <a:r>
              <a:rPr kumimoji="1" lang="en-US" altLang="zh-CN" sz="2200" dirty="0"/>
              <a:t>:</a:t>
            </a:r>
            <a:r>
              <a:rPr kumimoji="1" lang="zh-CN" altLang="en-US" sz="2200" dirty="0"/>
              <a:t>  </a:t>
            </a:r>
            <a:r>
              <a:rPr kumimoji="1" lang="en-US" altLang="zh-CN" sz="2200" dirty="0"/>
              <a:t>stack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should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be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empty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and</a:t>
            </a:r>
            <a:r>
              <a:rPr kumimoji="1" lang="zh-CN" altLang="en-US" sz="2200" dirty="0"/>
              <a:t> </a:t>
            </a:r>
            <a:r>
              <a:rPr kumimoji="1" lang="en-GB" altLang="zh-CN" sz="2200" dirty="0"/>
              <a:t>the input is expected to be a complete S-sentence followed by $</a:t>
            </a:r>
            <a:endParaRPr kumimoji="1" lang="en-US" altLang="zh-C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200" dirty="0">
                <a:solidFill>
                  <a:srgbClr val="0070C0"/>
                </a:solidFill>
              </a:rPr>
              <a:t>A</a:t>
            </a:r>
            <a:r>
              <a:rPr kumimoji="1" lang="zh-CN" altLang="en-US" sz="2200" dirty="0">
                <a:solidFill>
                  <a:srgbClr val="0070C0"/>
                </a:solidFill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</a:rPr>
              <a:t>-&gt;</a:t>
            </a:r>
            <a:r>
              <a:rPr kumimoji="1" lang="zh-CN" altLang="en-US" sz="2200" dirty="0">
                <a:solidFill>
                  <a:srgbClr val="0070C0"/>
                </a:solidFill>
              </a:rPr>
              <a:t> 𝛼 </a:t>
            </a:r>
            <a:r>
              <a:rPr kumimoji="1" lang="en-US" altLang="zh-CN" sz="2200" dirty="0">
                <a:solidFill>
                  <a:srgbClr val="0070C0"/>
                </a:solidFill>
              </a:rPr>
              <a:t>.</a:t>
            </a:r>
            <a:r>
              <a:rPr kumimoji="1" lang="zh-CN" altLang="en-US" sz="2200" dirty="0">
                <a:solidFill>
                  <a:srgbClr val="0070C0"/>
                </a:solidFill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</a:rPr>
              <a:t>β</a:t>
            </a:r>
            <a:r>
              <a:rPr kumimoji="1" lang="en-US" altLang="zh-CN" sz="2200" dirty="0"/>
              <a:t>:</a:t>
            </a:r>
            <a:r>
              <a:rPr kumimoji="1" lang="zh-CN" altLang="en-US" sz="2200" dirty="0"/>
              <a:t> </a:t>
            </a:r>
            <a:r>
              <a:rPr kumimoji="1" lang="en-US" altLang="zh-CN" sz="2200" dirty="0">
                <a:solidFill>
                  <a:srgbClr val="0070C0"/>
                </a:solidFill>
              </a:rPr>
              <a:t>LR(0)</a:t>
            </a:r>
            <a:r>
              <a:rPr kumimoji="1" lang="zh-CN" altLang="en-US" sz="2200" dirty="0">
                <a:solidFill>
                  <a:srgbClr val="0070C0"/>
                </a:solidFill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</a:rPr>
              <a:t>item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zh-CN" sz="2200" dirty="0"/>
              <a:t>means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the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parser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has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processed</a:t>
            </a:r>
            <a:r>
              <a:rPr kumimoji="1" lang="zh-CN" altLang="en-US" sz="2200" dirty="0"/>
              <a:t> 𝛼 </a:t>
            </a:r>
            <a:r>
              <a:rPr kumimoji="1" lang="en-US" altLang="zh-CN" sz="2200" dirty="0"/>
              <a:t>and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expects to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see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β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next.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200" dirty="0"/>
              <a:t>We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obtain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an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NFA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200" dirty="0"/>
              <a:t>We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can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convert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it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into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a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DFA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through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subset construction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CN" sz="2200" dirty="0"/>
          </a:p>
        </p:txBody>
      </p:sp>
      <p:sp>
        <p:nvSpPr>
          <p:cNvPr id="9" name="文本框 8"/>
          <p:cNvSpPr txBox="1"/>
          <p:nvPr/>
        </p:nvSpPr>
        <p:spPr>
          <a:xfrm>
            <a:off x="2166804" y="4770729"/>
            <a:ext cx="1371511" cy="430887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)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66804" y="5946810"/>
            <a:ext cx="1371511" cy="430887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a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948798" y="4770728"/>
            <a:ext cx="1371511" cy="430887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)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759530" y="4770728"/>
            <a:ext cx="1371511" cy="430887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)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555287" y="4770727"/>
            <a:ext cx="1371511" cy="430887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)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48797" y="5946809"/>
            <a:ext cx="1371511" cy="430887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948797" y="4032063"/>
            <a:ext cx="1371511" cy="430887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S’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$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17" name="直线箭头连接符 16"/>
          <p:cNvCxnSpPr>
            <a:stCxn id="7" idx="2"/>
            <a:endCxn id="9" idx="0"/>
          </p:cNvCxnSpPr>
          <p:nvPr/>
        </p:nvCxnSpPr>
        <p:spPr>
          <a:xfrm>
            <a:off x="2852560" y="4462951"/>
            <a:ext cx="0" cy="307778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直线箭头连接符 17"/>
          <p:cNvCxnSpPr>
            <a:stCxn id="7" idx="1"/>
            <a:endCxn id="10" idx="1"/>
          </p:cNvCxnSpPr>
          <p:nvPr/>
        </p:nvCxnSpPr>
        <p:spPr>
          <a:xfrm rot="10800000" flipV="1">
            <a:off x="2166804" y="4247508"/>
            <a:ext cx="12700" cy="1914746"/>
          </a:xfrm>
          <a:prstGeom prst="curvedConnector3">
            <a:avLst>
              <a:gd name="adj1" fmla="val 1800000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直线箭头连接符 20"/>
          <p:cNvCxnSpPr>
            <a:stCxn id="7" idx="3"/>
            <a:endCxn id="15" idx="1"/>
          </p:cNvCxnSpPr>
          <p:nvPr/>
        </p:nvCxnSpPr>
        <p:spPr>
          <a:xfrm flipV="1">
            <a:off x="3538315" y="4247507"/>
            <a:ext cx="410482" cy="1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4" name="直线箭头连接符 23"/>
          <p:cNvCxnSpPr>
            <a:stCxn id="9" idx="3"/>
            <a:endCxn id="11" idx="1"/>
          </p:cNvCxnSpPr>
          <p:nvPr/>
        </p:nvCxnSpPr>
        <p:spPr>
          <a:xfrm flipV="1">
            <a:off x="3538315" y="4986172"/>
            <a:ext cx="410483" cy="1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" name="直线箭头连接符 26"/>
          <p:cNvCxnSpPr>
            <a:stCxn id="11" idx="3"/>
            <a:endCxn id="12" idx="1"/>
          </p:cNvCxnSpPr>
          <p:nvPr/>
        </p:nvCxnSpPr>
        <p:spPr>
          <a:xfrm>
            <a:off x="5320309" y="4986172"/>
            <a:ext cx="439221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直线箭头连接符 29"/>
          <p:cNvCxnSpPr>
            <a:stCxn id="11" idx="2"/>
            <a:endCxn id="9" idx="2"/>
          </p:cNvCxnSpPr>
          <p:nvPr/>
        </p:nvCxnSpPr>
        <p:spPr>
          <a:xfrm rot="5400000">
            <a:off x="3743557" y="4310618"/>
            <a:ext cx="1" cy="1781994"/>
          </a:xfrm>
          <a:prstGeom prst="curvedConnector3">
            <a:avLst>
              <a:gd name="adj1" fmla="val 22860100000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6" name="直线箭头连接符 35"/>
          <p:cNvCxnSpPr>
            <a:stCxn id="10" idx="3"/>
            <a:endCxn id="14" idx="1"/>
          </p:cNvCxnSpPr>
          <p:nvPr/>
        </p:nvCxnSpPr>
        <p:spPr>
          <a:xfrm flipV="1">
            <a:off x="3538315" y="6162253"/>
            <a:ext cx="410482" cy="1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直线箭头连接符 38"/>
          <p:cNvCxnSpPr>
            <a:stCxn id="12" idx="3"/>
            <a:endCxn id="13" idx="1"/>
          </p:cNvCxnSpPr>
          <p:nvPr/>
        </p:nvCxnSpPr>
        <p:spPr>
          <a:xfrm flipV="1">
            <a:off x="7131041" y="4986171"/>
            <a:ext cx="424246" cy="1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0" name="文本框 49"/>
          <p:cNvSpPr txBox="1"/>
          <p:nvPr/>
        </p:nvSpPr>
        <p:spPr>
          <a:xfrm>
            <a:off x="3575527" y="3901534"/>
            <a:ext cx="21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2596698" y="4390064"/>
            <a:ext cx="21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ε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1657270" y="4790174"/>
            <a:ext cx="21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rgbClr val="0070C0"/>
                </a:solidFill>
              </a:rPr>
              <a:t>ε</a:t>
            </a:r>
            <a:endParaRPr kumimoji="1"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3575785" y="4659909"/>
            <a:ext cx="21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(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3583740" y="5086381"/>
            <a:ext cx="21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ε</a:t>
            </a:r>
          </a:p>
        </p:txBody>
      </p:sp>
      <p:cxnSp>
        <p:nvCxnSpPr>
          <p:cNvPr id="56" name="直线箭头连接符 29"/>
          <p:cNvCxnSpPr>
            <a:stCxn id="11" idx="2"/>
            <a:endCxn id="10" idx="0"/>
          </p:cNvCxnSpPr>
          <p:nvPr/>
        </p:nvCxnSpPr>
        <p:spPr>
          <a:xfrm rot="5400000">
            <a:off x="3370960" y="4683215"/>
            <a:ext cx="745195" cy="1781994"/>
          </a:xfrm>
          <a:prstGeom prst="curvedConnector3">
            <a:avLst>
              <a:gd name="adj1" fmla="val 50000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9" name="文本框 58"/>
          <p:cNvSpPr txBox="1"/>
          <p:nvPr/>
        </p:nvSpPr>
        <p:spPr>
          <a:xfrm>
            <a:off x="3583740" y="5454366"/>
            <a:ext cx="21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ε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3575527" y="5800315"/>
            <a:ext cx="21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a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5398771" y="4662695"/>
            <a:ext cx="21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7234114" y="4656595"/>
            <a:ext cx="21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50" grpId="0"/>
      <p:bldP spid="51" grpId="0"/>
      <p:bldP spid="52" grpId="0"/>
      <p:bldP spid="53" grpId="0"/>
      <p:bldP spid="55" grpId="0"/>
      <p:bldP spid="59" grpId="0"/>
      <p:bldP spid="60" grpId="0"/>
      <p:bldP spid="61" grpId="0"/>
      <p:bldP spid="6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LR(0) Parsing</a:t>
            </a: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315" y="1143000"/>
            <a:ext cx="8449945" cy="49745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DFA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items</a:t>
            </a:r>
          </a:p>
          <a:p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also</a:t>
            </a:r>
            <a:r>
              <a:rPr kumimoji="1" lang="zh-CN" altLang="en-US" dirty="0"/>
              <a:t> </a:t>
            </a:r>
            <a:r>
              <a:rPr kumimoji="1" lang="en-US" altLang="zh-CN" dirty="0"/>
              <a:t>directly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construct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DFA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procedure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named</a:t>
            </a:r>
            <a:r>
              <a:rPr kumimoji="1" lang="zh-CN" altLang="en-US" dirty="0"/>
              <a:t> </a:t>
            </a:r>
            <a:r>
              <a:rPr kumimoji="1" lang="en-US" altLang="zh-CN" b="1" dirty="0"/>
              <a:t>Closure</a:t>
            </a:r>
            <a:r>
              <a:rPr kumimoji="1" lang="en-US" altLang="zh-CN" dirty="0"/>
              <a:t>.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31" name="文本框 30"/>
          <p:cNvSpPr txBox="1"/>
          <p:nvPr/>
        </p:nvSpPr>
        <p:spPr>
          <a:xfrm>
            <a:off x="401801" y="2998113"/>
            <a:ext cx="1670413" cy="1106805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S’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$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)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a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677432" y="3001389"/>
            <a:ext cx="1670413" cy="1107996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)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)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a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953063" y="2998113"/>
            <a:ext cx="1670413" cy="430887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)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7181121" y="2998112"/>
            <a:ext cx="1670413" cy="430887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)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677432" y="4531528"/>
            <a:ext cx="1670413" cy="430887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401801" y="4531529"/>
            <a:ext cx="1670413" cy="430887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S’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$</a:t>
            </a:r>
          </a:p>
        </p:txBody>
      </p:sp>
      <p:cxnSp>
        <p:nvCxnSpPr>
          <p:cNvPr id="42" name="直线箭头连接符 41"/>
          <p:cNvCxnSpPr>
            <a:endCxn id="37" idx="0"/>
          </p:cNvCxnSpPr>
          <p:nvPr/>
        </p:nvCxnSpPr>
        <p:spPr>
          <a:xfrm>
            <a:off x="1237007" y="4106109"/>
            <a:ext cx="1" cy="42542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3" name="文本框 42"/>
          <p:cNvSpPr txBox="1"/>
          <p:nvPr/>
        </p:nvSpPr>
        <p:spPr>
          <a:xfrm>
            <a:off x="966287" y="4071222"/>
            <a:ext cx="21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</a:t>
            </a:r>
          </a:p>
        </p:txBody>
      </p:sp>
      <p:cxnSp>
        <p:nvCxnSpPr>
          <p:cNvPr id="48" name="直线箭头连接符 47"/>
          <p:cNvCxnSpPr>
            <a:stCxn id="31" idx="3"/>
            <a:endCxn id="33" idx="1"/>
          </p:cNvCxnSpPr>
          <p:nvPr/>
        </p:nvCxnSpPr>
        <p:spPr>
          <a:xfrm>
            <a:off x="2072214" y="3552111"/>
            <a:ext cx="605218" cy="327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" name="文本框 5"/>
          <p:cNvSpPr txBox="1"/>
          <p:nvPr/>
        </p:nvSpPr>
        <p:spPr>
          <a:xfrm>
            <a:off x="2265627" y="3105834"/>
            <a:ext cx="21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(</a:t>
            </a:r>
          </a:p>
        </p:txBody>
      </p:sp>
      <p:cxnSp>
        <p:nvCxnSpPr>
          <p:cNvPr id="16" name="直线箭头连接符 51"/>
          <p:cNvCxnSpPr>
            <a:stCxn id="33" idx="3"/>
          </p:cNvCxnSpPr>
          <p:nvPr/>
        </p:nvCxnSpPr>
        <p:spPr>
          <a:xfrm>
            <a:off x="4347845" y="3555387"/>
            <a:ext cx="12700" cy="229454"/>
          </a:xfrm>
          <a:prstGeom prst="curvedConnector4">
            <a:avLst>
              <a:gd name="adj1" fmla="val 3893024"/>
              <a:gd name="adj2" fmla="val 168653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7" name="文本框 56"/>
          <p:cNvSpPr txBox="1"/>
          <p:nvPr/>
        </p:nvSpPr>
        <p:spPr>
          <a:xfrm>
            <a:off x="4842248" y="3641004"/>
            <a:ext cx="21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(</a:t>
            </a:r>
          </a:p>
        </p:txBody>
      </p:sp>
      <p:cxnSp>
        <p:nvCxnSpPr>
          <p:cNvPr id="58" name="直线箭头连接符 57"/>
          <p:cNvCxnSpPr>
            <a:stCxn id="33" idx="2"/>
            <a:endCxn id="5" idx="0"/>
          </p:cNvCxnSpPr>
          <p:nvPr/>
        </p:nvCxnSpPr>
        <p:spPr>
          <a:xfrm>
            <a:off x="3512639" y="4109385"/>
            <a:ext cx="0" cy="422143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" name="文本框 18"/>
          <p:cNvSpPr txBox="1"/>
          <p:nvPr/>
        </p:nvSpPr>
        <p:spPr>
          <a:xfrm>
            <a:off x="3183568" y="4087571"/>
            <a:ext cx="21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a</a:t>
            </a:r>
          </a:p>
        </p:txBody>
      </p:sp>
      <p:cxnSp>
        <p:nvCxnSpPr>
          <p:cNvPr id="70" name="直线箭头连接符 69"/>
          <p:cNvCxnSpPr>
            <a:cxnSpLocks/>
            <a:stCxn id="33" idx="3"/>
            <a:endCxn id="34" idx="1"/>
          </p:cNvCxnSpPr>
          <p:nvPr/>
        </p:nvCxnSpPr>
        <p:spPr>
          <a:xfrm flipV="1">
            <a:off x="4347845" y="3213557"/>
            <a:ext cx="605218" cy="34183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5" name="文本框 74"/>
          <p:cNvSpPr txBox="1"/>
          <p:nvPr/>
        </p:nvSpPr>
        <p:spPr>
          <a:xfrm>
            <a:off x="4535831" y="3028285"/>
            <a:ext cx="21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6819445" y="2838062"/>
            <a:ext cx="21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)</a:t>
            </a:r>
          </a:p>
        </p:txBody>
      </p:sp>
      <p:cxnSp>
        <p:nvCxnSpPr>
          <p:cNvPr id="77" name="直线箭头连接符 76"/>
          <p:cNvCxnSpPr>
            <a:stCxn id="34" idx="3"/>
            <a:endCxn id="35" idx="1"/>
          </p:cNvCxnSpPr>
          <p:nvPr/>
        </p:nvCxnSpPr>
        <p:spPr>
          <a:xfrm flipV="1">
            <a:off x="6623476" y="3213556"/>
            <a:ext cx="557645" cy="1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0" name="直线箭头连接符 79"/>
          <p:cNvCxnSpPr>
            <a:stCxn id="31" idx="3"/>
            <a:endCxn id="5" idx="1"/>
          </p:cNvCxnSpPr>
          <p:nvPr/>
        </p:nvCxnSpPr>
        <p:spPr>
          <a:xfrm>
            <a:off x="2072214" y="3552111"/>
            <a:ext cx="605218" cy="1194861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4" name="文本框 83"/>
          <p:cNvSpPr txBox="1"/>
          <p:nvPr/>
        </p:nvSpPr>
        <p:spPr>
          <a:xfrm>
            <a:off x="2145922" y="4017656"/>
            <a:ext cx="21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a</a:t>
            </a:r>
          </a:p>
        </p:txBody>
      </p:sp>
      <p:sp>
        <p:nvSpPr>
          <p:cNvPr id="85" name="文本框 84"/>
          <p:cNvSpPr txBox="1"/>
          <p:nvPr/>
        </p:nvSpPr>
        <p:spPr>
          <a:xfrm>
            <a:off x="6781013" y="4648295"/>
            <a:ext cx="14675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S’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$</a:t>
            </a:r>
          </a:p>
          <a:p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)</a:t>
            </a:r>
          </a:p>
          <a:p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a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FBAD05E4-65D5-A9F0-B40F-0984107DB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432" y="5313680"/>
            <a:ext cx="3823201" cy="1373447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9AA3C464-872D-7265-0B7D-361AFD873B41}"/>
              </a:ext>
            </a:extLst>
          </p:cNvPr>
          <p:cNvSpPr txBox="1"/>
          <p:nvPr/>
        </p:nvSpPr>
        <p:spPr>
          <a:xfrm>
            <a:off x="5861149" y="6317795"/>
            <a:ext cx="1278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dirty="0"/>
              <a:t>NFA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4" grpId="0" bldLvl="0" animBg="1"/>
      <p:bldP spid="35" grpId="0" bldLvl="0" animBg="1"/>
      <p:bldP spid="5" grpId="0" bldLvl="0" animBg="1"/>
      <p:bldP spid="37" grpId="0" bldLvl="0" animBg="1"/>
      <p:bldP spid="43" grpId="0"/>
      <p:bldP spid="6" grpId="0"/>
      <p:bldP spid="57" grpId="0"/>
      <p:bldP spid="19" grpId="0"/>
      <p:bldP spid="75" grpId="0"/>
      <p:bldP spid="76" grpId="0"/>
      <p:bldP spid="84" grpId="0"/>
      <p:bldP spid="4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LR(0) Parsing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53670" y="1788160"/>
            <a:ext cx="3880485" cy="2291715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0000CC"/>
            </a:solidFill>
            <a:miter lim="800000"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  <a:cs typeface="Calibri" panose="020F0502020204030204" charset="0"/>
              </a:rPr>
              <a:t>Closure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(</a:t>
            </a:r>
            <a:r>
              <a:rPr lang="en-US" altLang="zh-CN" sz="2400" i="1" dirty="0">
                <a:ea typeface="宋体" panose="02010600030101010101" pitchFamily="2" charset="-122"/>
                <a:cs typeface="Calibri" panose="020F0502020204030204" charset="0"/>
              </a:rPr>
              <a:t>I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) =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  <a:cs typeface="Calibri" panose="020F0502020204030204" charset="0"/>
              </a:rPr>
              <a:t>   repeat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    </a:t>
            </a:r>
            <a:r>
              <a:rPr lang="zh-CN" altLang="en-US" sz="2400" dirty="0">
                <a:ea typeface="宋体" panose="02010600030101010101" pitchFamily="2" charset="-122"/>
                <a:cs typeface="Calibri" panose="020F0502020204030204" charset="0"/>
              </a:rPr>
              <a:t>  </a:t>
            </a:r>
            <a:r>
              <a:rPr lang="en-US" altLang="zh-CN" sz="2400" b="1" dirty="0">
                <a:ea typeface="宋体" panose="02010600030101010101" pitchFamily="2" charset="-122"/>
                <a:cs typeface="Calibri" panose="020F0502020204030204" charset="0"/>
              </a:rPr>
              <a:t>for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 any item </a:t>
            </a:r>
            <a:r>
              <a:rPr lang="en-US" altLang="zh-CN" sz="2400" i="1" dirty="0">
                <a:ea typeface="宋体" panose="02010600030101010101" pitchFamily="2" charset="-122"/>
                <a:cs typeface="Calibri" panose="020F0502020204030204" charset="0"/>
              </a:rPr>
              <a:t>A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 → α.</a:t>
            </a:r>
            <a:r>
              <a:rPr lang="en-US" altLang="zh-CN" sz="2400" i="1" dirty="0">
                <a:ea typeface="宋体" panose="02010600030101010101" pitchFamily="2" charset="-122"/>
                <a:cs typeface="Calibri" panose="020F0502020204030204" charset="0"/>
              </a:rPr>
              <a:t>X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β in </a:t>
            </a:r>
            <a:r>
              <a:rPr lang="en-US" altLang="zh-CN" sz="2400" i="1" dirty="0">
                <a:ea typeface="宋体" panose="02010600030101010101" pitchFamily="2" charset="-122"/>
                <a:cs typeface="Calibri" panose="020F0502020204030204" charset="0"/>
              </a:rPr>
              <a:t>I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        </a:t>
            </a:r>
            <a:r>
              <a:rPr lang="en-US" altLang="zh-CN" sz="2400" b="1" dirty="0">
                <a:ea typeface="宋体" panose="02010600030101010101" pitchFamily="2" charset="-122"/>
                <a:cs typeface="Calibri" panose="020F0502020204030204" charset="0"/>
              </a:rPr>
              <a:t>for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 any production </a:t>
            </a:r>
            <a:r>
              <a:rPr lang="en-US" altLang="zh-CN" sz="2400" i="1" dirty="0">
                <a:ea typeface="宋体" panose="02010600030101010101" pitchFamily="2" charset="-122"/>
                <a:cs typeface="Calibri" panose="020F0502020204030204" charset="0"/>
              </a:rPr>
              <a:t>X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 → </a:t>
            </a:r>
            <a:r>
              <a:rPr lang="en-US" altLang="zh-CN" sz="2400" dirty="0" err="1">
                <a:ea typeface="宋体" panose="02010600030101010101" pitchFamily="2" charset="-122"/>
                <a:cs typeface="Calibri" panose="020F0502020204030204" charset="0"/>
              </a:rPr>
              <a:t>γ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        </a:t>
            </a:r>
            <a:r>
              <a:rPr lang="zh-CN" altLang="en-US" sz="2400" dirty="0">
                <a:ea typeface="宋体" panose="02010600030101010101" pitchFamily="2" charset="-122"/>
                <a:cs typeface="Calibri" panose="020F0502020204030204" charset="0"/>
              </a:rPr>
              <a:t>  </a:t>
            </a:r>
            <a:r>
              <a:rPr lang="en-US" altLang="zh-CN" sz="2400" i="1" dirty="0">
                <a:ea typeface="宋体" panose="02010600030101010101" pitchFamily="2" charset="-122"/>
                <a:cs typeface="Calibri" panose="020F0502020204030204" charset="0"/>
              </a:rPr>
              <a:t>I ← I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  <a:sym typeface="Symbol" panose="05050102010706020507" pitchFamily="2" charset="2"/>
              </a:rPr>
              <a:t>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 {</a:t>
            </a:r>
            <a:r>
              <a:rPr lang="en-US" altLang="zh-CN" sz="2400" i="1" dirty="0">
                <a:ea typeface="宋体" panose="02010600030101010101" pitchFamily="2" charset="-122"/>
                <a:cs typeface="Calibri" panose="020F0502020204030204" charset="0"/>
              </a:rPr>
              <a:t>X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 → .</a:t>
            </a:r>
            <a:r>
              <a:rPr lang="en-US" altLang="zh-CN" sz="2400" dirty="0" err="1">
                <a:ea typeface="宋体" panose="02010600030101010101" pitchFamily="2" charset="-122"/>
                <a:cs typeface="Calibri" panose="020F0502020204030204" charset="0"/>
              </a:rPr>
              <a:t>γ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}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ea typeface="宋体" panose="02010600030101010101" pitchFamily="2" charset="-122"/>
                <a:cs typeface="Calibri" panose="020F0502020204030204" charset="0"/>
              </a:rPr>
              <a:t>   </a:t>
            </a:r>
            <a:r>
              <a:rPr lang="en-US" altLang="zh-CN" sz="2400" b="1" dirty="0">
                <a:ea typeface="宋体" panose="02010600030101010101" pitchFamily="2" charset="-122"/>
                <a:cs typeface="Calibri" panose="020F0502020204030204" charset="0"/>
              </a:rPr>
              <a:t>until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sz="2400" i="1" dirty="0">
                <a:ea typeface="宋体" panose="02010600030101010101" pitchFamily="2" charset="-122"/>
                <a:cs typeface="Calibri" panose="020F0502020204030204" charset="0"/>
              </a:rPr>
              <a:t>I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 does not change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ea typeface="宋体" panose="02010600030101010101" pitchFamily="2" charset="-122"/>
                <a:cs typeface="Calibri" panose="020F0502020204030204" charset="0"/>
              </a:rPr>
              <a:t>   </a:t>
            </a:r>
            <a:r>
              <a:rPr lang="en-US" altLang="zh-CN" sz="2400" b="1" dirty="0">
                <a:ea typeface="宋体" panose="02010600030101010101" pitchFamily="2" charset="-122"/>
                <a:cs typeface="Calibri" panose="020F0502020204030204" charset="0"/>
              </a:rPr>
              <a:t>return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sz="2400" i="1" dirty="0">
                <a:ea typeface="宋体" panose="02010600030101010101" pitchFamily="2" charset="-122"/>
                <a:cs typeface="Calibri" panose="020F0502020204030204" charset="0"/>
              </a:rPr>
              <a:t>I</a:t>
            </a:r>
            <a:r>
              <a:rPr lang="en-US" altLang="zh-CN" sz="2400" dirty="0">
                <a:ea typeface="宋体" panose="02010600030101010101" pitchFamily="2" charset="-122"/>
                <a:cs typeface="Calibri" panose="020F0502020204030204" charset="0"/>
              </a:rPr>
              <a:t> </a:t>
            </a:r>
            <a:endParaRPr lang="zh-CN" altLang="en-US" sz="2400" dirty="0"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3670" y="4375785"/>
            <a:ext cx="3880485" cy="1938020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0000CC"/>
            </a:solidFill>
            <a:miter lim="800000"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 err="1">
                <a:latin typeface="Calibri" panose="020F0502020204030204" charset="0"/>
                <a:cs typeface="Calibri" panose="020F0502020204030204" charset="0"/>
              </a:rPr>
              <a:t>Goto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I, X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) =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   set 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J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to the empty set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    </a:t>
            </a: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for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any item 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→ α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.X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β in 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      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  add 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→ α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X.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β to 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J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endParaRPr kumimoji="0" lang="en-US" altLang="zh-CN" sz="2400" i="1" dirty="0">
              <a:latin typeface="Calibri" panose="020F0502020204030204" charset="0"/>
              <a:cs typeface="Calibri" panose="020F050202020403020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i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    return Closure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J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)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2070" y="874395"/>
            <a:ext cx="46145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i="1" dirty="0">
                <a:solidFill>
                  <a:srgbClr val="0070C0"/>
                </a:solidFill>
                <a:latin typeface="Calibri" panose="020F0502020204030204" charset="0"/>
                <a:ea typeface="+mn-ea"/>
                <a:cs typeface="Calibri" panose="020F0502020204030204" charset="0"/>
              </a:rPr>
              <a:t>I</a:t>
            </a:r>
            <a:r>
              <a:rPr kumimoji="1" lang="en-US" altLang="zh-CN" sz="2200" dirty="0">
                <a:latin typeface="Calibri" panose="020F0502020204030204" charset="0"/>
                <a:ea typeface="+mn-ea"/>
                <a:cs typeface="Calibri" panose="020F0502020204030204" charset="0"/>
              </a:rPr>
              <a:t>:</a:t>
            </a:r>
            <a:r>
              <a:rPr kumimoji="1" lang="zh-CN" altLang="en-US" sz="2200" dirty="0">
                <a:latin typeface="Calibri" panose="020F0502020204030204" charset="0"/>
                <a:ea typeface="等线 Light" panose="02010600030101010101" charset="-122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ea typeface="+mn-ea"/>
                <a:cs typeface="Calibri" panose="020F0502020204030204" charset="0"/>
              </a:rPr>
              <a:t>a</a:t>
            </a:r>
            <a:r>
              <a:rPr kumimoji="1" lang="zh-CN" altLang="en-US" sz="2200" dirty="0">
                <a:latin typeface="Calibri" panose="020F0502020204030204" charset="0"/>
                <a:ea typeface="等线 Light" panose="02010600030101010101" charset="-122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ea typeface="+mn-ea"/>
                <a:cs typeface="Calibri" panose="020F0502020204030204" charset="0"/>
              </a:rPr>
              <a:t>set</a:t>
            </a:r>
            <a:r>
              <a:rPr kumimoji="1" lang="zh-CN" altLang="en-US" sz="2200" dirty="0">
                <a:latin typeface="Calibri" panose="020F0502020204030204" charset="0"/>
                <a:ea typeface="等线 Light" panose="02010600030101010101" charset="-122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ea typeface="+mn-ea"/>
                <a:cs typeface="Calibri" panose="020F0502020204030204" charset="0"/>
              </a:rPr>
              <a:t>of</a:t>
            </a:r>
            <a:r>
              <a:rPr kumimoji="1" lang="zh-CN" altLang="en-US" sz="2200" dirty="0">
                <a:latin typeface="Calibri" panose="020F0502020204030204" charset="0"/>
                <a:ea typeface="等线 Light" panose="02010600030101010101" charset="-122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ea typeface="+mn-ea"/>
                <a:cs typeface="Calibri" panose="020F0502020204030204" charset="0"/>
              </a:rPr>
              <a:t>items</a:t>
            </a:r>
          </a:p>
          <a:p>
            <a:r>
              <a:rPr kumimoji="1" lang="en-US" altLang="zh-CN" sz="2200" i="1" dirty="0">
                <a:solidFill>
                  <a:srgbClr val="0070C0"/>
                </a:solidFill>
                <a:latin typeface="Calibri" panose="020F0502020204030204" charset="0"/>
                <a:ea typeface="+mn-ea"/>
                <a:cs typeface="Calibri" panose="020F0502020204030204" charset="0"/>
              </a:rPr>
              <a:t>X</a:t>
            </a:r>
            <a:r>
              <a:rPr kumimoji="1" lang="en-US" altLang="zh-CN" sz="2200" dirty="0">
                <a:latin typeface="Calibri" panose="020F0502020204030204" charset="0"/>
                <a:ea typeface="+mn-ea"/>
                <a:cs typeface="Calibri" panose="020F0502020204030204" charset="0"/>
              </a:rPr>
              <a:t>:</a:t>
            </a:r>
            <a:r>
              <a:rPr kumimoji="1" lang="zh-CN" altLang="en-US" sz="2200" dirty="0">
                <a:latin typeface="Calibri" panose="020F0502020204030204" charset="0"/>
                <a:ea typeface="等线 Light" panose="02010600030101010101" charset="-122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ea typeface="+mn-ea"/>
                <a:cs typeface="Calibri" panose="020F0502020204030204" charset="0"/>
              </a:rPr>
              <a:t>a</a:t>
            </a:r>
            <a:r>
              <a:rPr kumimoji="1" lang="zh-CN" altLang="en-US" sz="2200" dirty="0">
                <a:latin typeface="Calibri" panose="020F0502020204030204" charset="0"/>
                <a:ea typeface="等线 Light" panose="02010600030101010101" charset="-122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ea typeface="+mn-ea"/>
                <a:cs typeface="Calibri" panose="020F0502020204030204" charset="0"/>
              </a:rPr>
              <a:t>symbol</a:t>
            </a:r>
            <a:r>
              <a:rPr kumimoji="1" lang="zh-CN" altLang="en-US" sz="2200" dirty="0">
                <a:latin typeface="Calibri" panose="020F0502020204030204" charset="0"/>
                <a:ea typeface="等线 Light" panose="02010600030101010101" charset="-122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ea typeface="+mn-ea"/>
                <a:cs typeface="Calibri" panose="020F0502020204030204" charset="0"/>
              </a:rPr>
              <a:t>(terminal</a:t>
            </a:r>
            <a:r>
              <a:rPr kumimoji="1" lang="zh-CN" altLang="en-US" sz="2200" dirty="0">
                <a:latin typeface="Calibri" panose="020F0502020204030204" charset="0"/>
                <a:ea typeface="等线 Light" panose="02010600030101010101" charset="-122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ea typeface="+mn-ea"/>
                <a:cs typeface="Calibri" panose="020F0502020204030204" charset="0"/>
              </a:rPr>
              <a:t>or</a:t>
            </a:r>
            <a:r>
              <a:rPr kumimoji="1" lang="zh-CN" altLang="en-US" sz="2200" dirty="0">
                <a:latin typeface="Calibri" panose="020F0502020204030204" charset="0"/>
                <a:ea typeface="等线 Light" panose="02010600030101010101" charset="-122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ea typeface="+mn-ea"/>
                <a:cs typeface="Calibri" panose="020F0502020204030204" charset="0"/>
              </a:rPr>
              <a:t>non-terminal)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248785" y="2371715"/>
            <a:ext cx="4768215" cy="3416320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0000CC"/>
            </a:solidFill>
            <a:miter lim="800000"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Initialize 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to {</a:t>
            </a: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Closure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({S ′ → .S$})}</a:t>
            </a:r>
          </a:p>
          <a:p>
            <a:pPr>
              <a:spcBef>
                <a:spcPct val="0"/>
              </a:spcBef>
              <a:buNone/>
            </a:pP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Initialize 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to empty. </a:t>
            </a:r>
          </a:p>
          <a:p>
            <a:pPr>
              <a:spcBef>
                <a:spcPct val="0"/>
              </a:spcBef>
              <a:buNone/>
            </a:pP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repeat</a:t>
            </a:r>
          </a:p>
          <a:p>
            <a:pPr>
              <a:spcBef>
                <a:spcPct val="0"/>
              </a:spcBef>
              <a:buNone/>
            </a:pPr>
            <a:r>
              <a:rPr kumimoji="0" lang="zh-CN" altLang="en-US" sz="2400" dirty="0">
                <a:latin typeface="Calibri" panose="020F0502020204030204" charset="0"/>
                <a:cs typeface="Calibri" panose="020F0502020204030204" charset="0"/>
              </a:rPr>
              <a:t>   </a:t>
            </a: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for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each state 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I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in 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kumimoji="0" lang="zh-CN" altLang="en-US" sz="2400" dirty="0">
                <a:latin typeface="Calibri" panose="020F0502020204030204" charset="0"/>
                <a:cs typeface="Calibri" panose="020F0502020204030204" charset="0"/>
              </a:rPr>
              <a:t>     </a:t>
            </a: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for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each item A → </a:t>
            </a:r>
            <a:r>
              <a:rPr kumimoji="0" lang="el-GR" altLang="zh-CN" sz="2400" dirty="0">
                <a:latin typeface="Calibri" panose="020F0502020204030204" charset="0"/>
                <a:cs typeface="Calibri" panose="020F0502020204030204" charset="0"/>
              </a:rPr>
              <a:t>α.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X</a:t>
            </a:r>
            <a:r>
              <a:rPr kumimoji="0" lang="el-GR" altLang="zh-CN" sz="2400" dirty="0">
                <a:latin typeface="Calibri" panose="020F0502020204030204" charset="0"/>
                <a:cs typeface="Calibri" panose="020F0502020204030204" charset="0"/>
              </a:rPr>
              <a:t>β 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in 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I</a:t>
            </a:r>
          </a:p>
          <a:p>
            <a:pPr>
              <a:spcBef>
                <a:spcPct val="0"/>
              </a:spcBef>
              <a:buNone/>
            </a:pPr>
            <a:r>
              <a:rPr kumimoji="0" lang="zh-CN" altLang="en-US" sz="2400" dirty="0">
                <a:latin typeface="Calibri" panose="020F0502020204030204" charset="0"/>
                <a:cs typeface="Calibri" panose="020F0502020204030204" charset="0"/>
              </a:rPr>
              <a:t>       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let 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J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be </a:t>
            </a:r>
            <a:r>
              <a:rPr kumimoji="0" lang="en-US" altLang="zh-CN" sz="2400" b="1" i="1" dirty="0">
                <a:latin typeface="Calibri" panose="020F0502020204030204" charset="0"/>
                <a:cs typeface="Calibri" panose="020F0502020204030204" charset="0"/>
              </a:rPr>
              <a:t>Goto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(I, X)    </a:t>
            </a:r>
            <a:r>
              <a:rPr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//</a:t>
            </a:r>
            <a:r>
              <a:rPr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new state</a:t>
            </a:r>
          </a:p>
          <a:p>
            <a:pPr>
              <a:spcBef>
                <a:spcPct val="0"/>
              </a:spcBef>
              <a:buNone/>
            </a:pPr>
            <a:r>
              <a:rPr kumimoji="0" lang="zh-CN" altLang="en-US" sz="2400" i="1" dirty="0">
                <a:latin typeface="Calibri" panose="020F0502020204030204" charset="0"/>
                <a:cs typeface="Calibri" panose="020F0502020204030204" charset="0"/>
              </a:rPr>
              <a:t>       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T ← T 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∪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{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J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}              </a:t>
            </a:r>
            <a:r>
              <a:rPr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// store state</a:t>
            </a:r>
          </a:p>
          <a:p>
            <a:pPr>
              <a:spcBef>
                <a:spcPct val="0"/>
              </a:spcBef>
              <a:buNone/>
            </a:pPr>
            <a:r>
              <a:rPr kumimoji="0" lang="zh-CN" altLang="en-US" sz="2400" dirty="0">
                <a:latin typeface="Calibri" panose="020F0502020204030204" charset="0"/>
                <a:cs typeface="Calibri" panose="020F0502020204030204" charset="0"/>
              </a:rPr>
              <a:t>       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← 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∪ {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I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→ 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J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}</a:t>
            </a:r>
            <a:r>
              <a:rPr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     // store edge</a:t>
            </a:r>
          </a:p>
          <a:p>
            <a:pPr>
              <a:spcBef>
                <a:spcPct val="0"/>
              </a:spcBef>
              <a:buNone/>
            </a:pP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until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and 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do not change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777105" y="918845"/>
            <a:ext cx="416115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i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: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GB" altLang="zh-CN" sz="2200" dirty="0">
                <a:latin typeface="Calibri" panose="020F0502020204030204" charset="0"/>
                <a:cs typeface="Calibri" panose="020F0502020204030204" charset="0"/>
              </a:rPr>
              <a:t>the set of states</a:t>
            </a:r>
            <a:endParaRPr kumimoji="1" lang="en-US" altLang="zh-CN" sz="22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kumimoji="1" lang="en-US" altLang="zh-CN" sz="2200" i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: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GB" altLang="zh-CN" sz="2200" dirty="0">
                <a:latin typeface="Calibri" panose="020F0502020204030204" charset="0"/>
                <a:cs typeface="Calibri" panose="020F0502020204030204" charset="0"/>
              </a:rPr>
              <a:t>the set of (shift or </a:t>
            </a:r>
            <a:r>
              <a:rPr kumimoji="1" lang="en-GB" altLang="zh-CN" sz="2200" dirty="0" err="1">
                <a:latin typeface="Calibri" panose="020F0502020204030204" charset="0"/>
                <a:cs typeface="Calibri" panose="020F0502020204030204" charset="0"/>
              </a:rPr>
              <a:t>goto</a:t>
            </a:r>
            <a:r>
              <a:rPr kumimoji="1" lang="en-GB" altLang="zh-CN" sz="2200" dirty="0">
                <a:latin typeface="Calibri" panose="020F0502020204030204" charset="0"/>
                <a:cs typeface="Calibri" panose="020F0502020204030204" charset="0"/>
              </a:rPr>
              <a:t>) edges</a:t>
            </a:r>
            <a:endParaRPr kumimoji="1" lang="en-US" altLang="zh-CN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95960" y="4419574"/>
            <a:ext cx="290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i="1" dirty="0">
                <a:latin typeface="Calibri" panose="020F0502020204030204" charset="0"/>
                <a:cs typeface="Calibri" panose="020F0502020204030204" charset="0"/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7" grpId="0" autoUpdateAnimBg="0"/>
      <p:bldP spid="7" grpId="1" bldLvl="0" animBg="1"/>
      <p:bldP spid="9" grpId="0" autoUpdateAnimBg="0"/>
      <p:bldP spid="9" grpId="1" bldLvl="0" animBg="1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LR(0) Parsing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28651" y="1147882"/>
            <a:ext cx="1779832" cy="1785104"/>
          </a:xfrm>
          <a:prstGeom prst="rect">
            <a:avLst/>
          </a:prstGeom>
          <a:solidFill>
            <a:srgbClr val="ED7D31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cxnSp>
        <p:nvCxnSpPr>
          <p:cNvPr id="27" name="直线箭头连接符 26"/>
          <p:cNvCxnSpPr>
            <a:stCxn id="18" idx="3"/>
            <a:endCxn id="19" idx="1"/>
          </p:cNvCxnSpPr>
          <p:nvPr/>
        </p:nvCxnSpPr>
        <p:spPr>
          <a:xfrm flipV="1">
            <a:off x="2415116" y="3549978"/>
            <a:ext cx="565785" cy="625475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" name="文本框 27"/>
          <p:cNvSpPr txBox="1"/>
          <p:nvPr/>
        </p:nvSpPr>
        <p:spPr>
          <a:xfrm>
            <a:off x="2508250" y="3505200"/>
            <a:ext cx="2774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x</a:t>
            </a:r>
          </a:p>
        </p:txBody>
      </p:sp>
      <p:cxnSp>
        <p:nvCxnSpPr>
          <p:cNvPr id="29" name="直线箭头连接符 28"/>
          <p:cNvCxnSpPr/>
          <p:nvPr/>
        </p:nvCxnSpPr>
        <p:spPr>
          <a:xfrm>
            <a:off x="2421466" y="4266946"/>
            <a:ext cx="544195" cy="6858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0" name="文本框 29"/>
          <p:cNvSpPr txBox="1"/>
          <p:nvPr/>
        </p:nvSpPr>
        <p:spPr>
          <a:xfrm>
            <a:off x="2432050" y="4599305"/>
            <a:ext cx="2774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(</a:t>
            </a:r>
          </a:p>
        </p:txBody>
      </p:sp>
      <p:cxnSp>
        <p:nvCxnSpPr>
          <p:cNvPr id="31" name="直线箭头连接符 30"/>
          <p:cNvCxnSpPr/>
          <p:nvPr/>
        </p:nvCxnSpPr>
        <p:spPr>
          <a:xfrm>
            <a:off x="1729363" y="4727861"/>
            <a:ext cx="75565" cy="43307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2" name="文本框 31"/>
          <p:cNvSpPr txBox="1"/>
          <p:nvPr/>
        </p:nvSpPr>
        <p:spPr>
          <a:xfrm>
            <a:off x="1438910" y="4712970"/>
            <a:ext cx="2774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4530090" y="4762500"/>
            <a:ext cx="2774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L</a:t>
            </a:r>
          </a:p>
        </p:txBody>
      </p:sp>
      <p:cxnSp>
        <p:nvCxnSpPr>
          <p:cNvPr id="34" name="直线箭头连接符 33"/>
          <p:cNvCxnSpPr/>
          <p:nvPr/>
        </p:nvCxnSpPr>
        <p:spPr>
          <a:xfrm>
            <a:off x="4412749" y="5012817"/>
            <a:ext cx="474980" cy="372745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5" name="直线箭头连接符 34"/>
          <p:cNvCxnSpPr>
            <a:stCxn id="20" idx="2"/>
            <a:endCxn id="23" idx="0"/>
          </p:cNvCxnSpPr>
          <p:nvPr/>
        </p:nvCxnSpPr>
        <p:spPr>
          <a:xfrm>
            <a:off x="3700959" y="5830084"/>
            <a:ext cx="0" cy="35179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6" name="文本框 35"/>
          <p:cNvSpPr txBox="1"/>
          <p:nvPr/>
        </p:nvSpPr>
        <p:spPr>
          <a:xfrm>
            <a:off x="3658870" y="5787390"/>
            <a:ext cx="2774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</a:t>
            </a:r>
          </a:p>
        </p:txBody>
      </p:sp>
      <p:cxnSp>
        <p:nvCxnSpPr>
          <p:cNvPr id="37" name="直线箭头连接符 36"/>
          <p:cNvCxnSpPr>
            <a:stCxn id="22" idx="0"/>
            <a:endCxn id="25" idx="2"/>
          </p:cNvCxnSpPr>
          <p:nvPr/>
        </p:nvCxnSpPr>
        <p:spPr>
          <a:xfrm flipV="1">
            <a:off x="5629910" y="4611370"/>
            <a:ext cx="0" cy="390525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8" name="文本框 37"/>
          <p:cNvSpPr txBox="1"/>
          <p:nvPr/>
        </p:nvSpPr>
        <p:spPr>
          <a:xfrm>
            <a:off x="5325745" y="4540885"/>
            <a:ext cx="2774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,</a:t>
            </a:r>
          </a:p>
        </p:txBody>
      </p:sp>
      <p:cxnSp>
        <p:nvCxnSpPr>
          <p:cNvPr id="39" name="直线箭头连接符 38"/>
          <p:cNvCxnSpPr>
            <a:stCxn id="22" idx="2"/>
            <a:endCxn id="24" idx="0"/>
          </p:cNvCxnSpPr>
          <p:nvPr/>
        </p:nvCxnSpPr>
        <p:spPr>
          <a:xfrm>
            <a:off x="5630013" y="5770015"/>
            <a:ext cx="0" cy="408305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文本框 39"/>
          <p:cNvSpPr txBox="1"/>
          <p:nvPr/>
        </p:nvSpPr>
        <p:spPr>
          <a:xfrm>
            <a:off x="5339080" y="5742305"/>
            <a:ext cx="2774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)</a:t>
            </a:r>
          </a:p>
        </p:txBody>
      </p:sp>
      <p:cxnSp>
        <p:nvCxnSpPr>
          <p:cNvPr id="41" name="直线箭头连接符 40"/>
          <p:cNvCxnSpPr>
            <a:stCxn id="25" idx="1"/>
            <a:endCxn id="20" idx="3"/>
          </p:cNvCxnSpPr>
          <p:nvPr/>
        </p:nvCxnSpPr>
        <p:spPr>
          <a:xfrm flipH="1">
            <a:off x="4420369" y="4058038"/>
            <a:ext cx="490220" cy="88011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2" name="文本框 41"/>
          <p:cNvSpPr txBox="1"/>
          <p:nvPr/>
        </p:nvSpPr>
        <p:spPr>
          <a:xfrm>
            <a:off x="4530090" y="4114800"/>
            <a:ext cx="2774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(</a:t>
            </a:r>
          </a:p>
        </p:txBody>
      </p:sp>
      <p:cxnSp>
        <p:nvCxnSpPr>
          <p:cNvPr id="43" name="直线箭头连接符 42"/>
          <p:cNvCxnSpPr>
            <a:cxnSpLocks/>
            <a:stCxn id="25" idx="1"/>
            <a:endCxn id="49" idx="3"/>
          </p:cNvCxnSpPr>
          <p:nvPr/>
        </p:nvCxnSpPr>
        <p:spPr>
          <a:xfrm flipH="1" flipV="1">
            <a:off x="4420369" y="3525213"/>
            <a:ext cx="490220" cy="532765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4" name="文本框 43"/>
          <p:cNvSpPr txBox="1"/>
          <p:nvPr/>
        </p:nvSpPr>
        <p:spPr>
          <a:xfrm>
            <a:off x="4558030" y="3491865"/>
            <a:ext cx="2774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x</a:t>
            </a:r>
          </a:p>
        </p:txBody>
      </p:sp>
      <p:cxnSp>
        <p:nvCxnSpPr>
          <p:cNvPr id="45" name="直线箭头连接符 44"/>
          <p:cNvCxnSpPr>
            <a:stCxn id="25" idx="3"/>
            <a:endCxn id="26" idx="1"/>
          </p:cNvCxnSpPr>
          <p:nvPr/>
        </p:nvCxnSpPr>
        <p:spPr>
          <a:xfrm>
            <a:off x="6349365" y="4058285"/>
            <a:ext cx="655320" cy="159385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6" name="文本框 45"/>
          <p:cNvSpPr txBox="1"/>
          <p:nvPr/>
        </p:nvSpPr>
        <p:spPr>
          <a:xfrm>
            <a:off x="6522085" y="4115435"/>
            <a:ext cx="2774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975360" y="3622040"/>
            <a:ext cx="1445896" cy="1106805"/>
            <a:chOff x="824533" y="3773011"/>
            <a:chExt cx="1514313" cy="1106614"/>
          </a:xfrm>
        </p:grpSpPr>
        <p:sp>
          <p:nvSpPr>
            <p:cNvPr id="18" name="文本框 17"/>
            <p:cNvSpPr txBox="1"/>
            <p:nvPr/>
          </p:nvSpPr>
          <p:spPr>
            <a:xfrm>
              <a:off x="824533" y="3773011"/>
              <a:ext cx="1507398" cy="1106614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</a:rPr>
                <a:t>S’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-&gt;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.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S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$</a:t>
              </a:r>
            </a:p>
            <a:p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</a:rPr>
                <a:t>S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</a:rPr>
                <a:t>-&gt;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</a:rPr>
                <a:t>.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</a:rPr>
                <a:t>(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</a:rPr>
                <a:t>L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</a:rPr>
                <a:t>)</a:t>
              </a:r>
            </a:p>
            <a:p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</a:rPr>
                <a:t>S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</a:rPr>
                <a:t>-&gt;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</a:rPr>
                <a:t>.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</a:rPr>
                <a:t>x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2041514" y="3773011"/>
              <a:ext cx="297331" cy="368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ysClr val="window" lastClr="FFFFFF"/>
                  </a:solidFill>
                  <a:latin typeface="Calibri" panose="020F0502020204030204" charset="0"/>
                  <a:cs typeface="Calibri" panose="020F0502020204030204" charset="0"/>
                </a:rPr>
                <a:t>1</a:t>
              </a: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975360" y="5161280"/>
            <a:ext cx="1445896" cy="429895"/>
            <a:chOff x="824533" y="5312696"/>
            <a:chExt cx="1514313" cy="430103"/>
          </a:xfrm>
        </p:grpSpPr>
        <p:sp>
          <p:nvSpPr>
            <p:cNvPr id="21" name="文本框 20"/>
            <p:cNvSpPr txBox="1"/>
            <p:nvPr/>
          </p:nvSpPr>
          <p:spPr>
            <a:xfrm>
              <a:off x="824533" y="5312696"/>
              <a:ext cx="1507398" cy="430103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S’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-&gt;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S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.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$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2041514" y="5312696"/>
              <a:ext cx="297331" cy="3684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ysClr val="window" lastClr="FFFFFF"/>
                  </a:solidFill>
                  <a:latin typeface="Calibri" panose="020F0502020204030204" charset="0"/>
                  <a:cs typeface="Calibri" panose="020F0502020204030204" charset="0"/>
                </a:rPr>
                <a:t>4</a:t>
              </a: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2980690" y="3335020"/>
            <a:ext cx="1439545" cy="429895"/>
            <a:chOff x="2829786" y="3486056"/>
            <a:chExt cx="1507398" cy="430103"/>
          </a:xfrm>
        </p:grpSpPr>
        <p:sp>
          <p:nvSpPr>
            <p:cNvPr id="19" name="文本框 18"/>
            <p:cNvSpPr txBox="1"/>
            <p:nvPr/>
          </p:nvSpPr>
          <p:spPr>
            <a:xfrm>
              <a:off x="2829786" y="3486056"/>
              <a:ext cx="1507398" cy="430103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</a:rPr>
                <a:t>S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-&gt;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x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.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4039851" y="3492186"/>
              <a:ext cx="297331" cy="3684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ysClr val="window" lastClr="FFFFFF"/>
                  </a:solidFill>
                  <a:latin typeface="Calibri" panose="020F0502020204030204" charset="0"/>
                  <a:cs typeface="Calibri" panose="020F0502020204030204" charset="0"/>
                </a:rPr>
                <a:t>2</a:t>
              </a: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2980690" y="4046220"/>
            <a:ext cx="1445895" cy="1783715"/>
            <a:chOff x="2829786" y="4197454"/>
            <a:chExt cx="1514305" cy="1783760"/>
          </a:xfrm>
        </p:grpSpPr>
        <p:sp>
          <p:nvSpPr>
            <p:cNvPr id="20" name="文本框 19"/>
            <p:cNvSpPr txBox="1"/>
            <p:nvPr/>
          </p:nvSpPr>
          <p:spPr>
            <a:xfrm>
              <a:off x="2829786" y="4197454"/>
              <a:ext cx="1507398" cy="1783760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</a:rPr>
                <a:t>S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-&gt;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(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.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L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)</a:t>
              </a:r>
            </a:p>
            <a:p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L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-&gt;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.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S</a:t>
              </a:r>
            </a:p>
            <a:p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L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-&gt;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.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L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,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S</a:t>
              </a:r>
            </a:p>
            <a:p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S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-&gt;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.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(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L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)</a:t>
              </a:r>
            </a:p>
            <a:p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S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-&gt;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.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x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046760" y="4212768"/>
              <a:ext cx="297331" cy="368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ysClr val="window" lastClr="FFFFFF"/>
                  </a:solidFill>
                  <a:latin typeface="Calibri" panose="020F0502020204030204" charset="0"/>
                  <a:cs typeface="Calibri" panose="020F0502020204030204" charset="0"/>
                </a:rPr>
                <a:t>3</a:t>
              </a: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2980690" y="6181725"/>
            <a:ext cx="1439545" cy="429895"/>
            <a:chOff x="2829785" y="6333097"/>
            <a:chExt cx="1507398" cy="430103"/>
          </a:xfrm>
        </p:grpSpPr>
        <p:sp>
          <p:nvSpPr>
            <p:cNvPr id="23" name="文本框 22"/>
            <p:cNvSpPr txBox="1"/>
            <p:nvPr/>
          </p:nvSpPr>
          <p:spPr>
            <a:xfrm>
              <a:off x="2829785" y="6333097"/>
              <a:ext cx="1507398" cy="430103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L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-&gt;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S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.</a:t>
              </a: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4033959" y="6348887"/>
              <a:ext cx="297331" cy="3684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ysClr val="window" lastClr="FFFFFF"/>
                  </a:solidFill>
                  <a:latin typeface="Calibri" panose="020F0502020204030204" charset="0"/>
                  <a:cs typeface="Calibri" panose="020F0502020204030204" charset="0"/>
                </a:rPr>
                <a:t>7</a:t>
              </a: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4910456" y="3504565"/>
            <a:ext cx="1442086" cy="1106805"/>
            <a:chOff x="4835038" y="3553308"/>
            <a:chExt cx="1510858" cy="1106614"/>
          </a:xfrm>
        </p:grpSpPr>
        <p:sp>
          <p:nvSpPr>
            <p:cNvPr id="25" name="文本框 24"/>
            <p:cNvSpPr txBox="1"/>
            <p:nvPr/>
          </p:nvSpPr>
          <p:spPr>
            <a:xfrm>
              <a:off x="4835038" y="3553308"/>
              <a:ext cx="1507398" cy="1106614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L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-&gt;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L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,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.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S</a:t>
              </a:r>
            </a:p>
            <a:p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S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-&gt;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.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(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L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)</a:t>
              </a:r>
            </a:p>
            <a:p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S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-&gt;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.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x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048564" y="3557869"/>
              <a:ext cx="297331" cy="368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ysClr val="window" lastClr="FFFFFF"/>
                  </a:solidFill>
                  <a:latin typeface="Calibri" panose="020F0502020204030204" charset="0"/>
                  <a:cs typeface="Calibri" panose="020F0502020204030204" charset="0"/>
                </a:rPr>
                <a:t>8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4910456" y="5001895"/>
            <a:ext cx="1442086" cy="768350"/>
            <a:chOff x="4835038" y="5077540"/>
            <a:chExt cx="1510858" cy="768041"/>
          </a:xfrm>
        </p:grpSpPr>
        <p:sp>
          <p:nvSpPr>
            <p:cNvPr id="22" name="文本框 21"/>
            <p:cNvSpPr txBox="1"/>
            <p:nvPr/>
          </p:nvSpPr>
          <p:spPr>
            <a:xfrm>
              <a:off x="4835038" y="5077540"/>
              <a:ext cx="1507398" cy="768041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S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-&gt;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(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L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.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)</a:t>
              </a:r>
            </a:p>
            <a:p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L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-&gt;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L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.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,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S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048564" y="5078648"/>
              <a:ext cx="297331" cy="368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ysClr val="window" lastClr="FFFFFF"/>
                  </a:solidFill>
                  <a:latin typeface="Calibri" panose="020F0502020204030204" charset="0"/>
                  <a:cs typeface="Calibri" panose="020F0502020204030204" charset="0"/>
                </a:rPr>
                <a:t>5</a:t>
              </a: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4910456" y="6178550"/>
            <a:ext cx="1442086" cy="429895"/>
            <a:chOff x="4835038" y="6254328"/>
            <a:chExt cx="1510858" cy="430103"/>
          </a:xfrm>
        </p:grpSpPr>
        <p:sp>
          <p:nvSpPr>
            <p:cNvPr id="24" name="文本框 23"/>
            <p:cNvSpPr txBox="1"/>
            <p:nvPr/>
          </p:nvSpPr>
          <p:spPr>
            <a:xfrm>
              <a:off x="4835038" y="6254328"/>
              <a:ext cx="1507398" cy="430103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S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-&gt;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(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L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)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.</a:t>
              </a: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6048564" y="6269375"/>
              <a:ext cx="297331" cy="3684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ysClr val="window" lastClr="FFFFFF"/>
                  </a:solidFill>
                  <a:latin typeface="Calibri" panose="020F0502020204030204" charset="0"/>
                  <a:cs typeface="Calibri" panose="020F0502020204030204" charset="0"/>
                </a:rPr>
                <a:t>6</a:t>
              </a: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7004685" y="4002405"/>
            <a:ext cx="1439545" cy="429895"/>
            <a:chOff x="6840291" y="3587120"/>
            <a:chExt cx="1507398" cy="430103"/>
          </a:xfrm>
        </p:grpSpPr>
        <p:sp>
          <p:nvSpPr>
            <p:cNvPr id="26" name="文本框 25"/>
            <p:cNvSpPr txBox="1"/>
            <p:nvPr/>
          </p:nvSpPr>
          <p:spPr>
            <a:xfrm>
              <a:off x="6840291" y="3587120"/>
              <a:ext cx="1507398" cy="430103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L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-&gt;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L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,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S</a:t>
              </a:r>
              <a:r>
                <a:rPr kumimoji="1" lang="zh-CN" altLang="en-US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.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8050358" y="3596212"/>
              <a:ext cx="297331" cy="3684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ysClr val="window" lastClr="FFFFFF"/>
                  </a:solidFill>
                  <a:latin typeface="Calibri" panose="020F0502020204030204" charset="0"/>
                  <a:cs typeface="Calibri" panose="020F0502020204030204" charset="0"/>
                </a:rPr>
                <a:t>9</a:t>
              </a: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3409315" y="3658235"/>
            <a:ext cx="2774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x</a:t>
            </a:r>
          </a:p>
        </p:txBody>
      </p:sp>
      <p:cxnSp>
        <p:nvCxnSpPr>
          <p:cNvPr id="60" name="直线箭头连接符 59"/>
          <p:cNvCxnSpPr/>
          <p:nvPr/>
        </p:nvCxnSpPr>
        <p:spPr>
          <a:xfrm flipV="1">
            <a:off x="3733980" y="3733914"/>
            <a:ext cx="0" cy="3048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" name="直线箭头连接符 3"/>
          <p:cNvCxnSpPr/>
          <p:nvPr/>
        </p:nvCxnSpPr>
        <p:spPr>
          <a:xfrm rot="10800000" flipH="1" flipV="1">
            <a:off x="2980690" y="4937760"/>
            <a:ext cx="365760" cy="929005"/>
          </a:xfrm>
          <a:prstGeom prst="curvedConnector4">
            <a:avLst>
              <a:gd name="adj1" fmla="val -65104"/>
              <a:gd name="adj2" fmla="val 118591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9" name="文本框 68"/>
          <p:cNvSpPr txBox="1"/>
          <p:nvPr/>
        </p:nvSpPr>
        <p:spPr>
          <a:xfrm>
            <a:off x="2508250" y="5694680"/>
            <a:ext cx="2774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(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CFD9EC3-5184-2511-6599-CE6EAAECE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877" y="940837"/>
            <a:ext cx="2838628" cy="2071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2" grpId="0"/>
      <p:bldP spid="33" grpId="0"/>
      <p:bldP spid="36" grpId="0"/>
      <p:bldP spid="38" grpId="0"/>
      <p:bldP spid="40" grpId="0"/>
      <p:bldP spid="42" grpId="0"/>
      <p:bldP spid="44" grpId="0"/>
      <p:bldP spid="46" grpId="0"/>
      <p:bldP spid="59" grpId="0"/>
      <p:bldP spid="6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LR(0) Parsing</a:t>
            </a:r>
          </a:p>
        </p:txBody>
      </p:sp>
      <p:grpSp>
        <p:nvGrpSpPr>
          <p:cNvPr id="160" name="组合 159"/>
          <p:cNvGrpSpPr/>
          <p:nvPr/>
        </p:nvGrpSpPr>
        <p:grpSpPr>
          <a:xfrm rot="5400000">
            <a:off x="2501900" y="4356735"/>
            <a:ext cx="2178685" cy="1273810"/>
            <a:chOff x="1841" y="6273"/>
            <a:chExt cx="4088" cy="2006"/>
          </a:xfrm>
        </p:grpSpPr>
        <p:cxnSp>
          <p:nvCxnSpPr>
            <p:cNvPr id="161" name="直接连接符 160"/>
            <p:cNvCxnSpPr/>
            <p:nvPr/>
          </p:nvCxnSpPr>
          <p:spPr>
            <a:xfrm>
              <a:off x="1841" y="6333"/>
              <a:ext cx="4088" cy="0"/>
            </a:xfrm>
            <a:prstGeom prst="line">
              <a:avLst/>
            </a:prstGeom>
            <a:noFill/>
            <a:ln w="63500" cap="flat" cmpd="sng" algn="ctr">
              <a:solidFill>
                <a:srgbClr val="4F81BD">
                  <a:alpha val="91000"/>
                </a:srgbClr>
              </a:solidFill>
              <a:prstDash val="solid"/>
            </a:ln>
            <a:effectLst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>
              <a:off x="5929" y="6273"/>
              <a:ext cx="0" cy="2007"/>
            </a:xfrm>
            <a:prstGeom prst="line">
              <a:avLst/>
            </a:prstGeom>
            <a:noFill/>
            <a:ln w="63500" cap="flat" cmpd="sng" algn="ctr">
              <a:solidFill>
                <a:srgbClr val="4F81BD">
                  <a:alpha val="91000"/>
                </a:srgbClr>
              </a:solidFill>
              <a:prstDash val="solid"/>
            </a:ln>
            <a:effectLst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>
              <a:off x="1871" y="8234"/>
              <a:ext cx="4058" cy="0"/>
            </a:xfrm>
            <a:prstGeom prst="line">
              <a:avLst/>
            </a:prstGeom>
            <a:noFill/>
            <a:ln w="63500" cap="flat" cmpd="sng" algn="ctr">
              <a:solidFill>
                <a:srgbClr val="4F81BD">
                  <a:alpha val="91000"/>
                </a:srgbClr>
              </a:solidFill>
              <a:prstDash val="solid"/>
            </a:ln>
            <a:effectLst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66" name="组合 165"/>
          <p:cNvGrpSpPr/>
          <p:nvPr/>
        </p:nvGrpSpPr>
        <p:grpSpPr>
          <a:xfrm rot="5400000">
            <a:off x="4406265" y="4356735"/>
            <a:ext cx="2178685" cy="1273810"/>
            <a:chOff x="1841" y="6273"/>
            <a:chExt cx="4088" cy="2006"/>
          </a:xfrm>
        </p:grpSpPr>
        <p:cxnSp>
          <p:nvCxnSpPr>
            <p:cNvPr id="167" name="直接连接符 166"/>
            <p:cNvCxnSpPr/>
            <p:nvPr/>
          </p:nvCxnSpPr>
          <p:spPr>
            <a:xfrm>
              <a:off x="1841" y="6333"/>
              <a:ext cx="4088" cy="0"/>
            </a:xfrm>
            <a:prstGeom prst="line">
              <a:avLst/>
            </a:prstGeom>
            <a:noFill/>
            <a:ln w="63500" cap="flat" cmpd="sng" algn="ctr">
              <a:solidFill>
                <a:srgbClr val="4F81BD">
                  <a:alpha val="91000"/>
                </a:srgbClr>
              </a:solidFill>
              <a:prstDash val="solid"/>
            </a:ln>
            <a:effectLst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>
              <a:off x="5929" y="6273"/>
              <a:ext cx="0" cy="2007"/>
            </a:xfrm>
            <a:prstGeom prst="line">
              <a:avLst/>
            </a:prstGeom>
            <a:noFill/>
            <a:ln w="63500" cap="flat" cmpd="sng" algn="ctr">
              <a:solidFill>
                <a:srgbClr val="4F81BD">
                  <a:alpha val="91000"/>
                </a:srgbClr>
              </a:solidFill>
              <a:prstDash val="solid"/>
            </a:ln>
            <a:effectLst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>
              <a:off x="1871" y="8234"/>
              <a:ext cx="4058" cy="0"/>
            </a:xfrm>
            <a:prstGeom prst="line">
              <a:avLst/>
            </a:prstGeom>
            <a:noFill/>
            <a:ln w="63500" cap="flat" cmpd="sng" algn="ctr">
              <a:solidFill>
                <a:srgbClr val="4F81BD">
                  <a:alpha val="91000"/>
                </a:srgbClr>
              </a:solidFill>
              <a:prstDash val="solid"/>
            </a:ln>
            <a:effectLst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70" name="文本框 169"/>
          <p:cNvSpPr txBox="1"/>
          <p:nvPr/>
        </p:nvSpPr>
        <p:spPr>
          <a:xfrm>
            <a:off x="1732915" y="4869815"/>
            <a:ext cx="42735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$</a:t>
            </a:r>
          </a:p>
        </p:txBody>
      </p:sp>
      <p:sp>
        <p:nvSpPr>
          <p:cNvPr id="185" name="矩形 184"/>
          <p:cNvSpPr/>
          <p:nvPr/>
        </p:nvSpPr>
        <p:spPr>
          <a:xfrm>
            <a:off x="6986905" y="4632325"/>
            <a:ext cx="1449705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shift 3</a:t>
            </a:r>
          </a:p>
        </p:txBody>
      </p:sp>
      <p:sp>
        <p:nvSpPr>
          <p:cNvPr id="187" name="文本框 186"/>
          <p:cNvSpPr txBox="1"/>
          <p:nvPr/>
        </p:nvSpPr>
        <p:spPr>
          <a:xfrm>
            <a:off x="7006590" y="4068445"/>
            <a:ext cx="12458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2400">
                <a:cs typeface="Arial" panose="020B0604020202020204" pitchFamily="34" charset="0"/>
                <a:sym typeface="+mn-ea"/>
              </a:rPr>
              <a:t>action:</a:t>
            </a:r>
            <a:r>
              <a:rPr lang="en-US" altLang="zh-CN" sz="2000">
                <a:cs typeface="Arial" panose="020B0604020202020204" pitchFamily="34" charset="0"/>
                <a:sym typeface="+mn-ea"/>
              </a:rPr>
              <a:t> </a:t>
            </a:r>
          </a:p>
        </p:txBody>
      </p:sp>
      <p:sp>
        <p:nvSpPr>
          <p:cNvPr id="188" name="文本框 187"/>
          <p:cNvSpPr txBox="1"/>
          <p:nvPr/>
        </p:nvSpPr>
        <p:spPr>
          <a:xfrm>
            <a:off x="914400" y="4341495"/>
            <a:ext cx="12458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2400">
                <a:cs typeface="Arial" panose="020B0604020202020204" pitchFamily="34" charset="0"/>
                <a:sym typeface="+mn-ea"/>
              </a:rPr>
              <a:t>input:</a:t>
            </a:r>
            <a:r>
              <a:rPr lang="en-US" altLang="zh-CN" sz="2000">
                <a:cs typeface="Arial" panose="020B0604020202020204" pitchFamily="34" charset="0"/>
                <a:sym typeface="+mn-ea"/>
              </a:rPr>
              <a:t> </a:t>
            </a:r>
          </a:p>
        </p:txBody>
      </p:sp>
      <p:sp>
        <p:nvSpPr>
          <p:cNvPr id="189" name="文本框 188"/>
          <p:cNvSpPr txBox="1"/>
          <p:nvPr/>
        </p:nvSpPr>
        <p:spPr>
          <a:xfrm>
            <a:off x="638810" y="4869815"/>
            <a:ext cx="34734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dirty="0">
                <a:latin typeface="Calibri" panose="020F0502020204030204" charset="0"/>
                <a:cs typeface="Calibri" panose="020F0502020204030204" charset="0"/>
                <a:sym typeface="+mn-ea"/>
              </a:rPr>
              <a:t>( </a:t>
            </a:r>
          </a:p>
        </p:txBody>
      </p:sp>
      <p:sp>
        <p:nvSpPr>
          <p:cNvPr id="190" name="文本框 189"/>
          <p:cNvSpPr txBox="1"/>
          <p:nvPr/>
        </p:nvSpPr>
        <p:spPr>
          <a:xfrm>
            <a:off x="986155" y="4869815"/>
            <a:ext cx="3879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dirty="0">
                <a:latin typeface="Calibri" panose="020F0502020204030204" charset="0"/>
                <a:cs typeface="Calibri" panose="020F0502020204030204" charset="0"/>
                <a:sym typeface="+mn-ea"/>
              </a:rPr>
              <a:t>x </a:t>
            </a:r>
          </a:p>
        </p:txBody>
      </p:sp>
      <p:sp>
        <p:nvSpPr>
          <p:cNvPr id="191" name="文本框 190"/>
          <p:cNvSpPr txBox="1"/>
          <p:nvPr/>
        </p:nvSpPr>
        <p:spPr>
          <a:xfrm>
            <a:off x="1374140" y="4869815"/>
            <a:ext cx="36766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dirty="0">
                <a:latin typeface="Calibri" panose="020F0502020204030204" charset="0"/>
                <a:cs typeface="Calibri" panose="020F0502020204030204" charset="0"/>
                <a:sym typeface="+mn-ea"/>
              </a:rPr>
              <a:t>)</a:t>
            </a:r>
          </a:p>
        </p:txBody>
      </p:sp>
      <p:sp>
        <p:nvSpPr>
          <p:cNvPr id="192" name="文本框 191"/>
          <p:cNvSpPr txBox="1"/>
          <p:nvPr/>
        </p:nvSpPr>
        <p:spPr>
          <a:xfrm>
            <a:off x="3057525" y="6189828"/>
            <a:ext cx="10579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2400" dirty="0">
                <a:cs typeface="Arial" panose="020B0604020202020204" pitchFamily="34" charset="0"/>
                <a:sym typeface="+mn-ea"/>
              </a:rPr>
              <a:t>state</a:t>
            </a:r>
            <a:r>
              <a:rPr lang="en-US" altLang="zh-CN" sz="2000" dirty="0">
                <a:cs typeface="Arial" panose="020B0604020202020204" pitchFamily="34" charset="0"/>
                <a:sym typeface="+mn-ea"/>
              </a:rPr>
              <a:t> </a:t>
            </a:r>
          </a:p>
        </p:txBody>
      </p:sp>
      <p:sp>
        <p:nvSpPr>
          <p:cNvPr id="193" name="文本框 192"/>
          <p:cNvSpPr txBox="1"/>
          <p:nvPr/>
        </p:nvSpPr>
        <p:spPr>
          <a:xfrm>
            <a:off x="4877682" y="6189828"/>
            <a:ext cx="12458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2400" dirty="0">
                <a:cs typeface="Arial" panose="020B0604020202020204" pitchFamily="34" charset="0"/>
                <a:sym typeface="+mn-ea"/>
              </a:rPr>
              <a:t>symbol</a:t>
            </a:r>
            <a:r>
              <a:rPr lang="en-US" altLang="zh-CN" sz="2000" dirty="0">
                <a:cs typeface="Arial" panose="020B0604020202020204" pitchFamily="34" charset="0"/>
                <a:sym typeface="+mn-ea"/>
              </a:rPr>
              <a:t> </a:t>
            </a:r>
          </a:p>
        </p:txBody>
      </p:sp>
      <p:sp>
        <p:nvSpPr>
          <p:cNvPr id="195" name="矩形 194"/>
          <p:cNvSpPr/>
          <p:nvPr/>
        </p:nvSpPr>
        <p:spPr>
          <a:xfrm>
            <a:off x="2997200" y="5633720"/>
            <a:ext cx="1178560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1</a:t>
            </a:r>
          </a:p>
        </p:txBody>
      </p:sp>
      <p:sp>
        <p:nvSpPr>
          <p:cNvPr id="198" name="矩形 197"/>
          <p:cNvSpPr/>
          <p:nvPr/>
        </p:nvSpPr>
        <p:spPr>
          <a:xfrm>
            <a:off x="6982460" y="5219065"/>
            <a:ext cx="1457325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sym typeface="+mn-ea"/>
              </a:rPr>
              <a:t>S</a:t>
            </a:r>
            <a:r>
              <a:rPr lang="zh-CN" altLang="en-US" sz="2800" b="1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sym typeface="+mn-ea"/>
              </a:rPr>
              <a:t> </a:t>
            </a:r>
            <a:r>
              <a:rPr lang="en-US" altLang="zh-CN" sz="2800" b="1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sym typeface="+mn-ea"/>
              </a:rPr>
              <a:t>-&gt;</a:t>
            </a:r>
            <a:r>
              <a:rPr lang="zh-CN" altLang="en-US" sz="2800" b="1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sym typeface="+mn-ea"/>
              </a:rPr>
              <a:t> </a:t>
            </a:r>
            <a:r>
              <a:rPr lang="en-US" altLang="zh-CN" sz="2800" b="1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sym typeface="+mn-ea"/>
              </a:rPr>
              <a:t>x</a:t>
            </a:r>
            <a:endParaRPr lang="en-US" altLang="zh-CN" sz="2800">
              <a:solidFill>
                <a:srgbClr val="C00000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199" name="矩形 198"/>
          <p:cNvSpPr/>
          <p:nvPr/>
        </p:nvSpPr>
        <p:spPr>
          <a:xfrm>
            <a:off x="2997200" y="5181600"/>
            <a:ext cx="1178560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3</a:t>
            </a:r>
          </a:p>
        </p:txBody>
      </p:sp>
      <p:sp>
        <p:nvSpPr>
          <p:cNvPr id="202" name="矩形 201"/>
          <p:cNvSpPr/>
          <p:nvPr/>
        </p:nvSpPr>
        <p:spPr>
          <a:xfrm>
            <a:off x="4902200" y="5631180"/>
            <a:ext cx="1178560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(</a:t>
            </a:r>
          </a:p>
        </p:txBody>
      </p:sp>
      <p:sp>
        <p:nvSpPr>
          <p:cNvPr id="203" name="矩形 202"/>
          <p:cNvSpPr/>
          <p:nvPr/>
        </p:nvSpPr>
        <p:spPr>
          <a:xfrm>
            <a:off x="6982460" y="4632325"/>
            <a:ext cx="1449705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shift 2</a:t>
            </a:r>
          </a:p>
        </p:txBody>
      </p:sp>
      <p:sp>
        <p:nvSpPr>
          <p:cNvPr id="204" name="矩形 203"/>
          <p:cNvSpPr/>
          <p:nvPr/>
        </p:nvSpPr>
        <p:spPr>
          <a:xfrm>
            <a:off x="2997200" y="4724400"/>
            <a:ext cx="1178560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2</a:t>
            </a:r>
          </a:p>
        </p:txBody>
      </p:sp>
      <p:sp>
        <p:nvSpPr>
          <p:cNvPr id="205" name="矩形 204"/>
          <p:cNvSpPr/>
          <p:nvPr/>
        </p:nvSpPr>
        <p:spPr>
          <a:xfrm>
            <a:off x="4902200" y="5179060"/>
            <a:ext cx="1178560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x</a:t>
            </a:r>
          </a:p>
        </p:txBody>
      </p:sp>
      <p:sp>
        <p:nvSpPr>
          <p:cNvPr id="206" name="矩形 205"/>
          <p:cNvSpPr/>
          <p:nvPr/>
        </p:nvSpPr>
        <p:spPr>
          <a:xfrm>
            <a:off x="6982460" y="4632960"/>
            <a:ext cx="1449705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reduce 2</a:t>
            </a:r>
          </a:p>
        </p:txBody>
      </p:sp>
      <p:sp>
        <p:nvSpPr>
          <p:cNvPr id="207" name="矩形 206"/>
          <p:cNvSpPr/>
          <p:nvPr/>
        </p:nvSpPr>
        <p:spPr>
          <a:xfrm>
            <a:off x="4902200" y="5179060"/>
            <a:ext cx="1178560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S</a:t>
            </a:r>
          </a:p>
        </p:txBody>
      </p:sp>
      <p:sp>
        <p:nvSpPr>
          <p:cNvPr id="208" name="矩形 207"/>
          <p:cNvSpPr/>
          <p:nvPr/>
        </p:nvSpPr>
        <p:spPr>
          <a:xfrm>
            <a:off x="6983730" y="4634230"/>
            <a:ext cx="1449705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goto 7</a:t>
            </a:r>
          </a:p>
        </p:txBody>
      </p:sp>
      <p:sp>
        <p:nvSpPr>
          <p:cNvPr id="209" name="矩形 208"/>
          <p:cNvSpPr/>
          <p:nvPr/>
        </p:nvSpPr>
        <p:spPr>
          <a:xfrm>
            <a:off x="2997200" y="4732020"/>
            <a:ext cx="1178560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7</a:t>
            </a:r>
          </a:p>
        </p:txBody>
      </p:sp>
      <p:sp>
        <p:nvSpPr>
          <p:cNvPr id="210" name="矩形 209"/>
          <p:cNvSpPr/>
          <p:nvPr/>
        </p:nvSpPr>
        <p:spPr>
          <a:xfrm>
            <a:off x="6973570" y="4632325"/>
            <a:ext cx="1449705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reduce 3</a:t>
            </a:r>
          </a:p>
        </p:txBody>
      </p:sp>
      <p:sp>
        <p:nvSpPr>
          <p:cNvPr id="211" name="矩形 210"/>
          <p:cNvSpPr/>
          <p:nvPr/>
        </p:nvSpPr>
        <p:spPr>
          <a:xfrm>
            <a:off x="6974205" y="5219065"/>
            <a:ext cx="1457325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sym typeface="+mn-ea"/>
              </a:rPr>
              <a:t>L</a:t>
            </a:r>
            <a:r>
              <a:rPr lang="zh-CN" altLang="en-US" sz="2800" b="1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sym typeface="+mn-ea"/>
              </a:rPr>
              <a:t> </a:t>
            </a:r>
            <a:r>
              <a:rPr lang="en-US" altLang="zh-CN" sz="2800" b="1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sym typeface="+mn-ea"/>
              </a:rPr>
              <a:t>-&gt;</a:t>
            </a:r>
            <a:r>
              <a:rPr lang="zh-CN" altLang="en-US" sz="2800" b="1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sym typeface="+mn-ea"/>
              </a:rPr>
              <a:t> </a:t>
            </a:r>
            <a:r>
              <a:rPr lang="en-US" altLang="zh-CN" sz="2800" b="1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sym typeface="+mn-ea"/>
              </a:rPr>
              <a:t>S</a:t>
            </a:r>
            <a:endParaRPr lang="en-US" altLang="zh-CN" sz="2800">
              <a:solidFill>
                <a:srgbClr val="C00000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212" name="矩形 211"/>
          <p:cNvSpPr/>
          <p:nvPr/>
        </p:nvSpPr>
        <p:spPr>
          <a:xfrm>
            <a:off x="4902200" y="5181600"/>
            <a:ext cx="1178560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L</a:t>
            </a:r>
          </a:p>
        </p:txBody>
      </p:sp>
      <p:sp>
        <p:nvSpPr>
          <p:cNvPr id="213" name="矩形 212"/>
          <p:cNvSpPr/>
          <p:nvPr/>
        </p:nvSpPr>
        <p:spPr>
          <a:xfrm>
            <a:off x="6974840" y="4633595"/>
            <a:ext cx="1449705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goto 5</a:t>
            </a:r>
          </a:p>
        </p:txBody>
      </p:sp>
      <p:sp>
        <p:nvSpPr>
          <p:cNvPr id="214" name="矩形 213"/>
          <p:cNvSpPr/>
          <p:nvPr/>
        </p:nvSpPr>
        <p:spPr>
          <a:xfrm>
            <a:off x="2997200" y="4732020"/>
            <a:ext cx="1178560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5</a:t>
            </a:r>
          </a:p>
        </p:txBody>
      </p:sp>
      <p:sp>
        <p:nvSpPr>
          <p:cNvPr id="215" name="矩形 214"/>
          <p:cNvSpPr/>
          <p:nvPr/>
        </p:nvSpPr>
        <p:spPr>
          <a:xfrm>
            <a:off x="6976110" y="4634865"/>
            <a:ext cx="1449705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shift 6</a:t>
            </a:r>
          </a:p>
        </p:txBody>
      </p:sp>
      <p:sp>
        <p:nvSpPr>
          <p:cNvPr id="216" name="矩形 215"/>
          <p:cNvSpPr/>
          <p:nvPr/>
        </p:nvSpPr>
        <p:spPr>
          <a:xfrm>
            <a:off x="2997200" y="4282440"/>
            <a:ext cx="1178560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6</a:t>
            </a:r>
          </a:p>
        </p:txBody>
      </p:sp>
      <p:sp>
        <p:nvSpPr>
          <p:cNvPr id="217" name="矩形 216"/>
          <p:cNvSpPr/>
          <p:nvPr/>
        </p:nvSpPr>
        <p:spPr>
          <a:xfrm>
            <a:off x="4902200" y="4724400"/>
            <a:ext cx="1178560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)</a:t>
            </a:r>
          </a:p>
        </p:txBody>
      </p:sp>
      <p:sp>
        <p:nvSpPr>
          <p:cNvPr id="218" name="矩形 217"/>
          <p:cNvSpPr/>
          <p:nvPr/>
        </p:nvSpPr>
        <p:spPr>
          <a:xfrm>
            <a:off x="6971030" y="4629785"/>
            <a:ext cx="1449705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reduce 1</a:t>
            </a:r>
          </a:p>
        </p:txBody>
      </p:sp>
      <p:sp>
        <p:nvSpPr>
          <p:cNvPr id="219" name="矩形 218"/>
          <p:cNvSpPr/>
          <p:nvPr/>
        </p:nvSpPr>
        <p:spPr>
          <a:xfrm>
            <a:off x="6979285" y="5224145"/>
            <a:ext cx="1457325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sym typeface="+mn-ea"/>
              </a:rPr>
              <a:t>S</a:t>
            </a:r>
            <a:r>
              <a:rPr lang="zh-CN" altLang="en-US" sz="2800" b="1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sym typeface="+mn-ea"/>
              </a:rPr>
              <a:t> </a:t>
            </a:r>
            <a:r>
              <a:rPr lang="en-US" altLang="zh-CN" sz="2800" b="1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sym typeface="+mn-ea"/>
              </a:rPr>
              <a:t>-&gt;</a:t>
            </a:r>
            <a:r>
              <a:rPr lang="zh-CN" altLang="en-US" sz="2800" b="1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sym typeface="+mn-ea"/>
              </a:rPr>
              <a:t> </a:t>
            </a:r>
            <a:r>
              <a:rPr lang="en-US" altLang="zh-CN" sz="2800" b="1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  <a:sym typeface="+mn-ea"/>
              </a:rPr>
              <a:t>(L)</a:t>
            </a:r>
            <a:endParaRPr lang="en-US" altLang="zh-CN" sz="2800">
              <a:solidFill>
                <a:srgbClr val="C00000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4901565" y="5628640"/>
            <a:ext cx="1178560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S</a:t>
            </a:r>
          </a:p>
        </p:txBody>
      </p:sp>
      <p:sp>
        <p:nvSpPr>
          <p:cNvPr id="221" name="矩形 220"/>
          <p:cNvSpPr/>
          <p:nvPr/>
        </p:nvSpPr>
        <p:spPr>
          <a:xfrm>
            <a:off x="6986270" y="4634865"/>
            <a:ext cx="1449705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goto 4</a:t>
            </a:r>
          </a:p>
        </p:txBody>
      </p:sp>
      <p:sp>
        <p:nvSpPr>
          <p:cNvPr id="222" name="矩形 221"/>
          <p:cNvSpPr/>
          <p:nvPr/>
        </p:nvSpPr>
        <p:spPr>
          <a:xfrm>
            <a:off x="2997200" y="5173980"/>
            <a:ext cx="1178560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4</a:t>
            </a:r>
          </a:p>
        </p:txBody>
      </p:sp>
      <p:sp>
        <p:nvSpPr>
          <p:cNvPr id="223" name="矩形 222"/>
          <p:cNvSpPr/>
          <p:nvPr/>
        </p:nvSpPr>
        <p:spPr>
          <a:xfrm>
            <a:off x="6971030" y="4629785"/>
            <a:ext cx="1449705" cy="44958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accept!</a:t>
            </a: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9B150EB2-56A4-58B1-70AB-D131771CC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51" y="888243"/>
            <a:ext cx="6013392" cy="2730622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F1E2DCE4-1C0E-9FFF-0AD8-8B19EA13129A}"/>
              </a:ext>
            </a:extLst>
          </p:cNvPr>
          <p:cNvSpPr txBox="1"/>
          <p:nvPr/>
        </p:nvSpPr>
        <p:spPr>
          <a:xfrm>
            <a:off x="5916050" y="1934726"/>
            <a:ext cx="1399078" cy="163121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  <a:p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animBg="1"/>
      <p:bldP spid="189" grpId="0"/>
      <p:bldP spid="190" grpId="0"/>
      <p:bldP spid="191" grpId="0"/>
      <p:bldP spid="198" grpId="0" animBg="1"/>
      <p:bldP spid="198" grpId="1" animBg="1"/>
      <p:bldP spid="199" grpId="0" animBg="1"/>
      <p:bldP spid="199" grpId="1" animBg="1"/>
      <p:bldP spid="202" grpId="0" bldLvl="0" animBg="1"/>
      <p:bldP spid="202" grpId="1" animBg="1"/>
      <p:bldP spid="203" grpId="0" bldLvl="0" animBg="1"/>
      <p:bldP spid="204" grpId="0" bldLvl="0" animBg="1"/>
      <p:bldP spid="204" grpId="1" animBg="1"/>
      <p:bldP spid="205" grpId="0" bldLvl="0" animBg="1"/>
      <p:bldP spid="205" grpId="1" animBg="1"/>
      <p:bldP spid="206" grpId="0" bldLvl="0" animBg="1"/>
      <p:bldP spid="207" grpId="0" bldLvl="0" animBg="1"/>
      <p:bldP spid="207" grpId="1" animBg="1"/>
      <p:bldP spid="208" grpId="0" bldLvl="0" animBg="1"/>
      <p:bldP spid="209" grpId="0" animBg="1"/>
      <p:bldP spid="209" grpId="1" animBg="1"/>
      <p:bldP spid="210" grpId="0" bldLvl="0" animBg="1"/>
      <p:bldP spid="211" grpId="0" bldLvl="0" animBg="1"/>
      <p:bldP spid="211" grpId="1" animBg="1"/>
      <p:bldP spid="212" grpId="0" bldLvl="0" animBg="1"/>
      <p:bldP spid="212" grpId="1" animBg="1"/>
      <p:bldP spid="213" grpId="0" bldLvl="0" animBg="1"/>
      <p:bldP spid="214" grpId="0" bldLvl="0" animBg="1"/>
      <p:bldP spid="214" grpId="1" animBg="1"/>
      <p:bldP spid="215" grpId="0" bldLvl="0" animBg="1"/>
      <p:bldP spid="216" grpId="0" bldLvl="0" animBg="1"/>
      <p:bldP spid="216" grpId="1" animBg="1"/>
      <p:bldP spid="217" grpId="0" bldLvl="0" animBg="1"/>
      <p:bldP spid="217" grpId="1" animBg="1"/>
      <p:bldP spid="218" grpId="0" bldLvl="0" animBg="1"/>
      <p:bldP spid="219" grpId="0" bldLvl="0" animBg="1"/>
      <p:bldP spid="219" grpId="1" bldLvl="0" animBg="1"/>
      <p:bldP spid="220" grpId="0" bldLvl="0" animBg="1"/>
      <p:bldP spid="221" grpId="0" bldLvl="0" animBg="1"/>
      <p:bldP spid="222" grpId="0" animBg="1"/>
      <p:bldP spid="223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3112D19-D095-635F-C54B-F422FE912E88}"/>
              </a:ext>
            </a:extLst>
          </p:cNvPr>
          <p:cNvSpPr txBox="1"/>
          <p:nvPr/>
        </p:nvSpPr>
        <p:spPr>
          <a:xfrm>
            <a:off x="6749681" y="554337"/>
            <a:ext cx="188632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S’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$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graphicFrame>
        <p:nvGraphicFramePr>
          <p:cNvPr id="57" name="表格 16">
            <a:extLst>
              <a:ext uri="{FF2B5EF4-FFF2-40B4-BE49-F238E27FC236}">
                <a16:creationId xmlns:a16="http://schemas.microsoft.com/office/drawing/2014/main" id="{B8774D18-3F7D-CF5B-F825-8B78F3F1E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448896"/>
              </p:ext>
            </p:extLst>
          </p:nvPr>
        </p:nvGraphicFramePr>
        <p:xfrm>
          <a:off x="126663" y="2722472"/>
          <a:ext cx="6274137" cy="405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6496">
                  <a:extLst>
                    <a:ext uri="{9D8B030D-6E8A-4147-A177-3AD203B41FA5}">
                      <a16:colId xmlns:a16="http://schemas.microsoft.com/office/drawing/2014/main" val="3161338969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3623761996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4097255217"/>
                    </a:ext>
                  </a:extLst>
                </a:gridCol>
                <a:gridCol w="1918241">
                  <a:extLst>
                    <a:ext uri="{9D8B030D-6E8A-4147-A177-3AD203B41FA5}">
                      <a16:colId xmlns:a16="http://schemas.microsoft.com/office/drawing/2014/main" val="3939161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Stack</a:t>
                      </a:r>
                      <a:r>
                        <a:rPr lang="zh-CN" altLang="en-US" sz="2000" b="1" dirty="0"/>
                        <a:t> </a:t>
                      </a:r>
                      <a:r>
                        <a:rPr lang="en-US" altLang="zh-CN" sz="2000" b="1" dirty="0"/>
                        <a:t>(states)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/>
                        <a:t>Stack</a:t>
                      </a:r>
                      <a:r>
                        <a:rPr lang="zh-CN" altLang="en-US" sz="2000" b="1"/>
                        <a:t> </a:t>
                      </a:r>
                      <a:r>
                        <a:rPr lang="en-US" altLang="zh-CN" sz="2000" b="1"/>
                        <a:t>(symbols)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/>
                        <a:t>Input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Action</a:t>
                      </a:r>
                      <a:endParaRPr lang="zh-CN" alt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491425"/>
                  </a:ext>
                </a:extLst>
              </a:tr>
              <a:tr h="344414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(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x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)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$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shift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363153"/>
                  </a:ext>
                </a:extLst>
              </a:tr>
              <a:tr h="344414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1,</a:t>
                      </a:r>
                      <a:r>
                        <a:rPr lang="zh-CN" altLang="en-US" sz="1800" b="1"/>
                        <a:t> </a:t>
                      </a:r>
                      <a:r>
                        <a:rPr lang="en-US" altLang="zh-CN" sz="1800" b="1"/>
                        <a:t>3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(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x</a:t>
                      </a:r>
                      <a:r>
                        <a:rPr lang="zh-CN" altLang="en-US" sz="1800" b="1"/>
                        <a:t> </a:t>
                      </a:r>
                      <a:r>
                        <a:rPr lang="en-US" altLang="zh-CN" sz="1800" b="1"/>
                        <a:t>)</a:t>
                      </a:r>
                      <a:r>
                        <a:rPr lang="zh-CN" altLang="en-US" sz="1800" b="1"/>
                        <a:t> </a:t>
                      </a:r>
                      <a:r>
                        <a:rPr lang="en-US" altLang="zh-CN" sz="1800" b="1"/>
                        <a:t>$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shift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2</a:t>
                      </a:r>
                      <a:endParaRPr lang="zh-CN" alt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641830"/>
                  </a:ext>
                </a:extLst>
              </a:tr>
              <a:tr h="344414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1,</a:t>
                      </a:r>
                      <a:r>
                        <a:rPr lang="zh-CN" altLang="en-US" sz="1800" b="1"/>
                        <a:t> </a:t>
                      </a:r>
                      <a:r>
                        <a:rPr lang="en-US" altLang="zh-CN" sz="1800" b="1"/>
                        <a:t>3,</a:t>
                      </a:r>
                      <a:r>
                        <a:rPr lang="zh-CN" altLang="en-US" sz="1800" b="1"/>
                        <a:t> </a:t>
                      </a:r>
                      <a:r>
                        <a:rPr lang="en-US" altLang="zh-CN" sz="1800" b="1"/>
                        <a:t>2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(</a:t>
                      </a:r>
                      <a:r>
                        <a:rPr lang="zh-CN" altLang="en-US" sz="1800" b="1"/>
                        <a:t> </a:t>
                      </a:r>
                      <a:r>
                        <a:rPr lang="en-US" altLang="zh-CN" sz="1800" b="1"/>
                        <a:t>x</a:t>
                      </a:r>
                      <a:r>
                        <a:rPr lang="zh-CN" altLang="en-US" sz="1800" b="1"/>
                        <a:t> 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)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$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reduce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2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</a:t>
                      </a:r>
                      <a:r>
                        <a:rPr lang="zh-CN" altLang="en-US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-&gt;</a:t>
                      </a:r>
                      <a:r>
                        <a:rPr lang="zh-CN" altLang="en-US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x</a:t>
                      </a:r>
                      <a:endParaRPr lang="zh-CN" altLang="en-US" sz="18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013055"/>
                  </a:ext>
                </a:extLst>
              </a:tr>
              <a:tr h="344414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1,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(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S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)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$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goto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7</a:t>
                      </a:r>
                      <a:endParaRPr lang="zh-CN" alt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11413"/>
                  </a:ext>
                </a:extLst>
              </a:tr>
              <a:tr h="344414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1,</a:t>
                      </a:r>
                      <a:r>
                        <a:rPr lang="zh-CN" altLang="en-US" sz="1800" b="1"/>
                        <a:t> </a:t>
                      </a:r>
                      <a:r>
                        <a:rPr lang="en-US" altLang="zh-CN" sz="1800" b="1"/>
                        <a:t>3,</a:t>
                      </a:r>
                      <a:r>
                        <a:rPr lang="zh-CN" altLang="en-US" sz="1800" b="1"/>
                        <a:t> </a:t>
                      </a:r>
                      <a:r>
                        <a:rPr lang="en-US" altLang="zh-CN" sz="1800" b="1"/>
                        <a:t>7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(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S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)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$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reduce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3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</a:t>
                      </a:r>
                      <a:r>
                        <a:rPr lang="zh-CN" altLang="en-US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-&gt;</a:t>
                      </a:r>
                      <a:r>
                        <a:rPr lang="zh-CN" altLang="en-US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</a:t>
                      </a:r>
                      <a:endParaRPr lang="zh-CN" altLang="en-US" sz="18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705134"/>
                  </a:ext>
                </a:extLst>
              </a:tr>
              <a:tr h="344414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1,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(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L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)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$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goto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5</a:t>
                      </a:r>
                      <a:endParaRPr lang="zh-CN" alt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407255"/>
                  </a:ext>
                </a:extLst>
              </a:tr>
              <a:tr h="344414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1,</a:t>
                      </a:r>
                      <a:r>
                        <a:rPr lang="zh-CN" altLang="en-US" sz="1800" b="1"/>
                        <a:t> </a:t>
                      </a:r>
                      <a:r>
                        <a:rPr lang="en-US" altLang="zh-CN" sz="1800" b="1"/>
                        <a:t>3,</a:t>
                      </a:r>
                      <a:r>
                        <a:rPr lang="zh-CN" altLang="en-US" sz="1800" b="1"/>
                        <a:t> </a:t>
                      </a:r>
                      <a:r>
                        <a:rPr lang="en-US" altLang="zh-CN" sz="1800" b="1"/>
                        <a:t>5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(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L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)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$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shift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6</a:t>
                      </a:r>
                      <a:endParaRPr lang="zh-CN" alt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162613"/>
                  </a:ext>
                </a:extLst>
              </a:tr>
              <a:tr h="344414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1,</a:t>
                      </a:r>
                      <a:r>
                        <a:rPr lang="zh-CN" altLang="en-US" sz="1800" b="1"/>
                        <a:t> </a:t>
                      </a:r>
                      <a:r>
                        <a:rPr lang="en-US" altLang="zh-CN" sz="1800" b="1"/>
                        <a:t>3,</a:t>
                      </a:r>
                      <a:r>
                        <a:rPr lang="zh-CN" altLang="en-US" sz="1800" b="1"/>
                        <a:t> </a:t>
                      </a:r>
                      <a:r>
                        <a:rPr lang="en-US" altLang="zh-CN" sz="1800" b="1"/>
                        <a:t>5,</a:t>
                      </a:r>
                      <a:r>
                        <a:rPr lang="zh-CN" altLang="en-US" sz="1800" b="1"/>
                        <a:t> </a:t>
                      </a:r>
                      <a:r>
                        <a:rPr lang="en-US" altLang="zh-CN" sz="1800" b="1"/>
                        <a:t>6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(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L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)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$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reduce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1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</a:t>
                      </a:r>
                      <a:r>
                        <a:rPr lang="zh-CN" altLang="en-US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-&gt;</a:t>
                      </a:r>
                      <a:r>
                        <a:rPr lang="zh-CN" altLang="en-US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zh-CN" altLang="en-US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</a:t>
                      </a:r>
                      <a:r>
                        <a:rPr lang="zh-CN" altLang="en-US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)</a:t>
                      </a:r>
                      <a:endParaRPr lang="zh-CN" altLang="en-US" sz="18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8466639"/>
                  </a:ext>
                </a:extLst>
              </a:tr>
              <a:tr h="344414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S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$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goto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4</a:t>
                      </a:r>
                      <a:endParaRPr lang="zh-CN" alt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840525"/>
                  </a:ext>
                </a:extLst>
              </a:tr>
              <a:tr h="344414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1,</a:t>
                      </a:r>
                      <a:r>
                        <a:rPr lang="zh-CN" altLang="en-US" sz="1800" b="1"/>
                        <a:t> </a:t>
                      </a:r>
                      <a:r>
                        <a:rPr lang="en-US" altLang="zh-CN" sz="1800" b="1"/>
                        <a:t>4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S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$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accept</a:t>
                      </a:r>
                      <a:endParaRPr lang="zh-CN" alt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555954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2149875E-9705-A891-21F5-70E4CBDB5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14" y="127415"/>
            <a:ext cx="5714850" cy="259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732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LR(0) Parsing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4B98B4-B6F9-848C-AD26-7B3AB2F37E45}"/>
              </a:ext>
            </a:extLst>
          </p:cNvPr>
          <p:cNvSpPr txBox="1"/>
          <p:nvPr/>
        </p:nvSpPr>
        <p:spPr>
          <a:xfrm>
            <a:off x="4837176" y="990664"/>
            <a:ext cx="4337182" cy="5606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200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Actions:</a:t>
            </a:r>
          </a:p>
          <a:p>
            <a:pPr defTabSz="457200" eaLnBrk="1" fontAlgn="auto" hangingPunct="1">
              <a:spcBef>
                <a:spcPts val="400"/>
              </a:spcBef>
              <a:spcAft>
                <a:spcPts val="0"/>
              </a:spcAft>
            </a:pPr>
            <a:r>
              <a:rPr kumimoji="1" lang="en-US" altLang="zh-CN" sz="2200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Shift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: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For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edge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labeled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with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terminal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t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and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from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state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 err="1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i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to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state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n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: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endParaRPr kumimoji="1" lang="en-US" altLang="zh-CN" sz="22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342900" indent="-342900" defTabSz="457200" eaLnBrk="1" fontAlgn="auto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T[</a:t>
            </a:r>
            <a:r>
              <a:rPr kumimoji="1" lang="en-US" altLang="zh-CN" sz="2200" b="1" dirty="0" err="1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i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,</a:t>
            </a:r>
            <a:r>
              <a:rPr kumimoji="1" lang="zh-CN" altLang="en-US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t]</a:t>
            </a:r>
            <a:r>
              <a:rPr kumimoji="1" lang="zh-CN" altLang="en-US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=</a:t>
            </a:r>
            <a:r>
              <a:rPr kumimoji="1" lang="zh-CN" altLang="en-US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b="1" dirty="0" err="1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sn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(shift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n)</a:t>
            </a:r>
            <a:endParaRPr kumimoji="1" lang="en-US" altLang="zh-CN" sz="22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defTabSz="457200" eaLnBrk="1" fontAlgn="auto" hangingPunct="1">
              <a:spcBef>
                <a:spcPts val="400"/>
              </a:spcBef>
              <a:spcAft>
                <a:spcPts val="0"/>
              </a:spcAft>
            </a:pPr>
            <a:r>
              <a:rPr kumimoji="1" lang="en-US" altLang="zh-CN" sz="2200" b="1" dirty="0" err="1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Goto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: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For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edge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labeled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with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non-terminal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X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and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from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state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 err="1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i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to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state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n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: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endParaRPr kumimoji="1" lang="en-US" altLang="zh-CN" sz="22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342900" indent="-342900" defTabSz="457200" eaLnBrk="1" fontAlgn="auto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T[</a:t>
            </a:r>
            <a:r>
              <a:rPr kumimoji="1" lang="en-US" altLang="zh-CN" sz="2200" b="1" dirty="0" err="1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i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,</a:t>
            </a:r>
            <a:r>
              <a:rPr kumimoji="1" lang="zh-CN" altLang="en-US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X]</a:t>
            </a:r>
            <a:r>
              <a:rPr kumimoji="1" lang="zh-CN" altLang="en-US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=</a:t>
            </a:r>
            <a:r>
              <a:rPr kumimoji="1" lang="zh-CN" altLang="en-US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b="1" dirty="0" err="1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gn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(</a:t>
            </a:r>
            <a:r>
              <a:rPr kumimoji="1" lang="en-US" altLang="zh-CN" sz="2200" dirty="0" err="1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goto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n)</a:t>
            </a:r>
            <a:endParaRPr kumimoji="1" lang="en-US" altLang="zh-CN" sz="22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defTabSz="457200" eaLnBrk="1" fontAlgn="auto" hangingPunct="1">
              <a:spcBef>
                <a:spcPts val="400"/>
              </a:spcBef>
              <a:spcAft>
                <a:spcPts val="0"/>
              </a:spcAft>
            </a:pPr>
            <a:r>
              <a:rPr kumimoji="1" lang="en-US" altLang="zh-CN" sz="2200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Reduce: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For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item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state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b="1" dirty="0" err="1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with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dot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at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the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end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(e.g.,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X</a:t>
            </a:r>
            <a:r>
              <a:rPr kumimoji="1" lang="zh-CN" altLang="en-US" sz="2200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-&gt;</a:t>
            </a:r>
            <a:r>
              <a:rPr kumimoji="1" lang="zh-CN" altLang="en-US" sz="2200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</a:t>
            </a:r>
            <a:r>
              <a:rPr kumimoji="1" lang="zh-CN" altLang="en-US" sz="2200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…</a:t>
            </a:r>
            <a:r>
              <a:rPr kumimoji="1" lang="zh-CN" altLang="en-US" sz="2200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</a:t>
            </a:r>
            <a:r>
              <a:rPr kumimoji="1" lang="zh-CN" altLang="en-US" sz="2200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.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):</a:t>
            </a:r>
          </a:p>
          <a:p>
            <a:pPr marL="342900" indent="-342900" defTabSz="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T[</a:t>
            </a:r>
            <a:r>
              <a:rPr kumimoji="1" lang="en-US" altLang="zh-CN" sz="2200" b="1" dirty="0" err="1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i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,</a:t>
            </a:r>
            <a:r>
              <a:rPr kumimoji="1" lang="zh-CN" altLang="en-US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each</a:t>
            </a:r>
            <a:r>
              <a:rPr kumimoji="1" lang="zh-CN" altLang="en-US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terminal]</a:t>
            </a:r>
            <a:r>
              <a:rPr kumimoji="1" lang="zh-CN" altLang="en-US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=</a:t>
            </a:r>
            <a:r>
              <a:rPr kumimoji="1" lang="zh-CN" altLang="en-US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b="1" dirty="0" err="1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rk</a:t>
            </a:r>
            <a:r>
              <a:rPr kumimoji="1" lang="zh-CN" altLang="en-US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(reduce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k)</a:t>
            </a:r>
            <a:endParaRPr kumimoji="1" lang="en-US" altLang="zh-CN" sz="22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342900" indent="-342900" defTabSz="457200" eaLnBrk="1" fontAlgn="auto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k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is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the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index</a:t>
            </a:r>
            <a:r>
              <a:rPr kumimoji="1" lang="zh-CN" altLang="en-US" sz="2200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of</a:t>
            </a:r>
            <a:r>
              <a:rPr kumimoji="1" lang="zh-CN" altLang="en-US" sz="2200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this</a:t>
            </a:r>
            <a:r>
              <a:rPr kumimoji="1" lang="zh-CN" altLang="en-US" sz="2200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production</a:t>
            </a:r>
            <a:endParaRPr kumimoji="1" lang="en-US" altLang="zh-CN" sz="22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defTabSz="457200" eaLnBrk="1" fontAlgn="auto" hangingPunct="1">
              <a:spcBef>
                <a:spcPts val="400"/>
              </a:spcBef>
              <a:spcAft>
                <a:spcPts val="0"/>
              </a:spcAft>
            </a:pPr>
            <a:r>
              <a:rPr kumimoji="1" lang="en-US" altLang="zh-CN" sz="2200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Accept: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For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each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state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 err="1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i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containing</a:t>
            </a:r>
            <a:r>
              <a:rPr kumimoji="1" lang="zh-CN" altLang="en-US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endParaRPr kumimoji="1" lang="en-US" altLang="zh-CN" sz="22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defTabSz="457200" eaLnBrk="1" fontAlgn="auto" hangingPunct="1">
              <a:spcBef>
                <a:spcPts val="400"/>
              </a:spcBef>
              <a:spcAft>
                <a:spcPts val="0"/>
              </a:spcAft>
            </a:pP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S’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-&gt;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S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.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$</a:t>
            </a:r>
            <a:r>
              <a:rPr kumimoji="1" lang="en-US" altLang="zh-CN" sz="2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:</a:t>
            </a:r>
          </a:p>
          <a:p>
            <a:pPr marL="342900" indent="-342900" defTabSz="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T[</a:t>
            </a:r>
            <a:r>
              <a:rPr kumimoji="1" lang="en-US" altLang="zh-CN" sz="2200" b="1" dirty="0" err="1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i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,</a:t>
            </a:r>
            <a:r>
              <a:rPr kumimoji="1" lang="zh-CN" altLang="en-US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$]</a:t>
            </a:r>
            <a:r>
              <a:rPr kumimoji="1" lang="zh-CN" altLang="en-US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=</a:t>
            </a:r>
            <a:r>
              <a:rPr kumimoji="1" lang="zh-CN" altLang="en-US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/>
                <a:ea typeface="等线" panose="02010600030101010101" pitchFamily="2" charset="-122"/>
              </a:rPr>
              <a:t>accept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5E714B9-3A76-7912-601D-F51BA7586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015902"/>
              </p:ext>
            </p:extLst>
          </p:nvPr>
        </p:nvGraphicFramePr>
        <p:xfrm>
          <a:off x="100584" y="2980944"/>
          <a:ext cx="4736592" cy="3810000"/>
        </p:xfrm>
        <a:graphic>
          <a:graphicData uri="http://schemas.openxmlformats.org/drawingml/2006/table">
            <a:tbl>
              <a:tblPr firstRow="1" bandRow="1"/>
              <a:tblGrid>
                <a:gridCol w="518480">
                  <a:extLst>
                    <a:ext uri="{9D8B030D-6E8A-4147-A177-3AD203B41FA5}">
                      <a16:colId xmlns:a16="http://schemas.microsoft.com/office/drawing/2014/main" val="4011626297"/>
                    </a:ext>
                  </a:extLst>
                </a:gridCol>
                <a:gridCol w="665668">
                  <a:extLst>
                    <a:ext uri="{9D8B030D-6E8A-4147-A177-3AD203B41FA5}">
                      <a16:colId xmlns:a16="http://schemas.microsoft.com/office/drawing/2014/main" val="1876310382"/>
                    </a:ext>
                  </a:extLst>
                </a:gridCol>
                <a:gridCol w="592074">
                  <a:extLst>
                    <a:ext uri="{9D8B030D-6E8A-4147-A177-3AD203B41FA5}">
                      <a16:colId xmlns:a16="http://schemas.microsoft.com/office/drawing/2014/main" val="1170913677"/>
                    </a:ext>
                  </a:extLst>
                </a:gridCol>
                <a:gridCol w="592074">
                  <a:extLst>
                    <a:ext uri="{9D8B030D-6E8A-4147-A177-3AD203B41FA5}">
                      <a16:colId xmlns:a16="http://schemas.microsoft.com/office/drawing/2014/main" val="3835709701"/>
                    </a:ext>
                  </a:extLst>
                </a:gridCol>
                <a:gridCol w="592074">
                  <a:extLst>
                    <a:ext uri="{9D8B030D-6E8A-4147-A177-3AD203B41FA5}">
                      <a16:colId xmlns:a16="http://schemas.microsoft.com/office/drawing/2014/main" val="721151879"/>
                    </a:ext>
                  </a:extLst>
                </a:gridCol>
                <a:gridCol w="592074">
                  <a:extLst>
                    <a:ext uri="{9D8B030D-6E8A-4147-A177-3AD203B41FA5}">
                      <a16:colId xmlns:a16="http://schemas.microsoft.com/office/drawing/2014/main" val="3955978614"/>
                    </a:ext>
                  </a:extLst>
                </a:gridCol>
                <a:gridCol w="592074">
                  <a:extLst>
                    <a:ext uri="{9D8B030D-6E8A-4147-A177-3AD203B41FA5}">
                      <a16:colId xmlns:a16="http://schemas.microsoft.com/office/drawing/2014/main" val="2436530528"/>
                    </a:ext>
                  </a:extLst>
                </a:gridCol>
                <a:gridCol w="592074">
                  <a:extLst>
                    <a:ext uri="{9D8B030D-6E8A-4147-A177-3AD203B41FA5}">
                      <a16:colId xmlns:a16="http://schemas.microsoft.com/office/drawing/2014/main" val="3470507451"/>
                    </a:ext>
                  </a:extLst>
                </a:gridCol>
              </a:tblGrid>
              <a:tr h="322275"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solidFill>
                            <a:srgbClr val="0070C0"/>
                          </a:solidFill>
                          <a:latin typeface="+mn-lt"/>
                        </a:rPr>
                        <a:t>(</a:t>
                      </a:r>
                      <a:endParaRPr lang="zh-CN" altLang="en-US" sz="19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solidFill>
                            <a:srgbClr val="0070C0"/>
                          </a:solidFill>
                          <a:latin typeface="+mn-lt"/>
                        </a:rPr>
                        <a:t>)</a:t>
                      </a:r>
                      <a:endParaRPr lang="zh-CN" altLang="en-US" sz="19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solidFill>
                            <a:srgbClr val="0070C0"/>
                          </a:solidFill>
                          <a:latin typeface="+mn-lt"/>
                        </a:rPr>
                        <a:t>x</a:t>
                      </a:r>
                      <a:endParaRPr lang="zh-CN" altLang="en-US" sz="19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solidFill>
                            <a:srgbClr val="0070C0"/>
                          </a:solidFill>
                          <a:latin typeface="+mn-lt"/>
                        </a:rPr>
                        <a:t>,</a:t>
                      </a:r>
                      <a:endParaRPr lang="zh-CN" altLang="en-US" sz="19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solidFill>
                            <a:srgbClr val="0070C0"/>
                          </a:solidFill>
                          <a:latin typeface="+mn-lt"/>
                        </a:rPr>
                        <a:t>$</a:t>
                      </a:r>
                      <a:endParaRPr lang="zh-CN" altLang="en-US" sz="19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solidFill>
                            <a:srgbClr val="0070C0"/>
                          </a:solidFill>
                          <a:latin typeface="+mn-lt"/>
                        </a:rPr>
                        <a:t>S</a:t>
                      </a:r>
                      <a:endParaRPr lang="zh-CN" altLang="en-US" sz="19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solidFill>
                            <a:srgbClr val="0070C0"/>
                          </a:solidFill>
                          <a:latin typeface="+mn-lt"/>
                        </a:rPr>
                        <a:t>L</a:t>
                      </a:r>
                      <a:endParaRPr lang="zh-CN" altLang="en-US" sz="19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251472"/>
                  </a:ext>
                </a:extLst>
              </a:tr>
              <a:tr h="322275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solidFill>
                            <a:srgbClr val="0070C0"/>
                          </a:solidFill>
                          <a:latin typeface="+mn-lt"/>
                        </a:rPr>
                        <a:t>1</a:t>
                      </a:r>
                      <a:endParaRPr lang="zh-CN" altLang="en-US" sz="1900" b="1" i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s3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s2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g4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194266"/>
                  </a:ext>
                </a:extLst>
              </a:tr>
              <a:tr h="322275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solidFill>
                            <a:srgbClr val="0070C0"/>
                          </a:solidFill>
                          <a:latin typeface="+mn-lt"/>
                        </a:rPr>
                        <a:t>2</a:t>
                      </a:r>
                      <a:endParaRPr lang="zh-CN" altLang="en-US" sz="1900" b="1" i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r2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r2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r2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r2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r2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430504"/>
                  </a:ext>
                </a:extLst>
              </a:tr>
              <a:tr h="322275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solidFill>
                            <a:srgbClr val="0070C0"/>
                          </a:solidFill>
                          <a:latin typeface="+mn-lt"/>
                        </a:rPr>
                        <a:t>3</a:t>
                      </a:r>
                      <a:endParaRPr lang="zh-CN" altLang="en-US" sz="1900" b="1" i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s3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s2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g7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g5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52062"/>
                  </a:ext>
                </a:extLst>
              </a:tr>
              <a:tr h="322275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solidFill>
                            <a:srgbClr val="0070C0"/>
                          </a:solidFill>
                          <a:latin typeface="+mn-lt"/>
                        </a:rPr>
                        <a:t>4</a:t>
                      </a:r>
                      <a:endParaRPr lang="zh-CN" altLang="en-US" sz="1900" b="1" i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a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214694"/>
                  </a:ext>
                </a:extLst>
              </a:tr>
              <a:tr h="322275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solidFill>
                            <a:srgbClr val="0070C0"/>
                          </a:solidFill>
                          <a:latin typeface="+mn-lt"/>
                        </a:rPr>
                        <a:t>5</a:t>
                      </a:r>
                      <a:endParaRPr lang="zh-CN" altLang="en-US" sz="1900" b="1" i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s6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s8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858492"/>
                  </a:ext>
                </a:extLst>
              </a:tr>
              <a:tr h="322275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solidFill>
                            <a:srgbClr val="0070C0"/>
                          </a:solidFill>
                          <a:latin typeface="+mn-lt"/>
                        </a:rPr>
                        <a:t>6</a:t>
                      </a:r>
                      <a:endParaRPr lang="zh-CN" altLang="en-US" sz="1900" b="1" i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r1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r1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r1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r1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r1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916712"/>
                  </a:ext>
                </a:extLst>
              </a:tr>
              <a:tr h="322275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solidFill>
                            <a:srgbClr val="0070C0"/>
                          </a:solidFill>
                          <a:latin typeface="+mn-lt"/>
                        </a:rPr>
                        <a:t>7</a:t>
                      </a:r>
                      <a:endParaRPr lang="zh-CN" altLang="en-US" sz="1900" b="1" i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r3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r3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r3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r3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r3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762858"/>
                  </a:ext>
                </a:extLst>
              </a:tr>
              <a:tr h="322275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solidFill>
                            <a:srgbClr val="0070C0"/>
                          </a:solidFill>
                          <a:latin typeface="+mn-lt"/>
                        </a:rPr>
                        <a:t>8</a:t>
                      </a:r>
                      <a:endParaRPr lang="zh-CN" altLang="en-US" sz="1900" b="1" i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s3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s2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g9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760590"/>
                  </a:ext>
                </a:extLst>
              </a:tr>
              <a:tr h="322275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solidFill>
                            <a:srgbClr val="0070C0"/>
                          </a:solidFill>
                          <a:latin typeface="+mn-lt"/>
                        </a:rPr>
                        <a:t>9</a:t>
                      </a:r>
                      <a:endParaRPr lang="zh-CN" altLang="en-US" sz="1900" b="1" i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r4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r4</a:t>
                      </a: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r4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r4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900" b="1" dirty="0">
                          <a:latin typeface="+mn-lt"/>
                        </a:rPr>
                        <a:t>r4</a:t>
                      </a:r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zh-CN" altLang="en-US" sz="1900" b="1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960995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51C794FF-DA17-421E-ADA3-E462AB158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14" y="762070"/>
            <a:ext cx="4608462" cy="20926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LR(k) Parsing </a:t>
            </a:r>
            <a:r>
              <a:rPr kumimoji="1" lang="en-US" altLang="zh-CN" dirty="0">
                <a:sym typeface="+mn-ea"/>
              </a:rPr>
              <a:t>–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Algorithm</a:t>
            </a:r>
            <a:endParaRPr lang="en-US" dirty="0" err="1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75565" y="895985"/>
            <a:ext cx="8968740" cy="668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GB" altLang="zh-CN" dirty="0">
                <a:cs typeface="Calibri" panose="020F0502020204030204" charset="0"/>
              </a:rPr>
              <a:t>Look up </a:t>
            </a:r>
            <a:r>
              <a:rPr kumimoji="1" lang="en-GB" altLang="zh-CN" dirty="0">
                <a:solidFill>
                  <a:srgbClr val="0070C0"/>
                </a:solidFill>
                <a:cs typeface="Calibri" panose="020F0502020204030204" charset="0"/>
              </a:rPr>
              <a:t>top stack state</a:t>
            </a:r>
            <a:r>
              <a:rPr kumimoji="1" lang="en-GB" altLang="zh-CN" dirty="0">
                <a:cs typeface="Calibri" panose="020F0502020204030204" charset="0"/>
              </a:rPr>
              <a:t>, and </a:t>
            </a:r>
            <a:r>
              <a:rPr kumimoji="1" lang="en-GB" altLang="zh-CN" b="1" dirty="0">
                <a:solidFill>
                  <a:srgbClr val="0070C0"/>
                </a:solidFill>
                <a:cs typeface="Calibri" panose="020F0502020204030204" charset="0"/>
              </a:rPr>
              <a:t>input symbol</a:t>
            </a:r>
            <a:r>
              <a:rPr kumimoji="1" lang="en-GB" altLang="zh-CN" dirty="0">
                <a:cs typeface="Calibri" panose="020F0502020204030204" charset="0"/>
              </a:rPr>
              <a:t>, get action; If action is</a:t>
            </a:r>
            <a:r>
              <a:rPr kumimoji="1" lang="en-US" altLang="zh-CN" dirty="0">
                <a:cs typeface="Calibri" panose="020F0502020204030204" charset="0"/>
              </a:rPr>
              <a:t>: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endParaRPr kumimoji="1" lang="en-US" altLang="zh-CN" dirty="0">
              <a:cs typeface="Calibri" panose="020F0502020204030204" charset="0"/>
            </a:endParaRPr>
          </a:p>
        </p:txBody>
      </p:sp>
      <p:graphicFrame>
        <p:nvGraphicFramePr>
          <p:cNvPr id="4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63507"/>
              </p:ext>
            </p:extLst>
          </p:nvPr>
        </p:nvGraphicFramePr>
        <p:xfrm>
          <a:off x="112395" y="1447800"/>
          <a:ext cx="8933180" cy="365760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51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0070C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Shift(n):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Advance input </a:t>
                      </a:r>
                      <a:r>
                        <a:rPr kumimoji="1" lang="en-GB" altLang="zh-CN" sz="2400" dirty="0">
                          <a:solidFill>
                            <a:srgbClr val="0070C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one token</a:t>
                      </a: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;</a:t>
                      </a:r>
                      <a:endParaRPr kumimoji="1" lang="en-GB" altLang="zh-CN" sz="24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push </a:t>
                      </a:r>
                      <a:r>
                        <a:rPr kumimoji="1" lang="en-GB" altLang="zh-CN" sz="2400" dirty="0">
                          <a:solidFill>
                            <a:srgbClr val="0070C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n</a:t>
                      </a: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 on stack. 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0070C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Reduce(r):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Pop stack as many times </a:t>
                      </a:r>
                      <a:r>
                        <a:rPr kumimoji="1" lang="en-GB" altLang="zh-CN" sz="2400" dirty="0">
                          <a:solidFill>
                            <a:srgbClr val="0070C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as the number of symbols </a:t>
                      </a: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on the </a:t>
                      </a:r>
                      <a:r>
                        <a:rPr kumimoji="1" lang="en-US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RHS</a:t>
                      </a:r>
                      <a:r>
                        <a:rPr kumimoji="1" lang="zh-CN" altLang="en-US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 </a:t>
                      </a: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of </a:t>
                      </a:r>
                      <a:r>
                        <a:rPr kumimoji="1" lang="en-GB" altLang="zh-CN" sz="2400" dirty="0">
                          <a:solidFill>
                            <a:srgbClr val="0070C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rule r</a:t>
                      </a: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;</a:t>
                      </a:r>
                      <a:endParaRPr kumimoji="1" lang="en-GB" altLang="zh-CN" sz="24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Let </a:t>
                      </a:r>
                      <a:r>
                        <a:rPr kumimoji="1" lang="en-GB" altLang="zh-CN" sz="2400" dirty="0">
                          <a:solidFill>
                            <a:srgbClr val="0070C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X</a:t>
                      </a: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 be the </a:t>
                      </a:r>
                      <a:r>
                        <a:rPr kumimoji="1" lang="en-US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LHS</a:t>
                      </a:r>
                      <a:r>
                        <a:rPr kumimoji="1" lang="zh-CN" altLang="en-US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 </a:t>
                      </a: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symbol of </a:t>
                      </a:r>
                      <a:r>
                        <a:rPr kumimoji="1" lang="en-GB" altLang="zh-CN" sz="2400" dirty="0">
                          <a:solidFill>
                            <a:srgbClr val="0070C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rule r</a:t>
                      </a: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;</a:t>
                      </a:r>
                      <a:endParaRPr kumimoji="1" lang="en-GB" altLang="zh-CN" sz="24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In </a:t>
                      </a:r>
                      <a:r>
                        <a:rPr kumimoji="1" lang="en-GB" altLang="zh-CN" sz="2400" dirty="0">
                          <a:solidFill>
                            <a:srgbClr val="0070C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the state </a:t>
                      </a: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now on top of stack, look up </a:t>
                      </a:r>
                      <a:r>
                        <a:rPr kumimoji="1" lang="en-GB" altLang="zh-CN" sz="2400" dirty="0">
                          <a:solidFill>
                            <a:srgbClr val="0070C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X</a:t>
                      </a: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 to get</a:t>
                      </a:r>
                      <a:r>
                        <a:rPr kumimoji="1" lang="zh-CN" altLang="en-US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 </a:t>
                      </a: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“</a:t>
                      </a:r>
                      <a:r>
                        <a:rPr kumimoji="1" lang="en-GB" altLang="zh-CN" sz="2400" dirty="0" err="1">
                          <a:solidFill>
                            <a:srgbClr val="0070C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goto</a:t>
                      </a:r>
                      <a:r>
                        <a:rPr kumimoji="1" lang="en-GB" altLang="zh-CN" sz="2400" dirty="0">
                          <a:solidFill>
                            <a:srgbClr val="0070C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 n</a:t>
                      </a: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”;</a:t>
                      </a:r>
                      <a:endParaRPr kumimoji="1" lang="en-GB" altLang="zh-CN" sz="24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Push </a:t>
                      </a:r>
                      <a:r>
                        <a:rPr kumimoji="1" lang="en-GB" altLang="zh-CN" sz="2400" dirty="0">
                          <a:solidFill>
                            <a:srgbClr val="0070C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n</a:t>
                      </a: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 on top of stack.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0070C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Accept: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Stop</a:t>
                      </a:r>
                      <a:r>
                        <a:rPr lang="zh-CN" altLang="en-US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 </a:t>
                      </a:r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parsing, report success</a:t>
                      </a:r>
                      <a:r>
                        <a:rPr kumimoji="1" lang="en-US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.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  <a:latin typeface="Calibri" panose="020F0502020204030204" charset="0"/>
                        <a:ea typeface="等线" panose="02010600030101010101" charset="-122"/>
                        <a:cs typeface="Calibri" panose="020F05020202040302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342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0070C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Error: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GB" altLang="zh-CN" sz="2400" dirty="0">
                          <a:solidFill>
                            <a:sysClr val="windowText" lastClr="000000"/>
                          </a:solidFill>
                          <a:latin typeface="Calibri" panose="020F0502020204030204" charset="0"/>
                          <a:ea typeface="等线" panose="02010600030101010101" charset="-122"/>
                          <a:cs typeface="Calibri" panose="020F0502020204030204" charset="0"/>
                        </a:rPr>
                        <a:t>Stop parsing, report failure.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09855" y="5105400"/>
            <a:ext cx="88468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Only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state</a:t>
            </a:r>
            <a:r>
              <a:rPr kumimoji="1" lang="zh-CN" altLang="en-US" sz="24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stack</a:t>
            </a:r>
            <a:r>
              <a:rPr kumimoji="1" lang="zh-CN" altLang="en-US" sz="24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is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This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is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general</a:t>
            </a:r>
            <a:r>
              <a:rPr kumimoji="1" lang="zh-CN" altLang="en-US" sz="24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algorithm</a:t>
            </a:r>
            <a:r>
              <a:rPr kumimoji="1" lang="zh-CN" altLang="en-US" sz="24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and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can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be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used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by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other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LR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parsing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For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LR(0)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,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we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do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not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need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to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look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up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input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symbol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to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know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whether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we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should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shift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or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reduce.</a:t>
            </a:r>
            <a:endParaRPr kumimoji="1" lang="zh-CN" alt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6FA9941-BEB8-7B26-3FF7-941160058174}"/>
              </a:ext>
            </a:extLst>
          </p:cNvPr>
          <p:cNvGrpSpPr/>
          <p:nvPr/>
        </p:nvGrpSpPr>
        <p:grpSpPr>
          <a:xfrm>
            <a:off x="390525" y="2620010"/>
            <a:ext cx="6276975" cy="3952240"/>
            <a:chOff x="81305" y="2547584"/>
            <a:chExt cx="6477000" cy="4114800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7BC92176-1600-2673-C58D-B568D1C583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61" t="9967" r="31259" b="50987"/>
            <a:stretch>
              <a:fillRect/>
            </a:stretch>
          </p:blipFill>
          <p:spPr bwMode="auto">
            <a:xfrm>
              <a:off x="81305" y="2834802"/>
              <a:ext cx="5737406" cy="3827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DAA1624F-635E-5A8B-C3E4-93E899F6C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647" y="2547584"/>
              <a:ext cx="2213658" cy="2584964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rgbClr val="44546A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44546A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44546A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44546A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44546A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44546A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44546A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44546A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44546A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5000"/>
                </a:lnSpc>
              </a:pPr>
              <a:endParaRPr lang="zh-CN" altLang="en-US"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dirty="0">
                <a:solidFill>
                  <a:sysClr val="windowText" lastClr="000000"/>
                </a:solidFill>
              </a:rPr>
              <a:t>Shift-Reduce Conflicts</a:t>
            </a:r>
            <a:endParaRPr lang="en-US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066496" y="1304766"/>
            <a:ext cx="1850740" cy="1354138"/>
          </a:xfrm>
          <a:prstGeom prst="rect">
            <a:avLst/>
          </a:prstGeom>
          <a:ln w="38100">
            <a:solidFill>
              <a:srgbClr val="0000CC"/>
            </a:solidFill>
            <a:miter lim="800000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609600" indent="-609600">
              <a:spcBef>
                <a:spcPct val="0"/>
              </a:spcBef>
              <a:buFontTx/>
              <a:buNone/>
            </a:pPr>
            <a:r>
              <a:rPr lang="en-US" altLang="zh-CN" sz="2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$</a:t>
            </a:r>
          </a:p>
          <a:p>
            <a:pPr marL="609600" indent="-609600">
              <a:spcBef>
                <a:spcPct val="0"/>
              </a:spcBef>
              <a:buFontTx/>
              <a:buNone/>
            </a:pPr>
            <a:r>
              <a:rPr lang="en-US" altLang="zh-CN" sz="2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609600" indent="-609600">
              <a:spcBef>
                <a:spcPct val="0"/>
              </a:spcBef>
              <a:buFontTx/>
              <a:buNone/>
            </a:pPr>
            <a:r>
              <a:rPr lang="en-US" altLang="zh-CN" sz="2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609600" indent="-609600">
              <a:spcBef>
                <a:spcPct val="0"/>
              </a:spcBef>
              <a:buFontTx/>
              <a:buNone/>
            </a:pPr>
            <a:r>
              <a:rPr lang="en-US" altLang="zh-CN" sz="2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848600" y="915035"/>
            <a:ext cx="12954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</a:pPr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7467600" y="3886835"/>
            <a:ext cx="11430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</a:pPr>
            <a:endParaRPr lang="zh-CN" altLang="en-US"/>
          </a:p>
        </p:txBody>
      </p:sp>
      <p:pic>
        <p:nvPicPr>
          <p:cNvPr id="13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56" t="8972" r="3125" b="70518"/>
          <a:stretch>
            <a:fillRect/>
          </a:stretch>
        </p:blipFill>
        <p:spPr bwMode="auto">
          <a:xfrm>
            <a:off x="3839845" y="838835"/>
            <a:ext cx="5052695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AutoShape 11"/>
          <p:cNvSpPr>
            <a:spLocks noChangeArrowheads="1"/>
          </p:cNvSpPr>
          <p:nvPr/>
        </p:nvSpPr>
        <p:spPr bwMode="auto">
          <a:xfrm>
            <a:off x="4780280" y="3352800"/>
            <a:ext cx="4211204" cy="2362200"/>
          </a:xfrm>
          <a:prstGeom prst="wedgeRoundRectCallout">
            <a:avLst>
              <a:gd name="adj1" fmla="val -27383"/>
              <a:gd name="adj2" fmla="val -103440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 w="34925">
            <a:solidFill>
              <a:sysClr val="windowText" lastClr="000000"/>
            </a:solidFill>
            <a:miter lim="800000"/>
          </a:ln>
        </p:spPr>
        <p:txBody>
          <a:bodyPr/>
          <a:lstStyle>
            <a:lvl1pPr marL="342900" indent="-3429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zh-CN" dirty="0">
                <a:solidFill>
                  <a:sysClr val="windowText" lastClr="000000"/>
                </a:solidFill>
              </a:rPr>
              <a:t>    Shift-reduce conflict indicates that the grammar is not LR(0) - it cannot be parsed by an LR(0) parser. 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4C21A6E-2C2F-14E7-78E5-7A358D903F2C}"/>
              </a:ext>
            </a:extLst>
          </p:cNvPr>
          <p:cNvSpPr txBox="1">
            <a:spLocks noChangeArrowheads="1"/>
          </p:cNvSpPr>
          <p:nvPr/>
        </p:nvSpPr>
        <p:spPr>
          <a:xfrm>
            <a:off x="2438455" y="4038584"/>
            <a:ext cx="1366995" cy="761980"/>
          </a:xfrm>
          <a:prstGeom prst="rect">
            <a:avLst/>
          </a:prstGeom>
          <a:ln w="38100">
            <a:solidFill>
              <a:srgbClr val="C00000"/>
            </a:solidFill>
            <a:miter lim="800000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609600" indent="-609600">
              <a:spcBef>
                <a:spcPct val="0"/>
              </a:spcBef>
              <a:buFontTx/>
              <a:buNone/>
            </a:pPr>
            <a:endParaRPr lang="en-US" altLang="zh-CN" sz="2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dirty="0">
                <a:solidFill>
                  <a:sysClr val="windowText" lastClr="000000"/>
                </a:solidFill>
              </a:rPr>
              <a:t>Shift-Reduce Conflicts</a:t>
            </a:r>
            <a:endParaRPr lang="en-US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066496" y="1304766"/>
            <a:ext cx="1850740" cy="1354138"/>
          </a:xfrm>
          <a:prstGeom prst="rect">
            <a:avLst/>
          </a:prstGeom>
          <a:ln w="38100">
            <a:solidFill>
              <a:srgbClr val="0000CC"/>
            </a:solidFill>
            <a:miter lim="800000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609600" indent="-609600">
              <a:spcBef>
                <a:spcPct val="0"/>
              </a:spcBef>
              <a:buFontTx/>
              <a:buNone/>
            </a:pPr>
            <a:r>
              <a:rPr lang="en-US" altLang="zh-CN" sz="2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$</a:t>
            </a:r>
          </a:p>
          <a:p>
            <a:pPr marL="609600" indent="-609600">
              <a:spcBef>
                <a:spcPct val="0"/>
              </a:spcBef>
              <a:buFontTx/>
              <a:buNone/>
            </a:pPr>
            <a:r>
              <a:rPr lang="en-US" altLang="zh-CN" sz="2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609600" indent="-609600">
              <a:spcBef>
                <a:spcPct val="0"/>
              </a:spcBef>
              <a:buFontTx/>
              <a:buNone/>
            </a:pPr>
            <a:r>
              <a:rPr lang="en-US" altLang="zh-CN" sz="2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609600" indent="-609600">
              <a:spcBef>
                <a:spcPct val="0"/>
              </a:spcBef>
              <a:buFontTx/>
              <a:buNone/>
            </a:pPr>
            <a:r>
              <a:rPr lang="en-US" altLang="zh-CN" sz="2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848600" y="915035"/>
            <a:ext cx="12954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</a:pPr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390525" y="2620010"/>
            <a:ext cx="6276975" cy="3952240"/>
            <a:chOff x="81305" y="2547584"/>
            <a:chExt cx="6477000" cy="4114800"/>
          </a:xfrm>
        </p:grpSpPr>
        <p:pic>
          <p:nvPicPr>
            <p:cNvPr id="11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61" t="9967" r="31259" b="50987"/>
            <a:stretch>
              <a:fillRect/>
            </a:stretch>
          </p:blipFill>
          <p:spPr bwMode="auto">
            <a:xfrm>
              <a:off x="81305" y="2834802"/>
              <a:ext cx="5737406" cy="3827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4344647" y="2547584"/>
              <a:ext cx="2213658" cy="2584964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rgbClr val="44546A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44546A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44546A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44546A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44546A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44546A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44546A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44546A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44546A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5000"/>
                </a:lnSpc>
              </a:pPr>
              <a:endParaRPr lang="zh-CN" altLang="en-US"/>
            </a:p>
          </p:txBody>
        </p:sp>
      </p:grpSp>
      <p:pic>
        <p:nvPicPr>
          <p:cNvPr id="13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56" t="8972" r="3125" b="70518"/>
          <a:stretch>
            <a:fillRect/>
          </a:stretch>
        </p:blipFill>
        <p:spPr bwMode="auto">
          <a:xfrm>
            <a:off x="3839845" y="838835"/>
            <a:ext cx="5052695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4115435" y="3276600"/>
            <a:ext cx="48539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What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are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valid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next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tokens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for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r2?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kumimoji="1" lang="en-US" altLang="zh-CN" sz="24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Idea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: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we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can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choose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reduce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action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only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if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next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input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token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1" lang="zh-CN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∈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Follow(E)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Follow(E)</a:t>
            </a:r>
            <a:r>
              <a:rPr kumimoji="1" lang="zh-CN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=</a:t>
            </a:r>
            <a:r>
              <a:rPr kumimoji="1" lang="zh-CN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{$}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kumimoji="1" lang="en-US" altLang="zh-CN" sz="2400" b="1" dirty="0"/>
              <a:t>only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T[3,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$]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can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be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r2!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A493C67-FEE2-A5F2-DC9F-699A65F76169}"/>
              </a:ext>
            </a:extLst>
          </p:cNvPr>
          <p:cNvGrpSpPr/>
          <p:nvPr/>
        </p:nvGrpSpPr>
        <p:grpSpPr>
          <a:xfrm>
            <a:off x="4381475" y="1655553"/>
            <a:ext cx="1403902" cy="523220"/>
            <a:chOff x="4381475" y="1655553"/>
            <a:chExt cx="1403902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783CCD9-EDA1-0F29-86D4-16067395134B}"/>
                    </a:ext>
                  </a:extLst>
                </p:cNvPr>
                <p:cNvSpPr txBox="1"/>
                <p:nvPr/>
              </p:nvSpPr>
              <p:spPr>
                <a:xfrm>
                  <a:off x="4381475" y="1655553"/>
                  <a:ext cx="38105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2800" b="0" i="0" smtClean="0">
                            <a:solidFill>
                              <a:srgbClr val="9411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zh-CN" altLang="en-US" sz="2800" b="0" i="1" smtClean="0">
                            <a:solidFill>
                              <a:srgbClr val="9411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✘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783CCD9-EDA1-0F29-86D4-1606739513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1475" y="1655553"/>
                  <a:ext cx="381050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26667" r="-66667" b="-238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2B7F1F9A-5441-2AAB-A81C-FD84C7008748}"/>
                    </a:ext>
                  </a:extLst>
                </p:cNvPr>
                <p:cNvSpPr txBox="1"/>
                <p:nvPr/>
              </p:nvSpPr>
              <p:spPr>
                <a:xfrm>
                  <a:off x="5404327" y="1655553"/>
                  <a:ext cx="38105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2800" b="0" i="0" smtClean="0">
                            <a:solidFill>
                              <a:srgbClr val="9411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zh-CN" altLang="en-US" sz="2800" b="0" i="1" smtClean="0">
                            <a:solidFill>
                              <a:srgbClr val="9411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✘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2B7F1F9A-5441-2AAB-A81C-FD84C70087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327" y="1655553"/>
                  <a:ext cx="381050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22581" r="-61290" b="-238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Rectangle 3">
            <a:extLst>
              <a:ext uri="{FF2B5EF4-FFF2-40B4-BE49-F238E27FC236}">
                <a16:creationId xmlns:a16="http://schemas.microsoft.com/office/drawing/2014/main" id="{8E09AE0F-B3E9-4723-EEED-8D8EB26FD425}"/>
              </a:ext>
            </a:extLst>
          </p:cNvPr>
          <p:cNvSpPr txBox="1">
            <a:spLocks noChangeArrowheads="1"/>
          </p:cNvSpPr>
          <p:nvPr/>
        </p:nvSpPr>
        <p:spPr>
          <a:xfrm>
            <a:off x="2438455" y="4038584"/>
            <a:ext cx="1366995" cy="761980"/>
          </a:xfrm>
          <a:prstGeom prst="rect">
            <a:avLst/>
          </a:prstGeom>
          <a:ln w="38100">
            <a:solidFill>
              <a:srgbClr val="C00000"/>
            </a:solidFill>
            <a:miter lim="800000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609600" indent="-609600">
              <a:spcBef>
                <a:spcPct val="0"/>
              </a:spcBef>
              <a:buFontTx/>
              <a:buNone/>
            </a:pPr>
            <a:endParaRPr lang="en-US" altLang="zh-CN" sz="2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dirty="0"/>
              <a:t>SLR (Simple LR) Parsing</a:t>
            </a:r>
            <a:endParaRPr lang="en-US" dirty="0"/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304800" y="795655"/>
            <a:ext cx="8534400" cy="1291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</a:rPr>
              <a:t>SL</a:t>
            </a:r>
            <a:r>
              <a:rPr lang="en-US" altLang="zh-CN" sz="2600" b="0" kern="0" dirty="0">
                <a:solidFill>
                  <a:srgbClr val="000000"/>
                </a:solidFill>
                <a:latin typeface="Calibri" panose="020F0502020204030204" charset="0"/>
              </a:rPr>
              <a:t>R</a:t>
            </a:r>
            <a:r>
              <a:rPr lang="zh-CN" altLang="en-US" sz="2600" b="0" kern="0" dirty="0">
                <a:solidFill>
                  <a:srgbClr val="000000"/>
                </a:solidFill>
                <a:latin typeface="Calibri" panose="020F0502020204030204" charset="0"/>
              </a:rPr>
              <a:t> </a:t>
            </a:r>
            <a:r>
              <a:rPr lang="en-US" altLang="zh-CN" sz="2600" b="0" kern="0" dirty="0">
                <a:solidFill>
                  <a:srgbClr val="000000"/>
                </a:solidFill>
                <a:latin typeface="Calibri" panose="020F0502020204030204" charset="0"/>
              </a:rPr>
              <a:t>Parsing:</a:t>
            </a:r>
            <a:r>
              <a:rPr lang="zh-CN" altLang="en-US" sz="2600" b="0" kern="0" dirty="0">
                <a:solidFill>
                  <a:srgbClr val="000000"/>
                </a:solidFill>
                <a:latin typeface="Calibri" panose="020F0502020204030204" charset="0"/>
              </a:rPr>
              <a:t> </a:t>
            </a:r>
            <a:r>
              <a:rPr lang="en-US" altLang="zh-CN" sz="2600" b="0" kern="0" dirty="0">
                <a:solidFill>
                  <a:srgbClr val="0070C0"/>
                </a:solidFill>
                <a:latin typeface="Calibri" panose="020F0502020204030204" charset="0"/>
              </a:rPr>
              <a:t>Simple</a:t>
            </a:r>
            <a:r>
              <a:rPr lang="zh-CN" altLang="en-US" sz="2600" b="0" kern="0" dirty="0">
                <a:solidFill>
                  <a:srgbClr val="0070C0"/>
                </a:solidFill>
                <a:latin typeface="Calibri" panose="020F0502020204030204" charset="0"/>
              </a:rPr>
              <a:t> </a:t>
            </a:r>
            <a:r>
              <a:rPr lang="en-US" altLang="zh-CN" sz="2600" b="0" kern="0" dirty="0">
                <a:solidFill>
                  <a:srgbClr val="0070C0"/>
                </a:solidFill>
                <a:latin typeface="Calibri" panose="020F0502020204030204" charset="0"/>
              </a:rPr>
              <a:t>LR</a:t>
            </a:r>
            <a:r>
              <a:rPr lang="zh-CN" altLang="en-US" sz="2600" b="0" kern="0" dirty="0">
                <a:solidFill>
                  <a:srgbClr val="0070C0"/>
                </a:solidFill>
                <a:latin typeface="Calibri" panose="020F0502020204030204" charset="0"/>
              </a:rPr>
              <a:t> </a:t>
            </a:r>
            <a:r>
              <a:rPr lang="en-US" altLang="zh-CN" sz="2600" b="0" kern="0" dirty="0">
                <a:solidFill>
                  <a:srgbClr val="0070C0"/>
                </a:solidFill>
                <a:latin typeface="Calibri" panose="020F0502020204030204" charset="0"/>
              </a:rPr>
              <a:t>Parsing</a:t>
            </a:r>
          </a:p>
          <a:p>
            <a:pPr lvl="0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0" kern="0" dirty="0">
                <a:solidFill>
                  <a:srgbClr val="000000"/>
                </a:solidFill>
                <a:latin typeface="Calibri" panose="020F0502020204030204" charset="0"/>
              </a:rPr>
              <a:t>Put 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</a:rPr>
              <a:t>reduce actions into the table only where indicated by the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600" b="0" kern="0" dirty="0">
                <a:solidFill>
                  <a:srgbClr val="0070C0"/>
                </a:solidFill>
                <a:latin typeface="Calibri" panose="020F0502020204030204" charset="0"/>
              </a:rPr>
              <a:t>FOLLOW set</a:t>
            </a:r>
            <a:r>
              <a:rPr lang="en-US" altLang="zh-CN" sz="2600" b="0" kern="0" dirty="0">
                <a:solidFill>
                  <a:srgbClr val="000000"/>
                </a:solidFill>
                <a:latin typeface="Calibri" panose="020F0502020204030204" charset="0"/>
              </a:rPr>
              <a:t>. 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390525" y="2162175"/>
            <a:ext cx="6096000" cy="1938020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kumimoji="0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← {}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kumimoji="0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each state </a:t>
            </a:r>
            <a:r>
              <a:rPr kumimoji="0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0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in </a:t>
            </a:r>
            <a:r>
              <a:rPr kumimoji="0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kumimoji="0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for </a:t>
            </a:r>
            <a:r>
              <a:rPr kumimoji="0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each item </a:t>
            </a:r>
            <a:r>
              <a:rPr kumimoji="0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0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→ α. in </a:t>
            </a:r>
            <a:r>
              <a:rPr kumimoji="0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0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for </a:t>
            </a:r>
            <a:r>
              <a:rPr kumimoji="0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each token </a:t>
            </a:r>
            <a:r>
              <a:rPr kumimoji="0"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</a:rPr>
              <a:t>X</a:t>
            </a:r>
            <a:r>
              <a:rPr kumimoji="0"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in FOLLOW(</a:t>
            </a:r>
            <a:r>
              <a:rPr kumimoji="0"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</a:rPr>
              <a:t>A</a:t>
            </a:r>
            <a:r>
              <a:rPr kumimoji="0"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)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R ← R</a:t>
            </a:r>
            <a:r>
              <a:rPr kumimoji="0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∪ {(</a:t>
            </a:r>
            <a:r>
              <a:rPr kumimoji="0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I, X, A</a:t>
            </a:r>
            <a:r>
              <a:rPr kumimoji="0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→ α)}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4175760"/>
            <a:ext cx="4622800" cy="2489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25444" y="4495772"/>
            <a:ext cx="3613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solidFill>
                  <a:srgbClr val="0070C0"/>
                </a:solidFill>
              </a:rPr>
              <a:t>I</a:t>
            </a:r>
            <a:r>
              <a:rPr kumimoji="1" lang="en-US" altLang="zh-CN" sz="2400" dirty="0"/>
              <a:t>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row</a:t>
            </a:r>
          </a:p>
          <a:p>
            <a:r>
              <a:rPr kumimoji="1" lang="en-US" altLang="zh-CN" sz="2400" dirty="0">
                <a:solidFill>
                  <a:srgbClr val="0070C0"/>
                </a:solidFill>
              </a:rPr>
              <a:t>X</a:t>
            </a:r>
            <a:r>
              <a:rPr kumimoji="1" lang="en-US" altLang="zh-CN" sz="2400" dirty="0"/>
              <a:t>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column</a:t>
            </a:r>
          </a:p>
          <a:p>
            <a:r>
              <a:rPr kumimoji="0" lang="en-US" altLang="zh-CN" sz="2400" i="1" dirty="0">
                <a:solidFill>
                  <a:srgbClr val="0070C0"/>
                </a:solidFill>
              </a:rPr>
              <a:t>A</a:t>
            </a:r>
            <a:r>
              <a:rPr kumimoji="0" lang="en-US" altLang="zh-CN" sz="2400" dirty="0">
                <a:solidFill>
                  <a:srgbClr val="0070C0"/>
                </a:solidFill>
              </a:rPr>
              <a:t> → α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:</a:t>
            </a:r>
            <a:r>
              <a:rPr kumimoji="1" lang="zh-CN" altLang="en-US" sz="2400" b="1" dirty="0">
                <a:solidFill>
                  <a:srgbClr val="000000"/>
                </a:solidFill>
              </a:rPr>
              <a:t> </a:t>
            </a:r>
            <a:r>
              <a:rPr kumimoji="1" lang="en-US" altLang="zh-CN" sz="2400" dirty="0">
                <a:solidFill>
                  <a:srgbClr val="000000"/>
                </a:solidFill>
              </a:rPr>
              <a:t>the</a:t>
            </a:r>
            <a:r>
              <a:rPr kumimoji="1" lang="zh-CN" altLang="en-US" sz="2400" dirty="0">
                <a:solidFill>
                  <a:srgbClr val="000000"/>
                </a:solidFill>
              </a:rPr>
              <a:t> </a:t>
            </a:r>
            <a:r>
              <a:rPr kumimoji="1" lang="en-US" altLang="zh-CN" sz="2400" dirty="0">
                <a:solidFill>
                  <a:srgbClr val="000000"/>
                </a:solidFill>
              </a:rPr>
              <a:t>production</a:t>
            </a:r>
            <a:endParaRPr kumimoji="1"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Further Conflicts</a:t>
            </a: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361243" y="827195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There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still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conflicts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SLR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18536" y="1706957"/>
            <a:ext cx="163001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  <a:p>
            <a:r>
              <a:rPr kumimoji="1"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r>
              <a:rPr kumimoji="1"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r>
              <a:rPr kumimoji="1"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  <a:p>
            <a:r>
              <a:rPr kumimoji="1"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r>
              <a:rPr kumimoji="1"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870362" y="1371654"/>
            <a:ext cx="1470992" cy="2122805"/>
          </a:xfrm>
          <a:prstGeom prst="rect">
            <a:avLst/>
          </a:prstGeom>
          <a:noFill/>
          <a:ln w="254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S’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$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=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x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99312" y="1371654"/>
            <a:ext cx="1470992" cy="1446550"/>
          </a:xfrm>
          <a:prstGeom prst="rect">
            <a:avLst/>
          </a:prstGeom>
          <a:noFill/>
          <a:ln w="254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x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9310" y="3246637"/>
            <a:ext cx="1470992" cy="430887"/>
          </a:xfrm>
          <a:prstGeom prst="rect">
            <a:avLst/>
          </a:prstGeom>
          <a:noFill/>
          <a:ln w="254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x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70362" y="3925996"/>
            <a:ext cx="1470992" cy="430887"/>
          </a:xfrm>
          <a:prstGeom prst="rect">
            <a:avLst/>
          </a:prstGeom>
          <a:noFill/>
          <a:ln w="254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S’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$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70362" y="4764040"/>
            <a:ext cx="1470992" cy="769441"/>
          </a:xfrm>
          <a:prstGeom prst="rect">
            <a:avLst/>
          </a:prstGeom>
          <a:noFill/>
          <a:ln w="254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=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70362" y="5907595"/>
            <a:ext cx="1470992" cy="430887"/>
          </a:xfrm>
          <a:prstGeom prst="rect">
            <a:avLst/>
          </a:prstGeom>
          <a:noFill/>
          <a:ln w="254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199310" y="4414595"/>
            <a:ext cx="1470992" cy="1446550"/>
          </a:xfrm>
          <a:prstGeom prst="rect">
            <a:avLst/>
          </a:prstGeom>
          <a:noFill/>
          <a:ln w="254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=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x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360270" y="1364209"/>
            <a:ext cx="1470992" cy="430887"/>
          </a:xfrm>
          <a:prstGeom prst="rect">
            <a:avLst/>
          </a:prstGeom>
          <a:noFill/>
          <a:ln w="254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360271" y="3246597"/>
            <a:ext cx="1470992" cy="430887"/>
          </a:xfrm>
          <a:prstGeom prst="rect">
            <a:avLst/>
          </a:prstGeom>
          <a:noFill/>
          <a:ln w="254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360270" y="5924407"/>
            <a:ext cx="1470992" cy="430887"/>
          </a:xfrm>
          <a:prstGeom prst="rect">
            <a:avLst/>
          </a:prstGeom>
          <a:noFill/>
          <a:ln w="254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=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19" name="直线箭头连接符 15"/>
          <p:cNvCxnSpPr>
            <a:stCxn id="7" idx="2"/>
            <a:endCxn id="10" idx="0"/>
          </p:cNvCxnSpPr>
          <p:nvPr/>
        </p:nvCxnSpPr>
        <p:spPr>
          <a:xfrm>
            <a:off x="3605858" y="3495312"/>
            <a:ext cx="0" cy="430684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文本框 19"/>
          <p:cNvSpPr txBox="1"/>
          <p:nvPr/>
        </p:nvSpPr>
        <p:spPr>
          <a:xfrm>
            <a:off x="3308991" y="3469390"/>
            <a:ext cx="2438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</a:t>
            </a:r>
          </a:p>
        </p:txBody>
      </p:sp>
      <p:cxnSp>
        <p:nvCxnSpPr>
          <p:cNvPr id="26" name="直线箭头连接符 25"/>
          <p:cNvCxnSpPr>
            <a:stCxn id="11" idx="2"/>
            <a:endCxn id="12" idx="0"/>
          </p:cNvCxnSpPr>
          <p:nvPr/>
        </p:nvCxnSpPr>
        <p:spPr>
          <a:xfrm>
            <a:off x="3605858" y="5533481"/>
            <a:ext cx="0" cy="374114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直线箭头连接符 28"/>
          <p:cNvCxnSpPr>
            <a:stCxn id="8" idx="2"/>
            <a:endCxn id="9" idx="0"/>
          </p:cNvCxnSpPr>
          <p:nvPr/>
        </p:nvCxnSpPr>
        <p:spPr>
          <a:xfrm flipH="1">
            <a:off x="5934806" y="2818204"/>
            <a:ext cx="2" cy="428433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直线箭头连接符 31"/>
          <p:cNvCxnSpPr>
            <a:stCxn id="13" idx="0"/>
            <a:endCxn id="9" idx="2"/>
          </p:cNvCxnSpPr>
          <p:nvPr/>
        </p:nvCxnSpPr>
        <p:spPr>
          <a:xfrm flipV="1">
            <a:off x="5934806" y="3677524"/>
            <a:ext cx="0" cy="737071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5" name="直线箭头连接符 34"/>
          <p:cNvCxnSpPr>
            <a:stCxn id="13" idx="3"/>
            <a:endCxn id="15" idx="2"/>
          </p:cNvCxnSpPr>
          <p:nvPr/>
        </p:nvCxnSpPr>
        <p:spPr>
          <a:xfrm flipV="1">
            <a:off x="6670302" y="3677484"/>
            <a:ext cx="1425465" cy="146038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" name="直线箭头连接符 37"/>
          <p:cNvCxnSpPr>
            <a:stCxn id="13" idx="3"/>
            <a:endCxn id="17" idx="0"/>
          </p:cNvCxnSpPr>
          <p:nvPr/>
        </p:nvCxnSpPr>
        <p:spPr>
          <a:xfrm>
            <a:off x="6670302" y="5137870"/>
            <a:ext cx="1425464" cy="786537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3" name="直线箭头连接符 42"/>
          <p:cNvCxnSpPr>
            <a:stCxn id="8" idx="3"/>
          </p:cNvCxnSpPr>
          <p:nvPr/>
        </p:nvCxnSpPr>
        <p:spPr>
          <a:xfrm>
            <a:off x="6670304" y="2094929"/>
            <a:ext cx="1310119" cy="1175925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" name="直线箭头连接符 45"/>
          <p:cNvCxnSpPr>
            <a:stCxn id="8" idx="3"/>
            <a:endCxn id="14" idx="2"/>
          </p:cNvCxnSpPr>
          <p:nvPr/>
        </p:nvCxnSpPr>
        <p:spPr>
          <a:xfrm flipV="1">
            <a:off x="6670304" y="1795096"/>
            <a:ext cx="1425462" cy="299833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0" name="直线箭头连接符 49"/>
          <p:cNvCxnSpPr>
            <a:stCxn id="7" idx="3"/>
            <a:endCxn id="8" idx="1"/>
          </p:cNvCxnSpPr>
          <p:nvPr/>
        </p:nvCxnSpPr>
        <p:spPr>
          <a:xfrm flipV="1">
            <a:off x="4341354" y="2094929"/>
            <a:ext cx="857958" cy="338554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4" name="直线箭头连接符 53"/>
          <p:cNvCxnSpPr>
            <a:stCxn id="7" idx="3"/>
            <a:endCxn id="9" idx="1"/>
          </p:cNvCxnSpPr>
          <p:nvPr/>
        </p:nvCxnSpPr>
        <p:spPr>
          <a:xfrm>
            <a:off x="4341354" y="2433483"/>
            <a:ext cx="857956" cy="1028598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7" name="直线箭头连接符 56"/>
          <p:cNvCxnSpPr>
            <a:stCxn id="11" idx="3"/>
            <a:endCxn id="13" idx="1"/>
          </p:cNvCxnSpPr>
          <p:nvPr/>
        </p:nvCxnSpPr>
        <p:spPr>
          <a:xfrm flipV="1">
            <a:off x="4341354" y="5137870"/>
            <a:ext cx="857956" cy="10891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0" name="文本框 59"/>
          <p:cNvSpPr txBox="1"/>
          <p:nvPr/>
        </p:nvSpPr>
        <p:spPr>
          <a:xfrm>
            <a:off x="7017254" y="1607597"/>
            <a:ext cx="2438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7372049" y="2419098"/>
            <a:ext cx="2438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V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7087744" y="4077316"/>
            <a:ext cx="2438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V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7283870" y="5114136"/>
            <a:ext cx="2438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4596797" y="1965481"/>
            <a:ext cx="2438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*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4723867" y="2644726"/>
            <a:ext cx="2438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x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5657201" y="2755852"/>
            <a:ext cx="2438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x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5657201" y="3784449"/>
            <a:ext cx="2438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x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4562184" y="4793940"/>
            <a:ext cx="2438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=</a:t>
            </a:r>
          </a:p>
        </p:txBody>
      </p:sp>
      <p:cxnSp>
        <p:nvCxnSpPr>
          <p:cNvPr id="73" name="直线箭头连接符 72"/>
          <p:cNvCxnSpPr>
            <a:stCxn id="7" idx="1"/>
            <a:endCxn id="11" idx="1"/>
          </p:cNvCxnSpPr>
          <p:nvPr/>
        </p:nvCxnSpPr>
        <p:spPr>
          <a:xfrm rot="10800000" flipV="1">
            <a:off x="2870362" y="2433483"/>
            <a:ext cx="12700" cy="2715278"/>
          </a:xfrm>
          <a:prstGeom prst="curvedConnector3">
            <a:avLst>
              <a:gd name="adj1" fmla="val 1800000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6" name="文本框 75"/>
          <p:cNvSpPr txBox="1"/>
          <p:nvPr/>
        </p:nvSpPr>
        <p:spPr>
          <a:xfrm>
            <a:off x="2353324" y="3575678"/>
            <a:ext cx="2438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V</a:t>
            </a:r>
          </a:p>
        </p:txBody>
      </p:sp>
      <p:cxnSp>
        <p:nvCxnSpPr>
          <p:cNvPr id="77" name="直线箭头连接符 72"/>
          <p:cNvCxnSpPr>
            <a:stCxn id="7" idx="1"/>
            <a:endCxn id="12" idx="1"/>
          </p:cNvCxnSpPr>
          <p:nvPr/>
        </p:nvCxnSpPr>
        <p:spPr>
          <a:xfrm rot="10800000" flipV="1">
            <a:off x="2870362" y="2433483"/>
            <a:ext cx="12700" cy="3689556"/>
          </a:xfrm>
          <a:prstGeom prst="curvedConnector3">
            <a:avLst>
              <a:gd name="adj1" fmla="val 4826087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1" name="文本框 80"/>
          <p:cNvSpPr txBox="1"/>
          <p:nvPr/>
        </p:nvSpPr>
        <p:spPr>
          <a:xfrm>
            <a:off x="1988240" y="3615172"/>
            <a:ext cx="2438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258951" y="4832561"/>
            <a:ext cx="2087245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Follow(E)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=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{$,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=}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258951" y="5376337"/>
            <a:ext cx="11387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b="1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conflict!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9E3F1A-4AB2-2650-891E-299B43A49CDD}"/>
              </a:ext>
            </a:extLst>
          </p:cNvPr>
          <p:cNvSpPr txBox="1"/>
          <p:nvPr/>
        </p:nvSpPr>
        <p:spPr>
          <a:xfrm>
            <a:off x="258951" y="6017657"/>
            <a:ext cx="27163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b="1" dirty="0">
                <a:solidFill>
                  <a:srgbClr val="008000"/>
                </a:solidFill>
                <a:latin typeface="Calibri" panose="020F0502020204030204" charset="0"/>
                <a:cs typeface="Calibri" panose="020F0502020204030204" charset="0"/>
              </a:rPr>
              <a:t>Is r3 really an option?</a:t>
            </a:r>
            <a:endParaRPr kumimoji="1" lang="en-US" altLang="zh-CN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4DEAFC-3CAC-87EA-3598-6F441A1D6F16}"/>
              </a:ext>
            </a:extLst>
          </p:cNvPr>
          <p:cNvSpPr txBox="1"/>
          <p:nvPr/>
        </p:nvSpPr>
        <p:spPr>
          <a:xfrm>
            <a:off x="3131797" y="6424800"/>
            <a:ext cx="5982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b="1" dirty="0">
                <a:solidFill>
                  <a:srgbClr val="008000"/>
                </a:solidFill>
                <a:latin typeface="Calibri" panose="020F0502020204030204" charset="0"/>
                <a:cs typeface="Calibri" panose="020F0502020204030204" charset="0"/>
              </a:rPr>
              <a:t>No.</a:t>
            </a:r>
            <a:endParaRPr kumimoji="1" lang="en-US" altLang="zh-CN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BB9C78-76B0-BA2F-B614-7F8AFA10C313}"/>
              </a:ext>
            </a:extLst>
          </p:cNvPr>
          <p:cNvSpPr/>
          <p:nvPr/>
        </p:nvSpPr>
        <p:spPr>
          <a:xfrm>
            <a:off x="3440135" y="5547599"/>
            <a:ext cx="426951" cy="34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圆角矩形 81"/>
          <p:cNvSpPr/>
          <p:nvPr/>
        </p:nvSpPr>
        <p:spPr>
          <a:xfrm>
            <a:off x="2830605" y="4717744"/>
            <a:ext cx="1550896" cy="856460"/>
          </a:xfrm>
          <a:prstGeom prst="roundRect">
            <a:avLst>
              <a:gd name="adj" fmla="val 0"/>
            </a:avLst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D262F6-C3C3-7A75-9B96-20EC70F94C57}"/>
              </a:ext>
            </a:extLst>
          </p:cNvPr>
          <p:cNvSpPr txBox="1"/>
          <p:nvPr/>
        </p:nvSpPr>
        <p:spPr>
          <a:xfrm>
            <a:off x="258951" y="645557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latin typeface="Calibri" panose="020F0502020204030204" charset="0"/>
                <a:cs typeface="Calibri" panose="020F0502020204030204" charset="0"/>
              </a:rPr>
              <a:t>Consider parse state V . = x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/>
      <p:bldP spid="3" grpId="0"/>
      <p:bldP spid="5" grpId="0"/>
      <p:bldP spid="82" grpId="0" bldLvl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LR(1) Parsing</a:t>
            </a: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315" y="998855"/>
            <a:ext cx="8449945" cy="5490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LR(1)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powerful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than</a:t>
            </a:r>
            <a:r>
              <a:rPr kumimoji="1" lang="zh-CN" altLang="en-US" dirty="0"/>
              <a:t> </a:t>
            </a:r>
            <a:r>
              <a:rPr kumimoji="1" lang="en-US" altLang="zh-CN" dirty="0"/>
              <a:t>SLR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parsing.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>
                <a:solidFill>
                  <a:srgbClr val="0070C0"/>
                </a:solidFill>
              </a:rPr>
              <a:t>Idea: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information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DFA</a:t>
            </a:r>
            <a:r>
              <a:rPr kumimoji="1" lang="zh-CN" altLang="en-US" dirty="0"/>
              <a:t> </a:t>
            </a:r>
            <a:r>
              <a:rPr kumimoji="1" lang="en-US" altLang="zh-CN" dirty="0"/>
              <a:t>so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resolve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conflicts!</a:t>
            </a:r>
          </a:p>
          <a:p>
            <a:r>
              <a:rPr kumimoji="1" lang="en-GB" altLang="zh-CN" dirty="0"/>
              <a:t>An </a:t>
            </a:r>
            <a:r>
              <a:rPr kumimoji="1" lang="en-GB" altLang="zh-CN" dirty="0">
                <a:solidFill>
                  <a:srgbClr val="0070C0"/>
                </a:solidFill>
              </a:rPr>
              <a:t>LR(1) item</a:t>
            </a:r>
            <a:r>
              <a:rPr kumimoji="1" lang="en-GB" altLang="zh-CN" dirty="0"/>
              <a:t> consists of a production, </a:t>
            </a:r>
            <a:r>
              <a:rPr kumimoji="1" lang="en-GB" altLang="zh-CN" dirty="0">
                <a:solidFill>
                  <a:srgbClr val="0070C0"/>
                </a:solidFill>
              </a:rPr>
              <a:t>a</a:t>
            </a:r>
            <a:r>
              <a:rPr kumimoji="1" lang="en-GB" altLang="zh-CN" dirty="0"/>
              <a:t> </a:t>
            </a:r>
            <a:r>
              <a:rPr kumimoji="1" lang="en-GB" altLang="zh-CN" dirty="0">
                <a:solidFill>
                  <a:srgbClr val="0070C0"/>
                </a:solidFill>
              </a:rPr>
              <a:t>right-hand-side position </a:t>
            </a:r>
            <a:r>
              <a:rPr kumimoji="1" lang="en-GB" altLang="zh-CN" dirty="0"/>
              <a:t>(represented by the dot), and </a:t>
            </a:r>
            <a:r>
              <a:rPr kumimoji="1" lang="en-GB" altLang="zh-CN" dirty="0">
                <a:solidFill>
                  <a:srgbClr val="0070C0"/>
                </a:solidFill>
              </a:rPr>
              <a:t>a lookahead symbol</a:t>
            </a:r>
            <a:r>
              <a:rPr kumimoji="1" lang="en-GB" altLang="zh-CN" dirty="0"/>
              <a:t>. </a:t>
            </a:r>
          </a:p>
          <a:p>
            <a:pPr lvl="1"/>
            <a:r>
              <a:rPr kumimoji="1" lang="en-US" altLang="zh-CN" dirty="0">
                <a:solidFill>
                  <a:srgbClr val="0070C0"/>
                </a:solidFill>
              </a:rPr>
              <a:t>(</a:t>
            </a:r>
            <a:r>
              <a:rPr kumimoji="1" lang="en-GB" altLang="zh-CN" dirty="0">
                <a:solidFill>
                  <a:srgbClr val="0070C0"/>
                </a:solidFill>
              </a:rPr>
              <a:t>A → </a:t>
            </a:r>
            <a:r>
              <a:rPr kumimoji="1" lang="el-GR" altLang="zh-CN" dirty="0" err="1">
                <a:solidFill>
                  <a:srgbClr val="0070C0"/>
                </a:solidFill>
              </a:rPr>
              <a:t>α.β</a:t>
            </a:r>
            <a:r>
              <a:rPr kumimoji="1" lang="el-GR" altLang="zh-CN" dirty="0">
                <a:solidFill>
                  <a:srgbClr val="0070C0"/>
                </a:solidFill>
              </a:rPr>
              <a:t>, </a:t>
            </a:r>
            <a:r>
              <a:rPr kumimoji="1" lang="en-GB" altLang="zh-CN" dirty="0">
                <a:solidFill>
                  <a:srgbClr val="0070C0"/>
                </a:solidFill>
              </a:rPr>
              <a:t>x</a:t>
            </a:r>
            <a:r>
              <a:rPr kumimoji="1" lang="en-US" altLang="zh-CN" dirty="0">
                <a:solidFill>
                  <a:srgbClr val="0070C0"/>
                </a:solidFill>
              </a:rPr>
              <a:t>)</a:t>
            </a:r>
          </a:p>
          <a:p>
            <a:pPr lvl="1"/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record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token</a:t>
            </a:r>
            <a:r>
              <a:rPr kumimoji="1" lang="zh-CN" altLang="en-US" dirty="0"/>
              <a:t> </a:t>
            </a:r>
            <a:r>
              <a:rPr kumimoji="1" lang="en-US" altLang="zh-CN" dirty="0"/>
              <a:t>after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b="1" dirty="0">
                <a:solidFill>
                  <a:srgbClr val="0070C0"/>
                </a:solidFill>
              </a:rPr>
              <a:t>whole</a:t>
            </a:r>
            <a:r>
              <a:rPr kumimoji="1" lang="zh-CN" altLang="en-US" b="1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</a:rPr>
              <a:t>RHS</a:t>
            </a:r>
            <a:r>
              <a:rPr kumimoji="1" lang="zh-CN" altLang="en-US" b="1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 in the </a:t>
            </a:r>
            <a:r>
              <a:rPr kumimoji="1" lang="en-US" altLang="zh-CN" b="1" dirty="0">
                <a:solidFill>
                  <a:srgbClr val="0070C0"/>
                </a:solidFill>
              </a:rPr>
              <a:t>current context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A</a:t>
            </a:r>
            <a:r>
              <a:rPr kumimoji="1" lang="en-GB" altLang="zh-CN" dirty="0">
                <a:solidFill>
                  <a:srgbClr val="0070C0"/>
                </a:solidFill>
              </a:rPr>
              <a:t>n item (A → </a:t>
            </a:r>
            <a:r>
              <a:rPr kumimoji="1" lang="el-GR" altLang="zh-CN" dirty="0" err="1">
                <a:solidFill>
                  <a:srgbClr val="0070C0"/>
                </a:solidFill>
              </a:rPr>
              <a:t>α.β</a:t>
            </a:r>
            <a:r>
              <a:rPr kumimoji="1" lang="el-GR" altLang="zh-CN" dirty="0">
                <a:solidFill>
                  <a:srgbClr val="0070C0"/>
                </a:solidFill>
              </a:rPr>
              <a:t>, </a:t>
            </a:r>
            <a:r>
              <a:rPr kumimoji="1" lang="en-GB" altLang="zh-CN" dirty="0">
                <a:solidFill>
                  <a:srgbClr val="0070C0"/>
                </a:solidFill>
              </a:rPr>
              <a:t>x) </a:t>
            </a:r>
            <a:r>
              <a:rPr kumimoji="1" lang="en-GB" altLang="zh-CN" dirty="0"/>
              <a:t>indicates that the sequence </a:t>
            </a:r>
            <a:r>
              <a:rPr kumimoji="1" lang="el-GR" altLang="zh-CN" dirty="0"/>
              <a:t>α </a:t>
            </a:r>
            <a:r>
              <a:rPr kumimoji="1" lang="en-GB" altLang="zh-CN" dirty="0"/>
              <a:t>is on </a:t>
            </a:r>
            <a:r>
              <a:rPr kumimoji="1" lang="en-GB" altLang="zh-CN" dirty="0">
                <a:solidFill>
                  <a:srgbClr val="0070C0"/>
                </a:solidFill>
              </a:rPr>
              <a:t>top of the </a:t>
            </a:r>
            <a:r>
              <a:rPr kumimoji="1" lang="en-US" altLang="zh-CN" dirty="0">
                <a:solidFill>
                  <a:srgbClr val="0070C0"/>
                </a:solidFill>
              </a:rPr>
              <a:t>(symbol)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GB" altLang="zh-CN" dirty="0">
                <a:solidFill>
                  <a:srgbClr val="0070C0"/>
                </a:solidFill>
              </a:rPr>
              <a:t>stack</a:t>
            </a:r>
            <a:r>
              <a:rPr kumimoji="1" lang="en-GB" altLang="zh-CN" dirty="0"/>
              <a:t>, and at the head of the input is a string </a:t>
            </a:r>
            <a:r>
              <a:rPr kumimoji="1" lang="en-GB" altLang="zh-CN" dirty="0">
                <a:solidFill>
                  <a:srgbClr val="0070C0"/>
                </a:solidFill>
              </a:rPr>
              <a:t>derivable from </a:t>
            </a:r>
            <a:r>
              <a:rPr kumimoji="1" lang="el-GR" altLang="zh-CN" dirty="0">
                <a:solidFill>
                  <a:srgbClr val="0070C0"/>
                </a:solidFill>
              </a:rPr>
              <a:t>β</a:t>
            </a:r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r>
              <a:rPr kumimoji="1" lang="en-GB" altLang="zh-CN" dirty="0"/>
              <a:t>. </a:t>
            </a:r>
          </a:p>
          <a:p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item</a:t>
            </a:r>
            <a:r>
              <a:rPr kumimoji="1" lang="zh-CN" altLang="en-US" dirty="0"/>
              <a:t> </a:t>
            </a:r>
            <a:r>
              <a:rPr kumimoji="1" lang="en-GB" altLang="zh-CN" dirty="0">
                <a:solidFill>
                  <a:srgbClr val="0070C0"/>
                </a:solidFill>
              </a:rPr>
              <a:t>(A → </a:t>
            </a:r>
            <a:r>
              <a:rPr kumimoji="1" lang="el-GR" altLang="zh-CN" dirty="0" err="1">
                <a:solidFill>
                  <a:srgbClr val="0070C0"/>
                </a:solidFill>
              </a:rPr>
              <a:t>α.β</a:t>
            </a:r>
            <a:r>
              <a:rPr kumimoji="1" lang="el-GR" altLang="zh-CN" dirty="0">
                <a:solidFill>
                  <a:srgbClr val="0070C0"/>
                </a:solidFill>
              </a:rPr>
              <a:t>, </a:t>
            </a:r>
            <a:r>
              <a:rPr kumimoji="1" lang="en-GB" altLang="zh-CN" dirty="0">
                <a:solidFill>
                  <a:srgbClr val="0070C0"/>
                </a:solidFill>
              </a:rPr>
              <a:t>x)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next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input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token</a:t>
            </a:r>
            <a:r>
              <a:rPr kumimoji="1" lang="zh-CN" altLang="en-US" dirty="0"/>
              <a:t> </a:t>
            </a:r>
            <a:r>
              <a:rPr kumimoji="1" lang="en-US" altLang="zh-CN" dirty="0"/>
              <a:t>should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First(</a:t>
            </a:r>
            <a:r>
              <a:rPr kumimoji="1" lang="el-GR" altLang="zh-CN" dirty="0"/>
              <a:t>β</a:t>
            </a:r>
            <a:r>
              <a:rPr kumimoji="1" lang="en-US" altLang="zh-CN" dirty="0"/>
              <a:t>x) (</a:t>
            </a:r>
            <a:r>
              <a:rPr kumimoji="1" lang="el-GR" altLang="zh-CN" dirty="0"/>
              <a:t>β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empty).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LR(1) Parsing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17170" y="1169035"/>
            <a:ext cx="4514850" cy="3048000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ysClr val="windowText" lastClr="000000"/>
                </a:solidFill>
                <a:latin typeface="Calibri" panose="020F05020202040302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ysClr val="windowText" lastClr="000000"/>
                </a:solidFill>
                <a:latin typeface="Calibri" panose="020F05020202040302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ysClr val="windowText" lastClr="000000"/>
                </a:solidFill>
                <a:latin typeface="Calibri" panose="020F05020202040302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ysClr val="windowText" lastClr="000000"/>
                </a:solidFill>
                <a:latin typeface="Calibri" panose="020F050202020403020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Closure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(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I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) =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   repeat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       for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any item (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A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→ α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.X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Calibri" panose="020F0502020204030204" charset="0"/>
              </a:rPr>
              <a:t>β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, 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z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) in 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I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          for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any production 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X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→ </a:t>
            </a:r>
            <a:r>
              <a:rPr kumimoji="0" lang="en-US" altLang="zh-CN" sz="24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γ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              for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any 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w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∈ FIRST(β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z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)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                 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I ← I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∪ {(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X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→ .</a:t>
            </a:r>
            <a:r>
              <a:rPr kumimoji="0" lang="en-US" altLang="zh-CN" sz="24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γ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, 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w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)}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   until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I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does not change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return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I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charset="0"/>
              </a:rPr>
              <a:t> 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5435" y="4721225"/>
            <a:ext cx="466534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1.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Change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notion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item</a:t>
            </a:r>
          </a:p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2.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When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performing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 err="1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ε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-transitions,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record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context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on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right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(i.e.,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w)</a:t>
            </a:r>
            <a:endParaRPr kumimoji="1" lang="zh-CN" altLang="en-US" sz="22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916805" y="1163320"/>
            <a:ext cx="3922395" cy="2291715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4472C4">
                <a:lumMod val="60000"/>
                <a:lumOff val="40000"/>
              </a:srgbClr>
            </a:solidFill>
            <a:miter lim="800000"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Closure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(</a:t>
            </a:r>
            <a:r>
              <a:rPr lang="en-US" altLang="zh-CN" sz="2400" i="1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I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) =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   repeat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   </a:t>
            </a:r>
            <a:r>
              <a:rPr lang="zh-CN" altLang="en-US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 </a:t>
            </a:r>
            <a:r>
              <a:rPr lang="en-US" altLang="zh-CN" sz="2400" b="1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for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any item </a:t>
            </a:r>
            <a:r>
              <a:rPr lang="en-US" altLang="zh-CN" sz="2400" i="1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A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→ α.</a:t>
            </a:r>
            <a:r>
              <a:rPr lang="en-US" altLang="zh-CN" sz="2400" i="1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X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β in </a:t>
            </a:r>
            <a:r>
              <a:rPr lang="en-US" altLang="zh-CN" sz="2400" i="1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I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       </a:t>
            </a:r>
            <a:r>
              <a:rPr lang="en-US" altLang="zh-CN" sz="2400" b="1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for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any production </a:t>
            </a:r>
            <a:r>
              <a:rPr lang="en-US" altLang="zh-CN" sz="2400" i="1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X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→ </a:t>
            </a:r>
            <a:r>
              <a:rPr lang="en-US" altLang="zh-CN" sz="2400" dirty="0" err="1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γ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       </a:t>
            </a:r>
            <a:r>
              <a:rPr lang="zh-CN" altLang="en-US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 </a:t>
            </a:r>
            <a:r>
              <a:rPr lang="en-US" altLang="zh-CN" sz="2400" i="1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I ← I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  <a:sym typeface="Symbol" panose="05050102010706020507" pitchFamily="2" charset="2"/>
              </a:rPr>
              <a:t>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{</a:t>
            </a:r>
            <a:r>
              <a:rPr lang="en-US" altLang="zh-CN" sz="2400" i="1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X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→ .</a:t>
            </a:r>
            <a:r>
              <a:rPr lang="en-US" altLang="zh-CN" sz="2400" dirty="0" err="1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γ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}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  </a:t>
            </a:r>
            <a:r>
              <a:rPr lang="en-US" altLang="zh-CN" sz="2400" b="1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until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sz="2400" i="1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I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does not change.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  </a:t>
            </a:r>
            <a:r>
              <a:rPr lang="en-US" altLang="zh-CN" sz="2400" b="1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return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sz="2400" i="1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I</a:t>
            </a:r>
            <a:r>
              <a:rPr lang="en-US" altLang="zh-CN" sz="2400" dirty="0">
                <a:solidFill>
                  <a:srgbClr val="E7E6E6">
                    <a:lumMod val="50000"/>
                  </a:srgbClr>
                </a:solidFill>
                <a:ea typeface="宋体" panose="02010600030101010101" pitchFamily="2" charset="-122"/>
                <a:cs typeface="Calibri" panose="020F0502020204030204" charset="0"/>
              </a:rPr>
              <a:t> </a:t>
            </a:r>
            <a:endParaRPr lang="zh-CN" altLang="en-US" sz="2400" dirty="0">
              <a:solidFill>
                <a:srgbClr val="E7E6E6">
                  <a:lumMod val="50000"/>
                </a:srgbClr>
              </a:solidFill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16557" y="3565208"/>
            <a:ext cx="41214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LR(0)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Closure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14131" y="4253755"/>
            <a:ext cx="41214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LR(1)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Closure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069840" y="4786313"/>
            <a:ext cx="3712845" cy="829945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solidFill>
                  <a:sysClr val="windowText" lastClr="000000"/>
                </a:solidFill>
                <a:latin typeface="Calibri" panose="020F0502020204030204" charset="0"/>
                <a:cs typeface="Calibri" panose="020F0502020204030204" charset="0"/>
              </a:rPr>
              <a:t>The start state is the closure of the item  (</a:t>
            </a:r>
            <a:r>
              <a:rPr lang="en-US" altLang="zh-CN" sz="2400" b="0" i="1" dirty="0">
                <a:solidFill>
                  <a:sysClr val="windowText" lastClr="000000"/>
                </a:solidFill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lang="en-US" altLang="zh-CN" sz="2400" b="0" dirty="0">
                <a:solidFill>
                  <a:sysClr val="windowText" lastClr="000000"/>
                </a:solidFill>
                <a:latin typeface="Calibri" panose="020F0502020204030204" charset="0"/>
                <a:cs typeface="Calibri" panose="020F0502020204030204" charset="0"/>
              </a:rPr>
              <a:t>′ → </a:t>
            </a:r>
            <a:r>
              <a:rPr lang="en-US" altLang="zh-CN" sz="2400" b="0" i="1" dirty="0">
                <a:solidFill>
                  <a:sysClr val="windowText" lastClr="000000"/>
                </a:solidFill>
                <a:latin typeface="Calibri" panose="020F0502020204030204" charset="0"/>
                <a:cs typeface="Calibri" panose="020F0502020204030204" charset="0"/>
              </a:rPr>
              <a:t>.S</a:t>
            </a:r>
            <a:r>
              <a:rPr lang="en-US" altLang="zh-CN" sz="2400" b="0" dirty="0">
                <a:solidFill>
                  <a:sysClr val="windowText" lastClr="000000"/>
                </a:solidFill>
                <a:latin typeface="Calibri" panose="020F0502020204030204" charset="0"/>
                <a:cs typeface="Calibri" panose="020F0502020204030204" charset="0"/>
              </a:rPr>
              <a:t> $, ?)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LR(1) Parsing</a:t>
            </a:r>
          </a:p>
        </p:txBody>
      </p:sp>
      <p:sp>
        <p:nvSpPr>
          <p:cNvPr id="3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70840" y="1953547"/>
            <a:ext cx="4245489" cy="1938020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b="1" dirty="0" err="1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Goto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I, X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) =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     </a:t>
            </a: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J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← {}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     for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any item (</a:t>
            </a: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→ α</a:t>
            </a: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.X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Calibri" panose="020F0502020204030204" charset="0"/>
              </a:rPr>
              <a:t>β</a:t>
            </a: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kumimoji="0" lang="en-US" altLang="zh-CN" sz="2400" i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z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) in </a:t>
            </a: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I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  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          add (</a:t>
            </a: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→ α</a:t>
            </a: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X.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Calibri" panose="020F0502020204030204" charset="0"/>
              </a:rPr>
              <a:t>β</a:t>
            </a: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kumimoji="0" lang="en-US" altLang="zh-CN" sz="2400" i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z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) to </a:t>
            </a: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J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     return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zh-CN" sz="2400" b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Closure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J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).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06727" y="4410061"/>
            <a:ext cx="4038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Only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change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notion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item</a:t>
            </a:r>
            <a:endParaRPr kumimoji="1" lang="zh-CN" altLang="en-US" sz="22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876594" y="1961414"/>
            <a:ext cx="3804849" cy="1938020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4472C4">
                <a:lumMod val="60000"/>
                <a:lumOff val="40000"/>
              </a:srgbClr>
            </a:solidFill>
            <a:miter lim="800000"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 err="1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Goto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kumimoji="0" lang="en-US" altLang="zh-CN" sz="2400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I, X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) =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   set </a:t>
            </a:r>
            <a:r>
              <a:rPr kumimoji="0" lang="en-US" altLang="zh-CN" sz="2400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J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to the empty set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    </a:t>
            </a:r>
            <a:r>
              <a:rPr kumimoji="0" lang="en-US" altLang="zh-CN" sz="2400" b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for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any item </a:t>
            </a:r>
            <a:r>
              <a:rPr kumimoji="0" lang="en-US" altLang="zh-CN" sz="2400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→ α</a:t>
            </a:r>
            <a:r>
              <a:rPr kumimoji="0" lang="en-US" altLang="zh-CN" sz="2400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.X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β in </a:t>
            </a:r>
            <a:endParaRPr kumimoji="0" lang="en-US" altLang="zh-CN" sz="2400" i="1" dirty="0">
              <a:solidFill>
                <a:srgbClr val="E7E6E6">
                  <a:lumMod val="50000"/>
                </a:srgb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     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  add </a:t>
            </a:r>
            <a:r>
              <a:rPr kumimoji="0" lang="en-US" altLang="zh-CN" sz="2400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→ α</a:t>
            </a:r>
            <a:r>
              <a:rPr kumimoji="0" lang="en-US" altLang="zh-CN" sz="2400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X.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β to </a:t>
            </a:r>
            <a:r>
              <a:rPr kumimoji="0" lang="en-US" altLang="zh-CN" sz="2400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J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endParaRPr kumimoji="0" lang="en-US" altLang="zh-CN" sz="2400" i="1" dirty="0">
              <a:solidFill>
                <a:srgbClr val="E7E6E6">
                  <a:lumMod val="50000"/>
                </a:srgb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zh-CN" sz="2400" b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   return Closure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kumimoji="0" lang="en-US" altLang="zh-CN" sz="2400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J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) </a:t>
            </a: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4938824" y="3866169"/>
            <a:ext cx="3804849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LR(0)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 err="1">
                <a:latin typeface="Calibri" panose="020F0502020204030204" charset="0"/>
                <a:cs typeface="Calibri" panose="020F0502020204030204" charset="0"/>
              </a:rPr>
              <a:t>Goto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692594" y="3866169"/>
            <a:ext cx="3804849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LR(1)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 err="1">
                <a:latin typeface="Calibri" panose="020F0502020204030204" charset="0"/>
                <a:cs typeface="Calibri" panose="020F0502020204030204" charset="0"/>
              </a:rPr>
              <a:t>Goto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LR(1) Parsing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90830" y="1388110"/>
            <a:ext cx="4069080" cy="1568450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R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← { }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for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each state </a:t>
            </a: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I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in </a:t>
            </a: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   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   for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each item (</a:t>
            </a: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→ α., </a:t>
            </a:r>
            <a:r>
              <a:rPr kumimoji="0" lang="en-US" altLang="zh-CN" sz="2400" i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z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) in </a:t>
            </a: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I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        R ← R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∪{(</a:t>
            </a: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I, </a:t>
            </a:r>
            <a:r>
              <a:rPr kumimoji="0" lang="en-US" altLang="zh-CN" sz="2400" i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z</a:t>
            </a:r>
            <a:r>
              <a:rPr kumimoji="0" lang="en-US" altLang="zh-CN" sz="2400" i="1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, A</a:t>
            </a:r>
            <a:r>
              <a:rPr kumimoji="0" lang="en-US" altLang="zh-CN" sz="24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 → α)}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71279" y="3385079"/>
            <a:ext cx="4038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Add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z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in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items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and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reduce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actions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71779" y="3385079"/>
            <a:ext cx="39762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SLR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Reduce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Actions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3321" y="2980582"/>
            <a:ext cx="39762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LR(1)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Reduce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Actions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4628515" y="1016000"/>
            <a:ext cx="4142740" cy="2306955"/>
          </a:xfrm>
          <a:prstGeom prst="rect">
            <a:avLst/>
          </a:prstGeom>
          <a:noFill/>
          <a:ln w="38100">
            <a:solidFill>
              <a:srgbClr val="4472C4">
                <a:lumMod val="60000"/>
                <a:lumOff val="40000"/>
              </a:srgbClr>
            </a:solidFill>
            <a:miter lim="800000"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R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← {}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b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for 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each state </a:t>
            </a:r>
            <a:r>
              <a:rPr kumimoji="0" lang="en-US" altLang="zh-CN" sz="2400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I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in </a:t>
            </a:r>
            <a:r>
              <a:rPr kumimoji="0" lang="en-US" altLang="zh-CN" sz="2400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b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    for 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each item </a:t>
            </a:r>
            <a:r>
              <a:rPr kumimoji="0" lang="en-US" altLang="zh-CN" sz="2400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→ α. in </a:t>
            </a:r>
            <a:r>
              <a:rPr kumimoji="0" lang="en-US" altLang="zh-CN" sz="2400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I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b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          for 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each token </a:t>
            </a:r>
            <a:r>
              <a:rPr kumimoji="0" lang="en-US" altLang="zh-CN" sz="2400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X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in FOLLOW(</a:t>
            </a:r>
            <a:r>
              <a:rPr kumimoji="0" lang="en-US" altLang="zh-CN" sz="2400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)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             R ← R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∪ {(</a:t>
            </a:r>
            <a:r>
              <a:rPr kumimoji="0" lang="en-US" altLang="zh-CN" sz="2400" i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I, X, A</a:t>
            </a:r>
            <a:r>
              <a:rPr kumimoji="0" lang="en-US" altLang="zh-CN" sz="2400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→ α)}</a:t>
            </a:r>
            <a:r>
              <a:rPr kumimoji="0" lang="en-US" altLang="zh-CN" sz="2400" b="1" dirty="0">
                <a:solidFill>
                  <a:srgbClr val="E7E6E6">
                    <a:lumMod val="50000"/>
                  </a:srgb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47133" y="4404931"/>
            <a:ext cx="8449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 action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(I, z, A → </a:t>
            </a:r>
            <a:r>
              <a:rPr kumimoji="1" lang="el-GR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α)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indicates that in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state I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, on lookahead symbol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z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, the parser will reduce by rule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A → </a:t>
            </a:r>
            <a:r>
              <a:rPr kumimoji="1" lang="el-GR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α</a:t>
            </a:r>
            <a:r>
              <a:rPr kumimoji="1" lang="el-GR" altLang="zh-CN" sz="2400" dirty="0">
                <a:latin typeface="Calibri" panose="020F0502020204030204" charset="0"/>
                <a:cs typeface="Calibri" panose="020F0502020204030204" charset="0"/>
              </a:rPr>
              <a:t>.</a:t>
            </a:r>
            <a:endParaRPr kumimoji="1" lang="en-US" altLang="zh-CN" sz="2400" dirty="0"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Some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tokens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in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Follow(A)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may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not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always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be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valid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in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states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with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zh-CN" sz="2400" i="1" dirty="0"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kumimoji="0" lang="en-US" altLang="zh-CN" sz="2400" dirty="0">
                <a:latin typeface="Calibri" panose="020F0502020204030204" charset="0"/>
                <a:cs typeface="Calibri" panose="020F0502020204030204" charset="0"/>
              </a:rPr>
              <a:t> → α.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lookahead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token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LR(1)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is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more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accurate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than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that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SLR.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LR(1) Parsing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87184" y="1964769"/>
            <a:ext cx="1630017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0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S’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$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1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=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2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3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V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4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x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5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b="1" dirty="0"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200" b="1" dirty="0">
                <a:latin typeface="Calibri" panose="020F0502020204030204" charset="0"/>
                <a:cs typeface="Calibri" panose="020F0502020204030204" charset="0"/>
              </a:rPr>
              <a:t>E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414770" y="3376860"/>
            <a:ext cx="2355183" cy="2546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S’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$        ?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=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    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$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        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$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x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          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$,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=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       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$,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=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          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$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435985" y="3038405"/>
            <a:ext cx="2355183" cy="3057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S’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$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       ?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=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    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$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        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$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x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          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=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       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=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          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$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x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           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$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.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       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$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3475636" y="4114199"/>
            <a:ext cx="1762540" cy="324570"/>
          </a:xfrm>
          <a:prstGeom prst="roundRect">
            <a:avLst/>
          </a:prstGeom>
          <a:noFill/>
          <a:ln w="254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C000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475635" y="4471899"/>
            <a:ext cx="1778853" cy="324570"/>
          </a:xfrm>
          <a:prstGeom prst="round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B050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3491949" y="5081287"/>
            <a:ext cx="1762540" cy="324570"/>
          </a:xfrm>
          <a:prstGeom prst="roundRect">
            <a:avLst/>
          </a:prstGeom>
          <a:noFill/>
          <a:ln w="254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C000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491949" y="5448702"/>
            <a:ext cx="1778853" cy="324570"/>
          </a:xfrm>
          <a:prstGeom prst="round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B050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64AE866-9679-0136-9882-684038177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717" y="770475"/>
            <a:ext cx="3172865" cy="2546985"/>
          </a:xfrm>
          <a:prstGeom prst="rect">
            <a:avLst/>
          </a:prstGeom>
        </p:spPr>
      </p:pic>
      <p:sp>
        <p:nvSpPr>
          <p:cNvPr id="4" name="圆角矩形 3">
            <a:extLst>
              <a:ext uri="{FF2B5EF4-FFF2-40B4-BE49-F238E27FC236}">
                <a16:creationId xmlns:a16="http://schemas.microsoft.com/office/drawing/2014/main" id="{6FAD9318-70F9-2115-C81F-1F6CA4F4AAEA}"/>
              </a:ext>
            </a:extLst>
          </p:cNvPr>
          <p:cNvSpPr/>
          <p:nvPr/>
        </p:nvSpPr>
        <p:spPr>
          <a:xfrm>
            <a:off x="6452604" y="4438769"/>
            <a:ext cx="2113657" cy="317948"/>
          </a:xfrm>
          <a:prstGeom prst="roundRect">
            <a:avLst/>
          </a:prstGeom>
          <a:noFill/>
          <a:ln w="254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C000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EF69509-0857-7C48-E9D8-D69EBB204FA0}"/>
              </a:ext>
            </a:extLst>
          </p:cNvPr>
          <p:cNvSpPr/>
          <p:nvPr/>
        </p:nvSpPr>
        <p:spPr>
          <a:xfrm>
            <a:off x="6452604" y="4780786"/>
            <a:ext cx="2113657" cy="324570"/>
          </a:xfrm>
          <a:prstGeom prst="round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B050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bldLvl="0" animBg="1"/>
      <p:bldP spid="13" grpId="0" bldLvl="0" animBg="1"/>
      <p:bldP spid="15" grpId="0" bldLvl="0" animBg="1"/>
      <p:bldP spid="16" grpId="0" bldLvl="0" animBg="1"/>
      <p:bldP spid="4" grpId="0" bldLvl="0" animBg="1"/>
      <p:bldP spid="5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LR(1) Parsing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95" y="2250918"/>
            <a:ext cx="8547345" cy="4380387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12445" y="846455"/>
            <a:ext cx="45840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This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grammar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is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not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an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SLR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grammar,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but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an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LR(1)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grammar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5410094" y="976630"/>
            <a:ext cx="3561080" cy="1122680"/>
            <a:chOff x="8178" y="1920"/>
            <a:chExt cx="5608" cy="1768"/>
          </a:xfrm>
        </p:grpSpPr>
        <p:sp>
          <p:nvSpPr>
            <p:cNvPr id="19" name="文本框 18"/>
            <p:cNvSpPr txBox="1"/>
            <p:nvPr/>
          </p:nvSpPr>
          <p:spPr>
            <a:xfrm>
              <a:off x="8178" y="1920"/>
              <a:ext cx="2742" cy="176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r>
                <a:rPr kumimoji="1" lang="en-US" altLang="zh-CN" sz="2200" dirty="0">
                  <a:cs typeface="Arial" panose="020B0604020202020204" pitchFamily="34" charset="0"/>
                  <a:sym typeface="+mn-ea"/>
                </a:rPr>
                <a:t>0</a:t>
              </a:r>
              <a:r>
                <a:rPr kumimoji="1" lang="zh-CN" altLang="en-US" sz="2200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S’</a:t>
              </a:r>
              <a:r>
                <a:rPr kumimoji="1" lang="zh-CN" altLang="en-US" sz="2200" b="1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-&gt;</a:t>
              </a:r>
              <a:r>
                <a:rPr kumimoji="1" lang="zh-CN" altLang="en-US" sz="2200" b="1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S</a:t>
              </a:r>
              <a:r>
                <a:rPr kumimoji="1" lang="zh-CN" altLang="en-US" sz="2200" b="1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$</a:t>
              </a:r>
              <a:endParaRPr kumimoji="1" lang="en-US" altLang="zh-CN" sz="2200" b="1" dirty="0">
                <a:cs typeface="Arial" panose="020B0604020202020204" pitchFamily="34" charset="0"/>
              </a:endParaRPr>
            </a:p>
            <a:p>
              <a:r>
                <a:rPr kumimoji="1" lang="en-US" altLang="zh-CN" sz="2200" dirty="0">
                  <a:cs typeface="Arial" panose="020B0604020202020204" pitchFamily="34" charset="0"/>
                  <a:sym typeface="+mn-ea"/>
                </a:rPr>
                <a:t>1</a:t>
              </a:r>
              <a:r>
                <a:rPr kumimoji="1" lang="zh-CN" altLang="en-US" sz="2200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S</a:t>
              </a:r>
              <a:r>
                <a:rPr kumimoji="1" lang="zh-CN" altLang="en-US" sz="2200" b="1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-&gt;</a:t>
              </a:r>
              <a:r>
                <a:rPr kumimoji="1" lang="zh-CN" altLang="en-US" sz="2200" b="1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V</a:t>
              </a:r>
              <a:r>
                <a:rPr kumimoji="1" lang="zh-CN" altLang="en-US" sz="2200" b="1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=</a:t>
              </a:r>
              <a:r>
                <a:rPr kumimoji="1" lang="zh-CN" altLang="en-US" sz="2200" b="1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E</a:t>
              </a:r>
              <a:endParaRPr kumimoji="1" lang="en-US" altLang="zh-CN" sz="2200" b="1" dirty="0">
                <a:cs typeface="Arial" panose="020B0604020202020204" pitchFamily="34" charset="0"/>
              </a:endParaRPr>
            </a:p>
            <a:p>
              <a:r>
                <a:rPr kumimoji="1" lang="en-US" altLang="zh-CN" sz="2200" dirty="0">
                  <a:cs typeface="Arial" panose="020B0604020202020204" pitchFamily="34" charset="0"/>
                  <a:sym typeface="+mn-ea"/>
                </a:rPr>
                <a:t>2</a:t>
              </a:r>
              <a:r>
                <a:rPr kumimoji="1" lang="zh-CN" altLang="en-US" sz="2200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S</a:t>
              </a:r>
              <a:r>
                <a:rPr kumimoji="1" lang="zh-CN" altLang="en-US" sz="2200" b="1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-&gt;</a:t>
              </a:r>
              <a:r>
                <a:rPr kumimoji="1" lang="zh-CN" altLang="en-US" sz="2200" b="1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E</a:t>
              </a:r>
              <a:endParaRPr kumimoji="1" lang="en-US" altLang="zh-CN" sz="2200" b="1" dirty="0">
                <a:cs typeface="Arial" panose="020B0604020202020204" pitchFamily="34" charset="0"/>
              </a:endParaRPr>
            </a:p>
            <a:p>
              <a:endParaRPr kumimoji="1" lang="en-US" altLang="zh-CN" sz="2200" b="1" dirty="0"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920" y="1920"/>
              <a:ext cx="2866" cy="174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kumimoji="1" lang="en-US" altLang="zh-CN" sz="2200" dirty="0">
                  <a:cs typeface="Arial" panose="020B0604020202020204" pitchFamily="34" charset="0"/>
                  <a:sym typeface="+mn-ea"/>
                </a:rPr>
                <a:t>3</a:t>
              </a:r>
              <a:r>
                <a:rPr kumimoji="1" lang="zh-CN" altLang="en-US" sz="2200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E</a:t>
              </a:r>
              <a:r>
                <a:rPr kumimoji="1" lang="zh-CN" altLang="en-US" sz="2200" b="1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-&gt;</a:t>
              </a:r>
              <a:r>
                <a:rPr kumimoji="1" lang="zh-CN" altLang="en-US" sz="2200" b="1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V</a:t>
              </a:r>
              <a:endParaRPr kumimoji="1" lang="en-US" altLang="zh-CN" sz="2200" b="1" dirty="0">
                <a:cs typeface="Arial" panose="020B0604020202020204" pitchFamily="34" charset="0"/>
              </a:endParaRPr>
            </a:p>
            <a:p>
              <a:r>
                <a:rPr kumimoji="1" lang="en-US" altLang="zh-CN" sz="2200" dirty="0">
                  <a:cs typeface="Arial" panose="020B0604020202020204" pitchFamily="34" charset="0"/>
                  <a:sym typeface="+mn-ea"/>
                </a:rPr>
                <a:t>4</a:t>
              </a:r>
              <a:r>
                <a:rPr kumimoji="1" lang="zh-CN" altLang="en-US" sz="2200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V</a:t>
              </a:r>
              <a:r>
                <a:rPr kumimoji="1" lang="zh-CN" altLang="en-US" sz="2200" b="1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-&gt;</a:t>
              </a:r>
              <a:r>
                <a:rPr kumimoji="1" lang="zh-CN" altLang="en-US" sz="2200" b="1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x</a:t>
              </a:r>
              <a:endParaRPr kumimoji="1" lang="en-US" altLang="zh-CN" sz="2200" b="1" dirty="0">
                <a:cs typeface="Arial" panose="020B0604020202020204" pitchFamily="34" charset="0"/>
              </a:endParaRPr>
            </a:p>
            <a:p>
              <a:r>
                <a:rPr kumimoji="1" lang="en-US" altLang="zh-CN" sz="2200" dirty="0">
                  <a:cs typeface="Arial" panose="020B0604020202020204" pitchFamily="34" charset="0"/>
                  <a:sym typeface="+mn-ea"/>
                </a:rPr>
                <a:t>5</a:t>
              </a:r>
              <a:r>
                <a:rPr kumimoji="1" lang="zh-CN" altLang="en-US" sz="2200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V</a:t>
              </a:r>
              <a:r>
                <a:rPr kumimoji="1" lang="zh-CN" altLang="en-US" sz="2200" b="1" dirty="0">
                  <a:cs typeface="Arial" panose="020B0604020202020204" pitchFamily="34" charset="0"/>
                  <a:sym typeface="+mn-ea"/>
                </a:rPr>
                <a:t>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-&gt;</a:t>
              </a:r>
              <a:r>
                <a:rPr kumimoji="1" lang="zh-CN" altLang="en-US" sz="2200" b="1" dirty="0">
                  <a:cs typeface="Arial" panose="020B0604020202020204" pitchFamily="34" charset="0"/>
                  <a:sym typeface="+mn-ea"/>
                </a:rPr>
                <a:t> * </a:t>
              </a:r>
              <a:r>
                <a:rPr kumimoji="1" lang="en-US" altLang="zh-CN" sz="2200" b="1" dirty="0">
                  <a:cs typeface="Arial" panose="020B0604020202020204" pitchFamily="34" charset="0"/>
                  <a:sym typeface="+mn-ea"/>
                </a:rPr>
                <a:t>E</a:t>
              </a:r>
            </a:p>
          </p:txBody>
        </p:sp>
      </p:grpSp>
      <p:sp>
        <p:nvSpPr>
          <p:cNvPr id="3" name="圆角矩形 2">
            <a:extLst>
              <a:ext uri="{FF2B5EF4-FFF2-40B4-BE49-F238E27FC236}">
                <a16:creationId xmlns:a16="http://schemas.microsoft.com/office/drawing/2014/main" id="{D2DA068E-ED09-92EB-3D9E-B51E444ED91E}"/>
              </a:ext>
            </a:extLst>
          </p:cNvPr>
          <p:cNvSpPr/>
          <p:nvPr/>
        </p:nvSpPr>
        <p:spPr>
          <a:xfrm>
            <a:off x="3368096" y="2635665"/>
            <a:ext cx="2042082" cy="412345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E74D8FF8-AC52-326C-2F49-B7F076A54626}"/>
              </a:ext>
            </a:extLst>
          </p:cNvPr>
          <p:cNvSpPr/>
          <p:nvPr/>
        </p:nvSpPr>
        <p:spPr>
          <a:xfrm>
            <a:off x="5532733" y="2429492"/>
            <a:ext cx="410831" cy="412345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016FEF4-40FC-E75F-C3F3-69A947FD5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0" y="5641200"/>
            <a:ext cx="380433" cy="2656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6434C52-A73A-AF5A-0579-558259712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0" y="6215718"/>
            <a:ext cx="380433" cy="2656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LR(1) Parsing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914400"/>
            <a:ext cx="5631815" cy="54559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0245" y="2062480"/>
            <a:ext cx="1664970" cy="2210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  <a:p>
            <a:r>
              <a:rPr kumimoji="1"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r>
              <a:rPr kumimoji="1"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r>
              <a:rPr kumimoji="1"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  <a:p>
            <a:r>
              <a:rPr kumimoji="1"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r>
              <a:rPr kumimoji="1"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LR(1) Parsing</a:t>
            </a: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361243" y="772372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GB" altLang="zh-CN" dirty="0"/>
              <a:t>LR(1) parsing tables can be very large, with many states.</a:t>
            </a:r>
            <a:endParaRPr kumimoji="1" lang="en-US" altLang="zh-CN" dirty="0"/>
          </a:p>
          <a:p>
            <a:r>
              <a:rPr kumimoji="1" lang="en-US" altLang="zh-CN" dirty="0">
                <a:solidFill>
                  <a:srgbClr val="0070C0"/>
                </a:solidFill>
              </a:rPr>
              <a:t>LALR(1)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parsing: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GB" altLang="zh-CN" dirty="0"/>
              <a:t>made by merging any two states whose items are identical except for lookahead sets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LR(1)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table.</a:t>
            </a:r>
          </a:p>
          <a:p>
            <a:pPr lvl="1"/>
            <a:r>
              <a:rPr kumimoji="1" lang="en-US" altLang="zh-CN" dirty="0"/>
              <a:t>Look-Ahead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LR(1)</a:t>
            </a:r>
          </a:p>
          <a:p>
            <a:pPr marL="0" indent="0">
              <a:buNone/>
            </a:pPr>
            <a:endParaRPr kumimoji="1"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35" y="2929915"/>
            <a:ext cx="7222435" cy="370139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1192695" y="5370689"/>
            <a:ext cx="1762540" cy="1161225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943600" y="4901932"/>
            <a:ext cx="1762540" cy="1161225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448879" y="4091855"/>
            <a:ext cx="1762540" cy="478738"/>
          </a:xfrm>
          <a:prstGeom prst="roundRect">
            <a:avLst/>
          </a:prstGeom>
          <a:noFill/>
          <a:ln w="254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C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475383" y="5650458"/>
            <a:ext cx="1762540" cy="478738"/>
          </a:xfrm>
          <a:prstGeom prst="roundRect">
            <a:avLst/>
          </a:prstGeom>
          <a:noFill/>
          <a:ln w="254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C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491949" y="4635299"/>
            <a:ext cx="1762540" cy="478738"/>
          </a:xfrm>
          <a:prstGeom prst="round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B05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475383" y="5153500"/>
            <a:ext cx="1762540" cy="478738"/>
          </a:xfrm>
          <a:prstGeom prst="round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C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505201" y="6154904"/>
            <a:ext cx="1762540" cy="478738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70C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917096" y="6179874"/>
            <a:ext cx="1762540" cy="478738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70C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FFE1E3-05D9-A1DD-195F-AA195C431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207" y="5781214"/>
            <a:ext cx="380433" cy="26569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76CA3D6-2D66-D581-162A-423EFCBD6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207" y="6259952"/>
            <a:ext cx="380433" cy="2656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LR(1) Parsing</a:t>
            </a: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47345" y="4711700"/>
            <a:ext cx="8449945" cy="1915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sz="2400" dirty="0"/>
              <a:t>For some grammars, the </a:t>
            </a:r>
            <a:r>
              <a:rPr kumimoji="1" lang="en-US" altLang="zh-CN" sz="2400" dirty="0">
                <a:solidFill>
                  <a:srgbClr val="0070C0"/>
                </a:solidFill>
              </a:rPr>
              <a:t>LALR(1) table</a:t>
            </a:r>
            <a:r>
              <a:rPr kumimoji="1" lang="en-US" altLang="zh-CN" sz="2400" dirty="0"/>
              <a:t> contains </a:t>
            </a:r>
            <a:r>
              <a:rPr kumimoji="1" lang="en-US" altLang="zh-CN" sz="2400" dirty="0">
                <a:solidFill>
                  <a:srgbClr val="0070C0"/>
                </a:solidFill>
              </a:rPr>
              <a:t>reduce-reduce conﬂicts</a:t>
            </a:r>
            <a:r>
              <a:rPr kumimoji="1" lang="en-US" altLang="zh-CN" sz="2400" dirty="0"/>
              <a:t> where the LR(1) table has none, but in practice the difference matters little.</a:t>
            </a:r>
          </a:p>
          <a:p>
            <a:r>
              <a:rPr kumimoji="1" lang="en-US" altLang="zh-CN" sz="2400" dirty="0"/>
              <a:t>LALR(1) parsing table requires </a:t>
            </a:r>
            <a:r>
              <a:rPr kumimoji="1" lang="en-US" altLang="zh-CN" sz="2400" dirty="0">
                <a:solidFill>
                  <a:srgbClr val="0070C0"/>
                </a:solidFill>
              </a:rPr>
              <a:t>less memory</a:t>
            </a:r>
            <a:r>
              <a:rPr kumimoji="1" lang="zh-CN" altLang="en-US" sz="2400" dirty="0">
                <a:solidFill>
                  <a:srgbClr val="0070C0"/>
                </a:solidFill>
              </a:rPr>
              <a:t> </a:t>
            </a:r>
            <a:r>
              <a:rPr kumimoji="1" lang="en-GB" altLang="zh-CN" sz="2400" dirty="0"/>
              <a:t>to represent than the LR(1) table.</a:t>
            </a:r>
            <a:endParaRPr kumimoji="1" lang="en-US" altLang="zh-CN" sz="24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95" y="810895"/>
            <a:ext cx="8159750" cy="3778885"/>
          </a:xfrm>
          <a:prstGeom prst="rect">
            <a:avLst/>
          </a:prstGeom>
        </p:spPr>
      </p:pic>
      <p:sp>
        <p:nvSpPr>
          <p:cNvPr id="4" name="圆角矩形 3">
            <a:extLst>
              <a:ext uri="{FF2B5EF4-FFF2-40B4-BE49-F238E27FC236}">
                <a16:creationId xmlns:a16="http://schemas.microsoft.com/office/drawing/2014/main" id="{DB8682EB-9B11-1180-09B3-8F2C9D0160AF}"/>
              </a:ext>
            </a:extLst>
          </p:cNvPr>
          <p:cNvSpPr/>
          <p:nvPr/>
        </p:nvSpPr>
        <p:spPr>
          <a:xfrm>
            <a:off x="523520" y="2340678"/>
            <a:ext cx="2219728" cy="250144"/>
          </a:xfrm>
          <a:prstGeom prst="roundRect">
            <a:avLst/>
          </a:prstGeom>
          <a:noFill/>
          <a:ln w="254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C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1D34B5D-D257-9572-3543-A5046522F23D}"/>
              </a:ext>
            </a:extLst>
          </p:cNvPr>
          <p:cNvSpPr/>
          <p:nvPr/>
        </p:nvSpPr>
        <p:spPr>
          <a:xfrm>
            <a:off x="523520" y="3443480"/>
            <a:ext cx="2219728" cy="250144"/>
          </a:xfrm>
          <a:prstGeom prst="roundRect">
            <a:avLst/>
          </a:prstGeom>
          <a:noFill/>
          <a:ln w="254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C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AF4A6F6-86E3-08DB-3EF5-CF6C123CEB21}"/>
              </a:ext>
            </a:extLst>
          </p:cNvPr>
          <p:cNvSpPr/>
          <p:nvPr/>
        </p:nvSpPr>
        <p:spPr>
          <a:xfrm>
            <a:off x="5181584" y="2340678"/>
            <a:ext cx="2057346" cy="250144"/>
          </a:xfrm>
          <a:prstGeom prst="roundRect">
            <a:avLst/>
          </a:prstGeom>
          <a:noFill/>
          <a:ln w="254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C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AFAE25A-8FAD-4FF3-FAF5-81DDF64E3600}"/>
              </a:ext>
            </a:extLst>
          </p:cNvPr>
          <p:cNvSpPr/>
          <p:nvPr/>
        </p:nvSpPr>
        <p:spPr>
          <a:xfrm>
            <a:off x="523520" y="2109751"/>
            <a:ext cx="3819886" cy="250144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C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5B21C3D-9EBF-8639-AE5E-9B42F5A9F5FD}"/>
              </a:ext>
            </a:extLst>
          </p:cNvPr>
          <p:cNvSpPr/>
          <p:nvPr/>
        </p:nvSpPr>
        <p:spPr>
          <a:xfrm>
            <a:off x="506094" y="3693624"/>
            <a:ext cx="3837311" cy="250144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C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9D889FE-0741-99E3-F75C-A65FD3961BD4}"/>
              </a:ext>
            </a:extLst>
          </p:cNvPr>
          <p:cNvSpPr/>
          <p:nvPr/>
        </p:nvSpPr>
        <p:spPr>
          <a:xfrm>
            <a:off x="5181583" y="2090534"/>
            <a:ext cx="3484261" cy="250144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C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  <p:bldP spid="6" grpId="0" bldLvl="0" animBg="1"/>
      <p:bldP spid="6" grpId="1" animBg="1"/>
      <p:bldP spid="7" grpId="0" bldLvl="0" animBg="1"/>
      <p:bldP spid="7" grpId="1" animBg="1"/>
      <p:bldP spid="5" grpId="0" bldLvl="0" animBg="1"/>
      <p:bldP spid="8" grpId="0" bldLvl="0" animBg="1"/>
      <p:bldP spid="9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dirty="0">
                <a:ea typeface="宋体" panose="02010600030101010101" pitchFamily="2" charset="-122"/>
                <a:sym typeface="+mn-ea"/>
              </a:rPr>
              <a:t>Hierarchy of Grammar Classes</a:t>
            </a:r>
            <a:endParaRPr lang="en-US" dirty="0" err="1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13266" y="980661"/>
            <a:ext cx="838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The relationship between several classes of grammars: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02" t="8566" r="19444" b="19432"/>
          <a:stretch>
            <a:fillRect/>
          </a:stretch>
        </p:blipFill>
        <p:spPr bwMode="auto">
          <a:xfrm>
            <a:off x="500201" y="1591387"/>
            <a:ext cx="8229600" cy="470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8C3486C-918F-505D-F623-981E06E7C395}"/>
              </a:ext>
            </a:extLst>
          </p:cNvPr>
          <p:cNvSpPr txBox="1"/>
          <p:nvPr/>
        </p:nvSpPr>
        <p:spPr>
          <a:xfrm>
            <a:off x="474005" y="5992004"/>
            <a:ext cx="8281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LL(0) &lt;= LL(1) &lt;= LL(k), LL(k) &lt;= LR(k),</a:t>
            </a:r>
          </a:p>
          <a:p>
            <a:pPr algn="ctr"/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LR(0) &lt;= SLR &lt;= LALR(1) &lt;= LR(1) &lt;= LR(k)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F71307-6C38-6DEE-C92D-EE1DB5F86D1E}"/>
              </a:ext>
            </a:extLst>
          </p:cNvPr>
          <p:cNvSpPr txBox="1"/>
          <p:nvPr/>
        </p:nvSpPr>
        <p:spPr>
          <a:xfrm>
            <a:off x="30936" y="1481083"/>
            <a:ext cx="4584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CFG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kumimoji="1" lang="en-US" altLang="zh-CN" dirty="0">
                <a:sym typeface="+mn-ea"/>
              </a:rPr>
              <a:t>LR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of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Ambiguous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</a:t>
            </a:r>
            <a:endParaRPr lang="en-US" dirty="0" err="1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84793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Most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programming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languages</a:t>
            </a:r>
            <a:r>
              <a:rPr kumimoji="1" lang="zh-CN" altLang="en-US" dirty="0"/>
              <a:t> </a:t>
            </a:r>
            <a:r>
              <a:rPr kumimoji="1" lang="en-US" altLang="zh-CN" dirty="0"/>
              <a:t>have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grammar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r>
              <a:rPr kumimoji="1" lang="zh-CN" altLang="en-US" dirty="0"/>
              <a:t> </a:t>
            </a:r>
            <a:r>
              <a:rPr kumimoji="1" lang="en-US" altLang="zh-CN" dirty="0"/>
              <a:t>such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GB" altLang="zh-CN" b="1" dirty="0"/>
              <a:t>if a then if b then s1 else s2</a:t>
            </a:r>
          </a:p>
          <a:p>
            <a:endParaRPr kumimoji="1" lang="en-GB" altLang="zh-CN" b="1" dirty="0"/>
          </a:p>
          <a:p>
            <a:endParaRPr kumimoji="1" lang="en-GB" altLang="zh-CN" b="1" dirty="0"/>
          </a:p>
          <a:p>
            <a:r>
              <a:rPr kumimoji="1" lang="en-GB" altLang="zh-CN" dirty="0"/>
              <a:t>In most programming languages, an </a:t>
            </a:r>
            <a:r>
              <a:rPr kumimoji="1" lang="en-GB" altLang="zh-CN" i="1" dirty="0">
                <a:solidFill>
                  <a:srgbClr val="0070C0"/>
                </a:solidFill>
              </a:rPr>
              <a:t>else</a:t>
            </a:r>
            <a:r>
              <a:rPr kumimoji="1" lang="en-GB" altLang="zh-CN" dirty="0"/>
              <a:t> must match the most recent possible </a:t>
            </a:r>
            <a:r>
              <a:rPr kumimoji="1" lang="en-GB" altLang="zh-CN" i="1" dirty="0">
                <a:solidFill>
                  <a:srgbClr val="0070C0"/>
                </a:solidFill>
              </a:rPr>
              <a:t>then</a:t>
            </a:r>
            <a:r>
              <a:rPr kumimoji="1" lang="en-GB" altLang="zh-CN" dirty="0"/>
              <a:t>, so interpretation (1) is preferred.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086102" y="1362930"/>
            <a:ext cx="3062908" cy="1202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ysClr val="windowText" lastClr="000000"/>
                </a:solidFill>
                <a:latin typeface="Calibri" panose="020F05020202040302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ysClr val="windowText" lastClr="000000"/>
                </a:solidFill>
                <a:latin typeface="Calibri" panose="020F05020202040302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ysClr val="windowText" lastClr="000000"/>
                </a:solidFill>
                <a:latin typeface="Calibri" panose="020F05020202040302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ysClr val="windowText" lastClr="000000"/>
                </a:solidFill>
                <a:latin typeface="Calibri" panose="020F0502020204030204" charset="0"/>
              </a:defRPr>
            </a:lvl9pPr>
          </a:lstStyle>
          <a:p>
            <a:pPr defTabSz="914400" eaLnBrk="1" hangingPunct="1">
              <a:lnSpc>
                <a:spcPct val="90000"/>
              </a:lnSpc>
              <a:buFontTx/>
              <a:buNone/>
            </a:pPr>
            <a:r>
              <a:rPr kumimoji="0" lang="en-US" altLang="zh-CN" sz="2400" b="1" i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 if </a:t>
            </a:r>
            <a:r>
              <a:rPr kumimoji="0" lang="en-US" altLang="zh-CN" sz="2400" b="1" i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then </a:t>
            </a:r>
            <a:r>
              <a:rPr kumimoji="0" lang="en-US" altLang="zh-CN" sz="2400" b="1" i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else </a:t>
            </a:r>
            <a:r>
              <a:rPr kumimoji="0" lang="en-US" altLang="zh-CN" sz="2400" b="1" i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defTabSz="914400" eaLnBrk="1" hangingPunct="1">
              <a:lnSpc>
                <a:spcPct val="90000"/>
              </a:lnSpc>
              <a:buFontTx/>
              <a:buNone/>
            </a:pPr>
            <a:r>
              <a:rPr kumimoji="0" lang="en-US" altLang="zh-CN" sz="2400" b="1" i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 if </a:t>
            </a:r>
            <a:r>
              <a:rPr kumimoji="0" lang="en-US" altLang="zh-CN" sz="2400" b="1" i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then </a:t>
            </a:r>
            <a:r>
              <a:rPr kumimoji="0" lang="en-US" altLang="zh-CN" sz="2400" b="1" i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defTabSz="914400" eaLnBrk="1" hangingPunct="1">
              <a:lnSpc>
                <a:spcPct val="90000"/>
              </a:lnSpc>
              <a:buFontTx/>
              <a:buNone/>
            </a:pPr>
            <a:r>
              <a:rPr kumimoji="0" lang="en-US" altLang="zh-CN" sz="2400" b="1" i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 other</a:t>
            </a:r>
            <a:endParaRPr kumimoji="0" lang="zh-CN" altLang="en-US" sz="2400" b="1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993641" y="3297246"/>
            <a:ext cx="515671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AutoNum type="arabicParenBoth"/>
            </a:pPr>
            <a:r>
              <a:rPr lang="zh-CN" altLang="en-US" sz="2400" b="0" dirty="0">
                <a:solidFill>
                  <a:srgbClr val="000000"/>
                </a:solidFill>
                <a:latin typeface="Calibri" panose="020F0502020204030204" charset="0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rgbClr val="000000"/>
                </a:solidFill>
                <a:latin typeface="Calibri" panose="020F0502020204030204" charset="0"/>
                <a:cs typeface="Times New Roman" panose="02020603050405020304" pitchFamily="18" charset="0"/>
              </a:rPr>
              <a:t>if a then { if b then s1 else s2 }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0" dirty="0">
                <a:solidFill>
                  <a:srgbClr val="000000"/>
                </a:solidFill>
                <a:latin typeface="Calibri" panose="020F0502020204030204" charset="0"/>
                <a:cs typeface="Times New Roman" panose="02020603050405020304" pitchFamily="18" charset="0"/>
              </a:rPr>
              <a:t>(2) if a then { if b then s1 } else s2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791" y="5110022"/>
            <a:ext cx="4381500" cy="10287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370791" y="6138722"/>
            <a:ext cx="4381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b="1" dirty="0">
                <a:solidFill>
                  <a:srgbClr val="0070C0"/>
                </a:solidFill>
              </a:rPr>
              <a:t>Shift-Reduce</a:t>
            </a:r>
            <a:r>
              <a:rPr kumimoji="1" lang="zh-CN" altLang="en-US" sz="2200" b="1" dirty="0">
                <a:solidFill>
                  <a:srgbClr val="0070C0"/>
                </a:solidFill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</a:rPr>
              <a:t>Conflict</a:t>
            </a:r>
            <a:endParaRPr kumimoji="1" lang="zh-CN" altLang="en-US" sz="2200" b="1" dirty="0">
              <a:solidFill>
                <a:srgbClr val="0070C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88968" y="5110022"/>
            <a:ext cx="17227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(2)</a:t>
            </a:r>
            <a:endParaRPr kumimoji="1" lang="zh-CN" altLang="en-US" sz="22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288968" y="5609670"/>
            <a:ext cx="17227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(1)</a:t>
            </a:r>
            <a:endParaRPr kumimoji="1" lang="zh-CN" altLang="en-US" sz="2200" dirty="0"/>
          </a:p>
        </p:txBody>
      </p:sp>
      <p:sp>
        <p:nvSpPr>
          <p:cNvPr id="13" name="右箭头 12"/>
          <p:cNvSpPr/>
          <p:nvPr/>
        </p:nvSpPr>
        <p:spPr>
          <a:xfrm>
            <a:off x="5838006" y="5732115"/>
            <a:ext cx="365246" cy="200720"/>
          </a:xfrm>
          <a:prstGeom prst="righ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5832190" y="5225105"/>
            <a:ext cx="365246" cy="200720"/>
          </a:xfrm>
          <a:prstGeom prst="righ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kumimoji="1" lang="en-US" altLang="zh-CN" dirty="0">
                <a:sym typeface="+mn-ea"/>
              </a:rPr>
              <a:t>LR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of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Ambiguous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</a:t>
            </a:r>
            <a:endParaRPr lang="en-US" dirty="0" err="1"/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285678" y="847936"/>
            <a:ext cx="8610037" cy="5858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GB" altLang="zh-CN" dirty="0"/>
              <a:t>The ambiguity can be eliminated by introducing auxiliary non</a:t>
            </a:r>
            <a:r>
              <a:rPr kumimoji="1" lang="en-US" altLang="zh-CN" dirty="0"/>
              <a:t>-</a:t>
            </a:r>
            <a:r>
              <a:rPr kumimoji="1" lang="en-GB" altLang="zh-CN" dirty="0"/>
              <a:t>terminal</a:t>
            </a:r>
            <a:r>
              <a:rPr kumimoji="1" lang="en-US" altLang="zh-CN" dirty="0"/>
              <a:t>s</a:t>
            </a:r>
            <a:r>
              <a:rPr kumimoji="1" lang="en-GB" altLang="zh-CN" dirty="0"/>
              <a:t> </a:t>
            </a:r>
            <a:r>
              <a:rPr kumimoji="1" lang="en-GB" altLang="zh-CN" dirty="0">
                <a:solidFill>
                  <a:srgbClr val="0070C0"/>
                </a:solidFill>
              </a:rPr>
              <a:t>M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(matched)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U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(unmatched).</a:t>
            </a:r>
            <a:endParaRPr kumimoji="1" lang="en-GB" altLang="zh-CN" dirty="0">
              <a:solidFill>
                <a:schemeClr val="tx1"/>
              </a:solidFill>
            </a:endParaRPr>
          </a:p>
          <a:p>
            <a:endParaRPr kumimoji="1" lang="en-GB" altLang="zh-CN" dirty="0">
              <a:solidFill>
                <a:srgbClr val="0070C0"/>
              </a:solidFill>
            </a:endParaRPr>
          </a:p>
          <a:p>
            <a:endParaRPr kumimoji="1" lang="en-GB" altLang="zh-CN" dirty="0">
              <a:solidFill>
                <a:srgbClr val="0070C0"/>
              </a:solidFill>
            </a:endParaRPr>
          </a:p>
          <a:p>
            <a:endParaRPr kumimoji="1" lang="en-GB" altLang="zh-CN" dirty="0">
              <a:solidFill>
                <a:srgbClr val="0070C0"/>
              </a:solidFill>
            </a:endParaRPr>
          </a:p>
          <a:p>
            <a:endParaRPr kumimoji="1" lang="en-GB" altLang="zh-CN" dirty="0">
              <a:solidFill>
                <a:srgbClr val="0070C0"/>
              </a:solidFill>
            </a:endParaRPr>
          </a:p>
          <a:p>
            <a:endParaRPr kumimoji="1" lang="en-GB" altLang="zh-CN" dirty="0">
              <a:solidFill>
                <a:srgbClr val="0070C0"/>
              </a:solidFill>
            </a:endParaRPr>
          </a:p>
          <a:p>
            <a:r>
              <a:rPr kumimoji="1" lang="en-US" altLang="zh-CN" dirty="0"/>
              <a:t>Or leave</a:t>
            </a:r>
            <a:r>
              <a:rPr kumimoji="1" lang="zh-CN" altLang="en-US" dirty="0"/>
              <a:t> </a:t>
            </a:r>
            <a:r>
              <a:rPr kumimoji="1" lang="en-GB" altLang="zh-CN" dirty="0"/>
              <a:t>the grammar unchanged. When constructing the parsing table, this conflict should be resolved by </a:t>
            </a:r>
            <a:r>
              <a:rPr kumimoji="1" lang="en-GB" altLang="zh-CN" i="1" dirty="0"/>
              <a:t>shifting</a:t>
            </a:r>
            <a:r>
              <a:rPr kumimoji="1" lang="zh-CN" altLang="en-US" dirty="0"/>
              <a:t> </a:t>
            </a:r>
            <a:r>
              <a:rPr kumimoji="1" lang="en-GB" altLang="zh-CN" dirty="0"/>
              <a:t>(</a:t>
            </a:r>
            <a:r>
              <a:rPr kumimoji="1" lang="en-GB" altLang="zh-CN" dirty="0">
                <a:solidFill>
                  <a:srgbClr val="0070C0"/>
                </a:solidFill>
              </a:rPr>
              <a:t>prefer interpretation (1)</a:t>
            </a:r>
            <a:r>
              <a:rPr kumimoji="1" lang="en-GB" altLang="zh-CN" dirty="0"/>
              <a:t>).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Caution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GB" altLang="zh-CN" dirty="0"/>
              <a:t>Most shift-reduce conﬂicts, and probably all reduce-reduce conﬂicts,</a:t>
            </a:r>
            <a:r>
              <a:rPr kumimoji="1" lang="zh-CN" altLang="en-US" dirty="0"/>
              <a:t> </a:t>
            </a:r>
            <a:r>
              <a:rPr kumimoji="1" lang="en-GB" altLang="zh-CN" dirty="0"/>
              <a:t>are symptoms of an ill-speciﬁed grammar, and they should be resolved by eliminating ambiguities.</a:t>
            </a:r>
          </a:p>
          <a:p>
            <a:endParaRPr kumimoji="1" lang="en-GB" altLang="zh-CN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85678" y="1656737"/>
            <a:ext cx="381000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905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ysClr val="windowText" lastClr="000000"/>
                </a:solidFill>
              </a:rPr>
              <a:t>   S</a:t>
            </a:r>
            <a:r>
              <a:rPr lang="en-US" altLang="zh-CN" sz="2400" dirty="0">
                <a:solidFill>
                  <a:sysClr val="windowText" lastClr="000000"/>
                </a:solidFill>
              </a:rPr>
              <a:t> → </a:t>
            </a:r>
            <a:r>
              <a:rPr lang="en-US" altLang="zh-CN" sz="2400" i="1" dirty="0">
                <a:solidFill>
                  <a:sysClr val="windowText" lastClr="000000"/>
                </a:solidFill>
              </a:rPr>
              <a:t>M</a:t>
            </a:r>
            <a:r>
              <a:rPr lang="en-US" altLang="zh-CN" sz="2400" dirty="0">
                <a:solidFill>
                  <a:sysClr val="windowText" lastClr="000000"/>
                </a:solidFill>
              </a:rPr>
              <a:t> </a:t>
            </a:r>
          </a:p>
          <a:p>
            <a:pPr lvl="1"/>
            <a:r>
              <a:rPr lang="en-US" altLang="zh-CN" sz="2400" i="1" dirty="0">
                <a:solidFill>
                  <a:sysClr val="windowText" lastClr="000000"/>
                </a:solidFill>
              </a:rPr>
              <a:t>S</a:t>
            </a:r>
            <a:r>
              <a:rPr lang="en-US" altLang="zh-CN" sz="2400" dirty="0">
                <a:solidFill>
                  <a:sysClr val="windowText" lastClr="000000"/>
                </a:solidFill>
              </a:rPr>
              <a:t> → </a:t>
            </a:r>
            <a:r>
              <a:rPr lang="en-US" altLang="zh-CN" sz="2400" i="1" dirty="0">
                <a:solidFill>
                  <a:sysClr val="windowText" lastClr="000000"/>
                </a:solidFill>
              </a:rPr>
              <a:t>U</a:t>
            </a:r>
            <a:r>
              <a:rPr lang="en-US" altLang="zh-CN" sz="2400" dirty="0">
                <a:solidFill>
                  <a:sysClr val="windowText" lastClr="000000"/>
                </a:solidFill>
              </a:rPr>
              <a:t> </a:t>
            </a:r>
          </a:p>
          <a:p>
            <a:pPr lvl="1"/>
            <a:r>
              <a:rPr lang="en-US" altLang="zh-CN" sz="2400" i="1" dirty="0">
                <a:solidFill>
                  <a:sysClr val="windowText" lastClr="000000"/>
                </a:solidFill>
              </a:rPr>
              <a:t>M</a:t>
            </a:r>
            <a:r>
              <a:rPr lang="en-US" altLang="zh-CN" sz="2400" dirty="0">
                <a:solidFill>
                  <a:sysClr val="windowText" lastClr="000000"/>
                </a:solidFill>
              </a:rPr>
              <a:t> → if </a:t>
            </a:r>
            <a:r>
              <a:rPr lang="en-US" altLang="zh-CN" sz="2400" i="1" dirty="0">
                <a:solidFill>
                  <a:sysClr val="windowText" lastClr="000000"/>
                </a:solidFill>
              </a:rPr>
              <a:t>E</a:t>
            </a:r>
            <a:r>
              <a:rPr lang="en-US" altLang="zh-CN" sz="2400" dirty="0">
                <a:solidFill>
                  <a:sysClr val="windowText" lastClr="000000"/>
                </a:solidFill>
              </a:rPr>
              <a:t> then </a:t>
            </a:r>
            <a:r>
              <a:rPr lang="en-US" altLang="zh-CN" sz="2400" i="1" dirty="0">
                <a:solidFill>
                  <a:sysClr val="windowText" lastClr="000000"/>
                </a:solidFill>
              </a:rPr>
              <a:t>M</a:t>
            </a:r>
            <a:r>
              <a:rPr lang="en-US" altLang="zh-CN" sz="2400" dirty="0">
                <a:solidFill>
                  <a:sysClr val="windowText" lastClr="000000"/>
                </a:solidFill>
              </a:rPr>
              <a:t> else </a:t>
            </a:r>
            <a:r>
              <a:rPr lang="en-US" altLang="zh-CN" sz="2400" i="1" dirty="0">
                <a:solidFill>
                  <a:sysClr val="windowText" lastClr="000000"/>
                </a:solidFill>
              </a:rPr>
              <a:t>M</a:t>
            </a:r>
            <a:r>
              <a:rPr lang="en-US" altLang="zh-CN" sz="2400" dirty="0">
                <a:solidFill>
                  <a:sysClr val="windowText" lastClr="000000"/>
                </a:solidFill>
              </a:rPr>
              <a:t> </a:t>
            </a:r>
          </a:p>
          <a:p>
            <a:pPr lvl="1"/>
            <a:r>
              <a:rPr lang="en-US" altLang="zh-CN" sz="2400" i="1" dirty="0">
                <a:solidFill>
                  <a:sysClr val="windowText" lastClr="000000"/>
                </a:solidFill>
              </a:rPr>
              <a:t>M</a:t>
            </a:r>
            <a:r>
              <a:rPr lang="en-US" altLang="zh-CN" sz="2400" dirty="0">
                <a:solidFill>
                  <a:sysClr val="windowText" lastClr="000000"/>
                </a:solidFill>
              </a:rPr>
              <a:t> → other</a:t>
            </a:r>
          </a:p>
          <a:p>
            <a:pPr lvl="1"/>
            <a:r>
              <a:rPr lang="en-US" altLang="zh-CN" sz="2400" i="1" dirty="0">
                <a:solidFill>
                  <a:sysClr val="windowText" lastClr="000000"/>
                </a:solidFill>
              </a:rPr>
              <a:t>U</a:t>
            </a:r>
            <a:r>
              <a:rPr lang="en-US" altLang="zh-CN" sz="2400" dirty="0">
                <a:solidFill>
                  <a:sysClr val="windowText" lastClr="000000"/>
                </a:solidFill>
              </a:rPr>
              <a:t> → if </a:t>
            </a:r>
            <a:r>
              <a:rPr lang="en-US" altLang="zh-CN" sz="2400" i="1" dirty="0">
                <a:solidFill>
                  <a:sysClr val="windowText" lastClr="000000"/>
                </a:solidFill>
              </a:rPr>
              <a:t>E</a:t>
            </a:r>
            <a:r>
              <a:rPr lang="en-US" altLang="zh-CN" sz="2400" dirty="0">
                <a:solidFill>
                  <a:sysClr val="windowText" lastClr="000000"/>
                </a:solidFill>
              </a:rPr>
              <a:t> then </a:t>
            </a:r>
            <a:r>
              <a:rPr lang="en-US" altLang="zh-CN" sz="2400" i="1" dirty="0">
                <a:solidFill>
                  <a:sysClr val="windowText" lastClr="000000"/>
                </a:solidFill>
              </a:rPr>
              <a:t>S</a:t>
            </a:r>
            <a:r>
              <a:rPr lang="en-US" altLang="zh-CN" sz="2400" dirty="0">
                <a:solidFill>
                  <a:sysClr val="windowText" lastClr="000000"/>
                </a:solidFill>
              </a:rPr>
              <a:t> </a:t>
            </a:r>
          </a:p>
          <a:p>
            <a:pPr lvl="1"/>
            <a:r>
              <a:rPr lang="en-US" altLang="zh-CN" sz="2400" i="1" dirty="0">
                <a:solidFill>
                  <a:sysClr val="windowText" lastClr="000000"/>
                </a:solidFill>
              </a:rPr>
              <a:t>U</a:t>
            </a:r>
            <a:r>
              <a:rPr lang="en-US" altLang="zh-CN" sz="2400" dirty="0">
                <a:solidFill>
                  <a:sysClr val="windowText" lastClr="000000"/>
                </a:solidFill>
              </a:rPr>
              <a:t> → if </a:t>
            </a:r>
            <a:r>
              <a:rPr lang="en-US" altLang="zh-CN" sz="2400" i="1" dirty="0">
                <a:solidFill>
                  <a:sysClr val="windowText" lastClr="000000"/>
                </a:solidFill>
              </a:rPr>
              <a:t>E</a:t>
            </a:r>
            <a:r>
              <a:rPr lang="en-US" altLang="zh-CN" sz="2400" dirty="0">
                <a:solidFill>
                  <a:sysClr val="windowText" lastClr="000000"/>
                </a:solidFill>
              </a:rPr>
              <a:t> then </a:t>
            </a:r>
            <a:r>
              <a:rPr lang="en-US" altLang="zh-CN" sz="2400" i="1" dirty="0">
                <a:solidFill>
                  <a:sysClr val="windowText" lastClr="000000"/>
                </a:solidFill>
              </a:rPr>
              <a:t>M</a:t>
            </a:r>
            <a:r>
              <a:rPr lang="en-US" altLang="zh-CN" sz="2400" dirty="0">
                <a:solidFill>
                  <a:sysClr val="windowText" lastClr="000000"/>
                </a:solidFill>
              </a:rPr>
              <a:t> else </a:t>
            </a:r>
            <a:r>
              <a:rPr lang="en-US" altLang="zh-CN" sz="2400" i="1" dirty="0">
                <a:solidFill>
                  <a:sysClr val="windowText" lastClr="000000"/>
                </a:solidFill>
              </a:rPr>
              <a:t>U</a:t>
            </a:r>
            <a:r>
              <a:rPr lang="en-US" altLang="zh-CN" sz="2400" dirty="0">
                <a:solidFill>
                  <a:sysClr val="windowText" lastClr="000000"/>
                </a:solidFill>
              </a:rPr>
              <a:t> 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095678" y="1656737"/>
            <a:ext cx="463973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M</a:t>
            </a:r>
            <a:r>
              <a:rPr lang="en-US" altLang="zh-CN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:</a:t>
            </a:r>
            <a:r>
              <a:rPr lang="zh-CN" altLang="en-US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all</a:t>
            </a:r>
            <a:r>
              <a:rPr lang="zh-CN" altLang="en-US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then</a:t>
            </a:r>
            <a:r>
              <a:rPr lang="zh-CN" altLang="en-US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are</a:t>
            </a:r>
            <a:r>
              <a:rPr lang="zh-CN" altLang="en-US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matched</a:t>
            </a:r>
          </a:p>
          <a:p>
            <a:pPr eaLnBrk="1" hangingPunct="1"/>
            <a:r>
              <a:rPr lang="en-US" altLang="zh-CN" sz="2400" i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U</a:t>
            </a:r>
            <a:r>
              <a:rPr lang="en-US" altLang="zh-CN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:</a:t>
            </a:r>
            <a:r>
              <a:rPr lang="zh-CN" altLang="en-US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some</a:t>
            </a:r>
            <a:r>
              <a:rPr lang="zh-CN" altLang="en-US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then</a:t>
            </a:r>
            <a:r>
              <a:rPr lang="zh-CN" altLang="en-US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is</a:t>
            </a:r>
            <a:r>
              <a:rPr lang="zh-CN" altLang="en-US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unmatched</a:t>
            </a:r>
            <a:r>
              <a:rPr lang="zh-CN" altLang="en-US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</a:t>
            </a:r>
            <a:endParaRPr lang="en-US" altLang="zh-CN" sz="2400" dirty="0">
              <a:solidFill>
                <a:sysClr val="windowText" lastClr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3997144" y="3072993"/>
            <a:ext cx="463973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44546A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This</a:t>
            </a:r>
            <a:r>
              <a:rPr lang="zh-CN" altLang="en-US" sz="2400" i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i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then</a:t>
            </a:r>
            <a:r>
              <a:rPr lang="zh-CN" altLang="en-US" sz="2400" i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i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is</a:t>
            </a:r>
            <a:r>
              <a:rPr lang="zh-CN" altLang="en-US" sz="2400" i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i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unmatched</a:t>
            </a:r>
          </a:p>
          <a:p>
            <a:pPr eaLnBrk="1" hangingPunct="1"/>
            <a:r>
              <a:rPr lang="en-US" altLang="zh-CN" sz="2400" i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This</a:t>
            </a:r>
            <a:r>
              <a:rPr lang="zh-CN" altLang="en-US" sz="2400" i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i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then</a:t>
            </a:r>
            <a:r>
              <a:rPr lang="zh-CN" altLang="en-US" sz="2400" i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i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is</a:t>
            </a:r>
            <a:r>
              <a:rPr lang="zh-CN" altLang="en-US" sz="2400" i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i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matched</a:t>
            </a:r>
            <a:r>
              <a:rPr lang="zh-CN" altLang="en-US" sz="2400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</a:t>
            </a:r>
            <a:endParaRPr lang="en-US" altLang="zh-CN" sz="2400" dirty="0">
              <a:solidFill>
                <a:sysClr val="windowText" lastClr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2413635" y="3577590"/>
            <a:ext cx="335280" cy="306080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214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Exercises</a:t>
            </a: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lang="en-US" altLang="zh-CN" sz="3600" b="1" dirty="0">
                <a:ea typeface="宋体" panose="02010600030101010101" pitchFamily="2" charset="-122"/>
              </a:rPr>
              <a:t>3.9</a:t>
            </a:r>
            <a:r>
              <a:rPr lang="en-US" altLang="en-US" sz="3600" b="1" dirty="0">
                <a:ea typeface="宋体" panose="02010600030101010101" pitchFamily="2" charset="-122"/>
              </a:rPr>
              <a:t>, </a:t>
            </a:r>
            <a:r>
              <a:rPr lang="en-US" altLang="zh-CN" sz="3600" b="1" dirty="0">
                <a:ea typeface="宋体" panose="02010600030101010101" pitchFamily="2" charset="-122"/>
              </a:rPr>
              <a:t>3.13, 3.14</a:t>
            </a:r>
            <a:endParaRPr lang="zh-CN" altLang="en-US" sz="3600" b="1" dirty="0">
              <a:ea typeface="宋体" panose="02010600030101010101" pitchFamily="2" charset="-122"/>
            </a:endParaRPr>
          </a:p>
          <a:p>
            <a:endParaRPr kumimoji="1" lang="zh-CN" altLang="en-US" sz="3600" b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94D1A-1184-3B5B-AEB9-E0BCD4286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31" y="2931914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CN" b="1" dirty="0">
                <a:solidFill>
                  <a:srgbClr val="0070C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Quiz</a:t>
            </a:r>
            <a:r>
              <a:rPr kumimoji="1" lang="zh-CN" altLang="en-US" b="1" dirty="0">
                <a:solidFill>
                  <a:srgbClr val="0070C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Three</a:t>
            </a:r>
            <a:endParaRPr kumimoji="1" lang="zh-CN" altLang="en-US" b="1" dirty="0">
              <a:solidFill>
                <a:srgbClr val="0070C0"/>
              </a:solidFill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2924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U3NDkzZjZkYTQ0ZGI2MDM1OWJmMDZmYTJmNWEzZmUifQ=="/>
  <p:tag name="RESOURCE_RECORD_KEY" val="{&quot;29&quot;:[2073616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1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1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2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86*87"/>
  <p:tag name="TABLE_ENDDRAG_RECT" val="163*219*386*8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48141189205268,&quot;left&quot;:29.2,&quot;top&quot;:108.59402117881348,&quot;width&quot;:659.2781889763779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48141189205268,&quot;left&quot;:29.2,&quot;top&quot;:108.59402117881348,&quot;width&quot;:659.2781889763779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48141189205268,&quot;left&quot;:29.2,&quot;top&quot;:108.59402117881348,&quot;width&quot;:659.2781889763779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48141189205268,&quot;left&quot;:29.2,&quot;top&quot;:108.59402117881348,&quot;width&quot;:659.2781889763779}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6055</TotalTime>
  <Words>3902</Words>
  <Application>Microsoft Macintosh PowerPoint</Application>
  <PresentationFormat>全屏显示(4:3)</PresentationFormat>
  <Paragraphs>775</Paragraphs>
  <Slides>39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39</vt:i4>
      </vt:variant>
    </vt:vector>
  </HeadingPairs>
  <TitlesOfParts>
    <vt:vector size="53" baseType="lpstr">
      <vt:lpstr>DengXian</vt:lpstr>
      <vt:lpstr>宋体</vt:lpstr>
      <vt:lpstr>微软雅黑</vt:lpstr>
      <vt:lpstr>Arial</vt:lpstr>
      <vt:lpstr>Calibri</vt:lpstr>
      <vt:lpstr>Calibri Light</vt:lpstr>
      <vt:lpstr>Cambria Math</vt:lpstr>
      <vt:lpstr>Symbol</vt:lpstr>
      <vt:lpstr>Times New Roman</vt:lpstr>
      <vt:lpstr>Verdana</vt:lpstr>
      <vt:lpstr>Wingdings</vt:lpstr>
      <vt:lpstr>默认设计模板</vt:lpstr>
      <vt:lpstr>Office Theme</vt:lpstr>
      <vt:lpstr>1_Office 主题​​</vt:lpstr>
      <vt:lpstr>PowerPoint 演示文稿</vt:lpstr>
      <vt:lpstr>课程内容</vt:lpstr>
      <vt:lpstr>Outline: How to Build a Parser</vt:lpstr>
      <vt:lpstr>Review</vt:lpstr>
      <vt:lpstr>Predictive Parsing – Nullable, First, Follow Sets</vt:lpstr>
      <vt:lpstr>Review: Drawbacks of LL(k)</vt:lpstr>
      <vt:lpstr>Bottom-Up Parsing</vt:lpstr>
      <vt:lpstr>Bottom-Up Parsing</vt:lpstr>
      <vt:lpstr>LR Parsing</vt:lpstr>
      <vt:lpstr>LR Parsing</vt:lpstr>
      <vt:lpstr>LR Parsing</vt:lpstr>
      <vt:lpstr>LR Parsing</vt:lpstr>
      <vt:lpstr>LR(0) Parsing</vt:lpstr>
      <vt:lpstr>LR(0) Parsing</vt:lpstr>
      <vt:lpstr>LR(0) Parsing</vt:lpstr>
      <vt:lpstr>LR(0) Parsing</vt:lpstr>
      <vt:lpstr>LR(0) Parsing</vt:lpstr>
      <vt:lpstr>LR(0) Parsing</vt:lpstr>
      <vt:lpstr>PowerPoint 演示文稿</vt:lpstr>
      <vt:lpstr>LR(0) Parsing</vt:lpstr>
      <vt:lpstr>LR(k) Parsing – Parsing Algorithm</vt:lpstr>
      <vt:lpstr>Shift-Reduce Conflicts</vt:lpstr>
      <vt:lpstr>Shift-Reduce Conflicts</vt:lpstr>
      <vt:lpstr>SLR (Simple LR) Parsing</vt:lpstr>
      <vt:lpstr>Further Conflicts</vt:lpstr>
      <vt:lpstr>LR(1) Parsing</vt:lpstr>
      <vt:lpstr>LR(1) Parsing</vt:lpstr>
      <vt:lpstr>LR(1) Parsing</vt:lpstr>
      <vt:lpstr>LR(1) Parsing</vt:lpstr>
      <vt:lpstr>LR(1) Parsing</vt:lpstr>
      <vt:lpstr>LR(1) Parsing</vt:lpstr>
      <vt:lpstr>LR(1) Parsing</vt:lpstr>
      <vt:lpstr>LR(1) Parsing</vt:lpstr>
      <vt:lpstr>LR(1) Parsing</vt:lpstr>
      <vt:lpstr>Hierarchy of Grammar Classes</vt:lpstr>
      <vt:lpstr>LR Parsing of Ambiguous Grammars</vt:lpstr>
      <vt:lpstr>LR Parsing of Ambiguous Grammars</vt:lpstr>
      <vt:lpstr>Exercises</vt:lpstr>
      <vt:lpstr>Quiz Three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陈明帅</cp:lastModifiedBy>
  <cp:revision>759</cp:revision>
  <dcterms:created xsi:type="dcterms:W3CDTF">2016-09-15T00:52:00Z</dcterms:created>
  <dcterms:modified xsi:type="dcterms:W3CDTF">2026-03-24T16:03:56Z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2052-12.1.0.16412</vt:lpwstr>
  </property>
  <property fmtid="{D5CDD505-2E9C-101B-9397-08002B2CF9AE}" pid="4" name="ICV">
    <vt:lpwstr>408E7DBF69704F19BE04D53191445FF0_13</vt:lpwstr>
  </property>
</Properties>
</file>