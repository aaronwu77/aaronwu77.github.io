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73"/>
  </p:notesMasterIdLst>
  <p:handoutMasterIdLst>
    <p:handoutMasterId r:id="rId74"/>
  </p:handoutMasterIdLst>
  <p:sldIdLst>
    <p:sldId id="510" r:id="rId2"/>
    <p:sldId id="517" r:id="rId3"/>
    <p:sldId id="518" r:id="rId4"/>
    <p:sldId id="519" r:id="rId5"/>
    <p:sldId id="520" r:id="rId6"/>
    <p:sldId id="522" r:id="rId7"/>
    <p:sldId id="523" r:id="rId8"/>
    <p:sldId id="524" r:id="rId9"/>
    <p:sldId id="525" r:id="rId10"/>
    <p:sldId id="526" r:id="rId11"/>
    <p:sldId id="527" r:id="rId12"/>
    <p:sldId id="528" r:id="rId13"/>
    <p:sldId id="529" r:id="rId14"/>
    <p:sldId id="530" r:id="rId15"/>
    <p:sldId id="531" r:id="rId16"/>
    <p:sldId id="532" r:id="rId17"/>
    <p:sldId id="533" r:id="rId18"/>
    <p:sldId id="534" r:id="rId19"/>
    <p:sldId id="535" r:id="rId20"/>
    <p:sldId id="536" r:id="rId21"/>
    <p:sldId id="537" r:id="rId22"/>
    <p:sldId id="538" r:id="rId23"/>
    <p:sldId id="539" r:id="rId24"/>
    <p:sldId id="540" r:id="rId25"/>
    <p:sldId id="541" r:id="rId26"/>
    <p:sldId id="542" r:id="rId27"/>
    <p:sldId id="585" r:id="rId28"/>
    <p:sldId id="543" r:id="rId29"/>
    <p:sldId id="544" r:id="rId30"/>
    <p:sldId id="545" r:id="rId31"/>
    <p:sldId id="546" r:id="rId32"/>
    <p:sldId id="547" r:id="rId33"/>
    <p:sldId id="548" r:id="rId34"/>
    <p:sldId id="549" r:id="rId35"/>
    <p:sldId id="550" r:id="rId36"/>
    <p:sldId id="551" r:id="rId37"/>
    <p:sldId id="552" r:id="rId38"/>
    <p:sldId id="553" r:id="rId39"/>
    <p:sldId id="554" r:id="rId40"/>
    <p:sldId id="586" r:id="rId41"/>
    <p:sldId id="555" r:id="rId42"/>
    <p:sldId id="556" r:id="rId43"/>
    <p:sldId id="557" r:id="rId44"/>
    <p:sldId id="558" r:id="rId45"/>
    <p:sldId id="559" r:id="rId46"/>
    <p:sldId id="560" r:id="rId47"/>
    <p:sldId id="561" r:id="rId48"/>
    <p:sldId id="562" r:id="rId49"/>
    <p:sldId id="563" r:id="rId50"/>
    <p:sldId id="564" r:id="rId51"/>
    <p:sldId id="565" r:id="rId52"/>
    <p:sldId id="566" r:id="rId53"/>
    <p:sldId id="567" r:id="rId54"/>
    <p:sldId id="568" r:id="rId55"/>
    <p:sldId id="569" r:id="rId56"/>
    <p:sldId id="570" r:id="rId57"/>
    <p:sldId id="571" r:id="rId58"/>
    <p:sldId id="572" r:id="rId59"/>
    <p:sldId id="573" r:id="rId60"/>
    <p:sldId id="574" r:id="rId61"/>
    <p:sldId id="575" r:id="rId62"/>
    <p:sldId id="576" r:id="rId63"/>
    <p:sldId id="577" r:id="rId64"/>
    <p:sldId id="578" r:id="rId65"/>
    <p:sldId id="579" r:id="rId66"/>
    <p:sldId id="580" r:id="rId67"/>
    <p:sldId id="581" r:id="rId68"/>
    <p:sldId id="582" r:id="rId69"/>
    <p:sldId id="583" r:id="rId70"/>
    <p:sldId id="584" r:id="rId71"/>
    <p:sldId id="589" r:id="rId72"/>
  </p:sldIdLst>
  <p:sldSz cx="12192000" cy="6858000"/>
  <p:notesSz cx="6858000" cy="91440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BFFBB"/>
    <a:srgbClr val="C0D2FE"/>
    <a:srgbClr val="CCECFF"/>
    <a:srgbClr val="FFFFCC"/>
    <a:srgbClr val="FFF0E7"/>
    <a:srgbClr val="FEE0CE"/>
    <a:srgbClr val="DCFECE"/>
    <a:srgbClr val="D3FF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55" autoAdjust="0"/>
    <p:restoredTop sz="94728" autoAdjust="0"/>
  </p:normalViewPr>
  <p:slideViewPr>
    <p:cSldViewPr>
      <p:cViewPr varScale="1">
        <p:scale>
          <a:sx n="99" d="100"/>
          <a:sy n="99" d="100"/>
        </p:scale>
        <p:origin x="102" y="28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20"/>
    </p:cViewPr>
  </p:sorterViewPr>
  <p:notesViewPr>
    <p:cSldViewPr>
      <p:cViewPr varScale="1">
        <p:scale>
          <a:sx n="82" d="100"/>
          <a:sy n="82" d="100"/>
        </p:scale>
        <p:origin x="2988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3052763" y="8704263"/>
            <a:ext cx="7524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7305" tIns="44446" rIns="87305" bIns="44446">
            <a:spAutoFit/>
          </a:bodyPr>
          <a:lstStyle/>
          <a:p>
            <a:pPr defTabSz="868363">
              <a:lnSpc>
                <a:spcPct val="90000"/>
              </a:lnSpc>
            </a:pPr>
            <a:r>
              <a:rPr lang="en-US" sz="1200" b="0">
                <a:latin typeface="Comic Sans MS" pitchFamily="66" charset="0"/>
              </a:rPr>
              <a:t>Page </a:t>
            </a:r>
            <a:fld id="{E76174CC-4308-448C-8B6B-16E4135F3843}" type="slidenum">
              <a:rPr lang="en-US" sz="1200" b="0">
                <a:latin typeface="Comic Sans MS" pitchFamily="66" charset="0"/>
              </a:rPr>
              <a:pPr defTabSz="868363">
                <a:lnSpc>
                  <a:spcPct val="90000"/>
                </a:lnSpc>
              </a:pPr>
              <a:t>‹#›</a:t>
            </a:fld>
            <a:endParaRPr lang="en-US" sz="1200" b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6753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041650" y="8704263"/>
            <a:ext cx="776288" cy="25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7305" tIns="44446" rIns="87305" bIns="44446">
            <a:spAutoFit/>
          </a:bodyPr>
          <a:lstStyle/>
          <a:p>
            <a:pPr defTabSz="868363">
              <a:lnSpc>
                <a:spcPct val="90000"/>
              </a:lnSpc>
            </a:pPr>
            <a:r>
              <a:rPr lang="en-US" sz="1200" b="0">
                <a:latin typeface="Comic Sans MS" pitchFamily="66" charset="0"/>
              </a:rPr>
              <a:t>Page </a:t>
            </a:r>
            <a:fld id="{647986A2-0915-4FD5-9834-23BD2F5A80BD}" type="slidenum">
              <a:rPr lang="en-US" sz="1200" b="0">
                <a:latin typeface="Comic Sans MS" pitchFamily="66" charset="0"/>
              </a:rPr>
              <a:pPr defTabSz="868363">
                <a:lnSpc>
                  <a:spcPct val="90000"/>
                </a:lnSpc>
              </a:pPr>
              <a:t>‹#›</a:t>
            </a:fld>
            <a:endParaRPr lang="en-US" sz="1200" b="0">
              <a:latin typeface="Comic Sans MS" pitchFamily="66" charset="0"/>
            </a:endParaRP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93700" y="692150"/>
            <a:ext cx="6072188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79" tIns="44446" rIns="90479" bIns="4444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96118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+mn-ea"/>
        <a:cs typeface="+mn-cs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+mn-ea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+mn-ea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+mn-ea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90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0" tIns="44446" rIns="90480" bIns="44446"/>
          <a:lstStyle/>
          <a:p>
            <a:r>
              <a:rPr lang="en-US"/>
              <a:t>Intuitive Model by Mark Hill</a:t>
            </a:r>
          </a:p>
          <a:p>
            <a:endParaRPr lang="en-US"/>
          </a:p>
        </p:txBody>
      </p:sp>
      <p:sp>
        <p:nvSpPr>
          <p:cNvPr id="891907" name="Rectangle 3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93700" y="692150"/>
            <a:ext cx="6072188" cy="3416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  <p:extLst>
      <p:ext uri="{BB962C8B-B14F-4D97-AF65-F5344CB8AC3E}">
        <p14:creationId xmlns:p14="http://schemas.microsoft.com/office/powerpoint/2010/main" val="1905081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0" tIns="44446" rIns="90480" bIns="44446"/>
          <a:lstStyle/>
          <a:p>
            <a:r>
              <a:rPr lang="en-US"/>
              <a:t>Ask which affected?</a:t>
            </a:r>
          </a:p>
          <a:p>
            <a:br>
              <a:rPr lang="en-US"/>
            </a:br>
            <a:r>
              <a:rPr lang="en-US"/>
              <a:t>Block size</a:t>
            </a:r>
          </a:p>
          <a:p>
            <a:r>
              <a:rPr lang="en-US"/>
              <a:t>1) Compulsory</a:t>
            </a:r>
          </a:p>
          <a:p>
            <a:r>
              <a:rPr lang="en-US"/>
              <a:t>2) More subtle, will change mapping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897027" name="Rectangle 3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93700" y="692150"/>
            <a:ext cx="6072188" cy="3416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  <p:extLst>
      <p:ext uri="{BB962C8B-B14F-4D97-AF65-F5344CB8AC3E}">
        <p14:creationId xmlns:p14="http://schemas.microsoft.com/office/powerpoint/2010/main" val="1873228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7"/>
          <p:cNvSpPr>
            <a:spLocks noGrp="1" noChangeArrowheads="1"/>
          </p:cNvSpPr>
          <p:nvPr>
            <p:ph type="ctrTitle"/>
          </p:nvPr>
        </p:nvSpPr>
        <p:spPr>
          <a:xfrm>
            <a:off x="304800" y="1427164"/>
            <a:ext cx="10769600" cy="1609725"/>
          </a:xfrm>
          <a:prstGeom prst="rect">
            <a:avLst/>
          </a:prstGeom>
        </p:spPr>
        <p:txBody>
          <a:bodyPr/>
          <a:lstStyle>
            <a:lvl1pPr>
              <a:defRPr sz="46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422400" y="3441700"/>
            <a:ext cx="8839200" cy="16764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12580980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2800" y="1340768"/>
            <a:ext cx="10566400" cy="44196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420291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192401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2800" y="1600200"/>
            <a:ext cx="5181600" cy="44196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181600" cy="44196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962504F6-CEB9-4D8B-82E8-1B5742F5734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8712186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C5D8FD77-704A-4F7A-935C-C77827A4392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3235385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FFE68900-107A-49E7-99A8-268D755A58EC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152350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91F0555C-6464-4DB4-A56C-735E33125A8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3269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5AA5C4EF-5F4C-4FC2-8EC8-5D7149D2399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9950468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058ED758-5F56-4DC8-AE63-6C2C3614B51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546190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2800" y="1600200"/>
            <a:ext cx="10566400" cy="44196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A250F370-D1E7-4077-8E08-0F8490666976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1902942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00018" y="228600"/>
            <a:ext cx="2779183" cy="57912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60351" y="228600"/>
            <a:ext cx="8136467" cy="5791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79CA0EF3-EE02-422F-9839-1D26B284DB7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984433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12800" y="1600200"/>
            <a:ext cx="10566400" cy="441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单击图标添加表格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BC78D7F6-81EB-426B-B783-68932B4FE8A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491360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84778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" y="1557338"/>
            <a:ext cx="5873751" cy="4575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076951" y="1557339"/>
            <a:ext cx="5875867" cy="2211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76951" y="3921125"/>
            <a:ext cx="5875867" cy="22113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0" y="623728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BC78D7F6-81EB-426B-B783-68932B4FE8A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47035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" y="1557339"/>
            <a:ext cx="11952817" cy="2211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" y="3921125"/>
            <a:ext cx="11952817" cy="22113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0" y="623728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BC78D7F6-81EB-426B-B783-68932B4FE8A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284693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" y="1557339"/>
            <a:ext cx="11952817" cy="2211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" y="3921125"/>
            <a:ext cx="11952817" cy="22113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0" y="623728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D1DEDDA3-5544-4B59-BA66-7B31A1EC49A8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881279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424" y="5397"/>
            <a:ext cx="10877384" cy="990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06400" y="1447800"/>
            <a:ext cx="5588000" cy="4800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447800"/>
            <a:ext cx="5588000" cy="4800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49636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梯形 10"/>
          <p:cNvSpPr/>
          <p:nvPr/>
        </p:nvSpPr>
        <p:spPr>
          <a:xfrm>
            <a:off x="623392" y="218810"/>
            <a:ext cx="4951909" cy="551061"/>
          </a:xfrm>
          <a:prstGeom prst="trapezoid">
            <a:avLst>
              <a:gd name="adj" fmla="val 27273"/>
            </a:avLst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8" y="116632"/>
            <a:ext cx="1152128" cy="65324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4660933" y="218812"/>
            <a:ext cx="7104789" cy="551061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909072" y="724152"/>
            <a:ext cx="5856651" cy="45721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7440149" y="6309321"/>
            <a:ext cx="4751851" cy="4070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浙江大学计算机学院系统结构实验室</a:t>
            </a:r>
          </a:p>
        </p:txBody>
      </p:sp>
      <p:sp>
        <p:nvSpPr>
          <p:cNvPr id="16" name="矩形 15"/>
          <p:cNvSpPr/>
          <p:nvPr/>
        </p:nvSpPr>
        <p:spPr>
          <a:xfrm>
            <a:off x="7440149" y="6741369"/>
            <a:ext cx="4751851" cy="55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82172" y="232288"/>
            <a:ext cx="10538387" cy="5053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70576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ransition/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l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8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1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4.w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5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8.w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6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8.wmf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9.wmf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936" y="795249"/>
            <a:ext cx="1158299" cy="103388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2348880"/>
            <a:ext cx="12192000" cy="1656184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1524005" y="2744788"/>
            <a:ext cx="8461375" cy="8636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Computer Architecture </a:t>
            </a:r>
            <a:br>
              <a:rPr lang="en-US" altLang="zh-CN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----A Quantitative Approach</a:t>
            </a:r>
            <a:endParaRPr lang="zh-CN" altLang="en-US" sz="20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5939112" y="4005064"/>
            <a:ext cx="313776" cy="216024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rgbClr val="004EA2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 flipV="1">
            <a:off x="0" y="2227011"/>
            <a:ext cx="12191998" cy="4572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484950" y="4659302"/>
            <a:ext cx="3222105" cy="1412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陈文智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浙江大学计算机学院</a:t>
            </a:r>
          </a:p>
          <a:p>
            <a:pPr algn="ctr"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chenwz@zju.edu.cn</a:t>
            </a:r>
          </a:p>
        </p:txBody>
      </p:sp>
    </p:spTree>
    <p:extLst>
      <p:ext uri="{BB962C8B-B14F-4D97-AF65-F5344CB8AC3E}">
        <p14:creationId xmlns:p14="http://schemas.microsoft.com/office/powerpoint/2010/main" val="425668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4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1.Reduce the miss penalty </a:t>
            </a:r>
          </a:p>
          <a:p>
            <a:pPr marL="0" indent="0">
              <a:buNone/>
            </a:pPr>
            <a:r>
              <a:rPr lang="en-US" altLang="zh-CN" dirty="0"/>
              <a:t>	        	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2. Reduce the miss rate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3. Reduce the miss penalty and miss rate via parallelism</a:t>
            </a:r>
          </a:p>
          <a:p>
            <a:pPr marL="0" indent="0">
              <a:buNone/>
            </a:pPr>
            <a:r>
              <a:rPr lang="en-US" altLang="zh-CN" dirty="0"/>
              <a:t>			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4. Reduce the time to hit in the cache. </a:t>
            </a:r>
            <a:r>
              <a:rPr lang="en-US" altLang="zh-CN" dirty="0"/>
              <a:t>	 </a:t>
            </a:r>
            <a:endParaRPr lang="en-US" dirty="0"/>
          </a:p>
        </p:txBody>
      </p:sp>
      <p:sp>
        <p:nvSpPr>
          <p:cNvPr id="874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5.4 Reducing Cache miss penalty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Multilevel Caches</a:t>
            </a:r>
          </a:p>
          <a:p>
            <a:pPr lvl="1"/>
            <a:r>
              <a:rPr lang="en-US" altLang="zh-CN" dirty="0"/>
              <a:t>This method focuses on the interface between the cache and main memory. </a:t>
            </a:r>
          </a:p>
          <a:p>
            <a:pPr lvl="1"/>
            <a:r>
              <a:rPr lang="en-US" altLang="zh-CN" dirty="0"/>
              <a:t>We can add an second-level cache between main memory and a small, fast first-level cache. </a:t>
            </a:r>
          </a:p>
          <a:p>
            <a:pPr lvl="2"/>
            <a:r>
              <a:rPr lang="en-US" altLang="zh-CN" dirty="0"/>
              <a:t>This helps satisfy the desire to make the cache fast and large. </a:t>
            </a:r>
          </a:p>
          <a:p>
            <a:pPr lvl="1"/>
            <a:r>
              <a:rPr lang="en-US" altLang="zh-CN" dirty="0"/>
              <a:t>The first –level cache allows: </a:t>
            </a:r>
          </a:p>
          <a:p>
            <a:pPr lvl="2"/>
            <a:r>
              <a:rPr lang="en-US" altLang="zh-CN" dirty="0"/>
              <a:t>The smaller first-level cache is fast enough to match the clock cycle time of the fast CPU and to fit on the chip with the CPU, thereby lessening the hits time.</a:t>
            </a:r>
          </a:p>
          <a:p>
            <a:pPr lvl="1"/>
            <a:r>
              <a:rPr lang="en-US" altLang="zh-CN" dirty="0"/>
              <a:t>The second-level cache allows: </a:t>
            </a:r>
          </a:p>
          <a:p>
            <a:pPr lvl="2"/>
            <a:r>
              <a:rPr lang="en-US" altLang="zh-CN" dirty="0"/>
              <a:t>The larger second-level can be large enough to capture many memory accesses that would go to main memory, thereby lessening the effective miss penalty. </a:t>
            </a:r>
          </a:p>
          <a:p>
            <a:endParaRPr lang="en-US" altLang="zh-CN" dirty="0"/>
          </a:p>
        </p:txBody>
      </p:sp>
      <p:sp>
        <p:nvSpPr>
          <p:cNvPr id="87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911424" y="295265"/>
            <a:ext cx="9146976" cy="505343"/>
          </a:xfrm>
        </p:spPr>
        <p:txBody>
          <a:bodyPr/>
          <a:lstStyle/>
          <a:p>
            <a:r>
              <a:rPr lang="en-US" dirty="0"/>
              <a:t>First Miss Penalty Reduction Technique: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547" name="Rectangle 3"/>
          <p:cNvSpPr>
            <a:spLocks noGrp="1" noChangeArrowheads="1"/>
          </p:cNvSpPr>
          <p:nvPr>
            <p:ph idx="1"/>
          </p:nvPr>
        </p:nvSpPr>
        <p:spPr>
          <a:xfrm>
            <a:off x="911424" y="1447800"/>
            <a:ext cx="10292952" cy="5105400"/>
          </a:xfrm>
          <a:noFill/>
          <a:ln/>
        </p:spPr>
        <p:txBody>
          <a:bodyPr lIns="90488" rIns="90488"/>
          <a:lstStyle/>
          <a:p>
            <a:pPr>
              <a:lnSpc>
                <a:spcPct val="80000"/>
              </a:lnSpc>
            </a:pPr>
            <a:r>
              <a:rPr lang="en-US" altLang="zh-CN" i="1" dirty="0">
                <a:ea typeface="宋体" pitchFamily="2" charset="-122"/>
              </a:rPr>
              <a:t>The performance of a two-level cache is calculated in a similar way to the performance for a single level cache.</a:t>
            </a:r>
            <a:r>
              <a:rPr lang="en-US" altLang="zh-CN" dirty="0">
                <a:ea typeface="宋体" pitchFamily="2" charset="-122"/>
              </a:rPr>
              <a:t> </a:t>
            </a:r>
            <a:endParaRPr lang="en-US" dirty="0"/>
          </a:p>
          <a:p>
            <a:pPr>
              <a:lnSpc>
                <a:spcPct val="80000"/>
              </a:lnSpc>
            </a:pPr>
            <a:r>
              <a:rPr lang="en-US" dirty="0">
                <a:solidFill>
                  <a:schemeClr val="hlink"/>
                </a:solidFill>
              </a:rPr>
              <a:t>L2 Equations</a:t>
            </a:r>
            <a:endParaRPr lang="en-US" sz="1800" dirty="0">
              <a:solidFill>
                <a:schemeClr val="hlink"/>
              </a:solidFill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sz="1800" dirty="0"/>
              <a:t>	AMAT = Hit Time</a:t>
            </a:r>
            <a:r>
              <a:rPr lang="en-US" sz="1800" baseline="-25000" dirty="0"/>
              <a:t>L1</a:t>
            </a:r>
            <a:r>
              <a:rPr lang="en-US" sz="1800" dirty="0"/>
              <a:t> + Miss Rate</a:t>
            </a:r>
            <a:r>
              <a:rPr lang="en-US" sz="1800" baseline="-25000" dirty="0"/>
              <a:t>L1</a:t>
            </a:r>
            <a:r>
              <a:rPr lang="en-US" sz="1800" dirty="0"/>
              <a:t> x Miss Penalty</a:t>
            </a:r>
            <a:r>
              <a:rPr lang="en-US" sz="1800" baseline="-25000" dirty="0"/>
              <a:t>L1</a:t>
            </a:r>
            <a:br>
              <a:rPr lang="en-US" sz="1800" baseline="-25000" dirty="0"/>
            </a:br>
            <a:endParaRPr lang="en-US" sz="1800" dirty="0"/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sz="1800" dirty="0"/>
              <a:t>	Miss Penalty</a:t>
            </a:r>
            <a:r>
              <a:rPr lang="en-US" sz="1800" baseline="-25000" dirty="0"/>
              <a:t>L1</a:t>
            </a:r>
            <a:r>
              <a:rPr lang="en-US" sz="1800" dirty="0"/>
              <a:t> = Hit Time</a:t>
            </a:r>
            <a:r>
              <a:rPr lang="en-US" sz="1800" baseline="-25000" dirty="0"/>
              <a:t>L2</a:t>
            </a:r>
            <a:r>
              <a:rPr lang="en-US" sz="1800" dirty="0"/>
              <a:t> + Miss Rate</a:t>
            </a:r>
            <a:r>
              <a:rPr lang="en-US" sz="1800" baseline="-25000" dirty="0"/>
              <a:t>L2</a:t>
            </a:r>
            <a:r>
              <a:rPr lang="en-US" sz="1800" dirty="0"/>
              <a:t> x Miss Penalty</a:t>
            </a:r>
            <a:r>
              <a:rPr lang="en-US" sz="1800" baseline="-25000" dirty="0"/>
              <a:t>L2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/>
              <a:t>	AMAT = Hit Time</a:t>
            </a:r>
            <a:r>
              <a:rPr lang="en-US" sz="1800" baseline="-25000" dirty="0"/>
              <a:t>L1</a:t>
            </a:r>
            <a:r>
              <a:rPr lang="en-US" sz="1800" dirty="0"/>
              <a:t> +</a:t>
            </a:r>
            <a:r>
              <a:rPr lang="en-US" sz="1800" u="sng" dirty="0">
                <a:solidFill>
                  <a:schemeClr val="hlink"/>
                </a:solidFill>
              </a:rPr>
              <a:t>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solidFill>
                  <a:schemeClr val="hlink"/>
                </a:solidFill>
              </a:rPr>
              <a:t>		    </a:t>
            </a:r>
            <a:r>
              <a:rPr lang="en-US" sz="1800" u="sng" dirty="0">
                <a:solidFill>
                  <a:schemeClr val="hlink"/>
                </a:solidFill>
              </a:rPr>
              <a:t>Miss Rate</a:t>
            </a:r>
            <a:r>
              <a:rPr lang="en-US" sz="1800" u="sng" baseline="-25000" dirty="0">
                <a:solidFill>
                  <a:schemeClr val="hlink"/>
                </a:solidFill>
              </a:rPr>
              <a:t>L1</a:t>
            </a:r>
            <a:r>
              <a:rPr lang="en-US" sz="1800" u="sng" dirty="0">
                <a:solidFill>
                  <a:schemeClr val="hlink"/>
                </a:solidFill>
              </a:rPr>
              <a:t> </a:t>
            </a:r>
            <a:r>
              <a:rPr lang="en-US" sz="1800" dirty="0"/>
              <a:t>x (Hit Time</a:t>
            </a:r>
            <a:r>
              <a:rPr lang="en-US" sz="1800" baseline="-25000" dirty="0"/>
              <a:t>L2</a:t>
            </a:r>
            <a:r>
              <a:rPr lang="en-US" sz="1800" dirty="0"/>
              <a:t> +</a:t>
            </a:r>
            <a:r>
              <a:rPr lang="en-US" sz="1800" u="sng" dirty="0">
                <a:solidFill>
                  <a:schemeClr val="hlink"/>
                </a:solidFill>
              </a:rPr>
              <a:t> Miss Rate</a:t>
            </a:r>
            <a:r>
              <a:rPr lang="en-US" sz="1800" u="sng" baseline="-25000" dirty="0">
                <a:solidFill>
                  <a:schemeClr val="hlink"/>
                </a:solidFill>
              </a:rPr>
              <a:t>L2</a:t>
            </a:r>
            <a:r>
              <a:rPr lang="en-US" sz="1800" u="sng" dirty="0">
                <a:solidFill>
                  <a:schemeClr val="hlink"/>
                </a:solidFill>
              </a:rPr>
              <a:t> </a:t>
            </a:r>
            <a:r>
              <a:rPr lang="en-US" sz="1800" dirty="0"/>
              <a:t>x Miss Penalty</a:t>
            </a:r>
            <a:r>
              <a:rPr lang="en-US" sz="1800" baseline="-25000" dirty="0"/>
              <a:t>L2</a:t>
            </a:r>
            <a:r>
              <a:rPr lang="en-US" sz="1800" dirty="0"/>
              <a:t>)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 dirty="0"/>
          </a:p>
          <a:p>
            <a:pPr>
              <a:lnSpc>
                <a:spcPct val="80000"/>
              </a:lnSpc>
            </a:pPr>
            <a:r>
              <a:rPr lang="en-US" dirty="0">
                <a:solidFill>
                  <a:schemeClr val="hlink"/>
                </a:solidFill>
              </a:rPr>
              <a:t>Definitions:</a:t>
            </a:r>
            <a:endParaRPr lang="en-US" sz="1800" dirty="0">
              <a:solidFill>
                <a:schemeClr val="hlink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i="1" dirty="0">
                <a:solidFill>
                  <a:schemeClr val="hlink"/>
                </a:solidFill>
              </a:rPr>
              <a:t>Local miss rate</a:t>
            </a:r>
            <a:r>
              <a:rPr lang="en-US" dirty="0"/>
              <a:t>— misses in this cache divided by the total number of memory accesses</a:t>
            </a:r>
            <a:r>
              <a:rPr lang="en-US" i="1" dirty="0">
                <a:solidFill>
                  <a:schemeClr val="hlink"/>
                </a:solidFill>
              </a:rPr>
              <a:t> to this cache</a:t>
            </a:r>
            <a:r>
              <a:rPr lang="en-US" dirty="0"/>
              <a:t> (Miss rate</a:t>
            </a:r>
            <a:r>
              <a:rPr lang="en-US" baseline="-25000" dirty="0"/>
              <a:t>L2</a:t>
            </a:r>
            <a:r>
              <a:rPr lang="en-US" dirty="0"/>
              <a:t>)</a:t>
            </a:r>
          </a:p>
          <a:p>
            <a:pPr lvl="1">
              <a:lnSpc>
                <a:spcPct val="80000"/>
              </a:lnSpc>
            </a:pPr>
            <a:r>
              <a:rPr lang="en-US" i="1" dirty="0">
                <a:solidFill>
                  <a:schemeClr val="hlink"/>
                </a:solidFill>
              </a:rPr>
              <a:t>Global miss rate</a:t>
            </a:r>
            <a:r>
              <a:rPr lang="en-US" dirty="0"/>
              <a:t>—misses in this cache divided by the total number of memory accesses </a:t>
            </a:r>
            <a:r>
              <a:rPr lang="en-US" i="1" dirty="0">
                <a:solidFill>
                  <a:schemeClr val="hlink"/>
                </a:solidFill>
              </a:rPr>
              <a:t>generated by the CPU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pPr lvl="1">
              <a:lnSpc>
                <a:spcPct val="80000"/>
              </a:lnSpc>
            </a:pPr>
            <a:r>
              <a:rPr lang="en-US" dirty="0"/>
              <a:t>Global Miss Rate is what matters</a:t>
            </a:r>
          </a:p>
        </p:txBody>
      </p:sp>
      <p:sp>
        <p:nvSpPr>
          <p:cNvPr id="876546" name="Rectangle 2"/>
          <p:cNvSpPr>
            <a:spLocks noGrp="1" noChangeArrowheads="1"/>
          </p:cNvSpPr>
          <p:nvPr>
            <p:ph type="title"/>
          </p:nvPr>
        </p:nvSpPr>
        <p:spPr>
          <a:xfrm>
            <a:off x="911424" y="131763"/>
            <a:ext cx="8458944" cy="742950"/>
          </a:xfrm>
          <a:noFill/>
          <a:ln/>
        </p:spPr>
        <p:txBody>
          <a:bodyPr vert="horz" lIns="90488" tIns="45720" rIns="90488" bIns="45720" rtlCol="0" anchor="ctr">
            <a:noAutofit/>
          </a:bodyPr>
          <a:lstStyle/>
          <a:p>
            <a:r>
              <a:rPr lang="en-US" dirty="0"/>
              <a:t>Parameter about Multilevel cache</a:t>
            </a:r>
          </a:p>
        </p:txBody>
      </p:sp>
      <p:grpSp>
        <p:nvGrpSpPr>
          <p:cNvPr id="876548" name="Group 4"/>
          <p:cNvGrpSpPr>
            <a:grpSpLocks/>
          </p:cNvGrpSpPr>
          <p:nvPr/>
        </p:nvGrpSpPr>
        <p:grpSpPr bwMode="auto">
          <a:xfrm>
            <a:off x="4419600" y="3048000"/>
            <a:ext cx="5638800" cy="2057400"/>
            <a:chOff x="1536" y="1824"/>
            <a:chExt cx="3552" cy="1296"/>
          </a:xfrm>
        </p:grpSpPr>
        <p:graphicFrame>
          <p:nvGraphicFramePr>
            <p:cNvPr id="876549" name="Object 5"/>
            <p:cNvGraphicFramePr>
              <a:graphicFrameLocks noChangeAspect="1"/>
            </p:cNvGraphicFramePr>
            <p:nvPr/>
          </p:nvGraphicFramePr>
          <p:xfrm>
            <a:off x="1680" y="1824"/>
            <a:ext cx="3408" cy="9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0" name="Equation" r:id="rId3" imgW="2819160" imgH="927000" progId="Equation.3">
                    <p:embed/>
                  </p:oleObj>
                </mc:Choice>
                <mc:Fallback>
                  <p:oleObj name="Equation" r:id="rId3" imgW="2819160" imgH="9270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1824"/>
                          <a:ext cx="3408" cy="960"/>
                        </a:xfrm>
                        <a:prstGeom prst="rect">
                          <a:avLst/>
                        </a:prstGeom>
                        <a:solidFill>
                          <a:srgbClr val="A6F6E5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76550" name="Line 6"/>
            <p:cNvSpPr>
              <a:spLocks noChangeShapeType="1"/>
            </p:cNvSpPr>
            <p:nvPr/>
          </p:nvSpPr>
          <p:spPr bwMode="auto">
            <a:xfrm flipH="1">
              <a:off x="1536" y="2592"/>
              <a:ext cx="672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76551" name="Group 7"/>
          <p:cNvGrpSpPr>
            <a:grpSpLocks/>
          </p:cNvGrpSpPr>
          <p:nvPr/>
        </p:nvGrpSpPr>
        <p:grpSpPr bwMode="auto">
          <a:xfrm>
            <a:off x="3216275" y="1196975"/>
            <a:ext cx="6477000" cy="2057400"/>
            <a:chOff x="960" y="1056"/>
            <a:chExt cx="4080" cy="1296"/>
          </a:xfrm>
        </p:grpSpPr>
        <p:sp>
          <p:nvSpPr>
            <p:cNvPr id="876552" name="Rectangle 8"/>
            <p:cNvSpPr>
              <a:spLocks noChangeArrowheads="1"/>
            </p:cNvSpPr>
            <p:nvPr/>
          </p:nvSpPr>
          <p:spPr bwMode="auto">
            <a:xfrm>
              <a:off x="960" y="1056"/>
              <a:ext cx="4080" cy="756"/>
            </a:xfrm>
            <a:prstGeom prst="rect">
              <a:avLst/>
            </a:prstGeom>
            <a:solidFill>
              <a:srgbClr val="C0D2FE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2400" i="1" dirty="0">
                  <a:latin typeface="Times" pitchFamily="18" charset="0"/>
                  <a:ea typeface="宋体" pitchFamily="2" charset="-122"/>
                </a:rPr>
                <a:t>So the </a:t>
              </a:r>
              <a:r>
                <a:rPr lang="en-US" altLang="zh-CN" sz="2400" i="1" dirty="0">
                  <a:solidFill>
                    <a:schemeClr val="hlink"/>
                  </a:solidFill>
                  <a:latin typeface="Times" pitchFamily="18" charset="0"/>
                  <a:ea typeface="宋体" pitchFamily="2" charset="-122"/>
                </a:rPr>
                <a:t>miss penalty for level 1</a:t>
              </a:r>
              <a:r>
                <a:rPr lang="en-US" altLang="zh-CN" sz="2400" i="1" dirty="0">
                  <a:latin typeface="Times" pitchFamily="18" charset="0"/>
                  <a:ea typeface="宋体" pitchFamily="2" charset="-122"/>
                </a:rPr>
                <a:t> is calculated using the hit time, miss rate, and miss penalty for the level 2 cache.</a:t>
              </a:r>
              <a:r>
                <a:rPr lang="en-US" altLang="zh-CN" sz="2400" dirty="0">
                  <a:latin typeface="Times" pitchFamily="18" charset="0"/>
                  <a:ea typeface="宋体" pitchFamily="2" charset="-122"/>
                </a:rPr>
                <a:t> </a:t>
              </a:r>
            </a:p>
          </p:txBody>
        </p:sp>
        <p:sp>
          <p:nvSpPr>
            <p:cNvPr id="876553" name="Line 9"/>
            <p:cNvSpPr>
              <a:spLocks noChangeShapeType="1"/>
            </p:cNvSpPr>
            <p:nvPr/>
          </p:nvSpPr>
          <p:spPr bwMode="auto">
            <a:xfrm flipH="1">
              <a:off x="2880" y="1632"/>
              <a:ext cx="96" cy="72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76554" name="Group 10"/>
          <p:cNvGrpSpPr>
            <a:grpSpLocks/>
          </p:cNvGrpSpPr>
          <p:nvPr/>
        </p:nvGrpSpPr>
        <p:grpSpPr bwMode="auto">
          <a:xfrm>
            <a:off x="1676401" y="2500313"/>
            <a:ext cx="8829675" cy="2774950"/>
            <a:chOff x="198" y="1623"/>
            <a:chExt cx="5562" cy="1748"/>
          </a:xfrm>
        </p:grpSpPr>
        <p:sp>
          <p:nvSpPr>
            <p:cNvPr id="876555" name="Text Box 11"/>
            <p:cNvSpPr txBox="1">
              <a:spLocks noChangeArrowheads="1"/>
            </p:cNvSpPr>
            <p:nvPr/>
          </p:nvSpPr>
          <p:spPr bwMode="auto">
            <a:xfrm>
              <a:off x="198" y="1623"/>
              <a:ext cx="5562" cy="174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200" dirty="0">
                  <a:ea typeface="宋体" pitchFamily="2" charset="-122"/>
                </a:rPr>
                <a:t>Using the terms above, the global miss for the first-level cache is still just Miss rate</a:t>
              </a:r>
              <a:r>
                <a:rPr lang="en-US" altLang="zh-CN" sz="2200" baseline="-25000" dirty="0">
                  <a:ea typeface="宋体" pitchFamily="2" charset="-122"/>
                </a:rPr>
                <a:t>L1</a:t>
              </a:r>
              <a:r>
                <a:rPr lang="en-US" altLang="zh-CN" sz="2200" dirty="0">
                  <a:ea typeface="宋体" pitchFamily="2" charset="-122"/>
                </a:rPr>
                <a:t>, but for the second-level cache it is : </a:t>
              </a:r>
            </a:p>
            <a:p>
              <a:pPr algn="l">
                <a:spcBef>
                  <a:spcPct val="50000"/>
                </a:spcBef>
              </a:pPr>
              <a:endParaRPr lang="en-US" altLang="zh-CN" sz="2200" dirty="0">
                <a:ea typeface="宋体" pitchFamily="2" charset="-122"/>
              </a:endParaRPr>
            </a:p>
            <a:p>
              <a:pPr algn="l">
                <a:spcBef>
                  <a:spcPct val="50000"/>
                </a:spcBef>
              </a:pPr>
              <a:endParaRPr lang="en-US" altLang="zh-CN" sz="2200" dirty="0">
                <a:ea typeface="宋体" pitchFamily="2" charset="-122"/>
              </a:endParaRPr>
            </a:p>
            <a:p>
              <a:pPr algn="l">
                <a:spcBef>
                  <a:spcPct val="50000"/>
                </a:spcBef>
              </a:pPr>
              <a:endParaRPr lang="en-US" altLang="zh-CN" sz="2200" dirty="0">
                <a:ea typeface="宋体" pitchFamily="2" charset="-122"/>
              </a:endParaRPr>
            </a:p>
            <a:p>
              <a:pPr>
                <a:spcBef>
                  <a:spcPct val="50000"/>
                </a:spcBef>
              </a:pPr>
              <a:endParaRPr lang="en-US" altLang="zh-CN" sz="2200" dirty="0">
                <a:ea typeface="宋体" pitchFamily="2" charset="-122"/>
              </a:endParaRPr>
            </a:p>
          </p:txBody>
        </p:sp>
        <p:graphicFrame>
          <p:nvGraphicFramePr>
            <p:cNvPr id="876556" name="Object 12"/>
            <p:cNvGraphicFramePr>
              <a:graphicFrameLocks noChangeAspect="1"/>
            </p:cNvGraphicFramePr>
            <p:nvPr/>
          </p:nvGraphicFramePr>
          <p:xfrm>
            <a:off x="240" y="2112"/>
            <a:ext cx="5520" cy="10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1" name="Equation" r:id="rId5" imgW="4876560" imgH="927000" progId="Equation.3">
                    <p:embed/>
                  </p:oleObj>
                </mc:Choice>
                <mc:Fallback>
                  <p:oleObj name="Equation" r:id="rId5" imgW="4876560" imgH="9270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2112"/>
                          <a:ext cx="5520" cy="10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6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6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76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76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76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76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76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76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76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76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76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76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765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765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765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765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765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765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765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765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876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4" dur="500"/>
                                        <p:tgtEl>
                                          <p:spTgt spid="876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876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6547" grpId="0" uiExpand="1" build="p" autoUpdateAnimBg="0" advAuto="100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571" name="Rectangle 3"/>
          <p:cNvSpPr>
            <a:spLocks noGrp="1" noChangeArrowheads="1"/>
          </p:cNvSpPr>
          <p:nvPr>
            <p:ph idx="1"/>
          </p:nvPr>
        </p:nvSpPr>
        <p:spPr>
          <a:xfrm>
            <a:off x="839416" y="1447800"/>
            <a:ext cx="10436968" cy="5105400"/>
          </a:xfrm>
          <a:noFill/>
          <a:ln/>
        </p:spPr>
        <p:txBody>
          <a:bodyPr lIns="90488" rIns="90488"/>
          <a:lstStyle/>
          <a:p>
            <a:r>
              <a:rPr lang="en-US" altLang="zh-CN" dirty="0">
                <a:solidFill>
                  <a:schemeClr val="hlink"/>
                </a:solidFill>
                <a:ea typeface="宋体" pitchFamily="2" charset="-122"/>
              </a:rPr>
              <a:t>This local miss rate is large</a:t>
            </a:r>
            <a:r>
              <a:rPr lang="en-US" altLang="zh-CN" dirty="0">
                <a:ea typeface="宋体" pitchFamily="2" charset="-122"/>
              </a:rPr>
              <a:t> </a:t>
            </a:r>
            <a:r>
              <a:rPr lang="en-US" altLang="zh-CN" dirty="0">
                <a:solidFill>
                  <a:schemeClr val="hlink"/>
                </a:solidFill>
                <a:ea typeface="宋体" pitchFamily="2" charset="-122"/>
              </a:rPr>
              <a:t>for second-level</a:t>
            </a:r>
            <a:r>
              <a:rPr lang="en-US" altLang="zh-CN" dirty="0">
                <a:ea typeface="宋体" pitchFamily="2" charset="-122"/>
              </a:rPr>
              <a:t> caches before the first-level cache skims the cream of the memory accesses. This is why the global miss rate is more useful measure: It indicates what fraction of the memory accesses that leave the CPU go all the way to memory.</a:t>
            </a:r>
          </a:p>
          <a:p>
            <a:r>
              <a:rPr lang="en-US" altLang="zh-CN" dirty="0">
                <a:ea typeface="宋体" pitchFamily="2" charset="-122"/>
              </a:rPr>
              <a:t>Here is a place where </a:t>
            </a:r>
            <a:r>
              <a:rPr lang="en-US" altLang="zh-CN" dirty="0">
                <a:solidFill>
                  <a:schemeClr val="hlink"/>
                </a:solidFill>
                <a:ea typeface="宋体" pitchFamily="2" charset="-122"/>
              </a:rPr>
              <a:t>the misses per instruction</a:t>
            </a:r>
            <a:r>
              <a:rPr lang="en-US" altLang="zh-CN" dirty="0">
                <a:ea typeface="宋体" pitchFamily="2" charset="-122"/>
              </a:rPr>
              <a:t> metric shines. Instead of confusion about local or global miss rates, we just expand memory stalls per instruction to add the </a:t>
            </a:r>
            <a:r>
              <a:rPr lang="en-US" altLang="zh-CN" dirty="0">
                <a:solidFill>
                  <a:schemeClr val="hlink"/>
                </a:solidFill>
                <a:ea typeface="宋体" pitchFamily="2" charset="-122"/>
              </a:rPr>
              <a:t>impact of a second-level cache</a:t>
            </a:r>
            <a:r>
              <a:rPr lang="en-US" altLang="zh-CN" dirty="0">
                <a:ea typeface="宋体" pitchFamily="2" charset="-122"/>
              </a:rPr>
              <a:t>: </a:t>
            </a:r>
          </a:p>
          <a:p>
            <a:pPr>
              <a:buFontTx/>
              <a:buNone/>
            </a:pPr>
            <a:r>
              <a:rPr lang="en-US" dirty="0"/>
              <a:t>Average memory stalls per instruction</a:t>
            </a:r>
          </a:p>
          <a:p>
            <a:pPr>
              <a:buFontTx/>
              <a:buNone/>
            </a:pPr>
            <a:r>
              <a:rPr lang="en-US" dirty="0"/>
              <a:t>			</a:t>
            </a:r>
            <a:r>
              <a:rPr lang="en-US" altLang="zh-CN" dirty="0">
                <a:ea typeface="宋体" pitchFamily="2" charset="-122"/>
              </a:rPr>
              <a:t>＝</a:t>
            </a:r>
            <a:r>
              <a:rPr lang="en-US" dirty="0"/>
              <a:t>Misses per instruction</a:t>
            </a:r>
            <a:r>
              <a:rPr lang="en-US" baseline="-25000" dirty="0"/>
              <a:t>L1 </a:t>
            </a:r>
            <a:r>
              <a:rPr lang="en-US" dirty="0"/>
              <a:t>x Hit time</a:t>
            </a:r>
            <a:r>
              <a:rPr lang="en-US" baseline="-25000" dirty="0"/>
              <a:t>L2</a:t>
            </a:r>
            <a:r>
              <a:rPr lang="en-US" dirty="0"/>
              <a:t> </a:t>
            </a:r>
          </a:p>
          <a:p>
            <a:pPr>
              <a:buFontTx/>
              <a:buNone/>
            </a:pPr>
            <a:r>
              <a:rPr lang="en-US" dirty="0"/>
              <a:t>			  + Misses per instruction</a:t>
            </a:r>
            <a:r>
              <a:rPr lang="en-US" baseline="-25000" dirty="0"/>
              <a:t>L2  </a:t>
            </a:r>
            <a:r>
              <a:rPr lang="en-US" dirty="0"/>
              <a:t>x Miss penalty</a:t>
            </a:r>
            <a:r>
              <a:rPr lang="en-US" baseline="-25000" dirty="0"/>
              <a:t>L2</a:t>
            </a:r>
          </a:p>
        </p:txBody>
      </p:sp>
      <p:sp>
        <p:nvSpPr>
          <p:cNvPr id="877570" name="Rectangle 2"/>
          <p:cNvSpPr>
            <a:spLocks noGrp="1" noChangeArrowheads="1"/>
          </p:cNvSpPr>
          <p:nvPr>
            <p:ph type="title"/>
          </p:nvPr>
        </p:nvSpPr>
        <p:spPr>
          <a:xfrm>
            <a:off x="839416" y="116632"/>
            <a:ext cx="8386936" cy="742950"/>
          </a:xfrm>
          <a:noFill/>
          <a:ln/>
        </p:spPr>
        <p:txBody>
          <a:bodyPr vert="horz" lIns="90488" tIns="45720" rIns="90488" bIns="45720" rtlCol="0" anchor="ctr">
            <a:noAutofit/>
          </a:bodyPr>
          <a:lstStyle/>
          <a:p>
            <a:r>
              <a:rPr lang="en-US" dirty="0"/>
              <a:t>Memory stall per instruction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77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77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77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77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77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77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77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77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7571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619" name="Rectangle 3"/>
          <p:cNvSpPr>
            <a:spLocks noGrp="1" noChangeArrowheads="1"/>
          </p:cNvSpPr>
          <p:nvPr>
            <p:ph idx="1"/>
          </p:nvPr>
        </p:nvSpPr>
        <p:spPr>
          <a:xfrm>
            <a:off x="911424" y="838200"/>
            <a:ext cx="10902552" cy="3124200"/>
          </a:xfrm>
          <a:noFill/>
          <a:ln/>
        </p:spPr>
        <p:txBody>
          <a:bodyPr lIns="90488" rIns="90488"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solidFill>
                  <a:schemeClr val="hlink"/>
                </a:solidFill>
              </a:rPr>
              <a:t>Assume(p414):</a:t>
            </a:r>
            <a:r>
              <a:rPr lang="en-US" dirty="0"/>
              <a:t>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dirty="0"/>
              <a:t>L1 cache: Misses:   40 misses/1000 memory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dirty="0"/>
              <a:t>			Hit time: 1 clock cycles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dirty="0"/>
              <a:t>			Memory references per instruction: 1.5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dirty="0"/>
              <a:t>L2 cache: 20 misses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dirty="0"/>
              <a:t> 			Miss penalty: 100 clock cycles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dirty="0"/>
              <a:t>			     Hit time: 10 clock cycles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solidFill>
                  <a:schemeClr val="hlink"/>
                </a:solidFill>
              </a:rPr>
              <a:t>What is the average memory access time and average stall cycles per instruction </a:t>
            </a:r>
            <a:r>
              <a:rPr lang="en-US" sz="2000" dirty="0"/>
              <a:t>(Ignore the impact write) </a:t>
            </a:r>
            <a:r>
              <a:rPr lang="en-US" dirty="0">
                <a:solidFill>
                  <a:schemeClr val="hlink"/>
                </a:solidFill>
              </a:rPr>
              <a:t>?</a:t>
            </a:r>
            <a:endParaRPr lang="en-US" sz="3200" dirty="0"/>
          </a:p>
        </p:txBody>
      </p:sp>
      <p:sp>
        <p:nvSpPr>
          <p:cNvPr id="879618" name="Rectangle 2"/>
          <p:cNvSpPr>
            <a:spLocks noGrp="1" noChangeArrowheads="1"/>
          </p:cNvSpPr>
          <p:nvPr>
            <p:ph type="title"/>
          </p:nvPr>
        </p:nvSpPr>
        <p:spPr>
          <a:xfrm>
            <a:off x="911424" y="95250"/>
            <a:ext cx="8308776" cy="742950"/>
          </a:xfrm>
          <a:noFill/>
          <a:ln/>
        </p:spPr>
        <p:txBody>
          <a:bodyPr vert="horz" lIns="90488" tIns="45720" rIns="90488" bIns="45720" rtlCol="0" anchor="ctr">
            <a:noAutofit/>
          </a:bodyPr>
          <a:lstStyle/>
          <a:p>
            <a:r>
              <a:rPr lang="en-US" dirty="0"/>
              <a:t>Example7: </a:t>
            </a:r>
            <a:r>
              <a:rPr lang="en-US" sz="3200" dirty="0"/>
              <a:t>Multilevel cache</a:t>
            </a:r>
          </a:p>
        </p:txBody>
      </p:sp>
      <p:grpSp>
        <p:nvGrpSpPr>
          <p:cNvPr id="879620" name="Group 4"/>
          <p:cNvGrpSpPr>
            <a:grpSpLocks/>
          </p:cNvGrpSpPr>
          <p:nvPr/>
        </p:nvGrpSpPr>
        <p:grpSpPr bwMode="auto">
          <a:xfrm>
            <a:off x="1524000" y="4114800"/>
            <a:ext cx="9220200" cy="2362200"/>
            <a:chOff x="0" y="2592"/>
            <a:chExt cx="5808" cy="1488"/>
          </a:xfrm>
        </p:grpSpPr>
        <p:sp>
          <p:nvSpPr>
            <p:cNvPr id="879621" name="Rectangle 5"/>
            <p:cNvSpPr>
              <a:spLocks noChangeArrowheads="1"/>
            </p:cNvSpPr>
            <p:nvPr/>
          </p:nvSpPr>
          <p:spPr bwMode="auto">
            <a:xfrm>
              <a:off x="0" y="2592"/>
              <a:ext cx="5808" cy="1488"/>
            </a:xfrm>
            <a:prstGeom prst="rect">
              <a:avLst/>
            </a:prstGeom>
            <a:solidFill>
              <a:srgbClr val="BBFFBB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pPr marL="285750" indent="-285750" algn="l">
                <a:lnSpc>
                  <a:spcPct val="80000"/>
                </a:lnSpc>
                <a:spcBef>
                  <a:spcPct val="30000"/>
                </a:spcBef>
                <a:buSzPct val="100000"/>
              </a:pPr>
              <a:r>
                <a:rPr lang="en-US" sz="2400" dirty="0">
                  <a:solidFill>
                    <a:schemeClr val="hlink"/>
                  </a:solidFill>
                  <a:latin typeface="+mn-lt"/>
                </a:rPr>
                <a:t>Answer: </a:t>
              </a:r>
              <a:r>
                <a:rPr lang="en-US" sz="2400" dirty="0">
                  <a:latin typeface="+mn-lt"/>
                </a:rPr>
                <a:t>Calculating Miss rate for local and global.</a:t>
              </a:r>
            </a:p>
            <a:p>
              <a:pPr marL="285750" indent="-285750" algn="l">
                <a:lnSpc>
                  <a:spcPct val="80000"/>
                </a:lnSpc>
                <a:spcBef>
                  <a:spcPct val="30000"/>
                </a:spcBef>
                <a:buSzPct val="100000"/>
              </a:pPr>
              <a:endParaRPr lang="en-US" sz="2400" dirty="0">
                <a:latin typeface="+mn-lt"/>
              </a:endParaRPr>
            </a:p>
            <a:p>
              <a:pPr marL="285750" indent="-285750" algn="l">
                <a:lnSpc>
                  <a:spcPct val="80000"/>
                </a:lnSpc>
                <a:spcBef>
                  <a:spcPct val="30000"/>
                </a:spcBef>
                <a:buSzPct val="100000"/>
              </a:pPr>
              <a:endParaRPr lang="en-US" sz="2400" dirty="0">
                <a:latin typeface="+mn-lt"/>
              </a:endParaRPr>
            </a:p>
            <a:p>
              <a:pPr marL="285750" indent="-285750" algn="l">
                <a:lnSpc>
                  <a:spcPct val="80000"/>
                </a:lnSpc>
                <a:spcBef>
                  <a:spcPct val="30000"/>
                </a:spcBef>
                <a:buSzPct val="100000"/>
              </a:pPr>
              <a:endParaRPr lang="en-US" sz="2400" dirty="0">
                <a:latin typeface="+mn-lt"/>
              </a:endParaRPr>
            </a:p>
            <a:p>
              <a:pPr marL="285750" indent="-285750" algn="l">
                <a:lnSpc>
                  <a:spcPct val="80000"/>
                </a:lnSpc>
                <a:spcBef>
                  <a:spcPct val="30000"/>
                </a:spcBef>
                <a:buSzPct val="100000"/>
              </a:pPr>
              <a:r>
                <a:rPr lang="en-US" sz="2000" dirty="0" err="1">
                  <a:latin typeface="+mn-lt"/>
                </a:rPr>
                <a:t>AMAT</a:t>
              </a:r>
              <a:r>
                <a:rPr lang="en-US" altLang="zh-CN" sz="2000" dirty="0" err="1">
                  <a:latin typeface="+mn-lt"/>
                  <a:ea typeface="宋体" pitchFamily="2" charset="-122"/>
                </a:rPr>
                <a:t>＝Hit</a:t>
              </a:r>
              <a:r>
                <a:rPr lang="en-US" altLang="zh-CN" sz="2000" dirty="0">
                  <a:latin typeface="+mn-lt"/>
                  <a:ea typeface="宋体" pitchFamily="2" charset="-122"/>
                </a:rPr>
                <a:t> time</a:t>
              </a:r>
              <a:r>
                <a:rPr lang="en-US" altLang="zh-CN" sz="2000" baseline="-25000" dirty="0">
                  <a:latin typeface="+mn-lt"/>
                  <a:ea typeface="宋体" pitchFamily="2" charset="-122"/>
                </a:rPr>
                <a:t>L1</a:t>
              </a:r>
              <a:r>
                <a:rPr lang="en-US" altLang="zh-CN" sz="2000" dirty="0">
                  <a:latin typeface="+mn-lt"/>
                  <a:ea typeface="宋体" pitchFamily="2" charset="-122"/>
                </a:rPr>
                <a:t>+Miss rate</a:t>
              </a:r>
              <a:r>
                <a:rPr lang="en-US" altLang="zh-CN" sz="2000" baseline="-25000" dirty="0">
                  <a:latin typeface="+mn-lt"/>
                  <a:ea typeface="宋体" pitchFamily="2" charset="-122"/>
                </a:rPr>
                <a:t>L1</a:t>
              </a:r>
              <a:r>
                <a:rPr lang="en-US" altLang="zh-CN" sz="2000" dirty="0">
                  <a:latin typeface="+mn-lt"/>
                  <a:ea typeface="宋体" pitchFamily="2" charset="-122"/>
                </a:rPr>
                <a:t>×(Hit time</a:t>
              </a:r>
              <a:r>
                <a:rPr lang="en-US" altLang="zh-CN" sz="2000" baseline="-25000" dirty="0">
                  <a:latin typeface="+mn-lt"/>
                  <a:ea typeface="宋体" pitchFamily="2" charset="-122"/>
                </a:rPr>
                <a:t>L2</a:t>
              </a:r>
              <a:r>
                <a:rPr lang="en-US" altLang="zh-CN" sz="2000" dirty="0">
                  <a:latin typeface="+mn-lt"/>
                  <a:ea typeface="宋体" pitchFamily="2" charset="-122"/>
                </a:rPr>
                <a:t>+Miss rate</a:t>
              </a:r>
              <a:r>
                <a:rPr lang="en-US" altLang="zh-CN" sz="2000" baseline="-25000" dirty="0">
                  <a:latin typeface="+mn-lt"/>
                  <a:ea typeface="宋体" pitchFamily="2" charset="-122"/>
                </a:rPr>
                <a:t>L2</a:t>
              </a:r>
              <a:r>
                <a:rPr lang="en-US" altLang="zh-CN" sz="2000" dirty="0">
                  <a:latin typeface="+mn-lt"/>
                  <a:ea typeface="宋体" pitchFamily="2" charset="-122"/>
                </a:rPr>
                <a:t>×Miss penalty</a:t>
              </a:r>
              <a:r>
                <a:rPr lang="en-US" altLang="zh-CN" sz="2000" baseline="-25000" dirty="0">
                  <a:latin typeface="+mn-lt"/>
                  <a:ea typeface="宋体" pitchFamily="2" charset="-122"/>
                </a:rPr>
                <a:t>L2 </a:t>
              </a:r>
              <a:r>
                <a:rPr lang="en-US" altLang="zh-CN" sz="2000" dirty="0">
                  <a:latin typeface="+mn-lt"/>
                  <a:ea typeface="宋体" pitchFamily="2" charset="-122"/>
                </a:rPr>
                <a:t>)</a:t>
              </a:r>
            </a:p>
            <a:p>
              <a:pPr marL="285750" indent="-285750" algn="l">
                <a:lnSpc>
                  <a:spcPct val="80000"/>
                </a:lnSpc>
                <a:spcBef>
                  <a:spcPct val="30000"/>
                </a:spcBef>
                <a:buSzPct val="100000"/>
              </a:pPr>
              <a:r>
                <a:rPr lang="en-US" altLang="zh-CN" sz="2000" dirty="0">
                  <a:latin typeface="+mn-lt"/>
                  <a:ea typeface="宋体" pitchFamily="2" charset="-122"/>
                </a:rPr>
                <a:t>	    ＝1+4% ×(10+50% ×100)＝1+4% ×60＝3.4 clock cycle</a:t>
              </a:r>
              <a:endParaRPr lang="en-US" sz="2000" dirty="0">
                <a:latin typeface="+mn-lt"/>
                <a:ea typeface="宋体" pitchFamily="2" charset="-122"/>
              </a:endParaRPr>
            </a:p>
          </p:txBody>
        </p:sp>
        <p:graphicFrame>
          <p:nvGraphicFramePr>
            <p:cNvPr id="879622" name="Object 6"/>
            <p:cNvGraphicFramePr>
              <a:graphicFrameLocks noChangeAspect="1"/>
            </p:cNvGraphicFramePr>
            <p:nvPr/>
          </p:nvGraphicFramePr>
          <p:xfrm>
            <a:off x="336" y="2844"/>
            <a:ext cx="4752" cy="7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7" name="Equation" r:id="rId3" imgW="5765760" imgH="927000" progId="Equation.3">
                    <p:embed/>
                  </p:oleObj>
                </mc:Choice>
                <mc:Fallback>
                  <p:oleObj name="Equation" r:id="rId3" imgW="5765760" imgH="9270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2844"/>
                          <a:ext cx="4752" cy="744"/>
                        </a:xfrm>
                        <a:prstGeom prst="rect">
                          <a:avLst/>
                        </a:prstGeom>
                        <a:solidFill>
                          <a:srgbClr val="BBFFBB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79623" name="Rectangle 7"/>
          <p:cNvSpPr>
            <a:spLocks noChangeArrowheads="1"/>
          </p:cNvSpPr>
          <p:nvPr/>
        </p:nvSpPr>
        <p:spPr bwMode="auto">
          <a:xfrm>
            <a:off x="1638300" y="990600"/>
            <a:ext cx="8915400" cy="434340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285750" indent="-285750" algn="l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 dirty="0">
                <a:solidFill>
                  <a:schemeClr val="hlink"/>
                </a:solidFill>
                <a:latin typeface="+mn-lt"/>
              </a:rPr>
              <a:t>Misses number Per 1000 instructions: </a:t>
            </a:r>
          </a:p>
          <a:p>
            <a:pPr marL="285750" indent="-285750" algn="l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000" dirty="0">
                <a:latin typeface="+mn-lt"/>
                <a:ea typeface="宋体" pitchFamily="2" charset="-122"/>
              </a:rPr>
              <a:t>		L1</a:t>
            </a:r>
            <a:r>
              <a:rPr lang="en-US" altLang="zh-CN" sz="2000" dirty="0">
                <a:latin typeface="+mn-lt"/>
                <a:ea typeface="宋体" pitchFamily="2" charset="-122"/>
              </a:rPr>
              <a:t>(global)</a:t>
            </a:r>
            <a:r>
              <a:rPr lang="en-US" sz="2000" dirty="0">
                <a:latin typeface="+mn-lt"/>
                <a:ea typeface="宋体" pitchFamily="2" charset="-122"/>
              </a:rPr>
              <a:t>:	1.5 </a:t>
            </a:r>
            <a:r>
              <a:rPr lang="en-US" altLang="zh-CN" sz="2000" dirty="0">
                <a:latin typeface="+mn-lt"/>
                <a:ea typeface="宋体" pitchFamily="2" charset="-122"/>
              </a:rPr>
              <a:t>× 4% ×1000＝60 </a:t>
            </a:r>
          </a:p>
          <a:p>
            <a:pPr marL="285750" indent="-285750" algn="l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altLang="zh-CN" sz="2000" dirty="0">
                <a:latin typeface="+mn-lt"/>
                <a:ea typeface="宋体" pitchFamily="2" charset="-122"/>
              </a:rPr>
              <a:t>		L2(global): 	1.5  × 2% ×1000＝30</a:t>
            </a:r>
          </a:p>
          <a:p>
            <a:pPr marL="285750" indent="-285750" algn="l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altLang="zh-CN" sz="2000" i="1" dirty="0">
                <a:latin typeface="+mn-lt"/>
                <a:ea typeface="宋体" pitchFamily="2" charset="-122"/>
              </a:rPr>
              <a:t>Form average memory stalls per instruction for distributed uniformly:</a:t>
            </a:r>
          </a:p>
          <a:p>
            <a:pPr marL="285750" indent="-285750" algn="l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altLang="zh-CN" sz="2000" dirty="0">
                <a:latin typeface="+mn-lt"/>
                <a:ea typeface="宋体" pitchFamily="2" charset="-122"/>
              </a:rPr>
              <a:t>Form average memory stalls per instruction</a:t>
            </a:r>
          </a:p>
          <a:p>
            <a:pPr marL="285750" indent="-285750" algn="l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altLang="zh-CN" sz="2000" dirty="0">
                <a:latin typeface="+mn-lt"/>
                <a:ea typeface="宋体" pitchFamily="2" charset="-122"/>
              </a:rPr>
              <a:t>	＝Misses per instruction</a:t>
            </a:r>
            <a:r>
              <a:rPr lang="en-US" altLang="zh-CN" sz="2000" baseline="-25000" dirty="0">
                <a:latin typeface="+mn-lt"/>
                <a:ea typeface="宋体" pitchFamily="2" charset="-122"/>
              </a:rPr>
              <a:t>L1(global)</a:t>
            </a:r>
            <a:r>
              <a:rPr lang="en-US" altLang="zh-CN" sz="2000" dirty="0">
                <a:latin typeface="+mn-lt"/>
                <a:ea typeface="宋体" pitchFamily="2" charset="-122"/>
              </a:rPr>
              <a:t> ×Hit time</a:t>
            </a:r>
            <a:r>
              <a:rPr lang="en-US" altLang="zh-CN" sz="2000" baseline="-25000" dirty="0">
                <a:latin typeface="+mn-lt"/>
                <a:ea typeface="宋体" pitchFamily="2" charset="-122"/>
              </a:rPr>
              <a:t>L2</a:t>
            </a:r>
            <a:r>
              <a:rPr lang="en-US" altLang="zh-CN" sz="2000" dirty="0">
                <a:latin typeface="+mn-lt"/>
                <a:ea typeface="宋体" pitchFamily="2" charset="-122"/>
              </a:rPr>
              <a:t>+Misses per instruction</a:t>
            </a:r>
            <a:r>
              <a:rPr lang="en-US" altLang="zh-CN" sz="2000" baseline="-25000" dirty="0">
                <a:latin typeface="+mn-lt"/>
                <a:ea typeface="宋体" pitchFamily="2" charset="-122"/>
              </a:rPr>
              <a:t>L2(global)</a:t>
            </a:r>
          </a:p>
          <a:p>
            <a:pPr marL="285750" indent="-285750" algn="l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altLang="zh-CN" sz="2000" baseline="-25000" dirty="0">
                <a:latin typeface="+mn-lt"/>
                <a:ea typeface="宋体" pitchFamily="2" charset="-122"/>
              </a:rPr>
              <a:t>	   </a:t>
            </a:r>
            <a:r>
              <a:rPr lang="en-US" altLang="zh-CN" sz="2000" dirty="0">
                <a:latin typeface="+mn-lt"/>
                <a:ea typeface="宋体" pitchFamily="2" charset="-122"/>
              </a:rPr>
              <a:t>×Miss penalty</a:t>
            </a:r>
            <a:r>
              <a:rPr lang="en-US" altLang="zh-CN" sz="2000" baseline="-25000" dirty="0">
                <a:latin typeface="+mn-lt"/>
                <a:ea typeface="宋体" pitchFamily="2" charset="-122"/>
              </a:rPr>
              <a:t>L2</a:t>
            </a:r>
            <a:r>
              <a:rPr lang="en-US" altLang="zh-CN" sz="2000" dirty="0">
                <a:latin typeface="+mn-lt"/>
                <a:ea typeface="宋体" pitchFamily="2" charset="-122"/>
              </a:rPr>
              <a:t>＝(60/1000) ×10+(30/1000) ×100</a:t>
            </a:r>
          </a:p>
          <a:p>
            <a:pPr marL="285750" indent="-285750" algn="l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altLang="zh-CN" sz="2000" dirty="0">
                <a:latin typeface="+mn-lt"/>
                <a:ea typeface="宋体" pitchFamily="2" charset="-122"/>
              </a:rPr>
              <a:t>			       ＝0.060 ×10+0.030 ×100＝3.6 clock cycles</a:t>
            </a:r>
          </a:p>
          <a:p>
            <a:pPr marL="285750" indent="-285750" algn="l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altLang="zh-CN" sz="2000" dirty="0">
                <a:latin typeface="+mn-lt"/>
                <a:ea typeface="宋体" pitchFamily="2" charset="-122"/>
              </a:rPr>
              <a:t>	</a:t>
            </a:r>
            <a:r>
              <a:rPr lang="en-US" altLang="zh-CN" sz="2200" i="1" dirty="0">
                <a:latin typeface="+mn-lt"/>
                <a:ea typeface="宋体" pitchFamily="2" charset="-122"/>
              </a:rPr>
              <a:t>if we subtract the L1 hit time from AMAT and then multiply by the average number of memory references per </a:t>
            </a:r>
            <a:r>
              <a:rPr lang="en-US" altLang="zh-CN" sz="2200" i="1" dirty="0" err="1">
                <a:latin typeface="+mn-lt"/>
                <a:ea typeface="宋体" pitchFamily="2" charset="-122"/>
              </a:rPr>
              <a:t>instruction,we</a:t>
            </a:r>
            <a:r>
              <a:rPr lang="en-US" altLang="zh-CN" sz="2200" i="1" dirty="0">
                <a:latin typeface="+mn-lt"/>
                <a:ea typeface="宋体" pitchFamily="2" charset="-122"/>
              </a:rPr>
              <a:t> get the same average memory stalls per instruction: </a:t>
            </a:r>
          </a:p>
          <a:p>
            <a:pPr marL="285750" indent="-285750" algn="l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altLang="zh-CN" sz="2200" i="1" dirty="0">
                <a:latin typeface="+mn-lt"/>
                <a:ea typeface="宋体" pitchFamily="2" charset="-122"/>
              </a:rPr>
              <a:t>		</a:t>
            </a:r>
            <a:r>
              <a:rPr lang="en-US" altLang="zh-CN" sz="2200" dirty="0">
                <a:latin typeface="+mn-lt"/>
                <a:ea typeface="宋体" pitchFamily="2" charset="-122"/>
              </a:rPr>
              <a:t>(3.4-1.0) </a:t>
            </a:r>
            <a:r>
              <a:rPr lang="en-US" altLang="zh-CN" sz="2000" dirty="0">
                <a:latin typeface="+mn-lt"/>
                <a:ea typeface="宋体" pitchFamily="2" charset="-122"/>
              </a:rPr>
              <a:t>×1.5＝2.4 ×1.5＝3.6 clock cycles</a:t>
            </a:r>
            <a:endParaRPr lang="en-US" sz="2000" dirty="0">
              <a:latin typeface="+mn-lt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79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796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796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79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79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9623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43" name="Rectangle 3"/>
          <p:cNvSpPr>
            <a:spLocks noGrp="1" noChangeArrowheads="1"/>
          </p:cNvSpPr>
          <p:nvPr>
            <p:ph idx="1"/>
          </p:nvPr>
        </p:nvSpPr>
        <p:spPr>
          <a:xfrm>
            <a:off x="911424" y="1447800"/>
            <a:ext cx="10292952" cy="2590800"/>
          </a:xfrm>
          <a:noFill/>
          <a:ln/>
        </p:spPr>
        <p:txBody>
          <a:bodyPr lIns="90488" rIns="90488"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600" dirty="0">
                <a:solidFill>
                  <a:schemeClr val="hlink"/>
                </a:solidFill>
              </a:rPr>
              <a:t>Assume(p714):</a:t>
            </a:r>
            <a:r>
              <a:rPr lang="en-US" sz="2000" dirty="0"/>
              <a:t> Hit time</a:t>
            </a:r>
            <a:r>
              <a:rPr lang="en-US" sz="2000" baseline="-25000" dirty="0"/>
              <a:t>L2</a:t>
            </a:r>
            <a:r>
              <a:rPr lang="en-US" sz="2000" dirty="0"/>
              <a:t> for direct mapped = 10 clock cycles.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/>
              <a:t>		  Hit time</a:t>
            </a:r>
            <a:r>
              <a:rPr lang="en-US" sz="2000" baseline="-25000" dirty="0"/>
              <a:t>L2</a:t>
            </a:r>
            <a:r>
              <a:rPr lang="en-US" sz="2000" dirty="0"/>
              <a:t> for two-way set = </a:t>
            </a:r>
            <a:r>
              <a:rPr lang="en-US" altLang="zh-CN" sz="2000" dirty="0">
                <a:ea typeface="宋体" pitchFamily="2" charset="-122"/>
              </a:rPr>
              <a:t>10.1 clock cycles.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		  Local miss rate</a:t>
            </a:r>
            <a:r>
              <a:rPr lang="en-US" altLang="zh-CN" sz="2000" baseline="-25000" dirty="0">
                <a:ea typeface="宋体" pitchFamily="2" charset="-122"/>
              </a:rPr>
              <a:t>L2</a:t>
            </a:r>
            <a:r>
              <a:rPr lang="en-US" altLang="zh-CN" sz="2000" dirty="0">
                <a:ea typeface="宋体" pitchFamily="2" charset="-122"/>
              </a:rPr>
              <a:t> for direct mapped = 25%.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		  Local miss rate</a:t>
            </a:r>
            <a:r>
              <a:rPr lang="en-US" altLang="zh-CN" sz="2000" baseline="-25000" dirty="0">
                <a:ea typeface="宋体" pitchFamily="2" charset="-122"/>
              </a:rPr>
              <a:t>L2</a:t>
            </a:r>
            <a:r>
              <a:rPr lang="en-US" altLang="zh-CN" sz="2000" dirty="0">
                <a:ea typeface="宋体" pitchFamily="2" charset="-122"/>
              </a:rPr>
              <a:t> for two-way set associative =20%.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		  Miss penalty</a:t>
            </a:r>
            <a:r>
              <a:rPr lang="en-US" altLang="zh-CN" sz="2000" baseline="-25000" dirty="0">
                <a:ea typeface="宋体" pitchFamily="2" charset="-122"/>
              </a:rPr>
              <a:t>L2</a:t>
            </a:r>
            <a:r>
              <a:rPr lang="en-US" altLang="zh-CN" sz="2000" dirty="0">
                <a:ea typeface="宋体" pitchFamily="2" charset="-122"/>
              </a:rPr>
              <a:t> = 100 clock cycles.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200" dirty="0">
                <a:solidFill>
                  <a:schemeClr val="hlink"/>
                </a:solidFill>
                <a:ea typeface="宋体" pitchFamily="2" charset="-122"/>
              </a:rPr>
              <a:t>What is the impact of second-level cache associativity on its miss penalty?</a:t>
            </a:r>
          </a:p>
        </p:txBody>
      </p:sp>
      <p:sp>
        <p:nvSpPr>
          <p:cNvPr id="880642" name="Rectangle 2"/>
          <p:cNvSpPr>
            <a:spLocks noGrp="1" noChangeArrowheads="1"/>
          </p:cNvSpPr>
          <p:nvPr>
            <p:ph type="title"/>
          </p:nvPr>
        </p:nvSpPr>
        <p:spPr>
          <a:xfrm>
            <a:off x="911424" y="161925"/>
            <a:ext cx="8386936" cy="742950"/>
          </a:xfrm>
          <a:noFill/>
          <a:ln/>
        </p:spPr>
        <p:txBody>
          <a:bodyPr vert="horz" lIns="90488" tIns="45720" rIns="90488" bIns="45720" rtlCol="0" anchor="ctr">
            <a:noAutofit/>
          </a:bodyPr>
          <a:lstStyle/>
          <a:p>
            <a:r>
              <a:rPr lang="en-US" dirty="0"/>
              <a:t>Example8: </a:t>
            </a:r>
            <a:r>
              <a:rPr lang="en-US" sz="3200" dirty="0"/>
              <a:t>Multilevel cache</a:t>
            </a:r>
          </a:p>
        </p:txBody>
      </p:sp>
      <p:sp>
        <p:nvSpPr>
          <p:cNvPr id="880644" name="Rectangle 4"/>
          <p:cNvSpPr>
            <a:spLocks noChangeArrowheads="1"/>
          </p:cNvSpPr>
          <p:nvPr/>
        </p:nvSpPr>
        <p:spPr bwMode="auto">
          <a:xfrm>
            <a:off x="911424" y="4267200"/>
            <a:ext cx="10292952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285750" indent="-285750" algn="l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600" dirty="0">
                <a:solidFill>
                  <a:schemeClr val="hlink"/>
                </a:solidFill>
                <a:latin typeface="+mn-lt"/>
                <a:ea typeface="宋体" pitchFamily="2" charset="-122"/>
              </a:rPr>
              <a:t>Answer:</a:t>
            </a:r>
            <a:r>
              <a:rPr lang="en-US" sz="2000" dirty="0">
                <a:latin typeface="+mn-lt"/>
                <a:ea typeface="宋体" pitchFamily="2" charset="-122"/>
              </a:rPr>
              <a:t> For a direct-mapped L2 cache, L1 cache miss penalty is :</a:t>
            </a:r>
          </a:p>
          <a:p>
            <a:pPr marL="285750" indent="-28575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000" dirty="0">
                <a:latin typeface="+mn-lt"/>
                <a:ea typeface="宋体" pitchFamily="2" charset="-122"/>
              </a:rPr>
              <a:t>  </a:t>
            </a:r>
            <a:r>
              <a:rPr lang="en-US" sz="2200" dirty="0">
                <a:latin typeface="+mn-lt"/>
                <a:ea typeface="宋体" pitchFamily="2" charset="-122"/>
              </a:rPr>
              <a:t>Miss penalty</a:t>
            </a:r>
            <a:r>
              <a:rPr lang="en-US" sz="2200" baseline="-25000" dirty="0">
                <a:latin typeface="+mn-lt"/>
                <a:ea typeface="宋体" pitchFamily="2" charset="-122"/>
              </a:rPr>
              <a:t>1-wayL1</a:t>
            </a:r>
            <a:r>
              <a:rPr lang="en-US" altLang="zh-CN" sz="2200" dirty="0">
                <a:latin typeface="+mn-lt"/>
                <a:ea typeface="宋体" pitchFamily="2" charset="-122"/>
              </a:rPr>
              <a:t>＝</a:t>
            </a:r>
            <a:r>
              <a:rPr lang="en-US" sz="2200" dirty="0">
                <a:latin typeface="+mn-lt"/>
                <a:ea typeface="宋体" pitchFamily="2" charset="-122"/>
              </a:rPr>
              <a:t>10</a:t>
            </a:r>
            <a:r>
              <a:rPr lang="en-US" altLang="zh-CN" sz="2200" dirty="0">
                <a:latin typeface="+mn-lt"/>
                <a:ea typeface="宋体" pitchFamily="2" charset="-122"/>
              </a:rPr>
              <a:t>＋</a:t>
            </a:r>
            <a:r>
              <a:rPr lang="en-US" sz="2200" dirty="0">
                <a:latin typeface="+mn-lt"/>
                <a:ea typeface="宋体" pitchFamily="2" charset="-122"/>
              </a:rPr>
              <a:t>25%</a:t>
            </a:r>
            <a:r>
              <a:rPr lang="en-US" altLang="zh-CN" sz="2200" dirty="0">
                <a:latin typeface="+mn-lt"/>
                <a:ea typeface="宋体" pitchFamily="2" charset="-122"/>
              </a:rPr>
              <a:t>×100=35.0 clock cycles</a:t>
            </a:r>
          </a:p>
          <a:p>
            <a:pPr marL="285750" indent="-285750">
              <a:lnSpc>
                <a:spcPct val="80000"/>
              </a:lnSpc>
              <a:spcBef>
                <a:spcPct val="30000"/>
              </a:spcBef>
              <a:buSzPct val="100000"/>
            </a:pPr>
            <a:endParaRPr lang="en-US" altLang="zh-CN" sz="2200" dirty="0">
              <a:latin typeface="+mn-lt"/>
              <a:ea typeface="宋体" pitchFamily="2" charset="-122"/>
            </a:endParaRPr>
          </a:p>
          <a:p>
            <a:pPr marL="285750" indent="-285750" algn="l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altLang="zh-CN" sz="2000" dirty="0">
                <a:latin typeface="+mn-lt"/>
                <a:ea typeface="宋体" pitchFamily="2" charset="-122"/>
              </a:rPr>
              <a:t>Adding the cost of associativity increases the hit cost only 0.1 clock cycles, making the new L1 cache miss penalty</a:t>
            </a:r>
          </a:p>
          <a:p>
            <a:pPr marL="285750" indent="-28575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000" dirty="0">
                <a:latin typeface="+mn-lt"/>
                <a:ea typeface="宋体" pitchFamily="2" charset="-122"/>
              </a:rPr>
              <a:t>  </a:t>
            </a:r>
            <a:r>
              <a:rPr lang="en-US" sz="2200" dirty="0">
                <a:latin typeface="+mn-lt"/>
                <a:ea typeface="宋体" pitchFamily="2" charset="-122"/>
              </a:rPr>
              <a:t>Miss penalty</a:t>
            </a:r>
            <a:r>
              <a:rPr lang="en-US" sz="2200" baseline="-25000" dirty="0">
                <a:latin typeface="+mn-lt"/>
                <a:ea typeface="宋体" pitchFamily="2" charset="-122"/>
              </a:rPr>
              <a:t>2-wayL1</a:t>
            </a:r>
            <a:r>
              <a:rPr lang="en-US" sz="2200" dirty="0">
                <a:latin typeface="+mn-lt"/>
                <a:ea typeface="宋体" pitchFamily="2" charset="-122"/>
              </a:rPr>
              <a:t>=10.1</a:t>
            </a:r>
            <a:r>
              <a:rPr lang="en-US" altLang="zh-CN" sz="2200" dirty="0">
                <a:latin typeface="+mn-lt"/>
                <a:ea typeface="宋体" pitchFamily="2" charset="-122"/>
              </a:rPr>
              <a:t>＋</a:t>
            </a:r>
            <a:r>
              <a:rPr lang="en-US" sz="2200" dirty="0">
                <a:latin typeface="+mn-lt"/>
                <a:ea typeface="宋体" pitchFamily="2" charset="-122"/>
              </a:rPr>
              <a:t>20%</a:t>
            </a:r>
            <a:r>
              <a:rPr lang="en-US" altLang="zh-CN" sz="2200" dirty="0">
                <a:latin typeface="+mn-lt"/>
                <a:ea typeface="宋体" pitchFamily="2" charset="-122"/>
              </a:rPr>
              <a:t>×100=30.1 clock cycles</a:t>
            </a:r>
          </a:p>
        </p:txBody>
      </p:sp>
      <p:sp>
        <p:nvSpPr>
          <p:cNvPr id="880645" name="Rectangle 5"/>
          <p:cNvSpPr>
            <a:spLocks noChangeArrowheads="1"/>
          </p:cNvSpPr>
          <p:nvPr/>
        </p:nvSpPr>
        <p:spPr bwMode="auto">
          <a:xfrm>
            <a:off x="1676400" y="2286000"/>
            <a:ext cx="8915400" cy="251460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285750" indent="-285750" algn="l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altLang="zh-CN" sz="2200" dirty="0">
                <a:latin typeface="+mn-lt"/>
                <a:ea typeface="宋体" pitchFamily="2" charset="-122"/>
              </a:rPr>
              <a:t>In reality, </a:t>
            </a:r>
            <a:r>
              <a:rPr lang="en-US" altLang="zh-CN" sz="2200" dirty="0">
                <a:solidFill>
                  <a:schemeClr val="hlink"/>
                </a:solidFill>
                <a:latin typeface="+mn-lt"/>
                <a:ea typeface="宋体" pitchFamily="2" charset="-122"/>
              </a:rPr>
              <a:t>L2 cache</a:t>
            </a:r>
            <a:r>
              <a:rPr lang="en-US" altLang="zh-CN" sz="2200" dirty="0">
                <a:latin typeface="+mn-lt"/>
                <a:ea typeface="宋体" pitchFamily="2" charset="-122"/>
              </a:rPr>
              <a:t> are almost always synchronized with the </a:t>
            </a:r>
            <a:r>
              <a:rPr lang="en-US" altLang="zh-CN" sz="2200" dirty="0">
                <a:solidFill>
                  <a:schemeClr val="hlink"/>
                </a:solidFill>
                <a:latin typeface="+mn-lt"/>
                <a:ea typeface="宋体" pitchFamily="2" charset="-122"/>
              </a:rPr>
              <a:t>L1 cache</a:t>
            </a:r>
            <a:r>
              <a:rPr lang="en-US" altLang="zh-CN" sz="2200" dirty="0">
                <a:latin typeface="+mn-lt"/>
                <a:ea typeface="宋体" pitchFamily="2" charset="-122"/>
              </a:rPr>
              <a:t> and CPU. Accordingly, the L2 hit time must be an integral number of clock cycles. If we are </a:t>
            </a:r>
            <a:r>
              <a:rPr lang="en-US" altLang="zh-CN" sz="2200" dirty="0" err="1">
                <a:latin typeface="+mn-lt"/>
                <a:ea typeface="宋体" pitchFamily="2" charset="-122"/>
              </a:rPr>
              <a:t>lucky,we</a:t>
            </a:r>
            <a:r>
              <a:rPr lang="en-US" altLang="zh-CN" sz="2200" dirty="0">
                <a:latin typeface="+mn-lt"/>
                <a:ea typeface="宋体" pitchFamily="2" charset="-122"/>
              </a:rPr>
              <a:t> shave the second-level hit time to 10 </a:t>
            </a:r>
            <a:r>
              <a:rPr lang="en-US" altLang="zh-CN" sz="2200" dirty="0" err="1">
                <a:latin typeface="+mn-lt"/>
                <a:ea typeface="宋体" pitchFamily="2" charset="-122"/>
              </a:rPr>
              <a:t>cycles;if</a:t>
            </a:r>
            <a:r>
              <a:rPr lang="en-US" altLang="zh-CN" sz="2200" dirty="0">
                <a:latin typeface="+mn-lt"/>
                <a:ea typeface="宋体" pitchFamily="2" charset="-122"/>
              </a:rPr>
              <a:t> </a:t>
            </a:r>
            <a:r>
              <a:rPr lang="en-US" altLang="zh-CN" sz="2200" dirty="0" err="1">
                <a:latin typeface="+mn-lt"/>
                <a:ea typeface="宋体" pitchFamily="2" charset="-122"/>
              </a:rPr>
              <a:t>not,we</a:t>
            </a:r>
            <a:r>
              <a:rPr lang="en-US" altLang="zh-CN" sz="2200" dirty="0">
                <a:latin typeface="+mn-lt"/>
                <a:ea typeface="宋体" pitchFamily="2" charset="-122"/>
              </a:rPr>
              <a:t> round up to 11 cycles.  Either choice is an improvement over the direct-mapped L2 cache:</a:t>
            </a:r>
          </a:p>
          <a:p>
            <a:pPr marL="285750" indent="-285750" algn="l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200" dirty="0">
                <a:latin typeface="+mn-lt"/>
                <a:ea typeface="宋体" pitchFamily="2" charset="-122"/>
              </a:rPr>
              <a:t>   Miss penalty</a:t>
            </a:r>
            <a:r>
              <a:rPr lang="en-US" sz="2200" baseline="-25000" dirty="0">
                <a:latin typeface="+mn-lt"/>
                <a:ea typeface="宋体" pitchFamily="2" charset="-122"/>
              </a:rPr>
              <a:t>2-way L1</a:t>
            </a:r>
            <a:r>
              <a:rPr lang="en-US" altLang="zh-CN" sz="2200" dirty="0">
                <a:latin typeface="+mn-lt"/>
                <a:ea typeface="宋体" pitchFamily="2" charset="-122"/>
              </a:rPr>
              <a:t>＝</a:t>
            </a:r>
            <a:r>
              <a:rPr lang="en-US" sz="2200" dirty="0">
                <a:latin typeface="+mn-lt"/>
                <a:ea typeface="宋体" pitchFamily="2" charset="-122"/>
              </a:rPr>
              <a:t>10</a:t>
            </a:r>
            <a:r>
              <a:rPr lang="en-US" altLang="zh-CN" sz="2200" dirty="0">
                <a:latin typeface="+mn-lt"/>
                <a:ea typeface="宋体" pitchFamily="2" charset="-122"/>
              </a:rPr>
              <a:t>＋</a:t>
            </a:r>
            <a:r>
              <a:rPr lang="en-US" sz="2200" dirty="0">
                <a:latin typeface="+mn-lt"/>
                <a:ea typeface="宋体" pitchFamily="2" charset="-122"/>
              </a:rPr>
              <a:t>20%</a:t>
            </a:r>
            <a:r>
              <a:rPr lang="en-US" altLang="zh-CN" sz="2200" dirty="0">
                <a:latin typeface="+mn-lt"/>
                <a:ea typeface="宋体" pitchFamily="2" charset="-122"/>
              </a:rPr>
              <a:t>×100＝30.0 clock cycles</a:t>
            </a:r>
          </a:p>
          <a:p>
            <a:pPr marL="285750" indent="-285750" algn="l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200" dirty="0">
                <a:latin typeface="+mn-lt"/>
                <a:ea typeface="宋体" pitchFamily="2" charset="-122"/>
              </a:rPr>
              <a:t>   Miss penalty</a:t>
            </a:r>
            <a:r>
              <a:rPr lang="en-US" sz="2200" baseline="-25000" dirty="0">
                <a:latin typeface="+mn-lt"/>
                <a:ea typeface="宋体" pitchFamily="2" charset="-122"/>
              </a:rPr>
              <a:t>2-way L1</a:t>
            </a:r>
            <a:r>
              <a:rPr lang="en-US" altLang="zh-CN" sz="2200" dirty="0">
                <a:latin typeface="+mn-lt"/>
                <a:ea typeface="宋体" pitchFamily="2" charset="-122"/>
              </a:rPr>
              <a:t>＝</a:t>
            </a:r>
            <a:r>
              <a:rPr lang="en-US" sz="2200" dirty="0">
                <a:latin typeface="+mn-lt"/>
                <a:ea typeface="宋体" pitchFamily="2" charset="-122"/>
              </a:rPr>
              <a:t>11 </a:t>
            </a:r>
            <a:r>
              <a:rPr lang="en-US" altLang="zh-CN" sz="2200" dirty="0">
                <a:latin typeface="+mn-lt"/>
                <a:ea typeface="宋体" pitchFamily="2" charset="-122"/>
              </a:rPr>
              <a:t>＋</a:t>
            </a:r>
            <a:r>
              <a:rPr lang="en-US" sz="2200" dirty="0">
                <a:latin typeface="+mn-lt"/>
                <a:ea typeface="宋体" pitchFamily="2" charset="-122"/>
              </a:rPr>
              <a:t>20%</a:t>
            </a:r>
            <a:r>
              <a:rPr lang="en-US" altLang="zh-CN" sz="2200" dirty="0">
                <a:latin typeface="+mn-lt"/>
                <a:ea typeface="宋体" pitchFamily="2" charset="-122"/>
              </a:rPr>
              <a:t>×100＝31.0 clock cycles</a:t>
            </a:r>
          </a:p>
        </p:txBody>
      </p:sp>
      <p:sp>
        <p:nvSpPr>
          <p:cNvPr id="880646" name="Rectangle 6"/>
          <p:cNvSpPr>
            <a:spLocks noChangeArrowheads="1"/>
          </p:cNvSpPr>
          <p:nvPr/>
        </p:nvSpPr>
        <p:spPr bwMode="auto">
          <a:xfrm>
            <a:off x="1695450" y="2971800"/>
            <a:ext cx="8915400" cy="8382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285750" indent="-28575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altLang="zh-CN" sz="2800" dirty="0">
                <a:solidFill>
                  <a:schemeClr val="hlink"/>
                </a:solidFill>
                <a:latin typeface="+mn-lt"/>
                <a:ea typeface="宋体" pitchFamily="2" charset="-122"/>
              </a:rPr>
              <a:t>Now we can reduce the miss penalty by reducing the miss rate of the second-level cache</a:t>
            </a:r>
            <a:endParaRPr lang="en-US" sz="2800" dirty="0">
              <a:solidFill>
                <a:schemeClr val="hlink"/>
              </a:solidFill>
              <a:latin typeface="+mn-lt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80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880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880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44" grpId="0" autoUpdateAnimBg="0"/>
      <p:bldP spid="880645" grpId="0" animBg="1" autoUpdateAnimBg="0"/>
      <p:bldP spid="880646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667" name="Rectangle 3"/>
          <p:cNvSpPr>
            <a:spLocks noGrp="1" noChangeArrowheads="1"/>
          </p:cNvSpPr>
          <p:nvPr>
            <p:ph idx="1"/>
          </p:nvPr>
        </p:nvSpPr>
        <p:spPr>
          <a:xfrm>
            <a:off x="839416" y="1371600"/>
            <a:ext cx="10208368" cy="5105400"/>
          </a:xfrm>
          <a:noFill/>
          <a:ln/>
        </p:spPr>
        <p:txBody>
          <a:bodyPr lIns="90488" rIns="90488"/>
          <a:lstStyle/>
          <a:p>
            <a:pPr marL="457200" indent="-457200"/>
            <a:r>
              <a:rPr lang="en-US" altLang="zh-CN" dirty="0"/>
              <a:t>Critical Word First and Early Restart</a:t>
            </a:r>
            <a:endParaRPr lang="en-US" dirty="0"/>
          </a:p>
          <a:p>
            <a:pPr marL="857250" lvl="1" indent="-457200"/>
            <a:r>
              <a:rPr lang="en-US" dirty="0"/>
              <a:t>Don’t wait for full block to be loaded before restarting CPU</a:t>
            </a:r>
          </a:p>
          <a:p>
            <a:pPr marL="1200150" lvl="2" indent="-342900"/>
            <a:r>
              <a:rPr lang="en-US" i="1" u="sng" dirty="0">
                <a:solidFill>
                  <a:schemeClr val="hlink"/>
                </a:solidFill>
              </a:rPr>
              <a:t>Critical Word First</a:t>
            </a:r>
            <a:r>
              <a:rPr lang="en-US" dirty="0"/>
              <a:t>—Request the missed word first from memory and send it to the CPU as soon as it arrives; let the CPU continue execution while filling the rest of the words in the block. Also called </a:t>
            </a:r>
            <a:r>
              <a:rPr lang="en-US" i="1" dirty="0">
                <a:solidFill>
                  <a:schemeClr val="hlink"/>
                </a:solidFill>
              </a:rPr>
              <a:t>wrapped fetch</a:t>
            </a:r>
            <a:r>
              <a:rPr lang="en-US" dirty="0"/>
              <a:t> and </a:t>
            </a:r>
            <a:r>
              <a:rPr lang="en-US" i="1" dirty="0">
                <a:solidFill>
                  <a:schemeClr val="hlink"/>
                </a:solidFill>
              </a:rPr>
              <a:t>requested word  first</a:t>
            </a:r>
          </a:p>
          <a:p>
            <a:pPr marL="1200150" lvl="2" indent="-342900"/>
            <a:r>
              <a:rPr lang="en-US" i="1" u="sng" dirty="0">
                <a:solidFill>
                  <a:schemeClr val="hlink"/>
                </a:solidFill>
              </a:rPr>
              <a:t>Early restart</a:t>
            </a:r>
            <a:r>
              <a:rPr lang="en-US" dirty="0"/>
              <a:t>—As soon as the requested word of the block arrives, send it to the CPU and let the CPU continue execution</a:t>
            </a:r>
          </a:p>
          <a:p>
            <a:pPr marL="857250" lvl="1" indent="-457200"/>
            <a:r>
              <a:rPr lang="en-US" dirty="0"/>
              <a:t>Generally useful only in large blocks, </a:t>
            </a:r>
          </a:p>
          <a:p>
            <a:pPr marL="857250" lvl="1" indent="-457200"/>
            <a:r>
              <a:rPr lang="en-US" dirty="0"/>
              <a:t>Spatial locality =&gt; tend to want next sequential word, so not clear if benefit by early restart</a:t>
            </a:r>
          </a:p>
          <a:p>
            <a:pPr marL="457200" indent="-457200">
              <a:spcBef>
                <a:spcPct val="0"/>
              </a:spcBef>
            </a:pPr>
            <a:endParaRPr lang="en-US" altLang="zh-CN" dirty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881666" name="Rectangle 2"/>
          <p:cNvSpPr>
            <a:spLocks noGrp="1" noChangeArrowheads="1"/>
          </p:cNvSpPr>
          <p:nvPr>
            <p:ph type="title"/>
          </p:nvPr>
        </p:nvSpPr>
        <p:spPr>
          <a:xfrm>
            <a:off x="983432" y="-50800"/>
            <a:ext cx="8920336" cy="1143000"/>
          </a:xfrm>
          <a:noFill/>
          <a:ln/>
        </p:spPr>
        <p:txBody>
          <a:bodyPr vert="horz" lIns="90488" tIns="45720" rIns="90488" bIns="45720" rtlCol="0" anchor="ctr">
            <a:noAutofit/>
          </a:bodyPr>
          <a:lstStyle/>
          <a:p>
            <a:r>
              <a:rPr lang="en-US" dirty="0"/>
              <a:t>Second Miss Penalty Reduction Technique:</a:t>
            </a:r>
          </a:p>
        </p:txBody>
      </p:sp>
      <p:grpSp>
        <p:nvGrpSpPr>
          <p:cNvPr id="881668" name="Group 4"/>
          <p:cNvGrpSpPr>
            <a:grpSpLocks/>
          </p:cNvGrpSpPr>
          <p:nvPr/>
        </p:nvGrpSpPr>
        <p:grpSpPr bwMode="auto">
          <a:xfrm>
            <a:off x="3359696" y="5175250"/>
            <a:ext cx="4673600" cy="622300"/>
            <a:chOff x="1008" y="3600"/>
            <a:chExt cx="2944" cy="392"/>
          </a:xfrm>
        </p:grpSpPr>
        <p:sp>
          <p:nvSpPr>
            <p:cNvPr id="881669" name="Rectangle 5"/>
            <p:cNvSpPr>
              <a:spLocks noChangeArrowheads="1"/>
            </p:cNvSpPr>
            <p:nvPr/>
          </p:nvSpPr>
          <p:spPr bwMode="auto">
            <a:xfrm>
              <a:off x="1008" y="3600"/>
              <a:ext cx="2312" cy="3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1670" name="Rectangle 6"/>
            <p:cNvSpPr>
              <a:spLocks noChangeArrowheads="1"/>
            </p:cNvSpPr>
            <p:nvPr/>
          </p:nvSpPr>
          <p:spPr bwMode="auto">
            <a:xfrm>
              <a:off x="2076" y="3600"/>
              <a:ext cx="512" cy="392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1671" name="Rectangle 7"/>
            <p:cNvSpPr>
              <a:spLocks noChangeArrowheads="1"/>
            </p:cNvSpPr>
            <p:nvPr/>
          </p:nvSpPr>
          <p:spPr bwMode="auto">
            <a:xfrm>
              <a:off x="3459" y="3656"/>
              <a:ext cx="49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/>
              <a:r>
                <a:rPr lang="en-US" sz="2000">
                  <a:latin typeface="Arial" pitchFamily="34" charset="0"/>
                </a:rPr>
                <a:t>block</a:t>
              </a:r>
            </a:p>
          </p:txBody>
        </p:sp>
      </p:grp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692" name="Rectangle 4"/>
          <p:cNvSpPr>
            <a:spLocks noGrp="1" noChangeArrowheads="1"/>
          </p:cNvSpPr>
          <p:nvPr>
            <p:ph idx="1"/>
          </p:nvPr>
        </p:nvSpPr>
        <p:spPr>
          <a:xfrm>
            <a:off x="911424" y="838200"/>
            <a:ext cx="10369152" cy="2895600"/>
          </a:xfrm>
          <a:noFill/>
          <a:ln/>
        </p:spPr>
        <p:txBody>
          <a:bodyPr lIns="90488" rIns="90488"/>
          <a:lstStyle/>
          <a:p>
            <a:pPr marL="457200" indent="-457200">
              <a:spcBef>
                <a:spcPct val="0"/>
              </a:spcBef>
              <a:buNone/>
            </a:pPr>
            <a:r>
              <a:rPr lang="en-US" sz="3000" dirty="0">
                <a:solidFill>
                  <a:schemeClr val="hlink"/>
                </a:solidFill>
              </a:rPr>
              <a:t>Assume(p419): </a:t>
            </a:r>
            <a:r>
              <a:rPr lang="en-US" sz="2000" dirty="0"/>
              <a:t>cache block</a:t>
            </a:r>
            <a:r>
              <a:rPr lang="en-US" altLang="zh-CN" sz="2000" dirty="0">
                <a:ea typeface="宋体" pitchFamily="2" charset="-122"/>
              </a:rPr>
              <a:t>＝64-byte 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2000" dirty="0">
                <a:ea typeface="宋体" pitchFamily="2" charset="-122"/>
              </a:rPr>
              <a:t>	L2: take 11 CLK to get the critical 8 bytes,	(AMD Athlon)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2000" dirty="0">
                <a:ea typeface="宋体" pitchFamily="2" charset="-122"/>
              </a:rPr>
              <a:t>		 and then 2 CLK per 8 byte to fetch the rest of the block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2000" dirty="0">
                <a:ea typeface="宋体" pitchFamily="2" charset="-122"/>
              </a:rPr>
              <a:t>		There will be no other accesses to rest of the block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hlink"/>
                </a:solidFill>
                <a:ea typeface="宋体" pitchFamily="2" charset="-122"/>
              </a:rPr>
              <a:t>Calculate the average miss penalty for critical word first.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hlink"/>
                </a:solidFill>
                <a:ea typeface="宋体" pitchFamily="2" charset="-122"/>
              </a:rPr>
              <a:t>	</a:t>
            </a:r>
            <a:r>
              <a:rPr lang="en-US" altLang="zh-CN" sz="2000" dirty="0">
                <a:ea typeface="宋体" pitchFamily="2" charset="-122"/>
              </a:rPr>
              <a:t>Then assuming the following instructions read data sequentially 8 bytes at a time from the rest of the block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hlink"/>
                </a:solidFill>
                <a:ea typeface="宋体" pitchFamily="2" charset="-122"/>
              </a:rPr>
              <a:t>Compare the times with and without critical word first.</a:t>
            </a:r>
          </a:p>
        </p:txBody>
      </p:sp>
      <p:sp>
        <p:nvSpPr>
          <p:cNvPr id="882691" name="Rectangle 3"/>
          <p:cNvSpPr>
            <a:spLocks noGrp="1" noChangeArrowheads="1"/>
          </p:cNvSpPr>
          <p:nvPr>
            <p:ph type="title"/>
          </p:nvPr>
        </p:nvSpPr>
        <p:spPr>
          <a:xfrm>
            <a:off x="911424" y="260648"/>
            <a:ext cx="9457928" cy="533400"/>
          </a:xfrm>
          <a:noFill/>
          <a:ln/>
        </p:spPr>
        <p:txBody>
          <a:bodyPr vert="horz" lIns="90488" tIns="45720" rIns="90488" bIns="45720" rtlCol="0" anchor="ctr">
            <a:noAutofit/>
          </a:bodyPr>
          <a:lstStyle/>
          <a:p>
            <a:r>
              <a:rPr lang="en-US" sz="3000" dirty="0"/>
              <a:t>Example9:</a:t>
            </a:r>
            <a:r>
              <a:rPr lang="en-US" dirty="0"/>
              <a:t> Critical Word First</a:t>
            </a:r>
          </a:p>
        </p:txBody>
      </p:sp>
      <p:sp>
        <p:nvSpPr>
          <p:cNvPr id="882690" name="Rectangle 2"/>
          <p:cNvSpPr>
            <a:spLocks noChangeArrowheads="1"/>
          </p:cNvSpPr>
          <p:nvPr/>
        </p:nvSpPr>
        <p:spPr bwMode="auto">
          <a:xfrm>
            <a:off x="1578848" y="3657600"/>
            <a:ext cx="8991600" cy="3124200"/>
          </a:xfrm>
          <a:prstGeom prst="rect">
            <a:avLst/>
          </a:prstGeom>
          <a:solidFill>
            <a:srgbClr val="D2FAF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457200" indent="-457200" algn="l">
              <a:buSzPct val="100000"/>
            </a:pPr>
            <a:r>
              <a:rPr lang="en-US" sz="3000" dirty="0">
                <a:solidFill>
                  <a:schemeClr val="hlink"/>
                </a:solidFill>
                <a:latin typeface="+mn-lt"/>
              </a:rPr>
              <a:t>Answer: </a:t>
            </a:r>
          </a:p>
          <a:p>
            <a:pPr marL="457200" indent="-457200" algn="l">
              <a:buSzPct val="100000"/>
            </a:pPr>
            <a:r>
              <a:rPr lang="en-US" sz="2000" dirty="0">
                <a:latin typeface="+mn-lt"/>
              </a:rPr>
              <a:t>The average miss penalty is 11 clock cycles for critical word first.</a:t>
            </a:r>
          </a:p>
          <a:p>
            <a:pPr marL="457200" indent="-457200" algn="l">
              <a:buSzPct val="100000"/>
            </a:pPr>
            <a:r>
              <a:rPr lang="en-US" altLang="zh-CN" sz="2000" dirty="0">
                <a:latin typeface="+mn-lt"/>
                <a:ea typeface="宋体" pitchFamily="2" charset="-122"/>
              </a:rPr>
              <a:t>The Athlon can issue 2 loads per clock, which is faster the L2 cache can supply data. Thus,  for the CPU to sequentially read a full cache block it would take: </a:t>
            </a:r>
          </a:p>
          <a:p>
            <a:pPr marL="457200" indent="-457200">
              <a:buSzPct val="100000"/>
            </a:pPr>
            <a:r>
              <a:rPr lang="en-US" altLang="zh-CN" sz="2000" dirty="0">
                <a:latin typeface="+mn-lt"/>
                <a:ea typeface="宋体" pitchFamily="2" charset="-122"/>
              </a:rPr>
              <a:t>11+(8-1) </a:t>
            </a:r>
            <a:r>
              <a:rPr lang="en-US" altLang="zh-CN" sz="2200" dirty="0">
                <a:latin typeface="+mn-lt"/>
                <a:ea typeface="宋体" pitchFamily="2" charset="-122"/>
              </a:rPr>
              <a:t>×2＝25 clock cycle</a:t>
            </a:r>
          </a:p>
          <a:p>
            <a:pPr marL="457200" indent="-457200" algn="l">
              <a:buSzPct val="100000"/>
            </a:pPr>
            <a:r>
              <a:rPr lang="en-US" altLang="zh-CN" sz="2200" dirty="0">
                <a:latin typeface="+mn-lt"/>
                <a:ea typeface="宋体" pitchFamily="2" charset="-122"/>
              </a:rPr>
              <a:t>Without </a:t>
            </a:r>
            <a:r>
              <a:rPr lang="en-US" sz="2000" dirty="0">
                <a:latin typeface="+mn-lt"/>
              </a:rPr>
              <a:t>for critical word first, it would take 25 clock cycles to load the block, and then 8/2 or 4 clocks to issue the </a:t>
            </a:r>
            <a:r>
              <a:rPr lang="en-US" sz="2000" dirty="0" err="1">
                <a:latin typeface="+mn-lt"/>
              </a:rPr>
              <a:t>loadd</a:t>
            </a:r>
            <a:r>
              <a:rPr lang="en-US" sz="2000" dirty="0">
                <a:latin typeface="+mn-lt"/>
              </a:rPr>
              <a:t>, giving 29 clock cycles total</a:t>
            </a:r>
            <a:endParaRPr lang="en-US" altLang="zh-CN" sz="2000" dirty="0">
              <a:latin typeface="+mn-lt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2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826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826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826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826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826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826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82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2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2692" grpId="0" build="p" autoUpdateAnimBg="0" advAuto="0"/>
      <p:bldP spid="882690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715" name="Rectangle 3"/>
          <p:cNvSpPr>
            <a:spLocks noGrp="1" noChangeArrowheads="1"/>
          </p:cNvSpPr>
          <p:nvPr>
            <p:ph idx="1"/>
          </p:nvPr>
        </p:nvSpPr>
        <p:spPr>
          <a:xfrm>
            <a:off x="911424" y="914400"/>
            <a:ext cx="10692664" cy="2438400"/>
          </a:xfrm>
        </p:spPr>
        <p:txBody>
          <a:bodyPr/>
          <a:lstStyle/>
          <a:p>
            <a:endParaRPr lang="en-US" altLang="zh-CN" i="1" dirty="0">
              <a:ea typeface="宋体" pitchFamily="2" charset="-122"/>
            </a:endParaRPr>
          </a:p>
          <a:p>
            <a:r>
              <a:rPr lang="en-US" altLang="zh-CN" dirty="0"/>
              <a:t>Giving Priority to Read Misses over Writes</a:t>
            </a:r>
            <a:endParaRPr lang="en-US" altLang="zh-CN" i="1" dirty="0">
              <a:ea typeface="宋体" pitchFamily="2" charset="-122"/>
            </a:endParaRPr>
          </a:p>
          <a:p>
            <a:pPr lvl="1"/>
            <a:r>
              <a:rPr lang="en-US" altLang="zh-CN" i="1" dirty="0">
                <a:ea typeface="宋体" pitchFamily="2" charset="-122"/>
              </a:rPr>
              <a:t>If a system has a write buffer, writes can be delayed to come after reads.</a:t>
            </a:r>
            <a:r>
              <a:rPr lang="en-US" altLang="zh-CN" dirty="0">
                <a:ea typeface="宋体" pitchFamily="2" charset="-122"/>
              </a:rPr>
              <a:t> </a:t>
            </a:r>
          </a:p>
          <a:p>
            <a:pPr lvl="1"/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i="1" dirty="0">
                <a:ea typeface="宋体" pitchFamily="2" charset="-122"/>
              </a:rPr>
              <a:t>The system must, however, be careful to check the write buffer to see if the value being read is about to be written.</a:t>
            </a:r>
            <a:r>
              <a:rPr lang="en-US" altLang="zh-CN" dirty="0">
                <a:ea typeface="宋体" pitchFamily="2" charset="-122"/>
              </a:rPr>
              <a:t> </a:t>
            </a:r>
          </a:p>
        </p:txBody>
      </p:sp>
      <p:sp>
        <p:nvSpPr>
          <p:cNvPr id="883714" name="Rectangle 2"/>
          <p:cNvSpPr>
            <a:spLocks noGrp="1" noChangeArrowheads="1"/>
          </p:cNvSpPr>
          <p:nvPr>
            <p:ph type="title"/>
          </p:nvPr>
        </p:nvSpPr>
        <p:spPr>
          <a:xfrm>
            <a:off x="911424" y="0"/>
            <a:ext cx="9756576" cy="1143000"/>
          </a:xfrm>
        </p:spPr>
        <p:txBody>
          <a:bodyPr/>
          <a:lstStyle/>
          <a:p>
            <a:r>
              <a:rPr lang="en-US" dirty="0"/>
              <a:t>Third Miss Penalty Reduction Technique: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883716" name="Rectangle 4"/>
          <p:cNvSpPr>
            <a:spLocks noChangeArrowheads="1"/>
          </p:cNvSpPr>
          <p:nvPr/>
        </p:nvSpPr>
        <p:spPr bwMode="auto">
          <a:xfrm>
            <a:off x="2286000" y="4003675"/>
            <a:ext cx="7772400" cy="215265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  <a:spcBef>
                <a:spcPct val="50000"/>
              </a:spcBef>
              <a:buSzPct val="100000"/>
              <a:buFontTx/>
              <a:buChar char="•"/>
            </a:pPr>
            <a:r>
              <a:rPr lang="en-US" sz="2400" dirty="0">
                <a:solidFill>
                  <a:schemeClr val="hlink"/>
                </a:solidFill>
                <a:latin typeface="+mn-lt"/>
              </a:rPr>
              <a:t>Write-through</a:t>
            </a:r>
            <a:r>
              <a:rPr lang="en-US" sz="2400" dirty="0">
                <a:latin typeface="+mn-lt"/>
              </a:rPr>
              <a:t> w/ write buffers =&gt; RAW conflicts with main memory reads on cache misses</a:t>
            </a:r>
          </a:p>
          <a:p>
            <a:pPr lvl="1" algn="l">
              <a:lnSpc>
                <a:spcPct val="90000"/>
              </a:lnSpc>
              <a:spcBef>
                <a:spcPct val="50000"/>
              </a:spcBef>
              <a:buSzPct val="100000"/>
              <a:buFontTx/>
              <a:buChar char="–"/>
            </a:pPr>
            <a:r>
              <a:rPr lang="en-US" sz="2000" dirty="0">
                <a:latin typeface="+mn-lt"/>
              </a:rPr>
              <a:t>If simply wait for write buffer to empty, might increase read miss penalty (old MIPS 1000 by 50% )</a:t>
            </a:r>
          </a:p>
          <a:p>
            <a:pPr lvl="1" algn="l">
              <a:lnSpc>
                <a:spcPct val="90000"/>
              </a:lnSpc>
              <a:spcBef>
                <a:spcPct val="50000"/>
              </a:spcBef>
              <a:buSzPct val="100000"/>
              <a:buFontTx/>
              <a:buChar char="–"/>
            </a:pPr>
            <a:r>
              <a:rPr lang="en-US" sz="2000" dirty="0">
                <a:latin typeface="+mn-lt"/>
              </a:rPr>
              <a:t>Check write buffer contents before read; 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if no conflicts, let the memory access continue</a:t>
            </a:r>
          </a:p>
        </p:txBody>
      </p:sp>
      <p:sp>
        <p:nvSpPr>
          <p:cNvPr id="883717" name="Rectangle 5"/>
          <p:cNvSpPr>
            <a:spLocks noChangeArrowheads="1"/>
          </p:cNvSpPr>
          <p:nvPr/>
        </p:nvSpPr>
        <p:spPr bwMode="auto">
          <a:xfrm>
            <a:off x="1905000" y="1773238"/>
            <a:ext cx="8534400" cy="2162175"/>
          </a:xfrm>
          <a:prstGeom prst="rect">
            <a:avLst/>
          </a:prstGeom>
          <a:solidFill>
            <a:srgbClr val="C0D2FE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•"/>
            </a:pPr>
            <a:r>
              <a:rPr lang="en-US" sz="2400" dirty="0">
                <a:solidFill>
                  <a:schemeClr val="hlink"/>
                </a:solidFill>
                <a:latin typeface="+mn-lt"/>
              </a:rPr>
              <a:t>Write-back</a:t>
            </a:r>
            <a:r>
              <a:rPr lang="en-US" sz="2400" dirty="0">
                <a:latin typeface="+mn-lt"/>
              </a:rPr>
              <a:t> want buffer to hold displaced blocks</a:t>
            </a:r>
          </a:p>
          <a:p>
            <a:pPr lvl="1" algn="l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r>
              <a:rPr lang="en-US" sz="2000" dirty="0">
                <a:latin typeface="+mn-lt"/>
              </a:rPr>
              <a:t>Read miss replacing dirty block</a:t>
            </a:r>
          </a:p>
          <a:p>
            <a:pPr lvl="1" algn="l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r>
              <a:rPr lang="en-US" sz="2000" dirty="0">
                <a:latin typeface="+mn-lt"/>
              </a:rPr>
              <a:t>Normal: Write dirty block to memory, and then do the read</a:t>
            </a:r>
          </a:p>
          <a:p>
            <a:pPr lvl="1" algn="l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r>
              <a:rPr lang="en-US" sz="2000" dirty="0">
                <a:latin typeface="+mn-lt"/>
              </a:rPr>
              <a:t>Instead copy the dirty block to a write buffer, then do the read, and then do the write</a:t>
            </a:r>
          </a:p>
          <a:p>
            <a:pPr lvl="1" algn="l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r>
              <a:rPr lang="en-US" sz="2000" dirty="0">
                <a:latin typeface="+mn-lt"/>
              </a:rPr>
              <a:t>CPU stall less since restarts as soon as do read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83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883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3716" grpId="0" animBg="1" autoUpdateAnimBg="0"/>
      <p:bldP spid="883717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739" name="Rectangle 3"/>
          <p:cNvSpPr>
            <a:spLocks noGrp="1" noChangeArrowheads="1"/>
          </p:cNvSpPr>
          <p:nvPr>
            <p:ph idx="1"/>
          </p:nvPr>
        </p:nvSpPr>
        <p:spPr>
          <a:xfrm>
            <a:off x="911424" y="1219200"/>
            <a:ext cx="10216752" cy="2590800"/>
          </a:xfrm>
          <a:noFill/>
          <a:ln/>
        </p:spPr>
        <p:txBody>
          <a:bodyPr lIns="90488" rIns="90488"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600" dirty="0">
                <a:solidFill>
                  <a:schemeClr val="hlink"/>
                </a:solidFill>
              </a:rPr>
              <a:t>Assume:</a:t>
            </a:r>
            <a:r>
              <a:rPr lang="en-US" dirty="0"/>
              <a:t>  </a:t>
            </a:r>
            <a:r>
              <a:rPr lang="en-US" sz="2000" dirty="0"/>
              <a:t>Code sequence following: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/>
              <a:t>	SW R3, 512(R0)		; M[512]</a:t>
            </a:r>
            <a:r>
              <a:rPr lang="en-US" altLang="zh-CN" sz="2000" dirty="0">
                <a:ea typeface="宋体" pitchFamily="2" charset="-122"/>
              </a:rPr>
              <a:t>←R3	(cache index 0)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/>
              <a:t>	LW R1, 1024(R0)		; </a:t>
            </a:r>
            <a:r>
              <a:rPr lang="en-US" altLang="zh-CN" sz="2000" dirty="0">
                <a:ea typeface="宋体" pitchFamily="2" charset="-122"/>
              </a:rPr>
              <a:t>R1←</a:t>
            </a:r>
            <a:r>
              <a:rPr lang="en-US" sz="2000" dirty="0"/>
              <a:t>M[1024]</a:t>
            </a:r>
            <a:r>
              <a:rPr lang="en-US" altLang="zh-CN" sz="2000" dirty="0">
                <a:ea typeface="宋体" pitchFamily="2" charset="-122"/>
              </a:rPr>
              <a:t> 	(cache index 0)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/>
              <a:t>	LW R2, 512(R0)		; </a:t>
            </a:r>
            <a:r>
              <a:rPr lang="en-US" altLang="zh-CN" sz="2000" dirty="0">
                <a:ea typeface="宋体" pitchFamily="2" charset="-122"/>
              </a:rPr>
              <a:t>R2←</a:t>
            </a:r>
            <a:r>
              <a:rPr lang="en-US" sz="2000" dirty="0"/>
              <a:t>M[512]</a:t>
            </a:r>
            <a:r>
              <a:rPr lang="en-US" altLang="zh-CN" sz="2000" dirty="0">
                <a:ea typeface="宋体" pitchFamily="2" charset="-122"/>
              </a:rPr>
              <a:t> 	(cache index 0)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Direct-mapped, write-through cache that maps 512 and 1024 to the same block, and a four-word write buffer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dirty="0">
                <a:solidFill>
                  <a:schemeClr val="hlink"/>
                </a:solidFill>
                <a:ea typeface="宋体" pitchFamily="2" charset="-122"/>
              </a:rPr>
              <a:t>Will the value in R2 always be equal to the value in R3?</a:t>
            </a:r>
            <a:endParaRPr lang="zh-CN" altLang="en-US" dirty="0">
              <a:solidFill>
                <a:schemeClr val="hlink"/>
              </a:solidFill>
              <a:ea typeface="宋体" pitchFamily="2" charset="-122"/>
            </a:endParaRPr>
          </a:p>
        </p:txBody>
      </p:sp>
      <p:sp>
        <p:nvSpPr>
          <p:cNvPr id="8847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39044" y="-3780"/>
            <a:ext cx="8686800" cy="1143000"/>
          </a:xfrm>
          <a:noFill/>
          <a:ln/>
        </p:spPr>
        <p:txBody>
          <a:bodyPr vert="horz" lIns="90488" tIns="45720" rIns="90488" bIns="45720" rtlCol="0" anchor="ctr">
            <a:noAutofit/>
          </a:bodyPr>
          <a:lstStyle/>
          <a:p>
            <a:r>
              <a:rPr lang="en-US" sz="2400" dirty="0"/>
              <a:t>Example10: Giving Priority to Read Misses over Writes</a:t>
            </a:r>
          </a:p>
        </p:txBody>
      </p:sp>
      <p:sp>
        <p:nvSpPr>
          <p:cNvPr id="884740" name="Text Box 4"/>
          <p:cNvSpPr txBox="1">
            <a:spLocks noChangeArrowheads="1"/>
          </p:cNvSpPr>
          <p:nvPr/>
        </p:nvSpPr>
        <p:spPr bwMode="auto">
          <a:xfrm>
            <a:off x="1828800" y="3276600"/>
            <a:ext cx="8382000" cy="3417888"/>
          </a:xfrm>
          <a:prstGeom prst="rect">
            <a:avLst/>
          </a:prstGeom>
          <a:solidFill>
            <a:srgbClr val="D2FAF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sz="2200">
                <a:solidFill>
                  <a:schemeClr val="hlink"/>
                </a:solidFill>
                <a:latin typeface="Arial" pitchFamily="34" charset="0"/>
              </a:rPr>
              <a:t>Answer: </a:t>
            </a:r>
            <a:r>
              <a:rPr lang="en-US" sz="2200">
                <a:latin typeface="Arial" pitchFamily="34" charset="0"/>
              </a:rPr>
              <a:t> </a:t>
            </a:r>
            <a:r>
              <a:rPr lang="en-US" sz="2000">
                <a:latin typeface="Arial" pitchFamily="34" charset="0"/>
              </a:rPr>
              <a:t>There is a read-after-write data hazard in memory. </a:t>
            </a:r>
          </a:p>
          <a:p>
            <a:pPr algn="l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sz="2000">
                <a:latin typeface="Arial" pitchFamily="34" charset="0"/>
              </a:rPr>
              <a:t>Let’s follow a cache access to see the danger. </a:t>
            </a:r>
          </a:p>
          <a:p>
            <a:pPr algn="l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sz="2000">
                <a:latin typeface="Arial" pitchFamily="34" charset="0"/>
              </a:rPr>
              <a:t>The data in R3 are placed into the write buffer after the store. </a:t>
            </a:r>
          </a:p>
          <a:p>
            <a:pPr algn="l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sz="2000">
                <a:latin typeface="Arial" pitchFamily="34" charset="0"/>
              </a:rPr>
              <a:t>The following load uses the same cache index and is therefore a miss. </a:t>
            </a:r>
          </a:p>
          <a:p>
            <a:pPr algn="l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sz="2000">
                <a:latin typeface="Arial" pitchFamily="34" charset="0"/>
              </a:rPr>
              <a:t>The second load instruction tries to put the value in location 512 into register R2;  this also results in a miss. </a:t>
            </a:r>
          </a:p>
          <a:p>
            <a:pPr algn="l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sz="2000">
                <a:latin typeface="Arial" pitchFamily="34" charset="0"/>
              </a:rPr>
              <a:t>If the </a:t>
            </a:r>
            <a:r>
              <a:rPr lang="en-US" sz="2000">
                <a:solidFill>
                  <a:schemeClr val="hlink"/>
                </a:solidFill>
                <a:latin typeface="Arial" pitchFamily="34" charset="0"/>
              </a:rPr>
              <a:t>write buffer</a:t>
            </a:r>
            <a:r>
              <a:rPr lang="en-US" sz="2000">
                <a:latin typeface="Arial" pitchFamily="34" charset="0"/>
              </a:rPr>
              <a:t> </a:t>
            </a:r>
            <a:r>
              <a:rPr lang="en-US" sz="2000">
                <a:solidFill>
                  <a:schemeClr val="hlink"/>
                </a:solidFill>
                <a:latin typeface="Arial" pitchFamily="34" charset="0"/>
              </a:rPr>
              <a:t>hasn’t completed</a:t>
            </a:r>
            <a:r>
              <a:rPr lang="en-US" sz="2000">
                <a:latin typeface="Arial" pitchFamily="34" charset="0"/>
              </a:rPr>
              <a:t> writing to location 512 in memory, the read of location 512 will put the old, wrong value into the cache block, and then into R2. Without proper precautions,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sz="2000">
                <a:latin typeface="Arial" pitchFamily="34" charset="0"/>
              </a:rPr>
              <a:t> </a:t>
            </a:r>
            <a:r>
              <a:rPr lang="en-US" sz="2000">
                <a:solidFill>
                  <a:schemeClr val="hlink"/>
                </a:solidFill>
                <a:latin typeface="Comic Sans MS" pitchFamily="66" charset="0"/>
              </a:rPr>
              <a:t>R3 would not be equal to R2! </a:t>
            </a:r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84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84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84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84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84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84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84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84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84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84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84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84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884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4739" grpId="0" build="p" autoUpdateAnimBg="0" advAuto="0"/>
      <p:bldP spid="884740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763" name="Rectangle 3"/>
          <p:cNvSpPr>
            <a:spLocks noGrp="1" noChangeArrowheads="1"/>
          </p:cNvSpPr>
          <p:nvPr>
            <p:ph idx="1"/>
          </p:nvPr>
        </p:nvSpPr>
        <p:spPr>
          <a:xfrm>
            <a:off x="911424" y="1219200"/>
            <a:ext cx="10369152" cy="4343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dirty="0"/>
              <a:t>Merging write Buffer</a:t>
            </a:r>
            <a:endParaRPr lang="en-US" altLang="zh-CN" i="1" dirty="0">
              <a:ea typeface="宋体" pitchFamily="2" charset="-122"/>
            </a:endParaRPr>
          </a:p>
          <a:p>
            <a:pPr lvl="1">
              <a:lnSpc>
                <a:spcPct val="80000"/>
              </a:lnSpc>
            </a:pPr>
            <a:r>
              <a:rPr lang="en-US" altLang="zh-CN" i="1" dirty="0">
                <a:ea typeface="宋体" pitchFamily="2" charset="-122"/>
              </a:rPr>
              <a:t>One word writes replaces with multiword writes, and it improves </a:t>
            </a:r>
            <a:r>
              <a:rPr lang="en-US" altLang="zh-CN" i="1" dirty="0" err="1">
                <a:ea typeface="宋体" pitchFamily="2" charset="-122"/>
              </a:rPr>
              <a:t>buffers’s</a:t>
            </a:r>
            <a:r>
              <a:rPr lang="en-US" altLang="zh-CN" i="1" dirty="0">
                <a:ea typeface="宋体" pitchFamily="2" charset="-122"/>
              </a:rPr>
              <a:t> efficiency.</a:t>
            </a:r>
            <a:endParaRPr lang="en-US" altLang="zh-CN" b="1" i="1" dirty="0">
              <a:ea typeface="宋体" pitchFamily="2" charset="-122"/>
            </a:endParaRPr>
          </a:p>
          <a:p>
            <a:pPr lvl="1">
              <a:lnSpc>
                <a:spcPct val="80000"/>
              </a:lnSpc>
            </a:pPr>
            <a:endParaRPr lang="en-US" altLang="zh-CN" i="1" dirty="0">
              <a:ea typeface="宋体" pitchFamily="2" charset="-122"/>
            </a:endParaRPr>
          </a:p>
          <a:p>
            <a:pPr lvl="1">
              <a:lnSpc>
                <a:spcPct val="80000"/>
              </a:lnSpc>
            </a:pPr>
            <a:r>
              <a:rPr lang="en-US" altLang="zh-CN" i="1" dirty="0">
                <a:solidFill>
                  <a:schemeClr val="hlink"/>
                </a:solidFill>
                <a:ea typeface="宋体" pitchFamily="2" charset="-122"/>
              </a:rPr>
              <a:t>In write-through</a:t>
            </a:r>
            <a:r>
              <a:rPr lang="en-US" altLang="zh-CN" i="1" dirty="0">
                <a:ea typeface="宋体" pitchFamily="2" charset="-122"/>
              </a:rPr>
              <a:t> , if the buffer contains other modified </a:t>
            </a:r>
            <a:r>
              <a:rPr lang="en-US" altLang="zh-CN" i="1" dirty="0" err="1">
                <a:ea typeface="宋体" pitchFamily="2" charset="-122"/>
              </a:rPr>
              <a:t>blocks,the</a:t>
            </a:r>
            <a:r>
              <a:rPr lang="en-US" altLang="zh-CN" i="1" dirty="0">
                <a:ea typeface="宋体" pitchFamily="2" charset="-122"/>
              </a:rPr>
              <a:t> addresses can be checked to see if the address of this new data matches the address of a valid write buffer </a:t>
            </a:r>
            <a:r>
              <a:rPr lang="en-US" altLang="zh-CN" i="1" dirty="0" err="1">
                <a:ea typeface="宋体" pitchFamily="2" charset="-122"/>
              </a:rPr>
              <a:t>entry.If</a:t>
            </a:r>
            <a:r>
              <a:rPr lang="en-US" altLang="zh-CN" i="1" dirty="0">
                <a:ea typeface="宋体" pitchFamily="2" charset="-122"/>
              </a:rPr>
              <a:t> </a:t>
            </a:r>
            <a:r>
              <a:rPr lang="en-US" altLang="zh-CN" i="1" dirty="0" err="1">
                <a:ea typeface="宋体" pitchFamily="2" charset="-122"/>
              </a:rPr>
              <a:t>so,</a:t>
            </a:r>
            <a:r>
              <a:rPr lang="en-US" altLang="zh-CN" i="1" dirty="0" err="1">
                <a:solidFill>
                  <a:schemeClr val="hlink"/>
                </a:solidFill>
                <a:ea typeface="宋体" pitchFamily="2" charset="-122"/>
              </a:rPr>
              <a:t>the</a:t>
            </a:r>
            <a:r>
              <a:rPr lang="en-US" altLang="zh-CN" i="1" dirty="0">
                <a:solidFill>
                  <a:schemeClr val="hlink"/>
                </a:solidFill>
                <a:ea typeface="宋体" pitchFamily="2" charset="-122"/>
              </a:rPr>
              <a:t> new data are combined with that entry.</a:t>
            </a:r>
          </a:p>
          <a:p>
            <a:pPr lvl="1">
              <a:lnSpc>
                <a:spcPct val="80000"/>
              </a:lnSpc>
            </a:pPr>
            <a:endParaRPr lang="en-US" altLang="zh-CN" i="1" dirty="0">
              <a:solidFill>
                <a:schemeClr val="hlink"/>
              </a:solidFill>
              <a:ea typeface="宋体" pitchFamily="2" charset="-122"/>
            </a:endParaRPr>
          </a:p>
          <a:p>
            <a:pPr lvl="1">
              <a:lnSpc>
                <a:spcPct val="80000"/>
              </a:lnSpc>
            </a:pPr>
            <a:r>
              <a:rPr lang="en-US" altLang="zh-CN" i="1" dirty="0">
                <a:solidFill>
                  <a:schemeClr val="hlink"/>
                </a:solidFill>
                <a:ea typeface="宋体" pitchFamily="2" charset="-122"/>
              </a:rPr>
              <a:t>The optimization also reduces stalls due to the write buffer being full.</a:t>
            </a:r>
          </a:p>
        </p:txBody>
      </p:sp>
      <p:sp>
        <p:nvSpPr>
          <p:cNvPr id="885762" name="Rectangle 2"/>
          <p:cNvSpPr>
            <a:spLocks noGrp="1" noChangeArrowheads="1"/>
          </p:cNvSpPr>
          <p:nvPr>
            <p:ph type="title"/>
          </p:nvPr>
        </p:nvSpPr>
        <p:spPr>
          <a:xfrm>
            <a:off x="983432" y="0"/>
            <a:ext cx="9684568" cy="1143000"/>
          </a:xfrm>
        </p:spPr>
        <p:txBody>
          <a:bodyPr/>
          <a:lstStyle/>
          <a:p>
            <a:r>
              <a:rPr lang="en-US" dirty="0"/>
              <a:t>Fourth Miss Penalty Reduction Technique: </a:t>
            </a:r>
            <a:endParaRPr lang="zh-CN" altLang="en-US" dirty="0">
              <a:ea typeface="宋体" pitchFamily="2" charset="-122"/>
            </a:endParaRPr>
          </a:p>
        </p:txBody>
      </p:sp>
      <p:grpSp>
        <p:nvGrpSpPr>
          <p:cNvPr id="885764" name="Group 4"/>
          <p:cNvGrpSpPr>
            <a:grpSpLocks/>
          </p:cNvGrpSpPr>
          <p:nvPr/>
        </p:nvGrpSpPr>
        <p:grpSpPr bwMode="auto">
          <a:xfrm>
            <a:off x="2174736" y="1185892"/>
            <a:ext cx="7696200" cy="3932238"/>
            <a:chOff x="480" y="958"/>
            <a:chExt cx="4848" cy="2477"/>
          </a:xfrm>
        </p:grpSpPr>
        <p:sp>
          <p:nvSpPr>
            <p:cNvPr id="885765" name="Rectangle 5"/>
            <p:cNvSpPr>
              <a:spLocks noChangeArrowheads="1"/>
            </p:cNvSpPr>
            <p:nvPr/>
          </p:nvSpPr>
          <p:spPr bwMode="auto">
            <a:xfrm>
              <a:off x="480" y="2098"/>
              <a:ext cx="4848" cy="233"/>
            </a:xfrm>
            <a:prstGeom prst="rect">
              <a:avLst/>
            </a:prstGeom>
            <a:solidFill>
              <a:srgbClr val="D2FAF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pic>
          <p:nvPicPr>
            <p:cNvPr id="885766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" y="958"/>
              <a:ext cx="4742" cy="2477"/>
            </a:xfrm>
            <a:prstGeom prst="rect">
              <a:avLst/>
            </a:prstGeom>
            <a:solidFill>
              <a:srgbClr val="D2FAF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85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7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Victim Caches</a:t>
            </a:r>
          </a:p>
          <a:p>
            <a:pPr lvl="1"/>
            <a:r>
              <a:rPr lang="en-US" altLang="zh-CN" dirty="0"/>
              <a:t>A victim cache is a small (usually, but not necessarily) fully-associative cache that holds a few of the most recently replaced blocks or victims from the main cache. </a:t>
            </a:r>
          </a:p>
          <a:p>
            <a:pPr lvl="1"/>
            <a:r>
              <a:rPr lang="en-US" altLang="zh-CN" dirty="0"/>
              <a:t>This cache is checked on a miss data before going to next lower-level memory(main memory).</a:t>
            </a:r>
          </a:p>
          <a:p>
            <a:pPr lvl="2"/>
            <a:r>
              <a:rPr lang="en-US" altLang="zh-CN" dirty="0"/>
              <a:t>to see if they have the desired</a:t>
            </a:r>
          </a:p>
          <a:p>
            <a:pPr lvl="2"/>
            <a:r>
              <a:rPr lang="en-US" altLang="zh-CN" dirty="0"/>
              <a:t>If found, the victim block and the cache block are swapped. </a:t>
            </a:r>
          </a:p>
          <a:p>
            <a:pPr lvl="2"/>
            <a:r>
              <a:rPr lang="en-US" altLang="zh-CN" dirty="0"/>
              <a:t>The AMD Athlon has a victim caches with 8 entries. </a:t>
            </a:r>
          </a:p>
        </p:txBody>
      </p:sp>
      <p:sp>
        <p:nvSpPr>
          <p:cNvPr id="886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Fifth Miss Penalty Reduction Technique: </a:t>
            </a:r>
            <a:endParaRPr lang="zh-CN" altLang="en-US" dirty="0"/>
          </a:p>
        </p:txBody>
      </p:sp>
      <p:graphicFrame>
        <p:nvGraphicFramePr>
          <p:cNvPr id="8867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4530486"/>
              </p:ext>
            </p:extLst>
          </p:nvPr>
        </p:nvGraphicFramePr>
        <p:xfrm>
          <a:off x="2783632" y="1143794"/>
          <a:ext cx="5638800" cy="457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位图图像" r:id="rId3" imgW="3977985" imgH="3223539" progId="Paint.Picture">
                  <p:embed/>
                </p:oleObj>
              </mc:Choice>
              <mc:Fallback>
                <p:oleObj name="位图图像" r:id="rId3" imgW="3977985" imgH="3223539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2" y="1143794"/>
                        <a:ext cx="5638800" cy="4570413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8100000" algn="ctr" rotWithShape="0">
                          <a:srgbClr val="808080"/>
                        </a:outerShdw>
                      </a:effectLst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886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811" name="Rectangle 3"/>
          <p:cNvSpPr>
            <a:spLocks noGrp="1" noChangeArrowheads="1"/>
          </p:cNvSpPr>
          <p:nvPr>
            <p:ph idx="1"/>
          </p:nvPr>
        </p:nvSpPr>
        <p:spPr>
          <a:xfrm>
            <a:off x="703340" y="1340768"/>
            <a:ext cx="5240260" cy="4623470"/>
          </a:xfrm>
          <a:noFill/>
          <a:ln/>
        </p:spPr>
        <p:txBody>
          <a:bodyPr lIns="90488" rIns="90488"/>
          <a:lstStyle/>
          <a:p>
            <a:pPr marL="228600" indent="-228600">
              <a:tabLst>
                <a:tab pos="1828800" algn="r"/>
                <a:tab pos="3200400" algn="r"/>
                <a:tab pos="4572000" algn="r"/>
                <a:tab pos="5943600" algn="r"/>
              </a:tabLst>
            </a:pPr>
            <a:r>
              <a:rPr lang="en-US" dirty="0">
                <a:solidFill>
                  <a:schemeClr val="hlink"/>
                </a:solidFill>
              </a:rPr>
              <a:t>How to combine fast hit time of direct mapped yet still avoid conflict misses? </a:t>
            </a:r>
            <a:endParaRPr lang="en-US" dirty="0"/>
          </a:p>
          <a:p>
            <a:pPr marL="628650" lvl="1" indent="-228600">
              <a:tabLst>
                <a:tab pos="1828800" algn="r"/>
                <a:tab pos="3200400" algn="r"/>
                <a:tab pos="4572000" algn="r"/>
                <a:tab pos="5943600" algn="r"/>
              </a:tabLst>
            </a:pPr>
            <a:r>
              <a:rPr lang="en-US" sz="1800" dirty="0"/>
              <a:t>Add buffer to place data discarded from cache</a:t>
            </a:r>
          </a:p>
          <a:p>
            <a:pPr marL="628650" lvl="1" indent="-228600">
              <a:tabLst>
                <a:tab pos="1828800" algn="r"/>
                <a:tab pos="3200400" algn="r"/>
                <a:tab pos="4572000" algn="r"/>
                <a:tab pos="5943600" algn="r"/>
              </a:tabLst>
            </a:pPr>
            <a:r>
              <a:rPr lang="en-US" sz="1800" dirty="0" err="1"/>
              <a:t>Jouppi</a:t>
            </a:r>
            <a:r>
              <a:rPr lang="en-US" sz="1800" dirty="0"/>
              <a:t> [1990]: 4-entry victim cache removed 20% to 95% of conflicts for a 4 KB direct mapped data cache</a:t>
            </a:r>
          </a:p>
          <a:p>
            <a:pPr marL="628650" lvl="1" indent="-228600">
              <a:tabLst>
                <a:tab pos="1828800" algn="r"/>
                <a:tab pos="3200400" algn="r"/>
                <a:tab pos="4572000" algn="r"/>
                <a:tab pos="5943600" algn="r"/>
              </a:tabLst>
            </a:pPr>
            <a:r>
              <a:rPr lang="en-US" sz="1800" dirty="0"/>
              <a:t>Used in Alpha, HP machines</a:t>
            </a:r>
          </a:p>
        </p:txBody>
      </p:sp>
      <p:sp>
        <p:nvSpPr>
          <p:cNvPr id="88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911424" y="128270"/>
            <a:ext cx="8386936" cy="838200"/>
          </a:xfrm>
          <a:noFill/>
          <a:ln/>
        </p:spPr>
        <p:txBody>
          <a:bodyPr vert="horz" lIns="90488" tIns="45720" rIns="90488" bIns="45720" rtlCol="0" anchor="ctr">
            <a:noAutofit/>
          </a:bodyPr>
          <a:lstStyle/>
          <a:p>
            <a:r>
              <a:rPr lang="en-US" dirty="0"/>
              <a:t>How to combine victim Cache</a:t>
            </a:r>
          </a:p>
        </p:txBody>
      </p:sp>
      <p:grpSp>
        <p:nvGrpSpPr>
          <p:cNvPr id="887812" name="Group 4"/>
          <p:cNvGrpSpPr>
            <a:grpSpLocks/>
          </p:cNvGrpSpPr>
          <p:nvPr/>
        </p:nvGrpSpPr>
        <p:grpSpPr bwMode="auto">
          <a:xfrm>
            <a:off x="6528048" y="1210468"/>
            <a:ext cx="4495800" cy="4437063"/>
            <a:chOff x="2628" y="1019"/>
            <a:chExt cx="2832" cy="2795"/>
          </a:xfrm>
        </p:grpSpPr>
        <p:sp>
          <p:nvSpPr>
            <p:cNvPr id="887813" name="Rectangle 5"/>
            <p:cNvSpPr>
              <a:spLocks noChangeArrowheads="1"/>
            </p:cNvSpPr>
            <p:nvPr/>
          </p:nvSpPr>
          <p:spPr bwMode="auto">
            <a:xfrm>
              <a:off x="3997" y="3573"/>
              <a:ext cx="90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pitchFamily="34" charset="0"/>
                </a:rPr>
                <a:t>To Next Lower Level In</a:t>
              </a:r>
              <a:endParaRPr lang="en-US">
                <a:latin typeface="Comic Sans MS" pitchFamily="66" charset="0"/>
              </a:endParaRPr>
            </a:p>
          </p:txBody>
        </p:sp>
        <p:sp>
          <p:nvSpPr>
            <p:cNvPr id="887814" name="Rectangle 6"/>
            <p:cNvSpPr>
              <a:spLocks noChangeArrowheads="1"/>
            </p:cNvSpPr>
            <p:nvPr/>
          </p:nvSpPr>
          <p:spPr bwMode="auto">
            <a:xfrm>
              <a:off x="4262" y="3675"/>
              <a:ext cx="377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pitchFamily="34" charset="0"/>
                </a:rPr>
                <a:t>Hierarchy</a:t>
              </a:r>
              <a:endParaRPr lang="en-US">
                <a:latin typeface="Comic Sans MS" pitchFamily="66" charset="0"/>
              </a:endParaRPr>
            </a:p>
          </p:txBody>
        </p:sp>
        <p:sp>
          <p:nvSpPr>
            <p:cNvPr id="887815" name="Rectangle 7"/>
            <p:cNvSpPr>
              <a:spLocks noChangeArrowheads="1"/>
            </p:cNvSpPr>
            <p:nvPr/>
          </p:nvSpPr>
          <p:spPr bwMode="auto">
            <a:xfrm>
              <a:off x="3619" y="1019"/>
              <a:ext cx="1841" cy="956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7816" name="Rectangle 8"/>
            <p:cNvSpPr>
              <a:spLocks noChangeArrowheads="1"/>
            </p:cNvSpPr>
            <p:nvPr/>
          </p:nvSpPr>
          <p:spPr bwMode="auto">
            <a:xfrm>
              <a:off x="4143" y="1396"/>
              <a:ext cx="427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  <a:latin typeface="Arial" pitchFamily="34" charset="0"/>
                </a:rPr>
                <a:t>DATA</a:t>
              </a:r>
              <a:endParaRPr lang="en-US">
                <a:latin typeface="Comic Sans MS" pitchFamily="66" charset="0"/>
              </a:endParaRPr>
            </a:p>
          </p:txBody>
        </p:sp>
        <p:sp>
          <p:nvSpPr>
            <p:cNvPr id="887817" name="Rectangle 9"/>
            <p:cNvSpPr>
              <a:spLocks noChangeArrowheads="1"/>
            </p:cNvSpPr>
            <p:nvPr/>
          </p:nvSpPr>
          <p:spPr bwMode="auto">
            <a:xfrm>
              <a:off x="3237" y="1019"/>
              <a:ext cx="382" cy="956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7818" name="Rectangle 10"/>
            <p:cNvSpPr>
              <a:spLocks noChangeArrowheads="1"/>
            </p:cNvSpPr>
            <p:nvPr/>
          </p:nvSpPr>
          <p:spPr bwMode="auto">
            <a:xfrm>
              <a:off x="3282" y="1421"/>
              <a:ext cx="34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pitchFamily="34" charset="0"/>
                </a:rPr>
                <a:t>TAGS</a:t>
              </a:r>
              <a:endParaRPr lang="en-US">
                <a:latin typeface="Comic Sans MS" pitchFamily="66" charset="0"/>
              </a:endParaRPr>
            </a:p>
          </p:txBody>
        </p:sp>
        <p:sp>
          <p:nvSpPr>
            <p:cNvPr id="887819" name="Line 11"/>
            <p:cNvSpPr>
              <a:spLocks noChangeShapeType="1"/>
            </p:cNvSpPr>
            <p:nvPr/>
          </p:nvSpPr>
          <p:spPr bwMode="auto">
            <a:xfrm>
              <a:off x="2918" y="1019"/>
              <a:ext cx="1" cy="1289"/>
            </a:xfrm>
            <a:prstGeom prst="line">
              <a:avLst/>
            </a:prstGeom>
            <a:noFill/>
            <a:ln w="460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7820" name="Rectangle 12"/>
            <p:cNvSpPr>
              <a:spLocks noChangeArrowheads="1"/>
            </p:cNvSpPr>
            <p:nvPr/>
          </p:nvSpPr>
          <p:spPr bwMode="auto">
            <a:xfrm>
              <a:off x="3520" y="2429"/>
              <a:ext cx="1401" cy="255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7821" name="Rectangle 13"/>
            <p:cNvSpPr>
              <a:spLocks noChangeArrowheads="1"/>
            </p:cNvSpPr>
            <p:nvPr/>
          </p:nvSpPr>
          <p:spPr bwMode="auto">
            <a:xfrm>
              <a:off x="3588" y="2479"/>
              <a:ext cx="133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pitchFamily="34" charset="0"/>
                </a:rPr>
                <a:t>One Cache line of Data</a:t>
              </a:r>
              <a:endParaRPr lang="en-US">
                <a:latin typeface="Comic Sans MS" pitchFamily="66" charset="0"/>
              </a:endParaRPr>
            </a:p>
          </p:txBody>
        </p:sp>
        <p:sp>
          <p:nvSpPr>
            <p:cNvPr id="887822" name="Rectangle 14"/>
            <p:cNvSpPr>
              <a:spLocks noChangeArrowheads="1"/>
            </p:cNvSpPr>
            <p:nvPr/>
          </p:nvSpPr>
          <p:spPr bwMode="auto">
            <a:xfrm>
              <a:off x="2628" y="2429"/>
              <a:ext cx="892" cy="255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7823" name="Rectangle 15"/>
            <p:cNvSpPr>
              <a:spLocks noChangeArrowheads="1"/>
            </p:cNvSpPr>
            <p:nvPr/>
          </p:nvSpPr>
          <p:spPr bwMode="auto">
            <a:xfrm>
              <a:off x="2685" y="2505"/>
              <a:ext cx="811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pitchFamily="34" charset="0"/>
                </a:rPr>
                <a:t>Tag and Comparator</a:t>
              </a:r>
              <a:endParaRPr lang="en-US">
                <a:latin typeface="Comic Sans MS" pitchFamily="66" charset="0"/>
              </a:endParaRPr>
            </a:p>
          </p:txBody>
        </p:sp>
        <p:sp>
          <p:nvSpPr>
            <p:cNvPr id="887824" name="Rectangle 16"/>
            <p:cNvSpPr>
              <a:spLocks noChangeArrowheads="1"/>
            </p:cNvSpPr>
            <p:nvPr/>
          </p:nvSpPr>
          <p:spPr bwMode="auto">
            <a:xfrm>
              <a:off x="3520" y="2684"/>
              <a:ext cx="1401" cy="255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7825" name="Rectangle 17"/>
            <p:cNvSpPr>
              <a:spLocks noChangeArrowheads="1"/>
            </p:cNvSpPr>
            <p:nvPr/>
          </p:nvSpPr>
          <p:spPr bwMode="auto">
            <a:xfrm>
              <a:off x="3588" y="2735"/>
              <a:ext cx="133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pitchFamily="34" charset="0"/>
                </a:rPr>
                <a:t>One Cache line of Data</a:t>
              </a:r>
              <a:endParaRPr lang="en-US">
                <a:latin typeface="Comic Sans MS" pitchFamily="66" charset="0"/>
              </a:endParaRPr>
            </a:p>
          </p:txBody>
        </p:sp>
        <p:sp>
          <p:nvSpPr>
            <p:cNvPr id="887826" name="Rectangle 18"/>
            <p:cNvSpPr>
              <a:spLocks noChangeArrowheads="1"/>
            </p:cNvSpPr>
            <p:nvPr/>
          </p:nvSpPr>
          <p:spPr bwMode="auto">
            <a:xfrm>
              <a:off x="2628" y="2684"/>
              <a:ext cx="892" cy="255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7827" name="Rectangle 19"/>
            <p:cNvSpPr>
              <a:spLocks noChangeArrowheads="1"/>
            </p:cNvSpPr>
            <p:nvPr/>
          </p:nvSpPr>
          <p:spPr bwMode="auto">
            <a:xfrm>
              <a:off x="2685" y="2760"/>
              <a:ext cx="811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pitchFamily="34" charset="0"/>
                </a:rPr>
                <a:t>Tag and Comparator</a:t>
              </a:r>
              <a:endParaRPr lang="en-US">
                <a:latin typeface="Comic Sans MS" pitchFamily="66" charset="0"/>
              </a:endParaRPr>
            </a:p>
          </p:txBody>
        </p:sp>
        <p:sp>
          <p:nvSpPr>
            <p:cNvPr id="887828" name="Rectangle 20"/>
            <p:cNvSpPr>
              <a:spLocks noChangeArrowheads="1"/>
            </p:cNvSpPr>
            <p:nvPr/>
          </p:nvSpPr>
          <p:spPr bwMode="auto">
            <a:xfrm>
              <a:off x="3520" y="2939"/>
              <a:ext cx="1401" cy="255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7829" name="Rectangle 21"/>
            <p:cNvSpPr>
              <a:spLocks noChangeArrowheads="1"/>
            </p:cNvSpPr>
            <p:nvPr/>
          </p:nvSpPr>
          <p:spPr bwMode="auto">
            <a:xfrm>
              <a:off x="3588" y="2990"/>
              <a:ext cx="133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pitchFamily="34" charset="0"/>
                </a:rPr>
                <a:t>One Cache line of Data</a:t>
              </a:r>
              <a:endParaRPr lang="en-US">
                <a:latin typeface="Comic Sans MS" pitchFamily="66" charset="0"/>
              </a:endParaRPr>
            </a:p>
          </p:txBody>
        </p:sp>
        <p:sp>
          <p:nvSpPr>
            <p:cNvPr id="887830" name="Rectangle 22"/>
            <p:cNvSpPr>
              <a:spLocks noChangeArrowheads="1"/>
            </p:cNvSpPr>
            <p:nvPr/>
          </p:nvSpPr>
          <p:spPr bwMode="auto">
            <a:xfrm>
              <a:off x="2628" y="2939"/>
              <a:ext cx="892" cy="255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7831" name="Rectangle 23"/>
            <p:cNvSpPr>
              <a:spLocks noChangeArrowheads="1"/>
            </p:cNvSpPr>
            <p:nvPr/>
          </p:nvSpPr>
          <p:spPr bwMode="auto">
            <a:xfrm>
              <a:off x="2685" y="3015"/>
              <a:ext cx="811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pitchFamily="34" charset="0"/>
                </a:rPr>
                <a:t>Tag and Comparator</a:t>
              </a:r>
              <a:endParaRPr lang="en-US">
                <a:latin typeface="Comic Sans MS" pitchFamily="66" charset="0"/>
              </a:endParaRPr>
            </a:p>
          </p:txBody>
        </p:sp>
        <p:sp>
          <p:nvSpPr>
            <p:cNvPr id="887832" name="Rectangle 24"/>
            <p:cNvSpPr>
              <a:spLocks noChangeArrowheads="1"/>
            </p:cNvSpPr>
            <p:nvPr/>
          </p:nvSpPr>
          <p:spPr bwMode="auto">
            <a:xfrm>
              <a:off x="3520" y="3194"/>
              <a:ext cx="1401" cy="255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7833" name="Rectangle 25"/>
            <p:cNvSpPr>
              <a:spLocks noChangeArrowheads="1"/>
            </p:cNvSpPr>
            <p:nvPr/>
          </p:nvSpPr>
          <p:spPr bwMode="auto">
            <a:xfrm>
              <a:off x="3588" y="3245"/>
              <a:ext cx="133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rial" pitchFamily="34" charset="0"/>
                </a:rPr>
                <a:t>One Cache line of Data</a:t>
              </a:r>
              <a:endParaRPr lang="en-US">
                <a:latin typeface="Comic Sans MS" pitchFamily="66" charset="0"/>
              </a:endParaRPr>
            </a:p>
          </p:txBody>
        </p:sp>
        <p:sp>
          <p:nvSpPr>
            <p:cNvPr id="887834" name="Rectangle 26"/>
            <p:cNvSpPr>
              <a:spLocks noChangeArrowheads="1"/>
            </p:cNvSpPr>
            <p:nvPr/>
          </p:nvSpPr>
          <p:spPr bwMode="auto">
            <a:xfrm>
              <a:off x="2628" y="3194"/>
              <a:ext cx="892" cy="255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7835" name="Rectangle 27"/>
            <p:cNvSpPr>
              <a:spLocks noChangeArrowheads="1"/>
            </p:cNvSpPr>
            <p:nvPr/>
          </p:nvSpPr>
          <p:spPr bwMode="auto">
            <a:xfrm>
              <a:off x="2685" y="3270"/>
              <a:ext cx="811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pitchFamily="34" charset="0"/>
                </a:rPr>
                <a:t>Tag and Comparator</a:t>
              </a:r>
              <a:endParaRPr lang="en-US">
                <a:latin typeface="Comic Sans MS" pitchFamily="66" charset="0"/>
              </a:endParaRPr>
            </a:p>
          </p:txBody>
        </p:sp>
        <p:sp>
          <p:nvSpPr>
            <p:cNvPr id="887836" name="Freeform 28"/>
            <p:cNvSpPr>
              <a:spLocks/>
            </p:cNvSpPr>
            <p:nvPr/>
          </p:nvSpPr>
          <p:spPr bwMode="auto">
            <a:xfrm>
              <a:off x="2868" y="2304"/>
              <a:ext cx="83" cy="125"/>
            </a:xfrm>
            <a:custGeom>
              <a:avLst/>
              <a:gdLst>
                <a:gd name="T0" fmla="*/ 83 w 83"/>
                <a:gd name="T1" fmla="*/ 0 h 125"/>
                <a:gd name="T2" fmla="*/ 41 w 83"/>
                <a:gd name="T3" fmla="*/ 125 h 125"/>
                <a:gd name="T4" fmla="*/ 0 w 83"/>
                <a:gd name="T5" fmla="*/ 0 h 125"/>
                <a:gd name="T6" fmla="*/ 83 w 83"/>
                <a:gd name="T7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" h="125">
                  <a:moveTo>
                    <a:pt x="83" y="0"/>
                  </a:moveTo>
                  <a:lnTo>
                    <a:pt x="41" y="125"/>
                  </a:lnTo>
                  <a:lnTo>
                    <a:pt x="0" y="0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7837" name="Line 29"/>
            <p:cNvSpPr>
              <a:spLocks noChangeShapeType="1"/>
            </p:cNvSpPr>
            <p:nvPr/>
          </p:nvSpPr>
          <p:spPr bwMode="auto">
            <a:xfrm>
              <a:off x="2918" y="1529"/>
              <a:ext cx="204" cy="1"/>
            </a:xfrm>
            <a:prstGeom prst="line">
              <a:avLst/>
            </a:prstGeom>
            <a:noFill/>
            <a:ln w="460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7838" name="Freeform 30"/>
            <p:cNvSpPr>
              <a:spLocks/>
            </p:cNvSpPr>
            <p:nvPr/>
          </p:nvSpPr>
          <p:spPr bwMode="auto">
            <a:xfrm>
              <a:off x="3112" y="1487"/>
              <a:ext cx="125" cy="84"/>
            </a:xfrm>
            <a:custGeom>
              <a:avLst/>
              <a:gdLst>
                <a:gd name="T0" fmla="*/ 0 w 125"/>
                <a:gd name="T1" fmla="*/ 0 h 84"/>
                <a:gd name="T2" fmla="*/ 125 w 125"/>
                <a:gd name="T3" fmla="*/ 42 h 84"/>
                <a:gd name="T4" fmla="*/ 0 w 125"/>
                <a:gd name="T5" fmla="*/ 84 h 84"/>
                <a:gd name="T6" fmla="*/ 0 w 125"/>
                <a:gd name="T7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5" h="84">
                  <a:moveTo>
                    <a:pt x="0" y="0"/>
                  </a:moveTo>
                  <a:lnTo>
                    <a:pt x="125" y="42"/>
                  </a:lnTo>
                  <a:lnTo>
                    <a:pt x="0" y="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7839" name="AutoShape 31"/>
            <p:cNvSpPr>
              <a:spLocks noChangeArrowheads="1"/>
            </p:cNvSpPr>
            <p:nvPr/>
          </p:nvSpPr>
          <p:spPr bwMode="auto">
            <a:xfrm>
              <a:off x="3736" y="2042"/>
              <a:ext cx="231" cy="284"/>
            </a:xfrm>
            <a:prstGeom prst="downArrow">
              <a:avLst>
                <a:gd name="adj1" fmla="val 50000"/>
                <a:gd name="adj2" fmla="val 45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87840" name="AutoShape 32"/>
            <p:cNvSpPr>
              <a:spLocks noChangeArrowheads="1"/>
            </p:cNvSpPr>
            <p:nvPr/>
          </p:nvSpPr>
          <p:spPr bwMode="auto">
            <a:xfrm>
              <a:off x="3736" y="3530"/>
              <a:ext cx="231" cy="284"/>
            </a:xfrm>
            <a:prstGeom prst="downArrow">
              <a:avLst>
                <a:gd name="adj1" fmla="val 50000"/>
                <a:gd name="adj2" fmla="val 45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87841" name="AutoShape 33"/>
            <p:cNvSpPr>
              <a:spLocks noChangeArrowheads="1"/>
            </p:cNvSpPr>
            <p:nvPr/>
          </p:nvSpPr>
          <p:spPr bwMode="auto">
            <a:xfrm>
              <a:off x="4960" y="2676"/>
              <a:ext cx="231" cy="361"/>
            </a:xfrm>
            <a:prstGeom prst="upArrow">
              <a:avLst>
                <a:gd name="adj1" fmla="val 50000"/>
                <a:gd name="adj2" fmla="val 113013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835" name="Rectangle 3"/>
          <p:cNvSpPr>
            <a:spLocks noGrp="1" noChangeArrowheads="1"/>
          </p:cNvSpPr>
          <p:nvPr>
            <p:ph idx="1"/>
          </p:nvPr>
        </p:nvSpPr>
        <p:spPr>
          <a:xfrm>
            <a:off x="983432" y="2800350"/>
            <a:ext cx="10148936" cy="3067050"/>
          </a:xfrm>
          <a:noFill/>
          <a:ln/>
        </p:spPr>
        <p:txBody>
          <a:bodyPr lIns="90488" rIns="90488"/>
          <a:lstStyle/>
          <a:p>
            <a:pPr lvl="1">
              <a:buFontTx/>
              <a:buNone/>
            </a:pPr>
            <a:r>
              <a:rPr lang="en-US" sz="2600" dirty="0"/>
              <a:t>1. Reduce penalty via Multilevel Caches</a:t>
            </a:r>
          </a:p>
          <a:p>
            <a:pPr lvl="1">
              <a:buFontTx/>
              <a:buNone/>
            </a:pPr>
            <a:r>
              <a:rPr lang="en-US" sz="2600" dirty="0"/>
              <a:t>2. Reduce penalty via Critical Word First </a:t>
            </a:r>
          </a:p>
          <a:p>
            <a:pPr lvl="1">
              <a:buFontTx/>
              <a:buNone/>
            </a:pPr>
            <a:r>
              <a:rPr lang="en-US" sz="2600" dirty="0"/>
              <a:t>3. Reduce penalty via Read Misses over Writes</a:t>
            </a:r>
          </a:p>
          <a:p>
            <a:pPr lvl="1">
              <a:buFontTx/>
              <a:buNone/>
            </a:pPr>
            <a:r>
              <a:rPr lang="en-US" sz="2600" dirty="0"/>
              <a:t>4. Reducing penalty via Merging write Buffer</a:t>
            </a:r>
          </a:p>
          <a:p>
            <a:pPr lvl="1">
              <a:buFontTx/>
              <a:buNone/>
            </a:pPr>
            <a:r>
              <a:rPr lang="en-US" sz="2600" dirty="0"/>
              <a:t>5. Reducing penalty via Victim Caches</a:t>
            </a:r>
          </a:p>
        </p:txBody>
      </p:sp>
      <p:sp>
        <p:nvSpPr>
          <p:cNvPr id="888834" name="Rectangle 2"/>
          <p:cNvSpPr>
            <a:spLocks noGrp="1" noChangeArrowheads="1"/>
          </p:cNvSpPr>
          <p:nvPr>
            <p:ph type="title"/>
          </p:nvPr>
        </p:nvSpPr>
        <p:spPr>
          <a:xfrm>
            <a:off x="971352" y="188640"/>
            <a:ext cx="8864600" cy="685800"/>
          </a:xfrm>
          <a:noFill/>
          <a:ln/>
        </p:spPr>
        <p:txBody>
          <a:bodyPr vert="horz" lIns="90488" tIns="45720" rIns="90488" bIns="45720" rtlCol="0" anchor="ctr">
            <a:noAutofit/>
          </a:bodyPr>
          <a:lstStyle/>
          <a:p>
            <a:r>
              <a:rPr lang="en-US" dirty="0"/>
              <a:t>Summary: Miss Penalty Reduction</a:t>
            </a:r>
          </a:p>
        </p:txBody>
      </p:sp>
      <p:graphicFrame>
        <p:nvGraphicFramePr>
          <p:cNvPr id="888836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1676400" y="1752600"/>
          <a:ext cx="8864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Equation" r:id="rId3" imgW="6657840" imgH="409320" progId="Equation.3">
                  <p:embed/>
                </p:oleObj>
              </mc:Choice>
              <mc:Fallback>
                <p:oleObj name="Equation" r:id="rId3" imgW="6657840" imgH="40932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752600"/>
                        <a:ext cx="8864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12700">
                            <a:pattFill prst="narHorz">
                              <a:fgClr>
                                <a:schemeClr val="tx1"/>
                              </a:fgClr>
                              <a:bgClr>
                                <a:schemeClr val="bg1"/>
                              </a:bgClr>
                            </a:patt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8837" name="Oval 5"/>
          <p:cNvSpPr>
            <a:spLocks noChangeArrowheads="1"/>
          </p:cNvSpPr>
          <p:nvPr/>
        </p:nvSpPr>
        <p:spPr bwMode="auto">
          <a:xfrm>
            <a:off x="7162800" y="1752600"/>
            <a:ext cx="1524000" cy="5334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859" name="Rectangle 3"/>
          <p:cNvSpPr>
            <a:spLocks noGrp="1" noChangeArrowheads="1"/>
          </p:cNvSpPr>
          <p:nvPr>
            <p:ph idx="1"/>
          </p:nvPr>
        </p:nvSpPr>
        <p:spPr>
          <a:xfrm>
            <a:off x="1055440" y="1828800"/>
            <a:ext cx="10233520" cy="3505200"/>
          </a:xfrm>
          <a:noFill/>
          <a:ln/>
        </p:spPr>
        <p:txBody>
          <a:bodyPr lIns="90488" rIns="90488"/>
          <a:lstStyle/>
          <a:p>
            <a:pPr marL="457200" indent="-457200">
              <a:spcBef>
                <a:spcPct val="0"/>
              </a:spcBef>
              <a:buNone/>
            </a:pPr>
            <a:r>
              <a:rPr lang="en-US" dirty="0"/>
              <a:t>1.Reduce the miss penalty</a:t>
            </a:r>
            <a:endParaRPr lang="en-US" dirty="0">
              <a:solidFill>
                <a:schemeClr val="hlink"/>
              </a:solidFill>
            </a:endParaRP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b="0" dirty="0">
                <a:ea typeface="宋体" pitchFamily="2" charset="-122"/>
              </a:rPr>
              <a:t>		</a:t>
            </a:r>
            <a:r>
              <a:rPr lang="en-US" altLang="zh-CN" dirty="0">
                <a:ea typeface="宋体" pitchFamily="2" charset="-122"/>
              </a:rPr>
              <a:t>        	</a:t>
            </a:r>
            <a:endParaRPr lang="en-US" dirty="0">
              <a:ea typeface="宋体" pitchFamily="2" charset="-122"/>
            </a:endParaRPr>
          </a:p>
          <a:p>
            <a:pPr marL="457200" indent="-457200">
              <a:spcBef>
                <a:spcPct val="0"/>
              </a:spcBef>
              <a:buNone/>
            </a:pPr>
            <a:r>
              <a:rPr lang="en-US" sz="2600" b="1" dirty="0"/>
              <a:t>2. Reduce the miss rate</a:t>
            </a:r>
          </a:p>
          <a:p>
            <a:pPr marL="457200" indent="-457200">
              <a:spcBef>
                <a:spcPct val="0"/>
              </a:spcBef>
              <a:buNone/>
            </a:pPr>
            <a:endParaRPr lang="en-US" sz="2600" dirty="0"/>
          </a:p>
          <a:p>
            <a:pPr marL="457200" indent="-457200">
              <a:spcBef>
                <a:spcPct val="0"/>
              </a:spcBef>
              <a:buNone/>
            </a:pPr>
            <a:r>
              <a:rPr lang="en-US" dirty="0"/>
              <a:t>3. Reduce the miss penalty and miss rate via parallelism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b="0" dirty="0">
                <a:ea typeface="宋体" pitchFamily="2" charset="-122"/>
              </a:rPr>
              <a:t> 			</a:t>
            </a:r>
            <a:r>
              <a:rPr lang="en-US" altLang="zh-CN" dirty="0">
                <a:ea typeface="宋体" pitchFamily="2" charset="-122"/>
              </a:rPr>
              <a:t>	</a:t>
            </a:r>
            <a:endParaRPr lang="en-US" dirty="0">
              <a:solidFill>
                <a:schemeClr val="hlink"/>
              </a:solidFill>
            </a:endParaRPr>
          </a:p>
          <a:p>
            <a:pPr marL="457200" indent="-457200">
              <a:spcBef>
                <a:spcPct val="0"/>
              </a:spcBef>
              <a:buNone/>
            </a:pPr>
            <a:r>
              <a:rPr lang="en-US" dirty="0"/>
              <a:t>4. Reduce the time to hit in the cache. </a:t>
            </a:r>
            <a:r>
              <a:rPr lang="en-US" altLang="zh-CN" b="0" dirty="0">
                <a:ea typeface="宋体" pitchFamily="2" charset="-122"/>
              </a:rPr>
              <a:t>	 </a:t>
            </a:r>
            <a:endParaRPr lang="en-US" b="0" dirty="0">
              <a:ea typeface="宋体" pitchFamily="2" charset="-122"/>
            </a:endParaRPr>
          </a:p>
        </p:txBody>
      </p:sp>
      <p:sp>
        <p:nvSpPr>
          <p:cNvPr id="889858" name="Rectangle 2"/>
          <p:cNvSpPr>
            <a:spLocks noGrp="1" noChangeArrowheads="1"/>
          </p:cNvSpPr>
          <p:nvPr>
            <p:ph type="title"/>
          </p:nvPr>
        </p:nvSpPr>
        <p:spPr>
          <a:xfrm>
            <a:off x="1055440" y="0"/>
            <a:ext cx="8242920" cy="1143000"/>
          </a:xfrm>
          <a:noFill/>
          <a:ln/>
        </p:spPr>
        <p:txBody>
          <a:bodyPr vert="horz" lIns="90488" tIns="45720" rIns="90488" bIns="45720" rtlCol="0" anchor="ctr">
            <a:noAutofit/>
          </a:bodyPr>
          <a:lstStyle/>
          <a:p>
            <a:r>
              <a:rPr lang="en-US" dirty="0"/>
              <a:t>5.5 Reducing  miss rate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83" name="Rectangle 3"/>
          <p:cNvSpPr>
            <a:spLocks noGrp="1" noChangeArrowheads="1"/>
          </p:cNvSpPr>
          <p:nvPr>
            <p:ph idx="1"/>
          </p:nvPr>
        </p:nvSpPr>
        <p:spPr>
          <a:xfrm>
            <a:off x="911424" y="1143000"/>
            <a:ext cx="10445352" cy="5334000"/>
          </a:xfrm>
          <a:noFill/>
          <a:ln/>
        </p:spPr>
        <p:txBody>
          <a:bodyPr lIns="90488" rIns="90488"/>
          <a:lstStyle/>
          <a:p>
            <a:pPr>
              <a:lnSpc>
                <a:spcPct val="80000"/>
              </a:lnSpc>
            </a:pPr>
            <a:r>
              <a:rPr lang="en-US" dirty="0"/>
              <a:t>Classifying Misses: 3 Cs</a:t>
            </a:r>
          </a:p>
          <a:p>
            <a:pPr lvl="1">
              <a:lnSpc>
                <a:spcPct val="80000"/>
              </a:lnSpc>
            </a:pPr>
            <a:r>
              <a:rPr lang="en-US" sz="2400" i="1" dirty="0">
                <a:solidFill>
                  <a:schemeClr val="hlink"/>
                </a:solidFill>
              </a:rPr>
              <a:t>Compulsory</a:t>
            </a:r>
            <a:r>
              <a:rPr lang="en-US" dirty="0"/>
              <a:t>—The first access to a block is not in the cache, so the block must be brought into the cache. Also called </a:t>
            </a:r>
            <a:r>
              <a:rPr lang="en-US" i="1" dirty="0">
                <a:solidFill>
                  <a:schemeClr val="hlink"/>
                </a:solidFill>
              </a:rPr>
              <a:t>cold start misses</a:t>
            </a:r>
            <a:r>
              <a:rPr lang="en-US" dirty="0"/>
              <a:t> or </a:t>
            </a:r>
            <a:r>
              <a:rPr lang="en-US" i="1" dirty="0">
                <a:solidFill>
                  <a:schemeClr val="hlink"/>
                </a:solidFill>
              </a:rPr>
              <a:t>first reference misses</a:t>
            </a:r>
            <a:r>
              <a:rPr lang="en-US" dirty="0"/>
              <a:t>.</a:t>
            </a:r>
            <a:br>
              <a:rPr lang="en-US" dirty="0"/>
            </a:br>
            <a:r>
              <a:rPr lang="en-US" i="1" dirty="0"/>
              <a:t>(Misses in even an Infinite Cache)</a:t>
            </a:r>
            <a:endParaRPr lang="en-US" dirty="0"/>
          </a:p>
          <a:p>
            <a:pPr lvl="1">
              <a:lnSpc>
                <a:spcPct val="80000"/>
              </a:lnSpc>
            </a:pPr>
            <a:r>
              <a:rPr lang="en-US" sz="2400" i="1" dirty="0">
                <a:solidFill>
                  <a:schemeClr val="hlink"/>
                </a:solidFill>
              </a:rPr>
              <a:t>Capacity</a:t>
            </a:r>
            <a:r>
              <a:rPr lang="en-US" dirty="0"/>
              <a:t>—If the cache cannot contain all the blocks needed during execution of a program, </a:t>
            </a:r>
            <a:r>
              <a:rPr lang="en-US" dirty="0">
                <a:solidFill>
                  <a:schemeClr val="hlink"/>
                </a:solidFill>
              </a:rPr>
              <a:t>capacity misses </a:t>
            </a:r>
            <a:r>
              <a:rPr lang="en-US" dirty="0"/>
              <a:t>will occur due to blocks being discarded and later retrieved.</a:t>
            </a:r>
            <a:br>
              <a:rPr lang="en-US" dirty="0"/>
            </a:br>
            <a:r>
              <a:rPr lang="en-US" i="1" dirty="0"/>
              <a:t>(Misses in Fully Associative Size X Cache)</a:t>
            </a:r>
            <a:endParaRPr lang="en-US" dirty="0"/>
          </a:p>
          <a:p>
            <a:pPr lvl="1">
              <a:lnSpc>
                <a:spcPct val="80000"/>
              </a:lnSpc>
            </a:pPr>
            <a:r>
              <a:rPr lang="en-US" sz="2400" i="1" dirty="0">
                <a:solidFill>
                  <a:schemeClr val="hlink"/>
                </a:solidFill>
              </a:rPr>
              <a:t>Conflict</a:t>
            </a:r>
            <a:r>
              <a:rPr lang="en-US" sz="1600" dirty="0"/>
              <a:t>—</a:t>
            </a:r>
            <a:r>
              <a:rPr lang="en-US" dirty="0"/>
              <a:t>If block-placement strategy is set associative or direct mapped, conflict misses (in addition to compulsory &amp; capacity misses) will occur because a block can be discarded and later retrieved if too many blocks map to its set. Also called </a:t>
            </a:r>
            <a:r>
              <a:rPr lang="en-US" i="1" dirty="0">
                <a:solidFill>
                  <a:schemeClr val="hlink"/>
                </a:solidFill>
              </a:rPr>
              <a:t>collision misses</a:t>
            </a:r>
            <a:r>
              <a:rPr lang="en-US" dirty="0"/>
              <a:t> or </a:t>
            </a:r>
            <a:r>
              <a:rPr lang="en-US" i="1" dirty="0">
                <a:solidFill>
                  <a:schemeClr val="hlink"/>
                </a:solidFill>
              </a:rPr>
              <a:t>interference misses</a:t>
            </a:r>
            <a:r>
              <a:rPr lang="en-US" dirty="0"/>
              <a:t>.</a:t>
            </a:r>
            <a:br>
              <a:rPr lang="en-US" dirty="0"/>
            </a:br>
            <a:r>
              <a:rPr lang="en-US" i="1" dirty="0"/>
              <a:t>(Misses in N-way Associative, Size X Cache)</a:t>
            </a:r>
          </a:p>
          <a:p>
            <a:pPr>
              <a:lnSpc>
                <a:spcPct val="80000"/>
              </a:lnSpc>
            </a:pPr>
            <a:r>
              <a:rPr lang="en-US" dirty="0"/>
              <a:t>4th “C”:</a:t>
            </a:r>
          </a:p>
          <a:p>
            <a:pPr lvl="1">
              <a:lnSpc>
                <a:spcPct val="80000"/>
              </a:lnSpc>
            </a:pPr>
            <a:r>
              <a:rPr lang="en-US" sz="2400" i="1" dirty="0">
                <a:solidFill>
                  <a:schemeClr val="hlink"/>
                </a:solidFill>
              </a:rPr>
              <a:t>Coherence</a:t>
            </a:r>
            <a:r>
              <a:rPr lang="en-US" sz="1600" dirty="0"/>
              <a:t> </a:t>
            </a:r>
            <a:r>
              <a:rPr lang="en-US" dirty="0"/>
              <a:t>- Misses caused by cache coherence.</a:t>
            </a:r>
            <a:endParaRPr lang="en-US" i="1" dirty="0">
              <a:solidFill>
                <a:schemeClr val="accent1"/>
              </a:solidFill>
            </a:endParaRPr>
          </a:p>
        </p:txBody>
      </p:sp>
      <p:sp>
        <p:nvSpPr>
          <p:cNvPr id="890882" name="Rectangle 2"/>
          <p:cNvSpPr>
            <a:spLocks noGrp="1" noChangeArrowheads="1"/>
          </p:cNvSpPr>
          <p:nvPr>
            <p:ph type="title"/>
          </p:nvPr>
        </p:nvSpPr>
        <p:spPr>
          <a:xfrm>
            <a:off x="911424" y="-7972"/>
            <a:ext cx="8386936" cy="1143000"/>
          </a:xfrm>
          <a:noFill/>
          <a:ln/>
        </p:spPr>
        <p:txBody>
          <a:bodyPr vert="horz" lIns="90488" tIns="45720" rIns="90488" bIns="45720" rtlCol="0" anchor="ctr">
            <a:noAutofit/>
          </a:bodyPr>
          <a:lstStyle/>
          <a:p>
            <a:r>
              <a:rPr lang="en-US" dirty="0"/>
              <a:t>Where do misses come from?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0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0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90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90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9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9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90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90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90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90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90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90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883" grpId="0" build="p" bldLvl="2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31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vert="horz" lIns="90488" tIns="45720" rIns="90488" bIns="45720" rtlCol="0" anchor="ctr">
            <a:noAutofit/>
          </a:bodyPr>
          <a:lstStyle/>
          <a:p>
            <a:r>
              <a:rPr lang="en-US"/>
              <a:t>3Cs Absolute Miss Rate (SPEC92)</a:t>
            </a:r>
          </a:p>
        </p:txBody>
      </p:sp>
      <p:pic>
        <p:nvPicPr>
          <p:cNvPr id="892930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50" y="980728"/>
            <a:ext cx="74422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92932" name="Rectangle 4"/>
          <p:cNvSpPr>
            <a:spLocks noChangeArrowheads="1"/>
          </p:cNvSpPr>
          <p:nvPr/>
        </p:nvSpPr>
        <p:spPr bwMode="auto">
          <a:xfrm>
            <a:off x="6570664" y="1791941"/>
            <a:ext cx="1210269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/>
            <a:r>
              <a:rPr lang="en-US" sz="2400">
                <a:latin typeface="Arial" pitchFamily="34" charset="0"/>
              </a:rPr>
              <a:t>Conflict</a:t>
            </a:r>
          </a:p>
        </p:txBody>
      </p:sp>
      <p:sp>
        <p:nvSpPr>
          <p:cNvPr id="892933" name="Line 5"/>
          <p:cNvSpPr>
            <a:spLocks noChangeShapeType="1"/>
          </p:cNvSpPr>
          <p:nvPr/>
        </p:nvSpPr>
        <p:spPr bwMode="auto">
          <a:xfrm>
            <a:off x="5492750" y="1723678"/>
            <a:ext cx="1130300" cy="215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2934" name="Line 6"/>
          <p:cNvSpPr>
            <a:spLocks noChangeShapeType="1"/>
          </p:cNvSpPr>
          <p:nvPr/>
        </p:nvSpPr>
        <p:spPr bwMode="auto">
          <a:xfrm>
            <a:off x="6769100" y="2161828"/>
            <a:ext cx="311150" cy="882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95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vert="horz" lIns="90488" tIns="45720" rIns="90488" bIns="45720" rtlCol="0" anchor="ctr">
            <a:noAutofit/>
          </a:bodyPr>
          <a:lstStyle/>
          <a:p>
            <a:r>
              <a:rPr lang="en-US"/>
              <a:t>3Cs Relative Miss Rate</a:t>
            </a:r>
          </a:p>
        </p:txBody>
      </p:sp>
      <p:pic>
        <p:nvPicPr>
          <p:cNvPr id="893955" name="Picture 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764704"/>
            <a:ext cx="8145463" cy="5519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93956" name="Rectangle 4"/>
          <p:cNvSpPr>
            <a:spLocks noChangeArrowheads="1"/>
          </p:cNvSpPr>
          <p:nvPr/>
        </p:nvSpPr>
        <p:spPr bwMode="auto">
          <a:xfrm>
            <a:off x="9123364" y="1763242"/>
            <a:ext cx="1210269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/>
            <a:r>
              <a:rPr lang="en-US" sz="2400">
                <a:latin typeface="Arial" pitchFamily="34" charset="0"/>
              </a:rPr>
              <a:t>Conflict</a:t>
            </a:r>
          </a:p>
        </p:txBody>
      </p:sp>
      <p:sp>
        <p:nvSpPr>
          <p:cNvPr id="893957" name="Rectangle 5"/>
          <p:cNvSpPr>
            <a:spLocks noChangeArrowheads="1"/>
          </p:cNvSpPr>
          <p:nvPr/>
        </p:nvSpPr>
        <p:spPr bwMode="auto">
          <a:xfrm>
            <a:off x="1598613" y="5200180"/>
            <a:ext cx="3159520" cy="705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/>
            <a:r>
              <a:rPr lang="en-US" sz="2000">
                <a:latin typeface="Arial" pitchFamily="34" charset="0"/>
              </a:rPr>
              <a:t>Flaws: for fixed block size</a:t>
            </a:r>
          </a:p>
          <a:p>
            <a:pPr algn="l"/>
            <a:r>
              <a:rPr lang="en-US" sz="2000">
                <a:latin typeface="Arial" pitchFamily="34" charset="0"/>
              </a:rPr>
              <a:t>Good: insight =&gt; invention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9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To reduce cache miss rate, we have to eliminate some of the misses due to the three C's. 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We cannot reduce capacity misses much except by making the cache larger. 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We can, however, reduce the conflict misses and compulsory misses in several ways: </a:t>
            </a:r>
          </a:p>
          <a:p>
            <a:endParaRPr lang="zh-CN" altLang="en-US" dirty="0"/>
          </a:p>
        </p:txBody>
      </p:sp>
      <p:sp>
        <p:nvSpPr>
          <p:cNvPr id="894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Reducing Cache Miss Rate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94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894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894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4979" grpId="0" build="p" autoUpdateAnimBg="0" advAuto="100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0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total cache size not changed.</a:t>
            </a:r>
          </a:p>
          <a:p>
            <a:r>
              <a:rPr lang="en-US" dirty="0"/>
              <a:t>What happens if:</a:t>
            </a:r>
          </a:p>
          <a:p>
            <a:pPr lvl="1"/>
            <a:r>
              <a:rPr lang="en-US" dirty="0"/>
              <a:t>Change Block Size</a:t>
            </a:r>
          </a:p>
          <a:p>
            <a:pPr lvl="1"/>
            <a:r>
              <a:rPr lang="en-US" dirty="0"/>
              <a:t>Change Associativity</a:t>
            </a:r>
          </a:p>
          <a:p>
            <a:pPr lvl="1"/>
            <a:r>
              <a:rPr lang="en-US" dirty="0"/>
              <a:t>Change Compiler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Which of 3Cs is obviously affected?</a:t>
            </a:r>
          </a:p>
        </p:txBody>
      </p:sp>
      <p:sp>
        <p:nvSpPr>
          <p:cNvPr id="89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Cache Organization?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0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Larger Block Size (fixed </a:t>
            </a:r>
            <a:r>
              <a:rPr lang="en-US" altLang="zh-CN" dirty="0" err="1"/>
              <a:t>size&amp;assoc</a:t>
            </a:r>
            <a:r>
              <a:rPr lang="en-US" altLang="zh-CN" dirty="0"/>
              <a:t>) </a:t>
            </a:r>
          </a:p>
          <a:p>
            <a:pPr lvl="1"/>
            <a:r>
              <a:rPr lang="en-US" altLang="zh-CN" dirty="0"/>
              <a:t>Larger blocks decrease the compulsory miss rate by taking advantage of spatial locality. </a:t>
            </a:r>
          </a:p>
          <a:p>
            <a:pPr lvl="1"/>
            <a:r>
              <a:rPr lang="en-US" altLang="zh-CN" dirty="0"/>
              <a:t>Drawback: curve is U-shaped </a:t>
            </a:r>
          </a:p>
          <a:p>
            <a:pPr lvl="1"/>
            <a:r>
              <a:rPr lang="en-US" altLang="zh-CN" dirty="0"/>
              <a:t>However, they may increase the miss penalty by requiring more data to be fetched per miss. </a:t>
            </a:r>
          </a:p>
          <a:p>
            <a:pPr lvl="1"/>
            <a:r>
              <a:rPr lang="en-US" altLang="zh-CN" dirty="0"/>
              <a:t>In addition, they will almost certainly increase conflict misses since fewer blocks can be stored in the cache. </a:t>
            </a:r>
          </a:p>
          <a:p>
            <a:pPr lvl="2"/>
            <a:r>
              <a:rPr lang="en-US" altLang="zh-CN" dirty="0"/>
              <a:t>And maybe even capacity misses in small caches</a:t>
            </a:r>
          </a:p>
          <a:p>
            <a:pPr lvl="1"/>
            <a:r>
              <a:rPr lang="en-US" altLang="zh-CN" dirty="0"/>
              <a:t>Trade-off </a:t>
            </a:r>
          </a:p>
          <a:p>
            <a:pPr lvl="2"/>
            <a:r>
              <a:rPr lang="en-US" altLang="zh-CN" dirty="0"/>
              <a:t>Trying to minimize both the miss rate and the miss penalty.</a:t>
            </a:r>
          </a:p>
          <a:p>
            <a:pPr lvl="2"/>
            <a:r>
              <a:rPr lang="en-US" altLang="zh-CN" dirty="0"/>
              <a:t>The selection of block size depends on both the latency and bandwidth of lower-level memory</a:t>
            </a:r>
          </a:p>
        </p:txBody>
      </p:sp>
      <p:sp>
        <p:nvSpPr>
          <p:cNvPr id="898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First Miss Rate Reduction Technique</a:t>
            </a:r>
            <a:endParaRPr lang="en-US" dirty="0"/>
          </a:p>
        </p:txBody>
      </p:sp>
      <p:graphicFrame>
        <p:nvGraphicFramePr>
          <p:cNvPr id="898052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046347"/>
              </p:ext>
            </p:extLst>
          </p:nvPr>
        </p:nvGraphicFramePr>
        <p:xfrm>
          <a:off x="2706143" y="1700808"/>
          <a:ext cx="6862762" cy="3352802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6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0538"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Block size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Cache size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1K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4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K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16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K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64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K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256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K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5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16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15.05%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8.57%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3.94%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2.04%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1.09%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32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13.34%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7.24%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2.87%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1.35%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0.70%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5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64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13.76%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7.00%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2.64%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1.06%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0.51%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128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16.64%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7.78%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2.77%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1.02%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0.49%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256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22.01%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9.51%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3.29%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1.15%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0.49%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98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090" name="Rectangle 18"/>
          <p:cNvSpPr>
            <a:spLocks noGrp="1" noChangeArrowheads="1"/>
          </p:cNvSpPr>
          <p:nvPr>
            <p:ph type="title"/>
          </p:nvPr>
        </p:nvSpPr>
        <p:spPr>
          <a:xfrm>
            <a:off x="983432" y="139612"/>
            <a:ext cx="8465368" cy="762000"/>
          </a:xfrm>
          <a:noFill/>
          <a:ln/>
        </p:spPr>
        <p:txBody>
          <a:bodyPr vert="horz" lIns="90488" tIns="45720" rIns="90488" bIns="45720" rtlCol="0" anchor="ctr">
            <a:noAutofit/>
          </a:bodyPr>
          <a:lstStyle/>
          <a:p>
            <a:r>
              <a:rPr lang="en-US" altLang="zh-CN" dirty="0">
                <a:ea typeface="宋体" pitchFamily="2" charset="-122"/>
              </a:rPr>
              <a:t>The performance curve is U-shaped </a:t>
            </a:r>
            <a:endParaRPr lang="en-US" dirty="0">
              <a:ea typeface="宋体" pitchFamily="2" charset="-122"/>
            </a:endParaRPr>
          </a:p>
        </p:txBody>
      </p:sp>
      <p:grpSp>
        <p:nvGrpSpPr>
          <p:cNvPr id="899074" name="Group 2"/>
          <p:cNvGrpSpPr>
            <a:grpSpLocks/>
          </p:cNvGrpSpPr>
          <p:nvPr/>
        </p:nvGrpSpPr>
        <p:grpSpPr bwMode="auto">
          <a:xfrm>
            <a:off x="1600200" y="2481264"/>
            <a:ext cx="4038600" cy="3538537"/>
            <a:chOff x="0" y="1468"/>
            <a:chExt cx="2544" cy="2229"/>
          </a:xfrm>
        </p:grpSpPr>
        <p:sp>
          <p:nvSpPr>
            <p:cNvPr id="899075" name="Text Box 3"/>
            <p:cNvSpPr txBox="1">
              <a:spLocks noChangeArrowheads="1"/>
            </p:cNvSpPr>
            <p:nvPr/>
          </p:nvSpPr>
          <p:spPr bwMode="auto">
            <a:xfrm>
              <a:off x="0" y="3120"/>
              <a:ext cx="864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Comic Sans MS" pitchFamily="66" charset="0"/>
                </a:rPr>
                <a:t>Reduced </a:t>
              </a:r>
            </a:p>
            <a:p>
              <a:r>
                <a:rPr lang="en-US">
                  <a:solidFill>
                    <a:schemeClr val="accent2"/>
                  </a:solidFill>
                  <a:latin typeface="Comic Sans MS" pitchFamily="66" charset="0"/>
                </a:rPr>
                <a:t>compulsory</a:t>
              </a:r>
            </a:p>
            <a:p>
              <a:r>
                <a:rPr lang="en-US">
                  <a:solidFill>
                    <a:schemeClr val="accent2"/>
                  </a:solidFill>
                  <a:latin typeface="Comic Sans MS" pitchFamily="66" charset="0"/>
                </a:rPr>
                <a:t>misses</a:t>
              </a:r>
            </a:p>
          </p:txBody>
        </p:sp>
        <p:sp>
          <p:nvSpPr>
            <p:cNvPr id="899076" name="Oval 4"/>
            <p:cNvSpPr>
              <a:spLocks noChangeArrowheads="1"/>
            </p:cNvSpPr>
            <p:nvPr/>
          </p:nvSpPr>
          <p:spPr bwMode="auto">
            <a:xfrm rot="842773">
              <a:off x="816" y="1468"/>
              <a:ext cx="1728" cy="327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99077" name="Line 5"/>
            <p:cNvSpPr>
              <a:spLocks noChangeShapeType="1"/>
            </p:cNvSpPr>
            <p:nvPr/>
          </p:nvSpPr>
          <p:spPr bwMode="auto">
            <a:xfrm flipH="1">
              <a:off x="480" y="1872"/>
              <a:ext cx="864" cy="1296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99078" name="Group 6"/>
          <p:cNvGrpSpPr>
            <a:grpSpLocks/>
          </p:cNvGrpSpPr>
          <p:nvPr/>
        </p:nvGrpSpPr>
        <p:grpSpPr bwMode="auto">
          <a:xfrm>
            <a:off x="6638926" y="1722438"/>
            <a:ext cx="3876675" cy="4830763"/>
            <a:chOff x="3120" y="989"/>
            <a:chExt cx="2442" cy="3043"/>
          </a:xfrm>
        </p:grpSpPr>
        <p:sp>
          <p:nvSpPr>
            <p:cNvPr id="899079" name="Text Box 7"/>
            <p:cNvSpPr txBox="1">
              <a:spLocks noChangeArrowheads="1"/>
            </p:cNvSpPr>
            <p:nvPr/>
          </p:nvSpPr>
          <p:spPr bwMode="auto">
            <a:xfrm>
              <a:off x="4752" y="3455"/>
              <a:ext cx="810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hlink"/>
                  </a:solidFill>
                  <a:latin typeface="Comic Sans MS" pitchFamily="66" charset="0"/>
                </a:rPr>
                <a:t>Increased</a:t>
              </a:r>
            </a:p>
            <a:p>
              <a:r>
                <a:rPr lang="en-US">
                  <a:solidFill>
                    <a:schemeClr val="hlink"/>
                  </a:solidFill>
                  <a:latin typeface="Comic Sans MS" pitchFamily="66" charset="0"/>
                </a:rPr>
                <a:t>Conflict</a:t>
              </a:r>
            </a:p>
            <a:p>
              <a:r>
                <a:rPr lang="en-US">
                  <a:solidFill>
                    <a:schemeClr val="hlink"/>
                  </a:solidFill>
                  <a:latin typeface="Comic Sans MS" pitchFamily="66" charset="0"/>
                </a:rPr>
                <a:t>Misses</a:t>
              </a:r>
            </a:p>
          </p:txBody>
        </p:sp>
        <p:sp>
          <p:nvSpPr>
            <p:cNvPr id="899080" name="Oval 8"/>
            <p:cNvSpPr>
              <a:spLocks noChangeArrowheads="1"/>
            </p:cNvSpPr>
            <p:nvPr/>
          </p:nvSpPr>
          <p:spPr bwMode="auto">
            <a:xfrm rot="19986725">
              <a:off x="3120" y="989"/>
              <a:ext cx="1968" cy="327"/>
            </a:xfrm>
            <a:prstGeom prst="ellips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99081" name="Line 9"/>
            <p:cNvSpPr>
              <a:spLocks noChangeShapeType="1"/>
            </p:cNvSpPr>
            <p:nvPr/>
          </p:nvSpPr>
          <p:spPr bwMode="auto">
            <a:xfrm>
              <a:off x="4416" y="1250"/>
              <a:ext cx="768" cy="2206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899082" name="Text Box 10"/>
          <p:cNvSpPr txBox="1">
            <a:spLocks noChangeArrowheads="1"/>
          </p:cNvSpPr>
          <p:nvPr/>
        </p:nvSpPr>
        <p:spPr bwMode="auto">
          <a:xfrm>
            <a:off x="2209800" y="5943601"/>
            <a:ext cx="5181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sz="2000">
                <a:solidFill>
                  <a:schemeClr val="hlink"/>
                </a:solidFill>
                <a:latin typeface="Comic Sans MS" pitchFamily="66" charset="0"/>
              </a:rPr>
              <a:t>What else drives up block size?</a:t>
            </a:r>
          </a:p>
        </p:txBody>
      </p:sp>
      <p:sp>
        <p:nvSpPr>
          <p:cNvPr id="899083" name="Rectangle 11"/>
          <p:cNvSpPr>
            <a:spLocks noChangeArrowheads="1"/>
          </p:cNvSpPr>
          <p:nvPr/>
        </p:nvSpPr>
        <p:spPr bwMode="auto">
          <a:xfrm>
            <a:off x="5560387" y="5638801"/>
            <a:ext cx="22634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000">
                <a:solidFill>
                  <a:srgbClr val="000000"/>
                </a:solidFill>
                <a:latin typeface="Geneva" charset="0"/>
                <a:ea typeface="宋体" pitchFamily="2" charset="-122"/>
              </a:rPr>
              <a:t>Block Size (bytes)   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899084" name="Rectangle 12"/>
          <p:cNvSpPr>
            <a:spLocks noChangeArrowheads="1"/>
          </p:cNvSpPr>
          <p:nvPr/>
        </p:nvSpPr>
        <p:spPr bwMode="auto">
          <a:xfrm rot="-5400000">
            <a:off x="1299866" y="2855220"/>
            <a:ext cx="121026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2000">
                <a:solidFill>
                  <a:srgbClr val="000000"/>
                </a:solidFill>
                <a:latin typeface="Geneva" charset="0"/>
                <a:ea typeface="宋体" pitchFamily="2" charset="-122"/>
              </a:rPr>
              <a:t>Miss Rate </a:t>
            </a:r>
          </a:p>
        </p:txBody>
      </p:sp>
      <p:sp>
        <p:nvSpPr>
          <p:cNvPr id="899085" name="Rectangle 13"/>
          <p:cNvSpPr>
            <a:spLocks noChangeArrowheads="1"/>
          </p:cNvSpPr>
          <p:nvPr/>
        </p:nvSpPr>
        <p:spPr bwMode="auto">
          <a:xfrm>
            <a:off x="10160000" y="1447800"/>
            <a:ext cx="3238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Geneva" charset="0"/>
                <a:ea typeface="宋体" pitchFamily="2" charset="-122"/>
              </a:rPr>
              <a:t>1</a:t>
            </a:r>
            <a:r>
              <a:rPr lang="en-US" altLang="zh-CN" sz="2000">
                <a:solidFill>
                  <a:srgbClr val="000000"/>
                </a:solidFill>
                <a:latin typeface="Geneva" charset="0"/>
                <a:ea typeface="宋体" pitchFamily="2" charset="-122"/>
              </a:rPr>
              <a:t>K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899086" name="Rectangle 14"/>
          <p:cNvSpPr>
            <a:spLocks noChangeArrowheads="1"/>
          </p:cNvSpPr>
          <p:nvPr/>
        </p:nvSpPr>
        <p:spPr bwMode="auto">
          <a:xfrm>
            <a:off x="10160000" y="3276600"/>
            <a:ext cx="3238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Geneva" charset="0"/>
                <a:ea typeface="宋体" pitchFamily="2" charset="-122"/>
              </a:rPr>
              <a:t>4</a:t>
            </a:r>
            <a:r>
              <a:rPr lang="en-US" altLang="zh-CN" sz="2000">
                <a:solidFill>
                  <a:srgbClr val="000000"/>
                </a:solidFill>
                <a:latin typeface="Geneva" charset="0"/>
                <a:ea typeface="宋体" pitchFamily="2" charset="-122"/>
              </a:rPr>
              <a:t>K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899087" name="Rectangle 15"/>
          <p:cNvSpPr>
            <a:spLocks noChangeArrowheads="1"/>
          </p:cNvSpPr>
          <p:nvPr/>
        </p:nvSpPr>
        <p:spPr bwMode="auto">
          <a:xfrm>
            <a:off x="10029997" y="4191001"/>
            <a:ext cx="45685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Geneva" charset="0"/>
                <a:ea typeface="宋体" pitchFamily="2" charset="-122"/>
              </a:rPr>
              <a:t>16</a:t>
            </a:r>
            <a:r>
              <a:rPr lang="en-US" altLang="zh-CN" sz="2000">
                <a:solidFill>
                  <a:srgbClr val="000000"/>
                </a:solidFill>
                <a:latin typeface="Geneva" charset="0"/>
                <a:ea typeface="宋体" pitchFamily="2" charset="-122"/>
              </a:rPr>
              <a:t>K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899088" name="Rectangle 16"/>
          <p:cNvSpPr>
            <a:spLocks noChangeArrowheads="1"/>
          </p:cNvSpPr>
          <p:nvPr/>
        </p:nvSpPr>
        <p:spPr bwMode="auto">
          <a:xfrm>
            <a:off x="10029997" y="4495801"/>
            <a:ext cx="45685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Geneva" charset="0"/>
                <a:ea typeface="宋体" pitchFamily="2" charset="-122"/>
              </a:rPr>
              <a:t>64</a:t>
            </a:r>
            <a:r>
              <a:rPr lang="en-US" altLang="zh-CN" sz="2000">
                <a:solidFill>
                  <a:srgbClr val="000000"/>
                </a:solidFill>
                <a:latin typeface="Geneva" charset="0"/>
                <a:ea typeface="宋体" pitchFamily="2" charset="-122"/>
              </a:rPr>
              <a:t>K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899089" name="Rectangle 17"/>
          <p:cNvSpPr>
            <a:spLocks noChangeArrowheads="1"/>
          </p:cNvSpPr>
          <p:nvPr/>
        </p:nvSpPr>
        <p:spPr bwMode="auto">
          <a:xfrm>
            <a:off x="9926913" y="4800601"/>
            <a:ext cx="5995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Geneva" charset="0"/>
                <a:ea typeface="宋体" pitchFamily="2" charset="-122"/>
              </a:rPr>
              <a:t>256</a:t>
            </a:r>
            <a:r>
              <a:rPr lang="en-US" altLang="zh-CN" sz="2000">
                <a:solidFill>
                  <a:srgbClr val="000000"/>
                </a:solidFill>
                <a:latin typeface="Geneva" charset="0"/>
                <a:ea typeface="宋体" pitchFamily="2" charset="-122"/>
              </a:rPr>
              <a:t>K</a:t>
            </a:r>
            <a:endParaRPr lang="en-US" altLang="zh-CN">
              <a:ea typeface="宋体" pitchFamily="2" charset="-122"/>
            </a:endParaRPr>
          </a:p>
        </p:txBody>
      </p:sp>
      <p:grpSp>
        <p:nvGrpSpPr>
          <p:cNvPr id="899091" name="Group 19"/>
          <p:cNvGrpSpPr>
            <a:grpSpLocks/>
          </p:cNvGrpSpPr>
          <p:nvPr/>
        </p:nvGrpSpPr>
        <p:grpSpPr bwMode="auto">
          <a:xfrm>
            <a:off x="2466751" y="799917"/>
            <a:ext cx="7539015" cy="4840601"/>
            <a:chOff x="926" y="575"/>
            <a:chExt cx="4159" cy="2820"/>
          </a:xfrm>
        </p:grpSpPr>
        <p:grpSp>
          <p:nvGrpSpPr>
            <p:cNvPr id="899092" name="Group 20"/>
            <p:cNvGrpSpPr>
              <a:grpSpLocks/>
            </p:cNvGrpSpPr>
            <p:nvPr/>
          </p:nvGrpSpPr>
          <p:grpSpPr bwMode="auto">
            <a:xfrm>
              <a:off x="1288" y="592"/>
              <a:ext cx="3622" cy="2039"/>
              <a:chOff x="1143" y="573"/>
              <a:chExt cx="2893" cy="1700"/>
            </a:xfrm>
          </p:grpSpPr>
          <p:sp>
            <p:nvSpPr>
              <p:cNvPr id="899093" name="Line 21"/>
              <p:cNvSpPr>
                <a:spLocks noChangeShapeType="1"/>
              </p:cNvSpPr>
              <p:nvPr/>
            </p:nvSpPr>
            <p:spPr bwMode="auto">
              <a:xfrm>
                <a:off x="1143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094" name="Line 22"/>
              <p:cNvSpPr>
                <a:spLocks noChangeShapeType="1"/>
              </p:cNvSpPr>
              <p:nvPr/>
            </p:nvSpPr>
            <p:spPr bwMode="auto">
              <a:xfrm>
                <a:off x="1207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095" name="Line 23"/>
              <p:cNvSpPr>
                <a:spLocks noChangeShapeType="1"/>
              </p:cNvSpPr>
              <p:nvPr/>
            </p:nvSpPr>
            <p:spPr bwMode="auto">
              <a:xfrm>
                <a:off x="1271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096" name="Line 24"/>
              <p:cNvSpPr>
                <a:spLocks noChangeShapeType="1"/>
              </p:cNvSpPr>
              <p:nvPr/>
            </p:nvSpPr>
            <p:spPr bwMode="auto">
              <a:xfrm>
                <a:off x="1335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097" name="Line 25"/>
              <p:cNvSpPr>
                <a:spLocks noChangeShapeType="1"/>
              </p:cNvSpPr>
              <p:nvPr/>
            </p:nvSpPr>
            <p:spPr bwMode="auto">
              <a:xfrm>
                <a:off x="1399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098" name="Line 26"/>
              <p:cNvSpPr>
                <a:spLocks noChangeShapeType="1"/>
              </p:cNvSpPr>
              <p:nvPr/>
            </p:nvSpPr>
            <p:spPr bwMode="auto">
              <a:xfrm>
                <a:off x="1463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099" name="Line 27"/>
              <p:cNvSpPr>
                <a:spLocks noChangeShapeType="1"/>
              </p:cNvSpPr>
              <p:nvPr/>
            </p:nvSpPr>
            <p:spPr bwMode="auto">
              <a:xfrm>
                <a:off x="1527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00" name="Line 28"/>
              <p:cNvSpPr>
                <a:spLocks noChangeShapeType="1"/>
              </p:cNvSpPr>
              <p:nvPr/>
            </p:nvSpPr>
            <p:spPr bwMode="auto">
              <a:xfrm>
                <a:off x="1591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01" name="Line 29"/>
              <p:cNvSpPr>
                <a:spLocks noChangeShapeType="1"/>
              </p:cNvSpPr>
              <p:nvPr/>
            </p:nvSpPr>
            <p:spPr bwMode="auto">
              <a:xfrm>
                <a:off x="1655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02" name="Line 30"/>
              <p:cNvSpPr>
                <a:spLocks noChangeShapeType="1"/>
              </p:cNvSpPr>
              <p:nvPr/>
            </p:nvSpPr>
            <p:spPr bwMode="auto">
              <a:xfrm>
                <a:off x="1719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03" name="Line 31"/>
              <p:cNvSpPr>
                <a:spLocks noChangeShapeType="1"/>
              </p:cNvSpPr>
              <p:nvPr/>
            </p:nvSpPr>
            <p:spPr bwMode="auto">
              <a:xfrm>
                <a:off x="1783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04" name="Line 32"/>
              <p:cNvSpPr>
                <a:spLocks noChangeShapeType="1"/>
              </p:cNvSpPr>
              <p:nvPr/>
            </p:nvSpPr>
            <p:spPr bwMode="auto">
              <a:xfrm>
                <a:off x="1847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05" name="Line 33"/>
              <p:cNvSpPr>
                <a:spLocks noChangeShapeType="1"/>
              </p:cNvSpPr>
              <p:nvPr/>
            </p:nvSpPr>
            <p:spPr bwMode="auto">
              <a:xfrm>
                <a:off x="1911" y="2272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06" name="Line 34"/>
              <p:cNvSpPr>
                <a:spLocks noChangeShapeType="1"/>
              </p:cNvSpPr>
              <p:nvPr/>
            </p:nvSpPr>
            <p:spPr bwMode="auto">
              <a:xfrm>
                <a:off x="1975" y="2272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07" name="Line 35"/>
              <p:cNvSpPr>
                <a:spLocks noChangeShapeType="1"/>
              </p:cNvSpPr>
              <p:nvPr/>
            </p:nvSpPr>
            <p:spPr bwMode="auto">
              <a:xfrm>
                <a:off x="2039" y="2272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08" name="Line 36"/>
              <p:cNvSpPr>
                <a:spLocks noChangeShapeType="1"/>
              </p:cNvSpPr>
              <p:nvPr/>
            </p:nvSpPr>
            <p:spPr bwMode="auto">
              <a:xfrm>
                <a:off x="2103" y="2272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09" name="Line 37"/>
              <p:cNvSpPr>
                <a:spLocks noChangeShapeType="1"/>
              </p:cNvSpPr>
              <p:nvPr/>
            </p:nvSpPr>
            <p:spPr bwMode="auto">
              <a:xfrm>
                <a:off x="2167" y="2272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10" name="Line 38"/>
              <p:cNvSpPr>
                <a:spLocks noChangeShapeType="1"/>
              </p:cNvSpPr>
              <p:nvPr/>
            </p:nvSpPr>
            <p:spPr bwMode="auto">
              <a:xfrm>
                <a:off x="2231" y="2272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11" name="Line 39"/>
              <p:cNvSpPr>
                <a:spLocks noChangeShapeType="1"/>
              </p:cNvSpPr>
              <p:nvPr/>
            </p:nvSpPr>
            <p:spPr bwMode="auto">
              <a:xfrm>
                <a:off x="2296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12" name="Line 40"/>
              <p:cNvSpPr>
                <a:spLocks noChangeShapeType="1"/>
              </p:cNvSpPr>
              <p:nvPr/>
            </p:nvSpPr>
            <p:spPr bwMode="auto">
              <a:xfrm>
                <a:off x="2360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13" name="Line 41"/>
              <p:cNvSpPr>
                <a:spLocks noChangeShapeType="1"/>
              </p:cNvSpPr>
              <p:nvPr/>
            </p:nvSpPr>
            <p:spPr bwMode="auto">
              <a:xfrm>
                <a:off x="2424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14" name="Line 42"/>
              <p:cNvSpPr>
                <a:spLocks noChangeShapeType="1"/>
              </p:cNvSpPr>
              <p:nvPr/>
            </p:nvSpPr>
            <p:spPr bwMode="auto">
              <a:xfrm>
                <a:off x="2488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15" name="Line 43"/>
              <p:cNvSpPr>
                <a:spLocks noChangeShapeType="1"/>
              </p:cNvSpPr>
              <p:nvPr/>
            </p:nvSpPr>
            <p:spPr bwMode="auto">
              <a:xfrm>
                <a:off x="2552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16" name="Line 44"/>
              <p:cNvSpPr>
                <a:spLocks noChangeShapeType="1"/>
              </p:cNvSpPr>
              <p:nvPr/>
            </p:nvSpPr>
            <p:spPr bwMode="auto">
              <a:xfrm>
                <a:off x="2616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17" name="Line 45"/>
              <p:cNvSpPr>
                <a:spLocks noChangeShapeType="1"/>
              </p:cNvSpPr>
              <p:nvPr/>
            </p:nvSpPr>
            <p:spPr bwMode="auto">
              <a:xfrm>
                <a:off x="2680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18" name="Line 46"/>
              <p:cNvSpPr>
                <a:spLocks noChangeShapeType="1"/>
              </p:cNvSpPr>
              <p:nvPr/>
            </p:nvSpPr>
            <p:spPr bwMode="auto">
              <a:xfrm>
                <a:off x="2744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19" name="Line 47"/>
              <p:cNvSpPr>
                <a:spLocks noChangeShapeType="1"/>
              </p:cNvSpPr>
              <p:nvPr/>
            </p:nvSpPr>
            <p:spPr bwMode="auto">
              <a:xfrm>
                <a:off x="2808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20" name="Line 48"/>
              <p:cNvSpPr>
                <a:spLocks noChangeShapeType="1"/>
              </p:cNvSpPr>
              <p:nvPr/>
            </p:nvSpPr>
            <p:spPr bwMode="auto">
              <a:xfrm>
                <a:off x="2872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21" name="Line 49"/>
              <p:cNvSpPr>
                <a:spLocks noChangeShapeType="1"/>
              </p:cNvSpPr>
              <p:nvPr/>
            </p:nvSpPr>
            <p:spPr bwMode="auto">
              <a:xfrm>
                <a:off x="2936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22" name="Line 50"/>
              <p:cNvSpPr>
                <a:spLocks noChangeShapeType="1"/>
              </p:cNvSpPr>
              <p:nvPr/>
            </p:nvSpPr>
            <p:spPr bwMode="auto">
              <a:xfrm>
                <a:off x="3000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23" name="Line 51"/>
              <p:cNvSpPr>
                <a:spLocks noChangeShapeType="1"/>
              </p:cNvSpPr>
              <p:nvPr/>
            </p:nvSpPr>
            <p:spPr bwMode="auto">
              <a:xfrm>
                <a:off x="3064" y="2272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24" name="Line 52"/>
              <p:cNvSpPr>
                <a:spLocks noChangeShapeType="1"/>
              </p:cNvSpPr>
              <p:nvPr/>
            </p:nvSpPr>
            <p:spPr bwMode="auto">
              <a:xfrm>
                <a:off x="3128" y="2272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25" name="Line 53"/>
              <p:cNvSpPr>
                <a:spLocks noChangeShapeType="1"/>
              </p:cNvSpPr>
              <p:nvPr/>
            </p:nvSpPr>
            <p:spPr bwMode="auto">
              <a:xfrm>
                <a:off x="3192" y="2272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26" name="Line 54"/>
              <p:cNvSpPr>
                <a:spLocks noChangeShapeType="1"/>
              </p:cNvSpPr>
              <p:nvPr/>
            </p:nvSpPr>
            <p:spPr bwMode="auto">
              <a:xfrm>
                <a:off x="3256" y="2272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27" name="Line 55"/>
              <p:cNvSpPr>
                <a:spLocks noChangeShapeType="1"/>
              </p:cNvSpPr>
              <p:nvPr/>
            </p:nvSpPr>
            <p:spPr bwMode="auto">
              <a:xfrm>
                <a:off x="3320" y="2272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28" name="Line 56"/>
              <p:cNvSpPr>
                <a:spLocks noChangeShapeType="1"/>
              </p:cNvSpPr>
              <p:nvPr/>
            </p:nvSpPr>
            <p:spPr bwMode="auto">
              <a:xfrm>
                <a:off x="3384" y="2272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29" name="Line 57"/>
              <p:cNvSpPr>
                <a:spLocks noChangeShapeType="1"/>
              </p:cNvSpPr>
              <p:nvPr/>
            </p:nvSpPr>
            <p:spPr bwMode="auto">
              <a:xfrm>
                <a:off x="3449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30" name="Line 58"/>
              <p:cNvSpPr>
                <a:spLocks noChangeShapeType="1"/>
              </p:cNvSpPr>
              <p:nvPr/>
            </p:nvSpPr>
            <p:spPr bwMode="auto">
              <a:xfrm>
                <a:off x="3513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31" name="Line 59"/>
              <p:cNvSpPr>
                <a:spLocks noChangeShapeType="1"/>
              </p:cNvSpPr>
              <p:nvPr/>
            </p:nvSpPr>
            <p:spPr bwMode="auto">
              <a:xfrm>
                <a:off x="3577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32" name="Line 60"/>
              <p:cNvSpPr>
                <a:spLocks noChangeShapeType="1"/>
              </p:cNvSpPr>
              <p:nvPr/>
            </p:nvSpPr>
            <p:spPr bwMode="auto">
              <a:xfrm>
                <a:off x="3641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33" name="Line 61"/>
              <p:cNvSpPr>
                <a:spLocks noChangeShapeType="1"/>
              </p:cNvSpPr>
              <p:nvPr/>
            </p:nvSpPr>
            <p:spPr bwMode="auto">
              <a:xfrm>
                <a:off x="3705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34" name="Line 62"/>
              <p:cNvSpPr>
                <a:spLocks noChangeShapeType="1"/>
              </p:cNvSpPr>
              <p:nvPr/>
            </p:nvSpPr>
            <p:spPr bwMode="auto">
              <a:xfrm>
                <a:off x="3769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35" name="Line 63"/>
              <p:cNvSpPr>
                <a:spLocks noChangeShapeType="1"/>
              </p:cNvSpPr>
              <p:nvPr/>
            </p:nvSpPr>
            <p:spPr bwMode="auto">
              <a:xfrm>
                <a:off x="3833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36" name="Line 64"/>
              <p:cNvSpPr>
                <a:spLocks noChangeShapeType="1"/>
              </p:cNvSpPr>
              <p:nvPr/>
            </p:nvSpPr>
            <p:spPr bwMode="auto">
              <a:xfrm>
                <a:off x="3897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37" name="Line 65"/>
              <p:cNvSpPr>
                <a:spLocks noChangeShapeType="1"/>
              </p:cNvSpPr>
              <p:nvPr/>
            </p:nvSpPr>
            <p:spPr bwMode="auto">
              <a:xfrm>
                <a:off x="3961" y="227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38" name="Line 66"/>
              <p:cNvSpPr>
                <a:spLocks noChangeShapeType="1"/>
              </p:cNvSpPr>
              <p:nvPr/>
            </p:nvSpPr>
            <p:spPr bwMode="auto">
              <a:xfrm>
                <a:off x="4025" y="2272"/>
                <a:ext cx="1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39" name="Line 67"/>
              <p:cNvSpPr>
                <a:spLocks noChangeShapeType="1"/>
              </p:cNvSpPr>
              <p:nvPr/>
            </p:nvSpPr>
            <p:spPr bwMode="auto">
              <a:xfrm>
                <a:off x="1143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40" name="Line 68"/>
              <p:cNvSpPr>
                <a:spLocks noChangeShapeType="1"/>
              </p:cNvSpPr>
              <p:nvPr/>
            </p:nvSpPr>
            <p:spPr bwMode="auto">
              <a:xfrm>
                <a:off x="1207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41" name="Line 69"/>
              <p:cNvSpPr>
                <a:spLocks noChangeShapeType="1"/>
              </p:cNvSpPr>
              <p:nvPr/>
            </p:nvSpPr>
            <p:spPr bwMode="auto">
              <a:xfrm>
                <a:off x="1271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42" name="Line 70"/>
              <p:cNvSpPr>
                <a:spLocks noChangeShapeType="1"/>
              </p:cNvSpPr>
              <p:nvPr/>
            </p:nvSpPr>
            <p:spPr bwMode="auto">
              <a:xfrm>
                <a:off x="1335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43" name="Line 71"/>
              <p:cNvSpPr>
                <a:spLocks noChangeShapeType="1"/>
              </p:cNvSpPr>
              <p:nvPr/>
            </p:nvSpPr>
            <p:spPr bwMode="auto">
              <a:xfrm>
                <a:off x="1399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44" name="Line 72"/>
              <p:cNvSpPr>
                <a:spLocks noChangeShapeType="1"/>
              </p:cNvSpPr>
              <p:nvPr/>
            </p:nvSpPr>
            <p:spPr bwMode="auto">
              <a:xfrm>
                <a:off x="1463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45" name="Line 73"/>
              <p:cNvSpPr>
                <a:spLocks noChangeShapeType="1"/>
              </p:cNvSpPr>
              <p:nvPr/>
            </p:nvSpPr>
            <p:spPr bwMode="auto">
              <a:xfrm>
                <a:off x="1527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46" name="Line 74"/>
              <p:cNvSpPr>
                <a:spLocks noChangeShapeType="1"/>
              </p:cNvSpPr>
              <p:nvPr/>
            </p:nvSpPr>
            <p:spPr bwMode="auto">
              <a:xfrm>
                <a:off x="1591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47" name="Line 75"/>
              <p:cNvSpPr>
                <a:spLocks noChangeShapeType="1"/>
              </p:cNvSpPr>
              <p:nvPr/>
            </p:nvSpPr>
            <p:spPr bwMode="auto">
              <a:xfrm>
                <a:off x="1655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48" name="Line 76"/>
              <p:cNvSpPr>
                <a:spLocks noChangeShapeType="1"/>
              </p:cNvSpPr>
              <p:nvPr/>
            </p:nvSpPr>
            <p:spPr bwMode="auto">
              <a:xfrm>
                <a:off x="1719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49" name="Line 77"/>
              <p:cNvSpPr>
                <a:spLocks noChangeShapeType="1"/>
              </p:cNvSpPr>
              <p:nvPr/>
            </p:nvSpPr>
            <p:spPr bwMode="auto">
              <a:xfrm>
                <a:off x="1783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50" name="Line 78"/>
              <p:cNvSpPr>
                <a:spLocks noChangeShapeType="1"/>
              </p:cNvSpPr>
              <p:nvPr/>
            </p:nvSpPr>
            <p:spPr bwMode="auto">
              <a:xfrm>
                <a:off x="1847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51" name="Line 79"/>
              <p:cNvSpPr>
                <a:spLocks noChangeShapeType="1"/>
              </p:cNvSpPr>
              <p:nvPr/>
            </p:nvSpPr>
            <p:spPr bwMode="auto">
              <a:xfrm>
                <a:off x="1911" y="1847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52" name="Line 80"/>
              <p:cNvSpPr>
                <a:spLocks noChangeShapeType="1"/>
              </p:cNvSpPr>
              <p:nvPr/>
            </p:nvSpPr>
            <p:spPr bwMode="auto">
              <a:xfrm>
                <a:off x="1975" y="1847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53" name="Line 81"/>
              <p:cNvSpPr>
                <a:spLocks noChangeShapeType="1"/>
              </p:cNvSpPr>
              <p:nvPr/>
            </p:nvSpPr>
            <p:spPr bwMode="auto">
              <a:xfrm>
                <a:off x="2039" y="1847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54" name="Line 82"/>
              <p:cNvSpPr>
                <a:spLocks noChangeShapeType="1"/>
              </p:cNvSpPr>
              <p:nvPr/>
            </p:nvSpPr>
            <p:spPr bwMode="auto">
              <a:xfrm>
                <a:off x="2103" y="1847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55" name="Line 83"/>
              <p:cNvSpPr>
                <a:spLocks noChangeShapeType="1"/>
              </p:cNvSpPr>
              <p:nvPr/>
            </p:nvSpPr>
            <p:spPr bwMode="auto">
              <a:xfrm>
                <a:off x="2167" y="1847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56" name="Line 84"/>
              <p:cNvSpPr>
                <a:spLocks noChangeShapeType="1"/>
              </p:cNvSpPr>
              <p:nvPr/>
            </p:nvSpPr>
            <p:spPr bwMode="auto">
              <a:xfrm>
                <a:off x="2231" y="1847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57" name="Line 85"/>
              <p:cNvSpPr>
                <a:spLocks noChangeShapeType="1"/>
              </p:cNvSpPr>
              <p:nvPr/>
            </p:nvSpPr>
            <p:spPr bwMode="auto">
              <a:xfrm>
                <a:off x="2296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58" name="Line 86"/>
              <p:cNvSpPr>
                <a:spLocks noChangeShapeType="1"/>
              </p:cNvSpPr>
              <p:nvPr/>
            </p:nvSpPr>
            <p:spPr bwMode="auto">
              <a:xfrm>
                <a:off x="2360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59" name="Line 87"/>
              <p:cNvSpPr>
                <a:spLocks noChangeShapeType="1"/>
              </p:cNvSpPr>
              <p:nvPr/>
            </p:nvSpPr>
            <p:spPr bwMode="auto">
              <a:xfrm>
                <a:off x="2424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60" name="Line 88"/>
              <p:cNvSpPr>
                <a:spLocks noChangeShapeType="1"/>
              </p:cNvSpPr>
              <p:nvPr/>
            </p:nvSpPr>
            <p:spPr bwMode="auto">
              <a:xfrm>
                <a:off x="2488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61" name="Line 89"/>
              <p:cNvSpPr>
                <a:spLocks noChangeShapeType="1"/>
              </p:cNvSpPr>
              <p:nvPr/>
            </p:nvSpPr>
            <p:spPr bwMode="auto">
              <a:xfrm>
                <a:off x="2552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62" name="Line 90"/>
              <p:cNvSpPr>
                <a:spLocks noChangeShapeType="1"/>
              </p:cNvSpPr>
              <p:nvPr/>
            </p:nvSpPr>
            <p:spPr bwMode="auto">
              <a:xfrm>
                <a:off x="2616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63" name="Line 91"/>
              <p:cNvSpPr>
                <a:spLocks noChangeShapeType="1"/>
              </p:cNvSpPr>
              <p:nvPr/>
            </p:nvSpPr>
            <p:spPr bwMode="auto">
              <a:xfrm>
                <a:off x="2680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64" name="Line 92"/>
              <p:cNvSpPr>
                <a:spLocks noChangeShapeType="1"/>
              </p:cNvSpPr>
              <p:nvPr/>
            </p:nvSpPr>
            <p:spPr bwMode="auto">
              <a:xfrm>
                <a:off x="2744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65" name="Line 93"/>
              <p:cNvSpPr>
                <a:spLocks noChangeShapeType="1"/>
              </p:cNvSpPr>
              <p:nvPr/>
            </p:nvSpPr>
            <p:spPr bwMode="auto">
              <a:xfrm>
                <a:off x="2808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66" name="Line 94"/>
              <p:cNvSpPr>
                <a:spLocks noChangeShapeType="1"/>
              </p:cNvSpPr>
              <p:nvPr/>
            </p:nvSpPr>
            <p:spPr bwMode="auto">
              <a:xfrm>
                <a:off x="2872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67" name="Line 95"/>
              <p:cNvSpPr>
                <a:spLocks noChangeShapeType="1"/>
              </p:cNvSpPr>
              <p:nvPr/>
            </p:nvSpPr>
            <p:spPr bwMode="auto">
              <a:xfrm>
                <a:off x="2936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68" name="Line 96"/>
              <p:cNvSpPr>
                <a:spLocks noChangeShapeType="1"/>
              </p:cNvSpPr>
              <p:nvPr/>
            </p:nvSpPr>
            <p:spPr bwMode="auto">
              <a:xfrm>
                <a:off x="3000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69" name="Line 97"/>
              <p:cNvSpPr>
                <a:spLocks noChangeShapeType="1"/>
              </p:cNvSpPr>
              <p:nvPr/>
            </p:nvSpPr>
            <p:spPr bwMode="auto">
              <a:xfrm>
                <a:off x="3064" y="1847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70" name="Line 98"/>
              <p:cNvSpPr>
                <a:spLocks noChangeShapeType="1"/>
              </p:cNvSpPr>
              <p:nvPr/>
            </p:nvSpPr>
            <p:spPr bwMode="auto">
              <a:xfrm>
                <a:off x="3128" y="1847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71" name="Line 99"/>
              <p:cNvSpPr>
                <a:spLocks noChangeShapeType="1"/>
              </p:cNvSpPr>
              <p:nvPr/>
            </p:nvSpPr>
            <p:spPr bwMode="auto">
              <a:xfrm>
                <a:off x="3192" y="1847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72" name="Line 100"/>
              <p:cNvSpPr>
                <a:spLocks noChangeShapeType="1"/>
              </p:cNvSpPr>
              <p:nvPr/>
            </p:nvSpPr>
            <p:spPr bwMode="auto">
              <a:xfrm>
                <a:off x="3256" y="1847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73" name="Line 101"/>
              <p:cNvSpPr>
                <a:spLocks noChangeShapeType="1"/>
              </p:cNvSpPr>
              <p:nvPr/>
            </p:nvSpPr>
            <p:spPr bwMode="auto">
              <a:xfrm>
                <a:off x="3320" y="1847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74" name="Line 102"/>
              <p:cNvSpPr>
                <a:spLocks noChangeShapeType="1"/>
              </p:cNvSpPr>
              <p:nvPr/>
            </p:nvSpPr>
            <p:spPr bwMode="auto">
              <a:xfrm>
                <a:off x="3384" y="1847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75" name="Line 103"/>
              <p:cNvSpPr>
                <a:spLocks noChangeShapeType="1"/>
              </p:cNvSpPr>
              <p:nvPr/>
            </p:nvSpPr>
            <p:spPr bwMode="auto">
              <a:xfrm>
                <a:off x="3449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76" name="Line 104"/>
              <p:cNvSpPr>
                <a:spLocks noChangeShapeType="1"/>
              </p:cNvSpPr>
              <p:nvPr/>
            </p:nvSpPr>
            <p:spPr bwMode="auto">
              <a:xfrm>
                <a:off x="3513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77" name="Line 105"/>
              <p:cNvSpPr>
                <a:spLocks noChangeShapeType="1"/>
              </p:cNvSpPr>
              <p:nvPr/>
            </p:nvSpPr>
            <p:spPr bwMode="auto">
              <a:xfrm>
                <a:off x="3577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78" name="Line 106"/>
              <p:cNvSpPr>
                <a:spLocks noChangeShapeType="1"/>
              </p:cNvSpPr>
              <p:nvPr/>
            </p:nvSpPr>
            <p:spPr bwMode="auto">
              <a:xfrm>
                <a:off x="3641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79" name="Line 107"/>
              <p:cNvSpPr>
                <a:spLocks noChangeShapeType="1"/>
              </p:cNvSpPr>
              <p:nvPr/>
            </p:nvSpPr>
            <p:spPr bwMode="auto">
              <a:xfrm>
                <a:off x="3705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80" name="Line 108"/>
              <p:cNvSpPr>
                <a:spLocks noChangeShapeType="1"/>
              </p:cNvSpPr>
              <p:nvPr/>
            </p:nvSpPr>
            <p:spPr bwMode="auto">
              <a:xfrm>
                <a:off x="3769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81" name="Line 109"/>
              <p:cNvSpPr>
                <a:spLocks noChangeShapeType="1"/>
              </p:cNvSpPr>
              <p:nvPr/>
            </p:nvSpPr>
            <p:spPr bwMode="auto">
              <a:xfrm>
                <a:off x="3833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82" name="Line 110"/>
              <p:cNvSpPr>
                <a:spLocks noChangeShapeType="1"/>
              </p:cNvSpPr>
              <p:nvPr/>
            </p:nvSpPr>
            <p:spPr bwMode="auto">
              <a:xfrm>
                <a:off x="3897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83" name="Line 111"/>
              <p:cNvSpPr>
                <a:spLocks noChangeShapeType="1"/>
              </p:cNvSpPr>
              <p:nvPr/>
            </p:nvSpPr>
            <p:spPr bwMode="auto">
              <a:xfrm>
                <a:off x="3961" y="1847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84" name="Line 112"/>
              <p:cNvSpPr>
                <a:spLocks noChangeShapeType="1"/>
              </p:cNvSpPr>
              <p:nvPr/>
            </p:nvSpPr>
            <p:spPr bwMode="auto">
              <a:xfrm>
                <a:off x="4025" y="1847"/>
                <a:ext cx="1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85" name="Line 113"/>
              <p:cNvSpPr>
                <a:spLocks noChangeShapeType="1"/>
              </p:cNvSpPr>
              <p:nvPr/>
            </p:nvSpPr>
            <p:spPr bwMode="auto">
              <a:xfrm>
                <a:off x="1143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86" name="Line 114"/>
              <p:cNvSpPr>
                <a:spLocks noChangeShapeType="1"/>
              </p:cNvSpPr>
              <p:nvPr/>
            </p:nvSpPr>
            <p:spPr bwMode="auto">
              <a:xfrm>
                <a:off x="1207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87" name="Line 115"/>
              <p:cNvSpPr>
                <a:spLocks noChangeShapeType="1"/>
              </p:cNvSpPr>
              <p:nvPr/>
            </p:nvSpPr>
            <p:spPr bwMode="auto">
              <a:xfrm>
                <a:off x="1271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88" name="Line 116"/>
              <p:cNvSpPr>
                <a:spLocks noChangeShapeType="1"/>
              </p:cNvSpPr>
              <p:nvPr/>
            </p:nvSpPr>
            <p:spPr bwMode="auto">
              <a:xfrm>
                <a:off x="1335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89" name="Line 117"/>
              <p:cNvSpPr>
                <a:spLocks noChangeShapeType="1"/>
              </p:cNvSpPr>
              <p:nvPr/>
            </p:nvSpPr>
            <p:spPr bwMode="auto">
              <a:xfrm>
                <a:off x="1399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90" name="Line 118"/>
              <p:cNvSpPr>
                <a:spLocks noChangeShapeType="1"/>
              </p:cNvSpPr>
              <p:nvPr/>
            </p:nvSpPr>
            <p:spPr bwMode="auto">
              <a:xfrm>
                <a:off x="1463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91" name="Line 119"/>
              <p:cNvSpPr>
                <a:spLocks noChangeShapeType="1"/>
              </p:cNvSpPr>
              <p:nvPr/>
            </p:nvSpPr>
            <p:spPr bwMode="auto">
              <a:xfrm>
                <a:off x="1527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92" name="Line 120"/>
              <p:cNvSpPr>
                <a:spLocks noChangeShapeType="1"/>
              </p:cNvSpPr>
              <p:nvPr/>
            </p:nvSpPr>
            <p:spPr bwMode="auto">
              <a:xfrm>
                <a:off x="1591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93" name="Line 121"/>
              <p:cNvSpPr>
                <a:spLocks noChangeShapeType="1"/>
              </p:cNvSpPr>
              <p:nvPr/>
            </p:nvSpPr>
            <p:spPr bwMode="auto">
              <a:xfrm>
                <a:off x="1655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94" name="Line 122"/>
              <p:cNvSpPr>
                <a:spLocks noChangeShapeType="1"/>
              </p:cNvSpPr>
              <p:nvPr/>
            </p:nvSpPr>
            <p:spPr bwMode="auto">
              <a:xfrm>
                <a:off x="1719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95" name="Line 123"/>
              <p:cNvSpPr>
                <a:spLocks noChangeShapeType="1"/>
              </p:cNvSpPr>
              <p:nvPr/>
            </p:nvSpPr>
            <p:spPr bwMode="auto">
              <a:xfrm>
                <a:off x="1783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96" name="Line 124"/>
              <p:cNvSpPr>
                <a:spLocks noChangeShapeType="1"/>
              </p:cNvSpPr>
              <p:nvPr/>
            </p:nvSpPr>
            <p:spPr bwMode="auto">
              <a:xfrm>
                <a:off x="1847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97" name="Line 125"/>
              <p:cNvSpPr>
                <a:spLocks noChangeShapeType="1"/>
              </p:cNvSpPr>
              <p:nvPr/>
            </p:nvSpPr>
            <p:spPr bwMode="auto">
              <a:xfrm>
                <a:off x="1911" y="1422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98" name="Line 126"/>
              <p:cNvSpPr>
                <a:spLocks noChangeShapeType="1"/>
              </p:cNvSpPr>
              <p:nvPr/>
            </p:nvSpPr>
            <p:spPr bwMode="auto">
              <a:xfrm>
                <a:off x="1975" y="1422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199" name="Line 127"/>
              <p:cNvSpPr>
                <a:spLocks noChangeShapeType="1"/>
              </p:cNvSpPr>
              <p:nvPr/>
            </p:nvSpPr>
            <p:spPr bwMode="auto">
              <a:xfrm>
                <a:off x="2039" y="1422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00" name="Line 128"/>
              <p:cNvSpPr>
                <a:spLocks noChangeShapeType="1"/>
              </p:cNvSpPr>
              <p:nvPr/>
            </p:nvSpPr>
            <p:spPr bwMode="auto">
              <a:xfrm>
                <a:off x="2103" y="1422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01" name="Line 129"/>
              <p:cNvSpPr>
                <a:spLocks noChangeShapeType="1"/>
              </p:cNvSpPr>
              <p:nvPr/>
            </p:nvSpPr>
            <p:spPr bwMode="auto">
              <a:xfrm>
                <a:off x="2167" y="1422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02" name="Line 130"/>
              <p:cNvSpPr>
                <a:spLocks noChangeShapeType="1"/>
              </p:cNvSpPr>
              <p:nvPr/>
            </p:nvSpPr>
            <p:spPr bwMode="auto">
              <a:xfrm>
                <a:off x="2231" y="1422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03" name="Line 131"/>
              <p:cNvSpPr>
                <a:spLocks noChangeShapeType="1"/>
              </p:cNvSpPr>
              <p:nvPr/>
            </p:nvSpPr>
            <p:spPr bwMode="auto">
              <a:xfrm>
                <a:off x="2296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04" name="Line 132"/>
              <p:cNvSpPr>
                <a:spLocks noChangeShapeType="1"/>
              </p:cNvSpPr>
              <p:nvPr/>
            </p:nvSpPr>
            <p:spPr bwMode="auto">
              <a:xfrm>
                <a:off x="2360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05" name="Line 133"/>
              <p:cNvSpPr>
                <a:spLocks noChangeShapeType="1"/>
              </p:cNvSpPr>
              <p:nvPr/>
            </p:nvSpPr>
            <p:spPr bwMode="auto">
              <a:xfrm>
                <a:off x="2424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06" name="Line 134"/>
              <p:cNvSpPr>
                <a:spLocks noChangeShapeType="1"/>
              </p:cNvSpPr>
              <p:nvPr/>
            </p:nvSpPr>
            <p:spPr bwMode="auto">
              <a:xfrm>
                <a:off x="2488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07" name="Line 135"/>
              <p:cNvSpPr>
                <a:spLocks noChangeShapeType="1"/>
              </p:cNvSpPr>
              <p:nvPr/>
            </p:nvSpPr>
            <p:spPr bwMode="auto">
              <a:xfrm>
                <a:off x="2552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08" name="Line 136"/>
              <p:cNvSpPr>
                <a:spLocks noChangeShapeType="1"/>
              </p:cNvSpPr>
              <p:nvPr/>
            </p:nvSpPr>
            <p:spPr bwMode="auto">
              <a:xfrm>
                <a:off x="2616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09" name="Line 137"/>
              <p:cNvSpPr>
                <a:spLocks noChangeShapeType="1"/>
              </p:cNvSpPr>
              <p:nvPr/>
            </p:nvSpPr>
            <p:spPr bwMode="auto">
              <a:xfrm>
                <a:off x="2680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10" name="Line 138"/>
              <p:cNvSpPr>
                <a:spLocks noChangeShapeType="1"/>
              </p:cNvSpPr>
              <p:nvPr/>
            </p:nvSpPr>
            <p:spPr bwMode="auto">
              <a:xfrm>
                <a:off x="2744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11" name="Line 139"/>
              <p:cNvSpPr>
                <a:spLocks noChangeShapeType="1"/>
              </p:cNvSpPr>
              <p:nvPr/>
            </p:nvSpPr>
            <p:spPr bwMode="auto">
              <a:xfrm>
                <a:off x="2808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12" name="Line 140"/>
              <p:cNvSpPr>
                <a:spLocks noChangeShapeType="1"/>
              </p:cNvSpPr>
              <p:nvPr/>
            </p:nvSpPr>
            <p:spPr bwMode="auto">
              <a:xfrm>
                <a:off x="2872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13" name="Line 141"/>
              <p:cNvSpPr>
                <a:spLocks noChangeShapeType="1"/>
              </p:cNvSpPr>
              <p:nvPr/>
            </p:nvSpPr>
            <p:spPr bwMode="auto">
              <a:xfrm>
                <a:off x="2936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14" name="Line 142"/>
              <p:cNvSpPr>
                <a:spLocks noChangeShapeType="1"/>
              </p:cNvSpPr>
              <p:nvPr/>
            </p:nvSpPr>
            <p:spPr bwMode="auto">
              <a:xfrm>
                <a:off x="3000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15" name="Line 143"/>
              <p:cNvSpPr>
                <a:spLocks noChangeShapeType="1"/>
              </p:cNvSpPr>
              <p:nvPr/>
            </p:nvSpPr>
            <p:spPr bwMode="auto">
              <a:xfrm>
                <a:off x="3064" y="1422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16" name="Line 144"/>
              <p:cNvSpPr>
                <a:spLocks noChangeShapeType="1"/>
              </p:cNvSpPr>
              <p:nvPr/>
            </p:nvSpPr>
            <p:spPr bwMode="auto">
              <a:xfrm>
                <a:off x="3128" y="1422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17" name="Line 145"/>
              <p:cNvSpPr>
                <a:spLocks noChangeShapeType="1"/>
              </p:cNvSpPr>
              <p:nvPr/>
            </p:nvSpPr>
            <p:spPr bwMode="auto">
              <a:xfrm>
                <a:off x="3192" y="1422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18" name="Line 146"/>
              <p:cNvSpPr>
                <a:spLocks noChangeShapeType="1"/>
              </p:cNvSpPr>
              <p:nvPr/>
            </p:nvSpPr>
            <p:spPr bwMode="auto">
              <a:xfrm>
                <a:off x="3256" y="1422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19" name="Line 147"/>
              <p:cNvSpPr>
                <a:spLocks noChangeShapeType="1"/>
              </p:cNvSpPr>
              <p:nvPr/>
            </p:nvSpPr>
            <p:spPr bwMode="auto">
              <a:xfrm>
                <a:off x="3320" y="1422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20" name="Line 148"/>
              <p:cNvSpPr>
                <a:spLocks noChangeShapeType="1"/>
              </p:cNvSpPr>
              <p:nvPr/>
            </p:nvSpPr>
            <p:spPr bwMode="auto">
              <a:xfrm>
                <a:off x="3384" y="1422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21" name="Line 149"/>
              <p:cNvSpPr>
                <a:spLocks noChangeShapeType="1"/>
              </p:cNvSpPr>
              <p:nvPr/>
            </p:nvSpPr>
            <p:spPr bwMode="auto">
              <a:xfrm>
                <a:off x="3449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22" name="Line 150"/>
              <p:cNvSpPr>
                <a:spLocks noChangeShapeType="1"/>
              </p:cNvSpPr>
              <p:nvPr/>
            </p:nvSpPr>
            <p:spPr bwMode="auto">
              <a:xfrm>
                <a:off x="3513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23" name="Line 151"/>
              <p:cNvSpPr>
                <a:spLocks noChangeShapeType="1"/>
              </p:cNvSpPr>
              <p:nvPr/>
            </p:nvSpPr>
            <p:spPr bwMode="auto">
              <a:xfrm>
                <a:off x="3577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24" name="Line 152"/>
              <p:cNvSpPr>
                <a:spLocks noChangeShapeType="1"/>
              </p:cNvSpPr>
              <p:nvPr/>
            </p:nvSpPr>
            <p:spPr bwMode="auto">
              <a:xfrm>
                <a:off x="3641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25" name="Line 153"/>
              <p:cNvSpPr>
                <a:spLocks noChangeShapeType="1"/>
              </p:cNvSpPr>
              <p:nvPr/>
            </p:nvSpPr>
            <p:spPr bwMode="auto">
              <a:xfrm>
                <a:off x="3705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26" name="Line 154"/>
              <p:cNvSpPr>
                <a:spLocks noChangeShapeType="1"/>
              </p:cNvSpPr>
              <p:nvPr/>
            </p:nvSpPr>
            <p:spPr bwMode="auto">
              <a:xfrm>
                <a:off x="3769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27" name="Line 155"/>
              <p:cNvSpPr>
                <a:spLocks noChangeShapeType="1"/>
              </p:cNvSpPr>
              <p:nvPr/>
            </p:nvSpPr>
            <p:spPr bwMode="auto">
              <a:xfrm>
                <a:off x="3833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28" name="Line 156"/>
              <p:cNvSpPr>
                <a:spLocks noChangeShapeType="1"/>
              </p:cNvSpPr>
              <p:nvPr/>
            </p:nvSpPr>
            <p:spPr bwMode="auto">
              <a:xfrm>
                <a:off x="3897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29" name="Line 157"/>
              <p:cNvSpPr>
                <a:spLocks noChangeShapeType="1"/>
              </p:cNvSpPr>
              <p:nvPr/>
            </p:nvSpPr>
            <p:spPr bwMode="auto">
              <a:xfrm>
                <a:off x="3961" y="1422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30" name="Line 158"/>
              <p:cNvSpPr>
                <a:spLocks noChangeShapeType="1"/>
              </p:cNvSpPr>
              <p:nvPr/>
            </p:nvSpPr>
            <p:spPr bwMode="auto">
              <a:xfrm>
                <a:off x="4025" y="1422"/>
                <a:ext cx="1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31" name="Line 159"/>
              <p:cNvSpPr>
                <a:spLocks noChangeShapeType="1"/>
              </p:cNvSpPr>
              <p:nvPr/>
            </p:nvSpPr>
            <p:spPr bwMode="auto">
              <a:xfrm>
                <a:off x="1143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32" name="Line 160"/>
              <p:cNvSpPr>
                <a:spLocks noChangeShapeType="1"/>
              </p:cNvSpPr>
              <p:nvPr/>
            </p:nvSpPr>
            <p:spPr bwMode="auto">
              <a:xfrm>
                <a:off x="1207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33" name="Line 161"/>
              <p:cNvSpPr>
                <a:spLocks noChangeShapeType="1"/>
              </p:cNvSpPr>
              <p:nvPr/>
            </p:nvSpPr>
            <p:spPr bwMode="auto">
              <a:xfrm>
                <a:off x="1271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34" name="Line 162"/>
              <p:cNvSpPr>
                <a:spLocks noChangeShapeType="1"/>
              </p:cNvSpPr>
              <p:nvPr/>
            </p:nvSpPr>
            <p:spPr bwMode="auto">
              <a:xfrm>
                <a:off x="1335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35" name="Line 163"/>
              <p:cNvSpPr>
                <a:spLocks noChangeShapeType="1"/>
              </p:cNvSpPr>
              <p:nvPr/>
            </p:nvSpPr>
            <p:spPr bwMode="auto">
              <a:xfrm>
                <a:off x="1399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36" name="Line 164"/>
              <p:cNvSpPr>
                <a:spLocks noChangeShapeType="1"/>
              </p:cNvSpPr>
              <p:nvPr/>
            </p:nvSpPr>
            <p:spPr bwMode="auto">
              <a:xfrm>
                <a:off x="1463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37" name="Line 165"/>
              <p:cNvSpPr>
                <a:spLocks noChangeShapeType="1"/>
              </p:cNvSpPr>
              <p:nvPr/>
            </p:nvSpPr>
            <p:spPr bwMode="auto">
              <a:xfrm>
                <a:off x="1527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38" name="Line 166"/>
              <p:cNvSpPr>
                <a:spLocks noChangeShapeType="1"/>
              </p:cNvSpPr>
              <p:nvPr/>
            </p:nvSpPr>
            <p:spPr bwMode="auto">
              <a:xfrm>
                <a:off x="1591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39" name="Line 167"/>
              <p:cNvSpPr>
                <a:spLocks noChangeShapeType="1"/>
              </p:cNvSpPr>
              <p:nvPr/>
            </p:nvSpPr>
            <p:spPr bwMode="auto">
              <a:xfrm>
                <a:off x="1655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40" name="Line 168"/>
              <p:cNvSpPr>
                <a:spLocks noChangeShapeType="1"/>
              </p:cNvSpPr>
              <p:nvPr/>
            </p:nvSpPr>
            <p:spPr bwMode="auto">
              <a:xfrm>
                <a:off x="1719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41" name="Line 169"/>
              <p:cNvSpPr>
                <a:spLocks noChangeShapeType="1"/>
              </p:cNvSpPr>
              <p:nvPr/>
            </p:nvSpPr>
            <p:spPr bwMode="auto">
              <a:xfrm>
                <a:off x="1783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42" name="Line 170"/>
              <p:cNvSpPr>
                <a:spLocks noChangeShapeType="1"/>
              </p:cNvSpPr>
              <p:nvPr/>
            </p:nvSpPr>
            <p:spPr bwMode="auto">
              <a:xfrm>
                <a:off x="1847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43" name="Line 171"/>
              <p:cNvSpPr>
                <a:spLocks noChangeShapeType="1"/>
              </p:cNvSpPr>
              <p:nvPr/>
            </p:nvSpPr>
            <p:spPr bwMode="auto">
              <a:xfrm>
                <a:off x="1911" y="998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44" name="Line 172"/>
              <p:cNvSpPr>
                <a:spLocks noChangeShapeType="1"/>
              </p:cNvSpPr>
              <p:nvPr/>
            </p:nvSpPr>
            <p:spPr bwMode="auto">
              <a:xfrm>
                <a:off x="1975" y="998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45" name="Line 173"/>
              <p:cNvSpPr>
                <a:spLocks noChangeShapeType="1"/>
              </p:cNvSpPr>
              <p:nvPr/>
            </p:nvSpPr>
            <p:spPr bwMode="auto">
              <a:xfrm>
                <a:off x="2039" y="998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46" name="Line 174"/>
              <p:cNvSpPr>
                <a:spLocks noChangeShapeType="1"/>
              </p:cNvSpPr>
              <p:nvPr/>
            </p:nvSpPr>
            <p:spPr bwMode="auto">
              <a:xfrm>
                <a:off x="2103" y="998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47" name="Line 175"/>
              <p:cNvSpPr>
                <a:spLocks noChangeShapeType="1"/>
              </p:cNvSpPr>
              <p:nvPr/>
            </p:nvSpPr>
            <p:spPr bwMode="auto">
              <a:xfrm>
                <a:off x="2167" y="998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48" name="Line 176"/>
              <p:cNvSpPr>
                <a:spLocks noChangeShapeType="1"/>
              </p:cNvSpPr>
              <p:nvPr/>
            </p:nvSpPr>
            <p:spPr bwMode="auto">
              <a:xfrm>
                <a:off x="2231" y="998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49" name="Line 177"/>
              <p:cNvSpPr>
                <a:spLocks noChangeShapeType="1"/>
              </p:cNvSpPr>
              <p:nvPr/>
            </p:nvSpPr>
            <p:spPr bwMode="auto">
              <a:xfrm>
                <a:off x="2296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50" name="Line 178"/>
              <p:cNvSpPr>
                <a:spLocks noChangeShapeType="1"/>
              </p:cNvSpPr>
              <p:nvPr/>
            </p:nvSpPr>
            <p:spPr bwMode="auto">
              <a:xfrm>
                <a:off x="2360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51" name="Line 179"/>
              <p:cNvSpPr>
                <a:spLocks noChangeShapeType="1"/>
              </p:cNvSpPr>
              <p:nvPr/>
            </p:nvSpPr>
            <p:spPr bwMode="auto">
              <a:xfrm>
                <a:off x="2424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52" name="Line 180"/>
              <p:cNvSpPr>
                <a:spLocks noChangeShapeType="1"/>
              </p:cNvSpPr>
              <p:nvPr/>
            </p:nvSpPr>
            <p:spPr bwMode="auto">
              <a:xfrm>
                <a:off x="2488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53" name="Line 181"/>
              <p:cNvSpPr>
                <a:spLocks noChangeShapeType="1"/>
              </p:cNvSpPr>
              <p:nvPr/>
            </p:nvSpPr>
            <p:spPr bwMode="auto">
              <a:xfrm>
                <a:off x="2552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54" name="Line 182"/>
              <p:cNvSpPr>
                <a:spLocks noChangeShapeType="1"/>
              </p:cNvSpPr>
              <p:nvPr/>
            </p:nvSpPr>
            <p:spPr bwMode="auto">
              <a:xfrm>
                <a:off x="2616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55" name="Line 183"/>
              <p:cNvSpPr>
                <a:spLocks noChangeShapeType="1"/>
              </p:cNvSpPr>
              <p:nvPr/>
            </p:nvSpPr>
            <p:spPr bwMode="auto">
              <a:xfrm>
                <a:off x="2680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56" name="Line 184"/>
              <p:cNvSpPr>
                <a:spLocks noChangeShapeType="1"/>
              </p:cNvSpPr>
              <p:nvPr/>
            </p:nvSpPr>
            <p:spPr bwMode="auto">
              <a:xfrm>
                <a:off x="2744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57" name="Line 185"/>
              <p:cNvSpPr>
                <a:spLocks noChangeShapeType="1"/>
              </p:cNvSpPr>
              <p:nvPr/>
            </p:nvSpPr>
            <p:spPr bwMode="auto">
              <a:xfrm>
                <a:off x="2808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58" name="Line 186"/>
              <p:cNvSpPr>
                <a:spLocks noChangeShapeType="1"/>
              </p:cNvSpPr>
              <p:nvPr/>
            </p:nvSpPr>
            <p:spPr bwMode="auto">
              <a:xfrm>
                <a:off x="2872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59" name="Line 187"/>
              <p:cNvSpPr>
                <a:spLocks noChangeShapeType="1"/>
              </p:cNvSpPr>
              <p:nvPr/>
            </p:nvSpPr>
            <p:spPr bwMode="auto">
              <a:xfrm>
                <a:off x="2936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60" name="Line 188"/>
              <p:cNvSpPr>
                <a:spLocks noChangeShapeType="1"/>
              </p:cNvSpPr>
              <p:nvPr/>
            </p:nvSpPr>
            <p:spPr bwMode="auto">
              <a:xfrm>
                <a:off x="3000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61" name="Line 189"/>
              <p:cNvSpPr>
                <a:spLocks noChangeShapeType="1"/>
              </p:cNvSpPr>
              <p:nvPr/>
            </p:nvSpPr>
            <p:spPr bwMode="auto">
              <a:xfrm>
                <a:off x="3064" y="998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62" name="Line 190"/>
              <p:cNvSpPr>
                <a:spLocks noChangeShapeType="1"/>
              </p:cNvSpPr>
              <p:nvPr/>
            </p:nvSpPr>
            <p:spPr bwMode="auto">
              <a:xfrm>
                <a:off x="3128" y="998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63" name="Line 191"/>
              <p:cNvSpPr>
                <a:spLocks noChangeShapeType="1"/>
              </p:cNvSpPr>
              <p:nvPr/>
            </p:nvSpPr>
            <p:spPr bwMode="auto">
              <a:xfrm>
                <a:off x="3192" y="998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64" name="Line 192"/>
              <p:cNvSpPr>
                <a:spLocks noChangeShapeType="1"/>
              </p:cNvSpPr>
              <p:nvPr/>
            </p:nvSpPr>
            <p:spPr bwMode="auto">
              <a:xfrm>
                <a:off x="3256" y="998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65" name="Line 193"/>
              <p:cNvSpPr>
                <a:spLocks noChangeShapeType="1"/>
              </p:cNvSpPr>
              <p:nvPr/>
            </p:nvSpPr>
            <p:spPr bwMode="auto">
              <a:xfrm>
                <a:off x="3320" y="998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66" name="Line 194"/>
              <p:cNvSpPr>
                <a:spLocks noChangeShapeType="1"/>
              </p:cNvSpPr>
              <p:nvPr/>
            </p:nvSpPr>
            <p:spPr bwMode="auto">
              <a:xfrm>
                <a:off x="3384" y="998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67" name="Line 195"/>
              <p:cNvSpPr>
                <a:spLocks noChangeShapeType="1"/>
              </p:cNvSpPr>
              <p:nvPr/>
            </p:nvSpPr>
            <p:spPr bwMode="auto">
              <a:xfrm>
                <a:off x="3449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68" name="Line 196"/>
              <p:cNvSpPr>
                <a:spLocks noChangeShapeType="1"/>
              </p:cNvSpPr>
              <p:nvPr/>
            </p:nvSpPr>
            <p:spPr bwMode="auto">
              <a:xfrm>
                <a:off x="3513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69" name="Line 197"/>
              <p:cNvSpPr>
                <a:spLocks noChangeShapeType="1"/>
              </p:cNvSpPr>
              <p:nvPr/>
            </p:nvSpPr>
            <p:spPr bwMode="auto">
              <a:xfrm>
                <a:off x="3577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70" name="Line 198"/>
              <p:cNvSpPr>
                <a:spLocks noChangeShapeType="1"/>
              </p:cNvSpPr>
              <p:nvPr/>
            </p:nvSpPr>
            <p:spPr bwMode="auto">
              <a:xfrm>
                <a:off x="3641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71" name="Line 199"/>
              <p:cNvSpPr>
                <a:spLocks noChangeShapeType="1"/>
              </p:cNvSpPr>
              <p:nvPr/>
            </p:nvSpPr>
            <p:spPr bwMode="auto">
              <a:xfrm>
                <a:off x="3705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72" name="Line 200"/>
              <p:cNvSpPr>
                <a:spLocks noChangeShapeType="1"/>
              </p:cNvSpPr>
              <p:nvPr/>
            </p:nvSpPr>
            <p:spPr bwMode="auto">
              <a:xfrm>
                <a:off x="3769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73" name="Line 201"/>
              <p:cNvSpPr>
                <a:spLocks noChangeShapeType="1"/>
              </p:cNvSpPr>
              <p:nvPr/>
            </p:nvSpPr>
            <p:spPr bwMode="auto">
              <a:xfrm>
                <a:off x="3833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74" name="Line 202"/>
              <p:cNvSpPr>
                <a:spLocks noChangeShapeType="1"/>
              </p:cNvSpPr>
              <p:nvPr/>
            </p:nvSpPr>
            <p:spPr bwMode="auto">
              <a:xfrm>
                <a:off x="3897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75" name="Line 203"/>
              <p:cNvSpPr>
                <a:spLocks noChangeShapeType="1"/>
              </p:cNvSpPr>
              <p:nvPr/>
            </p:nvSpPr>
            <p:spPr bwMode="auto">
              <a:xfrm>
                <a:off x="3961" y="998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76" name="Line 204"/>
              <p:cNvSpPr>
                <a:spLocks noChangeShapeType="1"/>
              </p:cNvSpPr>
              <p:nvPr/>
            </p:nvSpPr>
            <p:spPr bwMode="auto">
              <a:xfrm>
                <a:off x="4025" y="998"/>
                <a:ext cx="1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77" name="Line 205"/>
              <p:cNvSpPr>
                <a:spLocks noChangeShapeType="1"/>
              </p:cNvSpPr>
              <p:nvPr/>
            </p:nvSpPr>
            <p:spPr bwMode="auto">
              <a:xfrm>
                <a:off x="1143" y="573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78" name="Line 206"/>
              <p:cNvSpPr>
                <a:spLocks noChangeShapeType="1"/>
              </p:cNvSpPr>
              <p:nvPr/>
            </p:nvSpPr>
            <p:spPr bwMode="auto">
              <a:xfrm>
                <a:off x="1207" y="573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79" name="Line 207"/>
              <p:cNvSpPr>
                <a:spLocks noChangeShapeType="1"/>
              </p:cNvSpPr>
              <p:nvPr/>
            </p:nvSpPr>
            <p:spPr bwMode="auto">
              <a:xfrm>
                <a:off x="1271" y="573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80" name="Line 208"/>
              <p:cNvSpPr>
                <a:spLocks noChangeShapeType="1"/>
              </p:cNvSpPr>
              <p:nvPr/>
            </p:nvSpPr>
            <p:spPr bwMode="auto">
              <a:xfrm>
                <a:off x="1335" y="573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81" name="Line 209"/>
              <p:cNvSpPr>
                <a:spLocks noChangeShapeType="1"/>
              </p:cNvSpPr>
              <p:nvPr/>
            </p:nvSpPr>
            <p:spPr bwMode="auto">
              <a:xfrm>
                <a:off x="1399" y="573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82" name="Line 210"/>
              <p:cNvSpPr>
                <a:spLocks noChangeShapeType="1"/>
              </p:cNvSpPr>
              <p:nvPr/>
            </p:nvSpPr>
            <p:spPr bwMode="auto">
              <a:xfrm>
                <a:off x="1463" y="573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83" name="Line 211"/>
              <p:cNvSpPr>
                <a:spLocks noChangeShapeType="1"/>
              </p:cNvSpPr>
              <p:nvPr/>
            </p:nvSpPr>
            <p:spPr bwMode="auto">
              <a:xfrm>
                <a:off x="1527" y="573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84" name="Line 212"/>
              <p:cNvSpPr>
                <a:spLocks noChangeShapeType="1"/>
              </p:cNvSpPr>
              <p:nvPr/>
            </p:nvSpPr>
            <p:spPr bwMode="auto">
              <a:xfrm>
                <a:off x="1591" y="573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85" name="Line 213"/>
              <p:cNvSpPr>
                <a:spLocks noChangeShapeType="1"/>
              </p:cNvSpPr>
              <p:nvPr/>
            </p:nvSpPr>
            <p:spPr bwMode="auto">
              <a:xfrm>
                <a:off x="1655" y="573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86" name="Line 214"/>
              <p:cNvSpPr>
                <a:spLocks noChangeShapeType="1"/>
              </p:cNvSpPr>
              <p:nvPr/>
            </p:nvSpPr>
            <p:spPr bwMode="auto">
              <a:xfrm>
                <a:off x="1719" y="573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87" name="Line 215"/>
              <p:cNvSpPr>
                <a:spLocks noChangeShapeType="1"/>
              </p:cNvSpPr>
              <p:nvPr/>
            </p:nvSpPr>
            <p:spPr bwMode="auto">
              <a:xfrm>
                <a:off x="1783" y="573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88" name="Line 216"/>
              <p:cNvSpPr>
                <a:spLocks noChangeShapeType="1"/>
              </p:cNvSpPr>
              <p:nvPr/>
            </p:nvSpPr>
            <p:spPr bwMode="auto">
              <a:xfrm>
                <a:off x="1847" y="573"/>
                <a:ext cx="21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89" name="Line 217"/>
              <p:cNvSpPr>
                <a:spLocks noChangeShapeType="1"/>
              </p:cNvSpPr>
              <p:nvPr/>
            </p:nvSpPr>
            <p:spPr bwMode="auto">
              <a:xfrm>
                <a:off x="1911" y="573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90" name="Line 218"/>
              <p:cNvSpPr>
                <a:spLocks noChangeShapeType="1"/>
              </p:cNvSpPr>
              <p:nvPr/>
            </p:nvSpPr>
            <p:spPr bwMode="auto">
              <a:xfrm>
                <a:off x="1975" y="573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91" name="Line 219"/>
              <p:cNvSpPr>
                <a:spLocks noChangeShapeType="1"/>
              </p:cNvSpPr>
              <p:nvPr/>
            </p:nvSpPr>
            <p:spPr bwMode="auto">
              <a:xfrm>
                <a:off x="2039" y="573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292" name="Line 220"/>
              <p:cNvSpPr>
                <a:spLocks noChangeShapeType="1"/>
              </p:cNvSpPr>
              <p:nvPr/>
            </p:nvSpPr>
            <p:spPr bwMode="auto">
              <a:xfrm>
                <a:off x="2103" y="573"/>
                <a:ext cx="2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99293" name="Line 221"/>
            <p:cNvSpPr>
              <a:spLocks noChangeShapeType="1"/>
            </p:cNvSpPr>
            <p:nvPr/>
          </p:nvSpPr>
          <p:spPr bwMode="auto">
            <a:xfrm>
              <a:off x="2570" y="592"/>
              <a:ext cx="28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294" name="Line 222"/>
            <p:cNvSpPr>
              <a:spLocks noChangeShapeType="1"/>
            </p:cNvSpPr>
            <p:nvPr/>
          </p:nvSpPr>
          <p:spPr bwMode="auto">
            <a:xfrm>
              <a:off x="2650" y="592"/>
              <a:ext cx="28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295" name="Line 223"/>
            <p:cNvSpPr>
              <a:spLocks noChangeShapeType="1"/>
            </p:cNvSpPr>
            <p:nvPr/>
          </p:nvSpPr>
          <p:spPr bwMode="auto">
            <a:xfrm>
              <a:off x="2732" y="592"/>
              <a:ext cx="26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296" name="Line 224"/>
            <p:cNvSpPr>
              <a:spLocks noChangeShapeType="1"/>
            </p:cNvSpPr>
            <p:nvPr/>
          </p:nvSpPr>
          <p:spPr bwMode="auto">
            <a:xfrm>
              <a:off x="2812" y="592"/>
              <a:ext cx="26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297" name="Line 225"/>
            <p:cNvSpPr>
              <a:spLocks noChangeShapeType="1"/>
            </p:cNvSpPr>
            <p:nvPr/>
          </p:nvSpPr>
          <p:spPr bwMode="auto">
            <a:xfrm>
              <a:off x="2892" y="592"/>
              <a:ext cx="26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298" name="Line 226"/>
            <p:cNvSpPr>
              <a:spLocks noChangeShapeType="1"/>
            </p:cNvSpPr>
            <p:nvPr/>
          </p:nvSpPr>
          <p:spPr bwMode="auto">
            <a:xfrm>
              <a:off x="2972" y="592"/>
              <a:ext cx="26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299" name="Line 227"/>
            <p:cNvSpPr>
              <a:spLocks noChangeShapeType="1"/>
            </p:cNvSpPr>
            <p:nvPr/>
          </p:nvSpPr>
          <p:spPr bwMode="auto">
            <a:xfrm>
              <a:off x="3052" y="592"/>
              <a:ext cx="26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00" name="Line 228"/>
            <p:cNvSpPr>
              <a:spLocks noChangeShapeType="1"/>
            </p:cNvSpPr>
            <p:nvPr/>
          </p:nvSpPr>
          <p:spPr bwMode="auto">
            <a:xfrm>
              <a:off x="3132" y="592"/>
              <a:ext cx="27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01" name="Line 229"/>
            <p:cNvSpPr>
              <a:spLocks noChangeShapeType="1"/>
            </p:cNvSpPr>
            <p:nvPr/>
          </p:nvSpPr>
          <p:spPr bwMode="auto">
            <a:xfrm>
              <a:off x="3212" y="592"/>
              <a:ext cx="27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02" name="Line 230"/>
            <p:cNvSpPr>
              <a:spLocks noChangeShapeType="1"/>
            </p:cNvSpPr>
            <p:nvPr/>
          </p:nvSpPr>
          <p:spPr bwMode="auto">
            <a:xfrm>
              <a:off x="3293" y="592"/>
              <a:ext cx="26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03" name="Line 231"/>
            <p:cNvSpPr>
              <a:spLocks noChangeShapeType="1"/>
            </p:cNvSpPr>
            <p:nvPr/>
          </p:nvSpPr>
          <p:spPr bwMode="auto">
            <a:xfrm>
              <a:off x="3373" y="592"/>
              <a:ext cx="26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04" name="Line 232"/>
            <p:cNvSpPr>
              <a:spLocks noChangeShapeType="1"/>
            </p:cNvSpPr>
            <p:nvPr/>
          </p:nvSpPr>
          <p:spPr bwMode="auto">
            <a:xfrm>
              <a:off x="3453" y="592"/>
              <a:ext cx="26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05" name="Line 233"/>
            <p:cNvSpPr>
              <a:spLocks noChangeShapeType="1"/>
            </p:cNvSpPr>
            <p:nvPr/>
          </p:nvSpPr>
          <p:spPr bwMode="auto">
            <a:xfrm>
              <a:off x="3533" y="592"/>
              <a:ext cx="26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06" name="Line 234"/>
            <p:cNvSpPr>
              <a:spLocks noChangeShapeType="1"/>
            </p:cNvSpPr>
            <p:nvPr/>
          </p:nvSpPr>
          <p:spPr bwMode="auto">
            <a:xfrm>
              <a:off x="3613" y="592"/>
              <a:ext cx="26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07" name="Line 235"/>
            <p:cNvSpPr>
              <a:spLocks noChangeShapeType="1"/>
            </p:cNvSpPr>
            <p:nvPr/>
          </p:nvSpPr>
          <p:spPr bwMode="auto">
            <a:xfrm>
              <a:off x="3693" y="592"/>
              <a:ext cx="28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08" name="Line 236"/>
            <p:cNvSpPr>
              <a:spLocks noChangeShapeType="1"/>
            </p:cNvSpPr>
            <p:nvPr/>
          </p:nvSpPr>
          <p:spPr bwMode="auto">
            <a:xfrm>
              <a:off x="3773" y="592"/>
              <a:ext cx="28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09" name="Line 237"/>
            <p:cNvSpPr>
              <a:spLocks noChangeShapeType="1"/>
            </p:cNvSpPr>
            <p:nvPr/>
          </p:nvSpPr>
          <p:spPr bwMode="auto">
            <a:xfrm>
              <a:off x="3853" y="592"/>
              <a:ext cx="28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10" name="Line 238"/>
            <p:cNvSpPr>
              <a:spLocks noChangeShapeType="1"/>
            </p:cNvSpPr>
            <p:nvPr/>
          </p:nvSpPr>
          <p:spPr bwMode="auto">
            <a:xfrm>
              <a:off x="3934" y="592"/>
              <a:ext cx="27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11" name="Line 239"/>
            <p:cNvSpPr>
              <a:spLocks noChangeShapeType="1"/>
            </p:cNvSpPr>
            <p:nvPr/>
          </p:nvSpPr>
          <p:spPr bwMode="auto">
            <a:xfrm>
              <a:off x="4014" y="592"/>
              <a:ext cx="27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12" name="Line 240"/>
            <p:cNvSpPr>
              <a:spLocks noChangeShapeType="1"/>
            </p:cNvSpPr>
            <p:nvPr/>
          </p:nvSpPr>
          <p:spPr bwMode="auto">
            <a:xfrm>
              <a:off x="4094" y="592"/>
              <a:ext cx="27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13" name="Line 241"/>
            <p:cNvSpPr>
              <a:spLocks noChangeShapeType="1"/>
            </p:cNvSpPr>
            <p:nvPr/>
          </p:nvSpPr>
          <p:spPr bwMode="auto">
            <a:xfrm>
              <a:off x="4175" y="592"/>
              <a:ext cx="27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14" name="Line 242"/>
            <p:cNvSpPr>
              <a:spLocks noChangeShapeType="1"/>
            </p:cNvSpPr>
            <p:nvPr/>
          </p:nvSpPr>
          <p:spPr bwMode="auto">
            <a:xfrm>
              <a:off x="4255" y="592"/>
              <a:ext cx="27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15" name="Line 243"/>
            <p:cNvSpPr>
              <a:spLocks noChangeShapeType="1"/>
            </p:cNvSpPr>
            <p:nvPr/>
          </p:nvSpPr>
          <p:spPr bwMode="auto">
            <a:xfrm>
              <a:off x="4335" y="592"/>
              <a:ext cx="27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16" name="Line 244"/>
            <p:cNvSpPr>
              <a:spLocks noChangeShapeType="1"/>
            </p:cNvSpPr>
            <p:nvPr/>
          </p:nvSpPr>
          <p:spPr bwMode="auto">
            <a:xfrm>
              <a:off x="4416" y="592"/>
              <a:ext cx="26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17" name="Line 245"/>
            <p:cNvSpPr>
              <a:spLocks noChangeShapeType="1"/>
            </p:cNvSpPr>
            <p:nvPr/>
          </p:nvSpPr>
          <p:spPr bwMode="auto">
            <a:xfrm>
              <a:off x="4496" y="592"/>
              <a:ext cx="26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18" name="Line 246"/>
            <p:cNvSpPr>
              <a:spLocks noChangeShapeType="1"/>
            </p:cNvSpPr>
            <p:nvPr/>
          </p:nvSpPr>
          <p:spPr bwMode="auto">
            <a:xfrm>
              <a:off x="4576" y="592"/>
              <a:ext cx="26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19" name="Line 247"/>
            <p:cNvSpPr>
              <a:spLocks noChangeShapeType="1"/>
            </p:cNvSpPr>
            <p:nvPr/>
          </p:nvSpPr>
          <p:spPr bwMode="auto">
            <a:xfrm>
              <a:off x="4656" y="592"/>
              <a:ext cx="26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20" name="Line 248"/>
            <p:cNvSpPr>
              <a:spLocks noChangeShapeType="1"/>
            </p:cNvSpPr>
            <p:nvPr/>
          </p:nvSpPr>
          <p:spPr bwMode="auto">
            <a:xfrm>
              <a:off x="4736" y="592"/>
              <a:ext cx="26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21" name="Line 249"/>
            <p:cNvSpPr>
              <a:spLocks noChangeShapeType="1"/>
            </p:cNvSpPr>
            <p:nvPr/>
          </p:nvSpPr>
          <p:spPr bwMode="auto">
            <a:xfrm>
              <a:off x="4816" y="592"/>
              <a:ext cx="27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22" name="Line 250"/>
            <p:cNvSpPr>
              <a:spLocks noChangeShapeType="1"/>
            </p:cNvSpPr>
            <p:nvPr/>
          </p:nvSpPr>
          <p:spPr bwMode="auto">
            <a:xfrm>
              <a:off x="4896" y="592"/>
              <a:ext cx="14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23" name="Line 251"/>
            <p:cNvSpPr>
              <a:spLocks noChangeShapeType="1"/>
            </p:cNvSpPr>
            <p:nvPr/>
          </p:nvSpPr>
          <p:spPr bwMode="auto">
            <a:xfrm flipV="1">
              <a:off x="1288" y="592"/>
              <a:ext cx="1" cy="2547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24" name="Line 252"/>
            <p:cNvSpPr>
              <a:spLocks noChangeShapeType="1"/>
            </p:cNvSpPr>
            <p:nvPr/>
          </p:nvSpPr>
          <p:spPr bwMode="auto">
            <a:xfrm>
              <a:off x="1248" y="3139"/>
              <a:ext cx="96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25" name="Line 253"/>
            <p:cNvSpPr>
              <a:spLocks noChangeShapeType="1"/>
            </p:cNvSpPr>
            <p:nvPr/>
          </p:nvSpPr>
          <p:spPr bwMode="auto">
            <a:xfrm>
              <a:off x="1248" y="2630"/>
              <a:ext cx="93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26" name="Line 254"/>
            <p:cNvSpPr>
              <a:spLocks noChangeShapeType="1"/>
            </p:cNvSpPr>
            <p:nvPr/>
          </p:nvSpPr>
          <p:spPr bwMode="auto">
            <a:xfrm>
              <a:off x="1248" y="2120"/>
              <a:ext cx="93" cy="2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27" name="Line 255"/>
            <p:cNvSpPr>
              <a:spLocks noChangeShapeType="1"/>
            </p:cNvSpPr>
            <p:nvPr/>
          </p:nvSpPr>
          <p:spPr bwMode="auto">
            <a:xfrm>
              <a:off x="1248" y="1610"/>
              <a:ext cx="93" cy="2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28" name="Line 256"/>
            <p:cNvSpPr>
              <a:spLocks noChangeShapeType="1"/>
            </p:cNvSpPr>
            <p:nvPr/>
          </p:nvSpPr>
          <p:spPr bwMode="auto">
            <a:xfrm>
              <a:off x="1248" y="1102"/>
              <a:ext cx="93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29" name="Line 257"/>
            <p:cNvSpPr>
              <a:spLocks noChangeShapeType="1"/>
            </p:cNvSpPr>
            <p:nvPr/>
          </p:nvSpPr>
          <p:spPr bwMode="auto">
            <a:xfrm>
              <a:off x="1248" y="592"/>
              <a:ext cx="93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30" name="Line 258"/>
            <p:cNvSpPr>
              <a:spLocks noChangeShapeType="1"/>
            </p:cNvSpPr>
            <p:nvPr/>
          </p:nvSpPr>
          <p:spPr bwMode="auto">
            <a:xfrm>
              <a:off x="1296" y="3139"/>
              <a:ext cx="3614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31" name="Line 259"/>
            <p:cNvSpPr>
              <a:spLocks noChangeShapeType="1"/>
            </p:cNvSpPr>
            <p:nvPr/>
          </p:nvSpPr>
          <p:spPr bwMode="auto">
            <a:xfrm flipV="1">
              <a:off x="1288" y="3120"/>
              <a:ext cx="1" cy="6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32" name="Line 260"/>
            <p:cNvSpPr>
              <a:spLocks noChangeShapeType="1"/>
            </p:cNvSpPr>
            <p:nvPr/>
          </p:nvSpPr>
          <p:spPr bwMode="auto">
            <a:xfrm flipV="1">
              <a:off x="2196" y="3108"/>
              <a:ext cx="1" cy="73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33" name="Line 261"/>
            <p:cNvSpPr>
              <a:spLocks noChangeShapeType="1"/>
            </p:cNvSpPr>
            <p:nvPr/>
          </p:nvSpPr>
          <p:spPr bwMode="auto">
            <a:xfrm flipV="1">
              <a:off x="3105" y="3108"/>
              <a:ext cx="1" cy="73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34" name="Line 262"/>
            <p:cNvSpPr>
              <a:spLocks noChangeShapeType="1"/>
            </p:cNvSpPr>
            <p:nvPr/>
          </p:nvSpPr>
          <p:spPr bwMode="auto">
            <a:xfrm flipV="1">
              <a:off x="4001" y="3108"/>
              <a:ext cx="1" cy="73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35" name="Line 263"/>
            <p:cNvSpPr>
              <a:spLocks noChangeShapeType="1"/>
            </p:cNvSpPr>
            <p:nvPr/>
          </p:nvSpPr>
          <p:spPr bwMode="auto">
            <a:xfrm flipV="1">
              <a:off x="4910" y="3108"/>
              <a:ext cx="1" cy="73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36" name="Line 264"/>
            <p:cNvSpPr>
              <a:spLocks noChangeShapeType="1"/>
            </p:cNvSpPr>
            <p:nvPr/>
          </p:nvSpPr>
          <p:spPr bwMode="auto">
            <a:xfrm>
              <a:off x="1288" y="1601"/>
              <a:ext cx="908" cy="176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37" name="Line 265"/>
            <p:cNvSpPr>
              <a:spLocks noChangeShapeType="1"/>
            </p:cNvSpPr>
            <p:nvPr/>
          </p:nvSpPr>
          <p:spPr bwMode="auto">
            <a:xfrm flipV="1">
              <a:off x="2196" y="1735"/>
              <a:ext cx="909" cy="42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38" name="Line 266"/>
            <p:cNvSpPr>
              <a:spLocks noChangeShapeType="1"/>
            </p:cNvSpPr>
            <p:nvPr/>
          </p:nvSpPr>
          <p:spPr bwMode="auto">
            <a:xfrm flipV="1">
              <a:off x="3105" y="1445"/>
              <a:ext cx="896" cy="29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39" name="Line 267"/>
            <p:cNvSpPr>
              <a:spLocks noChangeShapeType="1"/>
            </p:cNvSpPr>
            <p:nvPr/>
          </p:nvSpPr>
          <p:spPr bwMode="auto">
            <a:xfrm flipV="1">
              <a:off x="4001" y="894"/>
              <a:ext cx="909" cy="55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40" name="Line 268"/>
            <p:cNvSpPr>
              <a:spLocks noChangeShapeType="1"/>
            </p:cNvSpPr>
            <p:nvPr/>
          </p:nvSpPr>
          <p:spPr bwMode="auto">
            <a:xfrm>
              <a:off x="1288" y="2266"/>
              <a:ext cx="908" cy="13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41" name="Line 269"/>
            <p:cNvSpPr>
              <a:spLocks noChangeShapeType="1"/>
            </p:cNvSpPr>
            <p:nvPr/>
          </p:nvSpPr>
          <p:spPr bwMode="auto">
            <a:xfrm>
              <a:off x="2196" y="2401"/>
              <a:ext cx="909" cy="2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42" name="Line 270"/>
            <p:cNvSpPr>
              <a:spLocks noChangeShapeType="1"/>
            </p:cNvSpPr>
            <p:nvPr/>
          </p:nvSpPr>
          <p:spPr bwMode="auto">
            <a:xfrm flipV="1">
              <a:off x="3105" y="2349"/>
              <a:ext cx="896" cy="72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43" name="Line 271"/>
            <p:cNvSpPr>
              <a:spLocks noChangeShapeType="1"/>
            </p:cNvSpPr>
            <p:nvPr/>
          </p:nvSpPr>
          <p:spPr bwMode="auto">
            <a:xfrm flipV="1">
              <a:off x="4001" y="2172"/>
              <a:ext cx="909" cy="177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44" name="Line 272"/>
            <p:cNvSpPr>
              <a:spLocks noChangeShapeType="1"/>
            </p:cNvSpPr>
            <p:nvPr/>
          </p:nvSpPr>
          <p:spPr bwMode="auto">
            <a:xfrm>
              <a:off x="1288" y="2733"/>
              <a:ext cx="908" cy="116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45" name="Line 273"/>
            <p:cNvSpPr>
              <a:spLocks noChangeShapeType="1"/>
            </p:cNvSpPr>
            <p:nvPr/>
          </p:nvSpPr>
          <p:spPr bwMode="auto">
            <a:xfrm>
              <a:off x="2196" y="2849"/>
              <a:ext cx="909" cy="2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46" name="Line 274"/>
            <p:cNvSpPr>
              <a:spLocks noChangeShapeType="1"/>
            </p:cNvSpPr>
            <p:nvPr/>
          </p:nvSpPr>
          <p:spPr bwMode="auto">
            <a:xfrm flipV="1">
              <a:off x="3105" y="2858"/>
              <a:ext cx="896" cy="1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47" name="Line 275"/>
            <p:cNvSpPr>
              <a:spLocks noChangeShapeType="1"/>
            </p:cNvSpPr>
            <p:nvPr/>
          </p:nvSpPr>
          <p:spPr bwMode="auto">
            <a:xfrm flipV="1">
              <a:off x="4001" y="2807"/>
              <a:ext cx="909" cy="5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48" name="Line 276"/>
            <p:cNvSpPr>
              <a:spLocks noChangeShapeType="1"/>
            </p:cNvSpPr>
            <p:nvPr/>
          </p:nvSpPr>
          <p:spPr bwMode="auto">
            <a:xfrm>
              <a:off x="1288" y="2931"/>
              <a:ext cx="908" cy="74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49" name="Line 277"/>
            <p:cNvSpPr>
              <a:spLocks noChangeShapeType="1"/>
            </p:cNvSpPr>
            <p:nvPr/>
          </p:nvSpPr>
          <p:spPr bwMode="auto">
            <a:xfrm>
              <a:off x="2196" y="3005"/>
              <a:ext cx="909" cy="3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50" name="Line 278"/>
            <p:cNvSpPr>
              <a:spLocks noChangeShapeType="1"/>
            </p:cNvSpPr>
            <p:nvPr/>
          </p:nvSpPr>
          <p:spPr bwMode="auto">
            <a:xfrm>
              <a:off x="3105" y="3036"/>
              <a:ext cx="896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51" name="Line 279"/>
            <p:cNvSpPr>
              <a:spLocks noChangeShapeType="1"/>
            </p:cNvSpPr>
            <p:nvPr/>
          </p:nvSpPr>
          <p:spPr bwMode="auto">
            <a:xfrm flipV="1">
              <a:off x="4001" y="3025"/>
              <a:ext cx="909" cy="1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52" name="Line 280"/>
            <p:cNvSpPr>
              <a:spLocks noChangeShapeType="1"/>
            </p:cNvSpPr>
            <p:nvPr/>
          </p:nvSpPr>
          <p:spPr bwMode="auto">
            <a:xfrm>
              <a:off x="1288" y="3025"/>
              <a:ext cx="908" cy="42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53" name="Line 281"/>
            <p:cNvSpPr>
              <a:spLocks noChangeShapeType="1"/>
            </p:cNvSpPr>
            <p:nvPr/>
          </p:nvSpPr>
          <p:spPr bwMode="auto">
            <a:xfrm>
              <a:off x="2196" y="3067"/>
              <a:ext cx="909" cy="2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54" name="Line 282"/>
            <p:cNvSpPr>
              <a:spLocks noChangeShapeType="1"/>
            </p:cNvSpPr>
            <p:nvPr/>
          </p:nvSpPr>
          <p:spPr bwMode="auto">
            <a:xfrm>
              <a:off x="3105" y="3087"/>
              <a:ext cx="896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55" name="Line 283"/>
            <p:cNvSpPr>
              <a:spLocks noChangeShapeType="1"/>
            </p:cNvSpPr>
            <p:nvPr/>
          </p:nvSpPr>
          <p:spPr bwMode="auto">
            <a:xfrm>
              <a:off x="4001" y="3087"/>
              <a:ext cx="909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56" name="Rectangle 284"/>
            <p:cNvSpPr>
              <a:spLocks noChangeArrowheads="1"/>
            </p:cNvSpPr>
            <p:nvPr/>
          </p:nvSpPr>
          <p:spPr bwMode="auto">
            <a:xfrm>
              <a:off x="1254" y="1576"/>
              <a:ext cx="68" cy="50"/>
            </a:xfrm>
            <a:prstGeom prst="rect">
              <a:avLst/>
            </a:prstGeom>
            <a:solidFill>
              <a:srgbClr val="DD0806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57" name="Rectangle 285"/>
            <p:cNvSpPr>
              <a:spLocks noChangeArrowheads="1"/>
            </p:cNvSpPr>
            <p:nvPr/>
          </p:nvSpPr>
          <p:spPr bwMode="auto">
            <a:xfrm>
              <a:off x="2162" y="1752"/>
              <a:ext cx="69" cy="50"/>
            </a:xfrm>
            <a:prstGeom prst="rect">
              <a:avLst/>
            </a:prstGeom>
            <a:solidFill>
              <a:srgbClr val="DD0806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58" name="Rectangle 286"/>
            <p:cNvSpPr>
              <a:spLocks noChangeArrowheads="1"/>
            </p:cNvSpPr>
            <p:nvPr/>
          </p:nvSpPr>
          <p:spPr bwMode="auto">
            <a:xfrm>
              <a:off x="3071" y="1710"/>
              <a:ext cx="68" cy="50"/>
            </a:xfrm>
            <a:prstGeom prst="rect">
              <a:avLst/>
            </a:prstGeom>
            <a:solidFill>
              <a:srgbClr val="DD0806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59" name="Rectangle 287"/>
            <p:cNvSpPr>
              <a:spLocks noChangeArrowheads="1"/>
            </p:cNvSpPr>
            <p:nvPr/>
          </p:nvSpPr>
          <p:spPr bwMode="auto">
            <a:xfrm>
              <a:off x="3967" y="1420"/>
              <a:ext cx="68" cy="50"/>
            </a:xfrm>
            <a:prstGeom prst="rect">
              <a:avLst/>
            </a:prstGeom>
            <a:solidFill>
              <a:srgbClr val="DD0806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60" name="Rectangle 288"/>
            <p:cNvSpPr>
              <a:spLocks noChangeArrowheads="1"/>
            </p:cNvSpPr>
            <p:nvPr/>
          </p:nvSpPr>
          <p:spPr bwMode="auto">
            <a:xfrm>
              <a:off x="4876" y="869"/>
              <a:ext cx="68" cy="50"/>
            </a:xfrm>
            <a:prstGeom prst="rect">
              <a:avLst/>
            </a:prstGeom>
            <a:solidFill>
              <a:srgbClr val="DD0806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61" name="Rectangle 289"/>
            <p:cNvSpPr>
              <a:spLocks noChangeArrowheads="1"/>
            </p:cNvSpPr>
            <p:nvPr/>
          </p:nvSpPr>
          <p:spPr bwMode="auto">
            <a:xfrm>
              <a:off x="1254" y="2240"/>
              <a:ext cx="68" cy="51"/>
            </a:xfrm>
            <a:prstGeom prst="rect">
              <a:avLst/>
            </a:prstGeom>
            <a:solidFill>
              <a:srgbClr val="00801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62" name="Rectangle 290"/>
            <p:cNvSpPr>
              <a:spLocks noChangeArrowheads="1"/>
            </p:cNvSpPr>
            <p:nvPr/>
          </p:nvSpPr>
          <p:spPr bwMode="auto">
            <a:xfrm>
              <a:off x="2162" y="2376"/>
              <a:ext cx="69" cy="50"/>
            </a:xfrm>
            <a:prstGeom prst="rect">
              <a:avLst/>
            </a:prstGeom>
            <a:solidFill>
              <a:srgbClr val="00801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63" name="Rectangle 291"/>
            <p:cNvSpPr>
              <a:spLocks noChangeArrowheads="1"/>
            </p:cNvSpPr>
            <p:nvPr/>
          </p:nvSpPr>
          <p:spPr bwMode="auto">
            <a:xfrm>
              <a:off x="3071" y="2396"/>
              <a:ext cx="68" cy="51"/>
            </a:xfrm>
            <a:prstGeom prst="rect">
              <a:avLst/>
            </a:prstGeom>
            <a:solidFill>
              <a:srgbClr val="00801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64" name="Rectangle 292"/>
            <p:cNvSpPr>
              <a:spLocks noChangeArrowheads="1"/>
            </p:cNvSpPr>
            <p:nvPr/>
          </p:nvSpPr>
          <p:spPr bwMode="auto">
            <a:xfrm>
              <a:off x="3967" y="2324"/>
              <a:ext cx="68" cy="51"/>
            </a:xfrm>
            <a:prstGeom prst="rect">
              <a:avLst/>
            </a:prstGeom>
            <a:solidFill>
              <a:srgbClr val="00801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65" name="Rectangle 293"/>
            <p:cNvSpPr>
              <a:spLocks noChangeArrowheads="1"/>
            </p:cNvSpPr>
            <p:nvPr/>
          </p:nvSpPr>
          <p:spPr bwMode="auto">
            <a:xfrm>
              <a:off x="4876" y="2147"/>
              <a:ext cx="68" cy="50"/>
            </a:xfrm>
            <a:prstGeom prst="rect">
              <a:avLst/>
            </a:prstGeom>
            <a:solidFill>
              <a:srgbClr val="00801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66" name="Rectangle 294"/>
            <p:cNvSpPr>
              <a:spLocks noChangeArrowheads="1"/>
            </p:cNvSpPr>
            <p:nvPr/>
          </p:nvSpPr>
          <p:spPr bwMode="auto">
            <a:xfrm>
              <a:off x="1254" y="2708"/>
              <a:ext cx="68" cy="51"/>
            </a:xfrm>
            <a:prstGeom prst="rect">
              <a:avLst/>
            </a:prstGeom>
            <a:solidFill>
              <a:srgbClr val="0000D4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67" name="Rectangle 295"/>
            <p:cNvSpPr>
              <a:spLocks noChangeArrowheads="1"/>
            </p:cNvSpPr>
            <p:nvPr/>
          </p:nvSpPr>
          <p:spPr bwMode="auto">
            <a:xfrm>
              <a:off x="2162" y="2823"/>
              <a:ext cx="69" cy="51"/>
            </a:xfrm>
            <a:prstGeom prst="rect">
              <a:avLst/>
            </a:prstGeom>
            <a:solidFill>
              <a:srgbClr val="0000D4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68" name="Rectangle 296"/>
            <p:cNvSpPr>
              <a:spLocks noChangeArrowheads="1"/>
            </p:cNvSpPr>
            <p:nvPr/>
          </p:nvSpPr>
          <p:spPr bwMode="auto">
            <a:xfrm>
              <a:off x="3071" y="2844"/>
              <a:ext cx="68" cy="50"/>
            </a:xfrm>
            <a:prstGeom prst="rect">
              <a:avLst/>
            </a:prstGeom>
            <a:solidFill>
              <a:srgbClr val="0000D4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69" name="Rectangle 297"/>
            <p:cNvSpPr>
              <a:spLocks noChangeArrowheads="1"/>
            </p:cNvSpPr>
            <p:nvPr/>
          </p:nvSpPr>
          <p:spPr bwMode="auto">
            <a:xfrm>
              <a:off x="3967" y="2833"/>
              <a:ext cx="68" cy="50"/>
            </a:xfrm>
            <a:prstGeom prst="rect">
              <a:avLst/>
            </a:prstGeom>
            <a:solidFill>
              <a:srgbClr val="0000D4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70" name="Rectangle 298"/>
            <p:cNvSpPr>
              <a:spLocks noChangeArrowheads="1"/>
            </p:cNvSpPr>
            <p:nvPr/>
          </p:nvSpPr>
          <p:spPr bwMode="auto">
            <a:xfrm>
              <a:off x="4876" y="2781"/>
              <a:ext cx="68" cy="51"/>
            </a:xfrm>
            <a:prstGeom prst="rect">
              <a:avLst/>
            </a:prstGeom>
            <a:solidFill>
              <a:srgbClr val="0000D4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71" name="Rectangle 299"/>
            <p:cNvSpPr>
              <a:spLocks noChangeArrowheads="1"/>
            </p:cNvSpPr>
            <p:nvPr/>
          </p:nvSpPr>
          <p:spPr bwMode="auto">
            <a:xfrm>
              <a:off x="1254" y="2906"/>
              <a:ext cx="68" cy="51"/>
            </a:xfrm>
            <a:prstGeom prst="rect">
              <a:avLst/>
            </a:prstGeom>
            <a:solidFill>
              <a:srgbClr val="FCF305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72" name="Rectangle 300"/>
            <p:cNvSpPr>
              <a:spLocks noChangeArrowheads="1"/>
            </p:cNvSpPr>
            <p:nvPr/>
          </p:nvSpPr>
          <p:spPr bwMode="auto">
            <a:xfrm>
              <a:off x="2162" y="2979"/>
              <a:ext cx="69" cy="51"/>
            </a:xfrm>
            <a:prstGeom prst="rect">
              <a:avLst/>
            </a:prstGeom>
            <a:solidFill>
              <a:srgbClr val="FCF305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73" name="Rectangle 301"/>
            <p:cNvSpPr>
              <a:spLocks noChangeArrowheads="1"/>
            </p:cNvSpPr>
            <p:nvPr/>
          </p:nvSpPr>
          <p:spPr bwMode="auto">
            <a:xfrm>
              <a:off x="3071" y="3011"/>
              <a:ext cx="68" cy="50"/>
            </a:xfrm>
            <a:prstGeom prst="rect">
              <a:avLst/>
            </a:prstGeom>
            <a:solidFill>
              <a:srgbClr val="FCF305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74" name="Rectangle 302"/>
            <p:cNvSpPr>
              <a:spLocks noChangeArrowheads="1"/>
            </p:cNvSpPr>
            <p:nvPr/>
          </p:nvSpPr>
          <p:spPr bwMode="auto">
            <a:xfrm>
              <a:off x="3967" y="3011"/>
              <a:ext cx="68" cy="50"/>
            </a:xfrm>
            <a:prstGeom prst="rect">
              <a:avLst/>
            </a:prstGeom>
            <a:solidFill>
              <a:srgbClr val="FCF305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75" name="Rectangle 303"/>
            <p:cNvSpPr>
              <a:spLocks noChangeArrowheads="1"/>
            </p:cNvSpPr>
            <p:nvPr/>
          </p:nvSpPr>
          <p:spPr bwMode="auto">
            <a:xfrm>
              <a:off x="4876" y="3000"/>
              <a:ext cx="68" cy="50"/>
            </a:xfrm>
            <a:prstGeom prst="rect">
              <a:avLst/>
            </a:prstGeom>
            <a:solidFill>
              <a:srgbClr val="FCF305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76" name="Rectangle 304"/>
            <p:cNvSpPr>
              <a:spLocks noChangeArrowheads="1"/>
            </p:cNvSpPr>
            <p:nvPr/>
          </p:nvSpPr>
          <p:spPr bwMode="auto">
            <a:xfrm>
              <a:off x="1254" y="3000"/>
              <a:ext cx="68" cy="50"/>
            </a:xfrm>
            <a:prstGeom prst="rect">
              <a:avLst/>
            </a:prstGeom>
            <a:solidFill>
              <a:srgbClr val="F20884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77" name="Rectangle 305"/>
            <p:cNvSpPr>
              <a:spLocks noChangeArrowheads="1"/>
            </p:cNvSpPr>
            <p:nvPr/>
          </p:nvSpPr>
          <p:spPr bwMode="auto">
            <a:xfrm>
              <a:off x="2162" y="3042"/>
              <a:ext cx="69" cy="50"/>
            </a:xfrm>
            <a:prstGeom prst="rect">
              <a:avLst/>
            </a:prstGeom>
            <a:solidFill>
              <a:srgbClr val="F20884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78" name="Rectangle 306"/>
            <p:cNvSpPr>
              <a:spLocks noChangeArrowheads="1"/>
            </p:cNvSpPr>
            <p:nvPr/>
          </p:nvSpPr>
          <p:spPr bwMode="auto">
            <a:xfrm>
              <a:off x="3071" y="3062"/>
              <a:ext cx="68" cy="50"/>
            </a:xfrm>
            <a:prstGeom prst="rect">
              <a:avLst/>
            </a:prstGeom>
            <a:solidFill>
              <a:srgbClr val="F20884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79" name="Rectangle 307"/>
            <p:cNvSpPr>
              <a:spLocks noChangeArrowheads="1"/>
            </p:cNvSpPr>
            <p:nvPr/>
          </p:nvSpPr>
          <p:spPr bwMode="auto">
            <a:xfrm>
              <a:off x="3967" y="3062"/>
              <a:ext cx="68" cy="50"/>
            </a:xfrm>
            <a:prstGeom prst="rect">
              <a:avLst/>
            </a:prstGeom>
            <a:solidFill>
              <a:srgbClr val="F20884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80" name="Rectangle 308"/>
            <p:cNvSpPr>
              <a:spLocks noChangeArrowheads="1"/>
            </p:cNvSpPr>
            <p:nvPr/>
          </p:nvSpPr>
          <p:spPr bwMode="auto">
            <a:xfrm>
              <a:off x="4876" y="3062"/>
              <a:ext cx="68" cy="50"/>
            </a:xfrm>
            <a:prstGeom prst="rect">
              <a:avLst/>
            </a:prstGeom>
            <a:solidFill>
              <a:srgbClr val="F20884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9381" name="Rectangle 309"/>
            <p:cNvSpPr>
              <a:spLocks noChangeArrowheads="1"/>
            </p:cNvSpPr>
            <p:nvPr/>
          </p:nvSpPr>
          <p:spPr bwMode="auto">
            <a:xfrm>
              <a:off x="1070" y="3036"/>
              <a:ext cx="210" cy="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000">
                  <a:solidFill>
                    <a:srgbClr val="000000"/>
                  </a:solidFill>
                  <a:latin typeface="Geneva" charset="0"/>
                  <a:ea typeface="宋体" pitchFamily="2" charset="-122"/>
                </a:rPr>
                <a:t>0%</a:t>
              </a: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899382" name="Rectangle 310"/>
            <p:cNvSpPr>
              <a:spLocks noChangeArrowheads="1"/>
            </p:cNvSpPr>
            <p:nvPr/>
          </p:nvSpPr>
          <p:spPr bwMode="auto">
            <a:xfrm>
              <a:off x="1073" y="2526"/>
              <a:ext cx="204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000">
                  <a:solidFill>
                    <a:srgbClr val="000000"/>
                  </a:solidFill>
                  <a:latin typeface="Geneva" charset="0"/>
                  <a:ea typeface="宋体" pitchFamily="2" charset="-122"/>
                </a:rPr>
                <a:t>5%</a:t>
              </a: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899383" name="Rectangle 311"/>
            <p:cNvSpPr>
              <a:spLocks noChangeArrowheads="1"/>
            </p:cNvSpPr>
            <p:nvPr/>
          </p:nvSpPr>
          <p:spPr bwMode="auto">
            <a:xfrm>
              <a:off x="926" y="2006"/>
              <a:ext cx="283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000">
                  <a:solidFill>
                    <a:srgbClr val="000000"/>
                  </a:solidFill>
                  <a:latin typeface="Geneva" charset="0"/>
                  <a:ea typeface="宋体" pitchFamily="2" charset="-122"/>
                </a:rPr>
                <a:t>10%</a:t>
              </a: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899384" name="Rectangle 312"/>
            <p:cNvSpPr>
              <a:spLocks noChangeArrowheads="1"/>
            </p:cNvSpPr>
            <p:nvPr/>
          </p:nvSpPr>
          <p:spPr bwMode="auto">
            <a:xfrm>
              <a:off x="926" y="1497"/>
              <a:ext cx="283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000">
                  <a:solidFill>
                    <a:srgbClr val="000000"/>
                  </a:solidFill>
                  <a:latin typeface="Geneva" charset="0"/>
                  <a:ea typeface="宋体" pitchFamily="2" charset="-122"/>
                </a:rPr>
                <a:t>15%</a:t>
              </a: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899385" name="Rectangle 313"/>
            <p:cNvSpPr>
              <a:spLocks noChangeArrowheads="1"/>
            </p:cNvSpPr>
            <p:nvPr/>
          </p:nvSpPr>
          <p:spPr bwMode="auto">
            <a:xfrm>
              <a:off x="926" y="988"/>
              <a:ext cx="283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000">
                  <a:solidFill>
                    <a:srgbClr val="000000"/>
                  </a:solidFill>
                  <a:latin typeface="Geneva" charset="0"/>
                  <a:ea typeface="宋体" pitchFamily="2" charset="-122"/>
                </a:rPr>
                <a:t>20%</a:t>
              </a: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899386" name="Rectangle 314"/>
            <p:cNvSpPr>
              <a:spLocks noChangeArrowheads="1"/>
            </p:cNvSpPr>
            <p:nvPr/>
          </p:nvSpPr>
          <p:spPr bwMode="auto">
            <a:xfrm>
              <a:off x="926" y="575"/>
              <a:ext cx="283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000" dirty="0">
                  <a:solidFill>
                    <a:srgbClr val="000000"/>
                  </a:solidFill>
                  <a:latin typeface="Geneva" charset="0"/>
                  <a:ea typeface="宋体" pitchFamily="2" charset="-122"/>
                </a:rPr>
                <a:t>25%</a:t>
              </a:r>
              <a:endParaRPr lang="zh-CN" altLang="en-US" dirty="0">
                <a:ea typeface="宋体" pitchFamily="2" charset="-122"/>
              </a:endParaRPr>
            </a:p>
          </p:txBody>
        </p:sp>
        <p:sp>
          <p:nvSpPr>
            <p:cNvPr id="899387" name="Rectangle 315"/>
            <p:cNvSpPr>
              <a:spLocks noChangeArrowheads="1"/>
            </p:cNvSpPr>
            <p:nvPr/>
          </p:nvSpPr>
          <p:spPr bwMode="auto">
            <a:xfrm>
              <a:off x="1245" y="3216"/>
              <a:ext cx="157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000">
                  <a:solidFill>
                    <a:srgbClr val="000000"/>
                  </a:solidFill>
                  <a:latin typeface="Geneva" charset="0"/>
                  <a:ea typeface="宋体" pitchFamily="2" charset="-122"/>
                </a:rPr>
                <a:t>16</a:t>
              </a: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899388" name="Rectangle 316"/>
            <p:cNvSpPr>
              <a:spLocks noChangeArrowheads="1"/>
            </p:cNvSpPr>
            <p:nvPr/>
          </p:nvSpPr>
          <p:spPr bwMode="auto">
            <a:xfrm>
              <a:off x="2155" y="3216"/>
              <a:ext cx="157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000">
                  <a:solidFill>
                    <a:srgbClr val="000000"/>
                  </a:solidFill>
                  <a:latin typeface="Geneva" charset="0"/>
                  <a:ea typeface="宋体" pitchFamily="2" charset="-122"/>
                </a:rPr>
                <a:t>32</a:t>
              </a: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899389" name="Rectangle 317"/>
            <p:cNvSpPr>
              <a:spLocks noChangeArrowheads="1"/>
            </p:cNvSpPr>
            <p:nvPr/>
          </p:nvSpPr>
          <p:spPr bwMode="auto">
            <a:xfrm>
              <a:off x="3051" y="3216"/>
              <a:ext cx="157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000">
                  <a:solidFill>
                    <a:srgbClr val="000000"/>
                  </a:solidFill>
                  <a:latin typeface="Geneva" charset="0"/>
                  <a:ea typeface="宋体" pitchFamily="2" charset="-122"/>
                </a:rPr>
                <a:t>64</a:t>
              </a: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899390" name="Rectangle 318"/>
            <p:cNvSpPr>
              <a:spLocks noChangeArrowheads="1"/>
            </p:cNvSpPr>
            <p:nvPr/>
          </p:nvSpPr>
          <p:spPr bwMode="auto">
            <a:xfrm>
              <a:off x="3986" y="3216"/>
              <a:ext cx="236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000">
                  <a:solidFill>
                    <a:srgbClr val="000000"/>
                  </a:solidFill>
                  <a:latin typeface="Geneva" charset="0"/>
                  <a:ea typeface="宋体" pitchFamily="2" charset="-122"/>
                </a:rPr>
                <a:t>128</a:t>
              </a: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899391" name="Rectangle 319"/>
            <p:cNvSpPr>
              <a:spLocks noChangeArrowheads="1"/>
            </p:cNvSpPr>
            <p:nvPr/>
          </p:nvSpPr>
          <p:spPr bwMode="auto">
            <a:xfrm>
              <a:off x="4849" y="3216"/>
              <a:ext cx="236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000">
                  <a:solidFill>
                    <a:srgbClr val="000000"/>
                  </a:solidFill>
                  <a:latin typeface="Geneva" charset="0"/>
                  <a:ea typeface="宋体" pitchFamily="2" charset="-122"/>
                </a:rPr>
                <a:t>256</a:t>
              </a:r>
              <a:endParaRPr lang="zh-CN" altLang="en-US">
                <a:ea typeface="宋体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9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899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899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9082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9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371600"/>
            <a:ext cx="8458200" cy="6858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400" dirty="0">
                <a:solidFill>
                  <a:schemeClr val="hlink"/>
                </a:solidFill>
              </a:rPr>
              <a:t>Assume: </a:t>
            </a:r>
            <a:r>
              <a:rPr lang="en-US" sz="2600" dirty="0"/>
              <a:t>actual miss rates shows in</a:t>
            </a:r>
            <a:r>
              <a:rPr lang="en-US" altLang="zh-CN" sz="2600" dirty="0">
                <a:ea typeface="宋体" pitchFamily="2" charset="-122"/>
              </a:rPr>
              <a:t> the table</a:t>
            </a:r>
            <a:endParaRPr lang="zh-CN" altLang="en-US" sz="2600" dirty="0">
              <a:ea typeface="宋体" pitchFamily="2" charset="-122"/>
            </a:endParaRPr>
          </a:p>
        </p:txBody>
      </p:sp>
      <p:sp>
        <p:nvSpPr>
          <p:cNvPr id="900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84176" y="-57884"/>
            <a:ext cx="8458200" cy="1143000"/>
          </a:xfrm>
        </p:spPr>
        <p:txBody>
          <a:bodyPr/>
          <a:lstStyle/>
          <a:p>
            <a:r>
              <a:rPr lang="en-US" dirty="0"/>
              <a:t>Example11: Larger Block Size</a:t>
            </a:r>
            <a:endParaRPr lang="zh-CN" altLang="en-US" dirty="0">
              <a:ea typeface="宋体" pitchFamily="2" charset="-122"/>
            </a:endParaRPr>
          </a:p>
        </p:txBody>
      </p:sp>
      <p:graphicFrame>
        <p:nvGraphicFramePr>
          <p:cNvPr id="900100" name="Group 4"/>
          <p:cNvGraphicFramePr>
            <a:graphicFrameLocks noGrp="1"/>
          </p:cNvGraphicFramePr>
          <p:nvPr/>
        </p:nvGraphicFramePr>
        <p:xfrm>
          <a:off x="3810000" y="1981200"/>
          <a:ext cx="6623050" cy="2794002"/>
        </p:xfrm>
        <a:graphic>
          <a:graphicData uri="http://schemas.openxmlformats.org/drawingml/2006/table">
            <a:tbl>
              <a:tblPr/>
              <a:tblGrid>
                <a:gridCol w="1258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5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0050"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Block size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Cache size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4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16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64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256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15.05%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8.57%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3.94%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2.04%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1.09%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32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13.34%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7.24%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2.87%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1.35%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0.70%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64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13.76%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7.00%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2.64%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1.06%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0.51%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128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16.64%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7.78%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2.77%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1.02%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0.49%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256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22.01%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9.51%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3.29%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1.15%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0.49%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00153" name="Rectangle 57"/>
          <p:cNvSpPr>
            <a:spLocks noChangeArrowheads="1"/>
          </p:cNvSpPr>
          <p:nvPr/>
        </p:nvSpPr>
        <p:spPr bwMode="auto">
          <a:xfrm>
            <a:off x="1752600" y="4876800"/>
            <a:ext cx="84582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7" tIns="44450" rIns="90487" bIns="44450"/>
          <a:lstStyle/>
          <a:p>
            <a:pPr marL="285750" indent="-285750" algn="l">
              <a:buSzPct val="100000"/>
            </a:pPr>
            <a:r>
              <a:rPr lang="en-US" altLang="zh-CN" sz="2000">
                <a:latin typeface="Comic Sans MS" pitchFamily="66" charset="0"/>
                <a:ea typeface="宋体" pitchFamily="2" charset="-122"/>
              </a:rPr>
              <a:t>Memory system overhead: 80 CLK</a:t>
            </a:r>
          </a:p>
          <a:p>
            <a:pPr marL="285750" indent="-285750" algn="l">
              <a:buSzPct val="100000"/>
            </a:pPr>
            <a:r>
              <a:rPr lang="en-US" altLang="zh-CN" sz="2000">
                <a:latin typeface="Comic Sans MS" pitchFamily="66" charset="0"/>
                <a:ea typeface="宋体" pitchFamily="2" charset="-122"/>
              </a:rPr>
              <a:t>Delivering time: 16 bytes/2 CLK</a:t>
            </a:r>
          </a:p>
          <a:p>
            <a:pPr marL="285750" indent="-285750" algn="l">
              <a:buSzPct val="100000"/>
            </a:pPr>
            <a:r>
              <a:rPr lang="en-US" altLang="zh-CN" sz="2000">
                <a:solidFill>
                  <a:schemeClr val="hlink"/>
                </a:solidFill>
                <a:latin typeface="Comic Sans MS" pitchFamily="66" charset="0"/>
                <a:ea typeface="宋体" pitchFamily="2" charset="-122"/>
              </a:rPr>
              <a:t>Which block size has the smallest average memory access time for each cache size in above table?</a:t>
            </a:r>
          </a:p>
        </p:txBody>
      </p:sp>
      <p:sp>
        <p:nvSpPr>
          <p:cNvPr id="900154" name="Rectangle 58"/>
          <p:cNvSpPr>
            <a:spLocks noChangeArrowheads="1"/>
          </p:cNvSpPr>
          <p:nvPr/>
        </p:nvSpPr>
        <p:spPr bwMode="auto">
          <a:xfrm>
            <a:off x="6324600" y="4953001"/>
            <a:ext cx="43434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buSzPct val="100000"/>
            </a:pPr>
            <a:r>
              <a:rPr lang="en-US" altLang="zh-CN" sz="1600">
                <a:latin typeface="Comic Sans MS" pitchFamily="66" charset="0"/>
                <a:ea typeface="宋体" pitchFamily="2" charset="-122"/>
              </a:rPr>
              <a:t>This equals that it can supply 16 bytes in 82 CLK, 32 bytes in 84 CLK and so on.</a:t>
            </a:r>
          </a:p>
        </p:txBody>
      </p:sp>
      <p:sp>
        <p:nvSpPr>
          <p:cNvPr id="900155" name="Text Box 59"/>
          <p:cNvSpPr txBox="1">
            <a:spLocks noChangeArrowheads="1"/>
          </p:cNvSpPr>
          <p:nvPr/>
        </p:nvSpPr>
        <p:spPr bwMode="auto">
          <a:xfrm>
            <a:off x="1676400" y="2955926"/>
            <a:ext cx="20574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dirty="0">
                <a:latin typeface="Comic Sans MS" pitchFamily="66" charset="0"/>
                <a:ea typeface="宋体" pitchFamily="2" charset="-122"/>
              </a:rPr>
              <a:t>Hit time: 1CLK independent of block size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00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900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00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900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0153" grpId="0" autoUpdateAnimBg="0"/>
      <p:bldP spid="900154" grpId="0" autoUpdateAnimBg="0"/>
      <p:bldP spid="900155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23" name="Rectangle 3"/>
          <p:cNvSpPr>
            <a:spLocks noGrp="1" noChangeArrowheads="1"/>
          </p:cNvSpPr>
          <p:nvPr>
            <p:ph idx="1"/>
          </p:nvPr>
        </p:nvSpPr>
        <p:spPr>
          <a:xfrm>
            <a:off x="983432" y="1066800"/>
            <a:ext cx="10453736" cy="2667000"/>
          </a:xfrm>
        </p:spPr>
        <p:txBody>
          <a:bodyPr/>
          <a:lstStyle/>
          <a:p>
            <a:pPr marL="457200" indent="-457200">
              <a:spcBef>
                <a:spcPct val="0"/>
              </a:spcBef>
              <a:buNone/>
            </a:pPr>
            <a:r>
              <a:rPr lang="en-US" sz="3000" dirty="0">
                <a:solidFill>
                  <a:schemeClr val="hlink"/>
                </a:solidFill>
              </a:rPr>
              <a:t>Answer: </a:t>
            </a:r>
            <a:r>
              <a:rPr lang="en-US" sz="2200" dirty="0"/>
              <a:t>Average memory access time is: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sz="2000" dirty="0"/>
              <a:t>Average memory access </a:t>
            </a:r>
            <a:r>
              <a:rPr lang="en-US" sz="2000" dirty="0" err="1"/>
              <a:t>time＝Hit</a:t>
            </a:r>
            <a:r>
              <a:rPr lang="en-US" sz="2000" dirty="0"/>
              <a:t> time + Miss </a:t>
            </a:r>
            <a:r>
              <a:rPr lang="en-US" sz="2000" dirty="0" err="1"/>
              <a:t>rate</a:t>
            </a:r>
            <a:r>
              <a:rPr lang="en-US" altLang="zh-CN" sz="2000" dirty="0" err="1">
                <a:ea typeface="宋体" pitchFamily="2" charset="-122"/>
              </a:rPr>
              <a:t>×Miss</a:t>
            </a:r>
            <a:r>
              <a:rPr lang="en-US" altLang="zh-CN" sz="2000" dirty="0">
                <a:ea typeface="宋体" pitchFamily="2" charset="-122"/>
              </a:rPr>
              <a:t> penalty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2000" dirty="0">
                <a:solidFill>
                  <a:schemeClr val="hlink"/>
                </a:solidFill>
                <a:ea typeface="宋体" pitchFamily="2" charset="-122"/>
              </a:rPr>
              <a:t>16-byte block in 1KB cache is</a:t>
            </a:r>
            <a:r>
              <a:rPr lang="en-US" altLang="zh-CN" sz="2000" dirty="0">
                <a:ea typeface="宋体" pitchFamily="2" charset="-122"/>
              </a:rPr>
              <a:t> 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sz="2000" dirty="0"/>
              <a:t>Average memory access time＝1 + (15.05% </a:t>
            </a:r>
            <a:r>
              <a:rPr lang="en-US" altLang="zh-CN" sz="2000" dirty="0">
                <a:ea typeface="宋体" pitchFamily="2" charset="-122"/>
              </a:rPr>
              <a:t>×82)＝13.314 CLK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2000" dirty="0">
                <a:solidFill>
                  <a:schemeClr val="hlink"/>
                </a:solidFill>
                <a:ea typeface="宋体" pitchFamily="2" charset="-122"/>
              </a:rPr>
              <a:t>256-byte block in 256KB cache is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sz="2000" dirty="0"/>
              <a:t>Average memory access time＝1 + (0.49% </a:t>
            </a:r>
            <a:r>
              <a:rPr lang="en-US" altLang="zh-CN" sz="2000" dirty="0">
                <a:ea typeface="宋体" pitchFamily="2" charset="-122"/>
              </a:rPr>
              <a:t>×112)＝1.549 CLK</a:t>
            </a:r>
          </a:p>
          <a:p>
            <a:pPr marL="457200" indent="-457200">
              <a:spcBef>
                <a:spcPct val="0"/>
              </a:spcBef>
              <a:buNone/>
            </a:pPr>
            <a:r>
              <a:rPr lang="en-US" altLang="zh-CN" sz="2000" dirty="0">
                <a:ea typeface="宋体" pitchFamily="2" charset="-122"/>
              </a:rPr>
              <a:t>All average memory access times are calculated showing in following table</a:t>
            </a:r>
          </a:p>
        </p:txBody>
      </p:sp>
      <p:sp>
        <p:nvSpPr>
          <p:cNvPr id="901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55440" y="116632"/>
            <a:ext cx="8619728" cy="762000"/>
          </a:xfrm>
        </p:spPr>
        <p:txBody>
          <a:bodyPr/>
          <a:lstStyle/>
          <a:p>
            <a:r>
              <a:rPr lang="en-US" dirty="0"/>
              <a:t>Example11: Larger Block Size-2</a:t>
            </a:r>
            <a:endParaRPr lang="zh-CN" altLang="en-US" dirty="0">
              <a:ea typeface="宋体" pitchFamily="2" charset="-122"/>
            </a:endParaRPr>
          </a:p>
        </p:txBody>
      </p:sp>
      <p:graphicFrame>
        <p:nvGraphicFramePr>
          <p:cNvPr id="901178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124320"/>
              </p:ext>
            </p:extLst>
          </p:nvPr>
        </p:nvGraphicFramePr>
        <p:xfrm>
          <a:off x="2847181" y="3573016"/>
          <a:ext cx="6726238" cy="2794002"/>
        </p:xfrm>
        <a:graphic>
          <a:graphicData uri="http://schemas.openxmlformats.org/drawingml/2006/table">
            <a:tbl>
              <a:tblPr/>
              <a:tblGrid>
                <a:gridCol w="1258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1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5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0050"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Block size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Miss penalty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Cache size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4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16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64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256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82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8.027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4.231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2.673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1.894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32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84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7.082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3.411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2.134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1.588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64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88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7.160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3.323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1.933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1.449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128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96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8.469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3.659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1.979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1.470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256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112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11.651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4.685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2.288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1.549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01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146" name="Rectangle 2"/>
          <p:cNvSpPr>
            <a:spLocks noGrp="1" noChangeArrowheads="1"/>
          </p:cNvSpPr>
          <p:nvPr>
            <p:ph idx="1"/>
          </p:nvPr>
        </p:nvSpPr>
        <p:spPr>
          <a:xfrm>
            <a:off x="1415480" y="5334000"/>
            <a:ext cx="9361040" cy="762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dirty="0">
                <a:ea typeface="宋体" pitchFamily="2" charset="-122"/>
              </a:rPr>
              <a:t>Larger Caches</a:t>
            </a:r>
            <a:endParaRPr lang="en-US" sz="2200" dirty="0">
              <a:solidFill>
                <a:schemeClr val="hlink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sz="1800" dirty="0">
                <a:solidFill>
                  <a:schemeClr val="hlink"/>
                </a:solidFill>
              </a:rPr>
              <a:t>Old rule of thumb:</a:t>
            </a:r>
            <a:r>
              <a:rPr lang="en-US" sz="1800" dirty="0"/>
              <a:t> 2 x size =&gt; 25% cut in miss rate</a:t>
            </a:r>
          </a:p>
          <a:p>
            <a:pPr lvl="1">
              <a:lnSpc>
                <a:spcPct val="80000"/>
              </a:lnSpc>
            </a:pPr>
            <a:r>
              <a:rPr lang="en-US" sz="1800" dirty="0"/>
              <a:t>What does it reduce?</a:t>
            </a:r>
          </a:p>
        </p:txBody>
      </p:sp>
      <p:sp>
        <p:nvSpPr>
          <p:cNvPr id="902155" name="Rectangle 11"/>
          <p:cNvSpPr>
            <a:spLocks noGrp="1" noChangeArrowheads="1"/>
          </p:cNvSpPr>
          <p:nvPr>
            <p:ph type="title"/>
          </p:nvPr>
        </p:nvSpPr>
        <p:spPr>
          <a:xfrm>
            <a:off x="983433" y="-76200"/>
            <a:ext cx="8287567" cy="1143000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Second Miss Rate Reduction Technique</a:t>
            </a:r>
            <a:endParaRPr lang="en-US" dirty="0"/>
          </a:p>
        </p:txBody>
      </p:sp>
      <p:pic>
        <p:nvPicPr>
          <p:cNvPr id="902147" name="Picture 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57200"/>
            <a:ext cx="74422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902148" name="Group 4"/>
          <p:cNvGrpSpPr>
            <a:grpSpLocks/>
          </p:cNvGrpSpPr>
          <p:nvPr/>
        </p:nvGrpSpPr>
        <p:grpSpPr bwMode="auto">
          <a:xfrm>
            <a:off x="3429000" y="2286000"/>
            <a:ext cx="990600" cy="2209800"/>
            <a:chOff x="1200" y="1440"/>
            <a:chExt cx="624" cy="1392"/>
          </a:xfrm>
        </p:grpSpPr>
        <p:sp>
          <p:nvSpPr>
            <p:cNvPr id="902149" name="Line 5"/>
            <p:cNvSpPr>
              <a:spLocks noChangeShapeType="1"/>
            </p:cNvSpPr>
            <p:nvPr/>
          </p:nvSpPr>
          <p:spPr bwMode="auto">
            <a:xfrm flipV="1">
              <a:off x="1776" y="1440"/>
              <a:ext cx="0" cy="1392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02150" name="Line 6"/>
            <p:cNvSpPr>
              <a:spLocks noChangeShapeType="1"/>
            </p:cNvSpPr>
            <p:nvPr/>
          </p:nvSpPr>
          <p:spPr bwMode="auto">
            <a:xfrm flipH="1">
              <a:off x="1200" y="1440"/>
              <a:ext cx="624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902151" name="Group 7"/>
          <p:cNvGrpSpPr>
            <a:grpSpLocks/>
          </p:cNvGrpSpPr>
          <p:nvPr/>
        </p:nvGrpSpPr>
        <p:grpSpPr bwMode="auto">
          <a:xfrm>
            <a:off x="3581400" y="2819400"/>
            <a:ext cx="1676400" cy="1752600"/>
            <a:chOff x="1296" y="1776"/>
            <a:chExt cx="1056" cy="1104"/>
          </a:xfrm>
        </p:grpSpPr>
        <p:sp>
          <p:nvSpPr>
            <p:cNvPr id="902152" name="Line 8"/>
            <p:cNvSpPr>
              <a:spLocks noChangeShapeType="1"/>
            </p:cNvSpPr>
            <p:nvPr/>
          </p:nvSpPr>
          <p:spPr bwMode="auto">
            <a:xfrm flipV="1">
              <a:off x="2304" y="1776"/>
              <a:ext cx="0" cy="1104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02153" name="Line 9"/>
            <p:cNvSpPr>
              <a:spLocks noChangeShapeType="1"/>
            </p:cNvSpPr>
            <p:nvPr/>
          </p:nvSpPr>
          <p:spPr bwMode="auto">
            <a:xfrm flipH="1">
              <a:off x="1296" y="1776"/>
              <a:ext cx="1056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902154" name="Rectangle 10"/>
          <p:cNvSpPr>
            <a:spLocks noChangeArrowheads="1"/>
          </p:cNvSpPr>
          <p:nvPr/>
        </p:nvSpPr>
        <p:spPr bwMode="auto">
          <a:xfrm>
            <a:off x="7315201" y="1828800"/>
            <a:ext cx="26209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>
                <a:solidFill>
                  <a:schemeClr val="hlink"/>
                </a:solidFill>
                <a:latin typeface="Comic Sans MS" pitchFamily="66" charset="0"/>
              </a:rPr>
              <a:t>Cache Size</a:t>
            </a:r>
            <a:endParaRPr lang="zh-CN" altLang="en-US" sz="3600">
              <a:solidFill>
                <a:schemeClr val="hlink"/>
              </a:solidFill>
              <a:latin typeface="Comic Sans MS" pitchFamily="66" charset="0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1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Drawback</a:t>
            </a:r>
          </a:p>
          <a:p>
            <a:pPr lvl="1"/>
            <a:r>
              <a:rPr lang="en-US" altLang="zh-CN" dirty="0"/>
              <a:t>Longer hit time. </a:t>
            </a:r>
          </a:p>
          <a:p>
            <a:pPr lvl="1"/>
            <a:r>
              <a:rPr lang="en-US" altLang="zh-CN" dirty="0"/>
              <a:t>Higher cost.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F7CFBD4-9FC3-46DC-8926-5EDB07A61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Huge Caches =&gt; Working Sets</a:t>
            </a:r>
          </a:p>
        </p:txBody>
      </p:sp>
      <p:graphicFrame>
        <p:nvGraphicFramePr>
          <p:cNvPr id="9031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3897579"/>
              </p:ext>
            </p:extLst>
          </p:nvPr>
        </p:nvGraphicFramePr>
        <p:xfrm>
          <a:off x="1905001" y="1905000"/>
          <a:ext cx="6430963" cy="4325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Chart" r:id="rId3" imgW="7512741" imgH="5048458" progId="MSGraph.Chart.8">
                  <p:embed followColorScheme="full"/>
                </p:oleObj>
              </mc:Choice>
              <mc:Fallback>
                <p:oleObj name="Chart" r:id="rId3" imgW="7512741" imgH="5048458" progId="MSGraph.Chart.8">
                  <p:embed followColorScheme="full"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1" y="1905000"/>
                        <a:ext cx="6430963" cy="43258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03172" name="Group 4"/>
          <p:cNvGrpSpPr>
            <a:grpSpLocks/>
          </p:cNvGrpSpPr>
          <p:nvPr/>
        </p:nvGrpSpPr>
        <p:grpSpPr bwMode="auto">
          <a:xfrm>
            <a:off x="6553200" y="1676400"/>
            <a:ext cx="3905250" cy="3613150"/>
            <a:chOff x="2304" y="1104"/>
            <a:chExt cx="2460" cy="2276"/>
          </a:xfrm>
        </p:grpSpPr>
        <p:sp>
          <p:nvSpPr>
            <p:cNvPr id="903173" name="Line 5"/>
            <p:cNvSpPr>
              <a:spLocks noChangeShapeType="1"/>
            </p:cNvSpPr>
            <p:nvPr/>
          </p:nvSpPr>
          <p:spPr bwMode="auto">
            <a:xfrm flipH="1">
              <a:off x="3066" y="1348"/>
              <a:ext cx="152" cy="15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174" name="Freeform 6"/>
            <p:cNvSpPr>
              <a:spLocks/>
            </p:cNvSpPr>
            <p:nvPr/>
          </p:nvSpPr>
          <p:spPr bwMode="auto">
            <a:xfrm>
              <a:off x="3041" y="1488"/>
              <a:ext cx="39" cy="38"/>
            </a:xfrm>
            <a:custGeom>
              <a:avLst/>
              <a:gdLst>
                <a:gd name="T0" fmla="*/ 39 w 39"/>
                <a:gd name="T1" fmla="*/ 15 h 38"/>
                <a:gd name="T2" fmla="*/ 0 w 39"/>
                <a:gd name="T3" fmla="*/ 38 h 38"/>
                <a:gd name="T4" fmla="*/ 23 w 39"/>
                <a:gd name="T5" fmla="*/ 0 h 38"/>
                <a:gd name="T6" fmla="*/ 39 w 39"/>
                <a:gd name="T7" fmla="*/ 1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" h="38">
                  <a:moveTo>
                    <a:pt x="39" y="15"/>
                  </a:moveTo>
                  <a:lnTo>
                    <a:pt x="0" y="38"/>
                  </a:lnTo>
                  <a:lnTo>
                    <a:pt x="23" y="0"/>
                  </a:lnTo>
                  <a:lnTo>
                    <a:pt x="39" y="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175" name="Line 7"/>
            <p:cNvSpPr>
              <a:spLocks noChangeShapeType="1"/>
            </p:cNvSpPr>
            <p:nvPr/>
          </p:nvSpPr>
          <p:spPr bwMode="auto">
            <a:xfrm flipH="1">
              <a:off x="4151" y="2008"/>
              <a:ext cx="152" cy="15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176" name="Freeform 8"/>
            <p:cNvSpPr>
              <a:spLocks/>
            </p:cNvSpPr>
            <p:nvPr/>
          </p:nvSpPr>
          <p:spPr bwMode="auto">
            <a:xfrm>
              <a:off x="4124" y="2147"/>
              <a:ext cx="41" cy="40"/>
            </a:xfrm>
            <a:custGeom>
              <a:avLst/>
              <a:gdLst>
                <a:gd name="T0" fmla="*/ 39 w 41"/>
                <a:gd name="T1" fmla="*/ 17 h 40"/>
                <a:gd name="T2" fmla="*/ 0 w 41"/>
                <a:gd name="T3" fmla="*/ 40 h 40"/>
                <a:gd name="T4" fmla="*/ 23 w 41"/>
                <a:gd name="T5" fmla="*/ 0 h 40"/>
                <a:gd name="T6" fmla="*/ 41 w 41"/>
                <a:gd name="T7" fmla="*/ 17 h 40"/>
                <a:gd name="T8" fmla="*/ 39 w 41"/>
                <a:gd name="T9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0">
                  <a:moveTo>
                    <a:pt x="39" y="17"/>
                  </a:moveTo>
                  <a:lnTo>
                    <a:pt x="0" y="40"/>
                  </a:lnTo>
                  <a:lnTo>
                    <a:pt x="23" y="0"/>
                  </a:lnTo>
                  <a:lnTo>
                    <a:pt x="41" y="17"/>
                  </a:lnTo>
                  <a:lnTo>
                    <a:pt x="39" y="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177" name="Line 9"/>
            <p:cNvSpPr>
              <a:spLocks noChangeShapeType="1"/>
            </p:cNvSpPr>
            <p:nvPr/>
          </p:nvSpPr>
          <p:spPr bwMode="auto">
            <a:xfrm flipV="1">
              <a:off x="2402" y="1104"/>
              <a:ext cx="2" cy="6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178" name="Freeform 10"/>
            <p:cNvSpPr>
              <a:spLocks/>
            </p:cNvSpPr>
            <p:nvPr/>
          </p:nvSpPr>
          <p:spPr bwMode="auto">
            <a:xfrm>
              <a:off x="2400" y="2154"/>
              <a:ext cx="42" cy="54"/>
            </a:xfrm>
            <a:custGeom>
              <a:avLst/>
              <a:gdLst>
                <a:gd name="T0" fmla="*/ 42 w 42"/>
                <a:gd name="T1" fmla="*/ 54 h 54"/>
                <a:gd name="T2" fmla="*/ 42 w 42"/>
                <a:gd name="T3" fmla="*/ 46 h 54"/>
                <a:gd name="T4" fmla="*/ 38 w 42"/>
                <a:gd name="T5" fmla="*/ 41 h 54"/>
                <a:gd name="T6" fmla="*/ 36 w 42"/>
                <a:gd name="T7" fmla="*/ 33 h 54"/>
                <a:gd name="T8" fmla="*/ 33 w 42"/>
                <a:gd name="T9" fmla="*/ 27 h 54"/>
                <a:gd name="T10" fmla="*/ 29 w 42"/>
                <a:gd name="T11" fmla="*/ 21 h 54"/>
                <a:gd name="T12" fmla="*/ 23 w 42"/>
                <a:gd name="T13" fmla="*/ 16 h 54"/>
                <a:gd name="T14" fmla="*/ 19 w 42"/>
                <a:gd name="T15" fmla="*/ 12 h 54"/>
                <a:gd name="T16" fmla="*/ 13 w 42"/>
                <a:gd name="T17" fmla="*/ 8 h 54"/>
                <a:gd name="T18" fmla="*/ 6 w 42"/>
                <a:gd name="T19" fmla="*/ 4 h 54"/>
                <a:gd name="T20" fmla="*/ 0 w 42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" h="54">
                  <a:moveTo>
                    <a:pt x="42" y="54"/>
                  </a:moveTo>
                  <a:lnTo>
                    <a:pt x="42" y="46"/>
                  </a:lnTo>
                  <a:lnTo>
                    <a:pt x="38" y="41"/>
                  </a:lnTo>
                  <a:lnTo>
                    <a:pt x="36" y="33"/>
                  </a:lnTo>
                  <a:lnTo>
                    <a:pt x="33" y="27"/>
                  </a:lnTo>
                  <a:lnTo>
                    <a:pt x="29" y="21"/>
                  </a:lnTo>
                  <a:lnTo>
                    <a:pt x="23" y="16"/>
                  </a:lnTo>
                  <a:lnTo>
                    <a:pt x="19" y="12"/>
                  </a:lnTo>
                  <a:lnTo>
                    <a:pt x="13" y="8"/>
                  </a:lnTo>
                  <a:lnTo>
                    <a:pt x="6" y="4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363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179" name="Freeform 11"/>
            <p:cNvSpPr>
              <a:spLocks/>
            </p:cNvSpPr>
            <p:nvPr/>
          </p:nvSpPr>
          <p:spPr bwMode="auto">
            <a:xfrm>
              <a:off x="2400" y="2124"/>
              <a:ext cx="94" cy="84"/>
            </a:xfrm>
            <a:custGeom>
              <a:avLst/>
              <a:gdLst>
                <a:gd name="T0" fmla="*/ 0 w 94"/>
                <a:gd name="T1" fmla="*/ 0 h 84"/>
                <a:gd name="T2" fmla="*/ 4 w 94"/>
                <a:gd name="T3" fmla="*/ 0 h 84"/>
                <a:gd name="T4" fmla="*/ 6 w 94"/>
                <a:gd name="T5" fmla="*/ 0 h 84"/>
                <a:gd name="T6" fmla="*/ 10 w 94"/>
                <a:gd name="T7" fmla="*/ 0 h 84"/>
                <a:gd name="T8" fmla="*/ 12 w 94"/>
                <a:gd name="T9" fmla="*/ 0 h 84"/>
                <a:gd name="T10" fmla="*/ 15 w 94"/>
                <a:gd name="T11" fmla="*/ 1 h 84"/>
                <a:gd name="T12" fmla="*/ 17 w 94"/>
                <a:gd name="T13" fmla="*/ 1 h 84"/>
                <a:gd name="T14" fmla="*/ 21 w 94"/>
                <a:gd name="T15" fmla="*/ 1 h 84"/>
                <a:gd name="T16" fmla="*/ 23 w 94"/>
                <a:gd name="T17" fmla="*/ 1 h 84"/>
                <a:gd name="T18" fmla="*/ 27 w 94"/>
                <a:gd name="T19" fmla="*/ 3 h 84"/>
                <a:gd name="T20" fmla="*/ 29 w 94"/>
                <a:gd name="T21" fmla="*/ 3 h 84"/>
                <a:gd name="T22" fmla="*/ 40 w 94"/>
                <a:gd name="T23" fmla="*/ 7 h 84"/>
                <a:gd name="T24" fmla="*/ 50 w 94"/>
                <a:gd name="T25" fmla="*/ 13 h 84"/>
                <a:gd name="T26" fmla="*/ 58 w 94"/>
                <a:gd name="T27" fmla="*/ 19 h 84"/>
                <a:gd name="T28" fmla="*/ 65 w 94"/>
                <a:gd name="T29" fmla="*/ 26 h 84"/>
                <a:gd name="T30" fmla="*/ 73 w 94"/>
                <a:gd name="T31" fmla="*/ 34 h 84"/>
                <a:gd name="T32" fmla="*/ 81 w 94"/>
                <a:gd name="T33" fmla="*/ 42 h 84"/>
                <a:gd name="T34" fmla="*/ 86 w 94"/>
                <a:gd name="T35" fmla="*/ 51 h 84"/>
                <a:gd name="T36" fmla="*/ 90 w 94"/>
                <a:gd name="T37" fmla="*/ 63 h 84"/>
                <a:gd name="T38" fmla="*/ 92 w 94"/>
                <a:gd name="T39" fmla="*/ 72 h 84"/>
                <a:gd name="T40" fmla="*/ 94 w 94"/>
                <a:gd name="T41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4" h="84">
                  <a:moveTo>
                    <a:pt x="0" y="0"/>
                  </a:moveTo>
                  <a:lnTo>
                    <a:pt x="4" y="0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21" y="1"/>
                  </a:lnTo>
                  <a:lnTo>
                    <a:pt x="23" y="1"/>
                  </a:lnTo>
                  <a:lnTo>
                    <a:pt x="27" y="3"/>
                  </a:lnTo>
                  <a:lnTo>
                    <a:pt x="29" y="3"/>
                  </a:lnTo>
                  <a:lnTo>
                    <a:pt x="40" y="7"/>
                  </a:lnTo>
                  <a:lnTo>
                    <a:pt x="50" y="13"/>
                  </a:lnTo>
                  <a:lnTo>
                    <a:pt x="58" y="19"/>
                  </a:lnTo>
                  <a:lnTo>
                    <a:pt x="65" y="26"/>
                  </a:lnTo>
                  <a:lnTo>
                    <a:pt x="73" y="34"/>
                  </a:lnTo>
                  <a:lnTo>
                    <a:pt x="81" y="42"/>
                  </a:lnTo>
                  <a:lnTo>
                    <a:pt x="86" y="51"/>
                  </a:lnTo>
                  <a:lnTo>
                    <a:pt x="90" y="63"/>
                  </a:lnTo>
                  <a:lnTo>
                    <a:pt x="92" y="72"/>
                  </a:lnTo>
                  <a:lnTo>
                    <a:pt x="94" y="84"/>
                  </a:lnTo>
                </a:path>
              </a:pathLst>
            </a:custGeom>
            <a:noFill/>
            <a:ln w="12700">
              <a:solidFill>
                <a:srgbClr val="363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180" name="Freeform 12"/>
            <p:cNvSpPr>
              <a:spLocks/>
            </p:cNvSpPr>
            <p:nvPr/>
          </p:nvSpPr>
          <p:spPr bwMode="auto">
            <a:xfrm>
              <a:off x="2400" y="2091"/>
              <a:ext cx="148" cy="117"/>
            </a:xfrm>
            <a:custGeom>
              <a:avLst/>
              <a:gdLst>
                <a:gd name="T0" fmla="*/ 0 w 148"/>
                <a:gd name="T1" fmla="*/ 2 h 117"/>
                <a:gd name="T2" fmla="*/ 4 w 148"/>
                <a:gd name="T3" fmla="*/ 2 h 117"/>
                <a:gd name="T4" fmla="*/ 10 w 148"/>
                <a:gd name="T5" fmla="*/ 2 h 117"/>
                <a:gd name="T6" fmla="*/ 13 w 148"/>
                <a:gd name="T7" fmla="*/ 0 h 117"/>
                <a:gd name="T8" fmla="*/ 17 w 148"/>
                <a:gd name="T9" fmla="*/ 0 h 117"/>
                <a:gd name="T10" fmla="*/ 21 w 148"/>
                <a:gd name="T11" fmla="*/ 0 h 117"/>
                <a:gd name="T12" fmla="*/ 27 w 148"/>
                <a:gd name="T13" fmla="*/ 0 h 117"/>
                <a:gd name="T14" fmla="*/ 31 w 148"/>
                <a:gd name="T15" fmla="*/ 0 h 117"/>
                <a:gd name="T16" fmla="*/ 35 w 148"/>
                <a:gd name="T17" fmla="*/ 2 h 117"/>
                <a:gd name="T18" fmla="*/ 40 w 148"/>
                <a:gd name="T19" fmla="*/ 2 h 117"/>
                <a:gd name="T20" fmla="*/ 44 w 148"/>
                <a:gd name="T21" fmla="*/ 2 h 117"/>
                <a:gd name="T22" fmla="*/ 61 w 148"/>
                <a:gd name="T23" fmla="*/ 8 h 117"/>
                <a:gd name="T24" fmla="*/ 75 w 148"/>
                <a:gd name="T25" fmla="*/ 13 h 117"/>
                <a:gd name="T26" fmla="*/ 90 w 148"/>
                <a:gd name="T27" fmla="*/ 21 h 117"/>
                <a:gd name="T28" fmla="*/ 102 w 148"/>
                <a:gd name="T29" fmla="*/ 31 h 117"/>
                <a:gd name="T30" fmla="*/ 113 w 148"/>
                <a:gd name="T31" fmla="*/ 42 h 117"/>
                <a:gd name="T32" fmla="*/ 125 w 148"/>
                <a:gd name="T33" fmla="*/ 56 h 117"/>
                <a:gd name="T34" fmla="*/ 132 w 148"/>
                <a:gd name="T35" fmla="*/ 69 h 117"/>
                <a:gd name="T36" fmla="*/ 140 w 148"/>
                <a:gd name="T37" fmla="*/ 84 h 117"/>
                <a:gd name="T38" fmla="*/ 144 w 148"/>
                <a:gd name="T39" fmla="*/ 100 h 117"/>
                <a:gd name="T40" fmla="*/ 148 w 148"/>
                <a:gd name="T41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8" h="117">
                  <a:moveTo>
                    <a:pt x="0" y="2"/>
                  </a:moveTo>
                  <a:lnTo>
                    <a:pt x="4" y="2"/>
                  </a:lnTo>
                  <a:lnTo>
                    <a:pt x="10" y="2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21" y="0"/>
                  </a:lnTo>
                  <a:lnTo>
                    <a:pt x="27" y="0"/>
                  </a:lnTo>
                  <a:lnTo>
                    <a:pt x="31" y="0"/>
                  </a:lnTo>
                  <a:lnTo>
                    <a:pt x="35" y="2"/>
                  </a:lnTo>
                  <a:lnTo>
                    <a:pt x="40" y="2"/>
                  </a:lnTo>
                  <a:lnTo>
                    <a:pt x="44" y="2"/>
                  </a:lnTo>
                  <a:lnTo>
                    <a:pt x="61" y="8"/>
                  </a:lnTo>
                  <a:lnTo>
                    <a:pt x="75" y="13"/>
                  </a:lnTo>
                  <a:lnTo>
                    <a:pt x="90" y="21"/>
                  </a:lnTo>
                  <a:lnTo>
                    <a:pt x="102" y="31"/>
                  </a:lnTo>
                  <a:lnTo>
                    <a:pt x="113" y="42"/>
                  </a:lnTo>
                  <a:lnTo>
                    <a:pt x="125" y="56"/>
                  </a:lnTo>
                  <a:lnTo>
                    <a:pt x="132" y="69"/>
                  </a:lnTo>
                  <a:lnTo>
                    <a:pt x="140" y="84"/>
                  </a:lnTo>
                  <a:lnTo>
                    <a:pt x="144" y="100"/>
                  </a:lnTo>
                  <a:lnTo>
                    <a:pt x="148" y="117"/>
                  </a:lnTo>
                </a:path>
              </a:pathLst>
            </a:custGeom>
            <a:noFill/>
            <a:ln w="12700">
              <a:solidFill>
                <a:srgbClr val="363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181" name="Freeform 13"/>
            <p:cNvSpPr>
              <a:spLocks/>
            </p:cNvSpPr>
            <p:nvPr/>
          </p:nvSpPr>
          <p:spPr bwMode="auto">
            <a:xfrm>
              <a:off x="2400" y="2058"/>
              <a:ext cx="200" cy="150"/>
            </a:xfrm>
            <a:custGeom>
              <a:avLst/>
              <a:gdLst>
                <a:gd name="T0" fmla="*/ 0 w 200"/>
                <a:gd name="T1" fmla="*/ 4 h 150"/>
                <a:gd name="T2" fmla="*/ 6 w 200"/>
                <a:gd name="T3" fmla="*/ 4 h 150"/>
                <a:gd name="T4" fmla="*/ 12 w 200"/>
                <a:gd name="T5" fmla="*/ 2 h 150"/>
                <a:gd name="T6" fmla="*/ 17 w 200"/>
                <a:gd name="T7" fmla="*/ 2 h 150"/>
                <a:gd name="T8" fmla="*/ 23 w 200"/>
                <a:gd name="T9" fmla="*/ 0 h 150"/>
                <a:gd name="T10" fmla="*/ 29 w 200"/>
                <a:gd name="T11" fmla="*/ 0 h 150"/>
                <a:gd name="T12" fmla="*/ 35 w 200"/>
                <a:gd name="T13" fmla="*/ 0 h 150"/>
                <a:gd name="T14" fmla="*/ 42 w 200"/>
                <a:gd name="T15" fmla="*/ 0 h 150"/>
                <a:gd name="T16" fmla="*/ 48 w 200"/>
                <a:gd name="T17" fmla="*/ 0 h 150"/>
                <a:gd name="T18" fmla="*/ 54 w 200"/>
                <a:gd name="T19" fmla="*/ 0 h 150"/>
                <a:gd name="T20" fmla="*/ 60 w 200"/>
                <a:gd name="T21" fmla="*/ 2 h 150"/>
                <a:gd name="T22" fmla="*/ 83 w 200"/>
                <a:gd name="T23" fmla="*/ 6 h 150"/>
                <a:gd name="T24" fmla="*/ 102 w 200"/>
                <a:gd name="T25" fmla="*/ 14 h 150"/>
                <a:gd name="T26" fmla="*/ 121 w 200"/>
                <a:gd name="T27" fmla="*/ 23 h 150"/>
                <a:gd name="T28" fmla="*/ 138 w 200"/>
                <a:gd name="T29" fmla="*/ 37 h 150"/>
                <a:gd name="T30" fmla="*/ 156 w 200"/>
                <a:gd name="T31" fmla="*/ 50 h 150"/>
                <a:gd name="T32" fmla="*/ 169 w 200"/>
                <a:gd name="T33" fmla="*/ 67 h 150"/>
                <a:gd name="T34" fmla="*/ 180 w 200"/>
                <a:gd name="T35" fmla="*/ 87 h 150"/>
                <a:gd name="T36" fmla="*/ 190 w 200"/>
                <a:gd name="T37" fmla="*/ 106 h 150"/>
                <a:gd name="T38" fmla="*/ 196 w 200"/>
                <a:gd name="T39" fmla="*/ 127 h 150"/>
                <a:gd name="T40" fmla="*/ 200 w 200"/>
                <a:gd name="T41" fmla="*/ 15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0" h="150">
                  <a:moveTo>
                    <a:pt x="0" y="4"/>
                  </a:moveTo>
                  <a:lnTo>
                    <a:pt x="6" y="4"/>
                  </a:lnTo>
                  <a:lnTo>
                    <a:pt x="12" y="2"/>
                  </a:lnTo>
                  <a:lnTo>
                    <a:pt x="17" y="2"/>
                  </a:lnTo>
                  <a:lnTo>
                    <a:pt x="23" y="0"/>
                  </a:lnTo>
                  <a:lnTo>
                    <a:pt x="29" y="0"/>
                  </a:lnTo>
                  <a:lnTo>
                    <a:pt x="35" y="0"/>
                  </a:lnTo>
                  <a:lnTo>
                    <a:pt x="42" y="0"/>
                  </a:lnTo>
                  <a:lnTo>
                    <a:pt x="48" y="0"/>
                  </a:lnTo>
                  <a:lnTo>
                    <a:pt x="54" y="0"/>
                  </a:lnTo>
                  <a:lnTo>
                    <a:pt x="60" y="2"/>
                  </a:lnTo>
                  <a:lnTo>
                    <a:pt x="83" y="6"/>
                  </a:lnTo>
                  <a:lnTo>
                    <a:pt x="102" y="14"/>
                  </a:lnTo>
                  <a:lnTo>
                    <a:pt x="121" y="23"/>
                  </a:lnTo>
                  <a:lnTo>
                    <a:pt x="138" y="37"/>
                  </a:lnTo>
                  <a:lnTo>
                    <a:pt x="156" y="50"/>
                  </a:lnTo>
                  <a:lnTo>
                    <a:pt x="169" y="67"/>
                  </a:lnTo>
                  <a:lnTo>
                    <a:pt x="180" y="87"/>
                  </a:lnTo>
                  <a:lnTo>
                    <a:pt x="190" y="106"/>
                  </a:lnTo>
                  <a:lnTo>
                    <a:pt x="196" y="127"/>
                  </a:lnTo>
                  <a:lnTo>
                    <a:pt x="200" y="150"/>
                  </a:lnTo>
                </a:path>
              </a:pathLst>
            </a:custGeom>
            <a:noFill/>
            <a:ln w="12700">
              <a:solidFill>
                <a:srgbClr val="363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182" name="Freeform 14"/>
            <p:cNvSpPr>
              <a:spLocks/>
            </p:cNvSpPr>
            <p:nvPr/>
          </p:nvSpPr>
          <p:spPr bwMode="auto">
            <a:xfrm>
              <a:off x="2400" y="2024"/>
              <a:ext cx="252" cy="184"/>
            </a:xfrm>
            <a:custGeom>
              <a:avLst/>
              <a:gdLst>
                <a:gd name="T0" fmla="*/ 0 w 252"/>
                <a:gd name="T1" fmla="*/ 7 h 184"/>
                <a:gd name="T2" fmla="*/ 8 w 252"/>
                <a:gd name="T3" fmla="*/ 5 h 184"/>
                <a:gd name="T4" fmla="*/ 15 w 252"/>
                <a:gd name="T5" fmla="*/ 5 h 184"/>
                <a:gd name="T6" fmla="*/ 21 w 252"/>
                <a:gd name="T7" fmla="*/ 4 h 184"/>
                <a:gd name="T8" fmla="*/ 29 w 252"/>
                <a:gd name="T9" fmla="*/ 2 h 184"/>
                <a:gd name="T10" fmla="*/ 36 w 252"/>
                <a:gd name="T11" fmla="*/ 2 h 184"/>
                <a:gd name="T12" fmla="*/ 44 w 252"/>
                <a:gd name="T13" fmla="*/ 0 h 184"/>
                <a:gd name="T14" fmla="*/ 52 w 252"/>
                <a:gd name="T15" fmla="*/ 0 h 184"/>
                <a:gd name="T16" fmla="*/ 60 w 252"/>
                <a:gd name="T17" fmla="*/ 0 h 184"/>
                <a:gd name="T18" fmla="*/ 67 w 252"/>
                <a:gd name="T19" fmla="*/ 0 h 184"/>
                <a:gd name="T20" fmla="*/ 75 w 252"/>
                <a:gd name="T21" fmla="*/ 2 h 184"/>
                <a:gd name="T22" fmla="*/ 104 w 252"/>
                <a:gd name="T23" fmla="*/ 5 h 184"/>
                <a:gd name="T24" fmla="*/ 129 w 252"/>
                <a:gd name="T25" fmla="*/ 15 h 184"/>
                <a:gd name="T26" fmla="*/ 154 w 252"/>
                <a:gd name="T27" fmla="*/ 27 h 184"/>
                <a:gd name="T28" fmla="*/ 175 w 252"/>
                <a:gd name="T29" fmla="*/ 42 h 184"/>
                <a:gd name="T30" fmla="*/ 196 w 252"/>
                <a:gd name="T31" fmla="*/ 59 h 184"/>
                <a:gd name="T32" fmla="*/ 213 w 252"/>
                <a:gd name="T33" fmla="*/ 80 h 184"/>
                <a:gd name="T34" fmla="*/ 228 w 252"/>
                <a:gd name="T35" fmla="*/ 103 h 184"/>
                <a:gd name="T36" fmla="*/ 238 w 252"/>
                <a:gd name="T37" fmla="*/ 128 h 184"/>
                <a:gd name="T38" fmla="*/ 248 w 252"/>
                <a:gd name="T39" fmla="*/ 155 h 184"/>
                <a:gd name="T40" fmla="*/ 252 w 252"/>
                <a:gd name="T41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2" h="184">
                  <a:moveTo>
                    <a:pt x="0" y="7"/>
                  </a:moveTo>
                  <a:lnTo>
                    <a:pt x="8" y="5"/>
                  </a:lnTo>
                  <a:lnTo>
                    <a:pt x="15" y="5"/>
                  </a:lnTo>
                  <a:lnTo>
                    <a:pt x="21" y="4"/>
                  </a:lnTo>
                  <a:lnTo>
                    <a:pt x="29" y="2"/>
                  </a:lnTo>
                  <a:lnTo>
                    <a:pt x="36" y="2"/>
                  </a:lnTo>
                  <a:lnTo>
                    <a:pt x="44" y="0"/>
                  </a:lnTo>
                  <a:lnTo>
                    <a:pt x="52" y="0"/>
                  </a:lnTo>
                  <a:lnTo>
                    <a:pt x="60" y="0"/>
                  </a:lnTo>
                  <a:lnTo>
                    <a:pt x="67" y="0"/>
                  </a:lnTo>
                  <a:lnTo>
                    <a:pt x="75" y="2"/>
                  </a:lnTo>
                  <a:lnTo>
                    <a:pt x="104" y="5"/>
                  </a:lnTo>
                  <a:lnTo>
                    <a:pt x="129" y="15"/>
                  </a:lnTo>
                  <a:lnTo>
                    <a:pt x="154" y="27"/>
                  </a:lnTo>
                  <a:lnTo>
                    <a:pt x="175" y="42"/>
                  </a:lnTo>
                  <a:lnTo>
                    <a:pt x="196" y="59"/>
                  </a:lnTo>
                  <a:lnTo>
                    <a:pt x="213" y="80"/>
                  </a:lnTo>
                  <a:lnTo>
                    <a:pt x="228" y="103"/>
                  </a:lnTo>
                  <a:lnTo>
                    <a:pt x="238" y="128"/>
                  </a:lnTo>
                  <a:lnTo>
                    <a:pt x="248" y="155"/>
                  </a:lnTo>
                  <a:lnTo>
                    <a:pt x="252" y="184"/>
                  </a:lnTo>
                </a:path>
              </a:pathLst>
            </a:custGeom>
            <a:noFill/>
            <a:ln w="12700">
              <a:solidFill>
                <a:srgbClr val="363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183" name="Freeform 15"/>
            <p:cNvSpPr>
              <a:spLocks/>
            </p:cNvSpPr>
            <p:nvPr/>
          </p:nvSpPr>
          <p:spPr bwMode="auto">
            <a:xfrm>
              <a:off x="2400" y="1991"/>
              <a:ext cx="303" cy="217"/>
            </a:xfrm>
            <a:custGeom>
              <a:avLst/>
              <a:gdLst>
                <a:gd name="T0" fmla="*/ 0 w 303"/>
                <a:gd name="T1" fmla="*/ 10 h 217"/>
                <a:gd name="T2" fmla="*/ 10 w 303"/>
                <a:gd name="T3" fmla="*/ 8 h 217"/>
                <a:gd name="T4" fmla="*/ 17 w 303"/>
                <a:gd name="T5" fmla="*/ 6 h 217"/>
                <a:gd name="T6" fmla="*/ 27 w 303"/>
                <a:gd name="T7" fmla="*/ 4 h 217"/>
                <a:gd name="T8" fmla="*/ 35 w 303"/>
                <a:gd name="T9" fmla="*/ 2 h 217"/>
                <a:gd name="T10" fmla="*/ 44 w 303"/>
                <a:gd name="T11" fmla="*/ 0 h 217"/>
                <a:gd name="T12" fmla="*/ 54 w 303"/>
                <a:gd name="T13" fmla="*/ 0 h 217"/>
                <a:gd name="T14" fmla="*/ 63 w 303"/>
                <a:gd name="T15" fmla="*/ 0 h 217"/>
                <a:gd name="T16" fmla="*/ 71 w 303"/>
                <a:gd name="T17" fmla="*/ 0 h 217"/>
                <a:gd name="T18" fmla="*/ 81 w 303"/>
                <a:gd name="T19" fmla="*/ 0 h 217"/>
                <a:gd name="T20" fmla="*/ 90 w 303"/>
                <a:gd name="T21" fmla="*/ 0 h 217"/>
                <a:gd name="T22" fmla="*/ 125 w 303"/>
                <a:gd name="T23" fmla="*/ 6 h 217"/>
                <a:gd name="T24" fmla="*/ 156 w 303"/>
                <a:gd name="T25" fmla="*/ 15 h 217"/>
                <a:gd name="T26" fmla="*/ 184 w 303"/>
                <a:gd name="T27" fmla="*/ 29 h 217"/>
                <a:gd name="T28" fmla="*/ 211 w 303"/>
                <a:gd name="T29" fmla="*/ 46 h 217"/>
                <a:gd name="T30" fmla="*/ 236 w 303"/>
                <a:gd name="T31" fmla="*/ 69 h 217"/>
                <a:gd name="T32" fmla="*/ 257 w 303"/>
                <a:gd name="T33" fmla="*/ 94 h 217"/>
                <a:gd name="T34" fmla="*/ 275 w 303"/>
                <a:gd name="T35" fmla="*/ 121 h 217"/>
                <a:gd name="T36" fmla="*/ 288 w 303"/>
                <a:gd name="T37" fmla="*/ 150 h 217"/>
                <a:gd name="T38" fmla="*/ 298 w 303"/>
                <a:gd name="T39" fmla="*/ 182 h 217"/>
                <a:gd name="T40" fmla="*/ 303 w 303"/>
                <a:gd name="T41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3" h="217">
                  <a:moveTo>
                    <a:pt x="0" y="10"/>
                  </a:moveTo>
                  <a:lnTo>
                    <a:pt x="10" y="8"/>
                  </a:lnTo>
                  <a:lnTo>
                    <a:pt x="17" y="6"/>
                  </a:lnTo>
                  <a:lnTo>
                    <a:pt x="27" y="4"/>
                  </a:lnTo>
                  <a:lnTo>
                    <a:pt x="35" y="2"/>
                  </a:lnTo>
                  <a:lnTo>
                    <a:pt x="44" y="0"/>
                  </a:lnTo>
                  <a:lnTo>
                    <a:pt x="54" y="0"/>
                  </a:lnTo>
                  <a:lnTo>
                    <a:pt x="63" y="0"/>
                  </a:lnTo>
                  <a:lnTo>
                    <a:pt x="71" y="0"/>
                  </a:lnTo>
                  <a:lnTo>
                    <a:pt x="81" y="0"/>
                  </a:lnTo>
                  <a:lnTo>
                    <a:pt x="90" y="0"/>
                  </a:lnTo>
                  <a:lnTo>
                    <a:pt x="125" y="6"/>
                  </a:lnTo>
                  <a:lnTo>
                    <a:pt x="156" y="15"/>
                  </a:lnTo>
                  <a:lnTo>
                    <a:pt x="184" y="29"/>
                  </a:lnTo>
                  <a:lnTo>
                    <a:pt x="211" y="46"/>
                  </a:lnTo>
                  <a:lnTo>
                    <a:pt x="236" y="69"/>
                  </a:lnTo>
                  <a:lnTo>
                    <a:pt x="257" y="94"/>
                  </a:lnTo>
                  <a:lnTo>
                    <a:pt x="275" y="121"/>
                  </a:lnTo>
                  <a:lnTo>
                    <a:pt x="288" y="150"/>
                  </a:lnTo>
                  <a:lnTo>
                    <a:pt x="298" y="182"/>
                  </a:lnTo>
                  <a:lnTo>
                    <a:pt x="303" y="217"/>
                  </a:lnTo>
                </a:path>
              </a:pathLst>
            </a:custGeom>
            <a:noFill/>
            <a:ln w="12700">
              <a:solidFill>
                <a:srgbClr val="363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184" name="Freeform 16"/>
            <p:cNvSpPr>
              <a:spLocks/>
            </p:cNvSpPr>
            <p:nvPr/>
          </p:nvSpPr>
          <p:spPr bwMode="auto">
            <a:xfrm>
              <a:off x="2400" y="1956"/>
              <a:ext cx="355" cy="252"/>
            </a:xfrm>
            <a:custGeom>
              <a:avLst/>
              <a:gdLst>
                <a:gd name="T0" fmla="*/ 0 w 355"/>
                <a:gd name="T1" fmla="*/ 16 h 252"/>
                <a:gd name="T2" fmla="*/ 12 w 355"/>
                <a:gd name="T3" fmla="*/ 12 h 252"/>
                <a:gd name="T4" fmla="*/ 21 w 355"/>
                <a:gd name="T5" fmla="*/ 8 h 252"/>
                <a:gd name="T6" fmla="*/ 31 w 355"/>
                <a:gd name="T7" fmla="*/ 6 h 252"/>
                <a:gd name="T8" fmla="*/ 40 w 355"/>
                <a:gd name="T9" fmla="*/ 4 h 252"/>
                <a:gd name="T10" fmla="*/ 52 w 355"/>
                <a:gd name="T11" fmla="*/ 2 h 252"/>
                <a:gd name="T12" fmla="*/ 63 w 355"/>
                <a:gd name="T13" fmla="*/ 0 h 252"/>
                <a:gd name="T14" fmla="*/ 73 w 355"/>
                <a:gd name="T15" fmla="*/ 0 h 252"/>
                <a:gd name="T16" fmla="*/ 84 w 355"/>
                <a:gd name="T17" fmla="*/ 0 h 252"/>
                <a:gd name="T18" fmla="*/ 94 w 355"/>
                <a:gd name="T19" fmla="*/ 0 h 252"/>
                <a:gd name="T20" fmla="*/ 106 w 355"/>
                <a:gd name="T21" fmla="*/ 0 h 252"/>
                <a:gd name="T22" fmla="*/ 146 w 355"/>
                <a:gd name="T23" fmla="*/ 6 h 252"/>
                <a:gd name="T24" fmla="*/ 182 w 355"/>
                <a:gd name="T25" fmla="*/ 18 h 252"/>
                <a:gd name="T26" fmla="*/ 217 w 355"/>
                <a:gd name="T27" fmla="*/ 33 h 252"/>
                <a:gd name="T28" fmla="*/ 248 w 355"/>
                <a:gd name="T29" fmla="*/ 54 h 252"/>
                <a:gd name="T30" fmla="*/ 276 w 355"/>
                <a:gd name="T31" fmla="*/ 79 h 252"/>
                <a:gd name="T32" fmla="*/ 301 w 355"/>
                <a:gd name="T33" fmla="*/ 108 h 252"/>
                <a:gd name="T34" fmla="*/ 323 w 355"/>
                <a:gd name="T35" fmla="*/ 139 h 252"/>
                <a:gd name="T36" fmla="*/ 338 w 355"/>
                <a:gd name="T37" fmla="*/ 175 h 252"/>
                <a:gd name="T38" fmla="*/ 349 w 355"/>
                <a:gd name="T39" fmla="*/ 212 h 252"/>
                <a:gd name="T40" fmla="*/ 355 w 355"/>
                <a:gd name="T41" fmla="*/ 25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55" h="252">
                  <a:moveTo>
                    <a:pt x="0" y="16"/>
                  </a:moveTo>
                  <a:lnTo>
                    <a:pt x="12" y="12"/>
                  </a:lnTo>
                  <a:lnTo>
                    <a:pt x="21" y="8"/>
                  </a:lnTo>
                  <a:lnTo>
                    <a:pt x="31" y="6"/>
                  </a:lnTo>
                  <a:lnTo>
                    <a:pt x="40" y="4"/>
                  </a:lnTo>
                  <a:lnTo>
                    <a:pt x="52" y="2"/>
                  </a:lnTo>
                  <a:lnTo>
                    <a:pt x="63" y="0"/>
                  </a:lnTo>
                  <a:lnTo>
                    <a:pt x="73" y="0"/>
                  </a:lnTo>
                  <a:lnTo>
                    <a:pt x="84" y="0"/>
                  </a:lnTo>
                  <a:lnTo>
                    <a:pt x="94" y="0"/>
                  </a:lnTo>
                  <a:lnTo>
                    <a:pt x="106" y="0"/>
                  </a:lnTo>
                  <a:lnTo>
                    <a:pt x="146" y="6"/>
                  </a:lnTo>
                  <a:lnTo>
                    <a:pt x="182" y="18"/>
                  </a:lnTo>
                  <a:lnTo>
                    <a:pt x="217" y="33"/>
                  </a:lnTo>
                  <a:lnTo>
                    <a:pt x="248" y="54"/>
                  </a:lnTo>
                  <a:lnTo>
                    <a:pt x="276" y="79"/>
                  </a:lnTo>
                  <a:lnTo>
                    <a:pt x="301" y="108"/>
                  </a:lnTo>
                  <a:lnTo>
                    <a:pt x="323" y="139"/>
                  </a:lnTo>
                  <a:lnTo>
                    <a:pt x="338" y="175"/>
                  </a:lnTo>
                  <a:lnTo>
                    <a:pt x="349" y="212"/>
                  </a:lnTo>
                  <a:lnTo>
                    <a:pt x="355" y="252"/>
                  </a:lnTo>
                </a:path>
              </a:pathLst>
            </a:custGeom>
            <a:noFill/>
            <a:ln w="12700">
              <a:solidFill>
                <a:srgbClr val="363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185" name="Freeform 17"/>
            <p:cNvSpPr>
              <a:spLocks/>
            </p:cNvSpPr>
            <p:nvPr/>
          </p:nvSpPr>
          <p:spPr bwMode="auto">
            <a:xfrm>
              <a:off x="2400" y="1922"/>
              <a:ext cx="407" cy="284"/>
            </a:xfrm>
            <a:custGeom>
              <a:avLst/>
              <a:gdLst>
                <a:gd name="T0" fmla="*/ 0 w 407"/>
                <a:gd name="T1" fmla="*/ 19 h 284"/>
                <a:gd name="T2" fmla="*/ 12 w 407"/>
                <a:gd name="T3" fmla="*/ 15 h 284"/>
                <a:gd name="T4" fmla="*/ 23 w 407"/>
                <a:gd name="T5" fmla="*/ 11 h 284"/>
                <a:gd name="T6" fmla="*/ 35 w 407"/>
                <a:gd name="T7" fmla="*/ 8 h 284"/>
                <a:gd name="T8" fmla="*/ 48 w 407"/>
                <a:gd name="T9" fmla="*/ 6 h 284"/>
                <a:gd name="T10" fmla="*/ 60 w 407"/>
                <a:gd name="T11" fmla="*/ 4 h 284"/>
                <a:gd name="T12" fmla="*/ 71 w 407"/>
                <a:gd name="T13" fmla="*/ 2 h 284"/>
                <a:gd name="T14" fmla="*/ 84 w 407"/>
                <a:gd name="T15" fmla="*/ 0 h 284"/>
                <a:gd name="T16" fmla="*/ 96 w 407"/>
                <a:gd name="T17" fmla="*/ 0 h 284"/>
                <a:gd name="T18" fmla="*/ 109 w 407"/>
                <a:gd name="T19" fmla="*/ 0 h 284"/>
                <a:gd name="T20" fmla="*/ 121 w 407"/>
                <a:gd name="T21" fmla="*/ 0 h 284"/>
                <a:gd name="T22" fmla="*/ 167 w 407"/>
                <a:gd name="T23" fmla="*/ 6 h 284"/>
                <a:gd name="T24" fmla="*/ 209 w 407"/>
                <a:gd name="T25" fmla="*/ 19 h 284"/>
                <a:gd name="T26" fmla="*/ 248 w 407"/>
                <a:gd name="T27" fmla="*/ 36 h 284"/>
                <a:gd name="T28" fmla="*/ 284 w 407"/>
                <a:gd name="T29" fmla="*/ 59 h 284"/>
                <a:gd name="T30" fmla="*/ 317 w 407"/>
                <a:gd name="T31" fmla="*/ 88 h 284"/>
                <a:gd name="T32" fmla="*/ 346 w 407"/>
                <a:gd name="T33" fmla="*/ 121 h 284"/>
                <a:gd name="T34" fmla="*/ 371 w 407"/>
                <a:gd name="T35" fmla="*/ 157 h 284"/>
                <a:gd name="T36" fmla="*/ 388 w 407"/>
                <a:gd name="T37" fmla="*/ 198 h 284"/>
                <a:gd name="T38" fmla="*/ 401 w 407"/>
                <a:gd name="T39" fmla="*/ 240 h 284"/>
                <a:gd name="T40" fmla="*/ 407 w 407"/>
                <a:gd name="T41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07" h="284">
                  <a:moveTo>
                    <a:pt x="0" y="19"/>
                  </a:moveTo>
                  <a:lnTo>
                    <a:pt x="12" y="15"/>
                  </a:lnTo>
                  <a:lnTo>
                    <a:pt x="23" y="11"/>
                  </a:lnTo>
                  <a:lnTo>
                    <a:pt x="35" y="8"/>
                  </a:lnTo>
                  <a:lnTo>
                    <a:pt x="48" y="6"/>
                  </a:lnTo>
                  <a:lnTo>
                    <a:pt x="60" y="4"/>
                  </a:lnTo>
                  <a:lnTo>
                    <a:pt x="71" y="2"/>
                  </a:lnTo>
                  <a:lnTo>
                    <a:pt x="84" y="0"/>
                  </a:lnTo>
                  <a:lnTo>
                    <a:pt x="96" y="0"/>
                  </a:lnTo>
                  <a:lnTo>
                    <a:pt x="109" y="0"/>
                  </a:lnTo>
                  <a:lnTo>
                    <a:pt x="121" y="0"/>
                  </a:lnTo>
                  <a:lnTo>
                    <a:pt x="167" y="6"/>
                  </a:lnTo>
                  <a:lnTo>
                    <a:pt x="209" y="19"/>
                  </a:lnTo>
                  <a:lnTo>
                    <a:pt x="248" y="36"/>
                  </a:lnTo>
                  <a:lnTo>
                    <a:pt x="284" y="59"/>
                  </a:lnTo>
                  <a:lnTo>
                    <a:pt x="317" y="88"/>
                  </a:lnTo>
                  <a:lnTo>
                    <a:pt x="346" y="121"/>
                  </a:lnTo>
                  <a:lnTo>
                    <a:pt x="371" y="157"/>
                  </a:lnTo>
                  <a:lnTo>
                    <a:pt x="388" y="198"/>
                  </a:lnTo>
                  <a:lnTo>
                    <a:pt x="401" y="240"/>
                  </a:lnTo>
                  <a:lnTo>
                    <a:pt x="407" y="284"/>
                  </a:lnTo>
                </a:path>
              </a:pathLst>
            </a:custGeom>
            <a:noFill/>
            <a:ln w="12700">
              <a:solidFill>
                <a:srgbClr val="363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186" name="Freeform 18"/>
            <p:cNvSpPr>
              <a:spLocks/>
            </p:cNvSpPr>
            <p:nvPr/>
          </p:nvSpPr>
          <p:spPr bwMode="auto">
            <a:xfrm>
              <a:off x="2402" y="1887"/>
              <a:ext cx="457" cy="319"/>
            </a:xfrm>
            <a:custGeom>
              <a:avLst/>
              <a:gdLst>
                <a:gd name="T0" fmla="*/ 0 w 457"/>
                <a:gd name="T1" fmla="*/ 23 h 319"/>
                <a:gd name="T2" fmla="*/ 11 w 457"/>
                <a:gd name="T3" fmla="*/ 18 h 319"/>
                <a:gd name="T4" fmla="*/ 25 w 457"/>
                <a:gd name="T5" fmla="*/ 14 h 319"/>
                <a:gd name="T6" fmla="*/ 38 w 457"/>
                <a:gd name="T7" fmla="*/ 10 h 319"/>
                <a:gd name="T8" fmla="*/ 52 w 457"/>
                <a:gd name="T9" fmla="*/ 8 h 319"/>
                <a:gd name="T10" fmla="*/ 65 w 457"/>
                <a:gd name="T11" fmla="*/ 6 h 319"/>
                <a:gd name="T12" fmla="*/ 79 w 457"/>
                <a:gd name="T13" fmla="*/ 4 h 319"/>
                <a:gd name="T14" fmla="*/ 92 w 457"/>
                <a:gd name="T15" fmla="*/ 2 h 319"/>
                <a:gd name="T16" fmla="*/ 106 w 457"/>
                <a:gd name="T17" fmla="*/ 0 h 319"/>
                <a:gd name="T18" fmla="*/ 121 w 457"/>
                <a:gd name="T19" fmla="*/ 0 h 319"/>
                <a:gd name="T20" fmla="*/ 134 w 457"/>
                <a:gd name="T21" fmla="*/ 2 h 319"/>
                <a:gd name="T22" fmla="*/ 186 w 457"/>
                <a:gd name="T23" fmla="*/ 8 h 319"/>
                <a:gd name="T24" fmla="*/ 234 w 457"/>
                <a:gd name="T25" fmla="*/ 21 h 319"/>
                <a:gd name="T26" fmla="*/ 278 w 457"/>
                <a:gd name="T27" fmla="*/ 41 h 319"/>
                <a:gd name="T28" fmla="*/ 319 w 457"/>
                <a:gd name="T29" fmla="*/ 68 h 319"/>
                <a:gd name="T30" fmla="*/ 357 w 457"/>
                <a:gd name="T31" fmla="*/ 98 h 319"/>
                <a:gd name="T32" fmla="*/ 388 w 457"/>
                <a:gd name="T33" fmla="*/ 135 h 319"/>
                <a:gd name="T34" fmla="*/ 415 w 457"/>
                <a:gd name="T35" fmla="*/ 177 h 319"/>
                <a:gd name="T36" fmla="*/ 436 w 457"/>
                <a:gd name="T37" fmla="*/ 221 h 319"/>
                <a:gd name="T38" fmla="*/ 451 w 457"/>
                <a:gd name="T39" fmla="*/ 269 h 319"/>
                <a:gd name="T40" fmla="*/ 457 w 457"/>
                <a:gd name="T41" fmla="*/ 319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57" h="319">
                  <a:moveTo>
                    <a:pt x="0" y="23"/>
                  </a:moveTo>
                  <a:lnTo>
                    <a:pt x="11" y="18"/>
                  </a:lnTo>
                  <a:lnTo>
                    <a:pt x="25" y="14"/>
                  </a:lnTo>
                  <a:lnTo>
                    <a:pt x="38" y="10"/>
                  </a:lnTo>
                  <a:lnTo>
                    <a:pt x="52" y="8"/>
                  </a:lnTo>
                  <a:lnTo>
                    <a:pt x="65" y="6"/>
                  </a:lnTo>
                  <a:lnTo>
                    <a:pt x="79" y="4"/>
                  </a:lnTo>
                  <a:lnTo>
                    <a:pt x="92" y="2"/>
                  </a:lnTo>
                  <a:lnTo>
                    <a:pt x="106" y="0"/>
                  </a:lnTo>
                  <a:lnTo>
                    <a:pt x="121" y="0"/>
                  </a:lnTo>
                  <a:lnTo>
                    <a:pt x="134" y="2"/>
                  </a:lnTo>
                  <a:lnTo>
                    <a:pt x="186" y="8"/>
                  </a:lnTo>
                  <a:lnTo>
                    <a:pt x="234" y="21"/>
                  </a:lnTo>
                  <a:lnTo>
                    <a:pt x="278" y="41"/>
                  </a:lnTo>
                  <a:lnTo>
                    <a:pt x="319" y="68"/>
                  </a:lnTo>
                  <a:lnTo>
                    <a:pt x="357" y="98"/>
                  </a:lnTo>
                  <a:lnTo>
                    <a:pt x="388" y="135"/>
                  </a:lnTo>
                  <a:lnTo>
                    <a:pt x="415" y="177"/>
                  </a:lnTo>
                  <a:lnTo>
                    <a:pt x="436" y="221"/>
                  </a:lnTo>
                  <a:lnTo>
                    <a:pt x="451" y="269"/>
                  </a:lnTo>
                  <a:lnTo>
                    <a:pt x="457" y="319"/>
                  </a:lnTo>
                </a:path>
              </a:pathLst>
            </a:custGeom>
            <a:noFill/>
            <a:ln w="12700">
              <a:solidFill>
                <a:srgbClr val="363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187" name="Freeform 19"/>
            <p:cNvSpPr>
              <a:spLocks/>
            </p:cNvSpPr>
            <p:nvPr/>
          </p:nvSpPr>
          <p:spPr bwMode="auto">
            <a:xfrm>
              <a:off x="2402" y="1855"/>
              <a:ext cx="509" cy="351"/>
            </a:xfrm>
            <a:custGeom>
              <a:avLst/>
              <a:gdLst>
                <a:gd name="T0" fmla="*/ 0 w 509"/>
                <a:gd name="T1" fmla="*/ 25 h 351"/>
                <a:gd name="T2" fmla="*/ 13 w 509"/>
                <a:gd name="T3" fmla="*/ 19 h 351"/>
                <a:gd name="T4" fmla="*/ 27 w 509"/>
                <a:gd name="T5" fmla="*/ 15 h 351"/>
                <a:gd name="T6" fmla="*/ 42 w 509"/>
                <a:gd name="T7" fmla="*/ 11 h 351"/>
                <a:gd name="T8" fmla="*/ 58 w 509"/>
                <a:gd name="T9" fmla="*/ 7 h 351"/>
                <a:gd name="T10" fmla="*/ 73 w 509"/>
                <a:gd name="T11" fmla="*/ 4 h 351"/>
                <a:gd name="T12" fmla="*/ 88 w 509"/>
                <a:gd name="T13" fmla="*/ 2 h 351"/>
                <a:gd name="T14" fmla="*/ 104 w 509"/>
                <a:gd name="T15" fmla="*/ 0 h 351"/>
                <a:gd name="T16" fmla="*/ 119 w 509"/>
                <a:gd name="T17" fmla="*/ 0 h 351"/>
                <a:gd name="T18" fmla="*/ 134 w 509"/>
                <a:gd name="T19" fmla="*/ 0 h 351"/>
                <a:gd name="T20" fmla="*/ 150 w 509"/>
                <a:gd name="T21" fmla="*/ 0 h 351"/>
                <a:gd name="T22" fmla="*/ 207 w 509"/>
                <a:gd name="T23" fmla="*/ 5 h 351"/>
                <a:gd name="T24" fmla="*/ 259 w 509"/>
                <a:gd name="T25" fmla="*/ 21 h 351"/>
                <a:gd name="T26" fmla="*/ 309 w 509"/>
                <a:gd name="T27" fmla="*/ 42 h 351"/>
                <a:gd name="T28" fmla="*/ 355 w 509"/>
                <a:gd name="T29" fmla="*/ 71 h 351"/>
                <a:gd name="T30" fmla="*/ 397 w 509"/>
                <a:gd name="T31" fmla="*/ 107 h 351"/>
                <a:gd name="T32" fmla="*/ 432 w 509"/>
                <a:gd name="T33" fmla="*/ 148 h 351"/>
                <a:gd name="T34" fmla="*/ 463 w 509"/>
                <a:gd name="T35" fmla="*/ 192 h 351"/>
                <a:gd name="T36" fmla="*/ 486 w 509"/>
                <a:gd name="T37" fmla="*/ 242 h 351"/>
                <a:gd name="T38" fmla="*/ 501 w 509"/>
                <a:gd name="T39" fmla="*/ 295 h 351"/>
                <a:gd name="T40" fmla="*/ 509 w 509"/>
                <a:gd name="T41" fmla="*/ 351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09" h="351">
                  <a:moveTo>
                    <a:pt x="0" y="25"/>
                  </a:moveTo>
                  <a:lnTo>
                    <a:pt x="13" y="19"/>
                  </a:lnTo>
                  <a:lnTo>
                    <a:pt x="27" y="15"/>
                  </a:lnTo>
                  <a:lnTo>
                    <a:pt x="42" y="11"/>
                  </a:lnTo>
                  <a:lnTo>
                    <a:pt x="58" y="7"/>
                  </a:lnTo>
                  <a:lnTo>
                    <a:pt x="73" y="4"/>
                  </a:lnTo>
                  <a:lnTo>
                    <a:pt x="88" y="2"/>
                  </a:lnTo>
                  <a:lnTo>
                    <a:pt x="104" y="0"/>
                  </a:lnTo>
                  <a:lnTo>
                    <a:pt x="119" y="0"/>
                  </a:lnTo>
                  <a:lnTo>
                    <a:pt x="134" y="0"/>
                  </a:lnTo>
                  <a:lnTo>
                    <a:pt x="150" y="0"/>
                  </a:lnTo>
                  <a:lnTo>
                    <a:pt x="207" y="5"/>
                  </a:lnTo>
                  <a:lnTo>
                    <a:pt x="259" y="21"/>
                  </a:lnTo>
                  <a:lnTo>
                    <a:pt x="309" y="42"/>
                  </a:lnTo>
                  <a:lnTo>
                    <a:pt x="355" y="71"/>
                  </a:lnTo>
                  <a:lnTo>
                    <a:pt x="397" y="107"/>
                  </a:lnTo>
                  <a:lnTo>
                    <a:pt x="432" y="148"/>
                  </a:lnTo>
                  <a:lnTo>
                    <a:pt x="463" y="192"/>
                  </a:lnTo>
                  <a:lnTo>
                    <a:pt x="486" y="242"/>
                  </a:lnTo>
                  <a:lnTo>
                    <a:pt x="501" y="295"/>
                  </a:lnTo>
                  <a:lnTo>
                    <a:pt x="509" y="351"/>
                  </a:lnTo>
                </a:path>
              </a:pathLst>
            </a:custGeom>
            <a:noFill/>
            <a:ln w="12700">
              <a:solidFill>
                <a:srgbClr val="363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188" name="Freeform 20"/>
            <p:cNvSpPr>
              <a:spLocks/>
            </p:cNvSpPr>
            <p:nvPr/>
          </p:nvSpPr>
          <p:spPr bwMode="auto">
            <a:xfrm>
              <a:off x="2402" y="1820"/>
              <a:ext cx="561" cy="386"/>
            </a:xfrm>
            <a:custGeom>
              <a:avLst/>
              <a:gdLst>
                <a:gd name="T0" fmla="*/ 0 w 561"/>
                <a:gd name="T1" fmla="*/ 29 h 386"/>
                <a:gd name="T2" fmla="*/ 15 w 561"/>
                <a:gd name="T3" fmla="*/ 23 h 386"/>
                <a:gd name="T4" fmla="*/ 31 w 561"/>
                <a:gd name="T5" fmla="*/ 17 h 386"/>
                <a:gd name="T6" fmla="*/ 46 w 561"/>
                <a:gd name="T7" fmla="*/ 14 h 386"/>
                <a:gd name="T8" fmla="*/ 63 w 561"/>
                <a:gd name="T9" fmla="*/ 10 h 386"/>
                <a:gd name="T10" fmla="*/ 79 w 561"/>
                <a:gd name="T11" fmla="*/ 6 h 386"/>
                <a:gd name="T12" fmla="*/ 96 w 561"/>
                <a:gd name="T13" fmla="*/ 4 h 386"/>
                <a:gd name="T14" fmla="*/ 113 w 561"/>
                <a:gd name="T15" fmla="*/ 2 h 386"/>
                <a:gd name="T16" fmla="*/ 130 w 561"/>
                <a:gd name="T17" fmla="*/ 0 h 386"/>
                <a:gd name="T18" fmla="*/ 148 w 561"/>
                <a:gd name="T19" fmla="*/ 0 h 386"/>
                <a:gd name="T20" fmla="*/ 165 w 561"/>
                <a:gd name="T21" fmla="*/ 0 h 386"/>
                <a:gd name="T22" fmla="*/ 228 w 561"/>
                <a:gd name="T23" fmla="*/ 6 h 386"/>
                <a:gd name="T24" fmla="*/ 286 w 561"/>
                <a:gd name="T25" fmla="*/ 23 h 386"/>
                <a:gd name="T26" fmla="*/ 342 w 561"/>
                <a:gd name="T27" fmla="*/ 46 h 386"/>
                <a:gd name="T28" fmla="*/ 392 w 561"/>
                <a:gd name="T29" fmla="*/ 79 h 386"/>
                <a:gd name="T30" fmla="*/ 438 w 561"/>
                <a:gd name="T31" fmla="*/ 117 h 386"/>
                <a:gd name="T32" fmla="*/ 478 w 561"/>
                <a:gd name="T33" fmla="*/ 161 h 386"/>
                <a:gd name="T34" fmla="*/ 511 w 561"/>
                <a:gd name="T35" fmla="*/ 211 h 386"/>
                <a:gd name="T36" fmla="*/ 536 w 561"/>
                <a:gd name="T37" fmla="*/ 265 h 386"/>
                <a:gd name="T38" fmla="*/ 553 w 561"/>
                <a:gd name="T39" fmla="*/ 325 h 386"/>
                <a:gd name="T40" fmla="*/ 561 w 561"/>
                <a:gd name="T41" fmla="*/ 386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1" h="386">
                  <a:moveTo>
                    <a:pt x="0" y="29"/>
                  </a:moveTo>
                  <a:lnTo>
                    <a:pt x="15" y="23"/>
                  </a:lnTo>
                  <a:lnTo>
                    <a:pt x="31" y="17"/>
                  </a:lnTo>
                  <a:lnTo>
                    <a:pt x="46" y="14"/>
                  </a:lnTo>
                  <a:lnTo>
                    <a:pt x="63" y="10"/>
                  </a:lnTo>
                  <a:lnTo>
                    <a:pt x="79" y="6"/>
                  </a:lnTo>
                  <a:lnTo>
                    <a:pt x="96" y="4"/>
                  </a:lnTo>
                  <a:lnTo>
                    <a:pt x="113" y="2"/>
                  </a:lnTo>
                  <a:lnTo>
                    <a:pt x="130" y="0"/>
                  </a:lnTo>
                  <a:lnTo>
                    <a:pt x="148" y="0"/>
                  </a:lnTo>
                  <a:lnTo>
                    <a:pt x="165" y="0"/>
                  </a:lnTo>
                  <a:lnTo>
                    <a:pt x="228" y="6"/>
                  </a:lnTo>
                  <a:lnTo>
                    <a:pt x="286" y="23"/>
                  </a:lnTo>
                  <a:lnTo>
                    <a:pt x="342" y="46"/>
                  </a:lnTo>
                  <a:lnTo>
                    <a:pt x="392" y="79"/>
                  </a:lnTo>
                  <a:lnTo>
                    <a:pt x="438" y="117"/>
                  </a:lnTo>
                  <a:lnTo>
                    <a:pt x="478" y="161"/>
                  </a:lnTo>
                  <a:lnTo>
                    <a:pt x="511" y="211"/>
                  </a:lnTo>
                  <a:lnTo>
                    <a:pt x="536" y="265"/>
                  </a:lnTo>
                  <a:lnTo>
                    <a:pt x="553" y="325"/>
                  </a:lnTo>
                  <a:lnTo>
                    <a:pt x="561" y="386"/>
                  </a:lnTo>
                </a:path>
              </a:pathLst>
            </a:custGeom>
            <a:noFill/>
            <a:ln w="12700">
              <a:solidFill>
                <a:srgbClr val="363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189" name="Freeform 21"/>
            <p:cNvSpPr>
              <a:spLocks/>
            </p:cNvSpPr>
            <p:nvPr/>
          </p:nvSpPr>
          <p:spPr bwMode="auto">
            <a:xfrm>
              <a:off x="2402" y="1786"/>
              <a:ext cx="614" cy="420"/>
            </a:xfrm>
            <a:custGeom>
              <a:avLst/>
              <a:gdLst>
                <a:gd name="T0" fmla="*/ 0 w 614"/>
                <a:gd name="T1" fmla="*/ 32 h 420"/>
                <a:gd name="T2" fmla="*/ 17 w 614"/>
                <a:gd name="T3" fmla="*/ 26 h 420"/>
                <a:gd name="T4" fmla="*/ 33 w 614"/>
                <a:gd name="T5" fmla="*/ 21 h 420"/>
                <a:gd name="T6" fmla="*/ 52 w 614"/>
                <a:gd name="T7" fmla="*/ 15 h 420"/>
                <a:gd name="T8" fmla="*/ 69 w 614"/>
                <a:gd name="T9" fmla="*/ 11 h 420"/>
                <a:gd name="T10" fmla="*/ 86 w 614"/>
                <a:gd name="T11" fmla="*/ 7 h 420"/>
                <a:gd name="T12" fmla="*/ 106 w 614"/>
                <a:gd name="T13" fmla="*/ 3 h 420"/>
                <a:gd name="T14" fmla="*/ 125 w 614"/>
                <a:gd name="T15" fmla="*/ 2 h 420"/>
                <a:gd name="T16" fmla="*/ 142 w 614"/>
                <a:gd name="T17" fmla="*/ 0 h 420"/>
                <a:gd name="T18" fmla="*/ 161 w 614"/>
                <a:gd name="T19" fmla="*/ 0 h 420"/>
                <a:gd name="T20" fmla="*/ 180 w 614"/>
                <a:gd name="T21" fmla="*/ 0 h 420"/>
                <a:gd name="T22" fmla="*/ 250 w 614"/>
                <a:gd name="T23" fmla="*/ 7 h 420"/>
                <a:gd name="T24" fmla="*/ 313 w 614"/>
                <a:gd name="T25" fmla="*/ 25 h 420"/>
                <a:gd name="T26" fmla="*/ 374 w 614"/>
                <a:gd name="T27" fmla="*/ 50 h 420"/>
                <a:gd name="T28" fmla="*/ 428 w 614"/>
                <a:gd name="T29" fmla="*/ 84 h 420"/>
                <a:gd name="T30" fmla="*/ 478 w 614"/>
                <a:gd name="T31" fmla="*/ 126 h 420"/>
                <a:gd name="T32" fmla="*/ 522 w 614"/>
                <a:gd name="T33" fmla="*/ 174 h 420"/>
                <a:gd name="T34" fmla="*/ 557 w 614"/>
                <a:gd name="T35" fmla="*/ 230 h 420"/>
                <a:gd name="T36" fmla="*/ 586 w 614"/>
                <a:gd name="T37" fmla="*/ 290 h 420"/>
                <a:gd name="T38" fmla="*/ 605 w 614"/>
                <a:gd name="T39" fmla="*/ 353 h 420"/>
                <a:gd name="T40" fmla="*/ 614 w 614"/>
                <a:gd name="T41" fmla="*/ 42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14" h="420">
                  <a:moveTo>
                    <a:pt x="0" y="32"/>
                  </a:moveTo>
                  <a:lnTo>
                    <a:pt x="17" y="26"/>
                  </a:lnTo>
                  <a:lnTo>
                    <a:pt x="33" y="21"/>
                  </a:lnTo>
                  <a:lnTo>
                    <a:pt x="52" y="15"/>
                  </a:lnTo>
                  <a:lnTo>
                    <a:pt x="69" y="11"/>
                  </a:lnTo>
                  <a:lnTo>
                    <a:pt x="86" y="7"/>
                  </a:lnTo>
                  <a:lnTo>
                    <a:pt x="106" y="3"/>
                  </a:lnTo>
                  <a:lnTo>
                    <a:pt x="125" y="2"/>
                  </a:lnTo>
                  <a:lnTo>
                    <a:pt x="142" y="0"/>
                  </a:lnTo>
                  <a:lnTo>
                    <a:pt x="161" y="0"/>
                  </a:lnTo>
                  <a:lnTo>
                    <a:pt x="180" y="0"/>
                  </a:lnTo>
                  <a:lnTo>
                    <a:pt x="250" y="7"/>
                  </a:lnTo>
                  <a:lnTo>
                    <a:pt x="313" y="25"/>
                  </a:lnTo>
                  <a:lnTo>
                    <a:pt x="374" y="50"/>
                  </a:lnTo>
                  <a:lnTo>
                    <a:pt x="428" y="84"/>
                  </a:lnTo>
                  <a:lnTo>
                    <a:pt x="478" y="126"/>
                  </a:lnTo>
                  <a:lnTo>
                    <a:pt x="522" y="174"/>
                  </a:lnTo>
                  <a:lnTo>
                    <a:pt x="557" y="230"/>
                  </a:lnTo>
                  <a:lnTo>
                    <a:pt x="586" y="290"/>
                  </a:lnTo>
                  <a:lnTo>
                    <a:pt x="605" y="353"/>
                  </a:lnTo>
                  <a:lnTo>
                    <a:pt x="614" y="420"/>
                  </a:lnTo>
                </a:path>
              </a:pathLst>
            </a:custGeom>
            <a:noFill/>
            <a:ln w="12700">
              <a:solidFill>
                <a:srgbClr val="363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190" name="Freeform 22"/>
            <p:cNvSpPr>
              <a:spLocks/>
            </p:cNvSpPr>
            <p:nvPr/>
          </p:nvSpPr>
          <p:spPr bwMode="auto">
            <a:xfrm>
              <a:off x="2402" y="1751"/>
              <a:ext cx="666" cy="455"/>
            </a:xfrm>
            <a:custGeom>
              <a:avLst/>
              <a:gdLst>
                <a:gd name="T0" fmla="*/ 0 w 666"/>
                <a:gd name="T1" fmla="*/ 37 h 455"/>
                <a:gd name="T2" fmla="*/ 17 w 666"/>
                <a:gd name="T3" fmla="*/ 29 h 455"/>
                <a:gd name="T4" fmla="*/ 36 w 666"/>
                <a:gd name="T5" fmla="*/ 23 h 455"/>
                <a:gd name="T6" fmla="*/ 56 w 666"/>
                <a:gd name="T7" fmla="*/ 17 h 455"/>
                <a:gd name="T8" fmla="*/ 75 w 666"/>
                <a:gd name="T9" fmla="*/ 13 h 455"/>
                <a:gd name="T10" fmla="*/ 94 w 666"/>
                <a:gd name="T11" fmla="*/ 8 h 455"/>
                <a:gd name="T12" fmla="*/ 115 w 666"/>
                <a:gd name="T13" fmla="*/ 6 h 455"/>
                <a:gd name="T14" fmla="*/ 134 w 666"/>
                <a:gd name="T15" fmla="*/ 2 h 455"/>
                <a:gd name="T16" fmla="*/ 155 w 666"/>
                <a:gd name="T17" fmla="*/ 2 h 455"/>
                <a:gd name="T18" fmla="*/ 175 w 666"/>
                <a:gd name="T19" fmla="*/ 0 h 455"/>
                <a:gd name="T20" fmla="*/ 196 w 666"/>
                <a:gd name="T21" fmla="*/ 0 h 455"/>
                <a:gd name="T22" fmla="*/ 271 w 666"/>
                <a:gd name="T23" fmla="*/ 8 h 455"/>
                <a:gd name="T24" fmla="*/ 340 w 666"/>
                <a:gd name="T25" fmla="*/ 27 h 455"/>
                <a:gd name="T26" fmla="*/ 405 w 666"/>
                <a:gd name="T27" fmla="*/ 54 h 455"/>
                <a:gd name="T28" fmla="*/ 465 w 666"/>
                <a:gd name="T29" fmla="*/ 92 h 455"/>
                <a:gd name="T30" fmla="*/ 518 w 666"/>
                <a:gd name="T31" fmla="*/ 136 h 455"/>
                <a:gd name="T32" fmla="*/ 566 w 666"/>
                <a:gd name="T33" fmla="*/ 190 h 455"/>
                <a:gd name="T34" fmla="*/ 605 w 666"/>
                <a:gd name="T35" fmla="*/ 248 h 455"/>
                <a:gd name="T36" fmla="*/ 635 w 666"/>
                <a:gd name="T37" fmla="*/ 313 h 455"/>
                <a:gd name="T38" fmla="*/ 655 w 666"/>
                <a:gd name="T39" fmla="*/ 382 h 455"/>
                <a:gd name="T40" fmla="*/ 666 w 666"/>
                <a:gd name="T41" fmla="*/ 455 h 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66" h="455">
                  <a:moveTo>
                    <a:pt x="0" y="37"/>
                  </a:moveTo>
                  <a:lnTo>
                    <a:pt x="17" y="29"/>
                  </a:lnTo>
                  <a:lnTo>
                    <a:pt x="36" y="23"/>
                  </a:lnTo>
                  <a:lnTo>
                    <a:pt x="56" y="17"/>
                  </a:lnTo>
                  <a:lnTo>
                    <a:pt x="75" y="13"/>
                  </a:lnTo>
                  <a:lnTo>
                    <a:pt x="94" y="8"/>
                  </a:lnTo>
                  <a:lnTo>
                    <a:pt x="115" y="6"/>
                  </a:lnTo>
                  <a:lnTo>
                    <a:pt x="134" y="2"/>
                  </a:lnTo>
                  <a:lnTo>
                    <a:pt x="155" y="2"/>
                  </a:lnTo>
                  <a:lnTo>
                    <a:pt x="175" y="0"/>
                  </a:lnTo>
                  <a:lnTo>
                    <a:pt x="196" y="0"/>
                  </a:lnTo>
                  <a:lnTo>
                    <a:pt x="271" y="8"/>
                  </a:lnTo>
                  <a:lnTo>
                    <a:pt x="340" y="27"/>
                  </a:lnTo>
                  <a:lnTo>
                    <a:pt x="405" y="54"/>
                  </a:lnTo>
                  <a:lnTo>
                    <a:pt x="465" y="92"/>
                  </a:lnTo>
                  <a:lnTo>
                    <a:pt x="518" y="136"/>
                  </a:lnTo>
                  <a:lnTo>
                    <a:pt x="566" y="190"/>
                  </a:lnTo>
                  <a:lnTo>
                    <a:pt x="605" y="248"/>
                  </a:lnTo>
                  <a:lnTo>
                    <a:pt x="635" y="313"/>
                  </a:lnTo>
                  <a:lnTo>
                    <a:pt x="655" y="382"/>
                  </a:lnTo>
                  <a:lnTo>
                    <a:pt x="666" y="455"/>
                  </a:lnTo>
                </a:path>
              </a:pathLst>
            </a:custGeom>
            <a:noFill/>
            <a:ln w="12700">
              <a:solidFill>
                <a:srgbClr val="36363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191" name="Rectangle 23"/>
            <p:cNvSpPr>
              <a:spLocks noChangeArrowheads="1"/>
            </p:cNvSpPr>
            <p:nvPr/>
          </p:nvSpPr>
          <p:spPr bwMode="auto">
            <a:xfrm>
              <a:off x="2404" y="2471"/>
              <a:ext cx="2216" cy="12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192" name="Freeform 24"/>
            <p:cNvSpPr>
              <a:spLocks/>
            </p:cNvSpPr>
            <p:nvPr/>
          </p:nvSpPr>
          <p:spPr bwMode="auto">
            <a:xfrm>
              <a:off x="2404" y="2317"/>
              <a:ext cx="2216" cy="154"/>
            </a:xfrm>
            <a:custGeom>
              <a:avLst/>
              <a:gdLst>
                <a:gd name="T0" fmla="*/ 0 w 2216"/>
                <a:gd name="T1" fmla="*/ 152 h 154"/>
                <a:gd name="T2" fmla="*/ 2216 w 2216"/>
                <a:gd name="T3" fmla="*/ 154 h 154"/>
                <a:gd name="T4" fmla="*/ 2216 w 2216"/>
                <a:gd name="T5" fmla="*/ 0 h 154"/>
                <a:gd name="T6" fmla="*/ 0 w 2216"/>
                <a:gd name="T7" fmla="*/ 0 h 154"/>
                <a:gd name="T8" fmla="*/ 0 w 2216"/>
                <a:gd name="T9" fmla="*/ 154 h 154"/>
                <a:gd name="T10" fmla="*/ 0 w 2216"/>
                <a:gd name="T11" fmla="*/ 152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16" h="154">
                  <a:moveTo>
                    <a:pt x="0" y="152"/>
                  </a:moveTo>
                  <a:lnTo>
                    <a:pt x="2216" y="154"/>
                  </a:lnTo>
                  <a:lnTo>
                    <a:pt x="2216" y="0"/>
                  </a:lnTo>
                  <a:lnTo>
                    <a:pt x="0" y="0"/>
                  </a:lnTo>
                  <a:lnTo>
                    <a:pt x="0" y="154"/>
                  </a:lnTo>
                  <a:lnTo>
                    <a:pt x="0" y="15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193" name="Freeform 25"/>
            <p:cNvSpPr>
              <a:spLocks/>
            </p:cNvSpPr>
            <p:nvPr/>
          </p:nvSpPr>
          <p:spPr bwMode="auto">
            <a:xfrm>
              <a:off x="2404" y="2317"/>
              <a:ext cx="2216" cy="154"/>
            </a:xfrm>
            <a:custGeom>
              <a:avLst/>
              <a:gdLst>
                <a:gd name="T0" fmla="*/ 0 w 2216"/>
                <a:gd name="T1" fmla="*/ 152 h 154"/>
                <a:gd name="T2" fmla="*/ 2216 w 2216"/>
                <a:gd name="T3" fmla="*/ 154 h 154"/>
                <a:gd name="T4" fmla="*/ 2216 w 2216"/>
                <a:gd name="T5" fmla="*/ 0 h 154"/>
                <a:gd name="T6" fmla="*/ 0 w 2216"/>
                <a:gd name="T7" fmla="*/ 0 h 154"/>
                <a:gd name="T8" fmla="*/ 0 w 2216"/>
                <a:gd name="T9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16" h="154">
                  <a:moveTo>
                    <a:pt x="0" y="152"/>
                  </a:moveTo>
                  <a:lnTo>
                    <a:pt x="2216" y="154"/>
                  </a:lnTo>
                  <a:lnTo>
                    <a:pt x="2216" y="0"/>
                  </a:lnTo>
                  <a:lnTo>
                    <a:pt x="0" y="0"/>
                  </a:lnTo>
                  <a:lnTo>
                    <a:pt x="0" y="154"/>
                  </a:lnTo>
                </a:path>
              </a:pathLst>
            </a:custGeom>
            <a:noFill/>
            <a:ln w="12700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194" name="Line 26"/>
            <p:cNvSpPr>
              <a:spLocks noChangeShapeType="1"/>
            </p:cNvSpPr>
            <p:nvPr/>
          </p:nvSpPr>
          <p:spPr bwMode="auto">
            <a:xfrm flipH="1">
              <a:off x="2408" y="2202"/>
              <a:ext cx="169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195" name="Freeform 27"/>
            <p:cNvSpPr>
              <a:spLocks/>
            </p:cNvSpPr>
            <p:nvPr/>
          </p:nvSpPr>
          <p:spPr bwMode="auto">
            <a:xfrm>
              <a:off x="2404" y="2316"/>
              <a:ext cx="2216" cy="1"/>
            </a:xfrm>
            <a:custGeom>
              <a:avLst/>
              <a:gdLst>
                <a:gd name="T0" fmla="*/ 0 w 2216"/>
                <a:gd name="T1" fmla="*/ 2216 w 2216"/>
                <a:gd name="T2" fmla="*/ 0 w 22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216">
                  <a:moveTo>
                    <a:pt x="0" y="0"/>
                  </a:moveTo>
                  <a:lnTo>
                    <a:pt x="22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196" name="Line 28"/>
            <p:cNvSpPr>
              <a:spLocks noChangeShapeType="1"/>
            </p:cNvSpPr>
            <p:nvPr/>
          </p:nvSpPr>
          <p:spPr bwMode="auto">
            <a:xfrm>
              <a:off x="2404" y="2316"/>
              <a:ext cx="2216" cy="1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197" name="Freeform 29"/>
            <p:cNvSpPr>
              <a:spLocks/>
            </p:cNvSpPr>
            <p:nvPr/>
          </p:nvSpPr>
          <p:spPr bwMode="auto">
            <a:xfrm>
              <a:off x="2404" y="2479"/>
              <a:ext cx="2216" cy="2"/>
            </a:xfrm>
            <a:custGeom>
              <a:avLst/>
              <a:gdLst>
                <a:gd name="T0" fmla="*/ 0 w 2216"/>
                <a:gd name="T1" fmla="*/ 0 h 2"/>
                <a:gd name="T2" fmla="*/ 2216 w 2216"/>
                <a:gd name="T3" fmla="*/ 2 h 2"/>
                <a:gd name="T4" fmla="*/ 0 w 2216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16" h="2">
                  <a:moveTo>
                    <a:pt x="0" y="0"/>
                  </a:moveTo>
                  <a:lnTo>
                    <a:pt x="2216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198" name="Line 30"/>
            <p:cNvSpPr>
              <a:spLocks noChangeShapeType="1"/>
            </p:cNvSpPr>
            <p:nvPr/>
          </p:nvSpPr>
          <p:spPr bwMode="auto">
            <a:xfrm>
              <a:off x="2404" y="2479"/>
              <a:ext cx="2216" cy="2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199" name="Freeform 31"/>
            <p:cNvSpPr>
              <a:spLocks/>
            </p:cNvSpPr>
            <p:nvPr/>
          </p:nvSpPr>
          <p:spPr bwMode="auto">
            <a:xfrm>
              <a:off x="2402" y="1173"/>
              <a:ext cx="2218" cy="1419"/>
            </a:xfrm>
            <a:custGeom>
              <a:avLst/>
              <a:gdLst>
                <a:gd name="T0" fmla="*/ 0 w 2218"/>
                <a:gd name="T1" fmla="*/ 0 h 1419"/>
                <a:gd name="T2" fmla="*/ 2 w 2218"/>
                <a:gd name="T3" fmla="*/ 1419 h 1419"/>
                <a:gd name="T4" fmla="*/ 2218 w 2218"/>
                <a:gd name="T5" fmla="*/ 1419 h 1419"/>
                <a:gd name="T6" fmla="*/ 2218 w 2218"/>
                <a:gd name="T7" fmla="*/ 1029 h 1419"/>
                <a:gd name="T8" fmla="*/ 1705 w 2218"/>
                <a:gd name="T9" fmla="*/ 1029 h 1419"/>
                <a:gd name="T10" fmla="*/ 1532 w 2218"/>
                <a:gd name="T11" fmla="*/ 463 h 1419"/>
                <a:gd name="T12" fmla="*/ 614 w 2218"/>
                <a:gd name="T13" fmla="*/ 373 h 1419"/>
                <a:gd name="T14" fmla="*/ 566 w 2218"/>
                <a:gd name="T15" fmla="*/ 102 h 1419"/>
                <a:gd name="T16" fmla="*/ 2 w 2218"/>
                <a:gd name="T17" fmla="*/ 0 h 1419"/>
                <a:gd name="T18" fmla="*/ 2 w 2218"/>
                <a:gd name="T19" fmla="*/ 0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18" h="1419">
                  <a:moveTo>
                    <a:pt x="0" y="0"/>
                  </a:moveTo>
                  <a:lnTo>
                    <a:pt x="2" y="1419"/>
                  </a:lnTo>
                  <a:lnTo>
                    <a:pt x="2218" y="1419"/>
                  </a:lnTo>
                  <a:lnTo>
                    <a:pt x="2218" y="1029"/>
                  </a:lnTo>
                  <a:lnTo>
                    <a:pt x="1705" y="1029"/>
                  </a:lnTo>
                  <a:lnTo>
                    <a:pt x="1532" y="463"/>
                  </a:lnTo>
                  <a:lnTo>
                    <a:pt x="614" y="373"/>
                  </a:lnTo>
                  <a:lnTo>
                    <a:pt x="566" y="102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00" name="Freeform 32"/>
            <p:cNvSpPr>
              <a:spLocks/>
            </p:cNvSpPr>
            <p:nvPr/>
          </p:nvSpPr>
          <p:spPr bwMode="auto">
            <a:xfrm>
              <a:off x="2408" y="2202"/>
              <a:ext cx="2212" cy="127"/>
            </a:xfrm>
            <a:custGeom>
              <a:avLst/>
              <a:gdLst>
                <a:gd name="T0" fmla="*/ 0 w 2212"/>
                <a:gd name="T1" fmla="*/ 125 h 127"/>
                <a:gd name="T2" fmla="*/ 2212 w 2212"/>
                <a:gd name="T3" fmla="*/ 127 h 127"/>
                <a:gd name="T4" fmla="*/ 2212 w 2212"/>
                <a:gd name="T5" fmla="*/ 0 h 127"/>
                <a:gd name="T6" fmla="*/ 0 w 2212"/>
                <a:gd name="T7" fmla="*/ 0 h 127"/>
                <a:gd name="T8" fmla="*/ 0 w 2212"/>
                <a:gd name="T9" fmla="*/ 127 h 127"/>
                <a:gd name="T10" fmla="*/ 0 w 2212"/>
                <a:gd name="T11" fmla="*/ 125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12" h="127">
                  <a:moveTo>
                    <a:pt x="0" y="125"/>
                  </a:moveTo>
                  <a:lnTo>
                    <a:pt x="2212" y="127"/>
                  </a:lnTo>
                  <a:lnTo>
                    <a:pt x="2212" y="0"/>
                  </a:lnTo>
                  <a:lnTo>
                    <a:pt x="0" y="0"/>
                  </a:lnTo>
                  <a:lnTo>
                    <a:pt x="0" y="127"/>
                  </a:lnTo>
                  <a:lnTo>
                    <a:pt x="0" y="125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01" name="Freeform 33"/>
            <p:cNvSpPr>
              <a:spLocks/>
            </p:cNvSpPr>
            <p:nvPr/>
          </p:nvSpPr>
          <p:spPr bwMode="auto">
            <a:xfrm>
              <a:off x="2408" y="2202"/>
              <a:ext cx="2212" cy="127"/>
            </a:xfrm>
            <a:custGeom>
              <a:avLst/>
              <a:gdLst>
                <a:gd name="T0" fmla="*/ 0 w 2212"/>
                <a:gd name="T1" fmla="*/ 125 h 127"/>
                <a:gd name="T2" fmla="*/ 2212 w 2212"/>
                <a:gd name="T3" fmla="*/ 127 h 127"/>
                <a:gd name="T4" fmla="*/ 2212 w 2212"/>
                <a:gd name="T5" fmla="*/ 0 h 127"/>
                <a:gd name="T6" fmla="*/ 0 w 2212"/>
                <a:gd name="T7" fmla="*/ 0 h 127"/>
                <a:gd name="T8" fmla="*/ 0 w 2212"/>
                <a:gd name="T9" fmla="*/ 127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12" h="127">
                  <a:moveTo>
                    <a:pt x="0" y="125"/>
                  </a:moveTo>
                  <a:lnTo>
                    <a:pt x="2212" y="127"/>
                  </a:lnTo>
                  <a:lnTo>
                    <a:pt x="2212" y="0"/>
                  </a:lnTo>
                  <a:lnTo>
                    <a:pt x="0" y="0"/>
                  </a:lnTo>
                  <a:lnTo>
                    <a:pt x="0" y="12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02" name="Freeform 34"/>
            <p:cNvSpPr>
              <a:spLocks/>
            </p:cNvSpPr>
            <p:nvPr/>
          </p:nvSpPr>
          <p:spPr bwMode="auto">
            <a:xfrm>
              <a:off x="2895" y="2221"/>
              <a:ext cx="1233" cy="71"/>
            </a:xfrm>
            <a:custGeom>
              <a:avLst/>
              <a:gdLst>
                <a:gd name="T0" fmla="*/ 0 w 1233"/>
                <a:gd name="T1" fmla="*/ 70 h 71"/>
                <a:gd name="T2" fmla="*/ 1233 w 1233"/>
                <a:gd name="T3" fmla="*/ 71 h 71"/>
                <a:gd name="T4" fmla="*/ 1233 w 1233"/>
                <a:gd name="T5" fmla="*/ 0 h 71"/>
                <a:gd name="T6" fmla="*/ 0 w 1233"/>
                <a:gd name="T7" fmla="*/ 0 h 71"/>
                <a:gd name="T8" fmla="*/ 0 w 1233"/>
                <a:gd name="T9" fmla="*/ 71 h 71"/>
                <a:gd name="T10" fmla="*/ 0 w 1233"/>
                <a:gd name="T11" fmla="*/ 7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3" h="71">
                  <a:moveTo>
                    <a:pt x="0" y="70"/>
                  </a:moveTo>
                  <a:lnTo>
                    <a:pt x="1233" y="71"/>
                  </a:lnTo>
                  <a:lnTo>
                    <a:pt x="1233" y="0"/>
                  </a:lnTo>
                  <a:lnTo>
                    <a:pt x="0" y="0"/>
                  </a:lnTo>
                  <a:lnTo>
                    <a:pt x="0" y="71"/>
                  </a:lnTo>
                  <a:lnTo>
                    <a:pt x="0" y="7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03" name="Freeform 35"/>
            <p:cNvSpPr>
              <a:spLocks/>
            </p:cNvSpPr>
            <p:nvPr/>
          </p:nvSpPr>
          <p:spPr bwMode="auto">
            <a:xfrm>
              <a:off x="2895" y="2221"/>
              <a:ext cx="1233" cy="71"/>
            </a:xfrm>
            <a:custGeom>
              <a:avLst/>
              <a:gdLst>
                <a:gd name="T0" fmla="*/ 0 w 1233"/>
                <a:gd name="T1" fmla="*/ 70 h 71"/>
                <a:gd name="T2" fmla="*/ 1233 w 1233"/>
                <a:gd name="T3" fmla="*/ 71 h 71"/>
                <a:gd name="T4" fmla="*/ 1233 w 1233"/>
                <a:gd name="T5" fmla="*/ 0 h 71"/>
                <a:gd name="T6" fmla="*/ 0 w 1233"/>
                <a:gd name="T7" fmla="*/ 0 h 71"/>
                <a:gd name="T8" fmla="*/ 0 w 1233"/>
                <a:gd name="T9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3" h="71">
                  <a:moveTo>
                    <a:pt x="0" y="70"/>
                  </a:moveTo>
                  <a:lnTo>
                    <a:pt x="1233" y="71"/>
                  </a:lnTo>
                  <a:lnTo>
                    <a:pt x="1233" y="0"/>
                  </a:lnTo>
                  <a:lnTo>
                    <a:pt x="0" y="0"/>
                  </a:lnTo>
                  <a:lnTo>
                    <a:pt x="0" y="71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04" name="Freeform 36"/>
            <p:cNvSpPr>
              <a:spLocks/>
            </p:cNvSpPr>
            <p:nvPr/>
          </p:nvSpPr>
          <p:spPr bwMode="auto">
            <a:xfrm>
              <a:off x="2552" y="1740"/>
              <a:ext cx="731" cy="167"/>
            </a:xfrm>
            <a:custGeom>
              <a:avLst/>
              <a:gdLst>
                <a:gd name="T0" fmla="*/ 729 w 731"/>
                <a:gd name="T1" fmla="*/ 0 h 167"/>
                <a:gd name="T2" fmla="*/ 0 w 731"/>
                <a:gd name="T3" fmla="*/ 1 h 167"/>
                <a:gd name="T4" fmla="*/ 0 w 731"/>
                <a:gd name="T5" fmla="*/ 86 h 167"/>
                <a:gd name="T6" fmla="*/ 80 w 731"/>
                <a:gd name="T7" fmla="*/ 86 h 167"/>
                <a:gd name="T8" fmla="*/ 80 w 731"/>
                <a:gd name="T9" fmla="*/ 167 h 167"/>
                <a:gd name="T10" fmla="*/ 643 w 731"/>
                <a:gd name="T11" fmla="*/ 167 h 167"/>
                <a:gd name="T12" fmla="*/ 643 w 731"/>
                <a:gd name="T13" fmla="*/ 86 h 167"/>
                <a:gd name="T14" fmla="*/ 731 w 731"/>
                <a:gd name="T15" fmla="*/ 86 h 167"/>
                <a:gd name="T16" fmla="*/ 731 w 731"/>
                <a:gd name="T17" fmla="*/ 1 h 167"/>
                <a:gd name="T18" fmla="*/ 731 w 731"/>
                <a:gd name="T19" fmla="*/ 1 h 167"/>
                <a:gd name="T20" fmla="*/ 729 w 731"/>
                <a:gd name="T21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31" h="167">
                  <a:moveTo>
                    <a:pt x="729" y="0"/>
                  </a:moveTo>
                  <a:lnTo>
                    <a:pt x="0" y="1"/>
                  </a:lnTo>
                  <a:lnTo>
                    <a:pt x="0" y="86"/>
                  </a:lnTo>
                  <a:lnTo>
                    <a:pt x="80" y="86"/>
                  </a:lnTo>
                  <a:lnTo>
                    <a:pt x="80" y="167"/>
                  </a:lnTo>
                  <a:lnTo>
                    <a:pt x="643" y="167"/>
                  </a:lnTo>
                  <a:lnTo>
                    <a:pt x="643" y="86"/>
                  </a:lnTo>
                  <a:lnTo>
                    <a:pt x="731" y="86"/>
                  </a:lnTo>
                  <a:lnTo>
                    <a:pt x="731" y="1"/>
                  </a:lnTo>
                  <a:lnTo>
                    <a:pt x="731" y="1"/>
                  </a:lnTo>
                  <a:lnTo>
                    <a:pt x="7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05" name="Freeform 37"/>
            <p:cNvSpPr>
              <a:spLocks/>
            </p:cNvSpPr>
            <p:nvPr/>
          </p:nvSpPr>
          <p:spPr bwMode="auto">
            <a:xfrm>
              <a:off x="2552" y="1740"/>
              <a:ext cx="731" cy="167"/>
            </a:xfrm>
            <a:custGeom>
              <a:avLst/>
              <a:gdLst>
                <a:gd name="T0" fmla="*/ 729 w 731"/>
                <a:gd name="T1" fmla="*/ 0 h 167"/>
                <a:gd name="T2" fmla="*/ 0 w 731"/>
                <a:gd name="T3" fmla="*/ 1 h 167"/>
                <a:gd name="T4" fmla="*/ 0 w 731"/>
                <a:gd name="T5" fmla="*/ 86 h 167"/>
                <a:gd name="T6" fmla="*/ 80 w 731"/>
                <a:gd name="T7" fmla="*/ 86 h 167"/>
                <a:gd name="T8" fmla="*/ 80 w 731"/>
                <a:gd name="T9" fmla="*/ 167 h 167"/>
                <a:gd name="T10" fmla="*/ 643 w 731"/>
                <a:gd name="T11" fmla="*/ 167 h 167"/>
                <a:gd name="T12" fmla="*/ 643 w 731"/>
                <a:gd name="T13" fmla="*/ 86 h 167"/>
                <a:gd name="T14" fmla="*/ 731 w 731"/>
                <a:gd name="T15" fmla="*/ 86 h 167"/>
                <a:gd name="T16" fmla="*/ 731 w 731"/>
                <a:gd name="T17" fmla="*/ 1 h 167"/>
                <a:gd name="T18" fmla="*/ 731 w 731"/>
                <a:gd name="T19" fmla="*/ 1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31" h="167">
                  <a:moveTo>
                    <a:pt x="729" y="0"/>
                  </a:moveTo>
                  <a:lnTo>
                    <a:pt x="0" y="1"/>
                  </a:lnTo>
                  <a:lnTo>
                    <a:pt x="0" y="86"/>
                  </a:lnTo>
                  <a:lnTo>
                    <a:pt x="80" y="86"/>
                  </a:lnTo>
                  <a:lnTo>
                    <a:pt x="80" y="167"/>
                  </a:lnTo>
                  <a:lnTo>
                    <a:pt x="643" y="167"/>
                  </a:lnTo>
                  <a:lnTo>
                    <a:pt x="643" y="86"/>
                  </a:lnTo>
                  <a:lnTo>
                    <a:pt x="731" y="86"/>
                  </a:lnTo>
                  <a:lnTo>
                    <a:pt x="731" y="1"/>
                  </a:lnTo>
                  <a:lnTo>
                    <a:pt x="731" y="1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06" name="Rectangle 38"/>
            <p:cNvSpPr>
              <a:spLocks noChangeArrowheads="1"/>
            </p:cNvSpPr>
            <p:nvPr/>
          </p:nvSpPr>
          <p:spPr bwMode="auto">
            <a:xfrm>
              <a:off x="2999" y="1271"/>
              <a:ext cx="467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800">
                  <a:solidFill>
                    <a:srgbClr val="000000"/>
                  </a:solidFill>
                  <a:latin typeface="Arial" pitchFamily="34" charset="0"/>
                </a:rPr>
                <a:t>First working set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903207" name="Rectangle 39"/>
            <p:cNvSpPr>
              <a:spLocks noChangeArrowheads="1"/>
            </p:cNvSpPr>
            <p:nvPr/>
          </p:nvSpPr>
          <p:spPr bwMode="auto">
            <a:xfrm>
              <a:off x="2559" y="1745"/>
              <a:ext cx="673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800">
                  <a:solidFill>
                    <a:srgbClr val="000000"/>
                  </a:solidFill>
                  <a:latin typeface="Arial" pitchFamily="34" charset="0"/>
                </a:rPr>
                <a:t>Capacity-generated traf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903208" name="Rectangle 40"/>
            <p:cNvSpPr>
              <a:spLocks noChangeArrowheads="1"/>
            </p:cNvSpPr>
            <p:nvPr/>
          </p:nvSpPr>
          <p:spPr bwMode="auto">
            <a:xfrm>
              <a:off x="3226" y="1745"/>
              <a:ext cx="64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800">
                  <a:solidFill>
                    <a:srgbClr val="000000"/>
                  </a:solidFill>
                  <a:latin typeface="Arial" pitchFamily="34" charset="0"/>
                </a:rPr>
                <a:t>fic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903209" name="Rectangle 41"/>
            <p:cNvSpPr>
              <a:spLocks noChangeArrowheads="1"/>
            </p:cNvSpPr>
            <p:nvPr/>
          </p:nvSpPr>
          <p:spPr bwMode="auto">
            <a:xfrm>
              <a:off x="2652" y="1818"/>
              <a:ext cx="546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800">
                  <a:solidFill>
                    <a:srgbClr val="000000"/>
                  </a:solidFill>
                  <a:latin typeface="Arial" pitchFamily="34" charset="0"/>
                </a:rPr>
                <a:t>(including conflicts)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903210" name="Rectangle 42"/>
            <p:cNvSpPr>
              <a:spLocks noChangeArrowheads="1"/>
            </p:cNvSpPr>
            <p:nvPr/>
          </p:nvSpPr>
          <p:spPr bwMode="auto">
            <a:xfrm>
              <a:off x="4059" y="1931"/>
              <a:ext cx="562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800">
                  <a:solidFill>
                    <a:srgbClr val="000000"/>
                  </a:solidFill>
                  <a:latin typeface="Arial" pitchFamily="34" charset="0"/>
                </a:rPr>
                <a:t>Second working set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903211" name="Rectangle 43"/>
            <p:cNvSpPr>
              <a:spLocks noChangeArrowheads="1"/>
            </p:cNvSpPr>
            <p:nvPr/>
          </p:nvSpPr>
          <p:spPr bwMode="auto">
            <a:xfrm rot="16200000">
              <a:off x="2208" y="1273"/>
              <a:ext cx="279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900">
                  <a:solidFill>
                    <a:srgbClr val="000000"/>
                  </a:solidFill>
                  <a:latin typeface="Arial" pitchFamily="34" charset="0"/>
                </a:rPr>
                <a:t>Data traf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903212" name="Rectangle 44"/>
            <p:cNvSpPr>
              <a:spLocks noChangeArrowheads="1"/>
            </p:cNvSpPr>
            <p:nvPr/>
          </p:nvSpPr>
          <p:spPr bwMode="auto">
            <a:xfrm rot="16200000">
              <a:off x="2311" y="1100"/>
              <a:ext cx="73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900">
                  <a:solidFill>
                    <a:srgbClr val="000000"/>
                  </a:solidFill>
                  <a:latin typeface="Arial" pitchFamily="34" charset="0"/>
                </a:rPr>
                <a:t>fic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903213" name="Rectangle 45"/>
            <p:cNvSpPr>
              <a:spLocks noChangeArrowheads="1"/>
            </p:cNvSpPr>
            <p:nvPr/>
          </p:nvSpPr>
          <p:spPr bwMode="auto">
            <a:xfrm>
              <a:off x="2911" y="2219"/>
              <a:ext cx="1242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800">
                  <a:solidFill>
                    <a:srgbClr val="000000"/>
                  </a:solidFill>
                  <a:latin typeface="Arial" pitchFamily="34" charset="0"/>
                </a:rPr>
                <a:t>Other capacity-independent communication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903214" name="Freeform 46"/>
            <p:cNvSpPr>
              <a:spLocks/>
            </p:cNvSpPr>
            <p:nvPr/>
          </p:nvSpPr>
          <p:spPr bwMode="auto">
            <a:xfrm>
              <a:off x="3085" y="2502"/>
              <a:ext cx="853" cy="75"/>
            </a:xfrm>
            <a:custGeom>
              <a:avLst/>
              <a:gdLst>
                <a:gd name="T0" fmla="*/ 0 w 853"/>
                <a:gd name="T1" fmla="*/ 73 h 75"/>
                <a:gd name="T2" fmla="*/ 853 w 853"/>
                <a:gd name="T3" fmla="*/ 75 h 75"/>
                <a:gd name="T4" fmla="*/ 853 w 853"/>
                <a:gd name="T5" fmla="*/ 0 h 75"/>
                <a:gd name="T6" fmla="*/ 0 w 853"/>
                <a:gd name="T7" fmla="*/ 0 h 75"/>
                <a:gd name="T8" fmla="*/ 0 w 853"/>
                <a:gd name="T9" fmla="*/ 75 h 75"/>
                <a:gd name="T10" fmla="*/ 0 w 853"/>
                <a:gd name="T11" fmla="*/ 7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53" h="75">
                  <a:moveTo>
                    <a:pt x="0" y="73"/>
                  </a:moveTo>
                  <a:lnTo>
                    <a:pt x="853" y="75"/>
                  </a:lnTo>
                  <a:lnTo>
                    <a:pt x="853" y="0"/>
                  </a:lnTo>
                  <a:lnTo>
                    <a:pt x="0" y="0"/>
                  </a:lnTo>
                  <a:lnTo>
                    <a:pt x="0" y="75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15" name="Freeform 47"/>
            <p:cNvSpPr>
              <a:spLocks/>
            </p:cNvSpPr>
            <p:nvPr/>
          </p:nvSpPr>
          <p:spPr bwMode="auto">
            <a:xfrm>
              <a:off x="3085" y="2502"/>
              <a:ext cx="853" cy="75"/>
            </a:xfrm>
            <a:custGeom>
              <a:avLst/>
              <a:gdLst>
                <a:gd name="T0" fmla="*/ 0 w 853"/>
                <a:gd name="T1" fmla="*/ 73 h 75"/>
                <a:gd name="T2" fmla="*/ 853 w 853"/>
                <a:gd name="T3" fmla="*/ 75 h 75"/>
                <a:gd name="T4" fmla="*/ 853 w 853"/>
                <a:gd name="T5" fmla="*/ 0 h 75"/>
                <a:gd name="T6" fmla="*/ 0 w 853"/>
                <a:gd name="T7" fmla="*/ 0 h 75"/>
                <a:gd name="T8" fmla="*/ 0 w 853"/>
                <a:gd name="T9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3" h="75">
                  <a:moveTo>
                    <a:pt x="0" y="73"/>
                  </a:moveTo>
                  <a:lnTo>
                    <a:pt x="853" y="75"/>
                  </a:lnTo>
                  <a:lnTo>
                    <a:pt x="853" y="0"/>
                  </a:lnTo>
                  <a:lnTo>
                    <a:pt x="0" y="0"/>
                  </a:lnTo>
                  <a:lnTo>
                    <a:pt x="0" y="75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16" name="Rectangle 48"/>
            <p:cNvSpPr>
              <a:spLocks noChangeArrowheads="1"/>
            </p:cNvSpPr>
            <p:nvPr/>
          </p:nvSpPr>
          <p:spPr bwMode="auto">
            <a:xfrm>
              <a:off x="3105" y="2499"/>
              <a:ext cx="777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800">
                  <a:solidFill>
                    <a:srgbClr val="000000"/>
                  </a:solidFill>
                  <a:latin typeface="Arial" pitchFamily="34" charset="0"/>
                </a:rPr>
                <a:t>Cold-start (compulsory) traf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903217" name="Rectangle 49"/>
            <p:cNvSpPr>
              <a:spLocks noChangeArrowheads="1"/>
            </p:cNvSpPr>
            <p:nvPr/>
          </p:nvSpPr>
          <p:spPr bwMode="auto">
            <a:xfrm>
              <a:off x="3878" y="2499"/>
              <a:ext cx="64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800">
                  <a:solidFill>
                    <a:srgbClr val="000000"/>
                  </a:solidFill>
                  <a:latin typeface="Arial" pitchFamily="34" charset="0"/>
                </a:rPr>
                <a:t>fic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903218" name="Rectangle 50"/>
            <p:cNvSpPr>
              <a:spLocks noChangeArrowheads="1"/>
            </p:cNvSpPr>
            <p:nvPr/>
          </p:nvSpPr>
          <p:spPr bwMode="auto">
            <a:xfrm>
              <a:off x="3706" y="2602"/>
              <a:ext cx="1058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900">
                  <a:solidFill>
                    <a:srgbClr val="000000"/>
                  </a:solidFill>
                  <a:latin typeface="Arial" pitchFamily="34" charset="0"/>
                </a:rPr>
                <a:t>Replication capacity (cache size)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903219" name="Line 51"/>
            <p:cNvSpPr>
              <a:spLocks noChangeShapeType="1"/>
            </p:cNvSpPr>
            <p:nvPr/>
          </p:nvSpPr>
          <p:spPr bwMode="auto">
            <a:xfrm>
              <a:off x="2408" y="2327"/>
              <a:ext cx="34" cy="16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20" name="Line 52"/>
            <p:cNvSpPr>
              <a:spLocks noChangeShapeType="1"/>
            </p:cNvSpPr>
            <p:nvPr/>
          </p:nvSpPr>
          <p:spPr bwMode="auto">
            <a:xfrm>
              <a:off x="2446" y="2329"/>
              <a:ext cx="35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21" name="Line 53"/>
            <p:cNvSpPr>
              <a:spLocks noChangeShapeType="1"/>
            </p:cNvSpPr>
            <p:nvPr/>
          </p:nvSpPr>
          <p:spPr bwMode="auto">
            <a:xfrm>
              <a:off x="2484" y="2329"/>
              <a:ext cx="35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22" name="Line 54"/>
            <p:cNvSpPr>
              <a:spLocks noChangeShapeType="1"/>
            </p:cNvSpPr>
            <p:nvPr/>
          </p:nvSpPr>
          <p:spPr bwMode="auto">
            <a:xfrm>
              <a:off x="2523" y="2329"/>
              <a:ext cx="36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23" name="Line 55"/>
            <p:cNvSpPr>
              <a:spLocks noChangeShapeType="1"/>
            </p:cNvSpPr>
            <p:nvPr/>
          </p:nvSpPr>
          <p:spPr bwMode="auto">
            <a:xfrm>
              <a:off x="2563" y="2329"/>
              <a:ext cx="35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24" name="Line 56"/>
            <p:cNvSpPr>
              <a:spLocks noChangeShapeType="1"/>
            </p:cNvSpPr>
            <p:nvPr/>
          </p:nvSpPr>
          <p:spPr bwMode="auto">
            <a:xfrm>
              <a:off x="2602" y="2329"/>
              <a:ext cx="34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25" name="Line 57"/>
            <p:cNvSpPr>
              <a:spLocks noChangeShapeType="1"/>
            </p:cNvSpPr>
            <p:nvPr/>
          </p:nvSpPr>
          <p:spPr bwMode="auto">
            <a:xfrm>
              <a:off x="2640" y="2329"/>
              <a:ext cx="35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26" name="Line 58"/>
            <p:cNvSpPr>
              <a:spLocks noChangeShapeType="1"/>
            </p:cNvSpPr>
            <p:nvPr/>
          </p:nvSpPr>
          <p:spPr bwMode="auto">
            <a:xfrm>
              <a:off x="2678" y="2329"/>
              <a:ext cx="35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27" name="Line 59"/>
            <p:cNvSpPr>
              <a:spLocks noChangeShapeType="1"/>
            </p:cNvSpPr>
            <p:nvPr/>
          </p:nvSpPr>
          <p:spPr bwMode="auto">
            <a:xfrm>
              <a:off x="2717" y="2329"/>
              <a:ext cx="34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28" name="Line 60"/>
            <p:cNvSpPr>
              <a:spLocks noChangeShapeType="1"/>
            </p:cNvSpPr>
            <p:nvPr/>
          </p:nvSpPr>
          <p:spPr bwMode="auto">
            <a:xfrm>
              <a:off x="2755" y="2329"/>
              <a:ext cx="35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29" name="Line 61"/>
            <p:cNvSpPr>
              <a:spLocks noChangeShapeType="1"/>
            </p:cNvSpPr>
            <p:nvPr/>
          </p:nvSpPr>
          <p:spPr bwMode="auto">
            <a:xfrm>
              <a:off x="2794" y="2329"/>
              <a:ext cx="36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30" name="Line 62"/>
            <p:cNvSpPr>
              <a:spLocks noChangeShapeType="1"/>
            </p:cNvSpPr>
            <p:nvPr/>
          </p:nvSpPr>
          <p:spPr bwMode="auto">
            <a:xfrm>
              <a:off x="2834" y="2329"/>
              <a:ext cx="34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31" name="Line 63"/>
            <p:cNvSpPr>
              <a:spLocks noChangeShapeType="1"/>
            </p:cNvSpPr>
            <p:nvPr/>
          </p:nvSpPr>
          <p:spPr bwMode="auto">
            <a:xfrm>
              <a:off x="2872" y="2329"/>
              <a:ext cx="35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32" name="Line 64"/>
            <p:cNvSpPr>
              <a:spLocks noChangeShapeType="1"/>
            </p:cNvSpPr>
            <p:nvPr/>
          </p:nvSpPr>
          <p:spPr bwMode="auto">
            <a:xfrm>
              <a:off x="2911" y="2329"/>
              <a:ext cx="34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33" name="Line 65"/>
            <p:cNvSpPr>
              <a:spLocks noChangeShapeType="1"/>
            </p:cNvSpPr>
            <p:nvPr/>
          </p:nvSpPr>
          <p:spPr bwMode="auto">
            <a:xfrm>
              <a:off x="2949" y="2329"/>
              <a:ext cx="35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34" name="Line 66"/>
            <p:cNvSpPr>
              <a:spLocks noChangeShapeType="1"/>
            </p:cNvSpPr>
            <p:nvPr/>
          </p:nvSpPr>
          <p:spPr bwMode="auto">
            <a:xfrm>
              <a:off x="2988" y="2329"/>
              <a:ext cx="34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35" name="Line 67"/>
            <p:cNvSpPr>
              <a:spLocks noChangeShapeType="1"/>
            </p:cNvSpPr>
            <p:nvPr/>
          </p:nvSpPr>
          <p:spPr bwMode="auto">
            <a:xfrm>
              <a:off x="3026" y="2329"/>
              <a:ext cx="34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36" name="Line 68"/>
            <p:cNvSpPr>
              <a:spLocks noChangeShapeType="1"/>
            </p:cNvSpPr>
            <p:nvPr/>
          </p:nvSpPr>
          <p:spPr bwMode="auto">
            <a:xfrm>
              <a:off x="3064" y="2329"/>
              <a:ext cx="35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37" name="Line 69"/>
            <p:cNvSpPr>
              <a:spLocks noChangeShapeType="1"/>
            </p:cNvSpPr>
            <p:nvPr/>
          </p:nvSpPr>
          <p:spPr bwMode="auto">
            <a:xfrm>
              <a:off x="3105" y="2329"/>
              <a:ext cx="34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38" name="Line 70"/>
            <p:cNvSpPr>
              <a:spLocks noChangeShapeType="1"/>
            </p:cNvSpPr>
            <p:nvPr/>
          </p:nvSpPr>
          <p:spPr bwMode="auto">
            <a:xfrm>
              <a:off x="3143" y="2329"/>
              <a:ext cx="35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39" name="Line 71"/>
            <p:cNvSpPr>
              <a:spLocks noChangeShapeType="1"/>
            </p:cNvSpPr>
            <p:nvPr/>
          </p:nvSpPr>
          <p:spPr bwMode="auto">
            <a:xfrm>
              <a:off x="3181" y="2329"/>
              <a:ext cx="35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40" name="Line 72"/>
            <p:cNvSpPr>
              <a:spLocks noChangeShapeType="1"/>
            </p:cNvSpPr>
            <p:nvPr/>
          </p:nvSpPr>
          <p:spPr bwMode="auto">
            <a:xfrm>
              <a:off x="3220" y="2329"/>
              <a:ext cx="34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41" name="Line 73"/>
            <p:cNvSpPr>
              <a:spLocks noChangeShapeType="1"/>
            </p:cNvSpPr>
            <p:nvPr/>
          </p:nvSpPr>
          <p:spPr bwMode="auto">
            <a:xfrm>
              <a:off x="3258" y="2329"/>
              <a:ext cx="35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42" name="Line 74"/>
            <p:cNvSpPr>
              <a:spLocks noChangeShapeType="1"/>
            </p:cNvSpPr>
            <p:nvPr/>
          </p:nvSpPr>
          <p:spPr bwMode="auto">
            <a:xfrm>
              <a:off x="3297" y="2329"/>
              <a:ext cx="34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43" name="Line 75"/>
            <p:cNvSpPr>
              <a:spLocks noChangeShapeType="1"/>
            </p:cNvSpPr>
            <p:nvPr/>
          </p:nvSpPr>
          <p:spPr bwMode="auto">
            <a:xfrm>
              <a:off x="3335" y="2329"/>
              <a:ext cx="35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44" name="Line 76"/>
            <p:cNvSpPr>
              <a:spLocks noChangeShapeType="1"/>
            </p:cNvSpPr>
            <p:nvPr/>
          </p:nvSpPr>
          <p:spPr bwMode="auto">
            <a:xfrm>
              <a:off x="3373" y="2329"/>
              <a:ext cx="37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45" name="Line 77"/>
            <p:cNvSpPr>
              <a:spLocks noChangeShapeType="1"/>
            </p:cNvSpPr>
            <p:nvPr/>
          </p:nvSpPr>
          <p:spPr bwMode="auto">
            <a:xfrm>
              <a:off x="3414" y="2329"/>
              <a:ext cx="34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46" name="Line 78"/>
            <p:cNvSpPr>
              <a:spLocks noChangeShapeType="1"/>
            </p:cNvSpPr>
            <p:nvPr/>
          </p:nvSpPr>
          <p:spPr bwMode="auto">
            <a:xfrm>
              <a:off x="3452" y="2329"/>
              <a:ext cx="35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47" name="Line 79"/>
            <p:cNvSpPr>
              <a:spLocks noChangeShapeType="1"/>
            </p:cNvSpPr>
            <p:nvPr/>
          </p:nvSpPr>
          <p:spPr bwMode="auto">
            <a:xfrm>
              <a:off x="3491" y="2329"/>
              <a:ext cx="34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48" name="Line 80"/>
            <p:cNvSpPr>
              <a:spLocks noChangeShapeType="1"/>
            </p:cNvSpPr>
            <p:nvPr/>
          </p:nvSpPr>
          <p:spPr bwMode="auto">
            <a:xfrm>
              <a:off x="3529" y="2329"/>
              <a:ext cx="35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49" name="Line 81"/>
            <p:cNvSpPr>
              <a:spLocks noChangeShapeType="1"/>
            </p:cNvSpPr>
            <p:nvPr/>
          </p:nvSpPr>
          <p:spPr bwMode="auto">
            <a:xfrm>
              <a:off x="3567" y="2329"/>
              <a:ext cx="35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50" name="Line 82"/>
            <p:cNvSpPr>
              <a:spLocks noChangeShapeType="1"/>
            </p:cNvSpPr>
            <p:nvPr/>
          </p:nvSpPr>
          <p:spPr bwMode="auto">
            <a:xfrm>
              <a:off x="3606" y="2329"/>
              <a:ext cx="34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51" name="Line 83"/>
            <p:cNvSpPr>
              <a:spLocks noChangeShapeType="1"/>
            </p:cNvSpPr>
            <p:nvPr/>
          </p:nvSpPr>
          <p:spPr bwMode="auto">
            <a:xfrm>
              <a:off x="3644" y="2329"/>
              <a:ext cx="37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52" name="Line 84"/>
            <p:cNvSpPr>
              <a:spLocks noChangeShapeType="1"/>
            </p:cNvSpPr>
            <p:nvPr/>
          </p:nvSpPr>
          <p:spPr bwMode="auto">
            <a:xfrm>
              <a:off x="3685" y="2329"/>
              <a:ext cx="34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53" name="Line 85"/>
            <p:cNvSpPr>
              <a:spLocks noChangeShapeType="1"/>
            </p:cNvSpPr>
            <p:nvPr/>
          </p:nvSpPr>
          <p:spPr bwMode="auto">
            <a:xfrm>
              <a:off x="3723" y="2329"/>
              <a:ext cx="34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54" name="Line 86"/>
            <p:cNvSpPr>
              <a:spLocks noChangeShapeType="1"/>
            </p:cNvSpPr>
            <p:nvPr/>
          </p:nvSpPr>
          <p:spPr bwMode="auto">
            <a:xfrm>
              <a:off x="3761" y="2329"/>
              <a:ext cx="35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55" name="Line 87"/>
            <p:cNvSpPr>
              <a:spLocks noChangeShapeType="1"/>
            </p:cNvSpPr>
            <p:nvPr/>
          </p:nvSpPr>
          <p:spPr bwMode="auto">
            <a:xfrm>
              <a:off x="3800" y="2329"/>
              <a:ext cx="34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56" name="Line 88"/>
            <p:cNvSpPr>
              <a:spLocks noChangeShapeType="1"/>
            </p:cNvSpPr>
            <p:nvPr/>
          </p:nvSpPr>
          <p:spPr bwMode="auto">
            <a:xfrm>
              <a:off x="3838" y="2329"/>
              <a:ext cx="35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57" name="Line 89"/>
            <p:cNvSpPr>
              <a:spLocks noChangeShapeType="1"/>
            </p:cNvSpPr>
            <p:nvPr/>
          </p:nvSpPr>
          <p:spPr bwMode="auto">
            <a:xfrm>
              <a:off x="3877" y="2329"/>
              <a:ext cx="34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58" name="Line 90"/>
            <p:cNvSpPr>
              <a:spLocks noChangeShapeType="1"/>
            </p:cNvSpPr>
            <p:nvPr/>
          </p:nvSpPr>
          <p:spPr bwMode="auto">
            <a:xfrm>
              <a:off x="3915" y="2329"/>
              <a:ext cx="36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59" name="Line 91"/>
            <p:cNvSpPr>
              <a:spLocks noChangeShapeType="1"/>
            </p:cNvSpPr>
            <p:nvPr/>
          </p:nvSpPr>
          <p:spPr bwMode="auto">
            <a:xfrm>
              <a:off x="3955" y="2329"/>
              <a:ext cx="35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60" name="Line 92"/>
            <p:cNvSpPr>
              <a:spLocks noChangeShapeType="1"/>
            </p:cNvSpPr>
            <p:nvPr/>
          </p:nvSpPr>
          <p:spPr bwMode="auto">
            <a:xfrm>
              <a:off x="3994" y="2329"/>
              <a:ext cx="34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61" name="Line 93"/>
            <p:cNvSpPr>
              <a:spLocks noChangeShapeType="1"/>
            </p:cNvSpPr>
            <p:nvPr/>
          </p:nvSpPr>
          <p:spPr bwMode="auto">
            <a:xfrm>
              <a:off x="4032" y="2329"/>
              <a:ext cx="35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62" name="Line 94"/>
            <p:cNvSpPr>
              <a:spLocks noChangeShapeType="1"/>
            </p:cNvSpPr>
            <p:nvPr/>
          </p:nvSpPr>
          <p:spPr bwMode="auto">
            <a:xfrm>
              <a:off x="4070" y="2329"/>
              <a:ext cx="35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63" name="Line 95"/>
            <p:cNvSpPr>
              <a:spLocks noChangeShapeType="1"/>
            </p:cNvSpPr>
            <p:nvPr/>
          </p:nvSpPr>
          <p:spPr bwMode="auto">
            <a:xfrm>
              <a:off x="4109" y="2329"/>
              <a:ext cx="34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64" name="Line 96"/>
            <p:cNvSpPr>
              <a:spLocks noChangeShapeType="1"/>
            </p:cNvSpPr>
            <p:nvPr/>
          </p:nvSpPr>
          <p:spPr bwMode="auto">
            <a:xfrm>
              <a:off x="4147" y="2329"/>
              <a:ext cx="35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65" name="Line 97"/>
            <p:cNvSpPr>
              <a:spLocks noChangeShapeType="1"/>
            </p:cNvSpPr>
            <p:nvPr/>
          </p:nvSpPr>
          <p:spPr bwMode="auto">
            <a:xfrm>
              <a:off x="4186" y="2329"/>
              <a:ext cx="36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66" name="Line 98"/>
            <p:cNvSpPr>
              <a:spLocks noChangeShapeType="1"/>
            </p:cNvSpPr>
            <p:nvPr/>
          </p:nvSpPr>
          <p:spPr bwMode="auto">
            <a:xfrm>
              <a:off x="4226" y="2329"/>
              <a:ext cx="35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67" name="Line 99"/>
            <p:cNvSpPr>
              <a:spLocks noChangeShapeType="1"/>
            </p:cNvSpPr>
            <p:nvPr/>
          </p:nvSpPr>
          <p:spPr bwMode="auto">
            <a:xfrm>
              <a:off x="4264" y="2329"/>
              <a:ext cx="35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68" name="Line 100"/>
            <p:cNvSpPr>
              <a:spLocks noChangeShapeType="1"/>
            </p:cNvSpPr>
            <p:nvPr/>
          </p:nvSpPr>
          <p:spPr bwMode="auto">
            <a:xfrm>
              <a:off x="4303" y="2329"/>
              <a:ext cx="34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69" name="Line 101"/>
            <p:cNvSpPr>
              <a:spLocks noChangeShapeType="1"/>
            </p:cNvSpPr>
            <p:nvPr/>
          </p:nvSpPr>
          <p:spPr bwMode="auto">
            <a:xfrm>
              <a:off x="4341" y="2329"/>
              <a:ext cx="35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70" name="Line 102"/>
            <p:cNvSpPr>
              <a:spLocks noChangeShapeType="1"/>
            </p:cNvSpPr>
            <p:nvPr/>
          </p:nvSpPr>
          <p:spPr bwMode="auto">
            <a:xfrm>
              <a:off x="4380" y="2329"/>
              <a:ext cx="34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71" name="Line 103"/>
            <p:cNvSpPr>
              <a:spLocks noChangeShapeType="1"/>
            </p:cNvSpPr>
            <p:nvPr/>
          </p:nvSpPr>
          <p:spPr bwMode="auto">
            <a:xfrm>
              <a:off x="4418" y="2329"/>
              <a:ext cx="35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72" name="Line 104"/>
            <p:cNvSpPr>
              <a:spLocks noChangeShapeType="1"/>
            </p:cNvSpPr>
            <p:nvPr/>
          </p:nvSpPr>
          <p:spPr bwMode="auto">
            <a:xfrm>
              <a:off x="4456" y="2329"/>
              <a:ext cx="35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73" name="Line 105"/>
            <p:cNvSpPr>
              <a:spLocks noChangeShapeType="1"/>
            </p:cNvSpPr>
            <p:nvPr/>
          </p:nvSpPr>
          <p:spPr bwMode="auto">
            <a:xfrm>
              <a:off x="4497" y="2329"/>
              <a:ext cx="34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74" name="Line 106"/>
            <p:cNvSpPr>
              <a:spLocks noChangeShapeType="1"/>
            </p:cNvSpPr>
            <p:nvPr/>
          </p:nvSpPr>
          <p:spPr bwMode="auto">
            <a:xfrm>
              <a:off x="4535" y="2329"/>
              <a:ext cx="35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75" name="Line 107"/>
            <p:cNvSpPr>
              <a:spLocks noChangeShapeType="1"/>
            </p:cNvSpPr>
            <p:nvPr/>
          </p:nvSpPr>
          <p:spPr bwMode="auto">
            <a:xfrm>
              <a:off x="4573" y="2329"/>
              <a:ext cx="35" cy="15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76" name="Freeform 108"/>
            <p:cNvSpPr>
              <a:spLocks/>
            </p:cNvSpPr>
            <p:nvPr/>
          </p:nvSpPr>
          <p:spPr bwMode="auto">
            <a:xfrm>
              <a:off x="3153" y="2365"/>
              <a:ext cx="716" cy="79"/>
            </a:xfrm>
            <a:custGeom>
              <a:avLst/>
              <a:gdLst>
                <a:gd name="T0" fmla="*/ 0 w 716"/>
                <a:gd name="T1" fmla="*/ 77 h 79"/>
                <a:gd name="T2" fmla="*/ 716 w 716"/>
                <a:gd name="T3" fmla="*/ 79 h 79"/>
                <a:gd name="T4" fmla="*/ 716 w 716"/>
                <a:gd name="T5" fmla="*/ 0 h 79"/>
                <a:gd name="T6" fmla="*/ 2 w 716"/>
                <a:gd name="T7" fmla="*/ 0 h 79"/>
                <a:gd name="T8" fmla="*/ 2 w 716"/>
                <a:gd name="T9" fmla="*/ 79 h 79"/>
                <a:gd name="T10" fmla="*/ 0 w 716"/>
                <a:gd name="T11" fmla="*/ 77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6" h="79">
                  <a:moveTo>
                    <a:pt x="0" y="77"/>
                  </a:moveTo>
                  <a:lnTo>
                    <a:pt x="716" y="79"/>
                  </a:lnTo>
                  <a:lnTo>
                    <a:pt x="716" y="0"/>
                  </a:lnTo>
                  <a:lnTo>
                    <a:pt x="2" y="0"/>
                  </a:lnTo>
                  <a:lnTo>
                    <a:pt x="2" y="79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77" name="Freeform 109"/>
            <p:cNvSpPr>
              <a:spLocks/>
            </p:cNvSpPr>
            <p:nvPr/>
          </p:nvSpPr>
          <p:spPr bwMode="auto">
            <a:xfrm>
              <a:off x="3153" y="2365"/>
              <a:ext cx="716" cy="79"/>
            </a:xfrm>
            <a:custGeom>
              <a:avLst/>
              <a:gdLst>
                <a:gd name="T0" fmla="*/ 0 w 716"/>
                <a:gd name="T1" fmla="*/ 77 h 79"/>
                <a:gd name="T2" fmla="*/ 716 w 716"/>
                <a:gd name="T3" fmla="*/ 79 h 79"/>
                <a:gd name="T4" fmla="*/ 716 w 716"/>
                <a:gd name="T5" fmla="*/ 0 h 79"/>
                <a:gd name="T6" fmla="*/ 2 w 716"/>
                <a:gd name="T7" fmla="*/ 0 h 79"/>
                <a:gd name="T8" fmla="*/ 2 w 716"/>
                <a:gd name="T9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6" h="79">
                  <a:moveTo>
                    <a:pt x="0" y="77"/>
                  </a:moveTo>
                  <a:lnTo>
                    <a:pt x="716" y="79"/>
                  </a:lnTo>
                  <a:lnTo>
                    <a:pt x="716" y="0"/>
                  </a:lnTo>
                  <a:lnTo>
                    <a:pt x="2" y="0"/>
                  </a:lnTo>
                  <a:lnTo>
                    <a:pt x="2" y="79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3278" name="Rectangle 110"/>
            <p:cNvSpPr>
              <a:spLocks noChangeArrowheads="1"/>
            </p:cNvSpPr>
            <p:nvPr/>
          </p:nvSpPr>
          <p:spPr bwMode="auto">
            <a:xfrm>
              <a:off x="3178" y="2367"/>
              <a:ext cx="147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800">
                  <a:solidFill>
                    <a:srgbClr val="000000"/>
                  </a:solidFill>
                  <a:latin typeface="Arial" pitchFamily="34" charset="0"/>
                </a:rPr>
                <a:t>Inher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903279" name="Rectangle 111"/>
            <p:cNvSpPr>
              <a:spLocks noChangeArrowheads="1"/>
            </p:cNvSpPr>
            <p:nvPr/>
          </p:nvSpPr>
          <p:spPr bwMode="auto">
            <a:xfrm>
              <a:off x="3322" y="2367"/>
              <a:ext cx="540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800">
                  <a:solidFill>
                    <a:srgbClr val="000000"/>
                  </a:solidFill>
                  <a:latin typeface="Arial" pitchFamily="34" charset="0"/>
                </a:rPr>
                <a:t>ent communication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903280" name="Text Box 112"/>
            <p:cNvSpPr txBox="1">
              <a:spLocks noChangeArrowheads="1"/>
            </p:cNvSpPr>
            <p:nvPr/>
          </p:nvSpPr>
          <p:spPr bwMode="auto">
            <a:xfrm>
              <a:off x="2400" y="2976"/>
              <a:ext cx="2271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latin typeface="Comic Sans MS" pitchFamily="66" charset="0"/>
                </a:rPr>
                <a:t>Example LU Decomposition</a:t>
              </a:r>
            </a:p>
            <a:p>
              <a:r>
                <a:rPr lang="en-US">
                  <a:latin typeface="Comic Sans MS" pitchFamily="66" charset="0"/>
                </a:rPr>
                <a:t>from NAS Parallel Benchmarks</a:t>
              </a:r>
            </a:p>
          </p:txBody>
        </p:sp>
      </p:grp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dirty="0">
                <a:ea typeface="宋体" pitchFamily="2" charset="-122"/>
              </a:rPr>
              <a:t>Higher Associativity</a:t>
            </a:r>
            <a:endParaRPr lang="en-US" altLang="zh-CN" sz="2200" i="1" dirty="0">
              <a:solidFill>
                <a:srgbClr val="000000"/>
              </a:solidFill>
              <a:ea typeface="宋体" pitchFamily="2" charset="-122"/>
            </a:endParaRPr>
          </a:p>
          <a:p>
            <a:pPr lvl="1">
              <a:lnSpc>
                <a:spcPct val="80000"/>
              </a:lnSpc>
            </a:pPr>
            <a:r>
              <a:rPr lang="en-US" altLang="zh-CN" sz="1800" dirty="0">
                <a:solidFill>
                  <a:srgbClr val="000000"/>
                </a:solidFill>
                <a:ea typeface="宋体" pitchFamily="2" charset="-122"/>
              </a:rPr>
              <a:t>Conflict</a:t>
            </a:r>
            <a:r>
              <a:rPr lang="en-US" altLang="zh-CN" sz="1800" dirty="0">
                <a:ea typeface="宋体" pitchFamily="2" charset="-122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ea typeface="宋体" pitchFamily="2" charset="-122"/>
              </a:rPr>
              <a:t>misses can be a problem for caches with low associativity (especially direct-mapped). </a:t>
            </a:r>
            <a:endParaRPr lang="en-US" altLang="zh-CN" sz="1800" dirty="0">
              <a:ea typeface="宋体" pitchFamily="2" charset="-122"/>
            </a:endParaRPr>
          </a:p>
          <a:p>
            <a:pPr lvl="1">
              <a:lnSpc>
                <a:spcPct val="80000"/>
              </a:lnSpc>
            </a:pPr>
            <a:r>
              <a:rPr lang="en-US" altLang="zh-CN" sz="1800" dirty="0">
                <a:solidFill>
                  <a:srgbClr val="000000"/>
                </a:solidFill>
                <a:ea typeface="宋体" pitchFamily="2" charset="-122"/>
              </a:rPr>
              <a:t>With higher associativity decreasing Conflict</a:t>
            </a:r>
            <a:r>
              <a:rPr lang="en-US" altLang="zh-CN" sz="1800" dirty="0">
                <a:ea typeface="宋体" pitchFamily="2" charset="-122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ea typeface="宋体" pitchFamily="2" charset="-122"/>
              </a:rPr>
              <a:t>misses to improve miss rate</a:t>
            </a:r>
          </a:p>
          <a:p>
            <a:pPr lvl="1">
              <a:lnSpc>
                <a:spcPct val="80000"/>
              </a:lnSpc>
            </a:pPr>
            <a:endParaRPr lang="en-US" altLang="zh-CN" sz="1800" i="1" dirty="0">
              <a:solidFill>
                <a:srgbClr val="000000"/>
              </a:solidFill>
              <a:ea typeface="宋体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dirty="0">
                <a:ea typeface="宋体" pitchFamily="2" charset="-122"/>
              </a:rPr>
              <a:t>Cache rule of thumb </a:t>
            </a:r>
            <a:endParaRPr lang="en-US" altLang="zh-CN" sz="2200" dirty="0">
              <a:ea typeface="宋体" pitchFamily="2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sz="1800" dirty="0">
                <a:solidFill>
                  <a:schemeClr val="hlink"/>
                </a:solidFill>
                <a:ea typeface="宋体" pitchFamily="2" charset="-122"/>
              </a:rPr>
              <a:t>2:1 </a:t>
            </a:r>
            <a:r>
              <a:rPr lang="en-US" altLang="zh-CN" sz="1800" dirty="0">
                <a:solidFill>
                  <a:schemeClr val="hlink"/>
                </a:solidFill>
                <a:ea typeface="宋体" pitchFamily="2" charset="-122"/>
              </a:rPr>
              <a:t>rule of thumb</a:t>
            </a:r>
            <a:r>
              <a:rPr lang="zh-CN" altLang="en-US" sz="2200" dirty="0">
                <a:solidFill>
                  <a:schemeClr val="hlink"/>
                </a:solidFill>
                <a:ea typeface="宋体" pitchFamily="2" charset="-122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ea typeface="宋体" pitchFamily="2" charset="-122"/>
              </a:rPr>
              <a:t>a direct-mapped cache of size N has the same miss rate as a 2-way set-associative cache of size N/2. </a:t>
            </a:r>
          </a:p>
          <a:p>
            <a:pPr lvl="1">
              <a:lnSpc>
                <a:spcPct val="80000"/>
              </a:lnSpc>
            </a:pPr>
            <a:r>
              <a:rPr lang="en-US" altLang="zh-CN" sz="1800" dirty="0">
                <a:solidFill>
                  <a:srgbClr val="000000"/>
                </a:solidFill>
                <a:ea typeface="宋体" pitchFamily="2" charset="-122"/>
              </a:rPr>
              <a:t>Eight-way set associative is for practical purposes as effective in reducing misses for these sized cache as fully associative.</a:t>
            </a:r>
            <a:endParaRPr lang="zh-CN" altLang="en-US" sz="1800" dirty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904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Third Miss Rate Reduction Technique:</a:t>
            </a:r>
            <a:endParaRPr lang="zh-CN" altLang="en-US" dirty="0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219" name="Rectangle 3"/>
          <p:cNvSpPr>
            <a:spLocks noGrp="1" noChangeArrowheads="1"/>
          </p:cNvSpPr>
          <p:nvPr>
            <p:ph type="title"/>
          </p:nvPr>
        </p:nvSpPr>
        <p:spPr>
          <a:xfrm>
            <a:off x="2209800" y="381000"/>
            <a:ext cx="7162800" cy="1143000"/>
          </a:xfrm>
          <a:noFill/>
          <a:ln/>
        </p:spPr>
        <p:txBody>
          <a:bodyPr vert="horz" lIns="90488" tIns="45720" rIns="90488" bIns="45720" rtlCol="0" anchor="ctr">
            <a:noAutofit/>
          </a:bodyPr>
          <a:lstStyle/>
          <a:p>
            <a:r>
              <a:rPr lang="en-US"/>
              <a:t>Associativity</a:t>
            </a:r>
          </a:p>
        </p:txBody>
      </p:sp>
      <p:pic>
        <p:nvPicPr>
          <p:cNvPr id="905218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838200"/>
            <a:ext cx="74422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05220" name="Rectangle 4"/>
          <p:cNvSpPr>
            <a:spLocks noChangeArrowheads="1"/>
          </p:cNvSpPr>
          <p:nvPr/>
        </p:nvSpPr>
        <p:spPr bwMode="auto">
          <a:xfrm>
            <a:off x="6208714" y="1497013"/>
            <a:ext cx="1210269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/>
            <a:r>
              <a:rPr lang="en-US" sz="2400">
                <a:latin typeface="Arial" pitchFamily="34" charset="0"/>
              </a:rPr>
              <a:t>Conflict</a:t>
            </a:r>
          </a:p>
        </p:txBody>
      </p:sp>
      <p:sp>
        <p:nvSpPr>
          <p:cNvPr id="905221" name="Line 5"/>
          <p:cNvSpPr>
            <a:spLocks noChangeShapeType="1"/>
          </p:cNvSpPr>
          <p:nvPr/>
        </p:nvSpPr>
        <p:spPr bwMode="auto">
          <a:xfrm>
            <a:off x="5130800" y="1428750"/>
            <a:ext cx="1130300" cy="215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5222" name="Line 6"/>
          <p:cNvSpPr>
            <a:spLocks noChangeShapeType="1"/>
          </p:cNvSpPr>
          <p:nvPr/>
        </p:nvSpPr>
        <p:spPr bwMode="auto">
          <a:xfrm>
            <a:off x="6407150" y="1866900"/>
            <a:ext cx="311150" cy="882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5223" name="Line 7"/>
          <p:cNvSpPr>
            <a:spLocks noChangeShapeType="1"/>
          </p:cNvSpPr>
          <p:nvPr/>
        </p:nvSpPr>
        <p:spPr bwMode="auto">
          <a:xfrm flipV="1">
            <a:off x="5105400" y="2711450"/>
            <a:ext cx="0" cy="174625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5224" name="Line 8"/>
          <p:cNvSpPr>
            <a:spLocks noChangeShapeType="1"/>
          </p:cNvSpPr>
          <p:nvPr/>
        </p:nvSpPr>
        <p:spPr bwMode="auto">
          <a:xfrm flipH="1">
            <a:off x="3517900" y="2774950"/>
            <a:ext cx="1612900" cy="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5225" name="Line 9"/>
          <p:cNvSpPr>
            <a:spLocks noChangeShapeType="1"/>
          </p:cNvSpPr>
          <p:nvPr/>
        </p:nvSpPr>
        <p:spPr bwMode="auto">
          <a:xfrm>
            <a:off x="5105400" y="3200400"/>
            <a:ext cx="4572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Beware: Execution time is only final measure!</a:t>
            </a:r>
          </a:p>
          <a:p>
            <a:r>
              <a:rPr lang="en-US" dirty="0"/>
              <a:t>Why is cycle time tied to hit time?</a:t>
            </a:r>
          </a:p>
          <a:p>
            <a:pPr lvl="1"/>
            <a:endParaRPr lang="en-US" dirty="0"/>
          </a:p>
          <a:p>
            <a:r>
              <a:rPr lang="en-US" dirty="0"/>
              <a:t>Will Clock Cycle time increase?</a:t>
            </a:r>
          </a:p>
          <a:p>
            <a:pPr lvl="1"/>
            <a:r>
              <a:rPr lang="en-US" dirty="0"/>
              <a:t>Hill [1988] suggested hit time for 2-way vs. 1-way </a:t>
            </a:r>
            <a:br>
              <a:rPr lang="en-US" dirty="0"/>
            </a:br>
            <a:r>
              <a:rPr lang="en-US" dirty="0"/>
              <a:t>external cache +10%, </a:t>
            </a:r>
            <a:br>
              <a:rPr lang="en-US" dirty="0"/>
            </a:br>
            <a:r>
              <a:rPr lang="en-US" dirty="0"/>
              <a:t>internal + 2% </a:t>
            </a:r>
          </a:p>
          <a:p>
            <a:pPr lvl="1"/>
            <a:r>
              <a:rPr lang="en-US" dirty="0"/>
              <a:t>suggested big and dumb caches</a:t>
            </a:r>
          </a:p>
          <a:p>
            <a:endParaRPr lang="en-US" dirty="0"/>
          </a:p>
          <a:p>
            <a:r>
              <a:rPr lang="en-US" dirty="0"/>
              <a:t>Effective cycle time of </a:t>
            </a:r>
            <a:r>
              <a:rPr lang="en-US" dirty="0" err="1"/>
              <a:t>assoc</a:t>
            </a:r>
            <a:endParaRPr lang="en-US" dirty="0"/>
          </a:p>
          <a:p>
            <a:pPr lvl="1"/>
            <a:r>
              <a:rPr lang="en-US" dirty="0" err="1"/>
              <a:t>pzrbski</a:t>
            </a:r>
            <a:r>
              <a:rPr lang="en-US" dirty="0"/>
              <a:t> ISCA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906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Associativity vs Cycle Time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267" name="Rectangle 3"/>
          <p:cNvSpPr>
            <a:spLocks noGrp="1" noChangeArrowheads="1"/>
          </p:cNvSpPr>
          <p:nvPr>
            <p:ph idx="1"/>
          </p:nvPr>
        </p:nvSpPr>
        <p:spPr>
          <a:xfrm>
            <a:off x="839416" y="1219200"/>
            <a:ext cx="10513168" cy="51816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3200" dirty="0"/>
              <a:t>Assume: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dirty="0"/>
              <a:t>Clock Cycle time</a:t>
            </a:r>
            <a:r>
              <a:rPr lang="en-US" baseline="-25000" dirty="0"/>
              <a:t>2-way</a:t>
            </a:r>
            <a:r>
              <a:rPr lang="en-US" dirty="0"/>
              <a:t> = 1.36</a:t>
            </a:r>
            <a:r>
              <a:rPr lang="en-US" altLang="zh-CN" dirty="0">
                <a:ea typeface="宋体" pitchFamily="2" charset="-122"/>
              </a:rPr>
              <a:t>×</a:t>
            </a:r>
            <a:r>
              <a:rPr lang="en-US" dirty="0"/>
              <a:t>Clock Cycle time</a:t>
            </a:r>
            <a:r>
              <a:rPr lang="en-US" baseline="-25000" dirty="0"/>
              <a:t>1-way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/>
              <a:t>	 Clock Cycle time</a:t>
            </a:r>
            <a:r>
              <a:rPr lang="en-US" sz="2000" baseline="-25000" dirty="0"/>
              <a:t>4-way</a:t>
            </a:r>
            <a:r>
              <a:rPr lang="en-US" sz="2000" dirty="0"/>
              <a:t> = 1.44</a:t>
            </a:r>
            <a:r>
              <a:rPr lang="en-US" altLang="zh-CN" sz="2000" dirty="0">
                <a:ea typeface="宋体" pitchFamily="2" charset="-122"/>
              </a:rPr>
              <a:t>×</a:t>
            </a:r>
            <a:r>
              <a:rPr lang="en-US" sz="2000" dirty="0"/>
              <a:t>Clock Cycle time</a:t>
            </a:r>
            <a:r>
              <a:rPr lang="en-US" sz="2000" baseline="-25000" dirty="0"/>
              <a:t>1-way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/>
              <a:t>	 Clock Cycle time</a:t>
            </a:r>
            <a:r>
              <a:rPr lang="en-US" sz="2000" baseline="-25000" dirty="0"/>
              <a:t>8-way</a:t>
            </a:r>
            <a:r>
              <a:rPr lang="en-US" sz="2000" dirty="0"/>
              <a:t> = 1.52</a:t>
            </a:r>
            <a:r>
              <a:rPr lang="en-US" altLang="zh-CN" sz="2000" dirty="0">
                <a:ea typeface="宋体" pitchFamily="2" charset="-122"/>
              </a:rPr>
              <a:t>×</a:t>
            </a:r>
            <a:r>
              <a:rPr lang="en-US" sz="2000" dirty="0"/>
              <a:t>Clock Cycle time</a:t>
            </a:r>
            <a:r>
              <a:rPr lang="en-US" sz="2000" baseline="-25000" dirty="0"/>
              <a:t>1-way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000" baseline="-250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dirty="0">
                <a:ea typeface="宋体" pitchFamily="2" charset="-122"/>
              </a:rPr>
              <a:t>Hit time: 1 CLK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dirty="0">
                <a:ea typeface="宋体" pitchFamily="2" charset="-122"/>
              </a:rPr>
              <a:t>Miss </a:t>
            </a:r>
            <a:r>
              <a:rPr lang="en-US" altLang="zh-CN" dirty="0" err="1">
                <a:ea typeface="宋体" pitchFamily="2" charset="-122"/>
              </a:rPr>
              <a:t>penalty</a:t>
            </a:r>
            <a:r>
              <a:rPr lang="en-US" altLang="zh-CN" baseline="-25000" dirty="0" err="1">
                <a:ea typeface="宋体" pitchFamily="2" charset="-122"/>
              </a:rPr>
              <a:t>direct</a:t>
            </a:r>
            <a:r>
              <a:rPr lang="en-US" altLang="zh-CN" baseline="-25000" dirty="0">
                <a:ea typeface="宋体" pitchFamily="2" charset="-122"/>
              </a:rPr>
              <a:t>-mapped</a:t>
            </a:r>
            <a:r>
              <a:rPr lang="en-US" altLang="zh-CN" dirty="0">
                <a:ea typeface="宋体" pitchFamily="2" charset="-122"/>
              </a:rPr>
              <a:t>:</a:t>
            </a:r>
            <a:r>
              <a:rPr lang="en-US" altLang="zh-CN" baseline="-25000" dirty="0"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25 CLK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dirty="0">
                <a:ea typeface="宋体" pitchFamily="2" charset="-122"/>
              </a:rPr>
              <a:t>L2 cache that never misses, and that the penalty need not rounded to integral number of clock cycle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dirty="0">
                <a:ea typeface="宋体" pitchFamily="2" charset="-122"/>
              </a:rPr>
              <a:t>Using Figure 5.14(p424) for miss rates, which cache sizes each of these three statements true?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zh-CN" dirty="0">
              <a:ea typeface="宋体" pitchFamily="2" charset="-12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Average memory access time</a:t>
            </a:r>
            <a:r>
              <a:rPr lang="en-US" altLang="zh-CN" sz="2000" baseline="-25000" dirty="0">
                <a:ea typeface="宋体" pitchFamily="2" charset="-122"/>
              </a:rPr>
              <a:t>8-way</a:t>
            </a:r>
            <a:r>
              <a:rPr lang="en-US" altLang="zh-CN" sz="2000" dirty="0">
                <a:ea typeface="宋体" pitchFamily="2" charset="-122"/>
              </a:rPr>
              <a:t>&lt; Average memory access time</a:t>
            </a:r>
            <a:r>
              <a:rPr lang="en-US" altLang="zh-CN" sz="2000" baseline="-25000" dirty="0">
                <a:ea typeface="宋体" pitchFamily="2" charset="-122"/>
              </a:rPr>
              <a:t>4-way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Average memory access time</a:t>
            </a:r>
            <a:r>
              <a:rPr lang="en-US" altLang="zh-CN" sz="2000" baseline="-25000" dirty="0">
                <a:ea typeface="宋体" pitchFamily="2" charset="-122"/>
              </a:rPr>
              <a:t>4-way</a:t>
            </a:r>
            <a:r>
              <a:rPr lang="en-US" altLang="zh-CN" sz="2000" dirty="0">
                <a:ea typeface="宋体" pitchFamily="2" charset="-122"/>
              </a:rPr>
              <a:t>&lt; Average memory access time</a:t>
            </a:r>
            <a:r>
              <a:rPr lang="en-US" altLang="zh-CN" sz="2000" baseline="-25000" dirty="0">
                <a:ea typeface="宋体" pitchFamily="2" charset="-122"/>
              </a:rPr>
              <a:t>2-way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Average memory access time</a:t>
            </a:r>
            <a:r>
              <a:rPr lang="en-US" altLang="zh-CN" sz="2000" baseline="-25000" dirty="0">
                <a:ea typeface="宋体" pitchFamily="2" charset="-122"/>
              </a:rPr>
              <a:t>2-way</a:t>
            </a:r>
            <a:r>
              <a:rPr lang="en-US" altLang="zh-CN" sz="2000" dirty="0">
                <a:ea typeface="宋体" pitchFamily="2" charset="-122"/>
              </a:rPr>
              <a:t>&lt; Average memory access time</a:t>
            </a:r>
            <a:r>
              <a:rPr lang="en-US" altLang="zh-CN" sz="2000" baseline="-25000" dirty="0">
                <a:ea typeface="宋体" pitchFamily="2" charset="-122"/>
              </a:rPr>
              <a:t>1-way</a:t>
            </a:r>
            <a:endParaRPr lang="en-US" altLang="zh-CN" sz="2000" dirty="0">
              <a:ea typeface="宋体" pitchFamily="2" charset="-122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zh-CN" altLang="en-US" dirty="0">
              <a:ea typeface="宋体" pitchFamily="2" charset="-122"/>
            </a:endParaRPr>
          </a:p>
        </p:txBody>
      </p:sp>
      <p:sp>
        <p:nvSpPr>
          <p:cNvPr id="907266" name="Rectangle 2"/>
          <p:cNvSpPr>
            <a:spLocks noGrp="1" noChangeArrowheads="1"/>
          </p:cNvSpPr>
          <p:nvPr>
            <p:ph type="title"/>
          </p:nvPr>
        </p:nvSpPr>
        <p:spPr>
          <a:xfrm>
            <a:off x="983432" y="228600"/>
            <a:ext cx="8314928" cy="609600"/>
          </a:xfrm>
        </p:spPr>
        <p:txBody>
          <a:bodyPr/>
          <a:lstStyle/>
          <a:p>
            <a:r>
              <a:rPr lang="en-US" dirty="0"/>
              <a:t>Example12: </a:t>
            </a:r>
            <a:r>
              <a:rPr lang="en-US" altLang="zh-CN" dirty="0">
                <a:ea typeface="宋体" pitchFamily="2" charset="-122"/>
              </a:rPr>
              <a:t>Higher Associativity</a:t>
            </a:r>
            <a:endParaRPr lang="zh-CN" altLang="en-US" sz="2200" dirty="0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291" name="Rectangle 3"/>
          <p:cNvSpPr>
            <a:spLocks noGrp="1" noChangeArrowheads="1"/>
          </p:cNvSpPr>
          <p:nvPr>
            <p:ph idx="1"/>
          </p:nvPr>
        </p:nvSpPr>
        <p:spPr>
          <a:xfrm>
            <a:off x="983432" y="1143000"/>
            <a:ext cx="10282286" cy="5486400"/>
          </a:xfrm>
          <a:noFill/>
          <a:ln/>
        </p:spPr>
        <p:txBody>
          <a:bodyPr lIns="90488" rIns="90488"/>
          <a:lstStyle/>
          <a:p>
            <a:pPr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itchFamily="2" charset="-122"/>
              </a:rPr>
              <a:t>Answer:</a:t>
            </a:r>
            <a:r>
              <a:rPr lang="en-US" altLang="zh-CN" sz="2000" dirty="0">
                <a:solidFill>
                  <a:schemeClr val="hlink"/>
                </a:solidFill>
                <a:ea typeface="宋体" pitchFamily="2" charset="-122"/>
              </a:rPr>
              <a:t> </a:t>
            </a:r>
          </a:p>
          <a:p>
            <a:pPr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Average memory access time</a:t>
            </a:r>
            <a:r>
              <a:rPr lang="en-US" altLang="zh-CN" sz="2000" baseline="-25000" dirty="0">
                <a:ea typeface="宋体" pitchFamily="2" charset="-122"/>
              </a:rPr>
              <a:t>8-way </a:t>
            </a:r>
          </a:p>
          <a:p>
            <a:pPr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			     ＝Hit time</a:t>
            </a:r>
            <a:r>
              <a:rPr lang="en-US" altLang="zh-CN" sz="2000" baseline="-25000" dirty="0">
                <a:ea typeface="宋体" pitchFamily="2" charset="-122"/>
              </a:rPr>
              <a:t>8-way</a:t>
            </a:r>
            <a:r>
              <a:rPr lang="en-US" altLang="zh-CN" sz="2000" dirty="0">
                <a:ea typeface="宋体" pitchFamily="2" charset="-122"/>
              </a:rPr>
              <a:t> + Miss rate</a:t>
            </a:r>
            <a:r>
              <a:rPr lang="en-US" altLang="zh-CN" sz="2000" baseline="-25000" dirty="0">
                <a:ea typeface="宋体" pitchFamily="2" charset="-122"/>
              </a:rPr>
              <a:t>8-way</a:t>
            </a:r>
            <a:r>
              <a:rPr lang="en-US" altLang="zh-CN" sz="2000" dirty="0">
                <a:ea typeface="宋体" pitchFamily="2" charset="-122"/>
              </a:rPr>
              <a:t>×Miss penalty</a:t>
            </a:r>
            <a:r>
              <a:rPr lang="en-US" altLang="zh-CN" sz="2000" baseline="-25000" dirty="0">
                <a:ea typeface="宋体" pitchFamily="2" charset="-122"/>
              </a:rPr>
              <a:t>8-way</a:t>
            </a:r>
          </a:p>
          <a:p>
            <a:pPr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			      ＝1.52 + Miss rate</a:t>
            </a:r>
            <a:r>
              <a:rPr lang="en-US" altLang="zh-CN" sz="2000" baseline="-25000" dirty="0">
                <a:ea typeface="宋体" pitchFamily="2" charset="-122"/>
              </a:rPr>
              <a:t>8-way</a:t>
            </a:r>
            <a:r>
              <a:rPr lang="en-US" altLang="zh-CN" sz="2000" dirty="0">
                <a:ea typeface="宋体" pitchFamily="2" charset="-122"/>
              </a:rPr>
              <a:t>×25</a:t>
            </a:r>
            <a:endParaRPr lang="en-US" altLang="zh-CN" sz="2000" baseline="-25000" dirty="0">
              <a:ea typeface="宋体" pitchFamily="2" charset="-122"/>
            </a:endParaRPr>
          </a:p>
          <a:p>
            <a:pPr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Average memory access time</a:t>
            </a:r>
            <a:r>
              <a:rPr lang="en-US" altLang="zh-CN" sz="2000" baseline="-25000" dirty="0">
                <a:ea typeface="宋体" pitchFamily="2" charset="-122"/>
              </a:rPr>
              <a:t>4-way </a:t>
            </a:r>
            <a:r>
              <a:rPr lang="en-US" altLang="zh-CN" sz="2000" dirty="0">
                <a:ea typeface="宋体" pitchFamily="2" charset="-122"/>
              </a:rPr>
              <a:t>＝ 1.44 + Miss rate</a:t>
            </a:r>
            <a:r>
              <a:rPr lang="en-US" altLang="zh-CN" sz="2000" baseline="-25000" dirty="0">
                <a:ea typeface="宋体" pitchFamily="2" charset="-122"/>
              </a:rPr>
              <a:t>4-way</a:t>
            </a:r>
            <a:r>
              <a:rPr lang="en-US" altLang="zh-CN" sz="2000" dirty="0">
                <a:ea typeface="宋体" pitchFamily="2" charset="-122"/>
              </a:rPr>
              <a:t>×25</a:t>
            </a:r>
            <a:endParaRPr lang="en-US" altLang="zh-CN" sz="2000" baseline="-25000" dirty="0">
              <a:ea typeface="宋体" pitchFamily="2" charset="-122"/>
            </a:endParaRPr>
          </a:p>
          <a:p>
            <a:pPr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Average memory access time</a:t>
            </a:r>
            <a:r>
              <a:rPr lang="en-US" altLang="zh-CN" sz="2000" baseline="-25000" dirty="0">
                <a:ea typeface="宋体" pitchFamily="2" charset="-122"/>
              </a:rPr>
              <a:t>2-way </a:t>
            </a:r>
            <a:r>
              <a:rPr lang="en-US" altLang="zh-CN" sz="2000" dirty="0">
                <a:ea typeface="宋体" pitchFamily="2" charset="-122"/>
              </a:rPr>
              <a:t>＝ 1.36 + Miss rate</a:t>
            </a:r>
            <a:r>
              <a:rPr lang="en-US" altLang="zh-CN" sz="2000" baseline="-25000" dirty="0">
                <a:ea typeface="宋体" pitchFamily="2" charset="-122"/>
              </a:rPr>
              <a:t>2-way</a:t>
            </a:r>
            <a:r>
              <a:rPr lang="en-US" altLang="zh-CN" sz="2000" dirty="0">
                <a:ea typeface="宋体" pitchFamily="2" charset="-122"/>
              </a:rPr>
              <a:t>×25</a:t>
            </a:r>
            <a:r>
              <a:rPr lang="en-US" sz="2000" dirty="0"/>
              <a:t> </a:t>
            </a:r>
          </a:p>
          <a:p>
            <a:pPr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Average memory access time</a:t>
            </a:r>
            <a:r>
              <a:rPr lang="en-US" altLang="zh-CN" sz="2000" baseline="-25000" dirty="0">
                <a:ea typeface="宋体" pitchFamily="2" charset="-122"/>
              </a:rPr>
              <a:t>1-way </a:t>
            </a:r>
            <a:r>
              <a:rPr lang="en-US" altLang="zh-CN" sz="2000" dirty="0">
                <a:ea typeface="宋体" pitchFamily="2" charset="-122"/>
              </a:rPr>
              <a:t>＝ 1.00 + Miss rate</a:t>
            </a:r>
            <a:r>
              <a:rPr lang="en-US" altLang="zh-CN" sz="2000" baseline="-25000" dirty="0">
                <a:ea typeface="宋体" pitchFamily="2" charset="-122"/>
              </a:rPr>
              <a:t>1-way</a:t>
            </a:r>
            <a:r>
              <a:rPr lang="en-US" altLang="zh-CN" sz="2000" dirty="0">
                <a:ea typeface="宋体" pitchFamily="2" charset="-122"/>
              </a:rPr>
              <a:t>×25</a:t>
            </a:r>
            <a:r>
              <a:rPr lang="en-US" sz="2000" dirty="0"/>
              <a:t> 	</a:t>
            </a:r>
          </a:p>
          <a:p>
            <a:pPr>
              <a:buFontTx/>
              <a:buNone/>
            </a:pPr>
            <a:r>
              <a:rPr lang="en-US" sz="2000" dirty="0"/>
              <a:t>The miss penalty the same time in each case, so we leave it as 25 clock cycles, then the average memory access time for a 4KB direct-mapped cache is:</a:t>
            </a:r>
          </a:p>
          <a:p>
            <a:pPr>
              <a:buFontTx/>
              <a:buNone/>
            </a:pPr>
            <a:r>
              <a:rPr lang="en-US" altLang="zh-CN" sz="2000" dirty="0">
                <a:solidFill>
                  <a:schemeClr val="hlink"/>
                </a:solidFill>
                <a:ea typeface="宋体" pitchFamily="2" charset="-122"/>
              </a:rPr>
              <a:t>Average memory access time</a:t>
            </a:r>
            <a:r>
              <a:rPr lang="en-US" altLang="zh-CN" sz="2000" baseline="-25000" dirty="0">
                <a:solidFill>
                  <a:schemeClr val="hlink"/>
                </a:solidFill>
                <a:ea typeface="宋体" pitchFamily="2" charset="-122"/>
              </a:rPr>
              <a:t>1-way </a:t>
            </a:r>
            <a:r>
              <a:rPr lang="en-US" altLang="zh-CN" sz="2000" dirty="0">
                <a:solidFill>
                  <a:schemeClr val="hlink"/>
                </a:solidFill>
                <a:ea typeface="宋体" pitchFamily="2" charset="-122"/>
              </a:rPr>
              <a:t>＝ 1.00 + 0.098×25＝3.44</a:t>
            </a:r>
            <a:endParaRPr lang="en-US" sz="2000" dirty="0">
              <a:solidFill>
                <a:schemeClr val="hlink"/>
              </a:solidFill>
            </a:endParaRPr>
          </a:p>
          <a:p>
            <a:pPr>
              <a:buFontTx/>
              <a:buNone/>
            </a:pPr>
            <a:r>
              <a:rPr lang="en-US" sz="2000" dirty="0"/>
              <a:t>for a 512KB, 8-way set-associative cache is:</a:t>
            </a:r>
          </a:p>
          <a:p>
            <a:pPr>
              <a:buFontTx/>
              <a:buNone/>
            </a:pPr>
            <a:r>
              <a:rPr lang="en-US" altLang="zh-CN" sz="2000" dirty="0">
                <a:solidFill>
                  <a:schemeClr val="hlink"/>
                </a:solidFill>
                <a:ea typeface="宋体" pitchFamily="2" charset="-122"/>
              </a:rPr>
              <a:t>Average memory access time</a:t>
            </a:r>
            <a:r>
              <a:rPr lang="en-US" altLang="zh-CN" sz="2000" baseline="-25000" dirty="0">
                <a:solidFill>
                  <a:schemeClr val="hlink"/>
                </a:solidFill>
                <a:ea typeface="宋体" pitchFamily="2" charset="-122"/>
              </a:rPr>
              <a:t>8-way </a:t>
            </a:r>
            <a:r>
              <a:rPr lang="en-US" altLang="zh-CN" sz="2000" dirty="0">
                <a:solidFill>
                  <a:schemeClr val="hlink"/>
                </a:solidFill>
                <a:ea typeface="宋体" pitchFamily="2" charset="-122"/>
              </a:rPr>
              <a:t>＝ 1.52 + 0.006×25＝1.66</a:t>
            </a:r>
            <a:endParaRPr lang="en-US" sz="2000" dirty="0"/>
          </a:p>
          <a:p>
            <a:pPr>
              <a:buFontTx/>
              <a:buNone/>
            </a:pPr>
            <a:r>
              <a:rPr lang="en-US" sz="2000" dirty="0"/>
              <a:t>All results shows in above table:</a:t>
            </a:r>
          </a:p>
          <a:p>
            <a:pPr>
              <a:buFontTx/>
              <a:buNone/>
            </a:pPr>
            <a:r>
              <a:rPr lang="en-US" sz="2000" dirty="0">
                <a:solidFill>
                  <a:schemeClr val="hlink"/>
                </a:solidFill>
              </a:rPr>
              <a:t>	</a:t>
            </a:r>
          </a:p>
        </p:txBody>
      </p:sp>
      <p:sp>
        <p:nvSpPr>
          <p:cNvPr id="908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83432" y="246411"/>
            <a:ext cx="8292440" cy="609600"/>
          </a:xfrm>
          <a:noFill/>
          <a:ln/>
        </p:spPr>
        <p:txBody>
          <a:bodyPr vert="horz" lIns="90488" tIns="45720" rIns="90488" bIns="45720" rtlCol="0" anchor="ctr">
            <a:noAutofit/>
          </a:bodyPr>
          <a:lstStyle/>
          <a:p>
            <a:r>
              <a:rPr lang="en-US" dirty="0"/>
              <a:t>Example12: </a:t>
            </a:r>
            <a:r>
              <a:rPr lang="en-US" altLang="zh-CN" dirty="0">
                <a:ea typeface="宋体" pitchFamily="2" charset="-122"/>
              </a:rPr>
              <a:t>Higher Associativity-2</a:t>
            </a:r>
            <a:endParaRPr lang="en-US" dirty="0">
              <a:ea typeface="宋体" pitchFamily="2" charset="-122"/>
            </a:endParaRPr>
          </a:p>
        </p:txBody>
      </p:sp>
      <p:graphicFrame>
        <p:nvGraphicFramePr>
          <p:cNvPr id="908292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845924"/>
              </p:ext>
            </p:extLst>
          </p:nvPr>
        </p:nvGraphicFramePr>
        <p:xfrm>
          <a:off x="2135560" y="1577972"/>
          <a:ext cx="7391400" cy="4137029"/>
        </p:xfrm>
        <a:graphic>
          <a:graphicData uri="http://schemas.openxmlformats.org/drawingml/2006/table">
            <a:tbl>
              <a:tblPr/>
              <a:tblGrid>
                <a:gridCol w="1608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7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938"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Cache size(KB)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Associativity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9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1-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way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2-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way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4-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way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8-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way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3.44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3.25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3.22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</a:rPr>
                        <a:t>3.28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8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2.69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2.58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2.55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</a:rPr>
                        <a:t>2.62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16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2.33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</a:rPr>
                        <a:t>2.40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</a:rPr>
                        <a:t>2.46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</a:rPr>
                        <a:t>2.53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32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2.06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</a:rPr>
                        <a:t>2.30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</a:rPr>
                        <a:t>2.37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</a:rPr>
                        <a:t>2.45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64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1.92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</a:rPr>
                        <a:t>2.24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</a:rPr>
                        <a:t>2.18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</a:rPr>
                        <a:t>2.25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128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1.52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</a:rPr>
                        <a:t>1.84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</a:rPr>
                        <a:t>1.92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</a:rPr>
                        <a:t>2.00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256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1.32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</a:rPr>
                        <a:t>1.66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</a:rPr>
                        <a:t>1.74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</a:rPr>
                        <a:t>1.82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512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1.20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</a:rPr>
                        <a:t>1.55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</a:rPr>
                        <a:t>1.59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</a:rPr>
                        <a:t>1.66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3063">
                <a:tc gridSpan="5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</a:rPr>
                        <a:t>(</a:t>
                      </a:r>
                      <a:r>
                        <a:rPr kumimoji="0" 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</a:rPr>
                        <a:t>Red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</a:rPr>
                        <a:t> means A.M.A.T. </a:t>
                      </a:r>
                      <a:r>
                        <a:rPr kumimoji="0" 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</a:rPr>
                        <a:t>not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omic Sans MS" pitchFamily="66" charset="0"/>
                        </a:rPr>
                        <a:t> improved by more associativity)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08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315" name="Rectangle 3"/>
          <p:cNvSpPr>
            <a:spLocks noGrp="1" noChangeArrowheads="1"/>
          </p:cNvSpPr>
          <p:nvPr>
            <p:ph idx="1"/>
          </p:nvPr>
        </p:nvSpPr>
        <p:spPr>
          <a:xfrm>
            <a:off x="882172" y="1219200"/>
            <a:ext cx="10287560" cy="4419600"/>
          </a:xfrm>
        </p:spPr>
        <p:txBody>
          <a:bodyPr/>
          <a:lstStyle/>
          <a:p>
            <a:r>
              <a:rPr lang="en-US" altLang="zh-CN" dirty="0"/>
              <a:t>Way Prediction and Pseudo-Associative Cache</a:t>
            </a:r>
          </a:p>
          <a:p>
            <a:pPr lvl="1"/>
            <a:r>
              <a:rPr lang="en-US" altLang="zh-CN" dirty="0"/>
              <a:t>Using two Technique reduces conflict misses and yet maintains hit speed of direct-mapped cache</a:t>
            </a:r>
          </a:p>
          <a:p>
            <a:pPr lvl="2"/>
            <a:r>
              <a:rPr lang="en-US" dirty="0"/>
              <a:t>Predictive bit</a:t>
            </a:r>
          </a:p>
          <a:p>
            <a:pPr lvl="2"/>
            <a:r>
              <a:rPr lang="en-US" dirty="0"/>
              <a:t>Pseudo-Associative</a:t>
            </a:r>
          </a:p>
          <a:p>
            <a:pPr lvl="1"/>
            <a:r>
              <a:rPr lang="en-US" dirty="0"/>
              <a:t>Way Prediction</a:t>
            </a:r>
            <a:endParaRPr lang="en-US" altLang="zh-CN" dirty="0"/>
          </a:p>
          <a:p>
            <a:pPr lvl="2"/>
            <a:r>
              <a:rPr lang="en-US" altLang="zh-CN" dirty="0"/>
              <a:t>Extra bits are kept in the cache to predict the way, or block within the set of the next cache access.</a:t>
            </a:r>
          </a:p>
          <a:p>
            <a:pPr lvl="2"/>
            <a:r>
              <a:rPr lang="en-US" altLang="zh-CN" dirty="0"/>
              <a:t>The Alpha 21264 user uses way prediction in its two-way set-associative instruction cache.</a:t>
            </a:r>
          </a:p>
          <a:p>
            <a:pPr lvl="3"/>
            <a:r>
              <a:rPr lang="en-US" dirty="0"/>
              <a:t>If the predictor i</a:t>
            </a:r>
            <a:r>
              <a:rPr lang="en-US" altLang="zh-CN" dirty="0"/>
              <a:t>s</a:t>
            </a:r>
            <a:r>
              <a:rPr lang="en-US" dirty="0"/>
              <a:t> correct, the instruction cache latency is 1 clock cycle.</a:t>
            </a:r>
          </a:p>
          <a:p>
            <a:pPr lvl="3"/>
            <a:r>
              <a:rPr lang="en-US" dirty="0"/>
              <a:t>If not, it tries the other block, changes the way predictor, and has a latency of 3 clock cycles.</a:t>
            </a:r>
          </a:p>
          <a:p>
            <a:pPr lvl="3"/>
            <a:r>
              <a:rPr lang="en-US" dirty="0"/>
              <a:t>Simulation using SPEC95 suggested set prediction accuracy is excess of 85%, so way prediction saves pipeline stage in more than 85% of the instruction fetches.</a:t>
            </a:r>
          </a:p>
        </p:txBody>
      </p:sp>
      <p:sp>
        <p:nvSpPr>
          <p:cNvPr id="909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Fourth Miss Rate Reduction Technique:</a:t>
            </a:r>
            <a:endParaRPr lang="en-US" dirty="0"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339" name="Rectangle 3"/>
          <p:cNvSpPr>
            <a:spLocks noGrp="1" noChangeArrowheads="1"/>
          </p:cNvSpPr>
          <p:nvPr>
            <p:ph idx="1"/>
          </p:nvPr>
        </p:nvSpPr>
        <p:spPr>
          <a:xfrm>
            <a:off x="983432" y="890588"/>
            <a:ext cx="10329194" cy="4419600"/>
          </a:xfrm>
        </p:spPr>
        <p:txBody>
          <a:bodyPr/>
          <a:lstStyle/>
          <a:p>
            <a:r>
              <a:rPr lang="en-US" dirty="0"/>
              <a:t>How to combine fast hit time of Direct Mapped and have the lower conflict misses of 2-way SA cache? </a:t>
            </a:r>
          </a:p>
          <a:p>
            <a:r>
              <a:rPr lang="en-US" dirty="0"/>
              <a:t>Divide cache: on a miss, check other half of cache to see if there, if so have a pseudo-hit  (slow hit)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Drawback: CPU pipeline is hard if hit takes 1 or 2 cycles</a:t>
            </a:r>
          </a:p>
          <a:p>
            <a:pPr lvl="1"/>
            <a:r>
              <a:rPr lang="en-US" dirty="0"/>
              <a:t>Better for caches not tied directly to  processor (L2)</a:t>
            </a:r>
          </a:p>
          <a:p>
            <a:pPr lvl="1"/>
            <a:r>
              <a:rPr lang="en-US" dirty="0"/>
              <a:t>Used in MIPS R1000 L2 cache, similar in UltraSPARC</a:t>
            </a:r>
          </a:p>
        </p:txBody>
      </p:sp>
      <p:sp>
        <p:nvSpPr>
          <p:cNvPr id="910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Pseudo-Associative Cache (column associative)</a:t>
            </a:r>
          </a:p>
        </p:txBody>
      </p:sp>
      <p:sp>
        <p:nvSpPr>
          <p:cNvPr id="910340" name="Rectangle 4"/>
          <p:cNvSpPr>
            <a:spLocks noChangeArrowheads="1"/>
          </p:cNvSpPr>
          <p:nvPr/>
        </p:nvSpPr>
        <p:spPr bwMode="auto">
          <a:xfrm>
            <a:off x="5445399" y="4217593"/>
            <a:ext cx="7143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/>
            <a:r>
              <a:rPr lang="en-US" dirty="0">
                <a:latin typeface="Arial" pitchFamily="34" charset="0"/>
              </a:rPr>
              <a:t>Time</a:t>
            </a:r>
          </a:p>
        </p:txBody>
      </p:sp>
      <p:grpSp>
        <p:nvGrpSpPr>
          <p:cNvPr id="910341" name="Group 5"/>
          <p:cNvGrpSpPr>
            <a:grpSpLocks/>
          </p:cNvGrpSpPr>
          <p:nvPr/>
        </p:nvGrpSpPr>
        <p:grpSpPr bwMode="auto">
          <a:xfrm>
            <a:off x="2432050" y="2845595"/>
            <a:ext cx="7327900" cy="1323975"/>
            <a:chOff x="788" y="1968"/>
            <a:chExt cx="4616" cy="834"/>
          </a:xfrm>
        </p:grpSpPr>
        <p:sp>
          <p:nvSpPr>
            <p:cNvPr id="910342" name="Rectangle 6"/>
            <p:cNvSpPr>
              <a:spLocks noChangeArrowheads="1"/>
            </p:cNvSpPr>
            <p:nvPr/>
          </p:nvSpPr>
          <p:spPr bwMode="auto">
            <a:xfrm>
              <a:off x="863" y="1968"/>
              <a:ext cx="6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/>
              <a:r>
                <a:rPr lang="en-US">
                  <a:latin typeface="Arial" pitchFamily="34" charset="0"/>
                </a:rPr>
                <a:t>Hit Time</a:t>
              </a:r>
            </a:p>
          </p:txBody>
        </p:sp>
        <p:sp>
          <p:nvSpPr>
            <p:cNvPr id="910343" name="Rectangle 7"/>
            <p:cNvSpPr>
              <a:spLocks noChangeArrowheads="1"/>
            </p:cNvSpPr>
            <p:nvPr/>
          </p:nvSpPr>
          <p:spPr bwMode="auto">
            <a:xfrm>
              <a:off x="827" y="2316"/>
              <a:ext cx="1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/>
              <a:r>
                <a:rPr lang="en-US" dirty="0">
                  <a:latin typeface="Arial" pitchFamily="34" charset="0"/>
                </a:rPr>
                <a:t>Pseudo Hit Time</a:t>
              </a:r>
            </a:p>
          </p:txBody>
        </p:sp>
        <p:sp>
          <p:nvSpPr>
            <p:cNvPr id="910344" name="Rectangle 8"/>
            <p:cNvSpPr>
              <a:spLocks noChangeArrowheads="1"/>
            </p:cNvSpPr>
            <p:nvPr/>
          </p:nvSpPr>
          <p:spPr bwMode="auto">
            <a:xfrm>
              <a:off x="3059" y="2292"/>
              <a:ext cx="93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/>
              <a:r>
                <a:rPr lang="en-US" dirty="0">
                  <a:latin typeface="Arial" pitchFamily="34" charset="0"/>
                </a:rPr>
                <a:t>Miss Penalty</a:t>
              </a:r>
            </a:p>
          </p:txBody>
        </p:sp>
        <p:sp>
          <p:nvSpPr>
            <p:cNvPr id="910345" name="Line 9"/>
            <p:cNvSpPr>
              <a:spLocks noChangeShapeType="1"/>
            </p:cNvSpPr>
            <p:nvPr/>
          </p:nvSpPr>
          <p:spPr bwMode="auto">
            <a:xfrm>
              <a:off x="812" y="2262"/>
              <a:ext cx="7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0346" name="Line 10"/>
            <p:cNvSpPr>
              <a:spLocks noChangeShapeType="1"/>
            </p:cNvSpPr>
            <p:nvPr/>
          </p:nvSpPr>
          <p:spPr bwMode="auto">
            <a:xfrm>
              <a:off x="788" y="2562"/>
              <a:ext cx="1352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0347" name="Line 11"/>
            <p:cNvSpPr>
              <a:spLocks noChangeShapeType="1"/>
            </p:cNvSpPr>
            <p:nvPr/>
          </p:nvSpPr>
          <p:spPr bwMode="auto">
            <a:xfrm>
              <a:off x="2132" y="2562"/>
              <a:ext cx="30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0348" name="Line 12"/>
            <p:cNvSpPr>
              <a:spLocks noChangeShapeType="1"/>
            </p:cNvSpPr>
            <p:nvPr/>
          </p:nvSpPr>
          <p:spPr bwMode="auto">
            <a:xfrm>
              <a:off x="788" y="2802"/>
              <a:ext cx="46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63" name="Rectangle 3"/>
          <p:cNvSpPr>
            <a:spLocks noGrp="1" noChangeArrowheads="1"/>
          </p:cNvSpPr>
          <p:nvPr>
            <p:ph idx="1"/>
          </p:nvPr>
        </p:nvSpPr>
        <p:spPr>
          <a:xfrm>
            <a:off x="882172" y="1124744"/>
            <a:ext cx="10143544" cy="4419600"/>
          </a:xfrm>
        </p:spPr>
        <p:txBody>
          <a:bodyPr/>
          <a:lstStyle/>
          <a:p>
            <a:r>
              <a:rPr lang="en-US" altLang="zh-CN" dirty="0"/>
              <a:t>Compiler Optimizations</a:t>
            </a:r>
          </a:p>
          <a:p>
            <a:pPr lvl="1"/>
            <a:r>
              <a:rPr lang="en-US" dirty="0"/>
              <a:t>The techniques reduces miss rates without any hardware changes and reorders instruction sequence with compiler.</a:t>
            </a:r>
          </a:p>
          <a:p>
            <a:pPr lvl="1"/>
            <a:r>
              <a:rPr lang="en-US" dirty="0"/>
              <a:t>Instructions</a:t>
            </a:r>
          </a:p>
          <a:p>
            <a:pPr lvl="2"/>
            <a:r>
              <a:rPr lang="en-US" dirty="0"/>
              <a:t>Reorder procedures in memory so as to reduce conflict misses</a:t>
            </a:r>
          </a:p>
          <a:p>
            <a:pPr lvl="2"/>
            <a:r>
              <a:rPr lang="en-US" dirty="0"/>
              <a:t>Profiling to look at conflicts(using tools they developed)</a:t>
            </a:r>
          </a:p>
          <a:p>
            <a:pPr lvl="1"/>
            <a:r>
              <a:rPr lang="en-US" dirty="0"/>
              <a:t>Data</a:t>
            </a:r>
          </a:p>
          <a:p>
            <a:pPr lvl="2"/>
            <a:r>
              <a:rPr lang="en-US" dirty="0"/>
              <a:t>Merging Arrays: improve spatial locality by single array of compound elements vs. 2 arrays</a:t>
            </a:r>
          </a:p>
          <a:p>
            <a:pPr lvl="2"/>
            <a:r>
              <a:rPr lang="en-US" dirty="0"/>
              <a:t>Loop Interchange: change nesting of loops to access data in order stored in memory</a:t>
            </a:r>
          </a:p>
          <a:p>
            <a:pPr lvl="2"/>
            <a:r>
              <a:rPr lang="en-US" dirty="0"/>
              <a:t>Loop Fusion: Combine 2 independent loops that have same looping and some variables overlap</a:t>
            </a:r>
          </a:p>
          <a:p>
            <a:pPr lvl="2"/>
            <a:r>
              <a:rPr lang="en-US" dirty="0"/>
              <a:t>Blocking: Improve temporal locality by accessing “blocks” of data repeatedly vs. going down whole columns or rows</a:t>
            </a:r>
          </a:p>
        </p:txBody>
      </p:sp>
      <p:sp>
        <p:nvSpPr>
          <p:cNvPr id="91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Fifth Miss Rate Reduction Technique: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1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1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11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11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11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11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11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11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11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11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11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11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11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11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11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11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11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11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11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11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63" grpId="0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387" name="Rectangle 3"/>
          <p:cNvSpPr>
            <a:spLocks noGrp="1" noChangeArrowheads="1"/>
          </p:cNvSpPr>
          <p:nvPr>
            <p:ph idx="1"/>
          </p:nvPr>
        </p:nvSpPr>
        <p:spPr>
          <a:xfrm>
            <a:off x="983432" y="2057400"/>
            <a:ext cx="10225136" cy="4114800"/>
          </a:xfrm>
          <a:noFill/>
          <a:ln/>
        </p:spPr>
        <p:txBody>
          <a:bodyPr lIns="90488" rIns="90488"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/* Before */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for (k = 0; k &lt; 100; k = k+1)</a:t>
            </a:r>
            <a:endParaRPr lang="en-US" sz="1800" dirty="0">
              <a:solidFill>
                <a:schemeClr val="accent1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49" charset="0"/>
              </a:rPr>
              <a:t>	for (j = 0; j &lt; 100; j = j+1)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	</a:t>
            </a:r>
            <a:r>
              <a:rPr lang="en-US" sz="1800" dirty="0">
                <a:solidFill>
                  <a:schemeClr val="accent1"/>
                </a:solidFill>
                <a:latin typeface="Courier New" pitchFamily="49" charset="0"/>
              </a:rPr>
              <a:t>	for (</a:t>
            </a:r>
            <a:r>
              <a:rPr lang="en-US" sz="1800" dirty="0" err="1">
                <a:solidFill>
                  <a:schemeClr val="accent1"/>
                </a:solidFill>
                <a:latin typeface="Courier New" pitchFamily="49" charset="0"/>
              </a:rPr>
              <a:t>i</a:t>
            </a:r>
            <a:r>
              <a:rPr lang="en-US" sz="1800" dirty="0">
                <a:solidFill>
                  <a:schemeClr val="accent1"/>
                </a:solidFill>
                <a:latin typeface="Courier New" pitchFamily="49" charset="0"/>
              </a:rPr>
              <a:t> = 0; </a:t>
            </a:r>
            <a:r>
              <a:rPr lang="en-US" sz="1800" dirty="0" err="1">
                <a:solidFill>
                  <a:schemeClr val="accent1"/>
                </a:solidFill>
                <a:latin typeface="Courier New" pitchFamily="49" charset="0"/>
              </a:rPr>
              <a:t>i</a:t>
            </a:r>
            <a:r>
              <a:rPr lang="en-US" sz="1800" dirty="0">
                <a:solidFill>
                  <a:schemeClr val="accent1"/>
                </a:solidFill>
                <a:latin typeface="Courier New" pitchFamily="49" charset="0"/>
              </a:rPr>
              <a:t> &lt; 5000; </a:t>
            </a:r>
            <a:r>
              <a:rPr lang="en-US" sz="1800" dirty="0" err="1">
                <a:solidFill>
                  <a:schemeClr val="accent1"/>
                </a:solidFill>
                <a:latin typeface="Courier New" pitchFamily="49" charset="0"/>
              </a:rPr>
              <a:t>i</a:t>
            </a:r>
            <a:r>
              <a:rPr lang="en-US" sz="1800" dirty="0">
                <a:solidFill>
                  <a:schemeClr val="accent1"/>
                </a:solidFill>
                <a:latin typeface="Courier New" pitchFamily="49" charset="0"/>
              </a:rPr>
              <a:t> = i+1)</a:t>
            </a:r>
            <a:endParaRPr lang="en-US" sz="18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			x[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][j] = 2 * x[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][j];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/* After */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for (k = 0; k &lt; 100; k = k+1)</a:t>
            </a:r>
            <a:endParaRPr lang="en-US" sz="1800" dirty="0">
              <a:solidFill>
                <a:schemeClr val="hlink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solidFill>
                  <a:schemeClr val="hlink"/>
                </a:solidFill>
                <a:latin typeface="Courier New" pitchFamily="49" charset="0"/>
              </a:rPr>
              <a:t>	</a:t>
            </a:r>
            <a:r>
              <a:rPr lang="en-US" sz="1800" u="sng" dirty="0">
                <a:solidFill>
                  <a:schemeClr val="hlink"/>
                </a:solidFill>
                <a:latin typeface="Courier New" pitchFamily="49" charset="0"/>
              </a:rPr>
              <a:t>for (</a:t>
            </a:r>
            <a:r>
              <a:rPr lang="en-US" sz="1800" u="sng" dirty="0" err="1">
                <a:solidFill>
                  <a:schemeClr val="hlink"/>
                </a:solidFill>
                <a:latin typeface="Courier New" pitchFamily="49" charset="0"/>
              </a:rPr>
              <a:t>i</a:t>
            </a:r>
            <a:r>
              <a:rPr lang="en-US" sz="1800" u="sng" dirty="0">
                <a:solidFill>
                  <a:schemeClr val="hlink"/>
                </a:solidFill>
                <a:latin typeface="Courier New" pitchFamily="49" charset="0"/>
              </a:rPr>
              <a:t> = 0; </a:t>
            </a:r>
            <a:r>
              <a:rPr lang="en-US" sz="1800" u="sng" dirty="0" err="1">
                <a:solidFill>
                  <a:schemeClr val="hlink"/>
                </a:solidFill>
                <a:latin typeface="Courier New" pitchFamily="49" charset="0"/>
              </a:rPr>
              <a:t>i</a:t>
            </a:r>
            <a:r>
              <a:rPr lang="en-US" sz="1800" u="sng" dirty="0">
                <a:solidFill>
                  <a:schemeClr val="hlink"/>
                </a:solidFill>
                <a:latin typeface="Courier New" pitchFamily="49" charset="0"/>
              </a:rPr>
              <a:t> &lt; 5000; </a:t>
            </a:r>
            <a:r>
              <a:rPr lang="en-US" sz="1800" u="sng" dirty="0" err="1">
                <a:solidFill>
                  <a:schemeClr val="hlink"/>
                </a:solidFill>
                <a:latin typeface="Courier New" pitchFamily="49" charset="0"/>
              </a:rPr>
              <a:t>i</a:t>
            </a:r>
            <a:r>
              <a:rPr lang="en-US" sz="1800" u="sng" dirty="0">
                <a:solidFill>
                  <a:schemeClr val="hlink"/>
                </a:solidFill>
                <a:latin typeface="Courier New" pitchFamily="49" charset="0"/>
              </a:rPr>
              <a:t> = i+1)</a:t>
            </a:r>
            <a:endParaRPr lang="en-US" sz="1800" dirty="0">
              <a:solidFill>
                <a:schemeClr val="hlink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		</a:t>
            </a:r>
            <a:r>
              <a:rPr lang="en-US" sz="1800" u="sng" dirty="0">
                <a:solidFill>
                  <a:schemeClr val="hlink"/>
                </a:solidFill>
                <a:latin typeface="Courier New" pitchFamily="49" charset="0"/>
              </a:rPr>
              <a:t>for (j = 0; j &lt; 100; j = j+1)</a:t>
            </a:r>
            <a:endParaRPr lang="en-US" sz="18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			x[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][j] = 2 * x[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][j];</a:t>
            </a:r>
            <a:br>
              <a:rPr lang="en-US" sz="1800" dirty="0">
                <a:latin typeface="Courier New" pitchFamily="49" charset="0"/>
              </a:rPr>
            </a:b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Sequential accesses instead of striding through memory every 100 words; </a:t>
            </a:r>
            <a:endParaRPr lang="en-US" dirty="0">
              <a:solidFill>
                <a:schemeClr val="hlink"/>
              </a:solidFill>
            </a:endParaRPr>
          </a:p>
        </p:txBody>
      </p:sp>
      <p:sp>
        <p:nvSpPr>
          <p:cNvPr id="912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83432" y="190500"/>
            <a:ext cx="8314928" cy="685800"/>
          </a:xfrm>
          <a:noFill/>
          <a:ln/>
        </p:spPr>
        <p:txBody>
          <a:bodyPr vert="horz" lIns="90488" tIns="45720" rIns="90488" bIns="45720" rtlCol="0" anchor="ctr">
            <a:noAutofit/>
          </a:bodyPr>
          <a:lstStyle/>
          <a:p>
            <a:r>
              <a:rPr lang="en-US" altLang="zh-CN" dirty="0">
                <a:ea typeface="宋体" pitchFamily="2" charset="-122"/>
              </a:rPr>
              <a:t>①</a:t>
            </a:r>
            <a:r>
              <a:rPr lang="en-US" dirty="0"/>
              <a:t>Loop Interchange</a:t>
            </a:r>
          </a:p>
        </p:txBody>
      </p:sp>
      <p:sp>
        <p:nvSpPr>
          <p:cNvPr id="912389" name="Rectangle 5"/>
          <p:cNvSpPr>
            <a:spLocks noChangeArrowheads="1"/>
          </p:cNvSpPr>
          <p:nvPr/>
        </p:nvSpPr>
        <p:spPr bwMode="auto">
          <a:xfrm>
            <a:off x="983432" y="1066801"/>
            <a:ext cx="10301336" cy="830997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zh-CN" sz="2400" i="1" dirty="0">
                <a:solidFill>
                  <a:srgbClr val="000000"/>
                </a:solidFill>
                <a:latin typeface="+mn-lt"/>
                <a:ea typeface="宋体" pitchFamily="2" charset="-122"/>
              </a:rPr>
              <a:t>By switching the order in which loops execute, misses can be reduced due to improvements in spatial locality.</a:t>
            </a:r>
            <a:r>
              <a:rPr lang="en-US" altLang="zh-CN" sz="2400" dirty="0">
                <a:latin typeface="+mn-lt"/>
                <a:ea typeface="宋体" pitchFamily="2" charset="-122"/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12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12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12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12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12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12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412" name="Rectangle 4"/>
          <p:cNvSpPr>
            <a:spLocks noGrp="1" noChangeArrowheads="1"/>
          </p:cNvSpPr>
          <p:nvPr>
            <p:ph idx="1"/>
          </p:nvPr>
        </p:nvSpPr>
        <p:spPr>
          <a:xfrm>
            <a:off x="911424" y="1085850"/>
            <a:ext cx="9248378" cy="5314950"/>
          </a:xfrm>
          <a:noFill/>
          <a:ln/>
        </p:spPr>
        <p:txBody>
          <a:bodyPr lIns="90488" rIns="90488"/>
          <a:lstStyle/>
          <a:p>
            <a:pPr>
              <a:lnSpc>
                <a:spcPct val="80000"/>
              </a:lnSpc>
              <a:buNone/>
              <a:tabLst>
                <a:tab pos="685800" algn="l"/>
                <a:tab pos="1085850" algn="l"/>
              </a:tabLst>
            </a:pPr>
            <a:r>
              <a:rPr lang="en-US" sz="2000" dirty="0"/>
              <a:t>/*</a:t>
            </a:r>
            <a:r>
              <a:rPr lang="en-US" sz="2000" dirty="0">
                <a:solidFill>
                  <a:schemeClr val="hlink"/>
                </a:solidFill>
              </a:rPr>
              <a:t> Before</a:t>
            </a:r>
            <a:r>
              <a:rPr lang="en-US" sz="2000" dirty="0"/>
              <a:t> */</a:t>
            </a:r>
          </a:p>
          <a:p>
            <a:pPr>
              <a:lnSpc>
                <a:spcPct val="80000"/>
              </a:lnSpc>
              <a:buNone/>
              <a:tabLst>
                <a:tab pos="685800" algn="l"/>
                <a:tab pos="1085850" algn="l"/>
              </a:tabLst>
            </a:pPr>
            <a:r>
              <a:rPr lang="en-US" sz="2000" dirty="0">
                <a:latin typeface="Courier New" pitchFamily="49" charset="0"/>
              </a:rPr>
              <a:t>for (</a:t>
            </a:r>
            <a:r>
              <a:rPr lang="en-US" sz="2000" u="sng" dirty="0" err="1">
                <a:solidFill>
                  <a:schemeClr val="accent2"/>
                </a:solidFill>
                <a:latin typeface="Courier New" pitchFamily="49" charset="0"/>
              </a:rPr>
              <a:t>i</a:t>
            </a:r>
            <a:r>
              <a:rPr lang="en-US" sz="2000" dirty="0">
                <a:latin typeface="Courier New" pitchFamily="49" charset="0"/>
              </a:rPr>
              <a:t> = 0; </a:t>
            </a:r>
            <a:r>
              <a:rPr lang="en-US" sz="2000" dirty="0" err="1">
                <a:latin typeface="Courier New" pitchFamily="49" charset="0"/>
              </a:rPr>
              <a:t>i</a:t>
            </a:r>
            <a:r>
              <a:rPr lang="en-US" sz="2000" dirty="0">
                <a:latin typeface="Courier New" pitchFamily="49" charset="0"/>
              </a:rPr>
              <a:t> &lt; N; </a:t>
            </a:r>
            <a:r>
              <a:rPr lang="en-US" sz="2000" dirty="0" err="1">
                <a:latin typeface="Courier New" pitchFamily="49" charset="0"/>
              </a:rPr>
              <a:t>i</a:t>
            </a:r>
            <a:r>
              <a:rPr lang="en-US" sz="2000" dirty="0">
                <a:latin typeface="Courier New" pitchFamily="49" charset="0"/>
              </a:rPr>
              <a:t> = i+1)</a:t>
            </a:r>
          </a:p>
          <a:p>
            <a:pPr>
              <a:lnSpc>
                <a:spcPct val="80000"/>
              </a:lnSpc>
              <a:buNone/>
              <a:tabLst>
                <a:tab pos="685800" algn="l"/>
                <a:tab pos="1085850" algn="l"/>
              </a:tabLst>
            </a:pPr>
            <a:r>
              <a:rPr lang="en-US" sz="2000" dirty="0">
                <a:latin typeface="Courier New" pitchFamily="49" charset="0"/>
              </a:rPr>
              <a:t>	</a:t>
            </a:r>
            <a:r>
              <a:rPr lang="en-US" sz="2000" dirty="0">
                <a:solidFill>
                  <a:schemeClr val="hlink"/>
                </a:solidFill>
                <a:latin typeface="Courier New" pitchFamily="49" charset="0"/>
              </a:rPr>
              <a:t>for</a:t>
            </a:r>
            <a:r>
              <a:rPr lang="en-US" sz="2000" dirty="0">
                <a:latin typeface="Courier New" pitchFamily="49" charset="0"/>
              </a:rPr>
              <a:t> (</a:t>
            </a:r>
            <a:r>
              <a:rPr lang="en-US" sz="2000" dirty="0">
                <a:solidFill>
                  <a:schemeClr val="accent1"/>
                </a:solidFill>
                <a:latin typeface="Courier New" pitchFamily="49" charset="0"/>
              </a:rPr>
              <a:t>j</a:t>
            </a:r>
            <a:r>
              <a:rPr lang="en-US" sz="2000" dirty="0">
                <a:latin typeface="Courier New" pitchFamily="49" charset="0"/>
              </a:rPr>
              <a:t> = 0; j &lt; N; j = j+1)</a:t>
            </a:r>
          </a:p>
          <a:p>
            <a:pPr>
              <a:lnSpc>
                <a:spcPct val="80000"/>
              </a:lnSpc>
              <a:buNone/>
              <a:tabLst>
                <a:tab pos="685800" algn="l"/>
                <a:tab pos="1085850" algn="l"/>
              </a:tabLst>
            </a:pPr>
            <a:r>
              <a:rPr lang="en-US" sz="2000" dirty="0">
                <a:latin typeface="Courier New" pitchFamily="49" charset="0"/>
              </a:rPr>
              <a:t>		{r = 0;</a:t>
            </a:r>
          </a:p>
          <a:p>
            <a:pPr>
              <a:lnSpc>
                <a:spcPct val="80000"/>
              </a:lnSpc>
              <a:buNone/>
              <a:tabLst>
                <a:tab pos="685800" algn="l"/>
                <a:tab pos="1085850" algn="l"/>
              </a:tabLst>
            </a:pPr>
            <a:r>
              <a:rPr lang="en-US" sz="2000" dirty="0">
                <a:latin typeface="Courier New" pitchFamily="49" charset="0"/>
              </a:rPr>
              <a:t>		 </a:t>
            </a:r>
            <a:r>
              <a:rPr lang="en-US" sz="2000" dirty="0">
                <a:solidFill>
                  <a:schemeClr val="hlink"/>
                </a:solidFill>
                <a:latin typeface="Courier New" pitchFamily="49" charset="0"/>
              </a:rPr>
              <a:t>for</a:t>
            </a:r>
            <a:r>
              <a:rPr lang="en-US" sz="2000" dirty="0">
                <a:latin typeface="Courier New" pitchFamily="49" charset="0"/>
              </a:rPr>
              <a:t> (</a:t>
            </a:r>
            <a:r>
              <a:rPr lang="en-US" sz="2000" dirty="0">
                <a:solidFill>
                  <a:schemeClr val="hlink"/>
                </a:solidFill>
                <a:latin typeface="Courier New" pitchFamily="49" charset="0"/>
              </a:rPr>
              <a:t>k</a:t>
            </a:r>
            <a:r>
              <a:rPr lang="en-US" sz="2000" dirty="0">
                <a:latin typeface="Courier New" pitchFamily="49" charset="0"/>
              </a:rPr>
              <a:t> = 0; k &lt; N; k = k+1)</a:t>
            </a:r>
          </a:p>
          <a:p>
            <a:pPr>
              <a:lnSpc>
                <a:spcPct val="80000"/>
              </a:lnSpc>
              <a:buNone/>
              <a:tabLst>
                <a:tab pos="685800" algn="l"/>
                <a:tab pos="1085850" algn="l"/>
              </a:tabLst>
            </a:pPr>
            <a:r>
              <a:rPr lang="en-US" sz="2000" dirty="0">
                <a:latin typeface="Courier New" pitchFamily="49" charset="0"/>
              </a:rPr>
              <a:t>			r = r + y[</a:t>
            </a:r>
            <a:r>
              <a:rPr lang="en-US" sz="2000" u="sng" dirty="0" err="1">
                <a:solidFill>
                  <a:schemeClr val="accent2"/>
                </a:solidFill>
                <a:latin typeface="Courier New" pitchFamily="49" charset="0"/>
              </a:rPr>
              <a:t>i</a:t>
            </a:r>
            <a:r>
              <a:rPr lang="en-US" sz="2000" dirty="0">
                <a:latin typeface="Courier New" pitchFamily="49" charset="0"/>
              </a:rPr>
              <a:t>][</a:t>
            </a:r>
            <a:r>
              <a:rPr lang="en-US" sz="2000" dirty="0">
                <a:solidFill>
                  <a:schemeClr val="hlink"/>
                </a:solidFill>
                <a:latin typeface="Courier New" pitchFamily="49" charset="0"/>
              </a:rPr>
              <a:t>k</a:t>
            </a:r>
            <a:r>
              <a:rPr lang="en-US" sz="2000" dirty="0">
                <a:latin typeface="Courier New" pitchFamily="49" charset="0"/>
              </a:rPr>
              <a:t>]*z[</a:t>
            </a:r>
            <a:r>
              <a:rPr lang="en-US" sz="2000" dirty="0">
                <a:solidFill>
                  <a:schemeClr val="hlink"/>
                </a:solidFill>
                <a:latin typeface="Courier New" pitchFamily="49" charset="0"/>
              </a:rPr>
              <a:t>k</a:t>
            </a:r>
            <a:r>
              <a:rPr lang="en-US" sz="2000" dirty="0">
                <a:latin typeface="Courier New" pitchFamily="49" charset="0"/>
              </a:rPr>
              <a:t>][</a:t>
            </a:r>
            <a:r>
              <a:rPr lang="en-US" sz="2000" dirty="0">
                <a:solidFill>
                  <a:schemeClr val="accent1"/>
                </a:solidFill>
                <a:latin typeface="Courier New" pitchFamily="49" charset="0"/>
              </a:rPr>
              <a:t>j</a:t>
            </a:r>
            <a:r>
              <a:rPr lang="en-US" sz="2000" dirty="0">
                <a:latin typeface="Courier New" pitchFamily="49" charset="0"/>
              </a:rPr>
              <a:t>];</a:t>
            </a:r>
          </a:p>
          <a:p>
            <a:pPr>
              <a:lnSpc>
                <a:spcPct val="80000"/>
              </a:lnSpc>
              <a:buNone/>
              <a:tabLst>
                <a:tab pos="685800" algn="l"/>
                <a:tab pos="1085850" algn="l"/>
              </a:tabLst>
            </a:pPr>
            <a:r>
              <a:rPr lang="en-US" sz="2000" dirty="0">
                <a:latin typeface="Courier New" pitchFamily="49" charset="0"/>
              </a:rPr>
              <a:t>		 x[</a:t>
            </a:r>
            <a:r>
              <a:rPr lang="en-US" sz="2000" u="sng" dirty="0" err="1">
                <a:solidFill>
                  <a:schemeClr val="accent2"/>
                </a:solidFill>
                <a:latin typeface="Courier New" pitchFamily="49" charset="0"/>
              </a:rPr>
              <a:t>i</a:t>
            </a:r>
            <a:r>
              <a:rPr lang="en-US" sz="2000" dirty="0">
                <a:latin typeface="Courier New" pitchFamily="49" charset="0"/>
              </a:rPr>
              <a:t>][</a:t>
            </a:r>
            <a:r>
              <a:rPr lang="en-US" sz="2000" dirty="0">
                <a:solidFill>
                  <a:schemeClr val="accent1"/>
                </a:solidFill>
                <a:latin typeface="Courier New" pitchFamily="49" charset="0"/>
              </a:rPr>
              <a:t>j</a:t>
            </a:r>
            <a:r>
              <a:rPr lang="en-US" sz="2000" dirty="0">
                <a:latin typeface="Courier New" pitchFamily="49" charset="0"/>
              </a:rPr>
              <a:t>] = r;</a:t>
            </a:r>
          </a:p>
          <a:p>
            <a:pPr>
              <a:lnSpc>
                <a:spcPct val="80000"/>
              </a:lnSpc>
              <a:buNone/>
              <a:tabLst>
                <a:tab pos="685800" algn="l"/>
                <a:tab pos="1085850" algn="l"/>
              </a:tabLst>
            </a:pPr>
            <a:r>
              <a:rPr lang="en-US" sz="2000" dirty="0">
                <a:latin typeface="Courier New" pitchFamily="49" charset="0"/>
              </a:rPr>
              <a:t>		};</a:t>
            </a:r>
          </a:p>
          <a:p>
            <a:pPr>
              <a:lnSpc>
                <a:spcPct val="80000"/>
              </a:lnSpc>
              <a:tabLst>
                <a:tab pos="685800" algn="l"/>
                <a:tab pos="1085850" algn="l"/>
              </a:tabLst>
            </a:pPr>
            <a:r>
              <a:rPr lang="en-US" dirty="0"/>
              <a:t>Two Inner Loops:</a:t>
            </a:r>
          </a:p>
          <a:p>
            <a:pPr lvl="1">
              <a:lnSpc>
                <a:spcPct val="80000"/>
              </a:lnSpc>
              <a:tabLst>
                <a:tab pos="685800" algn="l"/>
                <a:tab pos="1085850" algn="l"/>
              </a:tabLst>
            </a:pPr>
            <a:r>
              <a:rPr lang="en-US" dirty="0"/>
              <a:t>Write N elements of 1 row  of X[ ]</a:t>
            </a:r>
          </a:p>
          <a:p>
            <a:pPr lvl="1">
              <a:lnSpc>
                <a:spcPct val="80000"/>
              </a:lnSpc>
              <a:tabLst>
                <a:tab pos="685800" algn="l"/>
                <a:tab pos="1085850" algn="l"/>
              </a:tabLst>
            </a:pPr>
            <a:r>
              <a:rPr lang="en-US" dirty="0"/>
              <a:t>Read N elements of 1 row of Y[ ] repeatedly</a:t>
            </a:r>
          </a:p>
          <a:p>
            <a:pPr lvl="1">
              <a:lnSpc>
                <a:spcPct val="80000"/>
              </a:lnSpc>
              <a:tabLst>
                <a:tab pos="685800" algn="l"/>
                <a:tab pos="1085850" algn="l"/>
              </a:tabLst>
            </a:pPr>
            <a:r>
              <a:rPr lang="en-US" dirty="0"/>
              <a:t>Read all </a:t>
            </a:r>
            <a:r>
              <a:rPr lang="en-US" dirty="0" err="1"/>
              <a:t>NxN</a:t>
            </a:r>
            <a:r>
              <a:rPr lang="en-US" dirty="0"/>
              <a:t> elements of Z[ ]</a:t>
            </a:r>
            <a:endParaRPr lang="en-US" dirty="0">
              <a:ea typeface="宋体" pitchFamily="2" charset="-122"/>
            </a:endParaRPr>
          </a:p>
          <a:p>
            <a:pPr>
              <a:lnSpc>
                <a:spcPct val="80000"/>
              </a:lnSpc>
              <a:tabLst>
                <a:tab pos="685800" algn="l"/>
                <a:tab pos="1085850" algn="l"/>
              </a:tabLst>
            </a:pPr>
            <a:r>
              <a:rPr lang="en-US" dirty="0"/>
              <a:t>Capacity Misses a function of N &amp; Cache Size:</a:t>
            </a:r>
          </a:p>
          <a:p>
            <a:pPr lvl="1">
              <a:lnSpc>
                <a:spcPct val="80000"/>
              </a:lnSpc>
              <a:tabLst>
                <a:tab pos="685800" algn="l"/>
                <a:tab pos="1085850" algn="l"/>
              </a:tabLst>
            </a:pPr>
            <a:r>
              <a:rPr lang="en-US" dirty="0"/>
              <a:t>2N</a:t>
            </a:r>
            <a:r>
              <a:rPr lang="en-US" baseline="30000" dirty="0"/>
              <a:t>3 </a:t>
            </a:r>
            <a:r>
              <a:rPr lang="en-US" dirty="0"/>
              <a:t>+ N</a:t>
            </a:r>
            <a:r>
              <a:rPr lang="en-US" baseline="30000" dirty="0"/>
              <a:t>2</a:t>
            </a:r>
            <a:r>
              <a:rPr lang="en-US" dirty="0"/>
              <a:t> =&gt; (assuming no conflict; otherwise …)</a:t>
            </a:r>
          </a:p>
          <a:p>
            <a:pPr>
              <a:lnSpc>
                <a:spcPct val="80000"/>
              </a:lnSpc>
              <a:tabLst>
                <a:tab pos="685800" algn="l"/>
                <a:tab pos="1085850" algn="l"/>
              </a:tabLst>
            </a:pPr>
            <a:r>
              <a:rPr lang="en-US" dirty="0"/>
              <a:t>Idea: compute on </a:t>
            </a:r>
            <a:r>
              <a:rPr lang="en-US" dirty="0" err="1"/>
              <a:t>BxB</a:t>
            </a:r>
            <a:r>
              <a:rPr lang="en-US" dirty="0"/>
              <a:t> submatrix that fits</a:t>
            </a:r>
          </a:p>
        </p:txBody>
      </p:sp>
      <p:sp>
        <p:nvSpPr>
          <p:cNvPr id="913411" name="Rectangle 3"/>
          <p:cNvSpPr>
            <a:spLocks noGrp="1" noChangeArrowheads="1"/>
          </p:cNvSpPr>
          <p:nvPr>
            <p:ph type="title"/>
          </p:nvPr>
        </p:nvSpPr>
        <p:spPr>
          <a:xfrm>
            <a:off x="911424" y="114300"/>
            <a:ext cx="9756576" cy="800100"/>
          </a:xfrm>
          <a:noFill/>
          <a:ln/>
        </p:spPr>
        <p:txBody>
          <a:bodyPr vert="horz" lIns="90488" tIns="45720" rIns="90488" bIns="45720" rtlCol="0" anchor="ctr">
            <a:noAutofit/>
          </a:bodyPr>
          <a:lstStyle/>
          <a:p>
            <a:r>
              <a:rPr lang="en-US" altLang="zh-CN" dirty="0">
                <a:ea typeface="宋体" pitchFamily="2" charset="-122"/>
              </a:rPr>
              <a:t>② Unoptimized Matrix Multiplication</a:t>
            </a:r>
            <a:r>
              <a:rPr lang="en-US" altLang="zh-CN" i="1" dirty="0">
                <a:solidFill>
                  <a:srgbClr val="000000"/>
                </a:solidFill>
                <a:latin typeface="Palatino" pitchFamily="18" charset="0"/>
                <a:ea typeface="宋体" pitchFamily="2" charset="-122"/>
              </a:rPr>
              <a:t> </a:t>
            </a:r>
            <a:endParaRPr lang="en-US" i="1" dirty="0">
              <a:solidFill>
                <a:srgbClr val="000000"/>
              </a:solidFill>
              <a:latin typeface="Palatino" pitchFamily="18" charset="0"/>
            </a:endParaRPr>
          </a:p>
        </p:txBody>
      </p:sp>
      <p:graphicFrame>
        <p:nvGraphicFramePr>
          <p:cNvPr id="913410" name="Object 2"/>
          <p:cNvGraphicFramePr>
            <a:graphicFrameLocks noChangeAspect="1"/>
          </p:cNvGraphicFramePr>
          <p:nvPr/>
        </p:nvGraphicFramePr>
        <p:xfrm>
          <a:off x="6477000" y="1066801"/>
          <a:ext cx="4114800" cy="170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位图图像" r:id="rId3" imgW="5357324" imgH="1958510" progId="Paint.Picture">
                  <p:embed/>
                </p:oleObj>
              </mc:Choice>
              <mc:Fallback>
                <p:oleObj name="位图图像" r:id="rId3" imgW="5357324" imgH="1958510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1066801"/>
                        <a:ext cx="4114800" cy="170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3413" name="Rectangle 5"/>
          <p:cNvSpPr>
            <a:spLocks noChangeArrowheads="1"/>
          </p:cNvSpPr>
          <p:nvPr/>
        </p:nvSpPr>
        <p:spPr bwMode="auto">
          <a:xfrm>
            <a:off x="8077201" y="3124201"/>
            <a:ext cx="11398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latin typeface="Courier New" pitchFamily="49" charset="0"/>
              </a:rPr>
              <a:t>y[</a:t>
            </a:r>
            <a:r>
              <a:rPr lang="en-US">
                <a:solidFill>
                  <a:schemeClr val="accent2"/>
                </a:solidFill>
                <a:latin typeface="Courier New" pitchFamily="49" charset="0"/>
              </a:rPr>
              <a:t>1</a:t>
            </a:r>
            <a:r>
              <a:rPr lang="en-US">
                <a:latin typeface="Courier New" pitchFamily="49" charset="0"/>
              </a:rPr>
              <a:t>][</a:t>
            </a:r>
            <a:r>
              <a:rPr lang="en-US">
                <a:solidFill>
                  <a:schemeClr val="hlink"/>
                </a:solidFill>
                <a:latin typeface="Courier New" pitchFamily="49" charset="0"/>
              </a:rPr>
              <a:t>k</a:t>
            </a:r>
            <a:r>
              <a:rPr lang="en-US">
                <a:latin typeface="Courier New" pitchFamily="49" charset="0"/>
              </a:rPr>
              <a:t>]</a:t>
            </a:r>
            <a:endParaRPr lang="zh-CN" altLang="en-US"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913414" name="Rectangle 6"/>
          <p:cNvSpPr>
            <a:spLocks noChangeArrowheads="1"/>
          </p:cNvSpPr>
          <p:nvPr/>
        </p:nvSpPr>
        <p:spPr bwMode="auto">
          <a:xfrm>
            <a:off x="9417050" y="3200401"/>
            <a:ext cx="12509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latin typeface="Courier New" pitchFamily="49" charset="0"/>
              </a:rPr>
              <a:t>z[</a:t>
            </a:r>
            <a:r>
              <a:rPr lang="en-US" sz="2000">
                <a:solidFill>
                  <a:schemeClr val="hlink"/>
                </a:solidFill>
                <a:latin typeface="Courier New" pitchFamily="49" charset="0"/>
              </a:rPr>
              <a:t>k</a:t>
            </a:r>
            <a:r>
              <a:rPr lang="en-US" sz="2000">
                <a:latin typeface="Courier New" pitchFamily="49" charset="0"/>
              </a:rPr>
              <a:t>][</a:t>
            </a:r>
            <a:r>
              <a:rPr lang="en-US" sz="2000">
                <a:solidFill>
                  <a:schemeClr val="accent1"/>
                </a:solidFill>
                <a:latin typeface="Courier New" pitchFamily="49" charset="0"/>
              </a:rPr>
              <a:t>j</a:t>
            </a:r>
            <a:r>
              <a:rPr lang="en-US" sz="2000">
                <a:latin typeface="Courier New" pitchFamily="49" charset="0"/>
              </a:rPr>
              <a:t>]</a:t>
            </a:r>
            <a:endParaRPr lang="zh-CN" altLang="en-US" sz="2000"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913415" name="Rectangle 7"/>
          <p:cNvSpPr>
            <a:spLocks noChangeArrowheads="1"/>
          </p:cNvSpPr>
          <p:nvPr/>
        </p:nvSpPr>
        <p:spPr bwMode="auto">
          <a:xfrm>
            <a:off x="6553200" y="3124201"/>
            <a:ext cx="12509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latin typeface="Courier New" pitchFamily="49" charset="0"/>
              </a:rPr>
              <a:t>x[</a:t>
            </a:r>
            <a:r>
              <a:rPr lang="en-US" sz="2000">
                <a:solidFill>
                  <a:schemeClr val="accent2"/>
                </a:solidFill>
                <a:latin typeface="Courier New" pitchFamily="49" charset="0"/>
              </a:rPr>
              <a:t>1</a:t>
            </a:r>
            <a:r>
              <a:rPr lang="en-US" sz="2000">
                <a:latin typeface="Courier New" pitchFamily="49" charset="0"/>
              </a:rPr>
              <a:t>][</a:t>
            </a:r>
            <a:r>
              <a:rPr lang="en-US" sz="2000">
                <a:solidFill>
                  <a:schemeClr val="accent1"/>
                </a:solidFill>
                <a:latin typeface="Courier New" pitchFamily="49" charset="0"/>
              </a:rPr>
              <a:t>j</a:t>
            </a:r>
            <a:r>
              <a:rPr lang="en-US" sz="2000">
                <a:latin typeface="Courier New" pitchFamily="49" charset="0"/>
              </a:rPr>
              <a:t>]</a:t>
            </a:r>
            <a:endParaRPr lang="zh-CN" altLang="en-US" sz="2000"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913416" name="Line 8"/>
          <p:cNvSpPr>
            <a:spLocks noChangeShapeType="1"/>
          </p:cNvSpPr>
          <p:nvPr/>
        </p:nvSpPr>
        <p:spPr bwMode="auto">
          <a:xfrm flipH="1" flipV="1">
            <a:off x="6934200" y="1524000"/>
            <a:ext cx="228600" cy="16764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3417" name="Line 9"/>
          <p:cNvSpPr>
            <a:spLocks noChangeShapeType="1"/>
          </p:cNvSpPr>
          <p:nvPr/>
        </p:nvSpPr>
        <p:spPr bwMode="auto">
          <a:xfrm flipH="1" flipV="1">
            <a:off x="8458200" y="1600200"/>
            <a:ext cx="228600" cy="16764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3418" name="Line 10"/>
          <p:cNvSpPr>
            <a:spLocks noChangeShapeType="1"/>
          </p:cNvSpPr>
          <p:nvPr/>
        </p:nvSpPr>
        <p:spPr bwMode="auto">
          <a:xfrm flipH="1" flipV="1">
            <a:off x="9906000" y="1676400"/>
            <a:ext cx="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13419" name="Rectangle 11"/>
          <p:cNvSpPr>
            <a:spLocks noChangeArrowheads="1"/>
          </p:cNvSpPr>
          <p:nvPr/>
        </p:nvSpPr>
        <p:spPr bwMode="auto">
          <a:xfrm>
            <a:off x="6839179" y="3733801"/>
            <a:ext cx="3695242" cy="769441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200" dirty="0">
                <a:latin typeface="+mn-lt"/>
              </a:rPr>
              <a:t>((N+N)N+N)N=2N</a:t>
            </a:r>
            <a:r>
              <a:rPr lang="en-US" sz="2200" baseline="30000" dirty="0">
                <a:latin typeface="+mn-lt"/>
              </a:rPr>
              <a:t>3 </a:t>
            </a:r>
            <a:r>
              <a:rPr lang="en-US" sz="2200" dirty="0">
                <a:latin typeface="+mn-lt"/>
              </a:rPr>
              <a:t>+</a:t>
            </a:r>
            <a:r>
              <a:rPr lang="en-US" sz="2200" baseline="30000" dirty="0">
                <a:latin typeface="+mn-lt"/>
              </a:rPr>
              <a:t> </a:t>
            </a:r>
            <a:r>
              <a:rPr lang="en-US" sz="2200" dirty="0">
                <a:latin typeface="+mn-lt"/>
              </a:rPr>
              <a:t>N</a:t>
            </a:r>
            <a:r>
              <a:rPr lang="en-US" sz="2200" baseline="30000" dirty="0">
                <a:latin typeface="+mn-lt"/>
              </a:rPr>
              <a:t>2</a:t>
            </a:r>
          </a:p>
          <a:p>
            <a:r>
              <a:rPr lang="en-US" sz="2200" dirty="0">
                <a:latin typeface="+mn-lt"/>
              </a:rPr>
              <a:t>Accessed For N</a:t>
            </a:r>
            <a:r>
              <a:rPr lang="en-US" sz="2200" baseline="30000" dirty="0">
                <a:latin typeface="+mn-lt"/>
              </a:rPr>
              <a:t>3</a:t>
            </a:r>
            <a:r>
              <a:rPr lang="en-US" sz="2200" dirty="0">
                <a:latin typeface="+mn-lt"/>
              </a:rPr>
              <a:t> operations</a:t>
            </a:r>
            <a:endParaRPr lang="en-US" altLang="zh-CN" sz="2200" dirty="0">
              <a:latin typeface="+mn-lt"/>
              <a:ea typeface="宋体" pitchFamily="2" charset="-122"/>
            </a:endParaRPr>
          </a:p>
        </p:txBody>
      </p:sp>
      <p:sp>
        <p:nvSpPr>
          <p:cNvPr id="913420" name="AutoShape 12"/>
          <p:cNvSpPr>
            <a:spLocks/>
          </p:cNvSpPr>
          <p:nvPr/>
        </p:nvSpPr>
        <p:spPr bwMode="auto">
          <a:xfrm rot="3007294">
            <a:off x="5534053" y="2651462"/>
            <a:ext cx="709471" cy="1350082"/>
          </a:xfrm>
          <a:prstGeom prst="rightBrace">
            <a:avLst>
              <a:gd name="adj1" fmla="val 283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913421" name="Line 13"/>
          <p:cNvSpPr>
            <a:spLocks noChangeShapeType="1"/>
          </p:cNvSpPr>
          <p:nvPr/>
        </p:nvSpPr>
        <p:spPr bwMode="auto">
          <a:xfrm rot="1769030" flipV="1">
            <a:off x="6237289" y="3770314"/>
            <a:ext cx="663575" cy="65087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13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13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13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3419" grpId="0" animBg="1"/>
      <p:bldP spid="913420" grpId="0" animBg="1"/>
      <p:bldP spid="91342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434" name="Rectangle 2"/>
          <p:cNvSpPr>
            <a:spLocks noGrp="1" noChangeArrowheads="1"/>
          </p:cNvSpPr>
          <p:nvPr>
            <p:ph idx="1"/>
          </p:nvPr>
        </p:nvSpPr>
        <p:spPr>
          <a:xfrm>
            <a:off x="1055440" y="1066800"/>
            <a:ext cx="9509620" cy="5410200"/>
          </a:xfrm>
          <a:noFill/>
          <a:ln/>
        </p:spPr>
        <p:txBody>
          <a:bodyPr lIns="90488" rIns="90488"/>
          <a:lstStyle/>
          <a:p>
            <a:pPr>
              <a:lnSpc>
                <a:spcPct val="80000"/>
              </a:lnSpc>
              <a:tabLst>
                <a:tab pos="685800" algn="l"/>
                <a:tab pos="1085850" algn="l"/>
              </a:tabLst>
            </a:pPr>
            <a:r>
              <a:rPr lang="en-US" altLang="zh-CN" sz="2000" i="1" dirty="0">
                <a:solidFill>
                  <a:schemeClr val="hlink"/>
                </a:solidFill>
                <a:ea typeface="宋体" pitchFamily="2" charset="-122"/>
              </a:rPr>
              <a:t>Matrix multiplication is</a:t>
            </a:r>
          </a:p>
          <a:p>
            <a:pPr>
              <a:lnSpc>
                <a:spcPct val="80000"/>
              </a:lnSpc>
              <a:buNone/>
              <a:tabLst>
                <a:tab pos="685800" algn="l"/>
                <a:tab pos="1085850" algn="l"/>
              </a:tabLst>
            </a:pPr>
            <a:r>
              <a:rPr lang="en-US" altLang="zh-CN" sz="1800" i="1" dirty="0">
                <a:solidFill>
                  <a:schemeClr val="hlink"/>
                </a:solidFill>
                <a:ea typeface="宋体" pitchFamily="2" charset="-122"/>
              </a:rPr>
              <a:t> </a:t>
            </a:r>
            <a:r>
              <a:rPr lang="en-US" altLang="zh-CN" sz="2000" i="1" dirty="0">
                <a:solidFill>
                  <a:schemeClr val="hlink"/>
                </a:solidFill>
                <a:ea typeface="宋体" pitchFamily="2" charset="-122"/>
              </a:rPr>
              <a:t>performed by multiplying the </a:t>
            </a:r>
          </a:p>
          <a:p>
            <a:pPr>
              <a:lnSpc>
                <a:spcPct val="80000"/>
              </a:lnSpc>
              <a:buNone/>
              <a:tabLst>
                <a:tab pos="685800" algn="l"/>
                <a:tab pos="1085850" algn="l"/>
              </a:tabLst>
            </a:pPr>
            <a:r>
              <a:rPr lang="en-US" altLang="zh-CN" sz="2000" i="1" dirty="0">
                <a:solidFill>
                  <a:schemeClr val="hlink"/>
                </a:solidFill>
                <a:ea typeface="宋体" pitchFamily="2" charset="-122"/>
              </a:rPr>
              <a:t>submatrices first. </a:t>
            </a:r>
            <a:endParaRPr lang="en-US" altLang="zh-CN" sz="2000" dirty="0">
              <a:solidFill>
                <a:schemeClr val="hlink"/>
              </a:solidFill>
              <a:ea typeface="宋体" pitchFamily="2" charset="-122"/>
            </a:endParaRPr>
          </a:p>
          <a:p>
            <a:pPr>
              <a:lnSpc>
                <a:spcPct val="80000"/>
              </a:lnSpc>
              <a:buNone/>
              <a:tabLst>
                <a:tab pos="685800" algn="l"/>
                <a:tab pos="1085850" algn="l"/>
              </a:tabLst>
            </a:pPr>
            <a:endParaRPr lang="en-US" sz="18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None/>
              <a:tabLst>
                <a:tab pos="685800" algn="l"/>
                <a:tab pos="1085850" algn="l"/>
              </a:tabLst>
            </a:pPr>
            <a:r>
              <a:rPr lang="en-US" sz="1800" dirty="0">
                <a:latin typeface="Courier New" pitchFamily="49" charset="0"/>
              </a:rPr>
              <a:t>/* </a:t>
            </a:r>
            <a:r>
              <a:rPr lang="en-US" sz="1800" dirty="0">
                <a:solidFill>
                  <a:schemeClr val="hlink"/>
                </a:solidFill>
                <a:latin typeface="Courier New" pitchFamily="49" charset="0"/>
              </a:rPr>
              <a:t>After </a:t>
            </a:r>
            <a:r>
              <a:rPr lang="en-US" sz="1800" dirty="0">
                <a:latin typeface="Courier New" pitchFamily="49" charset="0"/>
              </a:rPr>
              <a:t>*/</a:t>
            </a:r>
          </a:p>
          <a:p>
            <a:pPr>
              <a:lnSpc>
                <a:spcPct val="80000"/>
              </a:lnSpc>
              <a:buNone/>
              <a:tabLst>
                <a:tab pos="685800" algn="l"/>
                <a:tab pos="1085850" algn="l"/>
              </a:tabLst>
            </a:pPr>
            <a:r>
              <a:rPr lang="en-US" sz="1800" dirty="0">
                <a:latin typeface="Courier New" pitchFamily="49" charset="0"/>
              </a:rPr>
              <a:t>for (</a:t>
            </a:r>
            <a:r>
              <a:rPr lang="en-US" sz="1800" dirty="0" err="1">
                <a:solidFill>
                  <a:schemeClr val="accent1"/>
                </a:solidFill>
                <a:latin typeface="Courier New" pitchFamily="49" charset="0"/>
              </a:rPr>
              <a:t>jj</a:t>
            </a:r>
            <a:r>
              <a:rPr lang="en-US" sz="1800" dirty="0">
                <a:latin typeface="Courier New" pitchFamily="49" charset="0"/>
              </a:rPr>
              <a:t> = 0; </a:t>
            </a:r>
            <a:r>
              <a:rPr lang="en-US" sz="1800" dirty="0" err="1">
                <a:solidFill>
                  <a:schemeClr val="accent1"/>
                </a:solidFill>
                <a:latin typeface="Courier New" pitchFamily="49" charset="0"/>
              </a:rPr>
              <a:t>jj</a:t>
            </a:r>
            <a:r>
              <a:rPr lang="en-US" sz="1800" dirty="0">
                <a:latin typeface="Courier New" pitchFamily="49" charset="0"/>
              </a:rPr>
              <a:t> &lt; N; </a:t>
            </a:r>
            <a:r>
              <a:rPr lang="en-US" sz="1800" dirty="0" err="1">
                <a:solidFill>
                  <a:schemeClr val="accent1"/>
                </a:solidFill>
                <a:latin typeface="Courier New" pitchFamily="49" charset="0"/>
              </a:rPr>
              <a:t>jj</a:t>
            </a:r>
            <a:r>
              <a:rPr lang="en-US" sz="1800" dirty="0">
                <a:latin typeface="Courier New" pitchFamily="49" charset="0"/>
              </a:rPr>
              <a:t> = </a:t>
            </a:r>
            <a:r>
              <a:rPr lang="en-US" sz="1800" dirty="0" err="1">
                <a:solidFill>
                  <a:schemeClr val="accent1"/>
                </a:solidFill>
                <a:latin typeface="Courier New" pitchFamily="49" charset="0"/>
              </a:rPr>
              <a:t>jj</a:t>
            </a:r>
            <a:r>
              <a:rPr lang="en-US" sz="1800" dirty="0" err="1">
                <a:latin typeface="Courier New" pitchFamily="49" charset="0"/>
              </a:rPr>
              <a:t>+B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>
              <a:lnSpc>
                <a:spcPct val="80000"/>
              </a:lnSpc>
              <a:buNone/>
              <a:tabLst>
                <a:tab pos="685800" algn="l"/>
                <a:tab pos="1085850" algn="l"/>
              </a:tabLst>
            </a:pPr>
            <a:r>
              <a:rPr lang="en-US" sz="1800" dirty="0">
                <a:latin typeface="Courier New" pitchFamily="49" charset="0"/>
              </a:rPr>
              <a:t>for (</a:t>
            </a:r>
            <a:r>
              <a:rPr lang="en-US" sz="1800" dirty="0">
                <a:solidFill>
                  <a:schemeClr val="hlink"/>
                </a:solidFill>
                <a:latin typeface="Courier New" pitchFamily="49" charset="0"/>
              </a:rPr>
              <a:t>kk</a:t>
            </a:r>
            <a:r>
              <a:rPr lang="en-US" sz="1800" dirty="0">
                <a:latin typeface="Courier New" pitchFamily="49" charset="0"/>
              </a:rPr>
              <a:t> = 0; </a:t>
            </a:r>
            <a:r>
              <a:rPr lang="en-US" sz="1800" dirty="0">
                <a:solidFill>
                  <a:schemeClr val="hlink"/>
                </a:solidFill>
                <a:latin typeface="Courier New" pitchFamily="49" charset="0"/>
              </a:rPr>
              <a:t>kk</a:t>
            </a:r>
            <a:r>
              <a:rPr lang="en-US" sz="1800" dirty="0">
                <a:latin typeface="Courier New" pitchFamily="49" charset="0"/>
              </a:rPr>
              <a:t> &lt; N; </a:t>
            </a:r>
            <a:r>
              <a:rPr lang="en-US" sz="1800" dirty="0">
                <a:solidFill>
                  <a:schemeClr val="hlink"/>
                </a:solidFill>
                <a:latin typeface="Courier New" pitchFamily="49" charset="0"/>
              </a:rPr>
              <a:t>kk</a:t>
            </a:r>
            <a:r>
              <a:rPr lang="en-US" sz="1800" dirty="0">
                <a:latin typeface="Courier New" pitchFamily="49" charset="0"/>
              </a:rPr>
              <a:t> = </a:t>
            </a:r>
            <a:r>
              <a:rPr lang="en-US" sz="1800" dirty="0" err="1">
                <a:solidFill>
                  <a:schemeClr val="hlink"/>
                </a:solidFill>
                <a:latin typeface="Courier New" pitchFamily="49" charset="0"/>
              </a:rPr>
              <a:t>kk</a:t>
            </a:r>
            <a:r>
              <a:rPr lang="en-US" sz="1800" dirty="0" err="1">
                <a:latin typeface="Courier New" pitchFamily="49" charset="0"/>
              </a:rPr>
              <a:t>+B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>
              <a:lnSpc>
                <a:spcPct val="80000"/>
              </a:lnSpc>
              <a:buNone/>
              <a:tabLst>
                <a:tab pos="685800" algn="l"/>
                <a:tab pos="1085850" algn="l"/>
              </a:tabLst>
            </a:pPr>
            <a:r>
              <a:rPr lang="en-US" sz="1800" dirty="0">
                <a:solidFill>
                  <a:schemeClr val="hlink"/>
                </a:solidFill>
                <a:latin typeface="Courier New" pitchFamily="49" charset="0"/>
              </a:rPr>
              <a:t>for</a:t>
            </a:r>
            <a:r>
              <a:rPr lang="en-US" sz="1800" dirty="0">
                <a:latin typeface="Courier New" pitchFamily="49" charset="0"/>
              </a:rPr>
              <a:t> (</a:t>
            </a:r>
            <a:r>
              <a:rPr lang="en-US" sz="1800" dirty="0" err="1">
                <a:solidFill>
                  <a:schemeClr val="accent2"/>
                </a:solidFill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= 0;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&lt; N;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= i+1)</a:t>
            </a:r>
          </a:p>
          <a:p>
            <a:pPr>
              <a:lnSpc>
                <a:spcPct val="80000"/>
              </a:lnSpc>
              <a:buNone/>
              <a:tabLst>
                <a:tab pos="685800" algn="l"/>
                <a:tab pos="1085850" algn="l"/>
              </a:tabLst>
            </a:pPr>
            <a:r>
              <a:rPr lang="en-US" sz="1800" dirty="0">
                <a:latin typeface="Courier New" pitchFamily="49" charset="0"/>
              </a:rPr>
              <a:t>	 </a:t>
            </a:r>
            <a:r>
              <a:rPr lang="en-US" sz="1800" dirty="0">
                <a:solidFill>
                  <a:schemeClr val="hlink"/>
                </a:solidFill>
                <a:latin typeface="Courier New" pitchFamily="49" charset="0"/>
              </a:rPr>
              <a:t>for</a:t>
            </a:r>
            <a:r>
              <a:rPr lang="en-US" sz="1800" dirty="0">
                <a:latin typeface="Courier New" pitchFamily="49" charset="0"/>
              </a:rPr>
              <a:t> (</a:t>
            </a:r>
            <a:r>
              <a:rPr lang="en-US" sz="1800" dirty="0">
                <a:solidFill>
                  <a:schemeClr val="accent1"/>
                </a:solidFill>
                <a:latin typeface="Courier New" pitchFamily="49" charset="0"/>
              </a:rPr>
              <a:t>j</a:t>
            </a:r>
            <a:r>
              <a:rPr lang="en-US" sz="1800" dirty="0">
                <a:latin typeface="Courier New" pitchFamily="49" charset="0"/>
              </a:rPr>
              <a:t> = </a:t>
            </a:r>
            <a:r>
              <a:rPr lang="en-US" sz="1800" dirty="0" err="1">
                <a:solidFill>
                  <a:schemeClr val="accent1"/>
                </a:solidFill>
                <a:latin typeface="Courier New" pitchFamily="49" charset="0"/>
              </a:rPr>
              <a:t>jj</a:t>
            </a:r>
            <a:r>
              <a:rPr lang="en-US" sz="1800" dirty="0">
                <a:latin typeface="Courier New" pitchFamily="49" charset="0"/>
              </a:rPr>
              <a:t>; </a:t>
            </a:r>
            <a:r>
              <a:rPr lang="en-US" sz="1800" dirty="0">
                <a:solidFill>
                  <a:schemeClr val="accent1"/>
                </a:solidFill>
                <a:latin typeface="Courier New" pitchFamily="49" charset="0"/>
              </a:rPr>
              <a:t>j</a:t>
            </a:r>
            <a:r>
              <a:rPr lang="en-US" sz="1800" dirty="0">
                <a:latin typeface="Courier New" pitchFamily="49" charset="0"/>
              </a:rPr>
              <a:t> &lt; min(</a:t>
            </a:r>
            <a:r>
              <a:rPr lang="en-US" sz="1800" dirty="0">
                <a:solidFill>
                  <a:schemeClr val="accent1"/>
                </a:solidFill>
                <a:latin typeface="Courier New" pitchFamily="49" charset="0"/>
              </a:rPr>
              <a:t>jj</a:t>
            </a:r>
            <a:r>
              <a:rPr lang="en-US" sz="1800" dirty="0">
                <a:latin typeface="Courier New" pitchFamily="49" charset="0"/>
              </a:rPr>
              <a:t>+B-1,N); </a:t>
            </a:r>
            <a:r>
              <a:rPr lang="en-US" sz="1800" dirty="0">
                <a:solidFill>
                  <a:schemeClr val="accent1"/>
                </a:solidFill>
                <a:latin typeface="Courier New" pitchFamily="49" charset="0"/>
              </a:rPr>
              <a:t>j</a:t>
            </a:r>
            <a:r>
              <a:rPr lang="en-US" sz="1800" dirty="0">
                <a:latin typeface="Courier New" pitchFamily="49" charset="0"/>
              </a:rPr>
              <a:t> = </a:t>
            </a:r>
            <a:r>
              <a:rPr lang="en-US" sz="1800" dirty="0">
                <a:solidFill>
                  <a:schemeClr val="accent1"/>
                </a:solidFill>
                <a:latin typeface="Courier New" pitchFamily="49" charset="0"/>
              </a:rPr>
              <a:t>j</a:t>
            </a:r>
            <a:r>
              <a:rPr lang="en-US" sz="1800" dirty="0">
                <a:latin typeface="Courier New" pitchFamily="49" charset="0"/>
              </a:rPr>
              <a:t>+1)</a:t>
            </a:r>
          </a:p>
          <a:p>
            <a:pPr>
              <a:lnSpc>
                <a:spcPct val="80000"/>
              </a:lnSpc>
              <a:buNone/>
              <a:tabLst>
                <a:tab pos="685800" algn="l"/>
                <a:tab pos="1085850" algn="l"/>
              </a:tabLst>
            </a:pPr>
            <a:r>
              <a:rPr lang="en-US" sz="1800" dirty="0">
                <a:latin typeface="Courier New" pitchFamily="49" charset="0"/>
              </a:rPr>
              <a:t>		{r = 0;</a:t>
            </a:r>
          </a:p>
          <a:p>
            <a:pPr>
              <a:lnSpc>
                <a:spcPct val="80000"/>
              </a:lnSpc>
              <a:buNone/>
              <a:tabLst>
                <a:tab pos="685800" algn="l"/>
                <a:tab pos="1085850" algn="l"/>
              </a:tabLst>
            </a:pPr>
            <a:r>
              <a:rPr lang="en-US" sz="1800" dirty="0">
                <a:latin typeface="Courier New" pitchFamily="49" charset="0"/>
              </a:rPr>
              <a:t>		 </a:t>
            </a:r>
            <a:r>
              <a:rPr lang="en-US" sz="1800" dirty="0">
                <a:solidFill>
                  <a:schemeClr val="hlink"/>
                </a:solidFill>
                <a:latin typeface="Courier New" pitchFamily="49" charset="0"/>
              </a:rPr>
              <a:t>for</a:t>
            </a:r>
            <a:r>
              <a:rPr lang="en-US" sz="1800" dirty="0">
                <a:latin typeface="Courier New" pitchFamily="49" charset="0"/>
              </a:rPr>
              <a:t> (</a:t>
            </a:r>
            <a:r>
              <a:rPr lang="en-US" sz="1800" dirty="0">
                <a:solidFill>
                  <a:schemeClr val="hlink"/>
                </a:solidFill>
                <a:latin typeface="Courier New" pitchFamily="49" charset="0"/>
              </a:rPr>
              <a:t>k</a:t>
            </a:r>
            <a:r>
              <a:rPr lang="en-US" sz="1800" dirty="0">
                <a:latin typeface="Courier New" pitchFamily="49" charset="0"/>
              </a:rPr>
              <a:t> = </a:t>
            </a:r>
            <a:r>
              <a:rPr lang="en-US" sz="1800" dirty="0">
                <a:solidFill>
                  <a:schemeClr val="hlink"/>
                </a:solidFill>
                <a:latin typeface="Courier New" pitchFamily="49" charset="0"/>
              </a:rPr>
              <a:t>kk</a:t>
            </a:r>
            <a:r>
              <a:rPr lang="en-US" sz="1800" dirty="0">
                <a:latin typeface="Courier New" pitchFamily="49" charset="0"/>
              </a:rPr>
              <a:t>; </a:t>
            </a:r>
            <a:r>
              <a:rPr lang="en-US" sz="1800" dirty="0">
                <a:solidFill>
                  <a:schemeClr val="hlink"/>
                </a:solidFill>
                <a:latin typeface="Courier New" pitchFamily="49" charset="0"/>
              </a:rPr>
              <a:t>k</a:t>
            </a:r>
            <a:r>
              <a:rPr lang="en-US" sz="1800" dirty="0">
                <a:latin typeface="Courier New" pitchFamily="49" charset="0"/>
              </a:rPr>
              <a:t> &lt; min(</a:t>
            </a:r>
            <a:r>
              <a:rPr lang="en-US" sz="1800" dirty="0">
                <a:solidFill>
                  <a:schemeClr val="hlink"/>
                </a:solidFill>
                <a:latin typeface="Courier New" pitchFamily="49" charset="0"/>
              </a:rPr>
              <a:t>kk</a:t>
            </a:r>
            <a:r>
              <a:rPr lang="en-US" sz="1800" dirty="0">
                <a:latin typeface="Courier New" pitchFamily="49" charset="0"/>
              </a:rPr>
              <a:t>+B-1,N); </a:t>
            </a:r>
            <a:r>
              <a:rPr lang="en-US" sz="1800" dirty="0">
                <a:solidFill>
                  <a:schemeClr val="hlink"/>
                </a:solidFill>
                <a:latin typeface="Courier New" pitchFamily="49" charset="0"/>
              </a:rPr>
              <a:t>k</a:t>
            </a:r>
            <a:r>
              <a:rPr lang="en-US" sz="1800" dirty="0">
                <a:latin typeface="Courier New" pitchFamily="49" charset="0"/>
              </a:rPr>
              <a:t> = </a:t>
            </a:r>
            <a:r>
              <a:rPr lang="en-US" sz="1800" dirty="0">
                <a:solidFill>
                  <a:schemeClr val="hlink"/>
                </a:solidFill>
                <a:latin typeface="Courier New" pitchFamily="49" charset="0"/>
              </a:rPr>
              <a:t>k</a:t>
            </a:r>
            <a:r>
              <a:rPr lang="en-US" sz="1800" dirty="0">
                <a:latin typeface="Courier New" pitchFamily="49" charset="0"/>
              </a:rPr>
              <a:t>+1)</a:t>
            </a:r>
          </a:p>
          <a:p>
            <a:pPr>
              <a:lnSpc>
                <a:spcPct val="80000"/>
              </a:lnSpc>
              <a:buNone/>
              <a:tabLst>
                <a:tab pos="685800" algn="l"/>
                <a:tab pos="1085850" algn="l"/>
              </a:tabLst>
            </a:pPr>
            <a:r>
              <a:rPr lang="en-US" sz="1800" dirty="0">
                <a:latin typeface="Courier New" pitchFamily="49" charset="0"/>
              </a:rPr>
              <a:t>			r = r + y[</a:t>
            </a:r>
            <a:r>
              <a:rPr lang="en-US" sz="1800" dirty="0" err="1">
                <a:solidFill>
                  <a:schemeClr val="accent2"/>
                </a:solidFill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][</a:t>
            </a:r>
            <a:r>
              <a:rPr lang="en-US" sz="1800" dirty="0">
                <a:solidFill>
                  <a:schemeClr val="hlink"/>
                </a:solidFill>
                <a:latin typeface="Courier New" pitchFamily="49" charset="0"/>
              </a:rPr>
              <a:t>k</a:t>
            </a:r>
            <a:r>
              <a:rPr lang="en-US" sz="1800" dirty="0">
                <a:latin typeface="Courier New" pitchFamily="49" charset="0"/>
              </a:rPr>
              <a:t>]*z[</a:t>
            </a:r>
            <a:r>
              <a:rPr lang="en-US" sz="1800" dirty="0">
                <a:solidFill>
                  <a:schemeClr val="hlink"/>
                </a:solidFill>
                <a:latin typeface="Courier New" pitchFamily="49" charset="0"/>
              </a:rPr>
              <a:t>k</a:t>
            </a:r>
            <a:r>
              <a:rPr lang="en-US" sz="1800" dirty="0">
                <a:latin typeface="Courier New" pitchFamily="49" charset="0"/>
              </a:rPr>
              <a:t>][</a:t>
            </a:r>
            <a:r>
              <a:rPr lang="en-US" sz="1800" dirty="0">
                <a:solidFill>
                  <a:schemeClr val="accent1"/>
                </a:solidFill>
                <a:latin typeface="Courier New" pitchFamily="49" charset="0"/>
              </a:rPr>
              <a:t>j</a:t>
            </a:r>
            <a:r>
              <a:rPr lang="en-US" sz="1800" dirty="0">
                <a:latin typeface="Courier New" pitchFamily="49" charset="0"/>
              </a:rPr>
              <a:t>];</a:t>
            </a:r>
          </a:p>
          <a:p>
            <a:pPr>
              <a:lnSpc>
                <a:spcPct val="80000"/>
              </a:lnSpc>
              <a:buNone/>
              <a:tabLst>
                <a:tab pos="685800" algn="l"/>
                <a:tab pos="1085850" algn="l"/>
              </a:tabLst>
            </a:pPr>
            <a:r>
              <a:rPr lang="en-US" sz="1800" dirty="0">
                <a:latin typeface="Courier New" pitchFamily="49" charset="0"/>
              </a:rPr>
              <a:t>		 x[</a:t>
            </a:r>
            <a:r>
              <a:rPr lang="en-US" sz="1800" dirty="0" err="1">
                <a:solidFill>
                  <a:schemeClr val="accent2"/>
                </a:solidFill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][</a:t>
            </a:r>
            <a:r>
              <a:rPr lang="en-US" sz="1800" dirty="0">
                <a:solidFill>
                  <a:schemeClr val="accent1"/>
                </a:solidFill>
                <a:latin typeface="Courier New" pitchFamily="49" charset="0"/>
              </a:rPr>
              <a:t>j</a:t>
            </a:r>
            <a:r>
              <a:rPr lang="en-US" sz="1800" dirty="0">
                <a:latin typeface="Courier New" pitchFamily="49" charset="0"/>
              </a:rPr>
              <a:t>] = x[</a:t>
            </a:r>
            <a:r>
              <a:rPr lang="en-US" sz="1800" dirty="0" err="1">
                <a:solidFill>
                  <a:schemeClr val="accent2"/>
                </a:solidFill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][</a:t>
            </a:r>
            <a:r>
              <a:rPr lang="en-US" sz="1800" dirty="0">
                <a:solidFill>
                  <a:schemeClr val="accent1"/>
                </a:solidFill>
                <a:latin typeface="Courier New" pitchFamily="49" charset="0"/>
              </a:rPr>
              <a:t>j</a:t>
            </a:r>
            <a:r>
              <a:rPr lang="en-US" sz="1800" dirty="0">
                <a:latin typeface="Courier New" pitchFamily="49" charset="0"/>
              </a:rPr>
              <a:t>] + r;</a:t>
            </a:r>
          </a:p>
          <a:p>
            <a:pPr>
              <a:lnSpc>
                <a:spcPct val="80000"/>
              </a:lnSpc>
              <a:buNone/>
              <a:tabLst>
                <a:tab pos="685800" algn="l"/>
                <a:tab pos="1085850" algn="l"/>
              </a:tabLst>
            </a:pPr>
            <a:r>
              <a:rPr lang="en-US" sz="1800" dirty="0">
                <a:latin typeface="Courier New" pitchFamily="49" charset="0"/>
              </a:rPr>
              <a:t>		};</a:t>
            </a:r>
            <a:br>
              <a:rPr lang="en-US" sz="1800" dirty="0">
                <a:latin typeface="Courier New" pitchFamily="49" charset="0"/>
              </a:rPr>
            </a:br>
            <a:endParaRPr lang="en-US" sz="18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None/>
              <a:tabLst>
                <a:tab pos="685800" algn="l"/>
                <a:tab pos="1085850" algn="l"/>
              </a:tabLst>
            </a:pPr>
            <a:r>
              <a:rPr lang="en-US" altLang="zh-CN" sz="1800" dirty="0">
                <a:ea typeface="宋体" pitchFamily="2" charset="-122"/>
              </a:rPr>
              <a:t>Y benefits from </a:t>
            </a:r>
            <a:r>
              <a:rPr lang="en-US" altLang="zh-CN" sz="1800" dirty="0">
                <a:solidFill>
                  <a:schemeClr val="hlink"/>
                </a:solidFill>
                <a:ea typeface="宋体" pitchFamily="2" charset="-122"/>
              </a:rPr>
              <a:t>spatial</a:t>
            </a:r>
            <a:r>
              <a:rPr lang="en-US" altLang="zh-CN" sz="1800" dirty="0">
                <a:ea typeface="宋体" pitchFamily="2" charset="-122"/>
              </a:rPr>
              <a:t> locality</a:t>
            </a:r>
          </a:p>
          <a:p>
            <a:pPr>
              <a:spcBef>
                <a:spcPct val="0"/>
              </a:spcBef>
              <a:buSzTx/>
              <a:buNone/>
              <a:tabLst>
                <a:tab pos="685800" algn="l"/>
                <a:tab pos="1085850" algn="l"/>
              </a:tabLst>
            </a:pPr>
            <a:r>
              <a:rPr lang="en-US" altLang="zh-CN" sz="1800" dirty="0">
                <a:ea typeface="宋体" pitchFamily="2" charset="-122"/>
              </a:rPr>
              <a:t>Z benefits from </a:t>
            </a:r>
            <a:r>
              <a:rPr lang="en-US" altLang="zh-CN" sz="1800" dirty="0">
                <a:solidFill>
                  <a:schemeClr val="hlink"/>
                </a:solidFill>
                <a:ea typeface="宋体" pitchFamily="2" charset="-122"/>
              </a:rPr>
              <a:t>temporal</a:t>
            </a:r>
            <a:r>
              <a:rPr lang="en-US" altLang="zh-CN" sz="1800" dirty="0">
                <a:ea typeface="宋体" pitchFamily="2" charset="-122"/>
              </a:rPr>
              <a:t> locality</a:t>
            </a:r>
          </a:p>
          <a:p>
            <a:pPr>
              <a:spcBef>
                <a:spcPct val="0"/>
              </a:spcBef>
              <a:buSzTx/>
              <a:buNone/>
              <a:tabLst>
                <a:tab pos="685800" algn="l"/>
                <a:tab pos="1085850" algn="l"/>
              </a:tabLst>
            </a:pPr>
            <a:r>
              <a:rPr lang="en-US" sz="2000" dirty="0"/>
              <a:t>Capacity Misses from 2N</a:t>
            </a:r>
            <a:r>
              <a:rPr lang="en-US" sz="2000" baseline="30000" dirty="0"/>
              <a:t>3</a:t>
            </a:r>
            <a:r>
              <a:rPr lang="en-US" sz="2000" dirty="0"/>
              <a:t> + N</a:t>
            </a:r>
            <a:r>
              <a:rPr lang="en-US" sz="2000" baseline="30000" dirty="0"/>
              <a:t>2</a:t>
            </a:r>
            <a:r>
              <a:rPr lang="en-US" sz="2000" dirty="0"/>
              <a:t> to </a:t>
            </a:r>
            <a:r>
              <a:rPr lang="en-US" sz="2000" dirty="0">
                <a:solidFill>
                  <a:schemeClr val="hlink"/>
                </a:solidFill>
              </a:rPr>
              <a:t>2N</a:t>
            </a:r>
            <a:r>
              <a:rPr lang="en-US" sz="2000" baseline="30000" dirty="0">
                <a:solidFill>
                  <a:schemeClr val="hlink"/>
                </a:solidFill>
              </a:rPr>
              <a:t>3</a:t>
            </a:r>
            <a:r>
              <a:rPr lang="en-US" sz="2000" dirty="0">
                <a:solidFill>
                  <a:schemeClr val="hlink"/>
                </a:solidFill>
              </a:rPr>
              <a:t>/B+N</a:t>
            </a:r>
            <a:r>
              <a:rPr lang="en-US" sz="2000" baseline="30000" dirty="0">
                <a:solidFill>
                  <a:schemeClr val="hlink"/>
                </a:solidFill>
              </a:rPr>
              <a:t>2</a:t>
            </a:r>
            <a:endParaRPr lang="en-US" sz="2000" dirty="0"/>
          </a:p>
        </p:txBody>
      </p:sp>
      <p:sp>
        <p:nvSpPr>
          <p:cNvPr id="914440" name="Rectangle 8"/>
          <p:cNvSpPr>
            <a:spLocks noGrp="1" noChangeArrowheads="1"/>
          </p:cNvSpPr>
          <p:nvPr>
            <p:ph type="title"/>
          </p:nvPr>
        </p:nvSpPr>
        <p:spPr>
          <a:xfrm>
            <a:off x="1055440" y="228600"/>
            <a:ext cx="9460160" cy="685800"/>
          </a:xfrm>
          <a:noFill/>
          <a:ln/>
        </p:spPr>
        <p:txBody>
          <a:bodyPr vert="horz" lIns="90488" tIns="45720" rIns="90488" bIns="45720" rtlCol="0" anchor="ctr">
            <a:noAutofit/>
          </a:bodyPr>
          <a:lstStyle/>
          <a:p>
            <a:r>
              <a:rPr lang="en-US" dirty="0"/>
              <a:t>Blocking </a:t>
            </a:r>
            <a:r>
              <a:rPr lang="en-US" altLang="zh-CN" dirty="0">
                <a:ea typeface="宋体" pitchFamily="2" charset="-122"/>
              </a:rPr>
              <a:t>optimized Matrix Multiplication</a:t>
            </a:r>
            <a:r>
              <a:rPr lang="en-US" altLang="zh-CN" i="1" dirty="0">
                <a:solidFill>
                  <a:srgbClr val="000000"/>
                </a:solidFill>
                <a:latin typeface="Palatino" pitchFamily="18" charset="0"/>
                <a:ea typeface="宋体" pitchFamily="2" charset="-122"/>
              </a:rPr>
              <a:t> </a:t>
            </a:r>
            <a:endParaRPr lang="en-US" i="1" dirty="0">
              <a:solidFill>
                <a:srgbClr val="000000"/>
              </a:solidFill>
              <a:latin typeface="Palatino" pitchFamily="18" charset="0"/>
            </a:endParaRPr>
          </a:p>
        </p:txBody>
      </p:sp>
      <p:grpSp>
        <p:nvGrpSpPr>
          <p:cNvPr id="914435" name="Group 3"/>
          <p:cNvGrpSpPr>
            <a:grpSpLocks/>
          </p:cNvGrpSpPr>
          <p:nvPr/>
        </p:nvGrpSpPr>
        <p:grpSpPr bwMode="auto">
          <a:xfrm>
            <a:off x="5854700" y="914400"/>
            <a:ext cx="4813300" cy="2103438"/>
            <a:chOff x="2728" y="480"/>
            <a:chExt cx="3032" cy="1325"/>
          </a:xfrm>
        </p:grpSpPr>
        <p:graphicFrame>
          <p:nvGraphicFramePr>
            <p:cNvPr id="914436" name="Object 4"/>
            <p:cNvGraphicFramePr>
              <a:graphicFrameLocks noChangeAspect="1"/>
            </p:cNvGraphicFramePr>
            <p:nvPr/>
          </p:nvGraphicFramePr>
          <p:xfrm>
            <a:off x="2728" y="480"/>
            <a:ext cx="3032" cy="10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8" name="位图图像" r:id="rId3" imgW="5357324" imgH="1600339" progId="Paint.Picture">
                    <p:embed/>
                  </p:oleObj>
                </mc:Choice>
                <mc:Fallback>
                  <p:oleObj name="位图图像" r:id="rId3" imgW="5357324" imgH="1600339" progId="Paint.Picture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8" y="480"/>
                          <a:ext cx="3032" cy="1008"/>
                        </a:xfrm>
                        <a:prstGeom prst="rect">
                          <a:avLst/>
                        </a:prstGeom>
                        <a:solidFill>
                          <a:srgbClr val="FFFFCC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="" xmlns:a14="http://schemas.microsoft.com/office/drawing/2010/main" w="19050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 type="none" w="sm" len="med"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14437" name="Rectangle 5"/>
            <p:cNvSpPr>
              <a:spLocks noChangeArrowheads="1"/>
            </p:cNvSpPr>
            <p:nvPr/>
          </p:nvSpPr>
          <p:spPr bwMode="auto">
            <a:xfrm>
              <a:off x="4105" y="1536"/>
              <a:ext cx="37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200">
                  <a:latin typeface="Comic Sans MS" pitchFamily="66" charset="0"/>
                </a:rPr>
                <a:t>BN</a:t>
              </a:r>
              <a:endParaRPr lang="zh-CN" altLang="en-US" sz="2200">
                <a:latin typeface="Comic Sans MS" pitchFamily="66" charset="0"/>
                <a:ea typeface="宋体" pitchFamily="2" charset="-122"/>
              </a:endParaRPr>
            </a:p>
          </p:txBody>
        </p:sp>
        <p:sp>
          <p:nvSpPr>
            <p:cNvPr id="914438" name="Rectangle 6"/>
            <p:cNvSpPr>
              <a:spLocks noChangeArrowheads="1"/>
            </p:cNvSpPr>
            <p:nvPr/>
          </p:nvSpPr>
          <p:spPr bwMode="auto">
            <a:xfrm>
              <a:off x="5040" y="1536"/>
              <a:ext cx="515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200">
                  <a:latin typeface="Comic Sans MS" pitchFamily="66" charset="0"/>
                </a:rPr>
                <a:t>B</a:t>
              </a:r>
              <a:r>
                <a:rPr lang="en-US" altLang="zh-CN" sz="2200">
                  <a:latin typeface="Comic Sans MS" pitchFamily="66" charset="0"/>
                  <a:ea typeface="宋体" pitchFamily="2" charset="-122"/>
                </a:rPr>
                <a:t>×</a:t>
              </a:r>
              <a:r>
                <a:rPr lang="en-US" sz="2200">
                  <a:latin typeface="Comic Sans MS" pitchFamily="66" charset="0"/>
                </a:rPr>
                <a:t>B</a:t>
              </a:r>
              <a:endParaRPr lang="zh-CN" altLang="en-US" sz="2200">
                <a:latin typeface="Comic Sans MS" pitchFamily="66" charset="0"/>
                <a:ea typeface="宋体" pitchFamily="2" charset="-122"/>
              </a:endParaRPr>
            </a:p>
          </p:txBody>
        </p:sp>
        <p:sp>
          <p:nvSpPr>
            <p:cNvPr id="914439" name="Rectangle 7"/>
            <p:cNvSpPr>
              <a:spLocks noChangeArrowheads="1"/>
            </p:cNvSpPr>
            <p:nvPr/>
          </p:nvSpPr>
          <p:spPr bwMode="auto">
            <a:xfrm>
              <a:off x="3055" y="1536"/>
              <a:ext cx="34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latin typeface="Comic Sans MS" pitchFamily="66" charset="0"/>
                  <a:ea typeface="宋体" pitchFamily="2" charset="-122"/>
                </a:rPr>
                <a:t>BN</a:t>
              </a:r>
            </a:p>
          </p:txBody>
        </p:sp>
      </p:grpSp>
      <p:sp>
        <p:nvSpPr>
          <p:cNvPr id="914441" name="Rectangle 9"/>
          <p:cNvSpPr>
            <a:spLocks noChangeArrowheads="1"/>
          </p:cNvSpPr>
          <p:nvPr/>
        </p:nvSpPr>
        <p:spPr bwMode="auto">
          <a:xfrm rot="21234373">
            <a:off x="5915822" y="4589809"/>
            <a:ext cx="4392549" cy="769441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200" dirty="0">
                <a:latin typeface="+mn-lt"/>
              </a:rPr>
              <a:t>(BN+BN</a:t>
            </a:r>
            <a:r>
              <a:rPr lang="en-US" altLang="zh-CN" sz="2200" dirty="0">
                <a:latin typeface="+mn-lt"/>
                <a:ea typeface="宋体" pitchFamily="2" charset="-122"/>
              </a:rPr>
              <a:t>)</a:t>
            </a:r>
            <a:r>
              <a:rPr lang="en-US" sz="2200" dirty="0">
                <a:latin typeface="+mn-lt"/>
              </a:rPr>
              <a:t>+B</a:t>
            </a:r>
            <a:r>
              <a:rPr lang="en-US" sz="2200" baseline="30000" dirty="0">
                <a:latin typeface="+mn-lt"/>
              </a:rPr>
              <a:t>2</a:t>
            </a:r>
            <a:r>
              <a:rPr lang="en-US" sz="2200" dirty="0">
                <a:latin typeface="+mn-lt"/>
              </a:rPr>
              <a:t>)</a:t>
            </a:r>
            <a:r>
              <a:rPr lang="en-US" altLang="zh-CN" sz="2200" dirty="0">
                <a:latin typeface="+mn-lt"/>
                <a:ea typeface="宋体" pitchFamily="2" charset="-122"/>
              </a:rPr>
              <a:t>×(</a:t>
            </a:r>
            <a:r>
              <a:rPr lang="en-US" sz="2200" dirty="0">
                <a:latin typeface="+mn-lt"/>
              </a:rPr>
              <a:t>N/B)</a:t>
            </a:r>
            <a:r>
              <a:rPr lang="en-US" sz="2200" baseline="30000" dirty="0">
                <a:latin typeface="+mn-lt"/>
              </a:rPr>
              <a:t>2</a:t>
            </a:r>
            <a:r>
              <a:rPr lang="en-US" sz="2200" dirty="0">
                <a:latin typeface="+mn-lt"/>
              </a:rPr>
              <a:t>=</a:t>
            </a:r>
            <a:r>
              <a:rPr lang="en-US" sz="2200" dirty="0">
                <a:solidFill>
                  <a:schemeClr val="hlink"/>
                </a:solidFill>
                <a:latin typeface="+mn-lt"/>
              </a:rPr>
              <a:t>2N</a:t>
            </a:r>
            <a:r>
              <a:rPr lang="en-US" sz="2200" baseline="30000" dirty="0">
                <a:solidFill>
                  <a:schemeClr val="hlink"/>
                </a:solidFill>
                <a:latin typeface="+mn-lt"/>
              </a:rPr>
              <a:t>3</a:t>
            </a:r>
            <a:r>
              <a:rPr lang="en-US" sz="2200" dirty="0">
                <a:solidFill>
                  <a:schemeClr val="hlink"/>
                </a:solidFill>
                <a:latin typeface="+mn-lt"/>
              </a:rPr>
              <a:t>/B</a:t>
            </a:r>
            <a:r>
              <a:rPr lang="en-US" sz="2200" baseline="30000" dirty="0">
                <a:solidFill>
                  <a:schemeClr val="hlink"/>
                </a:solidFill>
                <a:latin typeface="+mn-lt"/>
              </a:rPr>
              <a:t> </a:t>
            </a:r>
            <a:r>
              <a:rPr lang="en-US" sz="2200" dirty="0">
                <a:solidFill>
                  <a:schemeClr val="hlink"/>
                </a:solidFill>
                <a:latin typeface="+mn-lt"/>
              </a:rPr>
              <a:t>+</a:t>
            </a:r>
            <a:r>
              <a:rPr lang="en-US" sz="2200" baseline="30000" dirty="0">
                <a:solidFill>
                  <a:schemeClr val="hlink"/>
                </a:solidFill>
                <a:latin typeface="+mn-lt"/>
              </a:rPr>
              <a:t> </a:t>
            </a:r>
            <a:r>
              <a:rPr lang="en-US" sz="2200" dirty="0">
                <a:solidFill>
                  <a:schemeClr val="hlink"/>
                </a:solidFill>
                <a:latin typeface="+mn-lt"/>
              </a:rPr>
              <a:t>N</a:t>
            </a:r>
            <a:r>
              <a:rPr lang="en-US" sz="2200" baseline="30000" dirty="0">
                <a:solidFill>
                  <a:schemeClr val="hlink"/>
                </a:solidFill>
                <a:latin typeface="+mn-lt"/>
              </a:rPr>
              <a:t>2</a:t>
            </a:r>
          </a:p>
          <a:p>
            <a:r>
              <a:rPr lang="en-US" sz="2200" dirty="0">
                <a:latin typeface="+mn-lt"/>
              </a:rPr>
              <a:t>Accessed For N</a:t>
            </a:r>
            <a:r>
              <a:rPr lang="en-US" sz="2200" baseline="30000" dirty="0">
                <a:latin typeface="+mn-lt"/>
              </a:rPr>
              <a:t>3</a:t>
            </a:r>
            <a:r>
              <a:rPr lang="en-US" sz="2200" dirty="0">
                <a:latin typeface="+mn-lt"/>
              </a:rPr>
              <a:t> operations</a:t>
            </a:r>
            <a:endParaRPr lang="en-US" altLang="zh-CN" sz="2200" dirty="0">
              <a:latin typeface="+mn-lt"/>
              <a:ea typeface="宋体" pitchFamily="2" charset="-122"/>
            </a:endParaRPr>
          </a:p>
        </p:txBody>
      </p:sp>
      <p:sp>
        <p:nvSpPr>
          <p:cNvPr id="914442" name="Rectangle 10"/>
          <p:cNvSpPr>
            <a:spLocks noChangeArrowheads="1"/>
          </p:cNvSpPr>
          <p:nvPr/>
        </p:nvSpPr>
        <p:spPr bwMode="auto">
          <a:xfrm>
            <a:off x="7320136" y="2987675"/>
            <a:ext cx="2937022" cy="36933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sz="2000" dirty="0">
                <a:latin typeface="+mn-lt"/>
              </a:rPr>
              <a:t>B called </a:t>
            </a:r>
            <a:r>
              <a:rPr lang="en-US" sz="2000" i="1" dirty="0">
                <a:solidFill>
                  <a:schemeClr val="hlink"/>
                </a:solidFill>
                <a:latin typeface="+mn-lt"/>
              </a:rPr>
              <a:t>Blocking Factor</a:t>
            </a:r>
            <a:endParaRPr lang="en-US" altLang="zh-CN" sz="2000" dirty="0">
              <a:latin typeface="+mn-lt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14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444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I</a:t>
            </a:r>
            <a:r>
              <a:rPr lang="en-US" altLang="zh-CN">
                <a:ea typeface="宋体" pitchFamily="2" charset="-122"/>
                <a:sym typeface="Wingdings" pitchFamily="2" charset="2"/>
              </a:rPr>
              <a:t></a:t>
            </a:r>
            <a:r>
              <a:rPr lang="en-US" altLang="zh-CN">
                <a:ea typeface="宋体" pitchFamily="2" charset="-122"/>
              </a:rPr>
              <a:t>N;J</a:t>
            </a:r>
            <a:r>
              <a:rPr lang="en-US" altLang="zh-CN">
                <a:ea typeface="宋体" pitchFamily="2" charset="-122"/>
                <a:sym typeface="Wingdings" pitchFamily="2" charset="2"/>
              </a:rPr>
              <a:t></a:t>
            </a:r>
            <a:r>
              <a:rPr lang="en-US" altLang="zh-CN">
                <a:ea typeface="宋体" pitchFamily="2" charset="-122"/>
              </a:rPr>
              <a:t>B;K</a:t>
            </a:r>
            <a:r>
              <a:rPr lang="en-US" altLang="zh-CN">
                <a:ea typeface="宋体" pitchFamily="2" charset="-122"/>
                <a:sym typeface="Wingdings" pitchFamily="2" charset="2"/>
              </a:rPr>
              <a:t>B;jjN/B;KKN/B; SO</a:t>
            </a:r>
            <a:endParaRPr lang="en-US" altLang="zh-CN">
              <a:ea typeface="宋体" pitchFamily="2" charset="-122"/>
            </a:endParaRPr>
          </a:p>
          <a:p>
            <a:endParaRPr lang="en-US" altLang="zh-CN">
              <a:ea typeface="宋体" pitchFamily="2" charset="-122"/>
            </a:endParaRPr>
          </a:p>
          <a:p>
            <a:r>
              <a:rPr lang="en-US" altLang="zh-CN">
                <a:ea typeface="宋体" pitchFamily="2" charset="-122"/>
              </a:rPr>
              <a:t>For x[I,J]</a:t>
            </a:r>
          </a:p>
          <a:p>
            <a:pPr lvl="1"/>
            <a:r>
              <a:rPr lang="en-US" altLang="zh-CN">
                <a:ea typeface="宋体" pitchFamily="2" charset="-122"/>
              </a:rPr>
              <a:t>N/B * N/B * (N*B)</a:t>
            </a:r>
          </a:p>
          <a:p>
            <a:r>
              <a:rPr lang="en-US" altLang="zh-CN">
                <a:ea typeface="宋体" pitchFamily="2" charset="-122"/>
              </a:rPr>
              <a:t>For y[I,K]</a:t>
            </a:r>
          </a:p>
          <a:p>
            <a:pPr lvl="1"/>
            <a:r>
              <a:rPr lang="en-US" altLang="zh-CN">
                <a:ea typeface="宋体" pitchFamily="2" charset="-122"/>
              </a:rPr>
              <a:t>N/B * N/B * (N*B)</a:t>
            </a:r>
          </a:p>
          <a:p>
            <a:r>
              <a:rPr lang="en-US" altLang="zh-CN">
                <a:ea typeface="宋体" pitchFamily="2" charset="-122"/>
              </a:rPr>
              <a:t>For z[K,J]</a:t>
            </a:r>
          </a:p>
          <a:p>
            <a:pPr lvl="1"/>
            <a:r>
              <a:rPr lang="en-US" altLang="zh-CN">
                <a:ea typeface="宋体" pitchFamily="2" charset="-122"/>
              </a:rPr>
              <a:t>N/B * N/B * (B*B)</a:t>
            </a:r>
          </a:p>
          <a:p>
            <a:endParaRPr lang="en-US" altLang="zh-CN">
              <a:ea typeface="宋体" pitchFamily="2" charset="-122"/>
            </a:endParaRPr>
          </a:p>
        </p:txBody>
      </p:sp>
      <p:sp>
        <p:nvSpPr>
          <p:cNvPr id="948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459" name="Rectangle 3"/>
          <p:cNvSpPr>
            <a:spLocks noGrp="1" noChangeArrowheads="1"/>
          </p:cNvSpPr>
          <p:nvPr>
            <p:ph idx="1"/>
          </p:nvPr>
        </p:nvSpPr>
        <p:spPr>
          <a:xfrm>
            <a:off x="882172" y="1052736"/>
            <a:ext cx="10510704" cy="4419600"/>
          </a:xfrm>
        </p:spPr>
        <p:txBody>
          <a:bodyPr/>
          <a:lstStyle/>
          <a:p>
            <a:r>
              <a:rPr lang="en-US" dirty="0"/>
              <a:t>Conflict misses in caches not FA vs. Blocking size</a:t>
            </a:r>
          </a:p>
          <a:p>
            <a:pPr lvl="1"/>
            <a:r>
              <a:rPr lang="en-US" dirty="0"/>
              <a:t>Lam et al [1991] a blocking factor of 24 had a fifth the  misses vs. 48 despite both fit in cache</a:t>
            </a:r>
          </a:p>
        </p:txBody>
      </p:sp>
      <p:sp>
        <p:nvSpPr>
          <p:cNvPr id="915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Reducing Conflict Misses by Blocking</a:t>
            </a:r>
          </a:p>
        </p:txBody>
      </p:sp>
      <p:graphicFrame>
        <p:nvGraphicFramePr>
          <p:cNvPr id="915460" name="Object 4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8206652"/>
              </p:ext>
            </p:extLst>
          </p:nvPr>
        </p:nvGraphicFramePr>
        <p:xfrm>
          <a:off x="2063552" y="1772816"/>
          <a:ext cx="7518400" cy="476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Chart" r:id="rId3" imgW="5648040" imgH="3581280" progId="Excel.Chart.8">
                  <p:embed followColorScheme="full"/>
                </p:oleObj>
              </mc:Choice>
              <mc:Fallback>
                <p:oleObj name="Chart" r:id="rId3" imgW="5648040" imgH="3581280" progId="Excel.Chart.8">
                  <p:embed followColorScheme="full"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1772816"/>
                        <a:ext cx="7518400" cy="476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12700">
                            <a:pattFill prst="narHorz">
                              <a:fgClr>
                                <a:schemeClr val="tx1"/>
                              </a:fgClr>
                              <a:bgClr>
                                <a:schemeClr val="bg1"/>
                              </a:bgClr>
                            </a:patt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483" name="Rectangle 3"/>
          <p:cNvSpPr>
            <a:spLocks noGrp="1" noChangeArrowheads="1"/>
          </p:cNvSpPr>
          <p:nvPr>
            <p:ph idx="1"/>
          </p:nvPr>
        </p:nvSpPr>
        <p:spPr>
          <a:xfrm>
            <a:off x="983432" y="1219200"/>
            <a:ext cx="10263236" cy="4953000"/>
          </a:xfrm>
          <a:noFill/>
          <a:ln/>
        </p:spPr>
        <p:txBody>
          <a:bodyPr lIns="90488" rIns="90488"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/* Before */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for (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= 0;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&lt; N;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= i+1)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	for (j = 0; j &lt; N; j = j+1)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		</a:t>
            </a:r>
            <a:r>
              <a:rPr lang="en-US" sz="1800" u="sng" dirty="0">
                <a:solidFill>
                  <a:schemeClr val="accent1"/>
                </a:solidFill>
                <a:latin typeface="Courier New" pitchFamily="49" charset="0"/>
              </a:rPr>
              <a:t>a[</a:t>
            </a:r>
            <a:r>
              <a:rPr lang="en-US" sz="1800" u="sng" dirty="0" err="1">
                <a:solidFill>
                  <a:schemeClr val="accent1"/>
                </a:solidFill>
                <a:latin typeface="Courier New" pitchFamily="49" charset="0"/>
              </a:rPr>
              <a:t>i</a:t>
            </a:r>
            <a:r>
              <a:rPr lang="en-US" sz="1800" u="sng" dirty="0">
                <a:solidFill>
                  <a:schemeClr val="accent1"/>
                </a:solidFill>
                <a:latin typeface="Courier New" pitchFamily="49" charset="0"/>
              </a:rPr>
              <a:t>][j]</a:t>
            </a:r>
            <a:r>
              <a:rPr lang="en-US" sz="1800" u="sng" dirty="0">
                <a:latin typeface="Courier New" pitchFamily="49" charset="0"/>
              </a:rPr>
              <a:t> </a:t>
            </a:r>
            <a:r>
              <a:rPr lang="en-US" sz="1800" dirty="0">
                <a:latin typeface="Courier New" pitchFamily="49" charset="0"/>
              </a:rPr>
              <a:t>= 1/b[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][j] * </a:t>
            </a:r>
            <a:r>
              <a:rPr lang="en-US" sz="1800" u="sng" dirty="0">
                <a:solidFill>
                  <a:schemeClr val="accent1"/>
                </a:solidFill>
                <a:latin typeface="Courier New" pitchFamily="49" charset="0"/>
              </a:rPr>
              <a:t>c[</a:t>
            </a:r>
            <a:r>
              <a:rPr lang="en-US" sz="1800" u="sng" dirty="0" err="1">
                <a:solidFill>
                  <a:schemeClr val="accent1"/>
                </a:solidFill>
                <a:latin typeface="Courier New" pitchFamily="49" charset="0"/>
              </a:rPr>
              <a:t>i</a:t>
            </a:r>
            <a:r>
              <a:rPr lang="en-US" sz="1800" u="sng" dirty="0">
                <a:solidFill>
                  <a:schemeClr val="accent1"/>
                </a:solidFill>
                <a:latin typeface="Courier New" pitchFamily="49" charset="0"/>
              </a:rPr>
              <a:t>][j]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for (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= 0;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&lt; N;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= i+1)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	for (j = 0; j &lt; N; j = j+1)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		d[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][j] = </a:t>
            </a:r>
            <a:r>
              <a:rPr lang="en-US" sz="1800" u="sng" dirty="0">
                <a:solidFill>
                  <a:schemeClr val="accent1"/>
                </a:solidFill>
                <a:latin typeface="Courier New" pitchFamily="49" charset="0"/>
              </a:rPr>
              <a:t>a[</a:t>
            </a:r>
            <a:r>
              <a:rPr lang="en-US" sz="1800" u="sng" dirty="0" err="1">
                <a:solidFill>
                  <a:schemeClr val="accent1"/>
                </a:solidFill>
                <a:latin typeface="Courier New" pitchFamily="49" charset="0"/>
              </a:rPr>
              <a:t>i</a:t>
            </a:r>
            <a:r>
              <a:rPr lang="en-US" sz="1800" u="sng" dirty="0">
                <a:solidFill>
                  <a:schemeClr val="accent1"/>
                </a:solidFill>
                <a:latin typeface="Courier New" pitchFamily="49" charset="0"/>
              </a:rPr>
              <a:t>][j]</a:t>
            </a:r>
            <a:r>
              <a:rPr lang="en-US" sz="1800" u="sng" dirty="0">
                <a:latin typeface="Courier New" pitchFamily="49" charset="0"/>
              </a:rPr>
              <a:t> </a:t>
            </a:r>
            <a:r>
              <a:rPr lang="en-US" sz="1800" dirty="0">
                <a:latin typeface="Courier New" pitchFamily="49" charset="0"/>
              </a:rPr>
              <a:t>+ </a:t>
            </a:r>
            <a:r>
              <a:rPr lang="en-US" sz="1800" u="sng" dirty="0">
                <a:solidFill>
                  <a:schemeClr val="accent1"/>
                </a:solidFill>
                <a:latin typeface="Courier New" pitchFamily="49" charset="0"/>
              </a:rPr>
              <a:t>c[</a:t>
            </a:r>
            <a:r>
              <a:rPr lang="en-US" sz="1800" u="sng" dirty="0" err="1">
                <a:solidFill>
                  <a:schemeClr val="accent1"/>
                </a:solidFill>
                <a:latin typeface="Courier New" pitchFamily="49" charset="0"/>
              </a:rPr>
              <a:t>i</a:t>
            </a:r>
            <a:r>
              <a:rPr lang="en-US" sz="1800" u="sng" dirty="0">
                <a:solidFill>
                  <a:schemeClr val="accent1"/>
                </a:solidFill>
                <a:latin typeface="Courier New" pitchFamily="49" charset="0"/>
              </a:rPr>
              <a:t>][j]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/* After */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for (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= 0;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&lt; N;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= i+1)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	for (j = 0; j &lt; N; j = j+1)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	</a:t>
            </a:r>
            <a:r>
              <a:rPr lang="en-US" sz="1800" dirty="0">
                <a:solidFill>
                  <a:schemeClr val="hlink"/>
                </a:solidFill>
                <a:latin typeface="Courier New" pitchFamily="49" charset="0"/>
              </a:rPr>
              <a:t>{	</a:t>
            </a:r>
            <a:r>
              <a:rPr lang="en-US" sz="1800" u="sng" dirty="0">
                <a:solidFill>
                  <a:schemeClr val="hlink"/>
                </a:solidFill>
                <a:latin typeface="Courier New" pitchFamily="49" charset="0"/>
              </a:rPr>
              <a:t>a[</a:t>
            </a:r>
            <a:r>
              <a:rPr lang="en-US" sz="1800" u="sng" dirty="0" err="1">
                <a:solidFill>
                  <a:schemeClr val="hlink"/>
                </a:solidFill>
                <a:latin typeface="Courier New" pitchFamily="49" charset="0"/>
              </a:rPr>
              <a:t>i</a:t>
            </a:r>
            <a:r>
              <a:rPr lang="en-US" sz="1800" u="sng" dirty="0">
                <a:solidFill>
                  <a:schemeClr val="hlink"/>
                </a:solidFill>
                <a:latin typeface="Courier New" pitchFamily="49" charset="0"/>
              </a:rPr>
              <a:t>][j] = 1/b[</a:t>
            </a:r>
            <a:r>
              <a:rPr lang="en-US" sz="1800" u="sng" dirty="0" err="1">
                <a:solidFill>
                  <a:schemeClr val="hlink"/>
                </a:solidFill>
                <a:latin typeface="Courier New" pitchFamily="49" charset="0"/>
              </a:rPr>
              <a:t>i</a:t>
            </a:r>
            <a:r>
              <a:rPr lang="en-US" sz="1800" u="sng" dirty="0">
                <a:solidFill>
                  <a:schemeClr val="hlink"/>
                </a:solidFill>
                <a:latin typeface="Courier New" pitchFamily="49" charset="0"/>
              </a:rPr>
              <a:t>][j] * c[</a:t>
            </a:r>
            <a:r>
              <a:rPr lang="en-US" sz="1800" u="sng" dirty="0" err="1">
                <a:solidFill>
                  <a:schemeClr val="hlink"/>
                </a:solidFill>
                <a:latin typeface="Courier New" pitchFamily="49" charset="0"/>
              </a:rPr>
              <a:t>i</a:t>
            </a:r>
            <a:r>
              <a:rPr lang="en-US" sz="1800" u="sng" dirty="0">
                <a:solidFill>
                  <a:schemeClr val="hlink"/>
                </a:solidFill>
                <a:latin typeface="Courier New" pitchFamily="49" charset="0"/>
              </a:rPr>
              <a:t>][j]</a:t>
            </a:r>
            <a:r>
              <a:rPr lang="en-US" sz="1800" dirty="0">
                <a:solidFill>
                  <a:schemeClr val="hlink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solidFill>
                  <a:schemeClr val="hlink"/>
                </a:solidFill>
                <a:latin typeface="Courier New" pitchFamily="49" charset="0"/>
              </a:rPr>
              <a:t>		</a:t>
            </a:r>
            <a:r>
              <a:rPr lang="en-US" sz="1800" u="sng" dirty="0">
                <a:solidFill>
                  <a:schemeClr val="hlink"/>
                </a:solidFill>
                <a:latin typeface="Courier New" pitchFamily="49" charset="0"/>
              </a:rPr>
              <a:t>d[</a:t>
            </a:r>
            <a:r>
              <a:rPr lang="en-US" sz="1800" u="sng" dirty="0" err="1">
                <a:solidFill>
                  <a:schemeClr val="hlink"/>
                </a:solidFill>
                <a:latin typeface="Courier New" pitchFamily="49" charset="0"/>
              </a:rPr>
              <a:t>i</a:t>
            </a:r>
            <a:r>
              <a:rPr lang="en-US" sz="1800" u="sng" dirty="0">
                <a:solidFill>
                  <a:schemeClr val="hlink"/>
                </a:solidFill>
                <a:latin typeface="Courier New" pitchFamily="49" charset="0"/>
              </a:rPr>
              <a:t>][j] = a[</a:t>
            </a:r>
            <a:r>
              <a:rPr lang="en-US" sz="1800" u="sng" dirty="0" err="1">
                <a:solidFill>
                  <a:schemeClr val="hlink"/>
                </a:solidFill>
                <a:latin typeface="Courier New" pitchFamily="49" charset="0"/>
              </a:rPr>
              <a:t>i</a:t>
            </a:r>
            <a:r>
              <a:rPr lang="en-US" sz="1800" u="sng" dirty="0">
                <a:solidFill>
                  <a:schemeClr val="hlink"/>
                </a:solidFill>
                <a:latin typeface="Courier New" pitchFamily="49" charset="0"/>
              </a:rPr>
              <a:t>][j] + c[</a:t>
            </a:r>
            <a:r>
              <a:rPr lang="en-US" sz="1800" u="sng" dirty="0" err="1">
                <a:solidFill>
                  <a:schemeClr val="hlink"/>
                </a:solidFill>
                <a:latin typeface="Courier New" pitchFamily="49" charset="0"/>
              </a:rPr>
              <a:t>i</a:t>
            </a:r>
            <a:r>
              <a:rPr lang="en-US" sz="1800" u="sng" dirty="0">
                <a:solidFill>
                  <a:schemeClr val="hlink"/>
                </a:solidFill>
                <a:latin typeface="Courier New" pitchFamily="49" charset="0"/>
              </a:rPr>
              <a:t>][j]</a:t>
            </a:r>
            <a:r>
              <a:rPr lang="en-US" sz="1800" dirty="0">
                <a:solidFill>
                  <a:schemeClr val="hlink"/>
                </a:solidFill>
                <a:latin typeface="Courier New" pitchFamily="49" charset="0"/>
              </a:rPr>
              <a:t>;</a:t>
            </a:r>
            <a:endParaRPr lang="en-US" altLang="zh-CN" sz="1800" dirty="0">
              <a:solidFill>
                <a:schemeClr val="hlink"/>
              </a:solidFill>
              <a:latin typeface="Courier New" pitchFamily="49" charset="0"/>
              <a:ea typeface="宋体" pitchFamily="2" charset="-12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 dirty="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  </a:t>
            </a:r>
            <a:r>
              <a:rPr lang="en-US" sz="1800" dirty="0">
                <a:solidFill>
                  <a:schemeClr val="hlink"/>
                </a:solidFill>
                <a:latin typeface="Courier New" pitchFamily="49" charset="0"/>
              </a:rPr>
              <a:t>}</a:t>
            </a:r>
            <a:br>
              <a:rPr lang="en-US" sz="1800" dirty="0">
                <a:solidFill>
                  <a:schemeClr val="hlink"/>
                </a:solidFill>
                <a:latin typeface="Courier New" pitchFamily="49" charset="0"/>
              </a:rPr>
            </a:b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2 misses per access to </a:t>
            </a:r>
            <a:r>
              <a:rPr lang="en-US" dirty="0">
                <a:latin typeface="Courier New" pitchFamily="49" charset="0"/>
              </a:rPr>
              <a:t>a</a:t>
            </a:r>
            <a:r>
              <a:rPr lang="en-US" dirty="0"/>
              <a:t> &amp; </a:t>
            </a:r>
            <a:r>
              <a:rPr lang="en-US" dirty="0">
                <a:latin typeface="Courier New" pitchFamily="49" charset="0"/>
              </a:rPr>
              <a:t>c</a:t>
            </a:r>
            <a:r>
              <a:rPr lang="en-US" dirty="0"/>
              <a:t> vs. one miss per access; improve spatial locality</a:t>
            </a:r>
          </a:p>
        </p:txBody>
      </p:sp>
      <p:sp>
        <p:nvSpPr>
          <p:cNvPr id="916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55440" y="78904"/>
            <a:ext cx="8314928" cy="762000"/>
          </a:xfrm>
          <a:noFill/>
          <a:ln/>
        </p:spPr>
        <p:txBody>
          <a:bodyPr vert="horz" lIns="90488" tIns="45720" rIns="90488" bIns="45720" rtlCol="0" anchor="ctr">
            <a:noAutofit/>
          </a:bodyPr>
          <a:lstStyle/>
          <a:p>
            <a:r>
              <a:rPr lang="en-US" altLang="zh-CN" dirty="0">
                <a:ea typeface="宋体" pitchFamily="2" charset="-122"/>
              </a:rPr>
              <a:t>③</a:t>
            </a:r>
            <a:r>
              <a:rPr lang="en-US" dirty="0"/>
              <a:t>Loop Fusion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16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16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16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16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16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164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164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507" name="Rectangle 3"/>
          <p:cNvSpPr>
            <a:spLocks noGrp="1" noChangeArrowheads="1"/>
          </p:cNvSpPr>
          <p:nvPr>
            <p:ph idx="1"/>
          </p:nvPr>
        </p:nvSpPr>
        <p:spPr>
          <a:xfrm>
            <a:off x="911424" y="1371600"/>
            <a:ext cx="10521552" cy="4114800"/>
          </a:xfrm>
          <a:noFill/>
          <a:ln/>
        </p:spPr>
        <p:txBody>
          <a:bodyPr lIns="90488" rIns="90488"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/* Before: 2 sequential arrays */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int </a:t>
            </a:r>
            <a:r>
              <a:rPr lang="en-US" sz="1800" dirty="0" err="1">
                <a:latin typeface="Courier New" pitchFamily="49" charset="0"/>
              </a:rPr>
              <a:t>val</a:t>
            </a:r>
            <a:r>
              <a:rPr lang="en-US" sz="1800" dirty="0">
                <a:latin typeface="Courier New" pitchFamily="49" charset="0"/>
              </a:rPr>
              <a:t>[SIZE];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int key[SIZE];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solidFill>
                  <a:schemeClr val="hlink"/>
                </a:solidFill>
                <a:latin typeface="Courier New" pitchFamily="49" charset="0"/>
              </a:rPr>
              <a:t>/* After: 1 array of </a:t>
            </a:r>
            <a:r>
              <a:rPr lang="en-US" sz="1800" dirty="0" err="1">
                <a:solidFill>
                  <a:schemeClr val="hlink"/>
                </a:solidFill>
                <a:latin typeface="Courier New" pitchFamily="49" charset="0"/>
              </a:rPr>
              <a:t>stuctures</a:t>
            </a:r>
            <a:r>
              <a:rPr lang="en-US" sz="1800" dirty="0">
                <a:solidFill>
                  <a:schemeClr val="hlink"/>
                </a:solidFill>
                <a:latin typeface="Courier New" pitchFamily="49" charset="0"/>
              </a:rPr>
              <a:t> */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solidFill>
                  <a:schemeClr val="hlink"/>
                </a:solidFill>
                <a:latin typeface="Courier New" pitchFamily="49" charset="0"/>
              </a:rPr>
              <a:t>struct merge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solidFill>
                  <a:schemeClr val="hlink"/>
                </a:solidFill>
                <a:latin typeface="Courier New" pitchFamily="49" charset="0"/>
              </a:rPr>
              <a:t>	int </a:t>
            </a:r>
            <a:r>
              <a:rPr lang="en-US" sz="1800" dirty="0" err="1">
                <a:solidFill>
                  <a:schemeClr val="hlink"/>
                </a:solidFill>
                <a:latin typeface="Courier New" pitchFamily="49" charset="0"/>
              </a:rPr>
              <a:t>val</a:t>
            </a:r>
            <a:r>
              <a:rPr lang="en-US" sz="1800" dirty="0">
                <a:solidFill>
                  <a:schemeClr val="hlink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solidFill>
                  <a:schemeClr val="hlink"/>
                </a:solidFill>
                <a:latin typeface="Courier New" pitchFamily="49" charset="0"/>
              </a:rPr>
              <a:t>	int key;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solidFill>
                  <a:schemeClr val="hlink"/>
                </a:solidFill>
                <a:latin typeface="Courier New" pitchFamily="49" charset="0"/>
              </a:rPr>
              <a:t>};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solidFill>
                  <a:schemeClr val="hlink"/>
                </a:solidFill>
                <a:latin typeface="Courier New" pitchFamily="49" charset="0"/>
              </a:rPr>
              <a:t>struct merge </a:t>
            </a:r>
            <a:r>
              <a:rPr lang="en-US" sz="1800" dirty="0" err="1">
                <a:solidFill>
                  <a:schemeClr val="hlink"/>
                </a:solidFill>
                <a:latin typeface="Courier New" pitchFamily="49" charset="0"/>
              </a:rPr>
              <a:t>merged_array</a:t>
            </a:r>
            <a:r>
              <a:rPr lang="en-US" sz="1800" dirty="0">
                <a:solidFill>
                  <a:schemeClr val="hlink"/>
                </a:solidFill>
                <a:latin typeface="Courier New" pitchFamily="49" charset="0"/>
              </a:rPr>
              <a:t>[SIZE];</a:t>
            </a:r>
            <a:br>
              <a:rPr lang="en-US" sz="1800" dirty="0">
                <a:solidFill>
                  <a:schemeClr val="hlink"/>
                </a:solidFill>
                <a:latin typeface="Courier New" pitchFamily="49" charset="0"/>
              </a:rPr>
            </a:br>
            <a:br>
              <a:rPr lang="en-US" sz="1800" dirty="0">
                <a:solidFill>
                  <a:schemeClr val="hlink"/>
                </a:solidFill>
                <a:latin typeface="Courier New" pitchFamily="49" charset="0"/>
              </a:rPr>
            </a:br>
            <a:endParaRPr lang="en-US" sz="1800" dirty="0">
              <a:solidFill>
                <a:schemeClr val="hlink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Reducing conflicts between </a:t>
            </a:r>
            <a:r>
              <a:rPr lang="en-US" dirty="0" err="1"/>
              <a:t>val</a:t>
            </a:r>
            <a:r>
              <a:rPr lang="en-US" dirty="0"/>
              <a:t> &amp; key; </a:t>
            </a:r>
            <a:br>
              <a:rPr lang="en-US" dirty="0"/>
            </a:br>
            <a:r>
              <a:rPr lang="en-US" dirty="0"/>
              <a:t>improve spatial locality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917506" name="Rectangle 2"/>
          <p:cNvSpPr>
            <a:spLocks noGrp="1" noChangeArrowheads="1"/>
          </p:cNvSpPr>
          <p:nvPr>
            <p:ph type="title"/>
          </p:nvPr>
        </p:nvSpPr>
        <p:spPr>
          <a:xfrm>
            <a:off x="911424" y="152400"/>
            <a:ext cx="8458944" cy="762000"/>
          </a:xfrm>
          <a:noFill/>
          <a:ln/>
        </p:spPr>
        <p:txBody>
          <a:bodyPr vert="horz" lIns="90488" tIns="45720" rIns="90488" bIns="45720" rtlCol="0" anchor="ctr">
            <a:noAutofit/>
          </a:bodyPr>
          <a:lstStyle/>
          <a:p>
            <a:r>
              <a:rPr lang="en-US" altLang="zh-CN" dirty="0">
                <a:ea typeface="宋体" pitchFamily="2" charset="-122"/>
              </a:rPr>
              <a:t>④</a:t>
            </a:r>
            <a:r>
              <a:rPr lang="en-US" dirty="0"/>
              <a:t>Merging Arrays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17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17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17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17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17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17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17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53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Summary of Compiler Optimizations to Reduce Cache Misses (by hand)</a:t>
            </a:r>
          </a:p>
        </p:txBody>
      </p:sp>
      <p:graphicFrame>
        <p:nvGraphicFramePr>
          <p:cNvPr id="918530" name="Object 2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3857963"/>
              </p:ext>
            </p:extLst>
          </p:nvPr>
        </p:nvGraphicFramePr>
        <p:xfrm>
          <a:off x="1752600" y="746426"/>
          <a:ext cx="8686800" cy="600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Chart" r:id="rId3" imgW="6524280" imgH="4514760" progId="Excel.Chart.8">
                  <p:embed followColorScheme="full"/>
                </p:oleObj>
              </mc:Choice>
              <mc:Fallback>
                <p:oleObj name="Chart" r:id="rId3" imgW="6524280" imgH="4514760" progId="Excel.Chart.8">
                  <p:embed followColorScheme="full"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746426"/>
                        <a:ext cx="8686800" cy="600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12700">
                            <a:pattFill prst="narHorz">
                              <a:fgClr>
                                <a:schemeClr val="tx1"/>
                              </a:fgClr>
                              <a:bgClr>
                                <a:schemeClr val="bg1"/>
                              </a:bgClr>
                            </a:patt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555" name="Rectangle 3"/>
          <p:cNvSpPr>
            <a:spLocks noGrp="1" noChangeArrowheads="1"/>
          </p:cNvSpPr>
          <p:nvPr>
            <p:ph idx="1"/>
          </p:nvPr>
        </p:nvSpPr>
        <p:spPr>
          <a:xfrm>
            <a:off x="882172" y="2348880"/>
            <a:ext cx="10489694" cy="2520280"/>
          </a:xfrm>
        </p:spPr>
        <p:txBody>
          <a:bodyPr/>
          <a:lstStyle/>
          <a:p>
            <a:r>
              <a:rPr lang="en-US" dirty="0"/>
              <a:t>3 Cs: Compulsory, Capacity, Conflict</a:t>
            </a:r>
          </a:p>
          <a:p>
            <a:pPr lvl="1"/>
            <a:r>
              <a:rPr lang="en-US" dirty="0"/>
              <a:t>1. Larger cache</a:t>
            </a:r>
          </a:p>
          <a:p>
            <a:pPr lvl="1"/>
            <a:r>
              <a:rPr lang="en-US" dirty="0"/>
              <a:t>2. Reduce Misses via Larger Block Size</a:t>
            </a:r>
          </a:p>
          <a:p>
            <a:pPr lvl="1"/>
            <a:r>
              <a:rPr lang="en-US" dirty="0"/>
              <a:t>3. Reduce Misses via Higher Associativity</a:t>
            </a:r>
          </a:p>
          <a:p>
            <a:pPr lvl="1"/>
            <a:r>
              <a:rPr lang="en-US" dirty="0"/>
              <a:t>4. Reducing Misses via Pseudo-Associativity</a:t>
            </a:r>
          </a:p>
          <a:p>
            <a:pPr lvl="1"/>
            <a:r>
              <a:rPr lang="en-US" dirty="0"/>
              <a:t>5. Reducing Misses by Compiler Optimizations</a:t>
            </a:r>
          </a:p>
        </p:txBody>
      </p:sp>
      <p:sp>
        <p:nvSpPr>
          <p:cNvPr id="919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Summary: Miss Rate Reduction</a:t>
            </a:r>
          </a:p>
        </p:txBody>
      </p:sp>
      <p:graphicFrame>
        <p:nvGraphicFramePr>
          <p:cNvPr id="919556" name="Object 4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5779728"/>
              </p:ext>
            </p:extLst>
          </p:nvPr>
        </p:nvGraphicFramePr>
        <p:xfrm>
          <a:off x="1663700" y="1340768"/>
          <a:ext cx="8864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Equation" r:id="rId3" imgW="6657840" imgH="409320" progId="Equation.3">
                  <p:embed/>
                </p:oleObj>
              </mc:Choice>
              <mc:Fallback>
                <p:oleObj name="Equation" r:id="rId3" imgW="6657840" imgH="40932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3700" y="1340768"/>
                        <a:ext cx="8864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12700">
                            <a:pattFill prst="narHorz">
                              <a:fgClr>
                                <a:schemeClr val="tx1"/>
                              </a:fgClr>
                              <a:bgClr>
                                <a:schemeClr val="bg1"/>
                              </a:bgClr>
                            </a:patt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9557" name="Oval 5"/>
          <p:cNvSpPr>
            <a:spLocks noChangeArrowheads="1"/>
          </p:cNvSpPr>
          <p:nvPr/>
        </p:nvSpPr>
        <p:spPr bwMode="auto">
          <a:xfrm>
            <a:off x="6096000" y="1429668"/>
            <a:ext cx="1079500" cy="3556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1.Reduce the miss penalty</a:t>
            </a:r>
          </a:p>
          <a:p>
            <a:pPr marL="0" indent="0">
              <a:buNone/>
            </a:pPr>
            <a:r>
              <a:rPr lang="en-US" altLang="zh-CN" dirty="0"/>
              <a:t>		        	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2. Reduce the miss rate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3. Reduce the miss penalty and miss rate via parallelism</a:t>
            </a:r>
          </a:p>
          <a:p>
            <a:pPr marL="0" indent="0">
              <a:buNone/>
            </a:pPr>
            <a:r>
              <a:rPr lang="en-US" altLang="zh-CN" dirty="0"/>
              <a:t>			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4. Reduce the time to hit in the cache. </a:t>
            </a:r>
            <a:r>
              <a:rPr lang="en-US" altLang="zh-CN" dirty="0"/>
              <a:t>	 </a:t>
            </a:r>
            <a:endParaRPr lang="en-US" dirty="0"/>
          </a:p>
        </p:txBody>
      </p:sp>
      <p:sp>
        <p:nvSpPr>
          <p:cNvPr id="920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5.6  Reduce Cache Miss Penalty or Miss Rate via Parallelism</a:t>
            </a: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Nonblocking Caches to Reduce Stalls on Cache Misses</a:t>
            </a:r>
          </a:p>
          <a:p>
            <a:pPr lvl="1"/>
            <a:r>
              <a:rPr lang="en-US" altLang="zh-CN" dirty="0"/>
              <a:t>Reducing Miss Penalty</a:t>
            </a:r>
          </a:p>
          <a:p>
            <a:pPr lvl="1"/>
            <a:r>
              <a:rPr lang="en-US" altLang="zh-CN" dirty="0"/>
              <a:t>A nonblocking(Lockup-free cache) cache, allows The cache to continues to supply hits while processing read misses ( hit under miss , hit under multiple miss ). </a:t>
            </a:r>
          </a:p>
          <a:p>
            <a:pPr lvl="1"/>
            <a:r>
              <a:rPr lang="en-US" altLang="zh-CN" dirty="0"/>
              <a:t>Complex caches can even have multiple outstanding misses ( miss under miss ). It will further lower effective miss penalty</a:t>
            </a:r>
          </a:p>
          <a:p>
            <a:pPr lvl="1"/>
            <a:r>
              <a:rPr lang="en-US" altLang="zh-CN" dirty="0"/>
              <a:t>Nonblocking, in conjunction with out-of-order execution, can allow the CPU to continue executing instructions after a data cache miss. </a:t>
            </a:r>
            <a:endParaRPr lang="zh-CN" altLang="en-US" dirty="0"/>
          </a:p>
        </p:txBody>
      </p:sp>
      <p:sp>
        <p:nvSpPr>
          <p:cNvPr id="921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First Miss Penalty/Rate Reduction Technique: </a:t>
            </a: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627" name="Rectangle 3"/>
          <p:cNvSpPr>
            <a:spLocks noGrp="1" noChangeArrowheads="1"/>
          </p:cNvSpPr>
          <p:nvPr>
            <p:ph idx="1"/>
          </p:nvPr>
        </p:nvSpPr>
        <p:spPr>
          <a:xfrm>
            <a:off x="983434" y="5334000"/>
            <a:ext cx="10225132" cy="1143000"/>
          </a:xfrm>
        </p:spPr>
        <p:txBody>
          <a:bodyPr/>
          <a:lstStyle/>
          <a:p>
            <a:pPr indent="0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These data were collected for an 8-KB direct-mapped data cache with 32-byte blocks and a 16-clock-cycle miss penalty, which today would imply a second-level cache. These data were generated using the VLIW </a:t>
            </a:r>
            <a:r>
              <a:rPr lang="en-US" altLang="zh-CN" sz="2000" dirty="0" err="1">
                <a:latin typeface="Arial" pitchFamily="34" charset="0"/>
                <a:ea typeface="宋体" pitchFamily="2" charset="-122"/>
              </a:rPr>
              <a:t>Multiflow</a:t>
            </a: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 Compiler, which scheduled loads away from use [Farkas and </a:t>
            </a:r>
            <a:r>
              <a:rPr lang="en-US" altLang="zh-CN" sz="2000" dirty="0" err="1">
                <a:latin typeface="Arial" pitchFamily="34" charset="0"/>
                <a:ea typeface="宋体" pitchFamily="2" charset="-122"/>
              </a:rPr>
              <a:t>Jouppi</a:t>
            </a: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 1994].</a:t>
            </a:r>
            <a:endParaRPr lang="zh-CN" altLang="en-US" sz="2000" i="1" dirty="0">
              <a:ea typeface="宋体" pitchFamily="2" charset="-122"/>
            </a:endParaRPr>
          </a:p>
        </p:txBody>
      </p:sp>
      <p:sp>
        <p:nvSpPr>
          <p:cNvPr id="922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46593" y="483657"/>
            <a:ext cx="8458200" cy="1066800"/>
          </a:xfrm>
        </p:spPr>
        <p:txBody>
          <a:bodyPr/>
          <a:lstStyle/>
          <a:p>
            <a:pPr algn="l"/>
            <a:r>
              <a:rPr lang="en-US" altLang="zh-CN" sz="1600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Ratio of the average memory stall time for a blocking cache to hit-under-miss schemes as the number of outstanding misses is varied for 18 SPEC92 programs.</a:t>
            </a:r>
          </a:p>
        </p:txBody>
      </p:sp>
      <p:graphicFrame>
        <p:nvGraphicFramePr>
          <p:cNvPr id="9226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912591"/>
              </p:ext>
            </p:extLst>
          </p:nvPr>
        </p:nvGraphicFramePr>
        <p:xfrm>
          <a:off x="2096866" y="1447800"/>
          <a:ext cx="5029200" cy="373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5" name="位图图像" r:id="rId3" imgW="4991533" imgH="3292125" progId="Paint.Picture">
                  <p:embed/>
                </p:oleObj>
              </mc:Choice>
              <mc:Fallback>
                <p:oleObj name="位图图像" r:id="rId3" imgW="4991533" imgH="3292125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6866" y="1447800"/>
                        <a:ext cx="5029200" cy="373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19050">
                            <a:solidFill>
                              <a:schemeClr val="hlink"/>
                            </a:solidFill>
                            <a:miter lim="800000"/>
                            <a:headEnd/>
                            <a:tailEnd type="none" w="sm" len="med"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629" name="Rectangle 5"/>
          <p:cNvSpPr>
            <a:spLocks noChangeArrowheads="1"/>
          </p:cNvSpPr>
          <p:nvPr/>
        </p:nvSpPr>
        <p:spPr bwMode="auto">
          <a:xfrm>
            <a:off x="7086600" y="1371600"/>
            <a:ext cx="36576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zh-CN" sz="2000" dirty="0">
                <a:latin typeface="Arial" pitchFamily="34" charset="0"/>
                <a:ea typeface="宋体" pitchFamily="2" charset="-122"/>
              </a:rPr>
              <a:t>The </a:t>
            </a:r>
            <a:r>
              <a:rPr lang="en-US" altLang="zh-CN" sz="200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hit-under-64-misses</a:t>
            </a: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 line allows one miss for every register in the machine.</a:t>
            </a:r>
            <a:endParaRPr lang="zh-CN" altLang="en-US" sz="2000" dirty="0">
              <a:latin typeface="Arial" pitchFamily="34" charset="0"/>
              <a:ea typeface="宋体" pitchFamily="2" charset="-122"/>
            </a:endParaRPr>
          </a:p>
        </p:txBody>
      </p:sp>
      <p:sp>
        <p:nvSpPr>
          <p:cNvPr id="922630" name="Rectangle 6"/>
          <p:cNvSpPr>
            <a:spLocks noChangeArrowheads="1"/>
          </p:cNvSpPr>
          <p:nvPr/>
        </p:nvSpPr>
        <p:spPr bwMode="auto">
          <a:xfrm>
            <a:off x="7086600" y="2627412"/>
            <a:ext cx="426598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zh-CN" sz="2000" dirty="0">
                <a:latin typeface="Arial" pitchFamily="34" charset="0"/>
                <a:ea typeface="宋体" pitchFamily="2" charset="-122"/>
              </a:rPr>
              <a:t>The first 14 programs are </a:t>
            </a:r>
            <a:r>
              <a:rPr lang="en-US" altLang="zh-CN" sz="200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floating-point programs:</a:t>
            </a: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 the average for hit under 1 miss is </a:t>
            </a:r>
            <a:r>
              <a:rPr lang="en-US" altLang="zh-CN" sz="200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76%</a:t>
            </a: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, for 2 misses is </a:t>
            </a:r>
            <a:r>
              <a:rPr lang="en-US" altLang="zh-CN" sz="200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51</a:t>
            </a: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%, and for 64 misses is </a:t>
            </a:r>
            <a:r>
              <a:rPr lang="en-US" altLang="zh-CN" sz="200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39%</a:t>
            </a: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.</a:t>
            </a:r>
            <a:endParaRPr lang="zh-CN" altLang="en-US" sz="2000" dirty="0">
              <a:latin typeface="Arial" pitchFamily="34" charset="0"/>
              <a:ea typeface="宋体" pitchFamily="2" charset="-122"/>
            </a:endParaRPr>
          </a:p>
        </p:txBody>
      </p:sp>
      <p:sp>
        <p:nvSpPr>
          <p:cNvPr id="922631" name="Rectangle 7"/>
          <p:cNvSpPr>
            <a:spLocks noChangeArrowheads="1"/>
          </p:cNvSpPr>
          <p:nvPr/>
        </p:nvSpPr>
        <p:spPr bwMode="auto">
          <a:xfrm>
            <a:off x="7086600" y="4175126"/>
            <a:ext cx="433799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zh-CN" sz="2000" dirty="0">
                <a:latin typeface="Arial" pitchFamily="34" charset="0"/>
                <a:ea typeface="宋体" pitchFamily="2" charset="-122"/>
              </a:rPr>
              <a:t>The final four are integer programs, and the three averages are </a:t>
            </a:r>
            <a:r>
              <a:rPr lang="en-US" altLang="zh-CN" sz="200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81%</a:t>
            </a: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, </a:t>
            </a:r>
            <a:r>
              <a:rPr lang="en-US" altLang="zh-CN" sz="200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78%</a:t>
            </a: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, and </a:t>
            </a:r>
            <a:r>
              <a:rPr lang="en-US" altLang="zh-CN" sz="200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78%</a:t>
            </a: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, </a:t>
            </a:r>
            <a:endParaRPr lang="zh-CN" altLang="en-US" sz="2000" dirty="0">
              <a:latin typeface="Arial" pitchFamily="34" charset="0"/>
              <a:ea typeface="宋体" pitchFamily="2" charset="-122"/>
            </a:endParaRPr>
          </a:p>
        </p:txBody>
      </p:sp>
      <p:sp>
        <p:nvSpPr>
          <p:cNvPr id="922632" name="Rectangle 8"/>
          <p:cNvSpPr>
            <a:spLocks noChangeArrowheads="1"/>
          </p:cNvSpPr>
          <p:nvPr/>
        </p:nvSpPr>
        <p:spPr bwMode="auto">
          <a:xfrm rot="-5400000">
            <a:off x="-630182" y="3011364"/>
            <a:ext cx="457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Ratio of the average memory stall time</a:t>
            </a:r>
          </a:p>
        </p:txBody>
      </p:sp>
      <p:sp>
        <p:nvSpPr>
          <p:cNvPr id="922633" name="Line 9"/>
          <p:cNvSpPr>
            <a:spLocks noChangeShapeType="1"/>
          </p:cNvSpPr>
          <p:nvPr/>
        </p:nvSpPr>
        <p:spPr bwMode="auto">
          <a:xfrm>
            <a:off x="7086599" y="2500313"/>
            <a:ext cx="4121967" cy="0"/>
          </a:xfrm>
          <a:prstGeom prst="line">
            <a:avLst/>
          </a:prstGeom>
          <a:noFill/>
          <a:ln w="19050" cap="rnd">
            <a:solidFill>
              <a:schemeClr val="hlink"/>
            </a:solidFill>
            <a:prstDash val="sysDot"/>
            <a:round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922634" name="Line 10"/>
          <p:cNvSpPr>
            <a:spLocks noChangeShapeType="1"/>
          </p:cNvSpPr>
          <p:nvPr/>
        </p:nvSpPr>
        <p:spPr bwMode="auto">
          <a:xfrm>
            <a:off x="7178892" y="4085122"/>
            <a:ext cx="4029675" cy="0"/>
          </a:xfrm>
          <a:prstGeom prst="line">
            <a:avLst/>
          </a:prstGeom>
          <a:noFill/>
          <a:ln w="19050" cap="rnd">
            <a:solidFill>
              <a:schemeClr val="hlink"/>
            </a:solidFill>
            <a:prstDash val="sysDot"/>
            <a:round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922635" name="Line 11"/>
          <p:cNvSpPr>
            <a:spLocks noChangeShapeType="1"/>
          </p:cNvSpPr>
          <p:nvPr/>
        </p:nvSpPr>
        <p:spPr bwMode="auto">
          <a:xfrm flipV="1">
            <a:off x="1472461" y="5257800"/>
            <a:ext cx="9736105" cy="0"/>
          </a:xfrm>
          <a:prstGeom prst="line">
            <a:avLst/>
          </a:prstGeom>
          <a:noFill/>
          <a:ln w="19050" cap="rnd">
            <a:solidFill>
              <a:schemeClr val="hlink"/>
            </a:solidFill>
            <a:prstDash val="sysDot"/>
            <a:round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651" name="Rectangle 3"/>
          <p:cNvSpPr>
            <a:spLocks noGrp="1" noChangeArrowheads="1"/>
          </p:cNvSpPr>
          <p:nvPr>
            <p:ph idx="1"/>
          </p:nvPr>
        </p:nvSpPr>
        <p:spPr>
          <a:xfrm>
            <a:off x="983432" y="914400"/>
            <a:ext cx="10529936" cy="2971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itchFamily="2" charset="-122"/>
              </a:rPr>
              <a:t>Assume: </a:t>
            </a:r>
            <a:r>
              <a:rPr lang="en-US" altLang="zh-CN" sz="2000" dirty="0">
                <a:ea typeface="宋体" pitchFamily="2" charset="-122"/>
              </a:rPr>
              <a:t>For the cache described in Figure 5.23；</a:t>
            </a:r>
          </a:p>
          <a:p>
            <a:pPr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	Miss rates for 8KB: 11.4% for </a:t>
            </a:r>
            <a:r>
              <a:rPr lang="en-US" altLang="zh-CN" sz="2000" dirty="0" err="1">
                <a:ea typeface="宋体" pitchFamily="2" charset="-122"/>
              </a:rPr>
              <a:t>fp</a:t>
            </a:r>
            <a:r>
              <a:rPr lang="en-US" altLang="zh-CN" sz="2000" dirty="0">
                <a:ea typeface="宋体" pitchFamily="2" charset="-122"/>
              </a:rPr>
              <a:t>-DM cache</a:t>
            </a:r>
          </a:p>
          <a:p>
            <a:pPr>
              <a:buFontTx/>
              <a:buNone/>
            </a:pPr>
            <a:r>
              <a:rPr lang="zh-CN" altLang="en-US" sz="2000" dirty="0">
                <a:ea typeface="宋体" pitchFamily="2" charset="-122"/>
              </a:rPr>
              <a:t>				    10.7% </a:t>
            </a:r>
            <a:r>
              <a:rPr lang="en-US" altLang="zh-CN" sz="2000" dirty="0">
                <a:ea typeface="宋体" pitchFamily="2" charset="-122"/>
              </a:rPr>
              <a:t>for 2-way cache</a:t>
            </a:r>
          </a:p>
          <a:p>
            <a:pPr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	Miss rates for 8KB: 7.4% for int-DM cache</a:t>
            </a:r>
          </a:p>
          <a:p>
            <a:pPr>
              <a:buFontTx/>
              <a:buNone/>
            </a:pPr>
            <a:r>
              <a:rPr lang="zh-CN" altLang="en-US" sz="2000" dirty="0">
                <a:ea typeface="宋体" pitchFamily="2" charset="-122"/>
              </a:rPr>
              <a:t>				    6.0% </a:t>
            </a:r>
            <a:r>
              <a:rPr lang="en-US" altLang="zh-CN" sz="2000" dirty="0">
                <a:ea typeface="宋体" pitchFamily="2" charset="-122"/>
              </a:rPr>
              <a:t>for 2-way cache</a:t>
            </a:r>
          </a:p>
          <a:p>
            <a:pPr>
              <a:buFontTx/>
              <a:buNone/>
            </a:pPr>
            <a:r>
              <a:rPr lang="en-US" altLang="zh-CN" sz="2000" dirty="0">
                <a:solidFill>
                  <a:schemeClr val="hlink"/>
                </a:solidFill>
                <a:ea typeface="宋体" pitchFamily="2" charset="-122"/>
              </a:rPr>
              <a:t>	①　which is more important for floating-point programs: 	2-way or hit under one miss?</a:t>
            </a:r>
          </a:p>
          <a:p>
            <a:pPr>
              <a:buFontTx/>
              <a:buNone/>
            </a:pPr>
            <a:r>
              <a:rPr lang="en-US" altLang="zh-CN" sz="2000" dirty="0">
                <a:solidFill>
                  <a:schemeClr val="hlink"/>
                </a:solidFill>
                <a:ea typeface="宋体" pitchFamily="2" charset="-122"/>
              </a:rPr>
              <a:t>	②　What about integer programs?</a:t>
            </a:r>
          </a:p>
        </p:txBody>
      </p:sp>
      <p:sp>
        <p:nvSpPr>
          <p:cNvPr id="923650" name="Rectangle 2"/>
          <p:cNvSpPr>
            <a:spLocks noGrp="1" noChangeArrowheads="1"/>
          </p:cNvSpPr>
          <p:nvPr>
            <p:ph type="title"/>
          </p:nvPr>
        </p:nvSpPr>
        <p:spPr>
          <a:xfrm>
            <a:off x="983432" y="215746"/>
            <a:ext cx="8261960" cy="533400"/>
          </a:xfrm>
        </p:spPr>
        <p:txBody>
          <a:bodyPr/>
          <a:lstStyle/>
          <a:p>
            <a:r>
              <a:rPr lang="en-US" dirty="0"/>
              <a:t>Example13: </a:t>
            </a:r>
            <a:r>
              <a:rPr lang="en-US" altLang="zh-CN" sz="2900" dirty="0">
                <a:ea typeface="宋体" pitchFamily="2" charset="-122"/>
              </a:rPr>
              <a:t>Nonblocking</a:t>
            </a:r>
            <a:endParaRPr lang="zh-CN" altLang="en-US" sz="2900" dirty="0">
              <a:ea typeface="宋体" pitchFamily="2" charset="-122"/>
            </a:endParaRPr>
          </a:p>
        </p:txBody>
      </p:sp>
      <p:sp>
        <p:nvSpPr>
          <p:cNvPr id="923652" name="Rectangle 4"/>
          <p:cNvSpPr>
            <a:spLocks noChangeArrowheads="1"/>
          </p:cNvSpPr>
          <p:nvPr/>
        </p:nvSpPr>
        <p:spPr bwMode="auto">
          <a:xfrm>
            <a:off x="1271464" y="4065892"/>
            <a:ext cx="9725272" cy="214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altLang="zh-CN" sz="2800" dirty="0">
                <a:solidFill>
                  <a:schemeClr val="hlink"/>
                </a:solidFill>
                <a:latin typeface="Comic Sans MS" pitchFamily="66" charset="0"/>
                <a:ea typeface="宋体" pitchFamily="2" charset="-122"/>
              </a:rPr>
              <a:t>Answer: </a:t>
            </a: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The numbers for Figure 5.23 were based on a miss penalty of 16 clock cycles. Although this is low for a miss penalty, let’s stick with it for consistency. For floating-point programs the average memory stall times are: 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Miss </a:t>
            </a:r>
            <a:r>
              <a:rPr lang="en-US" altLang="zh-CN" sz="2000" dirty="0" err="1">
                <a:latin typeface="Times New Roman" pitchFamily="18" charset="0"/>
                <a:ea typeface="宋体" pitchFamily="2" charset="-122"/>
              </a:rPr>
              <a:t>rate</a:t>
            </a:r>
            <a:r>
              <a:rPr lang="en-US" altLang="zh-CN" sz="2000" baseline="-25000" dirty="0" err="1">
                <a:latin typeface="Times New Roman" pitchFamily="18" charset="0"/>
                <a:ea typeface="宋体" pitchFamily="2" charset="-122"/>
              </a:rPr>
              <a:t>DM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 *</a:t>
            </a:r>
            <a:r>
              <a:rPr lang="en-US" altLang="zh-CN" sz="2000" dirty="0">
                <a:latin typeface="Symbol" pitchFamily="18" charset="2"/>
                <a:ea typeface="宋体" pitchFamily="2" charset="-122"/>
              </a:rPr>
              <a:t> 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Miss penalty = 11.4% </a:t>
            </a:r>
            <a:r>
              <a:rPr lang="en-US" altLang="zh-CN" sz="2000" dirty="0">
                <a:latin typeface="Symbol" pitchFamily="18" charset="2"/>
                <a:ea typeface="宋体" pitchFamily="2" charset="-122"/>
              </a:rPr>
              <a:t>* 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16 = 1.84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Miss rate</a:t>
            </a:r>
            <a:r>
              <a:rPr lang="en-US" altLang="zh-CN" sz="2000" baseline="-25000" dirty="0">
                <a:latin typeface="Times New Roman" pitchFamily="18" charset="0"/>
                <a:ea typeface="宋体" pitchFamily="2" charset="-122"/>
              </a:rPr>
              <a:t>2-way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 *</a:t>
            </a:r>
            <a:r>
              <a:rPr lang="en-US" altLang="zh-CN" sz="2000" dirty="0">
                <a:latin typeface="Symbol" pitchFamily="18" charset="2"/>
                <a:ea typeface="宋体" pitchFamily="2" charset="-122"/>
              </a:rPr>
              <a:t> 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Miss penalty = 10.7% *</a:t>
            </a:r>
            <a:r>
              <a:rPr lang="en-US" altLang="zh-CN" sz="2000" dirty="0">
                <a:latin typeface="Symbol" pitchFamily="18" charset="2"/>
                <a:ea typeface="宋体" pitchFamily="2" charset="-122"/>
              </a:rPr>
              <a:t> 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16 = 1.71</a:t>
            </a:r>
          </a:p>
          <a:p>
            <a:pPr algn="l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The memory stalls of two-way are thus 1.71/1.84 or 93% of  direct-mapped cache.</a:t>
            </a:r>
            <a:endParaRPr lang="zh-CN" altLang="en-US" sz="2000" dirty="0"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923653" name="Rectangle 5"/>
          <p:cNvSpPr>
            <a:spLocks noChangeArrowheads="1"/>
          </p:cNvSpPr>
          <p:nvPr/>
        </p:nvSpPr>
        <p:spPr bwMode="auto">
          <a:xfrm>
            <a:off x="2209800" y="1414464"/>
            <a:ext cx="8077200" cy="1557337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The caption of Figure 5.23 says </a:t>
            </a:r>
            <a:r>
              <a:rPr lang="en-US" altLang="zh-CN" sz="200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hit under one miss</a:t>
            </a: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 reduces the average memory stall time to </a:t>
            </a:r>
            <a:r>
              <a:rPr lang="en-US" altLang="zh-CN" sz="200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76%(&lt;93%)</a:t>
            </a: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 of a blocking cache. </a:t>
            </a:r>
          </a:p>
          <a:p>
            <a:pPr algn="l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Hence, so for floating-point programs the direct-mapped data cache </a:t>
            </a:r>
            <a:r>
              <a:rPr lang="en-US" altLang="zh-CN" sz="200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supporting hit under one miss</a:t>
            </a: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 gives better performance than a two-way set-associative cache that blocks on a miss.</a:t>
            </a:r>
          </a:p>
        </p:txBody>
      </p:sp>
      <p:sp>
        <p:nvSpPr>
          <p:cNvPr id="923654" name="Rectangle 6"/>
          <p:cNvSpPr>
            <a:spLocks noChangeArrowheads="1"/>
          </p:cNvSpPr>
          <p:nvPr/>
        </p:nvSpPr>
        <p:spPr bwMode="auto">
          <a:xfrm>
            <a:off x="2209800" y="3025776"/>
            <a:ext cx="8153400" cy="3298825"/>
          </a:xfrm>
          <a:prstGeom prst="rect">
            <a:avLst/>
          </a:prstGeom>
          <a:solidFill>
            <a:srgbClr val="C0D2FE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altLang="zh-CN" sz="2000">
                <a:latin typeface="Arial" pitchFamily="34" charset="0"/>
                <a:ea typeface="宋体" pitchFamily="2" charset="-122"/>
              </a:rPr>
              <a:t>For integer programs the calculation is: 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altLang="zh-CN" sz="2000">
                <a:latin typeface="Times New Roman" pitchFamily="18" charset="0"/>
                <a:ea typeface="宋体" pitchFamily="2" charset="-122"/>
              </a:rPr>
              <a:t>Miss rate</a:t>
            </a:r>
            <a:r>
              <a:rPr lang="en-US" altLang="zh-CN" sz="2000" baseline="-25000">
                <a:latin typeface="Times New Roman" pitchFamily="18" charset="0"/>
                <a:ea typeface="宋体" pitchFamily="2" charset="-122"/>
              </a:rPr>
              <a:t>DM</a:t>
            </a:r>
            <a:r>
              <a:rPr lang="en-US" altLang="zh-CN" sz="2000">
                <a:latin typeface="Times New Roman" pitchFamily="18" charset="0"/>
                <a:ea typeface="宋体" pitchFamily="2" charset="-122"/>
              </a:rPr>
              <a:t> *</a:t>
            </a:r>
            <a:r>
              <a:rPr lang="en-US" altLang="zh-CN" sz="2000">
                <a:latin typeface="Symbol" pitchFamily="18" charset="2"/>
                <a:ea typeface="宋体" pitchFamily="2" charset="-122"/>
              </a:rPr>
              <a:t> </a:t>
            </a:r>
            <a:r>
              <a:rPr lang="en-US" altLang="zh-CN" sz="2000">
                <a:latin typeface="Times New Roman" pitchFamily="18" charset="0"/>
                <a:ea typeface="宋体" pitchFamily="2" charset="-122"/>
              </a:rPr>
              <a:t>Miss penalty = 7.4% *</a:t>
            </a:r>
            <a:r>
              <a:rPr lang="en-US" altLang="zh-CN" sz="2000">
                <a:latin typeface="Symbol" pitchFamily="18" charset="2"/>
                <a:ea typeface="宋体" pitchFamily="2" charset="-122"/>
              </a:rPr>
              <a:t> </a:t>
            </a:r>
            <a:r>
              <a:rPr lang="en-US" altLang="zh-CN" sz="2000">
                <a:latin typeface="Times New Roman" pitchFamily="18" charset="0"/>
                <a:ea typeface="宋体" pitchFamily="2" charset="-122"/>
              </a:rPr>
              <a:t>16 = 1.18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altLang="zh-CN" sz="2000">
                <a:latin typeface="Times New Roman" pitchFamily="18" charset="0"/>
                <a:ea typeface="宋体" pitchFamily="2" charset="-122"/>
              </a:rPr>
              <a:t>Miss rate</a:t>
            </a:r>
            <a:r>
              <a:rPr lang="en-US" altLang="zh-CN" sz="2000" baseline="-25000">
                <a:latin typeface="Times New Roman" pitchFamily="18" charset="0"/>
                <a:ea typeface="宋体" pitchFamily="2" charset="-122"/>
              </a:rPr>
              <a:t>2-way</a:t>
            </a:r>
            <a:r>
              <a:rPr lang="en-US" altLang="zh-CN" sz="2000">
                <a:latin typeface="Times New Roman" pitchFamily="18" charset="0"/>
                <a:ea typeface="宋体" pitchFamily="2" charset="-122"/>
              </a:rPr>
              <a:t> *</a:t>
            </a:r>
            <a:r>
              <a:rPr lang="en-US" altLang="zh-CN" sz="2000">
                <a:latin typeface="Symbol" pitchFamily="18" charset="2"/>
                <a:ea typeface="宋体" pitchFamily="2" charset="-122"/>
              </a:rPr>
              <a:t> </a:t>
            </a:r>
            <a:r>
              <a:rPr lang="en-US" altLang="zh-CN" sz="2000">
                <a:latin typeface="Times New Roman" pitchFamily="18" charset="0"/>
                <a:ea typeface="宋体" pitchFamily="2" charset="-122"/>
              </a:rPr>
              <a:t>Miss penalty = 6.0% *</a:t>
            </a:r>
            <a:r>
              <a:rPr lang="en-US" altLang="zh-CN" sz="2000">
                <a:latin typeface="Symbol" pitchFamily="18" charset="2"/>
                <a:ea typeface="宋体" pitchFamily="2" charset="-122"/>
              </a:rPr>
              <a:t> </a:t>
            </a:r>
            <a:r>
              <a:rPr lang="en-US" altLang="zh-CN" sz="2000">
                <a:latin typeface="Times New Roman" pitchFamily="18" charset="0"/>
                <a:ea typeface="宋体" pitchFamily="2" charset="-122"/>
              </a:rPr>
              <a:t>16 = 0.96</a:t>
            </a:r>
          </a:p>
          <a:p>
            <a:pPr algn="l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altLang="zh-CN" sz="2000">
                <a:latin typeface="Arial" pitchFamily="34" charset="0"/>
                <a:ea typeface="宋体" pitchFamily="2" charset="-122"/>
              </a:rPr>
              <a:t>The memory stalls of two-way are thus 0.96/1.18 or </a:t>
            </a:r>
            <a:r>
              <a:rPr lang="en-US" altLang="zh-CN" sz="200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81%</a:t>
            </a:r>
            <a:r>
              <a:rPr lang="en-US" altLang="zh-CN" sz="2000">
                <a:latin typeface="Arial" pitchFamily="34" charset="0"/>
                <a:ea typeface="宋体" pitchFamily="2" charset="-122"/>
              </a:rPr>
              <a:t> </a:t>
            </a:r>
            <a:r>
              <a:rPr lang="en-US" altLang="zh-CN" sz="200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(=81%)</a:t>
            </a:r>
            <a:r>
              <a:rPr lang="en-US" altLang="zh-CN" sz="2000">
                <a:latin typeface="Arial" pitchFamily="34" charset="0"/>
                <a:ea typeface="宋体" pitchFamily="2" charset="-122"/>
              </a:rPr>
              <a:t>of  direct-mapped cache. </a:t>
            </a:r>
          </a:p>
          <a:p>
            <a:pPr algn="l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altLang="zh-CN" sz="2000">
                <a:latin typeface="Arial" pitchFamily="34" charset="0"/>
                <a:ea typeface="宋体" pitchFamily="2" charset="-122"/>
              </a:rPr>
              <a:t>The caption of Figure 5.23 says </a:t>
            </a:r>
            <a:r>
              <a:rPr lang="en-US" altLang="zh-CN" sz="200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hit under one miss</a:t>
            </a:r>
            <a:r>
              <a:rPr lang="en-US" altLang="zh-CN" sz="2000">
                <a:latin typeface="Arial" pitchFamily="34" charset="0"/>
                <a:ea typeface="宋体" pitchFamily="2" charset="-122"/>
              </a:rPr>
              <a:t> reduces the average memory stall time to </a:t>
            </a:r>
            <a:r>
              <a:rPr lang="en-US" altLang="zh-CN" sz="200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81%</a:t>
            </a:r>
            <a:r>
              <a:rPr lang="en-US" altLang="zh-CN" sz="2000">
                <a:latin typeface="Arial" pitchFamily="34" charset="0"/>
                <a:ea typeface="宋体" pitchFamily="2" charset="-122"/>
              </a:rPr>
              <a:t> of a blocking cache, so the two options give about the </a:t>
            </a:r>
            <a:r>
              <a:rPr lang="en-US" altLang="zh-CN" sz="200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same performance</a:t>
            </a:r>
            <a:r>
              <a:rPr lang="en-US" altLang="zh-CN" sz="2000">
                <a:latin typeface="Arial" pitchFamily="34" charset="0"/>
                <a:ea typeface="宋体" pitchFamily="2" charset="-122"/>
              </a:rPr>
              <a:t> for integer programs. </a:t>
            </a:r>
          </a:p>
          <a:p>
            <a:pPr algn="l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altLang="zh-CN" sz="2000">
                <a:latin typeface="Arial" pitchFamily="34" charset="0"/>
                <a:ea typeface="宋体" pitchFamily="2" charset="-122"/>
              </a:rPr>
              <a:t>One advantage of hit under miss is that it cannot affect the hit time, as associativity can.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923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923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923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652" grpId="0" autoUpdateAnimBg="0"/>
      <p:bldP spid="923653" grpId="0" animBg="1" autoUpdateAnimBg="0"/>
      <p:bldP spid="923654" grpId="0" animBg="1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675" name="Rectangle 3"/>
          <p:cNvSpPr>
            <a:spLocks noGrp="1" noChangeArrowheads="1"/>
          </p:cNvSpPr>
          <p:nvPr>
            <p:ph idx="1"/>
          </p:nvPr>
        </p:nvSpPr>
        <p:spPr>
          <a:xfrm>
            <a:off x="882172" y="1052736"/>
            <a:ext cx="10427656" cy="4419600"/>
          </a:xfrm>
        </p:spPr>
        <p:txBody>
          <a:bodyPr/>
          <a:lstStyle/>
          <a:p>
            <a:r>
              <a:rPr lang="en-US" altLang="zh-CN" dirty="0"/>
              <a:t>Hardware Prefetching of Instructions and data </a:t>
            </a:r>
          </a:p>
          <a:p>
            <a:pPr lvl="1"/>
            <a:r>
              <a:rPr lang="en-US" altLang="zh-CN" dirty="0"/>
              <a:t>Reducing Misses</a:t>
            </a:r>
          </a:p>
          <a:p>
            <a:pPr lvl="1"/>
            <a:r>
              <a:rPr lang="en-US" altLang="zh-CN" dirty="0"/>
              <a:t>The act of getting data from memory before it is actually needed by the CPU. </a:t>
            </a:r>
          </a:p>
          <a:p>
            <a:pPr lvl="1"/>
            <a:r>
              <a:rPr lang="en-US" altLang="zh-CN" dirty="0"/>
              <a:t>This reduces compulsory misses by retrieving the data before it is requested. </a:t>
            </a:r>
          </a:p>
          <a:p>
            <a:pPr lvl="1"/>
            <a:r>
              <a:rPr lang="en-US" altLang="zh-CN" dirty="0"/>
              <a:t>Of course, this may increase other misses by removing useful blocks from the cache. </a:t>
            </a:r>
          </a:p>
          <a:p>
            <a:pPr lvl="2"/>
            <a:r>
              <a:rPr lang="en-US" altLang="zh-CN" dirty="0"/>
              <a:t>Thus, many caches hold prefetched blocks in a special buffer until they are actually needed. </a:t>
            </a:r>
          </a:p>
          <a:p>
            <a:pPr lvl="1"/>
            <a:r>
              <a:rPr lang="en-US" dirty="0"/>
              <a:t>E.g., Instruction Prefetching</a:t>
            </a:r>
          </a:p>
          <a:p>
            <a:pPr lvl="2"/>
            <a:r>
              <a:rPr lang="en-US" dirty="0"/>
              <a:t>Alpha 21064 fetches 2 blocks on a miss</a:t>
            </a:r>
          </a:p>
          <a:p>
            <a:pPr lvl="2"/>
            <a:r>
              <a:rPr lang="en-US" dirty="0"/>
              <a:t>Extra block placed in “stream buffer”</a:t>
            </a:r>
          </a:p>
          <a:p>
            <a:pPr lvl="2"/>
            <a:r>
              <a:rPr lang="en-US" dirty="0"/>
              <a:t>On miss check stream buffer</a:t>
            </a:r>
          </a:p>
          <a:p>
            <a:pPr lvl="1"/>
            <a:r>
              <a:rPr lang="en-US" dirty="0"/>
              <a:t>Prefetching relies on having extra memory bandwidth that can be used without penalty</a:t>
            </a:r>
            <a:endParaRPr lang="zh-CN" altLang="en-US" dirty="0"/>
          </a:p>
        </p:txBody>
      </p:sp>
      <p:sp>
        <p:nvSpPr>
          <p:cNvPr id="924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Second Miss Penalty/Rate Reduction Technique: 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699" name="Rectangle 3"/>
          <p:cNvSpPr>
            <a:spLocks noGrp="1" noChangeArrowheads="1"/>
          </p:cNvSpPr>
          <p:nvPr>
            <p:ph idx="1"/>
          </p:nvPr>
        </p:nvSpPr>
        <p:spPr>
          <a:xfrm>
            <a:off x="983432" y="836712"/>
            <a:ext cx="10085040" cy="4419600"/>
          </a:xfrm>
        </p:spPr>
        <p:txBody>
          <a:bodyPr/>
          <a:lstStyle/>
          <a:p>
            <a:r>
              <a:rPr lang="en-US" altLang="zh-CN" dirty="0"/>
              <a:t>Compiler-controlled prefetch</a:t>
            </a:r>
          </a:p>
          <a:p>
            <a:pPr lvl="1"/>
            <a:r>
              <a:rPr lang="en-US" dirty="0"/>
              <a:t>Reducing Misses </a:t>
            </a:r>
          </a:p>
          <a:p>
            <a:pPr lvl="1"/>
            <a:r>
              <a:rPr lang="en-US" dirty="0"/>
              <a:t>The compiler inserts prefetch instructions to request the data before they are needed </a:t>
            </a:r>
          </a:p>
          <a:p>
            <a:pPr lvl="1"/>
            <a:r>
              <a:rPr lang="en-US" dirty="0"/>
              <a:t>Data Prefetch Load data into register (HP PA-RISC loads)</a:t>
            </a:r>
          </a:p>
          <a:p>
            <a:pPr lvl="2"/>
            <a:r>
              <a:rPr lang="en-US" dirty="0"/>
              <a:t>Cache Prefetch: load into cache (MIPS IV, PowerPC, SPARC v. 9)</a:t>
            </a:r>
          </a:p>
          <a:p>
            <a:pPr lvl="2"/>
            <a:r>
              <a:rPr lang="en-US" dirty="0"/>
              <a:t>Special prefetching instructions cannot cause faults; a form of speculative execution</a:t>
            </a:r>
          </a:p>
          <a:p>
            <a:pPr lvl="1"/>
            <a:r>
              <a:rPr lang="en-US" dirty="0"/>
              <a:t>Prefetching comes in two flavors:</a:t>
            </a:r>
          </a:p>
          <a:p>
            <a:pPr lvl="2"/>
            <a:r>
              <a:rPr lang="en-US" dirty="0"/>
              <a:t>Binding prefetch: Requests load directly into register.</a:t>
            </a:r>
          </a:p>
          <a:p>
            <a:pPr lvl="3"/>
            <a:r>
              <a:rPr lang="en-US" dirty="0"/>
              <a:t>Must be correct address and register!</a:t>
            </a:r>
          </a:p>
          <a:p>
            <a:pPr lvl="2"/>
            <a:r>
              <a:rPr lang="en-US" dirty="0"/>
              <a:t>Non-Binding prefetch: Load into cache.  </a:t>
            </a:r>
          </a:p>
          <a:p>
            <a:pPr lvl="3"/>
            <a:r>
              <a:rPr lang="en-US" dirty="0"/>
              <a:t>Can be incorrect. Faults?</a:t>
            </a:r>
          </a:p>
          <a:p>
            <a:pPr lvl="1"/>
            <a:r>
              <a:rPr lang="en-US" dirty="0"/>
              <a:t>Issuing Prefetch Instructions takes time</a:t>
            </a:r>
          </a:p>
          <a:p>
            <a:pPr lvl="2"/>
            <a:r>
              <a:rPr lang="en-US" dirty="0"/>
              <a:t>Is cost of prefetch issues &lt; savings in reduced misses?</a:t>
            </a:r>
          </a:p>
          <a:p>
            <a:pPr lvl="2"/>
            <a:r>
              <a:rPr lang="en-US" dirty="0"/>
              <a:t>Higher superscalar reduces difficulty of issue bandwidth</a:t>
            </a:r>
          </a:p>
        </p:txBody>
      </p:sp>
      <p:sp>
        <p:nvSpPr>
          <p:cNvPr id="925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Third Miss Penalty/Rate Reduction Technique: 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5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5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5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5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25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25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5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5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25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25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25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25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5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5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25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25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25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25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25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25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25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25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256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256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256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256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256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256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5699" grpId="0" build="p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723" name="Rectangle 3"/>
          <p:cNvSpPr>
            <a:spLocks noGrp="1" noChangeArrowheads="1"/>
          </p:cNvSpPr>
          <p:nvPr>
            <p:ph idx="1"/>
          </p:nvPr>
        </p:nvSpPr>
        <p:spPr>
          <a:xfrm>
            <a:off x="983432" y="836712"/>
            <a:ext cx="10412560" cy="49530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Assume:</a:t>
            </a: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 	cache sizes: </a:t>
            </a:r>
            <a:r>
              <a:rPr lang="en-US" altLang="zh-CN" sz="200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8-KB</a:t>
            </a: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 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			blocks sizes: </a:t>
            </a:r>
            <a:r>
              <a:rPr lang="en-US" altLang="zh-CN" sz="200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16-byte</a:t>
            </a:r>
            <a:endParaRPr lang="en-US" altLang="zh-CN" sz="2000" dirty="0">
              <a:latin typeface="Arial" pitchFamily="34" charset="0"/>
              <a:ea typeface="宋体" pitchFamily="2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			 data cache strategy: direct-mapped 、 </a:t>
            </a:r>
            <a:r>
              <a:rPr lang="en-US" altLang="zh-CN" sz="200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write-			　back cache</a:t>
            </a: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 、 </a:t>
            </a:r>
            <a:r>
              <a:rPr lang="en-US" altLang="zh-CN" sz="200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write allocate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zh-CN" sz="2000" dirty="0">
              <a:solidFill>
                <a:schemeClr val="hlink"/>
              </a:solidFill>
              <a:latin typeface="Arial" pitchFamily="34" charset="0"/>
              <a:ea typeface="宋体" pitchFamily="2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	The elements of </a:t>
            </a:r>
            <a:r>
              <a:rPr lang="en-US" altLang="zh-CN" sz="2000" dirty="0">
                <a:solidFill>
                  <a:schemeClr val="hlink"/>
                </a:solidFill>
                <a:latin typeface="Courier" charset="0"/>
                <a:ea typeface="宋体" pitchFamily="2" charset="-122"/>
              </a:rPr>
              <a:t>a</a:t>
            </a:r>
            <a:r>
              <a:rPr lang="en-US" altLang="zh-CN" sz="2000" dirty="0">
                <a:latin typeface="Courier" charset="0"/>
                <a:ea typeface="宋体" pitchFamily="2" charset="-122"/>
              </a:rPr>
              <a:t> </a:t>
            </a: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and </a:t>
            </a:r>
            <a:r>
              <a:rPr lang="en-US" altLang="zh-CN" sz="2000" dirty="0">
                <a:solidFill>
                  <a:schemeClr val="hlink"/>
                </a:solidFill>
                <a:latin typeface="Courier" charset="0"/>
                <a:ea typeface="宋体" pitchFamily="2" charset="-122"/>
              </a:rPr>
              <a:t>b</a:t>
            </a:r>
            <a:r>
              <a:rPr lang="en-US" altLang="zh-CN" sz="2000" dirty="0">
                <a:latin typeface="Courier" charset="0"/>
                <a:ea typeface="宋体" pitchFamily="2" charset="-122"/>
              </a:rPr>
              <a:t> </a:t>
            </a: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are 8 bytes long since  they are double-precision floating-point arrays.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	a array:  3 rows and 100 columns</a:t>
            </a:r>
            <a:endParaRPr lang="en-US" altLang="zh-CN" sz="2000" dirty="0">
              <a:latin typeface="Courier" charset="0"/>
              <a:ea typeface="宋体" pitchFamily="2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	b array:  101 rows and 3 columns 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	they are not in the cache at the start of the program. 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zh-CN" sz="2000" dirty="0">
              <a:latin typeface="Arial" pitchFamily="34" charset="0"/>
              <a:ea typeface="宋体" pitchFamily="2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For the code below: </a:t>
            </a:r>
            <a:endParaRPr lang="en-US" altLang="zh-CN" sz="2000" dirty="0">
              <a:solidFill>
                <a:schemeClr val="hlink"/>
              </a:solidFill>
              <a:latin typeface="Arial" pitchFamily="34" charset="0"/>
              <a:ea typeface="宋体" pitchFamily="2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First determine which accesses are likely to cause data cache misses.</a:t>
            </a: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 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Next, insert prefetch instructions to reduce misses.</a:t>
            </a: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 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Finally, calculate the number of prefetch instructions executed and the misses avoided due to prefetching.</a:t>
            </a: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 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zh-CN" sz="2000" dirty="0">
              <a:latin typeface="Arial" pitchFamily="34" charset="0"/>
              <a:ea typeface="宋体" pitchFamily="2" charset="-122"/>
            </a:endParaRPr>
          </a:p>
          <a:p>
            <a:pPr lvl="3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for ( </a:t>
            </a:r>
            <a:r>
              <a:rPr lang="en-US" altLang="zh-CN" sz="2000" dirty="0" err="1">
                <a:ea typeface="宋体" pitchFamily="2" charset="-122"/>
              </a:rPr>
              <a:t>i</a:t>
            </a:r>
            <a:r>
              <a:rPr lang="en-US" altLang="zh-CN" sz="2000" dirty="0">
                <a:ea typeface="宋体" pitchFamily="2" charset="-122"/>
              </a:rPr>
              <a:t>=0; </a:t>
            </a:r>
            <a:r>
              <a:rPr lang="en-US" altLang="zh-CN" sz="2000" dirty="0" err="1">
                <a:ea typeface="宋体" pitchFamily="2" charset="-122"/>
              </a:rPr>
              <a:t>i</a:t>
            </a:r>
            <a:r>
              <a:rPr lang="en-US" altLang="zh-CN" sz="2000" dirty="0">
                <a:ea typeface="宋体" pitchFamily="2" charset="-122"/>
              </a:rPr>
              <a:t>&lt;3; </a:t>
            </a:r>
            <a:r>
              <a:rPr lang="en-US" altLang="zh-CN" sz="2000" dirty="0" err="1">
                <a:ea typeface="宋体" pitchFamily="2" charset="-122"/>
              </a:rPr>
              <a:t>i</a:t>
            </a:r>
            <a:r>
              <a:rPr lang="en-US" altLang="zh-CN" sz="2000" dirty="0">
                <a:ea typeface="宋体" pitchFamily="2" charset="-122"/>
              </a:rPr>
              <a:t>=i+1)</a:t>
            </a:r>
          </a:p>
          <a:p>
            <a:pPr lvl="3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             for ( j=0; j&lt;100; j=j+1)</a:t>
            </a:r>
          </a:p>
          <a:p>
            <a:pPr lvl="3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                    a[</a:t>
            </a:r>
            <a:r>
              <a:rPr lang="en-US" altLang="zh-CN" sz="2000" dirty="0" err="1">
                <a:ea typeface="宋体" pitchFamily="2" charset="-122"/>
              </a:rPr>
              <a:t>i</a:t>
            </a:r>
            <a:r>
              <a:rPr lang="en-US" altLang="zh-CN" sz="2000" dirty="0">
                <a:ea typeface="宋体" pitchFamily="2" charset="-122"/>
              </a:rPr>
              <a:t>][j] = b[j][0] </a:t>
            </a:r>
            <a:r>
              <a:rPr lang="en-US" altLang="zh-CN" sz="2000" dirty="0">
                <a:ea typeface="宋体" pitchFamily="2" charset="-122"/>
                <a:sym typeface="Symbol" pitchFamily="18" charset="2"/>
              </a:rPr>
              <a:t> b[j+1][0]</a:t>
            </a:r>
          </a:p>
        </p:txBody>
      </p:sp>
      <p:sp>
        <p:nvSpPr>
          <p:cNvPr id="926722" name="Rectangle 2"/>
          <p:cNvSpPr>
            <a:spLocks noGrp="1" noChangeArrowheads="1"/>
          </p:cNvSpPr>
          <p:nvPr>
            <p:ph type="title"/>
          </p:nvPr>
        </p:nvSpPr>
        <p:spPr>
          <a:xfrm>
            <a:off x="983432" y="227112"/>
            <a:ext cx="9247956" cy="609600"/>
          </a:xfrm>
        </p:spPr>
        <p:txBody>
          <a:bodyPr/>
          <a:lstStyle/>
          <a:p>
            <a:r>
              <a:rPr lang="en-US" dirty="0"/>
              <a:t>Example13: </a:t>
            </a:r>
            <a:r>
              <a:rPr lang="en-US" altLang="zh-CN" dirty="0">
                <a:ea typeface="宋体" pitchFamily="2" charset="-122"/>
              </a:rPr>
              <a:t>Compiler-controlled prefetch</a:t>
            </a:r>
            <a:endParaRPr lang="zh-CN" altLang="en-US" dirty="0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747" name="Rectangle 3"/>
          <p:cNvSpPr>
            <a:spLocks noGrp="1" noChangeArrowheads="1"/>
          </p:cNvSpPr>
          <p:nvPr>
            <p:ph idx="1"/>
          </p:nvPr>
        </p:nvSpPr>
        <p:spPr>
          <a:xfrm>
            <a:off x="911424" y="941457"/>
            <a:ext cx="10491192" cy="5486400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itchFamily="2" charset="-122"/>
              </a:rPr>
              <a:t>Answer: </a:t>
            </a:r>
            <a:r>
              <a:rPr lang="en-US" altLang="zh-CN" sz="2000" dirty="0">
                <a:ea typeface="宋体" pitchFamily="2" charset="-122"/>
              </a:rPr>
              <a:t> 	 </a:t>
            </a:r>
            <a:r>
              <a:rPr lang="en-US" altLang="zh-CN" sz="2000" dirty="0">
                <a:solidFill>
                  <a:schemeClr val="hlink"/>
                </a:solidFill>
                <a:ea typeface="宋体" pitchFamily="2" charset="-122"/>
              </a:rPr>
              <a:t>First determine which accesses are likely to cause data cache misses.</a:t>
            </a:r>
            <a:r>
              <a:rPr lang="en-US" altLang="zh-CN" sz="2000" dirty="0">
                <a:ea typeface="宋体" pitchFamily="2" charset="-122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ea typeface="宋体" pitchFamily="2" charset="-122"/>
              </a:rPr>
              <a:t>16 Byte/block， 8 Byte/element，</a:t>
            </a:r>
            <a:r>
              <a:rPr lang="en-US" altLang="zh-CN" sz="1800" dirty="0">
                <a:solidFill>
                  <a:schemeClr val="hlink"/>
                </a:solidFill>
                <a:ea typeface="宋体" pitchFamily="2" charset="-122"/>
              </a:rPr>
              <a:t>2 elements/block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ea typeface="宋体" pitchFamily="2" charset="-122"/>
              </a:rPr>
              <a:t>Elements of a are written </a:t>
            </a:r>
            <a:r>
              <a:rPr lang="en-US" altLang="zh-CN" sz="1800" dirty="0">
                <a:solidFill>
                  <a:schemeClr val="hlink"/>
                </a:solidFill>
                <a:ea typeface="宋体" pitchFamily="2" charset="-122"/>
              </a:rPr>
              <a:t>in the order</a:t>
            </a:r>
            <a:r>
              <a:rPr lang="en-US" altLang="zh-CN" sz="1800" dirty="0">
                <a:ea typeface="宋体" pitchFamily="2" charset="-122"/>
              </a:rPr>
              <a:t> that they are stored in memory, so </a:t>
            </a:r>
            <a:r>
              <a:rPr lang="en-US" altLang="zh-CN" sz="2000" dirty="0">
                <a:solidFill>
                  <a:schemeClr val="hlink"/>
                </a:solidFill>
                <a:ea typeface="宋体" pitchFamily="2" charset="-122"/>
              </a:rPr>
              <a:t>a will benefit from spatial locality: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itchFamily="34" charset="0"/>
                <a:ea typeface="宋体" pitchFamily="2" charset="-122"/>
              </a:rPr>
              <a:t>The even values of</a:t>
            </a:r>
            <a:r>
              <a:rPr lang="en-US" altLang="zh-CN" sz="180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 </a:t>
            </a:r>
            <a:r>
              <a:rPr lang="en-US" altLang="zh-CN" sz="1800" dirty="0">
                <a:solidFill>
                  <a:schemeClr val="hlink"/>
                </a:solidFill>
                <a:latin typeface="Courier" charset="0"/>
                <a:ea typeface="宋体" pitchFamily="2" charset="-122"/>
              </a:rPr>
              <a:t>j </a:t>
            </a:r>
            <a:r>
              <a:rPr lang="en-US" altLang="zh-CN" sz="1800" dirty="0">
                <a:latin typeface="Arial" pitchFamily="34" charset="0"/>
                <a:ea typeface="宋体" pitchFamily="2" charset="-122"/>
              </a:rPr>
              <a:t>will miss and the odd values will hit. Since 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A[I][J]:  3</a:t>
            </a:r>
            <a:r>
              <a:rPr lang="en-US" altLang="zh-CN" sz="2000" dirty="0">
                <a:ea typeface="宋体" pitchFamily="2" charset="-122"/>
                <a:sym typeface="Symbol" pitchFamily="18" charset="2"/>
              </a:rPr>
              <a:t></a:t>
            </a:r>
            <a:r>
              <a:rPr lang="en-US" altLang="zh-CN" sz="2000" dirty="0">
                <a:ea typeface="宋体" pitchFamily="2" charset="-122"/>
              </a:rPr>
              <a:t>100 accesses will lead to: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2000" dirty="0">
              <a:ea typeface="宋体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2000" dirty="0">
              <a:ea typeface="宋体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2000" dirty="0">
              <a:ea typeface="宋体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Since the accesses are not in the order it is stored. The array </a:t>
            </a:r>
            <a:r>
              <a:rPr lang="en-US" altLang="zh-CN" sz="2000" dirty="0">
                <a:latin typeface="Courier" charset="0"/>
                <a:ea typeface="宋体" pitchFamily="2" charset="-122"/>
              </a:rPr>
              <a:t>b </a:t>
            </a: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does </a:t>
            </a:r>
            <a:r>
              <a:rPr lang="en-US" altLang="zh-CN" sz="200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not benefit</a:t>
            </a: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 from spatial locality. </a:t>
            </a:r>
            <a:r>
              <a:rPr lang="en-US" altLang="zh-CN" sz="200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The array </a:t>
            </a:r>
            <a:r>
              <a:rPr lang="en-US" altLang="zh-CN" sz="2000" dirty="0">
                <a:solidFill>
                  <a:schemeClr val="hlink"/>
                </a:solidFill>
                <a:latin typeface="Courier" charset="0"/>
                <a:ea typeface="宋体" pitchFamily="2" charset="-122"/>
              </a:rPr>
              <a:t>b </a:t>
            </a:r>
            <a:r>
              <a:rPr lang="en-US" altLang="zh-CN" sz="200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does benefit twice from temporal locality</a:t>
            </a: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: the same elements are accessed for each iteration of </a:t>
            </a:r>
            <a:r>
              <a:rPr lang="en-US" altLang="zh-CN" sz="2000" dirty="0" err="1">
                <a:latin typeface="Courier" charset="0"/>
                <a:ea typeface="宋体" pitchFamily="2" charset="-122"/>
              </a:rPr>
              <a:t>i</a:t>
            </a: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, and each iteration of </a:t>
            </a:r>
            <a:r>
              <a:rPr lang="en-US" altLang="zh-CN" sz="2000" dirty="0">
                <a:latin typeface="Courier" charset="0"/>
                <a:ea typeface="宋体" pitchFamily="2" charset="-122"/>
              </a:rPr>
              <a:t>j </a:t>
            </a: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uses the same value of </a:t>
            </a:r>
            <a:r>
              <a:rPr lang="en-US" altLang="zh-CN" sz="2000" dirty="0">
                <a:solidFill>
                  <a:schemeClr val="hlink"/>
                </a:solidFill>
                <a:latin typeface="Courier" charset="0"/>
                <a:ea typeface="宋体" pitchFamily="2" charset="-122"/>
              </a:rPr>
              <a:t>b</a:t>
            </a:r>
            <a:r>
              <a:rPr lang="en-US" altLang="zh-CN" sz="2000" dirty="0">
                <a:latin typeface="Courier" charset="0"/>
                <a:ea typeface="宋体" pitchFamily="2" charset="-122"/>
              </a:rPr>
              <a:t> </a:t>
            </a: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as the last iteration.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sz="1800" dirty="0">
                <a:ea typeface="宋体" pitchFamily="2" charset="-122"/>
              </a:rPr>
              <a:t>		</a:t>
            </a:r>
            <a:r>
              <a:rPr lang="en-US" altLang="zh-CN" sz="2000" dirty="0">
                <a:ea typeface="宋体" pitchFamily="2" charset="-122"/>
              </a:rPr>
              <a:t>j=0        B[0][0]、B[1][0]       2		</a:t>
            </a: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accesses first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		j=1        B[1][0]、B[2][0]       1	    </a:t>
            </a: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accesses next from </a:t>
            </a:r>
            <a:r>
              <a:rPr lang="en-US" altLang="zh-CN" sz="200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j=1</a:t>
            </a:r>
            <a:r>
              <a:rPr lang="en-US" altLang="zh-CN" sz="2000" dirty="0">
                <a:latin typeface="Arial" pitchFamily="34" charset="0"/>
                <a:ea typeface="宋体" pitchFamily="2" charset="-122"/>
              </a:rPr>
              <a:t> to </a:t>
            </a:r>
            <a:r>
              <a:rPr lang="en-US" altLang="zh-CN" sz="200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j=99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sz="2200" dirty="0">
                <a:ea typeface="宋体" pitchFamily="2" charset="-122"/>
              </a:rPr>
              <a:t>		 	2+99=101</a:t>
            </a:r>
            <a:r>
              <a:rPr lang="zh-CN" altLang="en-US" sz="2200" dirty="0">
                <a:ea typeface="宋体" pitchFamily="2" charset="-122"/>
              </a:rPr>
              <a:t> </a:t>
            </a:r>
            <a:r>
              <a:rPr lang="en-US" altLang="zh-CN" sz="2200" dirty="0">
                <a:ea typeface="宋体" pitchFamily="2" charset="-122"/>
              </a:rPr>
              <a:t>misses</a:t>
            </a:r>
          </a:p>
        </p:txBody>
      </p:sp>
      <p:sp>
        <p:nvSpPr>
          <p:cNvPr id="927746" name="Rectangle 2"/>
          <p:cNvSpPr>
            <a:spLocks noGrp="1" noChangeArrowheads="1"/>
          </p:cNvSpPr>
          <p:nvPr>
            <p:ph type="title"/>
          </p:nvPr>
        </p:nvSpPr>
        <p:spPr>
          <a:xfrm>
            <a:off x="911424" y="228600"/>
            <a:ext cx="9756576" cy="609600"/>
          </a:xfrm>
        </p:spPr>
        <p:txBody>
          <a:bodyPr/>
          <a:lstStyle/>
          <a:p>
            <a:r>
              <a:rPr lang="en-US" dirty="0"/>
              <a:t>Example13: </a:t>
            </a:r>
            <a:r>
              <a:rPr lang="en-US" altLang="zh-CN" dirty="0">
                <a:ea typeface="宋体" pitchFamily="2" charset="-122"/>
              </a:rPr>
              <a:t>Compiler-controlled prefetch-2</a:t>
            </a:r>
            <a:endParaRPr lang="zh-CN" altLang="en-US" dirty="0">
              <a:ea typeface="宋体" pitchFamily="2" charset="-122"/>
            </a:endParaRPr>
          </a:p>
        </p:txBody>
      </p:sp>
      <p:grpSp>
        <p:nvGrpSpPr>
          <p:cNvPr id="927748" name="Group 4"/>
          <p:cNvGrpSpPr>
            <a:grpSpLocks/>
          </p:cNvGrpSpPr>
          <p:nvPr/>
        </p:nvGrpSpPr>
        <p:grpSpPr bwMode="auto">
          <a:xfrm>
            <a:off x="2914804" y="3009394"/>
            <a:ext cx="3124200" cy="839212"/>
            <a:chOff x="2352" y="2496"/>
            <a:chExt cx="1824" cy="436"/>
          </a:xfrm>
        </p:grpSpPr>
        <p:sp>
          <p:nvSpPr>
            <p:cNvPr id="927749" name="Rectangle 5"/>
            <p:cNvSpPr>
              <a:spLocks noChangeArrowheads="1"/>
            </p:cNvSpPr>
            <p:nvPr/>
          </p:nvSpPr>
          <p:spPr bwMode="auto">
            <a:xfrm>
              <a:off x="2352" y="2592"/>
              <a:ext cx="1824" cy="2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chemeClr val="hlink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200" dirty="0">
                  <a:latin typeface="Times New Roman" pitchFamily="18" charset="0"/>
                  <a:ea typeface="宋体" pitchFamily="2" charset="-122"/>
                </a:rPr>
                <a:t>3 * -------- =150   </a:t>
              </a:r>
              <a:r>
                <a:rPr lang="en-US" altLang="zh-CN" sz="2200" dirty="0">
                  <a:latin typeface="Times New Roman" pitchFamily="18" charset="0"/>
                  <a:ea typeface="宋体" pitchFamily="2" charset="-122"/>
                </a:rPr>
                <a:t>Misses</a:t>
              </a:r>
            </a:p>
          </p:txBody>
        </p:sp>
        <p:sp>
          <p:nvSpPr>
            <p:cNvPr id="927750" name="Rectangle 6"/>
            <p:cNvSpPr>
              <a:spLocks noChangeArrowheads="1"/>
            </p:cNvSpPr>
            <p:nvPr/>
          </p:nvSpPr>
          <p:spPr bwMode="auto">
            <a:xfrm>
              <a:off x="2496" y="2496"/>
              <a:ext cx="768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chemeClr val="hlink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200">
                  <a:latin typeface="Times New Roman" pitchFamily="18" charset="0"/>
                  <a:ea typeface="宋体" pitchFamily="2" charset="-122"/>
                </a:rPr>
                <a:t>100</a:t>
              </a:r>
              <a:endParaRPr lang="zh-CN" altLang="en-US" sz="2200">
                <a:latin typeface="Symbol" pitchFamily="18" charset="2"/>
                <a:ea typeface="宋体" pitchFamily="2" charset="-122"/>
              </a:endParaRPr>
            </a:p>
          </p:txBody>
        </p:sp>
        <p:sp>
          <p:nvSpPr>
            <p:cNvPr id="927751" name="Rectangle 7"/>
            <p:cNvSpPr>
              <a:spLocks noChangeArrowheads="1"/>
            </p:cNvSpPr>
            <p:nvPr/>
          </p:nvSpPr>
          <p:spPr bwMode="auto">
            <a:xfrm>
              <a:off x="2782" y="2708"/>
              <a:ext cx="190" cy="2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chemeClr val="hlink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200"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</p:grpSp>
      <p:sp>
        <p:nvSpPr>
          <p:cNvPr id="927752" name="Rectangle 8"/>
          <p:cNvSpPr>
            <a:spLocks noChangeArrowheads="1"/>
          </p:cNvSpPr>
          <p:nvPr/>
        </p:nvSpPr>
        <p:spPr bwMode="auto">
          <a:xfrm>
            <a:off x="7032104" y="2732961"/>
            <a:ext cx="3810000" cy="922338"/>
          </a:xfrm>
          <a:prstGeom prst="rect">
            <a:avLst/>
          </a:prstGeom>
          <a:solidFill>
            <a:srgbClr val="D2FAF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80000"/>
              </a:lnSpc>
              <a:spcBef>
                <a:spcPct val="50000"/>
              </a:spcBef>
              <a:buSzPct val="100000"/>
            </a:pPr>
            <a:r>
              <a:rPr lang="en-US" altLang="zh-CN" sz="1600" dirty="0">
                <a:solidFill>
                  <a:schemeClr val="hlink"/>
                </a:solidFill>
                <a:latin typeface="Comic Sans MS" pitchFamily="66" charset="0"/>
                <a:ea typeface="宋体" pitchFamily="2" charset="-122"/>
              </a:rPr>
              <a:t>for ( </a:t>
            </a:r>
            <a:r>
              <a:rPr lang="en-US" altLang="zh-CN" sz="1600" dirty="0" err="1">
                <a:solidFill>
                  <a:schemeClr val="hlink"/>
                </a:solidFill>
                <a:latin typeface="Comic Sans MS" pitchFamily="66" charset="0"/>
                <a:ea typeface="宋体" pitchFamily="2" charset="-122"/>
              </a:rPr>
              <a:t>i</a:t>
            </a:r>
            <a:r>
              <a:rPr lang="en-US" altLang="zh-CN" sz="1600" dirty="0">
                <a:solidFill>
                  <a:schemeClr val="hlink"/>
                </a:solidFill>
                <a:latin typeface="Comic Sans MS" pitchFamily="66" charset="0"/>
                <a:ea typeface="宋体" pitchFamily="2" charset="-122"/>
              </a:rPr>
              <a:t>=0; </a:t>
            </a:r>
            <a:r>
              <a:rPr lang="en-US" altLang="zh-CN" sz="1600" dirty="0" err="1">
                <a:solidFill>
                  <a:schemeClr val="hlink"/>
                </a:solidFill>
                <a:latin typeface="Comic Sans MS" pitchFamily="66" charset="0"/>
                <a:ea typeface="宋体" pitchFamily="2" charset="-122"/>
              </a:rPr>
              <a:t>i</a:t>
            </a:r>
            <a:r>
              <a:rPr lang="en-US" altLang="zh-CN" sz="1600" dirty="0">
                <a:solidFill>
                  <a:schemeClr val="hlink"/>
                </a:solidFill>
                <a:latin typeface="Comic Sans MS" pitchFamily="66" charset="0"/>
                <a:ea typeface="宋体" pitchFamily="2" charset="-122"/>
              </a:rPr>
              <a:t>&lt;3; </a:t>
            </a:r>
            <a:r>
              <a:rPr lang="en-US" altLang="zh-CN" sz="1600" dirty="0" err="1">
                <a:solidFill>
                  <a:schemeClr val="hlink"/>
                </a:solidFill>
                <a:latin typeface="Comic Sans MS" pitchFamily="66" charset="0"/>
                <a:ea typeface="宋体" pitchFamily="2" charset="-122"/>
              </a:rPr>
              <a:t>i</a:t>
            </a:r>
            <a:r>
              <a:rPr lang="en-US" altLang="zh-CN" sz="1600" dirty="0">
                <a:solidFill>
                  <a:schemeClr val="hlink"/>
                </a:solidFill>
                <a:latin typeface="Comic Sans MS" pitchFamily="66" charset="0"/>
                <a:ea typeface="宋体" pitchFamily="2" charset="-122"/>
              </a:rPr>
              <a:t>=i+1)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  <a:buSzPct val="100000"/>
            </a:pPr>
            <a:r>
              <a:rPr lang="en-US" altLang="zh-CN" sz="1600" dirty="0">
                <a:solidFill>
                  <a:schemeClr val="hlink"/>
                </a:solidFill>
                <a:latin typeface="Comic Sans MS" pitchFamily="66" charset="0"/>
                <a:ea typeface="宋体" pitchFamily="2" charset="-122"/>
              </a:rPr>
              <a:t>     for ( j=0; j&lt;100; j=j+1)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  <a:buSzPct val="100000"/>
            </a:pPr>
            <a:r>
              <a:rPr lang="en-US" altLang="zh-CN" sz="1600" dirty="0">
                <a:solidFill>
                  <a:schemeClr val="hlink"/>
                </a:solidFill>
                <a:latin typeface="Comic Sans MS" pitchFamily="66" charset="0"/>
                <a:ea typeface="宋体" pitchFamily="2" charset="-122"/>
              </a:rPr>
              <a:t>          a[</a:t>
            </a:r>
            <a:r>
              <a:rPr lang="en-US" altLang="zh-CN" sz="1600" dirty="0" err="1">
                <a:solidFill>
                  <a:schemeClr val="hlink"/>
                </a:solidFill>
                <a:latin typeface="Comic Sans MS" pitchFamily="66" charset="0"/>
                <a:ea typeface="宋体" pitchFamily="2" charset="-122"/>
              </a:rPr>
              <a:t>i</a:t>
            </a:r>
            <a:r>
              <a:rPr lang="en-US" altLang="zh-CN" sz="1600" dirty="0">
                <a:solidFill>
                  <a:schemeClr val="hlink"/>
                </a:solidFill>
                <a:latin typeface="Comic Sans MS" pitchFamily="66" charset="0"/>
                <a:ea typeface="宋体" pitchFamily="2" charset="-122"/>
              </a:rPr>
              <a:t>][j] = b[j][0] </a:t>
            </a:r>
            <a:r>
              <a:rPr lang="en-US" altLang="zh-CN" sz="1600" dirty="0">
                <a:solidFill>
                  <a:schemeClr val="hlink"/>
                </a:solidFill>
                <a:latin typeface="Comic Sans MS" pitchFamily="66" charset="0"/>
                <a:ea typeface="宋体" pitchFamily="2" charset="-122"/>
                <a:sym typeface="Symbol" pitchFamily="18" charset="2"/>
              </a:rPr>
              <a:t> b[j+1][0]</a:t>
            </a:r>
          </a:p>
        </p:txBody>
      </p:sp>
      <p:sp>
        <p:nvSpPr>
          <p:cNvPr id="927753" name="Rectangle 9"/>
          <p:cNvSpPr>
            <a:spLocks noChangeArrowheads="1"/>
          </p:cNvSpPr>
          <p:nvPr/>
        </p:nvSpPr>
        <p:spPr bwMode="auto">
          <a:xfrm>
            <a:off x="3810000" y="4419600"/>
            <a:ext cx="4000500" cy="427038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200">
                <a:latin typeface="Comic Sans MS" pitchFamily="66" charset="0"/>
                <a:ea typeface="宋体" pitchFamily="2" charset="-122"/>
              </a:rPr>
              <a:t>Total misses: 150 + 101 ＝251</a:t>
            </a:r>
            <a:endParaRPr lang="zh-CN" altLang="en-US" sz="2200">
              <a:latin typeface="Comic Sans MS" pitchFamily="66" charset="0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7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27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7752" grpId="0" animBg="1" autoUpdateAnimBg="0"/>
      <p:bldP spid="927753" grpId="0" animBg="1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71" name="Rectangle 3"/>
          <p:cNvSpPr>
            <a:spLocks noGrp="1" noChangeArrowheads="1"/>
          </p:cNvSpPr>
          <p:nvPr>
            <p:ph idx="1"/>
          </p:nvPr>
        </p:nvSpPr>
        <p:spPr>
          <a:xfrm>
            <a:off x="826818" y="990600"/>
            <a:ext cx="5943600" cy="43434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00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Next, insert </a:t>
            </a:r>
            <a:r>
              <a:rPr lang="en-US" altLang="zh-CN" sz="2000" dirty="0" err="1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prefetch</a:t>
            </a:r>
            <a:r>
              <a:rPr lang="en-US" altLang="zh-CN" sz="200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 instructions to reduce misses.</a:t>
            </a:r>
            <a:endParaRPr lang="en-US" altLang="zh-CN" sz="2000" dirty="0">
              <a:latin typeface="Arial" pitchFamily="34" charset="0"/>
              <a:ea typeface="宋体" pitchFamily="2" charset="-122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zh-CN" sz="2000" dirty="0">
                <a:latin typeface="CG Omega" pitchFamily="34" charset="0"/>
                <a:ea typeface="宋体" pitchFamily="2" charset="-122"/>
              </a:rPr>
              <a:t>This revise code </a:t>
            </a:r>
            <a:r>
              <a:rPr lang="en-US" altLang="zh-CN" sz="2000" dirty="0" err="1">
                <a:latin typeface="CG Omega" pitchFamily="34" charset="0"/>
                <a:ea typeface="宋体" pitchFamily="2" charset="-122"/>
              </a:rPr>
              <a:t>prefetched</a:t>
            </a:r>
            <a:r>
              <a:rPr lang="en-US" altLang="zh-CN" sz="2000" dirty="0">
                <a:latin typeface="CG Omega" pitchFamily="34" charset="0"/>
                <a:ea typeface="宋体" pitchFamily="2" charset="-122"/>
              </a:rPr>
              <a:t> </a:t>
            </a:r>
            <a:r>
              <a:rPr lang="en-US" altLang="zh-CN" sz="2000" dirty="0">
                <a:solidFill>
                  <a:schemeClr val="hlink"/>
                </a:solidFill>
                <a:latin typeface="CG Omega" pitchFamily="34" charset="0"/>
                <a:ea typeface="宋体" pitchFamily="2" charset="-122"/>
              </a:rPr>
              <a:t>a[I][7] through a[I][99]</a:t>
            </a:r>
            <a:r>
              <a:rPr lang="en-US" altLang="zh-CN" sz="2000" dirty="0">
                <a:latin typeface="CG Omega" pitchFamily="34" charset="0"/>
                <a:ea typeface="宋体" pitchFamily="2" charset="-122"/>
              </a:rPr>
              <a:t> and </a:t>
            </a:r>
            <a:r>
              <a:rPr lang="en-US" altLang="zh-CN" sz="2000" dirty="0">
                <a:solidFill>
                  <a:schemeClr val="hlink"/>
                </a:solidFill>
                <a:latin typeface="CG Omega" pitchFamily="34" charset="0"/>
                <a:ea typeface="宋体" pitchFamily="2" charset="-122"/>
              </a:rPr>
              <a:t>b[7][0] through b[100][0]</a:t>
            </a:r>
            <a:r>
              <a:rPr lang="en-US" altLang="zh-CN" sz="2000" dirty="0">
                <a:latin typeface="CG Omega" pitchFamily="34" charset="0"/>
                <a:ea typeface="宋体" pitchFamily="2" charset="-122"/>
              </a:rPr>
              <a:t>.</a:t>
            </a:r>
            <a:endParaRPr lang="en-US" altLang="zh-CN" u="sng" dirty="0">
              <a:latin typeface="Courier" charset="0"/>
              <a:ea typeface="宋体" pitchFamily="2" charset="-122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zh-CN" sz="2000" u="sng" dirty="0">
                <a:latin typeface="Courier" charset="0"/>
                <a:ea typeface="宋体" pitchFamily="2" charset="-122"/>
              </a:rPr>
              <a:t>for (j = 0; j &lt; 100; j = j+1) {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000" dirty="0">
                <a:latin typeface="Courier" charset="0"/>
                <a:ea typeface="宋体" pitchFamily="2" charset="-122"/>
              </a:rPr>
              <a:t>		</a:t>
            </a:r>
            <a:r>
              <a:rPr lang="en-US" altLang="zh-CN" sz="2000" u="sng" dirty="0" err="1">
                <a:solidFill>
                  <a:srgbClr val="FF0000"/>
                </a:solidFill>
                <a:latin typeface="Courier" charset="0"/>
                <a:ea typeface="宋体" pitchFamily="2" charset="-122"/>
              </a:rPr>
              <a:t>prefetch</a:t>
            </a:r>
            <a:r>
              <a:rPr lang="en-US" altLang="zh-CN" sz="2000" u="sng" dirty="0">
                <a:solidFill>
                  <a:srgbClr val="FF0000"/>
                </a:solidFill>
                <a:latin typeface="Courier" charset="0"/>
                <a:ea typeface="宋体" pitchFamily="2" charset="-122"/>
              </a:rPr>
              <a:t>(b[j+7][0]);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000" dirty="0">
                <a:latin typeface="Courier" charset="0"/>
                <a:ea typeface="宋体" pitchFamily="2" charset="-122"/>
              </a:rPr>
              <a:t>	</a:t>
            </a:r>
            <a:r>
              <a:rPr lang="en-US" altLang="zh-CN" sz="2000" u="sng" dirty="0">
                <a:latin typeface="Courier" charset="0"/>
                <a:ea typeface="宋体" pitchFamily="2" charset="-122"/>
              </a:rPr>
              <a:t>/* b(j,0) for 7 iterations later */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000" dirty="0">
                <a:latin typeface="Courier" charset="0"/>
                <a:ea typeface="宋体" pitchFamily="2" charset="-122"/>
              </a:rPr>
              <a:t>		</a:t>
            </a:r>
            <a:r>
              <a:rPr lang="en-US" altLang="zh-CN" sz="2000" u="sng" dirty="0" err="1">
                <a:solidFill>
                  <a:srgbClr val="FF0000"/>
                </a:solidFill>
                <a:latin typeface="Courier" charset="0"/>
                <a:ea typeface="宋体" pitchFamily="2" charset="-122"/>
              </a:rPr>
              <a:t>prefetch</a:t>
            </a:r>
            <a:r>
              <a:rPr lang="en-US" altLang="zh-CN" sz="2000" u="sng" dirty="0">
                <a:solidFill>
                  <a:srgbClr val="FF0000"/>
                </a:solidFill>
                <a:latin typeface="Courier" charset="0"/>
                <a:ea typeface="宋体" pitchFamily="2" charset="-122"/>
              </a:rPr>
              <a:t>(a[0][j+7]);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000" dirty="0">
                <a:latin typeface="Courier" charset="0"/>
                <a:ea typeface="宋体" pitchFamily="2" charset="-122"/>
              </a:rPr>
              <a:t>	</a:t>
            </a:r>
            <a:r>
              <a:rPr lang="en-US" altLang="zh-CN" sz="2000" u="sng" dirty="0">
                <a:latin typeface="Courier" charset="0"/>
                <a:ea typeface="宋体" pitchFamily="2" charset="-122"/>
              </a:rPr>
              <a:t>/* a(0,j) for 7 iterations later */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000" dirty="0">
                <a:latin typeface="Courier" charset="0"/>
                <a:ea typeface="宋体" pitchFamily="2" charset="-122"/>
              </a:rPr>
              <a:t>		</a:t>
            </a:r>
            <a:r>
              <a:rPr lang="en-US" altLang="zh-CN" sz="2000" u="sng" dirty="0">
                <a:latin typeface="Courier" charset="0"/>
                <a:ea typeface="宋体" pitchFamily="2" charset="-122"/>
              </a:rPr>
              <a:t>a[0][j] = b[j][0] * b[j+1][0];};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000" dirty="0">
                <a:latin typeface="Courier" charset="0"/>
                <a:ea typeface="宋体" pitchFamily="2" charset="-122"/>
              </a:rPr>
              <a:t>for (i = 1; i &lt; 3; i = i+1)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000" dirty="0">
                <a:latin typeface="Courier" charset="0"/>
                <a:ea typeface="宋体" pitchFamily="2" charset="-122"/>
              </a:rPr>
              <a:t>		for (j = 0; j &lt; 100; j = j+1) {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000" dirty="0">
                <a:latin typeface="Courier" charset="0"/>
                <a:ea typeface="宋体" pitchFamily="2" charset="-122"/>
              </a:rPr>
              <a:t>		</a:t>
            </a:r>
            <a:r>
              <a:rPr lang="en-US" altLang="zh-CN" sz="2000" u="sng" dirty="0" err="1">
                <a:solidFill>
                  <a:srgbClr val="FF0000"/>
                </a:solidFill>
                <a:latin typeface="Courier" charset="0"/>
                <a:ea typeface="宋体" pitchFamily="2" charset="-122"/>
              </a:rPr>
              <a:t>prefetch</a:t>
            </a:r>
            <a:r>
              <a:rPr lang="en-US" altLang="zh-CN" sz="2000" u="sng" dirty="0">
                <a:solidFill>
                  <a:srgbClr val="FF0000"/>
                </a:solidFill>
                <a:latin typeface="Courier" charset="0"/>
                <a:ea typeface="宋体" pitchFamily="2" charset="-122"/>
              </a:rPr>
              <a:t>(a[i][j+7]);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000" dirty="0">
                <a:latin typeface="Courier" charset="0"/>
                <a:ea typeface="宋体" pitchFamily="2" charset="-122"/>
              </a:rPr>
              <a:t>	</a:t>
            </a:r>
            <a:r>
              <a:rPr lang="en-US" altLang="zh-CN" sz="2000" u="sng" dirty="0">
                <a:latin typeface="Courier" charset="0"/>
                <a:ea typeface="宋体" pitchFamily="2" charset="-122"/>
              </a:rPr>
              <a:t>/* a(</a:t>
            </a:r>
            <a:r>
              <a:rPr lang="en-US" altLang="zh-CN" sz="2000" u="sng" dirty="0" err="1">
                <a:latin typeface="Courier" charset="0"/>
                <a:ea typeface="宋体" pitchFamily="2" charset="-122"/>
              </a:rPr>
              <a:t>i,j</a:t>
            </a:r>
            <a:r>
              <a:rPr lang="en-US" altLang="zh-CN" sz="2000" u="sng" dirty="0">
                <a:latin typeface="Courier" charset="0"/>
                <a:ea typeface="宋体" pitchFamily="2" charset="-122"/>
              </a:rPr>
              <a:t>) for +7 iterations */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000" dirty="0">
                <a:latin typeface="Courier" charset="0"/>
                <a:ea typeface="宋体" pitchFamily="2" charset="-122"/>
              </a:rPr>
              <a:t>		a[i][j] = b[j][0] *b[j+1][0];}</a:t>
            </a:r>
          </a:p>
        </p:txBody>
      </p:sp>
      <p:sp>
        <p:nvSpPr>
          <p:cNvPr id="928770" name="Rectangle 2"/>
          <p:cNvSpPr>
            <a:spLocks noGrp="1" noChangeArrowheads="1"/>
          </p:cNvSpPr>
          <p:nvPr>
            <p:ph type="title"/>
          </p:nvPr>
        </p:nvSpPr>
        <p:spPr>
          <a:xfrm>
            <a:off x="911424" y="228600"/>
            <a:ext cx="9756576" cy="609600"/>
          </a:xfrm>
        </p:spPr>
        <p:txBody>
          <a:bodyPr/>
          <a:lstStyle/>
          <a:p>
            <a:r>
              <a:rPr lang="en-US" dirty="0"/>
              <a:t>Example13: </a:t>
            </a:r>
            <a:r>
              <a:rPr lang="en-US" altLang="zh-CN" dirty="0">
                <a:ea typeface="宋体" pitchFamily="2" charset="-122"/>
              </a:rPr>
              <a:t>Compiler-controlled prefetch-3</a:t>
            </a:r>
            <a:endParaRPr lang="zh-CN" altLang="en-US" dirty="0">
              <a:ea typeface="宋体" pitchFamily="2" charset="-122"/>
            </a:endParaRPr>
          </a:p>
        </p:txBody>
      </p:sp>
      <p:grpSp>
        <p:nvGrpSpPr>
          <p:cNvPr id="928772" name="Group 4"/>
          <p:cNvGrpSpPr>
            <a:grpSpLocks/>
          </p:cNvGrpSpPr>
          <p:nvPr/>
        </p:nvGrpSpPr>
        <p:grpSpPr bwMode="auto">
          <a:xfrm>
            <a:off x="4419600" y="1981200"/>
            <a:ext cx="5562600" cy="2286000"/>
            <a:chOff x="1824" y="1248"/>
            <a:chExt cx="3504" cy="1440"/>
          </a:xfrm>
        </p:grpSpPr>
        <p:sp>
          <p:nvSpPr>
            <p:cNvPr id="928773" name="Text Box 5"/>
            <p:cNvSpPr txBox="1">
              <a:spLocks noChangeArrowheads="1"/>
            </p:cNvSpPr>
            <p:nvPr/>
          </p:nvSpPr>
          <p:spPr bwMode="auto">
            <a:xfrm>
              <a:off x="3360" y="1248"/>
              <a:ext cx="1968" cy="64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9050">
                  <a:solidFill>
                    <a:schemeClr val="hlink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2000">
                  <a:ea typeface="宋体" pitchFamily="2" charset="-122"/>
                </a:rPr>
                <a:t>7 misses for elements </a:t>
              </a:r>
            </a:p>
            <a:p>
              <a:pPr algn="l"/>
              <a:r>
                <a:rPr lang="en-US" altLang="zh-CN" sz="2000">
                  <a:ea typeface="宋体" pitchFamily="2" charset="-122"/>
                </a:rPr>
                <a:t>b[0][0], b[1][0], …, b[6][0]</a:t>
              </a:r>
            </a:p>
          </p:txBody>
        </p:sp>
        <p:sp>
          <p:nvSpPr>
            <p:cNvPr id="928774" name="Line 6"/>
            <p:cNvSpPr>
              <a:spLocks noChangeShapeType="1"/>
            </p:cNvSpPr>
            <p:nvPr/>
          </p:nvSpPr>
          <p:spPr bwMode="auto">
            <a:xfrm flipH="1">
              <a:off x="1824" y="1584"/>
              <a:ext cx="1584" cy="1104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928775" name="Group 7"/>
          <p:cNvGrpSpPr>
            <a:grpSpLocks/>
          </p:cNvGrpSpPr>
          <p:nvPr/>
        </p:nvGrpSpPr>
        <p:grpSpPr bwMode="auto">
          <a:xfrm>
            <a:off x="3200400" y="3124200"/>
            <a:ext cx="7239000" cy="1066800"/>
            <a:chOff x="1056" y="1968"/>
            <a:chExt cx="4560" cy="672"/>
          </a:xfrm>
        </p:grpSpPr>
        <p:sp>
          <p:nvSpPr>
            <p:cNvPr id="928776" name="Text Box 8"/>
            <p:cNvSpPr txBox="1">
              <a:spLocks noChangeArrowheads="1"/>
            </p:cNvSpPr>
            <p:nvPr/>
          </p:nvSpPr>
          <p:spPr bwMode="auto">
            <a:xfrm>
              <a:off x="3504" y="1968"/>
              <a:ext cx="2112" cy="44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9050">
                  <a:solidFill>
                    <a:schemeClr val="hlink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2000">
                  <a:ea typeface="宋体" pitchFamily="2" charset="-122"/>
                </a:rPr>
                <a:t>4 misses「7/2] for elements </a:t>
              </a:r>
            </a:p>
            <a:p>
              <a:pPr algn="l"/>
              <a:r>
                <a:rPr lang="en-US" altLang="zh-CN" sz="2000">
                  <a:ea typeface="宋体" pitchFamily="2" charset="-122"/>
                </a:rPr>
                <a:t>a[0][0], a[0][2], …, a[0][6]</a:t>
              </a:r>
            </a:p>
          </p:txBody>
        </p:sp>
        <p:sp>
          <p:nvSpPr>
            <p:cNvPr id="928777" name="Line 9"/>
            <p:cNvSpPr>
              <a:spLocks noChangeShapeType="1"/>
            </p:cNvSpPr>
            <p:nvPr/>
          </p:nvSpPr>
          <p:spPr bwMode="auto">
            <a:xfrm flipH="1">
              <a:off x="1056" y="2112"/>
              <a:ext cx="2448" cy="528"/>
            </a:xfrm>
            <a:prstGeom prst="line">
              <a:avLst/>
            </a:prstGeom>
            <a:noFill/>
            <a:ln w="28575">
              <a:solidFill>
                <a:srgbClr val="FF899D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928778" name="Group 10"/>
          <p:cNvGrpSpPr>
            <a:grpSpLocks/>
          </p:cNvGrpSpPr>
          <p:nvPr/>
        </p:nvGrpSpPr>
        <p:grpSpPr bwMode="auto">
          <a:xfrm>
            <a:off x="3359696" y="4343400"/>
            <a:ext cx="6858000" cy="1698625"/>
            <a:chOff x="1296" y="2640"/>
            <a:chExt cx="4320" cy="1070"/>
          </a:xfrm>
        </p:grpSpPr>
        <p:sp>
          <p:nvSpPr>
            <p:cNvPr id="928779" name="Text Box 11"/>
            <p:cNvSpPr txBox="1">
              <a:spLocks noChangeArrowheads="1"/>
            </p:cNvSpPr>
            <p:nvPr/>
          </p:nvSpPr>
          <p:spPr bwMode="auto">
            <a:xfrm>
              <a:off x="3504" y="2640"/>
              <a:ext cx="2112" cy="446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9050">
                  <a:solidFill>
                    <a:schemeClr val="hlink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2000">
                  <a:ea typeface="宋体" pitchFamily="2" charset="-122"/>
                </a:rPr>
                <a:t>4 misses「7/2] for elements </a:t>
              </a:r>
            </a:p>
            <a:p>
              <a:pPr algn="l"/>
              <a:r>
                <a:rPr lang="en-US" altLang="zh-CN" sz="2000">
                  <a:ea typeface="宋体" pitchFamily="2" charset="-122"/>
                </a:rPr>
                <a:t>a[1][0], a[1][2], …, a[1][6]</a:t>
              </a:r>
            </a:p>
          </p:txBody>
        </p:sp>
        <p:sp>
          <p:nvSpPr>
            <p:cNvPr id="928780" name="Line 12"/>
            <p:cNvSpPr>
              <a:spLocks noChangeShapeType="1"/>
            </p:cNvSpPr>
            <p:nvPr/>
          </p:nvSpPr>
          <p:spPr bwMode="auto">
            <a:xfrm flipH="1">
              <a:off x="1296" y="3264"/>
              <a:ext cx="2256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28781" name="Text Box 13"/>
            <p:cNvSpPr txBox="1">
              <a:spLocks noChangeArrowheads="1"/>
            </p:cNvSpPr>
            <p:nvPr/>
          </p:nvSpPr>
          <p:spPr bwMode="auto">
            <a:xfrm>
              <a:off x="3456" y="3264"/>
              <a:ext cx="2112" cy="446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9050">
                  <a:solidFill>
                    <a:schemeClr val="hlink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2000">
                  <a:ea typeface="宋体" pitchFamily="2" charset="-122"/>
                </a:rPr>
                <a:t>4 misses「7/2] for elements </a:t>
              </a:r>
            </a:p>
            <a:p>
              <a:pPr algn="l"/>
              <a:r>
                <a:rPr lang="en-US" altLang="zh-CN" sz="2000">
                  <a:ea typeface="宋体" pitchFamily="2" charset="-122"/>
                </a:rPr>
                <a:t>a[2][0], a[2][2], …, a[2][6]</a:t>
              </a:r>
            </a:p>
          </p:txBody>
        </p:sp>
      </p:grpSp>
      <p:sp>
        <p:nvSpPr>
          <p:cNvPr id="928782" name="Rectangle 14"/>
          <p:cNvSpPr>
            <a:spLocks noChangeArrowheads="1"/>
          </p:cNvSpPr>
          <p:nvPr/>
        </p:nvSpPr>
        <p:spPr bwMode="auto">
          <a:xfrm>
            <a:off x="2590800" y="2362201"/>
            <a:ext cx="6889750" cy="1006475"/>
          </a:xfrm>
          <a:prstGeom prst="rect">
            <a:avLst/>
          </a:prstGeom>
          <a:solidFill>
            <a:srgbClr val="D3FFD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000">
                <a:ea typeface="宋体" pitchFamily="2" charset="-122"/>
              </a:rPr>
              <a:t>Expense 400 prefetch instructions</a:t>
            </a:r>
          </a:p>
          <a:p>
            <a:pPr algn="l"/>
            <a:r>
              <a:rPr lang="en-US" altLang="zh-CN" sz="3000">
                <a:ea typeface="宋体" pitchFamily="2" charset="-122"/>
              </a:rPr>
              <a:t>Total misses 7+4×3＝19</a:t>
            </a:r>
          </a:p>
        </p:txBody>
      </p:sp>
      <p:sp>
        <p:nvSpPr>
          <p:cNvPr id="928783" name="Rectangle 15"/>
          <p:cNvSpPr>
            <a:spLocks noChangeArrowheads="1"/>
          </p:cNvSpPr>
          <p:nvPr/>
        </p:nvSpPr>
        <p:spPr bwMode="auto">
          <a:xfrm>
            <a:off x="1752600" y="2276476"/>
            <a:ext cx="8915400" cy="23145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80000"/>
              </a:lnSpc>
              <a:buSzPct val="100000"/>
            </a:pPr>
            <a:endParaRPr lang="en-US" altLang="zh-CN" sz="2600" dirty="0">
              <a:solidFill>
                <a:schemeClr val="hlink"/>
              </a:solidFill>
              <a:latin typeface="Arial" pitchFamily="34" charset="0"/>
              <a:ea typeface="宋体" pitchFamily="2" charset="-122"/>
            </a:endParaRPr>
          </a:p>
          <a:p>
            <a:pPr algn="l">
              <a:lnSpc>
                <a:spcPct val="80000"/>
              </a:lnSpc>
              <a:buSzPct val="100000"/>
            </a:pPr>
            <a:r>
              <a:rPr lang="en-US" altLang="zh-CN" sz="260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Finally, calculate the number of </a:t>
            </a:r>
            <a:r>
              <a:rPr lang="en-US" altLang="zh-CN" sz="2600" dirty="0" err="1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prefetch</a:t>
            </a:r>
            <a:r>
              <a:rPr lang="en-US" altLang="zh-CN" sz="260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 instructions executed and the misses avoided due to prefetching.</a:t>
            </a:r>
          </a:p>
          <a:p>
            <a:pPr algn="l">
              <a:lnSpc>
                <a:spcPct val="80000"/>
              </a:lnSpc>
              <a:buSzPct val="100000"/>
            </a:pPr>
            <a:r>
              <a:rPr lang="en-US" altLang="zh-CN" sz="2600" dirty="0">
                <a:latin typeface="Arial" pitchFamily="34" charset="0"/>
                <a:ea typeface="宋体" pitchFamily="2" charset="-122"/>
              </a:rPr>
              <a:t> </a:t>
            </a:r>
          </a:p>
          <a:p>
            <a:pPr algn="l">
              <a:lnSpc>
                <a:spcPct val="80000"/>
              </a:lnSpc>
              <a:buSzPct val="100000"/>
            </a:pPr>
            <a:r>
              <a:rPr lang="en-US" altLang="zh-CN" sz="2600" dirty="0">
                <a:latin typeface="Arial" pitchFamily="34" charset="0"/>
                <a:ea typeface="宋体" pitchFamily="2" charset="-122"/>
              </a:rPr>
              <a:t>The improving performance of decreased cache misses is:	251－19＝232</a:t>
            </a:r>
          </a:p>
          <a:p>
            <a:pPr algn="l">
              <a:lnSpc>
                <a:spcPct val="80000"/>
              </a:lnSpc>
              <a:buSzPct val="100000"/>
            </a:pPr>
            <a:endParaRPr lang="en-US" altLang="zh-CN" sz="2600" dirty="0"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928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928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928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928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928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8782" grpId="0" animBg="1" autoUpdateAnimBg="0"/>
      <p:bldP spid="928783" grpId="0" animBg="1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795" name="Rectangle 3"/>
          <p:cNvSpPr>
            <a:spLocks noGrp="1" noChangeArrowheads="1"/>
          </p:cNvSpPr>
          <p:nvPr>
            <p:ph idx="1"/>
          </p:nvPr>
        </p:nvSpPr>
        <p:spPr>
          <a:xfrm>
            <a:off x="911424" y="1143000"/>
            <a:ext cx="10445352" cy="53340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b="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Assume: Here are the key loop times ignoring cache misses: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b="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		     </a:t>
            </a:r>
            <a:r>
              <a:rPr lang="en-US" altLang="zh-CN" b="0" dirty="0">
                <a:latin typeface="Arial" pitchFamily="34" charset="0"/>
                <a:ea typeface="宋体" pitchFamily="2" charset="-122"/>
              </a:rPr>
              <a:t>The original loop takes 7 clock cycles per iteration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b="0" dirty="0">
                <a:latin typeface="Arial" pitchFamily="34" charset="0"/>
                <a:ea typeface="宋体" pitchFamily="2" charset="-122"/>
              </a:rPr>
              <a:t>		     The first prefetch loop takes 9 CLK per iteration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b="0" dirty="0">
                <a:latin typeface="Arial" pitchFamily="34" charset="0"/>
                <a:ea typeface="宋体" pitchFamily="2" charset="-122"/>
              </a:rPr>
              <a:t>		     The second prefetch loop takes 8 CLK per iteration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b="0" dirty="0">
                <a:latin typeface="Arial" pitchFamily="34" charset="0"/>
                <a:ea typeface="宋体" pitchFamily="2" charset="-122"/>
              </a:rPr>
              <a:t>		      A miss takes 100 CLK</a:t>
            </a:r>
            <a:endParaRPr lang="en-US" altLang="zh-CN" b="0" dirty="0">
              <a:solidFill>
                <a:schemeClr val="hlink"/>
              </a:solidFill>
              <a:latin typeface="Arial" pitchFamily="34" charset="0"/>
              <a:ea typeface="宋体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b="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How much time it taken that saved in the example?  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b="0" dirty="0">
                <a:solidFill>
                  <a:schemeClr val="hlink"/>
                </a:solidFill>
                <a:latin typeface="Arial" pitchFamily="34" charset="0"/>
                <a:ea typeface="宋体" pitchFamily="2" charset="-122"/>
              </a:rPr>
              <a:t>Answer  </a:t>
            </a:r>
            <a:r>
              <a:rPr lang="en-US" altLang="zh-CN" sz="2200" dirty="0">
                <a:latin typeface="Arial" pitchFamily="34" charset="0"/>
                <a:ea typeface="宋体" pitchFamily="2" charset="-122"/>
              </a:rPr>
              <a:t>original doubly nested loop executing without cache miss: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b="0" dirty="0">
                <a:latin typeface="Arial" pitchFamily="34" charset="0"/>
                <a:ea typeface="宋体" pitchFamily="2" charset="-122"/>
              </a:rPr>
              <a:t>		3×100 ×7＝2100		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b="0" dirty="0">
                <a:latin typeface="Arial" pitchFamily="34" charset="0"/>
                <a:ea typeface="宋体" pitchFamily="2" charset="-122"/>
              </a:rPr>
              <a:t>Plus cache miss time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b="0" dirty="0">
                <a:latin typeface="Arial" pitchFamily="34" charset="0"/>
                <a:ea typeface="宋体" pitchFamily="2" charset="-122"/>
              </a:rPr>
              <a:t>				2100 + 251 ×100＝27200 CLK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b="0" dirty="0">
                <a:latin typeface="Arial" pitchFamily="34" charset="0"/>
                <a:ea typeface="宋体" pitchFamily="2" charset="-122"/>
              </a:rPr>
              <a:t>After prefetch: 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b="0" dirty="0">
                <a:latin typeface="Arial" pitchFamily="34" charset="0"/>
                <a:ea typeface="宋体" pitchFamily="2" charset="-122"/>
              </a:rPr>
              <a:t>First iteration:	</a:t>
            </a:r>
            <a:r>
              <a:rPr lang="zh-CN" altLang="en-US" b="0" dirty="0">
                <a:ea typeface="宋体" pitchFamily="2" charset="-122"/>
              </a:rPr>
              <a:t>100 </a:t>
            </a:r>
            <a:r>
              <a:rPr lang="zh-CN" altLang="en-US" b="0" dirty="0">
                <a:ea typeface="宋体" pitchFamily="2" charset="-122"/>
                <a:sym typeface="Symbol" pitchFamily="18" charset="2"/>
              </a:rPr>
              <a:t></a:t>
            </a:r>
            <a:r>
              <a:rPr lang="zh-CN" altLang="en-US" b="0" dirty="0">
                <a:ea typeface="宋体" pitchFamily="2" charset="-122"/>
              </a:rPr>
              <a:t> 9 + 11 </a:t>
            </a:r>
            <a:r>
              <a:rPr lang="zh-CN" altLang="en-US" b="0" dirty="0">
                <a:ea typeface="宋体" pitchFamily="2" charset="-122"/>
                <a:sym typeface="Symbol" pitchFamily="18" charset="2"/>
              </a:rPr>
              <a:t></a:t>
            </a:r>
            <a:r>
              <a:rPr lang="zh-CN" altLang="en-US" b="0" dirty="0">
                <a:ea typeface="宋体" pitchFamily="2" charset="-122"/>
              </a:rPr>
              <a:t> 100＝2000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b="0" dirty="0">
                <a:ea typeface="宋体" pitchFamily="2" charset="-122"/>
              </a:rPr>
              <a:t>Second </a:t>
            </a:r>
            <a:r>
              <a:rPr lang="en-US" altLang="zh-CN" b="0" dirty="0">
                <a:latin typeface="Arial" pitchFamily="34" charset="0"/>
                <a:ea typeface="宋体" pitchFamily="2" charset="-122"/>
              </a:rPr>
              <a:t>iteration: 	</a:t>
            </a:r>
            <a:r>
              <a:rPr lang="zh-CN" altLang="en-US" b="0" dirty="0">
                <a:ea typeface="宋体" pitchFamily="2" charset="-122"/>
              </a:rPr>
              <a:t>200 </a:t>
            </a:r>
            <a:r>
              <a:rPr lang="zh-CN" altLang="en-US" b="0" dirty="0">
                <a:ea typeface="宋体" pitchFamily="2" charset="-122"/>
                <a:sym typeface="Symbol" pitchFamily="18" charset="2"/>
              </a:rPr>
              <a:t></a:t>
            </a:r>
            <a:r>
              <a:rPr lang="zh-CN" altLang="en-US" b="0" dirty="0">
                <a:ea typeface="宋体" pitchFamily="2" charset="-122"/>
              </a:rPr>
              <a:t> 8 +  8 </a:t>
            </a:r>
            <a:r>
              <a:rPr lang="zh-CN" altLang="en-US" b="0" dirty="0">
                <a:ea typeface="宋体" pitchFamily="2" charset="-122"/>
                <a:sym typeface="Symbol" pitchFamily="18" charset="2"/>
              </a:rPr>
              <a:t></a:t>
            </a:r>
            <a:r>
              <a:rPr lang="zh-CN" altLang="en-US" b="0" dirty="0">
                <a:ea typeface="宋体" pitchFamily="2" charset="-122"/>
              </a:rPr>
              <a:t> 100＝2400 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b="0" dirty="0">
                <a:ea typeface="宋体" pitchFamily="2" charset="-122"/>
              </a:rPr>
              <a:t>Total time:		2000 + 2400＝4400 CLK</a:t>
            </a:r>
          </a:p>
        </p:txBody>
      </p:sp>
      <p:sp>
        <p:nvSpPr>
          <p:cNvPr id="929794" name="Rectangle 2"/>
          <p:cNvSpPr>
            <a:spLocks noGrp="1" noChangeArrowheads="1"/>
          </p:cNvSpPr>
          <p:nvPr>
            <p:ph type="title"/>
          </p:nvPr>
        </p:nvSpPr>
        <p:spPr>
          <a:xfrm>
            <a:off x="911424" y="228600"/>
            <a:ext cx="9756576" cy="609600"/>
          </a:xfrm>
        </p:spPr>
        <p:txBody>
          <a:bodyPr/>
          <a:lstStyle/>
          <a:p>
            <a:r>
              <a:rPr lang="en-US" dirty="0"/>
              <a:t>Example13: </a:t>
            </a:r>
            <a:r>
              <a:rPr lang="en-US" altLang="zh-CN" dirty="0">
                <a:ea typeface="宋体" pitchFamily="2" charset="-122"/>
              </a:rPr>
              <a:t>Compiler-controlled prefetch-4</a:t>
            </a:r>
            <a:endParaRPr lang="zh-CN" altLang="en-US" dirty="0">
              <a:ea typeface="宋体" pitchFamily="2" charset="-122"/>
            </a:endParaRPr>
          </a:p>
        </p:txBody>
      </p:sp>
      <p:grpSp>
        <p:nvGrpSpPr>
          <p:cNvPr id="929796" name="Group 4"/>
          <p:cNvGrpSpPr>
            <a:grpSpLocks/>
          </p:cNvGrpSpPr>
          <p:nvPr/>
        </p:nvGrpSpPr>
        <p:grpSpPr bwMode="auto">
          <a:xfrm>
            <a:off x="2400300" y="2318860"/>
            <a:ext cx="7467600" cy="3416300"/>
            <a:chOff x="768" y="1776"/>
            <a:chExt cx="4704" cy="2152"/>
          </a:xfrm>
        </p:grpSpPr>
        <p:sp>
          <p:nvSpPr>
            <p:cNvPr id="929797" name="Text Box 5"/>
            <p:cNvSpPr txBox="1">
              <a:spLocks noChangeArrowheads="1"/>
            </p:cNvSpPr>
            <p:nvPr/>
          </p:nvSpPr>
          <p:spPr bwMode="auto">
            <a:xfrm>
              <a:off x="768" y="1776"/>
              <a:ext cx="4704" cy="21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9050">
                  <a:solidFill>
                    <a:schemeClr val="hlink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dirty="0">
                  <a:ea typeface="宋体" pitchFamily="2" charset="-122"/>
                </a:rPr>
                <a:t> </a:t>
              </a:r>
            </a:p>
            <a:p>
              <a:pPr algn="l">
                <a:spcBef>
                  <a:spcPct val="50000"/>
                </a:spcBef>
              </a:pPr>
              <a:r>
                <a:rPr lang="en-US" altLang="zh-CN" sz="2400" dirty="0">
                  <a:ea typeface="宋体" pitchFamily="2" charset="-122"/>
                </a:rPr>
                <a:t>If we assume that prefetches are completely Overlapped with the rest of the execution, then the prefetch code is faster:</a:t>
              </a:r>
            </a:p>
            <a:p>
              <a:pPr algn="l">
                <a:spcBef>
                  <a:spcPct val="50000"/>
                </a:spcBef>
              </a:pPr>
              <a:endParaRPr lang="en-US" altLang="zh-CN" sz="2400" dirty="0">
                <a:ea typeface="宋体" pitchFamily="2" charset="-122"/>
              </a:endParaRPr>
            </a:p>
            <a:p>
              <a:pPr algn="l">
                <a:spcBef>
                  <a:spcPct val="50000"/>
                </a:spcBef>
              </a:pPr>
              <a:endParaRPr lang="en-US" altLang="zh-CN" sz="2400" dirty="0">
                <a:ea typeface="宋体" pitchFamily="2" charset="-122"/>
              </a:endParaRPr>
            </a:p>
            <a:p>
              <a:pPr algn="l">
                <a:spcBef>
                  <a:spcPct val="50000"/>
                </a:spcBef>
              </a:pPr>
              <a:endParaRPr lang="en-US" altLang="zh-CN" sz="2400" dirty="0">
                <a:ea typeface="宋体" pitchFamily="2" charset="-122"/>
              </a:endParaRPr>
            </a:p>
          </p:txBody>
        </p:sp>
        <p:grpSp>
          <p:nvGrpSpPr>
            <p:cNvPr id="929798" name="Group 6"/>
            <p:cNvGrpSpPr>
              <a:grpSpLocks/>
            </p:cNvGrpSpPr>
            <p:nvPr/>
          </p:nvGrpSpPr>
          <p:grpSpPr bwMode="auto">
            <a:xfrm>
              <a:off x="1968" y="2768"/>
              <a:ext cx="1968" cy="528"/>
              <a:chOff x="1488" y="2864"/>
              <a:chExt cx="1968" cy="528"/>
            </a:xfrm>
          </p:grpSpPr>
          <p:sp>
            <p:nvSpPr>
              <p:cNvPr id="929799" name="Rectangle 7"/>
              <p:cNvSpPr>
                <a:spLocks noChangeArrowheads="1"/>
              </p:cNvSpPr>
              <p:nvPr/>
            </p:nvSpPr>
            <p:spPr bwMode="auto">
              <a:xfrm>
                <a:off x="1488" y="2976"/>
                <a:ext cx="196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chemeClr val="hlink"/>
                    </a:solidFill>
                    <a:miter lim="800000"/>
                    <a:headEnd/>
                    <a:tailEnd type="none" w="sm" len="med"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zh-CN" altLang="en-US" sz="2400">
                    <a:latin typeface="Times New Roman" pitchFamily="18" charset="0"/>
                    <a:ea typeface="宋体" pitchFamily="2" charset="-122"/>
                  </a:rPr>
                  <a:t>-------- ＝6.2 </a:t>
                </a:r>
                <a:r>
                  <a:rPr lang="en-US" altLang="zh-CN" sz="2400">
                    <a:latin typeface="Times New Roman" pitchFamily="18" charset="0"/>
                    <a:ea typeface="宋体" pitchFamily="2" charset="-122"/>
                  </a:rPr>
                  <a:t>times</a:t>
                </a:r>
              </a:p>
            </p:txBody>
          </p:sp>
          <p:sp>
            <p:nvSpPr>
              <p:cNvPr id="929800" name="Rectangle 8"/>
              <p:cNvSpPr>
                <a:spLocks noChangeArrowheads="1"/>
              </p:cNvSpPr>
              <p:nvPr/>
            </p:nvSpPr>
            <p:spPr bwMode="auto">
              <a:xfrm>
                <a:off x="1594" y="2864"/>
                <a:ext cx="82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chemeClr val="hlink"/>
                    </a:solidFill>
                    <a:miter lim="800000"/>
                    <a:headEnd/>
                    <a:tailEnd type="none" w="sm" len="med"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400" dirty="0">
                    <a:latin typeface="Times New Roman" pitchFamily="18" charset="0"/>
                    <a:ea typeface="宋体" pitchFamily="2" charset="-122"/>
                  </a:rPr>
                  <a:t>27200</a:t>
                </a:r>
                <a:endParaRPr lang="zh-CN" altLang="en-US" sz="2400" dirty="0">
                  <a:latin typeface="Symbol" pitchFamily="18" charset="2"/>
                  <a:ea typeface="宋体" pitchFamily="2" charset="-122"/>
                </a:endParaRPr>
              </a:p>
            </p:txBody>
          </p:sp>
          <p:sp>
            <p:nvSpPr>
              <p:cNvPr id="929801" name="Rectangle 9"/>
              <p:cNvSpPr>
                <a:spLocks noChangeArrowheads="1"/>
              </p:cNvSpPr>
              <p:nvPr/>
            </p:nvSpPr>
            <p:spPr bwMode="auto">
              <a:xfrm>
                <a:off x="1754" y="3104"/>
                <a:ext cx="50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chemeClr val="hlink"/>
                    </a:solidFill>
                    <a:miter lim="800000"/>
                    <a:headEnd/>
                    <a:tailEnd type="none" w="sm" len="med"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Times New Roman" pitchFamily="18" charset="0"/>
                    <a:ea typeface="宋体" pitchFamily="2" charset="-122"/>
                  </a:rPr>
                  <a:t>4400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29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819" name="Rectangle 3"/>
          <p:cNvSpPr>
            <a:spLocks noGrp="1" noChangeArrowheads="1"/>
          </p:cNvSpPr>
          <p:nvPr>
            <p:ph idx="1"/>
          </p:nvPr>
        </p:nvSpPr>
        <p:spPr>
          <a:xfrm>
            <a:off x="848544" y="2743200"/>
            <a:ext cx="10571112" cy="3067050"/>
          </a:xfrm>
          <a:noFill/>
          <a:ln/>
        </p:spPr>
        <p:txBody>
          <a:bodyPr lIns="90488" rIns="90488"/>
          <a:lstStyle/>
          <a:p>
            <a:pPr marL="0" indent="0">
              <a:buNone/>
            </a:pPr>
            <a:r>
              <a:rPr lang="en-US" sz="2800" dirty="0"/>
              <a:t>1. Reduce Miss penalty via </a:t>
            </a:r>
            <a:r>
              <a:rPr lang="en-US" altLang="zh-CN" sz="2800" dirty="0">
                <a:ea typeface="宋体" pitchFamily="2" charset="-122"/>
              </a:rPr>
              <a:t>Nonblocking Caches </a:t>
            </a:r>
          </a:p>
          <a:p>
            <a:pPr marL="457200" indent="-457200">
              <a:buFontTx/>
              <a:buAutoNum type="arabicPeriod"/>
            </a:pPr>
            <a:endParaRPr lang="en-US" sz="2800" dirty="0"/>
          </a:p>
          <a:p>
            <a:pPr marL="457200" indent="-457200">
              <a:buNone/>
            </a:pPr>
            <a:r>
              <a:rPr lang="en-US" sz="2800" dirty="0"/>
              <a:t>2. Reduce Misses via </a:t>
            </a:r>
            <a:r>
              <a:rPr lang="en-US" altLang="zh-CN" sz="2800" dirty="0">
                <a:ea typeface="宋体" pitchFamily="2" charset="-122"/>
              </a:rPr>
              <a:t>Hardware Prefetching</a:t>
            </a:r>
            <a:r>
              <a:rPr lang="en-US" altLang="zh-CN" sz="1800" dirty="0">
                <a:ea typeface="宋体" pitchFamily="2" charset="-122"/>
              </a:rPr>
              <a:t> </a:t>
            </a:r>
            <a:endParaRPr lang="en-US" sz="2800" dirty="0"/>
          </a:p>
          <a:p>
            <a:pPr marL="457200" indent="-457200">
              <a:buNone/>
            </a:pPr>
            <a:endParaRPr lang="en-US" sz="2800" dirty="0"/>
          </a:p>
          <a:p>
            <a:pPr marL="457200" indent="-457200">
              <a:buNone/>
            </a:pPr>
            <a:r>
              <a:rPr lang="en-US" sz="2800" dirty="0"/>
              <a:t>3. Reduce Misses via </a:t>
            </a:r>
            <a:r>
              <a:rPr lang="en-US" altLang="zh-CN" sz="2800" dirty="0">
                <a:ea typeface="宋体" pitchFamily="2" charset="-122"/>
              </a:rPr>
              <a:t>Compiler-controlled prefetch</a:t>
            </a:r>
            <a:endParaRPr lang="en-US" sz="2800" dirty="0"/>
          </a:p>
        </p:txBody>
      </p:sp>
      <p:sp>
        <p:nvSpPr>
          <p:cNvPr id="930818" name="Rectangle 2"/>
          <p:cNvSpPr>
            <a:spLocks noGrp="1" noChangeArrowheads="1"/>
          </p:cNvSpPr>
          <p:nvPr>
            <p:ph type="title"/>
          </p:nvPr>
        </p:nvSpPr>
        <p:spPr>
          <a:xfrm>
            <a:off x="848544" y="173320"/>
            <a:ext cx="9067800" cy="735400"/>
          </a:xfrm>
          <a:noFill/>
          <a:ln/>
        </p:spPr>
        <p:txBody>
          <a:bodyPr vert="horz" lIns="90488" tIns="45720" rIns="90488" bIns="45720" rtlCol="0" anchor="ctr">
            <a:noAutofit/>
          </a:bodyPr>
          <a:lstStyle/>
          <a:p>
            <a:r>
              <a:rPr lang="en-US" sz="2000" dirty="0"/>
              <a:t>Summary: Reduce Cache Miss Penalty or Miss Rate via Parallelism</a:t>
            </a:r>
          </a:p>
        </p:txBody>
      </p:sp>
      <p:graphicFrame>
        <p:nvGraphicFramePr>
          <p:cNvPr id="930820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1651000" y="1752600"/>
          <a:ext cx="8864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name="Equation" r:id="rId3" imgW="6657840" imgH="409320" progId="Equation.3">
                  <p:embed/>
                </p:oleObj>
              </mc:Choice>
              <mc:Fallback>
                <p:oleObj name="Equation" r:id="rId3" imgW="6657840" imgH="40932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0" y="1752600"/>
                        <a:ext cx="8864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12700">
                            <a:pattFill prst="narHorz">
                              <a:fgClr>
                                <a:schemeClr val="tx1"/>
                              </a:fgClr>
                              <a:bgClr>
                                <a:schemeClr val="bg1"/>
                              </a:bgClr>
                            </a:patt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0821" name="Oval 5"/>
          <p:cNvSpPr>
            <a:spLocks noChangeArrowheads="1"/>
          </p:cNvSpPr>
          <p:nvPr/>
        </p:nvSpPr>
        <p:spPr bwMode="auto">
          <a:xfrm>
            <a:off x="6096000" y="1752600"/>
            <a:ext cx="2514600" cy="4572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1.Reduce the miss penalty</a:t>
            </a:r>
          </a:p>
          <a:p>
            <a:pPr marL="0" indent="0">
              <a:buNone/>
            </a:pPr>
            <a:r>
              <a:rPr lang="en-US" altLang="zh-CN" dirty="0"/>
              <a:t>		        	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2. Reduce the miss rate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3. Reduce the miss penalty and miss rate via parallelism</a:t>
            </a:r>
          </a:p>
          <a:p>
            <a:pPr marL="0" indent="0">
              <a:buNone/>
            </a:pPr>
            <a:r>
              <a:rPr lang="en-US" altLang="zh-CN" dirty="0"/>
              <a:t> 				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4. Reduce the time to hit in the cache. </a:t>
            </a:r>
            <a:r>
              <a:rPr lang="en-US" altLang="zh-CN" b="1" dirty="0"/>
              <a:t>	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931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5.7  Reducing Hit Time</a:t>
            </a: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Small and Simple Caches</a:t>
            </a:r>
          </a:p>
          <a:p>
            <a:pPr lvl="1"/>
            <a:r>
              <a:rPr lang="en-US" altLang="zh-CN" dirty="0"/>
              <a:t>Using small and Direct-mapped cache</a:t>
            </a:r>
          </a:p>
          <a:p>
            <a:pPr lvl="1"/>
            <a:r>
              <a:rPr lang="en-US" altLang="zh-CN" dirty="0"/>
              <a:t>The less hardware that is necessary to implement a cache, the shorter the critical path through the hardware. </a:t>
            </a:r>
          </a:p>
          <a:p>
            <a:pPr lvl="1"/>
            <a:r>
              <a:rPr lang="en-US" altLang="zh-CN" dirty="0"/>
              <a:t>Direct-mapped is faster than set associative for both reads and writes. </a:t>
            </a:r>
          </a:p>
          <a:p>
            <a:pPr lvl="1"/>
            <a:r>
              <a:rPr lang="en-US" altLang="zh-CN" dirty="0"/>
              <a:t>Fitting the cache on the chip with the CPU is also very important for fast access times. </a:t>
            </a:r>
            <a:endParaRPr lang="en-US" dirty="0"/>
          </a:p>
        </p:txBody>
      </p:sp>
      <p:sp>
        <p:nvSpPr>
          <p:cNvPr id="932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Hit Time Reduction Technique: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2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2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32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32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32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32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2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32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32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32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2867" grpId="0" build="p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Avoiding Address Translation during Indexing of the Cache</a:t>
            </a:r>
          </a:p>
          <a:p>
            <a:pPr lvl="1"/>
            <a:r>
              <a:rPr lang="en-US" altLang="zh-CN" dirty="0"/>
              <a:t>The CPU uses virtual addresses that must be mapped to a physical address</a:t>
            </a:r>
          </a:p>
          <a:p>
            <a:pPr lvl="1"/>
            <a:r>
              <a:rPr lang="en-US" altLang="zh-CN" dirty="0"/>
              <a:t>The cache may either use virtual or physical addresses. </a:t>
            </a:r>
          </a:p>
          <a:p>
            <a:pPr lvl="2"/>
            <a:r>
              <a:rPr lang="en-US" altLang="zh-CN" dirty="0"/>
              <a:t>A cache that indexes by virtual addresses is called a virtual cache , as opposed to a physical cache . </a:t>
            </a:r>
          </a:p>
          <a:p>
            <a:pPr lvl="1"/>
            <a:r>
              <a:rPr lang="en-US" altLang="zh-CN" dirty="0"/>
              <a:t>Address translation can be done in parallel with cache access, so penalties for misses are reduced as well. </a:t>
            </a:r>
          </a:p>
          <a:p>
            <a:pPr lvl="2"/>
            <a:r>
              <a:rPr lang="en-US" altLang="zh-CN" dirty="0"/>
              <a:t>Avoid address translation during indexing </a:t>
            </a:r>
          </a:p>
          <a:p>
            <a:pPr lvl="1"/>
            <a:r>
              <a:rPr lang="en-US" altLang="zh-CN" dirty="0"/>
              <a:t>A virtual cache reduces hit time since a translation from a virtual address to a physical address is not necessary on hits</a:t>
            </a:r>
          </a:p>
        </p:txBody>
      </p:sp>
      <p:sp>
        <p:nvSpPr>
          <p:cNvPr id="933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Hit Time Reduction Technique: </a:t>
            </a: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915" name="Rectangle 3"/>
          <p:cNvSpPr>
            <a:spLocks noGrp="1" noChangeArrowheads="1"/>
          </p:cNvSpPr>
          <p:nvPr>
            <p:ph idx="1"/>
          </p:nvPr>
        </p:nvSpPr>
        <p:spPr>
          <a:xfrm>
            <a:off x="1055441" y="3603290"/>
            <a:ext cx="10517086" cy="2778038"/>
          </a:xfrm>
        </p:spPr>
        <p:txBody>
          <a:bodyPr/>
          <a:lstStyle/>
          <a:p>
            <a:r>
              <a:rPr lang="en-US" dirty="0"/>
              <a:t>Page table is a large data structure in memory</a:t>
            </a:r>
          </a:p>
          <a:p>
            <a:r>
              <a:rPr lang="en-US" dirty="0"/>
              <a:t>Two memory accesses for every load, store, or instruction fetch!</a:t>
            </a:r>
          </a:p>
          <a:p>
            <a:r>
              <a:rPr lang="en-US" dirty="0"/>
              <a:t>Virtually addressed cache?</a:t>
            </a:r>
          </a:p>
          <a:p>
            <a:pPr lvl="1"/>
            <a:r>
              <a:rPr lang="en-US" dirty="0"/>
              <a:t>synonym problem</a:t>
            </a:r>
          </a:p>
          <a:p>
            <a:r>
              <a:rPr lang="en-US" dirty="0"/>
              <a:t>Cache the address translations?</a:t>
            </a:r>
          </a:p>
        </p:txBody>
      </p:sp>
      <p:sp>
        <p:nvSpPr>
          <p:cNvPr id="934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 virtual address to a physical address</a:t>
            </a:r>
            <a:endParaRPr lang="en-US"/>
          </a:p>
        </p:txBody>
      </p:sp>
      <p:grpSp>
        <p:nvGrpSpPr>
          <p:cNvPr id="934916" name="Group 4"/>
          <p:cNvGrpSpPr>
            <a:grpSpLocks/>
          </p:cNvGrpSpPr>
          <p:nvPr/>
        </p:nvGrpSpPr>
        <p:grpSpPr bwMode="auto">
          <a:xfrm>
            <a:off x="2639616" y="1268761"/>
            <a:ext cx="6565900" cy="1795463"/>
            <a:chOff x="632" y="885"/>
            <a:chExt cx="4136" cy="1131"/>
          </a:xfrm>
        </p:grpSpPr>
        <p:sp>
          <p:nvSpPr>
            <p:cNvPr id="934917" name="Line 5"/>
            <p:cNvSpPr>
              <a:spLocks noChangeShapeType="1"/>
            </p:cNvSpPr>
            <p:nvPr/>
          </p:nvSpPr>
          <p:spPr bwMode="auto">
            <a:xfrm>
              <a:off x="664" y="1109"/>
              <a:ext cx="6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4918" name="Line 6"/>
            <p:cNvSpPr>
              <a:spLocks noChangeShapeType="1"/>
            </p:cNvSpPr>
            <p:nvPr/>
          </p:nvSpPr>
          <p:spPr bwMode="auto">
            <a:xfrm>
              <a:off x="1288" y="1117"/>
              <a:ext cx="0" cy="5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4919" name="Line 7"/>
            <p:cNvSpPr>
              <a:spLocks noChangeShapeType="1"/>
            </p:cNvSpPr>
            <p:nvPr/>
          </p:nvSpPr>
          <p:spPr bwMode="auto">
            <a:xfrm flipH="1">
              <a:off x="632" y="1725"/>
              <a:ext cx="6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4920" name="Rectangle 8"/>
            <p:cNvSpPr>
              <a:spLocks noChangeArrowheads="1"/>
            </p:cNvSpPr>
            <p:nvPr/>
          </p:nvSpPr>
          <p:spPr bwMode="auto">
            <a:xfrm>
              <a:off x="696" y="1341"/>
              <a:ext cx="352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 algn="l">
                <a:lnSpc>
                  <a:spcPct val="85000"/>
                </a:lnSpc>
              </a:pPr>
              <a:r>
                <a:rPr lang="en-US">
                  <a:latin typeface="Comic Sans MS" pitchFamily="66" charset="0"/>
                </a:rPr>
                <a:t>CPU</a:t>
              </a:r>
            </a:p>
          </p:txBody>
        </p:sp>
        <p:sp>
          <p:nvSpPr>
            <p:cNvPr id="934921" name="Rectangle 9"/>
            <p:cNvSpPr>
              <a:spLocks noChangeArrowheads="1"/>
            </p:cNvSpPr>
            <p:nvPr/>
          </p:nvSpPr>
          <p:spPr bwMode="auto">
            <a:xfrm>
              <a:off x="1704" y="933"/>
              <a:ext cx="672" cy="76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r>
                <a:rPr lang="en-US">
                  <a:latin typeface="Comic Sans MS" pitchFamily="66" charset="0"/>
                </a:rPr>
                <a:t>Trans-</a:t>
              </a:r>
            </a:p>
            <a:p>
              <a:r>
                <a:rPr lang="en-US">
                  <a:latin typeface="Comic Sans MS" pitchFamily="66" charset="0"/>
                </a:rPr>
                <a:t>lation</a:t>
              </a:r>
            </a:p>
          </p:txBody>
        </p:sp>
        <p:sp>
          <p:nvSpPr>
            <p:cNvPr id="934922" name="Rectangle 10"/>
            <p:cNvSpPr>
              <a:spLocks noChangeArrowheads="1"/>
            </p:cNvSpPr>
            <p:nvPr/>
          </p:nvSpPr>
          <p:spPr bwMode="auto">
            <a:xfrm>
              <a:off x="2856" y="1133"/>
              <a:ext cx="672" cy="56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r>
                <a:rPr lang="en-US">
                  <a:latin typeface="Comic Sans MS" pitchFamily="66" charset="0"/>
                </a:rPr>
                <a:t>Cache</a:t>
              </a:r>
            </a:p>
          </p:txBody>
        </p:sp>
        <p:sp>
          <p:nvSpPr>
            <p:cNvPr id="934923" name="Rectangle 11"/>
            <p:cNvSpPr>
              <a:spLocks noChangeArrowheads="1"/>
            </p:cNvSpPr>
            <p:nvPr/>
          </p:nvSpPr>
          <p:spPr bwMode="auto">
            <a:xfrm>
              <a:off x="4096" y="885"/>
              <a:ext cx="672" cy="8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r>
                <a:rPr lang="en-US">
                  <a:latin typeface="Comic Sans MS" pitchFamily="66" charset="0"/>
                </a:rPr>
                <a:t>Main</a:t>
              </a:r>
            </a:p>
            <a:p>
              <a:r>
                <a:rPr lang="en-US">
                  <a:latin typeface="Comic Sans MS" pitchFamily="66" charset="0"/>
                </a:rPr>
                <a:t>Memory</a:t>
              </a:r>
            </a:p>
          </p:txBody>
        </p:sp>
        <p:sp>
          <p:nvSpPr>
            <p:cNvPr id="934924" name="Line 12"/>
            <p:cNvSpPr>
              <a:spLocks noChangeShapeType="1"/>
            </p:cNvSpPr>
            <p:nvPr/>
          </p:nvSpPr>
          <p:spPr bwMode="auto">
            <a:xfrm>
              <a:off x="1296" y="1221"/>
              <a:ext cx="3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4925" name="Line 13"/>
            <p:cNvSpPr>
              <a:spLocks noChangeShapeType="1"/>
            </p:cNvSpPr>
            <p:nvPr/>
          </p:nvSpPr>
          <p:spPr bwMode="auto">
            <a:xfrm>
              <a:off x="2376" y="1221"/>
              <a:ext cx="4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4926" name="Line 14"/>
            <p:cNvSpPr>
              <a:spLocks noChangeShapeType="1"/>
            </p:cNvSpPr>
            <p:nvPr/>
          </p:nvSpPr>
          <p:spPr bwMode="auto">
            <a:xfrm>
              <a:off x="3536" y="1205"/>
              <a:ext cx="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4927" name="Line 15"/>
            <p:cNvSpPr>
              <a:spLocks noChangeShapeType="1"/>
            </p:cNvSpPr>
            <p:nvPr/>
          </p:nvSpPr>
          <p:spPr bwMode="auto">
            <a:xfrm flipH="1">
              <a:off x="3952" y="1613"/>
              <a:ext cx="1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4928" name="Line 16"/>
            <p:cNvSpPr>
              <a:spLocks noChangeShapeType="1"/>
            </p:cNvSpPr>
            <p:nvPr/>
          </p:nvSpPr>
          <p:spPr bwMode="auto">
            <a:xfrm>
              <a:off x="3960" y="1621"/>
              <a:ext cx="0" cy="3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4929" name="Line 17"/>
            <p:cNvSpPr>
              <a:spLocks noChangeShapeType="1"/>
            </p:cNvSpPr>
            <p:nvPr/>
          </p:nvSpPr>
          <p:spPr bwMode="auto">
            <a:xfrm flipH="1">
              <a:off x="1440" y="1989"/>
              <a:ext cx="2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4930" name="Line 18"/>
            <p:cNvSpPr>
              <a:spLocks noChangeShapeType="1"/>
            </p:cNvSpPr>
            <p:nvPr/>
          </p:nvSpPr>
          <p:spPr bwMode="auto">
            <a:xfrm flipV="1">
              <a:off x="1448" y="1645"/>
              <a:ext cx="0" cy="3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4931" name="Line 19"/>
            <p:cNvSpPr>
              <a:spLocks noChangeShapeType="1"/>
            </p:cNvSpPr>
            <p:nvPr/>
          </p:nvSpPr>
          <p:spPr bwMode="auto">
            <a:xfrm flipH="1">
              <a:off x="1280" y="1653"/>
              <a:ext cx="1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4932" name="Line 20"/>
            <p:cNvSpPr>
              <a:spLocks noChangeShapeType="1"/>
            </p:cNvSpPr>
            <p:nvPr/>
          </p:nvSpPr>
          <p:spPr bwMode="auto">
            <a:xfrm flipV="1">
              <a:off x="3696" y="1621"/>
              <a:ext cx="0" cy="3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4933" name="Line 21"/>
            <p:cNvSpPr>
              <a:spLocks noChangeShapeType="1"/>
            </p:cNvSpPr>
            <p:nvPr/>
          </p:nvSpPr>
          <p:spPr bwMode="auto">
            <a:xfrm flipH="1">
              <a:off x="3528" y="1629"/>
              <a:ext cx="1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4934" name="Line 22"/>
            <p:cNvSpPr>
              <a:spLocks noChangeShapeType="1"/>
            </p:cNvSpPr>
            <p:nvPr/>
          </p:nvSpPr>
          <p:spPr bwMode="auto">
            <a:xfrm flipH="1">
              <a:off x="2688" y="1613"/>
              <a:ext cx="1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4935" name="Line 23"/>
            <p:cNvSpPr>
              <a:spLocks noChangeShapeType="1"/>
            </p:cNvSpPr>
            <p:nvPr/>
          </p:nvSpPr>
          <p:spPr bwMode="auto">
            <a:xfrm>
              <a:off x="2688" y="1605"/>
              <a:ext cx="0" cy="3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4936" name="Oval 24"/>
            <p:cNvSpPr>
              <a:spLocks noChangeArrowheads="1"/>
            </p:cNvSpPr>
            <p:nvPr/>
          </p:nvSpPr>
          <p:spPr bwMode="auto">
            <a:xfrm>
              <a:off x="3696" y="1965"/>
              <a:ext cx="16" cy="24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4937" name="Rectangle 25"/>
            <p:cNvSpPr>
              <a:spLocks noChangeArrowheads="1"/>
            </p:cNvSpPr>
            <p:nvPr/>
          </p:nvSpPr>
          <p:spPr bwMode="auto">
            <a:xfrm>
              <a:off x="1312" y="1053"/>
              <a:ext cx="282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 algn="l">
                <a:lnSpc>
                  <a:spcPct val="85000"/>
                </a:lnSpc>
              </a:pPr>
              <a:r>
                <a:rPr lang="en-US">
                  <a:latin typeface="Comic Sans MS" pitchFamily="66" charset="0"/>
                </a:rPr>
                <a:t>VA</a:t>
              </a:r>
            </a:p>
          </p:txBody>
        </p:sp>
        <p:sp>
          <p:nvSpPr>
            <p:cNvPr id="934938" name="Rectangle 26"/>
            <p:cNvSpPr>
              <a:spLocks noChangeArrowheads="1"/>
            </p:cNvSpPr>
            <p:nvPr/>
          </p:nvSpPr>
          <p:spPr bwMode="auto">
            <a:xfrm>
              <a:off x="2392" y="1053"/>
              <a:ext cx="262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 algn="l">
                <a:lnSpc>
                  <a:spcPct val="85000"/>
                </a:lnSpc>
              </a:pPr>
              <a:r>
                <a:rPr lang="en-US">
                  <a:latin typeface="Comic Sans MS" pitchFamily="66" charset="0"/>
                </a:rPr>
                <a:t>PA</a:t>
              </a:r>
            </a:p>
          </p:txBody>
        </p:sp>
        <p:sp>
          <p:nvSpPr>
            <p:cNvPr id="934939" name="Rectangle 27"/>
            <p:cNvSpPr>
              <a:spLocks noChangeArrowheads="1"/>
            </p:cNvSpPr>
            <p:nvPr/>
          </p:nvSpPr>
          <p:spPr bwMode="auto">
            <a:xfrm>
              <a:off x="3568" y="1037"/>
              <a:ext cx="372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 algn="l">
                <a:lnSpc>
                  <a:spcPct val="85000"/>
                </a:lnSpc>
              </a:pPr>
              <a:r>
                <a:rPr lang="en-US">
                  <a:latin typeface="Comic Sans MS" pitchFamily="66" charset="0"/>
                </a:rPr>
                <a:t>miss</a:t>
              </a:r>
            </a:p>
          </p:txBody>
        </p:sp>
        <p:sp>
          <p:nvSpPr>
            <p:cNvPr id="934940" name="Rectangle 28"/>
            <p:cNvSpPr>
              <a:spLocks noChangeArrowheads="1"/>
            </p:cNvSpPr>
            <p:nvPr/>
          </p:nvSpPr>
          <p:spPr bwMode="auto">
            <a:xfrm>
              <a:off x="2440" y="1661"/>
              <a:ext cx="271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 algn="l">
                <a:lnSpc>
                  <a:spcPct val="85000"/>
                </a:lnSpc>
              </a:pPr>
              <a:r>
                <a:rPr lang="en-US">
                  <a:latin typeface="Comic Sans MS" pitchFamily="66" charset="0"/>
                </a:rPr>
                <a:t>hit</a:t>
              </a:r>
            </a:p>
          </p:txBody>
        </p:sp>
        <p:sp>
          <p:nvSpPr>
            <p:cNvPr id="934941" name="Rectangle 29"/>
            <p:cNvSpPr>
              <a:spLocks noChangeArrowheads="1"/>
            </p:cNvSpPr>
            <p:nvPr/>
          </p:nvSpPr>
          <p:spPr bwMode="auto">
            <a:xfrm>
              <a:off x="1848" y="1837"/>
              <a:ext cx="393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 algn="l">
                <a:lnSpc>
                  <a:spcPct val="85000"/>
                </a:lnSpc>
              </a:pPr>
              <a:r>
                <a:rPr lang="en-US">
                  <a:latin typeface="Comic Sans MS" pitchFamily="66" charset="0"/>
                </a:rPr>
                <a:t>data</a:t>
              </a:r>
            </a:p>
          </p:txBody>
        </p:sp>
      </p:grp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TLBs</a:t>
            </a:r>
          </a:p>
        </p:txBody>
      </p:sp>
      <p:sp>
        <p:nvSpPr>
          <p:cNvPr id="935939" name="Rectangle 3"/>
          <p:cNvSpPr>
            <a:spLocks noChangeArrowheads="1"/>
          </p:cNvSpPr>
          <p:nvPr/>
        </p:nvSpPr>
        <p:spPr bwMode="auto">
          <a:xfrm>
            <a:off x="1343472" y="1241361"/>
            <a:ext cx="9551094" cy="836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3500" tIns="25400" rIns="63500" bIns="25400">
            <a:spAutoFit/>
          </a:bodyPr>
          <a:lstStyle/>
          <a:p>
            <a:pPr algn="l">
              <a:lnSpc>
                <a:spcPct val="85000"/>
              </a:lnSpc>
            </a:pPr>
            <a:r>
              <a:rPr lang="en-US" sz="2000" dirty="0">
                <a:latin typeface="+mn-lt"/>
              </a:rPr>
              <a:t>A way to speed up translation is to use a special cache of recently used page table entries  --  this has many names, but the most frequently used is </a:t>
            </a:r>
            <a:r>
              <a:rPr lang="en-US" sz="2000" i="1" dirty="0">
                <a:latin typeface="+mn-lt"/>
              </a:rPr>
              <a:t>Translation Lookaside Buffer</a:t>
            </a:r>
            <a:r>
              <a:rPr lang="en-US" sz="2000" dirty="0">
                <a:latin typeface="+mn-lt"/>
              </a:rPr>
              <a:t> or </a:t>
            </a:r>
            <a:r>
              <a:rPr lang="en-US" sz="2000" i="1" dirty="0">
                <a:latin typeface="+mn-lt"/>
              </a:rPr>
              <a:t>TLB</a:t>
            </a:r>
          </a:p>
        </p:txBody>
      </p:sp>
      <p:grpSp>
        <p:nvGrpSpPr>
          <p:cNvPr id="935940" name="Group 4"/>
          <p:cNvGrpSpPr>
            <a:grpSpLocks/>
          </p:cNvGrpSpPr>
          <p:nvPr/>
        </p:nvGrpSpPr>
        <p:grpSpPr bwMode="auto">
          <a:xfrm>
            <a:off x="2667000" y="2348880"/>
            <a:ext cx="6904038" cy="1460500"/>
            <a:chOff x="792" y="1224"/>
            <a:chExt cx="4349" cy="920"/>
          </a:xfrm>
        </p:grpSpPr>
        <p:sp>
          <p:nvSpPr>
            <p:cNvPr id="935941" name="Rectangle 5"/>
            <p:cNvSpPr>
              <a:spLocks noChangeArrowheads="1"/>
            </p:cNvSpPr>
            <p:nvPr/>
          </p:nvSpPr>
          <p:spPr bwMode="auto">
            <a:xfrm>
              <a:off x="792" y="1224"/>
              <a:ext cx="4312" cy="9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5942" name="Rectangle 6"/>
            <p:cNvSpPr>
              <a:spLocks noChangeArrowheads="1"/>
            </p:cNvSpPr>
            <p:nvPr/>
          </p:nvSpPr>
          <p:spPr bwMode="auto">
            <a:xfrm>
              <a:off x="792" y="1240"/>
              <a:ext cx="4349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 algn="l">
                <a:lnSpc>
                  <a:spcPct val="85000"/>
                </a:lnSpc>
              </a:pPr>
              <a:r>
                <a:rPr lang="en-US" dirty="0">
                  <a:latin typeface="Arial" pitchFamily="34" charset="0"/>
                </a:rPr>
                <a:t>Virtual Address    Physical Address      Dirty    Ref   Valid     Access</a:t>
              </a:r>
            </a:p>
          </p:txBody>
        </p:sp>
        <p:sp>
          <p:nvSpPr>
            <p:cNvPr id="935943" name="Line 7"/>
            <p:cNvSpPr>
              <a:spLocks noChangeShapeType="1"/>
            </p:cNvSpPr>
            <p:nvPr/>
          </p:nvSpPr>
          <p:spPr bwMode="auto">
            <a:xfrm>
              <a:off x="1944" y="1224"/>
              <a:ext cx="0" cy="9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5944" name="Line 8"/>
            <p:cNvSpPr>
              <a:spLocks noChangeShapeType="1"/>
            </p:cNvSpPr>
            <p:nvPr/>
          </p:nvSpPr>
          <p:spPr bwMode="auto">
            <a:xfrm>
              <a:off x="3272" y="1256"/>
              <a:ext cx="0" cy="8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5945" name="Line 9"/>
            <p:cNvSpPr>
              <a:spLocks noChangeShapeType="1"/>
            </p:cNvSpPr>
            <p:nvPr/>
          </p:nvSpPr>
          <p:spPr bwMode="auto">
            <a:xfrm>
              <a:off x="3712" y="1224"/>
              <a:ext cx="0" cy="9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5946" name="Line 10"/>
            <p:cNvSpPr>
              <a:spLocks noChangeShapeType="1"/>
            </p:cNvSpPr>
            <p:nvPr/>
          </p:nvSpPr>
          <p:spPr bwMode="auto">
            <a:xfrm>
              <a:off x="4072" y="1224"/>
              <a:ext cx="0" cy="9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5947" name="Line 11"/>
            <p:cNvSpPr>
              <a:spLocks noChangeShapeType="1"/>
            </p:cNvSpPr>
            <p:nvPr/>
          </p:nvSpPr>
          <p:spPr bwMode="auto">
            <a:xfrm>
              <a:off x="4544" y="1224"/>
              <a:ext cx="0" cy="8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5948" name="Line 12"/>
            <p:cNvSpPr>
              <a:spLocks noChangeShapeType="1"/>
            </p:cNvSpPr>
            <p:nvPr/>
          </p:nvSpPr>
          <p:spPr bwMode="auto">
            <a:xfrm>
              <a:off x="816" y="1392"/>
              <a:ext cx="43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35949" name="Rectangle 13"/>
          <p:cNvSpPr>
            <a:spLocks noChangeArrowheads="1"/>
          </p:cNvSpPr>
          <p:nvPr/>
        </p:nvSpPr>
        <p:spPr bwMode="auto">
          <a:xfrm>
            <a:off x="1343472" y="4231646"/>
            <a:ext cx="8743056" cy="1097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3500" tIns="25400" rIns="63500" bIns="25400">
            <a:spAutoFit/>
          </a:bodyPr>
          <a:lstStyle/>
          <a:p>
            <a:pPr algn="l">
              <a:lnSpc>
                <a:spcPct val="85000"/>
              </a:lnSpc>
            </a:pPr>
            <a:r>
              <a:rPr lang="en-US" sz="2000" dirty="0">
                <a:latin typeface="+mn-lt"/>
              </a:rPr>
              <a:t>Really just a cache on the page table mappings</a:t>
            </a:r>
          </a:p>
          <a:p>
            <a:pPr algn="l">
              <a:lnSpc>
                <a:spcPct val="85000"/>
              </a:lnSpc>
            </a:pPr>
            <a:endParaRPr lang="en-US" sz="2000" dirty="0">
              <a:latin typeface="+mn-lt"/>
            </a:endParaRPr>
          </a:p>
          <a:p>
            <a:pPr algn="l">
              <a:lnSpc>
                <a:spcPct val="85000"/>
              </a:lnSpc>
            </a:pPr>
            <a:r>
              <a:rPr lang="en-US" sz="2000" dirty="0">
                <a:latin typeface="+mn-lt"/>
              </a:rPr>
              <a:t>TLB access time comparable to cache access time</a:t>
            </a:r>
          </a:p>
          <a:p>
            <a:pPr algn="l">
              <a:lnSpc>
                <a:spcPct val="85000"/>
              </a:lnSpc>
            </a:pPr>
            <a:r>
              <a:rPr lang="en-US" sz="2000" dirty="0">
                <a:latin typeface="+mn-lt"/>
              </a:rPr>
              <a:t>      (much less than main memory access time)</a:t>
            </a: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Translation Look-Aside Buffers</a:t>
            </a:r>
          </a:p>
        </p:txBody>
      </p:sp>
      <p:sp>
        <p:nvSpPr>
          <p:cNvPr id="936963" name="Rectangle 3"/>
          <p:cNvSpPr>
            <a:spLocks noChangeArrowheads="1"/>
          </p:cNvSpPr>
          <p:nvPr/>
        </p:nvSpPr>
        <p:spPr bwMode="auto">
          <a:xfrm>
            <a:off x="1055443" y="1193800"/>
            <a:ext cx="10116188" cy="1699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3500" tIns="25400" rIns="63500" bIns="25400">
            <a:spAutoFit/>
          </a:bodyPr>
          <a:lstStyle/>
          <a:p>
            <a:pPr algn="l">
              <a:lnSpc>
                <a:spcPct val="85000"/>
              </a:lnSpc>
            </a:pPr>
            <a:r>
              <a:rPr lang="en-US" dirty="0">
                <a:latin typeface="+mn-lt"/>
              </a:rPr>
              <a:t>Just like any other cache, the TLB can be organized as fully associative,</a:t>
            </a:r>
          </a:p>
          <a:p>
            <a:pPr algn="l">
              <a:lnSpc>
                <a:spcPct val="85000"/>
              </a:lnSpc>
            </a:pPr>
            <a:r>
              <a:rPr lang="en-US" dirty="0">
                <a:latin typeface="+mn-lt"/>
              </a:rPr>
              <a:t>      set associative, or direct mapped</a:t>
            </a:r>
          </a:p>
          <a:p>
            <a:pPr algn="l">
              <a:lnSpc>
                <a:spcPct val="85000"/>
              </a:lnSpc>
            </a:pPr>
            <a:endParaRPr lang="en-US" dirty="0">
              <a:latin typeface="+mn-lt"/>
            </a:endParaRPr>
          </a:p>
          <a:p>
            <a:pPr algn="l">
              <a:lnSpc>
                <a:spcPct val="85000"/>
              </a:lnSpc>
            </a:pPr>
            <a:r>
              <a:rPr lang="en-US" dirty="0">
                <a:latin typeface="+mn-lt"/>
              </a:rPr>
              <a:t>TLBs are usually small, typically not more than 128 - 256 entries even on</a:t>
            </a:r>
          </a:p>
          <a:p>
            <a:pPr algn="l">
              <a:lnSpc>
                <a:spcPct val="85000"/>
              </a:lnSpc>
            </a:pPr>
            <a:r>
              <a:rPr lang="en-US" dirty="0">
                <a:latin typeface="+mn-lt"/>
              </a:rPr>
              <a:t>      high end machines.  This permits fully associative</a:t>
            </a:r>
          </a:p>
          <a:p>
            <a:pPr algn="l">
              <a:lnSpc>
                <a:spcPct val="85000"/>
              </a:lnSpc>
            </a:pPr>
            <a:r>
              <a:rPr lang="en-US" dirty="0">
                <a:latin typeface="+mn-lt"/>
              </a:rPr>
              <a:t>      lookup on these machines.  Most mid-range machines use small</a:t>
            </a:r>
          </a:p>
          <a:p>
            <a:pPr algn="l">
              <a:lnSpc>
                <a:spcPct val="85000"/>
              </a:lnSpc>
            </a:pPr>
            <a:r>
              <a:rPr lang="en-US" dirty="0">
                <a:latin typeface="+mn-lt"/>
              </a:rPr>
              <a:t>      n-way set associative organizations.</a:t>
            </a:r>
          </a:p>
        </p:txBody>
      </p:sp>
      <p:grpSp>
        <p:nvGrpSpPr>
          <p:cNvPr id="936964" name="Group 4"/>
          <p:cNvGrpSpPr>
            <a:grpSpLocks/>
          </p:cNvGrpSpPr>
          <p:nvPr/>
        </p:nvGrpSpPr>
        <p:grpSpPr bwMode="auto">
          <a:xfrm>
            <a:off x="2971800" y="3048001"/>
            <a:ext cx="6565900" cy="3322638"/>
            <a:chOff x="1216" y="2112"/>
            <a:chExt cx="4136" cy="2093"/>
          </a:xfrm>
        </p:grpSpPr>
        <p:sp>
          <p:nvSpPr>
            <p:cNvPr id="936965" name="Line 5"/>
            <p:cNvSpPr>
              <a:spLocks noChangeShapeType="1"/>
            </p:cNvSpPr>
            <p:nvPr/>
          </p:nvSpPr>
          <p:spPr bwMode="auto">
            <a:xfrm>
              <a:off x="1248" y="2312"/>
              <a:ext cx="6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6966" name="Line 6"/>
            <p:cNvSpPr>
              <a:spLocks noChangeShapeType="1"/>
            </p:cNvSpPr>
            <p:nvPr/>
          </p:nvSpPr>
          <p:spPr bwMode="auto">
            <a:xfrm>
              <a:off x="1872" y="2320"/>
              <a:ext cx="0" cy="5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6967" name="Line 7"/>
            <p:cNvSpPr>
              <a:spLocks noChangeShapeType="1"/>
            </p:cNvSpPr>
            <p:nvPr/>
          </p:nvSpPr>
          <p:spPr bwMode="auto">
            <a:xfrm flipH="1">
              <a:off x="1216" y="2928"/>
              <a:ext cx="6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6968" name="Rectangle 8"/>
            <p:cNvSpPr>
              <a:spLocks noChangeArrowheads="1"/>
            </p:cNvSpPr>
            <p:nvPr/>
          </p:nvSpPr>
          <p:spPr bwMode="auto">
            <a:xfrm>
              <a:off x="1280" y="2544"/>
              <a:ext cx="352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 algn="l">
                <a:lnSpc>
                  <a:spcPct val="85000"/>
                </a:lnSpc>
              </a:pPr>
              <a:r>
                <a:rPr lang="en-US">
                  <a:latin typeface="Comic Sans MS" pitchFamily="66" charset="0"/>
                </a:rPr>
                <a:t>CPU</a:t>
              </a:r>
            </a:p>
          </p:txBody>
        </p:sp>
        <p:sp>
          <p:nvSpPr>
            <p:cNvPr id="936969" name="Rectangle 9"/>
            <p:cNvSpPr>
              <a:spLocks noChangeArrowheads="1"/>
            </p:cNvSpPr>
            <p:nvPr/>
          </p:nvSpPr>
          <p:spPr bwMode="auto">
            <a:xfrm>
              <a:off x="2288" y="2336"/>
              <a:ext cx="672" cy="56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r>
                <a:rPr lang="en-US">
                  <a:latin typeface="Comic Sans MS" pitchFamily="66" charset="0"/>
                </a:rPr>
                <a:t>TLB</a:t>
              </a:r>
            </a:p>
            <a:p>
              <a:r>
                <a:rPr lang="en-US">
                  <a:latin typeface="Comic Sans MS" pitchFamily="66" charset="0"/>
                </a:rPr>
                <a:t>Lookup</a:t>
              </a:r>
            </a:p>
          </p:txBody>
        </p:sp>
        <p:sp>
          <p:nvSpPr>
            <p:cNvPr id="936970" name="Rectangle 10"/>
            <p:cNvSpPr>
              <a:spLocks noChangeArrowheads="1"/>
            </p:cNvSpPr>
            <p:nvPr/>
          </p:nvSpPr>
          <p:spPr bwMode="auto">
            <a:xfrm>
              <a:off x="3440" y="2336"/>
              <a:ext cx="672" cy="56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r>
                <a:rPr lang="en-US">
                  <a:latin typeface="Comic Sans MS" pitchFamily="66" charset="0"/>
                </a:rPr>
                <a:t>Cache</a:t>
              </a:r>
            </a:p>
          </p:txBody>
        </p:sp>
        <p:sp>
          <p:nvSpPr>
            <p:cNvPr id="936971" name="Rectangle 11"/>
            <p:cNvSpPr>
              <a:spLocks noChangeArrowheads="1"/>
            </p:cNvSpPr>
            <p:nvPr/>
          </p:nvSpPr>
          <p:spPr bwMode="auto">
            <a:xfrm>
              <a:off x="4680" y="2344"/>
              <a:ext cx="672" cy="56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r>
                <a:rPr lang="en-US">
                  <a:latin typeface="Comic Sans MS" pitchFamily="66" charset="0"/>
                </a:rPr>
                <a:t>Main</a:t>
              </a:r>
            </a:p>
            <a:p>
              <a:r>
                <a:rPr lang="en-US">
                  <a:latin typeface="Comic Sans MS" pitchFamily="66" charset="0"/>
                </a:rPr>
                <a:t>Memory</a:t>
              </a:r>
            </a:p>
          </p:txBody>
        </p:sp>
        <p:sp>
          <p:nvSpPr>
            <p:cNvPr id="936972" name="Line 12"/>
            <p:cNvSpPr>
              <a:spLocks noChangeShapeType="1"/>
            </p:cNvSpPr>
            <p:nvPr/>
          </p:nvSpPr>
          <p:spPr bwMode="auto">
            <a:xfrm>
              <a:off x="1880" y="2424"/>
              <a:ext cx="3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6973" name="Line 13"/>
            <p:cNvSpPr>
              <a:spLocks noChangeShapeType="1"/>
            </p:cNvSpPr>
            <p:nvPr/>
          </p:nvSpPr>
          <p:spPr bwMode="auto">
            <a:xfrm>
              <a:off x="2960" y="2424"/>
              <a:ext cx="4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6974" name="Line 14"/>
            <p:cNvSpPr>
              <a:spLocks noChangeShapeType="1"/>
            </p:cNvSpPr>
            <p:nvPr/>
          </p:nvSpPr>
          <p:spPr bwMode="auto">
            <a:xfrm>
              <a:off x="4120" y="2408"/>
              <a:ext cx="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6975" name="Line 15"/>
            <p:cNvSpPr>
              <a:spLocks noChangeShapeType="1"/>
            </p:cNvSpPr>
            <p:nvPr/>
          </p:nvSpPr>
          <p:spPr bwMode="auto">
            <a:xfrm flipH="1">
              <a:off x="4536" y="2816"/>
              <a:ext cx="1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6976" name="Line 16"/>
            <p:cNvSpPr>
              <a:spLocks noChangeShapeType="1"/>
            </p:cNvSpPr>
            <p:nvPr/>
          </p:nvSpPr>
          <p:spPr bwMode="auto">
            <a:xfrm flipH="1">
              <a:off x="4528" y="2824"/>
              <a:ext cx="24" cy="11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6977" name="Line 17"/>
            <p:cNvSpPr>
              <a:spLocks noChangeShapeType="1"/>
            </p:cNvSpPr>
            <p:nvPr/>
          </p:nvSpPr>
          <p:spPr bwMode="auto">
            <a:xfrm flipH="1">
              <a:off x="2032" y="3944"/>
              <a:ext cx="1248" cy="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6978" name="Line 18"/>
            <p:cNvSpPr>
              <a:spLocks noChangeShapeType="1"/>
            </p:cNvSpPr>
            <p:nvPr/>
          </p:nvSpPr>
          <p:spPr bwMode="auto">
            <a:xfrm flipV="1">
              <a:off x="2024" y="2848"/>
              <a:ext cx="8" cy="10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6979" name="Line 19"/>
            <p:cNvSpPr>
              <a:spLocks noChangeShapeType="1"/>
            </p:cNvSpPr>
            <p:nvPr/>
          </p:nvSpPr>
          <p:spPr bwMode="auto">
            <a:xfrm flipH="1">
              <a:off x="1864" y="2856"/>
              <a:ext cx="1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6980" name="Line 20"/>
            <p:cNvSpPr>
              <a:spLocks noChangeShapeType="1"/>
            </p:cNvSpPr>
            <p:nvPr/>
          </p:nvSpPr>
          <p:spPr bwMode="auto">
            <a:xfrm flipV="1">
              <a:off x="4272" y="2824"/>
              <a:ext cx="8" cy="1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6981" name="Line 21"/>
            <p:cNvSpPr>
              <a:spLocks noChangeShapeType="1"/>
            </p:cNvSpPr>
            <p:nvPr/>
          </p:nvSpPr>
          <p:spPr bwMode="auto">
            <a:xfrm flipH="1">
              <a:off x="4112" y="2832"/>
              <a:ext cx="1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6982" name="Line 22"/>
            <p:cNvSpPr>
              <a:spLocks noChangeShapeType="1"/>
            </p:cNvSpPr>
            <p:nvPr/>
          </p:nvSpPr>
          <p:spPr bwMode="auto">
            <a:xfrm flipH="1">
              <a:off x="3272" y="2816"/>
              <a:ext cx="1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6983" name="Line 23"/>
            <p:cNvSpPr>
              <a:spLocks noChangeShapeType="1"/>
            </p:cNvSpPr>
            <p:nvPr/>
          </p:nvSpPr>
          <p:spPr bwMode="auto">
            <a:xfrm flipH="1">
              <a:off x="3264" y="2824"/>
              <a:ext cx="24" cy="1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6984" name="Oval 24"/>
            <p:cNvSpPr>
              <a:spLocks noChangeArrowheads="1"/>
            </p:cNvSpPr>
            <p:nvPr/>
          </p:nvSpPr>
          <p:spPr bwMode="auto">
            <a:xfrm>
              <a:off x="4264" y="3936"/>
              <a:ext cx="16" cy="24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6985" name="Rectangle 25"/>
            <p:cNvSpPr>
              <a:spLocks noChangeArrowheads="1"/>
            </p:cNvSpPr>
            <p:nvPr/>
          </p:nvSpPr>
          <p:spPr bwMode="auto">
            <a:xfrm>
              <a:off x="1896" y="2256"/>
              <a:ext cx="282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 algn="l">
                <a:lnSpc>
                  <a:spcPct val="85000"/>
                </a:lnSpc>
              </a:pPr>
              <a:r>
                <a:rPr lang="en-US">
                  <a:latin typeface="Comic Sans MS" pitchFamily="66" charset="0"/>
                </a:rPr>
                <a:t>VA</a:t>
              </a:r>
            </a:p>
          </p:txBody>
        </p:sp>
        <p:sp>
          <p:nvSpPr>
            <p:cNvPr id="936986" name="Rectangle 26"/>
            <p:cNvSpPr>
              <a:spLocks noChangeArrowheads="1"/>
            </p:cNvSpPr>
            <p:nvPr/>
          </p:nvSpPr>
          <p:spPr bwMode="auto">
            <a:xfrm>
              <a:off x="2976" y="2256"/>
              <a:ext cx="262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 algn="l">
                <a:lnSpc>
                  <a:spcPct val="85000"/>
                </a:lnSpc>
              </a:pPr>
              <a:r>
                <a:rPr lang="en-US">
                  <a:latin typeface="Comic Sans MS" pitchFamily="66" charset="0"/>
                </a:rPr>
                <a:t>PA</a:t>
              </a:r>
            </a:p>
          </p:txBody>
        </p:sp>
        <p:sp>
          <p:nvSpPr>
            <p:cNvPr id="936987" name="Rectangle 27"/>
            <p:cNvSpPr>
              <a:spLocks noChangeArrowheads="1"/>
            </p:cNvSpPr>
            <p:nvPr/>
          </p:nvSpPr>
          <p:spPr bwMode="auto">
            <a:xfrm>
              <a:off x="4152" y="2240"/>
              <a:ext cx="372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 algn="l">
                <a:lnSpc>
                  <a:spcPct val="85000"/>
                </a:lnSpc>
              </a:pPr>
              <a:r>
                <a:rPr lang="en-US">
                  <a:latin typeface="Comic Sans MS" pitchFamily="66" charset="0"/>
                </a:rPr>
                <a:t>miss</a:t>
              </a:r>
            </a:p>
          </p:txBody>
        </p:sp>
        <p:sp>
          <p:nvSpPr>
            <p:cNvPr id="936988" name="Rectangle 28"/>
            <p:cNvSpPr>
              <a:spLocks noChangeArrowheads="1"/>
            </p:cNvSpPr>
            <p:nvPr/>
          </p:nvSpPr>
          <p:spPr bwMode="auto">
            <a:xfrm>
              <a:off x="3376" y="2952"/>
              <a:ext cx="271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 algn="l">
                <a:lnSpc>
                  <a:spcPct val="85000"/>
                </a:lnSpc>
              </a:pPr>
              <a:r>
                <a:rPr lang="en-US">
                  <a:latin typeface="Comic Sans MS" pitchFamily="66" charset="0"/>
                </a:rPr>
                <a:t>hit</a:t>
              </a:r>
            </a:p>
          </p:txBody>
        </p:sp>
        <p:sp>
          <p:nvSpPr>
            <p:cNvPr id="936989" name="Rectangle 29"/>
            <p:cNvSpPr>
              <a:spLocks noChangeArrowheads="1"/>
            </p:cNvSpPr>
            <p:nvPr/>
          </p:nvSpPr>
          <p:spPr bwMode="auto">
            <a:xfrm>
              <a:off x="3616" y="3760"/>
              <a:ext cx="393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 algn="l">
                <a:lnSpc>
                  <a:spcPct val="85000"/>
                </a:lnSpc>
              </a:pPr>
              <a:r>
                <a:rPr lang="en-US">
                  <a:latin typeface="Comic Sans MS" pitchFamily="66" charset="0"/>
                </a:rPr>
                <a:t>data</a:t>
              </a:r>
            </a:p>
          </p:txBody>
        </p:sp>
        <p:sp>
          <p:nvSpPr>
            <p:cNvPr id="936990" name="Rectangle 30"/>
            <p:cNvSpPr>
              <a:spLocks noChangeArrowheads="1"/>
            </p:cNvSpPr>
            <p:nvPr/>
          </p:nvSpPr>
          <p:spPr bwMode="auto">
            <a:xfrm>
              <a:off x="2288" y="3200"/>
              <a:ext cx="672" cy="56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r>
                <a:rPr lang="en-US">
                  <a:latin typeface="Comic Sans MS" pitchFamily="66" charset="0"/>
                </a:rPr>
                <a:t>Trans-</a:t>
              </a:r>
            </a:p>
            <a:p>
              <a:r>
                <a:rPr lang="en-US">
                  <a:latin typeface="Comic Sans MS" pitchFamily="66" charset="0"/>
                </a:rPr>
                <a:t>lation</a:t>
              </a:r>
            </a:p>
          </p:txBody>
        </p:sp>
        <p:sp>
          <p:nvSpPr>
            <p:cNvPr id="936991" name="Rectangle 31"/>
            <p:cNvSpPr>
              <a:spLocks noChangeArrowheads="1"/>
            </p:cNvSpPr>
            <p:nvPr/>
          </p:nvSpPr>
          <p:spPr bwMode="auto">
            <a:xfrm>
              <a:off x="2976" y="2112"/>
              <a:ext cx="271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 algn="l">
                <a:lnSpc>
                  <a:spcPct val="85000"/>
                </a:lnSpc>
              </a:pPr>
              <a:r>
                <a:rPr lang="en-US">
                  <a:latin typeface="Comic Sans MS" pitchFamily="66" charset="0"/>
                </a:rPr>
                <a:t>hit</a:t>
              </a:r>
            </a:p>
          </p:txBody>
        </p:sp>
        <p:sp>
          <p:nvSpPr>
            <p:cNvPr id="936992" name="Line 32"/>
            <p:cNvSpPr>
              <a:spLocks noChangeShapeType="1"/>
            </p:cNvSpPr>
            <p:nvPr/>
          </p:nvSpPr>
          <p:spPr bwMode="auto">
            <a:xfrm>
              <a:off x="2616" y="2920"/>
              <a:ext cx="0" cy="26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6993" name="Rectangle 33"/>
            <p:cNvSpPr>
              <a:spLocks noChangeArrowheads="1"/>
            </p:cNvSpPr>
            <p:nvPr/>
          </p:nvSpPr>
          <p:spPr bwMode="auto">
            <a:xfrm>
              <a:off x="2200" y="2952"/>
              <a:ext cx="372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 algn="l">
                <a:lnSpc>
                  <a:spcPct val="85000"/>
                </a:lnSpc>
              </a:pPr>
              <a:r>
                <a:rPr lang="en-US">
                  <a:latin typeface="Comic Sans MS" pitchFamily="66" charset="0"/>
                </a:rPr>
                <a:t>miss</a:t>
              </a:r>
            </a:p>
          </p:txBody>
        </p:sp>
        <p:sp>
          <p:nvSpPr>
            <p:cNvPr id="936994" name="Line 34"/>
            <p:cNvSpPr>
              <a:spLocks noChangeShapeType="1"/>
            </p:cNvSpPr>
            <p:nvPr/>
          </p:nvSpPr>
          <p:spPr bwMode="auto">
            <a:xfrm>
              <a:off x="2624" y="3800"/>
              <a:ext cx="0" cy="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6995" name="Line 35"/>
            <p:cNvSpPr>
              <a:spLocks noChangeShapeType="1"/>
            </p:cNvSpPr>
            <p:nvPr/>
          </p:nvSpPr>
          <p:spPr bwMode="auto">
            <a:xfrm>
              <a:off x="2632" y="3864"/>
              <a:ext cx="4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6996" name="Line 36"/>
            <p:cNvSpPr>
              <a:spLocks noChangeShapeType="1"/>
            </p:cNvSpPr>
            <p:nvPr/>
          </p:nvSpPr>
          <p:spPr bwMode="auto">
            <a:xfrm flipV="1">
              <a:off x="3056" y="2416"/>
              <a:ext cx="0" cy="14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6997" name="Line 37"/>
            <p:cNvSpPr>
              <a:spLocks noChangeShapeType="1"/>
            </p:cNvSpPr>
            <p:nvPr/>
          </p:nvSpPr>
          <p:spPr bwMode="auto">
            <a:xfrm flipH="1">
              <a:off x="3264" y="3944"/>
              <a:ext cx="12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6998" name="Rectangle 38"/>
            <p:cNvSpPr>
              <a:spLocks noChangeArrowheads="1"/>
            </p:cNvSpPr>
            <p:nvPr/>
          </p:nvSpPr>
          <p:spPr bwMode="auto">
            <a:xfrm>
              <a:off x="4872" y="4024"/>
              <a:ext cx="371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 algn="l">
                <a:lnSpc>
                  <a:spcPct val="85000"/>
                </a:lnSpc>
              </a:pPr>
              <a:r>
                <a:rPr lang="en-US">
                  <a:latin typeface="Comic Sans MS" pitchFamily="66" charset="0"/>
                </a:rPr>
                <a:t>20 t</a:t>
              </a:r>
            </a:p>
          </p:txBody>
        </p:sp>
        <p:sp>
          <p:nvSpPr>
            <p:cNvPr id="936999" name="Rectangle 39"/>
            <p:cNvSpPr>
              <a:spLocks noChangeArrowheads="1"/>
            </p:cNvSpPr>
            <p:nvPr/>
          </p:nvSpPr>
          <p:spPr bwMode="auto">
            <a:xfrm>
              <a:off x="3744" y="4016"/>
              <a:ext cx="148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 algn="l">
                <a:lnSpc>
                  <a:spcPct val="85000"/>
                </a:lnSpc>
              </a:pPr>
              <a:r>
                <a:rPr lang="en-US">
                  <a:latin typeface="Comic Sans MS" pitchFamily="66" charset="0"/>
                </a:rPr>
                <a:t>t</a:t>
              </a:r>
            </a:p>
          </p:txBody>
        </p:sp>
        <p:sp>
          <p:nvSpPr>
            <p:cNvPr id="937000" name="Rectangle 40"/>
            <p:cNvSpPr>
              <a:spLocks noChangeArrowheads="1"/>
            </p:cNvSpPr>
            <p:nvPr/>
          </p:nvSpPr>
          <p:spPr bwMode="auto">
            <a:xfrm>
              <a:off x="2432" y="4024"/>
              <a:ext cx="42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 algn="l">
                <a:lnSpc>
                  <a:spcPct val="85000"/>
                </a:lnSpc>
              </a:pPr>
              <a:r>
                <a:rPr lang="en-US">
                  <a:latin typeface="Comic Sans MS" pitchFamily="66" charset="0"/>
                </a:rPr>
                <a:t>1/2 t</a:t>
              </a:r>
            </a:p>
          </p:txBody>
        </p:sp>
      </p:grpSp>
      <p:sp>
        <p:nvSpPr>
          <p:cNvPr id="937001" name="Rectangle 41"/>
          <p:cNvSpPr>
            <a:spLocks noChangeArrowheads="1"/>
          </p:cNvSpPr>
          <p:nvPr/>
        </p:nvSpPr>
        <p:spPr bwMode="auto">
          <a:xfrm>
            <a:off x="1892301" y="4635500"/>
            <a:ext cx="1252459" cy="522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pPr algn="l">
              <a:lnSpc>
                <a:spcPct val="85000"/>
              </a:lnSpc>
            </a:pPr>
            <a:r>
              <a:rPr lang="en-US" i="1" dirty="0">
                <a:latin typeface="+mn-lt"/>
              </a:rPr>
              <a:t>Translation</a:t>
            </a:r>
          </a:p>
          <a:p>
            <a:pPr algn="l">
              <a:lnSpc>
                <a:spcPct val="85000"/>
              </a:lnSpc>
            </a:pPr>
            <a:r>
              <a:rPr lang="en-US" i="1" dirty="0">
                <a:latin typeface="+mn-lt"/>
              </a:rPr>
              <a:t>with a TLB</a:t>
            </a:r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986" name="Rectangle 2"/>
          <p:cNvSpPr>
            <a:spLocks noGrp="1" noChangeArrowheads="1"/>
          </p:cNvSpPr>
          <p:nvPr>
            <p:ph type="title"/>
          </p:nvPr>
        </p:nvSpPr>
        <p:spPr>
          <a:xfrm>
            <a:off x="949524" y="224666"/>
            <a:ext cx="9281061" cy="634446"/>
          </a:xfrm>
          <a:noFill/>
          <a:ln/>
        </p:spPr>
        <p:txBody>
          <a:bodyPr vert="horz" lIns="90488" tIns="45720" rIns="90488" bIns="45720" rtlCol="0" anchor="ctr">
            <a:noAutofit/>
          </a:bodyPr>
          <a:lstStyle/>
          <a:p>
            <a:r>
              <a:rPr lang="en-US" sz="3000" dirty="0"/>
              <a:t>Fast hits by Avoiding Address Translation </a:t>
            </a:r>
          </a:p>
        </p:txBody>
      </p:sp>
      <p:sp>
        <p:nvSpPr>
          <p:cNvPr id="937987" name="Rectangle 3"/>
          <p:cNvSpPr>
            <a:spLocks noChangeArrowheads="1"/>
          </p:cNvSpPr>
          <p:nvPr/>
        </p:nvSpPr>
        <p:spPr bwMode="auto">
          <a:xfrm>
            <a:off x="2367780" y="1143794"/>
            <a:ext cx="850900" cy="546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lang="en-US" b="0">
                <a:latin typeface="Arial" pitchFamily="34" charset="0"/>
              </a:rPr>
              <a:t>CPU</a:t>
            </a:r>
          </a:p>
        </p:txBody>
      </p:sp>
      <p:sp>
        <p:nvSpPr>
          <p:cNvPr id="937988" name="Rectangle 4"/>
          <p:cNvSpPr>
            <a:spLocks noChangeArrowheads="1"/>
          </p:cNvSpPr>
          <p:nvPr/>
        </p:nvSpPr>
        <p:spPr bwMode="auto">
          <a:xfrm>
            <a:off x="2367780" y="2210594"/>
            <a:ext cx="850900" cy="546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lang="en-US" b="0">
                <a:latin typeface="Arial" pitchFamily="34" charset="0"/>
              </a:rPr>
              <a:t>TB</a:t>
            </a:r>
          </a:p>
        </p:txBody>
      </p:sp>
      <p:sp>
        <p:nvSpPr>
          <p:cNvPr id="937989" name="Rectangle 5"/>
          <p:cNvSpPr>
            <a:spLocks noChangeArrowheads="1"/>
          </p:cNvSpPr>
          <p:nvPr/>
        </p:nvSpPr>
        <p:spPr bwMode="auto">
          <a:xfrm>
            <a:off x="2367780" y="3239294"/>
            <a:ext cx="850900" cy="546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lang="en-US" b="0">
                <a:latin typeface="Arial" pitchFamily="34" charset="0"/>
              </a:rPr>
              <a:t>$</a:t>
            </a:r>
          </a:p>
        </p:txBody>
      </p:sp>
      <p:sp>
        <p:nvSpPr>
          <p:cNvPr id="937990" name="Rectangle 6"/>
          <p:cNvSpPr>
            <a:spLocks noChangeArrowheads="1"/>
          </p:cNvSpPr>
          <p:nvPr/>
        </p:nvSpPr>
        <p:spPr bwMode="auto">
          <a:xfrm>
            <a:off x="2367780" y="4306094"/>
            <a:ext cx="850900" cy="546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lang="en-US" b="0">
                <a:latin typeface="Arial" pitchFamily="34" charset="0"/>
              </a:rPr>
              <a:t>MEM</a:t>
            </a:r>
          </a:p>
        </p:txBody>
      </p:sp>
      <p:sp>
        <p:nvSpPr>
          <p:cNvPr id="937991" name="Line 7"/>
          <p:cNvSpPr>
            <a:spLocks noChangeShapeType="1"/>
          </p:cNvSpPr>
          <p:nvPr/>
        </p:nvSpPr>
        <p:spPr bwMode="auto">
          <a:xfrm>
            <a:off x="2774180" y="1734344"/>
            <a:ext cx="0" cy="450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7992" name="Line 8"/>
          <p:cNvSpPr>
            <a:spLocks noChangeShapeType="1"/>
          </p:cNvSpPr>
          <p:nvPr/>
        </p:nvSpPr>
        <p:spPr bwMode="auto">
          <a:xfrm>
            <a:off x="2774180" y="2782094"/>
            <a:ext cx="0" cy="450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7993" name="Line 9"/>
          <p:cNvSpPr>
            <a:spLocks noChangeShapeType="1"/>
          </p:cNvSpPr>
          <p:nvPr/>
        </p:nvSpPr>
        <p:spPr bwMode="auto">
          <a:xfrm>
            <a:off x="2774180" y="3829844"/>
            <a:ext cx="0" cy="450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7994" name="Rectangle 10"/>
          <p:cNvSpPr>
            <a:spLocks noChangeArrowheads="1"/>
          </p:cNvSpPr>
          <p:nvPr/>
        </p:nvSpPr>
        <p:spPr bwMode="auto">
          <a:xfrm>
            <a:off x="2944044" y="1807369"/>
            <a:ext cx="473400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/>
            <a:r>
              <a:rPr lang="en-US" b="0">
                <a:latin typeface="Arial" pitchFamily="34" charset="0"/>
              </a:rPr>
              <a:t>VA</a:t>
            </a:r>
          </a:p>
        </p:txBody>
      </p:sp>
      <p:sp>
        <p:nvSpPr>
          <p:cNvPr id="937995" name="Rectangle 11"/>
          <p:cNvSpPr>
            <a:spLocks noChangeArrowheads="1"/>
          </p:cNvSpPr>
          <p:nvPr/>
        </p:nvSpPr>
        <p:spPr bwMode="auto">
          <a:xfrm>
            <a:off x="2944044" y="2797969"/>
            <a:ext cx="473400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/>
            <a:r>
              <a:rPr lang="en-US" b="0">
                <a:latin typeface="Arial" pitchFamily="34" charset="0"/>
              </a:rPr>
              <a:t>PA</a:t>
            </a:r>
          </a:p>
        </p:txBody>
      </p:sp>
      <p:sp>
        <p:nvSpPr>
          <p:cNvPr id="937996" name="Rectangle 12"/>
          <p:cNvSpPr>
            <a:spLocks noChangeArrowheads="1"/>
          </p:cNvSpPr>
          <p:nvPr/>
        </p:nvSpPr>
        <p:spPr bwMode="auto">
          <a:xfrm>
            <a:off x="2963094" y="3845719"/>
            <a:ext cx="473400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/>
            <a:r>
              <a:rPr lang="en-US" b="0">
                <a:latin typeface="Arial" pitchFamily="34" charset="0"/>
              </a:rPr>
              <a:t>PA</a:t>
            </a:r>
          </a:p>
        </p:txBody>
      </p:sp>
      <p:sp>
        <p:nvSpPr>
          <p:cNvPr id="937997" name="Rectangle 13"/>
          <p:cNvSpPr>
            <a:spLocks noChangeArrowheads="1"/>
          </p:cNvSpPr>
          <p:nvPr/>
        </p:nvSpPr>
        <p:spPr bwMode="auto">
          <a:xfrm>
            <a:off x="1991544" y="5045870"/>
            <a:ext cx="1527175" cy="65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b="0">
                <a:latin typeface="Arial" pitchFamily="34" charset="0"/>
              </a:rPr>
              <a:t>Conventional</a:t>
            </a:r>
          </a:p>
          <a:p>
            <a:r>
              <a:rPr lang="en-US" b="0">
                <a:latin typeface="Arial" pitchFamily="34" charset="0"/>
              </a:rPr>
              <a:t>Organization</a:t>
            </a:r>
          </a:p>
        </p:txBody>
      </p:sp>
      <p:sp>
        <p:nvSpPr>
          <p:cNvPr id="937998" name="Rectangle 14"/>
          <p:cNvSpPr>
            <a:spLocks noChangeArrowheads="1"/>
          </p:cNvSpPr>
          <p:nvPr/>
        </p:nvSpPr>
        <p:spPr bwMode="auto">
          <a:xfrm>
            <a:off x="5225280" y="1124744"/>
            <a:ext cx="850900" cy="546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lang="en-US" b="0">
                <a:latin typeface="Arial" pitchFamily="34" charset="0"/>
              </a:rPr>
              <a:t>CPU</a:t>
            </a:r>
          </a:p>
        </p:txBody>
      </p:sp>
      <p:sp>
        <p:nvSpPr>
          <p:cNvPr id="937999" name="Rectangle 15"/>
          <p:cNvSpPr>
            <a:spLocks noChangeArrowheads="1"/>
          </p:cNvSpPr>
          <p:nvPr/>
        </p:nvSpPr>
        <p:spPr bwMode="auto">
          <a:xfrm>
            <a:off x="5225280" y="2191544"/>
            <a:ext cx="850900" cy="546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lang="en-US" b="0">
                <a:latin typeface="Arial" pitchFamily="34" charset="0"/>
              </a:rPr>
              <a:t>$</a:t>
            </a:r>
          </a:p>
        </p:txBody>
      </p:sp>
      <p:sp>
        <p:nvSpPr>
          <p:cNvPr id="938000" name="Rectangle 16"/>
          <p:cNvSpPr>
            <a:spLocks noChangeArrowheads="1"/>
          </p:cNvSpPr>
          <p:nvPr/>
        </p:nvSpPr>
        <p:spPr bwMode="auto">
          <a:xfrm>
            <a:off x="5225280" y="3220244"/>
            <a:ext cx="850900" cy="546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lang="en-US" b="0">
                <a:latin typeface="Arial" pitchFamily="34" charset="0"/>
              </a:rPr>
              <a:t>TB</a:t>
            </a:r>
          </a:p>
        </p:txBody>
      </p:sp>
      <p:sp>
        <p:nvSpPr>
          <p:cNvPr id="938001" name="Rectangle 17"/>
          <p:cNvSpPr>
            <a:spLocks noChangeArrowheads="1"/>
          </p:cNvSpPr>
          <p:nvPr/>
        </p:nvSpPr>
        <p:spPr bwMode="auto">
          <a:xfrm>
            <a:off x="5225280" y="4287044"/>
            <a:ext cx="850900" cy="546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lang="en-US" b="0">
                <a:latin typeface="Arial" pitchFamily="34" charset="0"/>
              </a:rPr>
              <a:t>MEM</a:t>
            </a:r>
          </a:p>
        </p:txBody>
      </p:sp>
      <p:sp>
        <p:nvSpPr>
          <p:cNvPr id="938002" name="Line 18"/>
          <p:cNvSpPr>
            <a:spLocks noChangeShapeType="1"/>
          </p:cNvSpPr>
          <p:nvPr/>
        </p:nvSpPr>
        <p:spPr bwMode="auto">
          <a:xfrm>
            <a:off x="5631680" y="1715294"/>
            <a:ext cx="0" cy="450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8003" name="Line 19"/>
          <p:cNvSpPr>
            <a:spLocks noChangeShapeType="1"/>
          </p:cNvSpPr>
          <p:nvPr/>
        </p:nvSpPr>
        <p:spPr bwMode="auto">
          <a:xfrm>
            <a:off x="5631680" y="2763044"/>
            <a:ext cx="0" cy="450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8004" name="Line 20"/>
          <p:cNvSpPr>
            <a:spLocks noChangeShapeType="1"/>
          </p:cNvSpPr>
          <p:nvPr/>
        </p:nvSpPr>
        <p:spPr bwMode="auto">
          <a:xfrm>
            <a:off x="5631680" y="3810794"/>
            <a:ext cx="0" cy="450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8005" name="Rectangle 21"/>
          <p:cNvSpPr>
            <a:spLocks noChangeArrowheads="1"/>
          </p:cNvSpPr>
          <p:nvPr/>
        </p:nvSpPr>
        <p:spPr bwMode="auto">
          <a:xfrm>
            <a:off x="5801544" y="1788319"/>
            <a:ext cx="473400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/>
            <a:r>
              <a:rPr lang="en-US" b="0">
                <a:latin typeface="Arial" pitchFamily="34" charset="0"/>
              </a:rPr>
              <a:t>VA</a:t>
            </a:r>
          </a:p>
        </p:txBody>
      </p:sp>
      <p:sp>
        <p:nvSpPr>
          <p:cNvPr id="938006" name="Rectangle 22"/>
          <p:cNvSpPr>
            <a:spLocks noChangeArrowheads="1"/>
          </p:cNvSpPr>
          <p:nvPr/>
        </p:nvSpPr>
        <p:spPr bwMode="auto">
          <a:xfrm>
            <a:off x="5801544" y="2778919"/>
            <a:ext cx="473400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/>
            <a:r>
              <a:rPr lang="en-US" b="0">
                <a:latin typeface="Arial" pitchFamily="34" charset="0"/>
              </a:rPr>
              <a:t>VA</a:t>
            </a:r>
          </a:p>
        </p:txBody>
      </p:sp>
      <p:sp>
        <p:nvSpPr>
          <p:cNvPr id="938007" name="Rectangle 23"/>
          <p:cNvSpPr>
            <a:spLocks noChangeArrowheads="1"/>
          </p:cNvSpPr>
          <p:nvPr/>
        </p:nvSpPr>
        <p:spPr bwMode="auto">
          <a:xfrm>
            <a:off x="5820594" y="3826669"/>
            <a:ext cx="473400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/>
            <a:r>
              <a:rPr lang="en-US" b="0">
                <a:latin typeface="Arial" pitchFamily="34" charset="0"/>
              </a:rPr>
              <a:t>PA</a:t>
            </a:r>
          </a:p>
        </p:txBody>
      </p:sp>
      <p:sp>
        <p:nvSpPr>
          <p:cNvPr id="938008" name="Rectangle 24"/>
          <p:cNvSpPr>
            <a:spLocks noChangeArrowheads="1"/>
          </p:cNvSpPr>
          <p:nvPr/>
        </p:nvSpPr>
        <p:spPr bwMode="auto">
          <a:xfrm>
            <a:off x="4226744" y="5064920"/>
            <a:ext cx="2886075" cy="925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b="0">
                <a:latin typeface="Arial" pitchFamily="34" charset="0"/>
              </a:rPr>
              <a:t>Virtually Addressed Cache</a:t>
            </a:r>
          </a:p>
          <a:p>
            <a:r>
              <a:rPr lang="en-US" b="0">
                <a:latin typeface="Arial" pitchFamily="34" charset="0"/>
              </a:rPr>
              <a:t>Translate only on miss</a:t>
            </a:r>
          </a:p>
          <a:p>
            <a:r>
              <a:rPr lang="en-US" b="0">
                <a:latin typeface="Arial" pitchFamily="34" charset="0"/>
              </a:rPr>
              <a:t>Synonym Problem</a:t>
            </a:r>
          </a:p>
        </p:txBody>
      </p:sp>
      <p:sp>
        <p:nvSpPr>
          <p:cNvPr id="938009" name="Rectangle 25"/>
          <p:cNvSpPr>
            <a:spLocks noChangeArrowheads="1"/>
          </p:cNvSpPr>
          <p:nvPr/>
        </p:nvSpPr>
        <p:spPr bwMode="auto">
          <a:xfrm>
            <a:off x="8082780" y="1143794"/>
            <a:ext cx="850900" cy="546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lang="en-US" b="0">
                <a:latin typeface="Arial" pitchFamily="34" charset="0"/>
              </a:rPr>
              <a:t>CPU</a:t>
            </a:r>
          </a:p>
        </p:txBody>
      </p:sp>
      <p:sp>
        <p:nvSpPr>
          <p:cNvPr id="938010" name="Rectangle 26"/>
          <p:cNvSpPr>
            <a:spLocks noChangeArrowheads="1"/>
          </p:cNvSpPr>
          <p:nvPr/>
        </p:nvSpPr>
        <p:spPr bwMode="auto">
          <a:xfrm>
            <a:off x="8082780" y="2210594"/>
            <a:ext cx="850900" cy="546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lang="en-US" b="0">
                <a:latin typeface="Arial" pitchFamily="34" charset="0"/>
              </a:rPr>
              <a:t>$</a:t>
            </a:r>
          </a:p>
        </p:txBody>
      </p:sp>
      <p:sp>
        <p:nvSpPr>
          <p:cNvPr id="938011" name="Rectangle 27"/>
          <p:cNvSpPr>
            <a:spLocks noChangeArrowheads="1"/>
          </p:cNvSpPr>
          <p:nvPr/>
        </p:nvSpPr>
        <p:spPr bwMode="auto">
          <a:xfrm>
            <a:off x="9263880" y="2210594"/>
            <a:ext cx="850900" cy="546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lang="en-US" b="0">
                <a:latin typeface="Arial" pitchFamily="34" charset="0"/>
              </a:rPr>
              <a:t>TB</a:t>
            </a:r>
          </a:p>
        </p:txBody>
      </p:sp>
      <p:sp>
        <p:nvSpPr>
          <p:cNvPr id="938012" name="Rectangle 28"/>
          <p:cNvSpPr>
            <a:spLocks noChangeArrowheads="1"/>
          </p:cNvSpPr>
          <p:nvPr/>
        </p:nvSpPr>
        <p:spPr bwMode="auto">
          <a:xfrm>
            <a:off x="8692380" y="3734594"/>
            <a:ext cx="850900" cy="546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lang="en-US" b="0">
                <a:latin typeface="Arial" pitchFamily="34" charset="0"/>
              </a:rPr>
              <a:t>MEM</a:t>
            </a:r>
          </a:p>
        </p:txBody>
      </p:sp>
      <p:sp>
        <p:nvSpPr>
          <p:cNvPr id="938013" name="Line 29"/>
          <p:cNvSpPr>
            <a:spLocks noChangeShapeType="1"/>
          </p:cNvSpPr>
          <p:nvPr/>
        </p:nvSpPr>
        <p:spPr bwMode="auto">
          <a:xfrm>
            <a:off x="8489180" y="1734344"/>
            <a:ext cx="0" cy="450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8014" name="Line 30"/>
          <p:cNvSpPr>
            <a:spLocks noChangeShapeType="1"/>
          </p:cNvSpPr>
          <p:nvPr/>
        </p:nvSpPr>
        <p:spPr bwMode="auto">
          <a:xfrm>
            <a:off x="8489180" y="2782094"/>
            <a:ext cx="0" cy="450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8015" name="Line 31"/>
          <p:cNvSpPr>
            <a:spLocks noChangeShapeType="1"/>
          </p:cNvSpPr>
          <p:nvPr/>
        </p:nvSpPr>
        <p:spPr bwMode="auto">
          <a:xfrm>
            <a:off x="9098780" y="3258344"/>
            <a:ext cx="0" cy="450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8016" name="Rectangle 32"/>
          <p:cNvSpPr>
            <a:spLocks noChangeArrowheads="1"/>
          </p:cNvSpPr>
          <p:nvPr/>
        </p:nvSpPr>
        <p:spPr bwMode="auto">
          <a:xfrm>
            <a:off x="7858944" y="1769269"/>
            <a:ext cx="473400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/>
            <a:r>
              <a:rPr lang="en-US" b="0">
                <a:latin typeface="Arial" pitchFamily="34" charset="0"/>
              </a:rPr>
              <a:t>VA</a:t>
            </a:r>
          </a:p>
        </p:txBody>
      </p:sp>
      <p:sp>
        <p:nvSpPr>
          <p:cNvPr id="938017" name="Rectangle 33"/>
          <p:cNvSpPr>
            <a:spLocks noChangeArrowheads="1"/>
          </p:cNvSpPr>
          <p:nvPr/>
        </p:nvSpPr>
        <p:spPr bwMode="auto">
          <a:xfrm>
            <a:off x="7176221" y="2188370"/>
            <a:ext cx="670120" cy="643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b="0">
                <a:latin typeface="Arial" pitchFamily="34" charset="0"/>
              </a:rPr>
              <a:t>PA</a:t>
            </a:r>
          </a:p>
          <a:p>
            <a:r>
              <a:rPr lang="en-US" b="0">
                <a:latin typeface="Arial" pitchFamily="34" charset="0"/>
              </a:rPr>
              <a:t>Tags</a:t>
            </a:r>
          </a:p>
        </p:txBody>
      </p:sp>
      <p:sp>
        <p:nvSpPr>
          <p:cNvPr id="938018" name="Rectangle 34"/>
          <p:cNvSpPr>
            <a:spLocks noChangeArrowheads="1"/>
          </p:cNvSpPr>
          <p:nvPr/>
        </p:nvSpPr>
        <p:spPr bwMode="auto">
          <a:xfrm>
            <a:off x="9744894" y="2797969"/>
            <a:ext cx="473400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/>
            <a:r>
              <a:rPr lang="en-US" b="0">
                <a:latin typeface="Arial" pitchFamily="34" charset="0"/>
              </a:rPr>
              <a:t>PA</a:t>
            </a:r>
          </a:p>
        </p:txBody>
      </p:sp>
      <p:sp>
        <p:nvSpPr>
          <p:cNvPr id="938019" name="Line 35"/>
          <p:cNvSpPr>
            <a:spLocks noChangeShapeType="1"/>
          </p:cNvSpPr>
          <p:nvPr/>
        </p:nvSpPr>
        <p:spPr bwMode="auto">
          <a:xfrm>
            <a:off x="9689330" y="1810544"/>
            <a:ext cx="19050" cy="374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8020" name="Line 36"/>
          <p:cNvSpPr>
            <a:spLocks noChangeShapeType="1"/>
          </p:cNvSpPr>
          <p:nvPr/>
        </p:nvSpPr>
        <p:spPr bwMode="auto">
          <a:xfrm flipH="1">
            <a:off x="8476480" y="1816894"/>
            <a:ext cx="124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8021" name="Line 37"/>
          <p:cNvSpPr>
            <a:spLocks noChangeShapeType="1"/>
          </p:cNvSpPr>
          <p:nvPr/>
        </p:nvSpPr>
        <p:spPr bwMode="auto">
          <a:xfrm>
            <a:off x="9689330" y="2820194"/>
            <a:ext cx="0" cy="450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8022" name="Line 38"/>
          <p:cNvSpPr>
            <a:spLocks noChangeShapeType="1"/>
          </p:cNvSpPr>
          <p:nvPr/>
        </p:nvSpPr>
        <p:spPr bwMode="auto">
          <a:xfrm>
            <a:off x="8501880" y="3245644"/>
            <a:ext cx="1193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8023" name="Rectangle 39"/>
          <p:cNvSpPr>
            <a:spLocks noChangeArrowheads="1"/>
          </p:cNvSpPr>
          <p:nvPr/>
        </p:nvSpPr>
        <p:spPr bwMode="auto">
          <a:xfrm>
            <a:off x="8043094" y="4569619"/>
            <a:ext cx="2149475" cy="14747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b="0">
                <a:latin typeface="Arial" pitchFamily="34" charset="0"/>
              </a:rPr>
              <a:t>Overlap $ access</a:t>
            </a:r>
          </a:p>
          <a:p>
            <a:r>
              <a:rPr lang="en-US" b="0">
                <a:latin typeface="Arial" pitchFamily="34" charset="0"/>
              </a:rPr>
              <a:t>with VA translation:</a:t>
            </a:r>
          </a:p>
          <a:p>
            <a:r>
              <a:rPr lang="en-US" b="0">
                <a:latin typeface="Arial" pitchFamily="34" charset="0"/>
              </a:rPr>
              <a:t>requires $ index to</a:t>
            </a:r>
          </a:p>
          <a:p>
            <a:r>
              <a:rPr lang="en-US" b="0">
                <a:latin typeface="Arial" pitchFamily="34" charset="0"/>
              </a:rPr>
              <a:t>remain invariant</a:t>
            </a:r>
          </a:p>
          <a:p>
            <a:r>
              <a:rPr lang="en-US" b="0">
                <a:latin typeface="Arial" pitchFamily="34" charset="0"/>
              </a:rPr>
              <a:t>across translation</a:t>
            </a:r>
          </a:p>
        </p:txBody>
      </p:sp>
      <p:sp>
        <p:nvSpPr>
          <p:cNvPr id="938024" name="Rectangle 40"/>
          <p:cNvSpPr>
            <a:spLocks noChangeArrowheads="1"/>
          </p:cNvSpPr>
          <p:nvPr/>
        </p:nvSpPr>
        <p:spPr bwMode="auto">
          <a:xfrm>
            <a:off x="4318721" y="2131220"/>
            <a:ext cx="670120" cy="643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b="0">
                <a:latin typeface="Arial" pitchFamily="34" charset="0"/>
              </a:rPr>
              <a:t>VA</a:t>
            </a:r>
          </a:p>
          <a:p>
            <a:r>
              <a:rPr lang="en-US" b="0">
                <a:latin typeface="Arial" pitchFamily="34" charset="0"/>
              </a:rPr>
              <a:t>Tags</a:t>
            </a:r>
          </a:p>
        </p:txBody>
      </p:sp>
      <p:sp>
        <p:nvSpPr>
          <p:cNvPr id="938025" name="Rectangle 41"/>
          <p:cNvSpPr>
            <a:spLocks noChangeArrowheads="1"/>
          </p:cNvSpPr>
          <p:nvPr/>
        </p:nvSpPr>
        <p:spPr bwMode="auto">
          <a:xfrm>
            <a:off x="8863830" y="3105944"/>
            <a:ext cx="565150" cy="29845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lang="en-US" b="0">
                <a:latin typeface="Arial" pitchFamily="34" charset="0"/>
              </a:rPr>
              <a:t>L2 $</a:t>
            </a:r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012" name="Rectangle 4"/>
          <p:cNvSpPr>
            <a:spLocks noGrp="1" noChangeArrowheads="1"/>
          </p:cNvSpPr>
          <p:nvPr>
            <p:ph idx="1"/>
          </p:nvPr>
        </p:nvSpPr>
        <p:spPr>
          <a:xfrm>
            <a:off x="812800" y="1097632"/>
            <a:ext cx="10566400" cy="4419600"/>
          </a:xfrm>
          <a:noFill/>
          <a:ln/>
        </p:spPr>
        <p:txBody>
          <a:bodyPr lIns="90488" rIns="90488"/>
          <a:lstStyle/>
          <a:p>
            <a:pPr>
              <a:lnSpc>
                <a:spcPct val="80000"/>
              </a:lnSpc>
            </a:pPr>
            <a:r>
              <a:rPr lang="en-US" altLang="zh-CN" dirty="0"/>
              <a:t>Index with Physical Portion of Address</a:t>
            </a:r>
            <a:endParaRPr lang="en-US" dirty="0"/>
          </a:p>
          <a:p>
            <a:pPr lvl="1">
              <a:lnSpc>
                <a:spcPct val="80000"/>
              </a:lnSpc>
            </a:pPr>
            <a:r>
              <a:rPr lang="en-US" dirty="0"/>
              <a:t>If index is physical part of address, can start tag access in parallel with translation so that can compare to physical tag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>
              <a:lnSpc>
                <a:spcPct val="80000"/>
              </a:lnSpc>
            </a:pPr>
            <a:r>
              <a:rPr lang="en-US" dirty="0"/>
              <a:t>Limits cache to page size: what if want bigger caches and uses same trick?</a:t>
            </a:r>
            <a:endParaRPr lang="en-US" sz="1800" dirty="0"/>
          </a:p>
          <a:p>
            <a:pPr lvl="1">
              <a:lnSpc>
                <a:spcPct val="80000"/>
              </a:lnSpc>
            </a:pPr>
            <a:r>
              <a:rPr lang="en-US" dirty="0"/>
              <a:t>Higher associativity moves barrier to right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Page coloring</a:t>
            </a:r>
          </a:p>
        </p:txBody>
      </p:sp>
      <p:sp>
        <p:nvSpPr>
          <p:cNvPr id="939011" name="Rectangle 3"/>
          <p:cNvSpPr>
            <a:spLocks noGrp="1" noChangeArrowheads="1"/>
          </p:cNvSpPr>
          <p:nvPr>
            <p:ph type="title"/>
          </p:nvPr>
        </p:nvSpPr>
        <p:spPr>
          <a:xfrm>
            <a:off x="983432" y="116632"/>
            <a:ext cx="9893713" cy="818456"/>
          </a:xfrm>
          <a:noFill/>
          <a:ln/>
        </p:spPr>
        <p:txBody>
          <a:bodyPr vert="horz" lIns="90488" tIns="45720" rIns="90488" bIns="45720" rtlCol="0" anchor="ctr">
            <a:noAutofit/>
          </a:bodyPr>
          <a:lstStyle/>
          <a:p>
            <a:r>
              <a:rPr lang="en-US" dirty="0"/>
              <a:t>Fast Cache Hits by Avoiding Translation: </a:t>
            </a:r>
          </a:p>
        </p:txBody>
      </p:sp>
      <p:pic>
        <p:nvPicPr>
          <p:cNvPr id="9390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9138" y="4160168"/>
            <a:ext cx="8213725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9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9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39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39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39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39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39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39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390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390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9012" grpId="0" build="p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035" name="Rectangle 3"/>
          <p:cNvSpPr>
            <a:spLocks noGrp="1" noChangeArrowheads="1"/>
          </p:cNvSpPr>
          <p:nvPr>
            <p:ph idx="1"/>
          </p:nvPr>
        </p:nvSpPr>
        <p:spPr>
          <a:xfrm>
            <a:off x="983432" y="990600"/>
            <a:ext cx="10206086" cy="4114800"/>
          </a:xfrm>
          <a:noFill/>
          <a:ln/>
        </p:spPr>
        <p:txBody>
          <a:bodyPr lIns="90488" rIns="90488"/>
          <a:lstStyle/>
          <a:p>
            <a:pPr>
              <a:lnSpc>
                <a:spcPct val="80000"/>
              </a:lnSpc>
            </a:pPr>
            <a:r>
              <a:rPr lang="en-US" sz="2000" dirty="0"/>
              <a:t>Send virtual address to cache? Called </a:t>
            </a:r>
            <a:r>
              <a:rPr lang="en-US" sz="2000" i="1" u="sng" dirty="0">
                <a:solidFill>
                  <a:schemeClr val="hlink"/>
                </a:solidFill>
              </a:rPr>
              <a:t>Virtually Addressed Cache</a:t>
            </a:r>
            <a:r>
              <a:rPr lang="en-US" sz="2000" u="sng" dirty="0"/>
              <a:t> </a:t>
            </a:r>
            <a:r>
              <a:rPr lang="en-US" sz="2000" dirty="0"/>
              <a:t>or just </a:t>
            </a:r>
            <a:r>
              <a:rPr lang="en-US" sz="2000" i="1" u="sng" dirty="0">
                <a:solidFill>
                  <a:schemeClr val="hlink"/>
                </a:solidFill>
              </a:rPr>
              <a:t>Virtual Cache </a:t>
            </a:r>
            <a:r>
              <a:rPr lang="en-US" sz="2000" dirty="0"/>
              <a:t>vs.  </a:t>
            </a:r>
            <a:r>
              <a:rPr lang="en-US" sz="2000" i="1" u="sng" dirty="0">
                <a:solidFill>
                  <a:schemeClr val="hlink"/>
                </a:solidFill>
              </a:rPr>
              <a:t>Physical Cache</a:t>
            </a:r>
            <a:endParaRPr lang="en-US" sz="1600" dirty="0"/>
          </a:p>
          <a:p>
            <a:pPr lvl="1">
              <a:lnSpc>
                <a:spcPct val="80000"/>
              </a:lnSpc>
            </a:pPr>
            <a:r>
              <a:rPr lang="en-US" sz="1600" dirty="0"/>
              <a:t>Every time process is switched logically must flush the cache; otherwise get false hits</a:t>
            </a:r>
          </a:p>
          <a:p>
            <a:pPr lvl="2">
              <a:lnSpc>
                <a:spcPct val="80000"/>
              </a:lnSpc>
            </a:pPr>
            <a:r>
              <a:rPr lang="en-US" sz="1600" dirty="0"/>
              <a:t>Cost is time to flush + “compulsory” misses from empty cache</a:t>
            </a:r>
          </a:p>
          <a:p>
            <a:pPr lvl="2">
              <a:lnSpc>
                <a:spcPct val="80000"/>
              </a:lnSpc>
            </a:pPr>
            <a:r>
              <a:rPr lang="en-US" sz="1600" dirty="0"/>
              <a:t>Add</a:t>
            </a:r>
            <a:r>
              <a:rPr lang="en-US" sz="1600" i="1" dirty="0"/>
              <a:t> </a:t>
            </a:r>
            <a:r>
              <a:rPr lang="en-US" sz="1600" i="1" u="sng" dirty="0">
                <a:solidFill>
                  <a:schemeClr val="hlink"/>
                </a:solidFill>
              </a:rPr>
              <a:t>process identifier tag</a:t>
            </a:r>
            <a:r>
              <a:rPr lang="en-US" sz="1600" u="sng" dirty="0">
                <a:solidFill>
                  <a:schemeClr val="hlink"/>
                </a:solidFill>
              </a:rPr>
              <a:t> </a:t>
            </a:r>
            <a:r>
              <a:rPr lang="en-US" sz="1600" dirty="0"/>
              <a:t>that identifies process as well as address within process: can’t get a hit if wrong process</a:t>
            </a:r>
          </a:p>
          <a:p>
            <a:pPr lvl="2">
              <a:lnSpc>
                <a:spcPct val="80000"/>
              </a:lnSpc>
            </a:pP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2000" dirty="0"/>
              <a:t>Dealing with </a:t>
            </a:r>
            <a:r>
              <a:rPr lang="en-US" sz="2000" i="1" u="sng" dirty="0">
                <a:solidFill>
                  <a:schemeClr val="hlink"/>
                </a:solidFill>
              </a:rPr>
              <a:t>aliases</a:t>
            </a:r>
            <a:r>
              <a:rPr lang="en-US" sz="2000" i="1" dirty="0">
                <a:solidFill>
                  <a:schemeClr val="hlink"/>
                </a:solidFill>
              </a:rPr>
              <a:t> </a:t>
            </a:r>
            <a:r>
              <a:rPr lang="en-US" sz="2000" dirty="0"/>
              <a:t>(sometimes called </a:t>
            </a:r>
            <a:r>
              <a:rPr lang="en-US" sz="2000" i="1" u="sng" dirty="0">
                <a:solidFill>
                  <a:schemeClr val="hlink"/>
                </a:solidFill>
              </a:rPr>
              <a:t>synonyms</a:t>
            </a:r>
            <a:r>
              <a:rPr lang="en-US" sz="2000" dirty="0"/>
              <a:t>); </a:t>
            </a:r>
            <a:br>
              <a:rPr lang="en-US" sz="2000" dirty="0"/>
            </a:br>
            <a:r>
              <a:rPr lang="en-US" sz="2000" dirty="0"/>
              <a:t>Two different virtual addresses map  to same physical address</a:t>
            </a:r>
          </a:p>
          <a:p>
            <a:pPr>
              <a:lnSpc>
                <a:spcPct val="80000"/>
              </a:lnSpc>
            </a:pPr>
            <a:endParaRPr lang="en-US" sz="1600" dirty="0"/>
          </a:p>
          <a:p>
            <a:pPr lvl="1">
              <a:lnSpc>
                <a:spcPct val="80000"/>
              </a:lnSpc>
            </a:pPr>
            <a:r>
              <a:rPr lang="en-US" dirty="0"/>
              <a:t>solve by fiat: no aliasing!   What are the implications?</a:t>
            </a:r>
          </a:p>
          <a:p>
            <a:pPr>
              <a:lnSpc>
                <a:spcPct val="80000"/>
              </a:lnSpc>
            </a:pPr>
            <a:endParaRPr lang="en-US" sz="1800" dirty="0"/>
          </a:p>
          <a:p>
            <a:pPr lvl="1">
              <a:lnSpc>
                <a:spcPct val="80000"/>
              </a:lnSpc>
            </a:pPr>
            <a:r>
              <a:rPr lang="en-US" sz="1600" dirty="0"/>
              <a:t>HW antialiasing: guarantees every cache block has unique address</a:t>
            </a:r>
          </a:p>
          <a:p>
            <a:pPr lvl="2">
              <a:lnSpc>
                <a:spcPct val="80000"/>
              </a:lnSpc>
            </a:pPr>
            <a:r>
              <a:rPr lang="en-US" sz="1600" dirty="0"/>
              <a:t>verify on miss (rather than on every hit)</a:t>
            </a:r>
          </a:p>
          <a:p>
            <a:pPr lvl="2">
              <a:lnSpc>
                <a:spcPct val="80000"/>
              </a:lnSpc>
            </a:pPr>
            <a:r>
              <a:rPr lang="en-US" sz="1600" dirty="0"/>
              <a:t>cache set size	&lt;= page size ?</a:t>
            </a:r>
          </a:p>
          <a:p>
            <a:pPr lvl="2">
              <a:lnSpc>
                <a:spcPct val="80000"/>
              </a:lnSpc>
            </a:pPr>
            <a:r>
              <a:rPr lang="en-US" sz="1600" dirty="0"/>
              <a:t>what if it gets larger?</a:t>
            </a:r>
          </a:p>
          <a:p>
            <a:pPr lvl="1">
              <a:lnSpc>
                <a:spcPct val="80000"/>
              </a:lnSpc>
            </a:pPr>
            <a:r>
              <a:rPr lang="en-US" sz="1600" dirty="0"/>
              <a:t>How can SW simplify the problem?  (called </a:t>
            </a:r>
            <a:r>
              <a:rPr lang="en-US" sz="1600" i="1" u="sng" dirty="0">
                <a:solidFill>
                  <a:schemeClr val="hlink"/>
                </a:solidFill>
              </a:rPr>
              <a:t>page coloring)</a:t>
            </a:r>
            <a:endParaRPr lang="en-US" sz="1600" dirty="0"/>
          </a:p>
          <a:p>
            <a:pPr>
              <a:lnSpc>
                <a:spcPct val="80000"/>
              </a:lnSpc>
              <a:buFontTx/>
              <a:buNone/>
            </a:pPr>
            <a:endParaRPr lang="en-US" sz="1600" dirty="0"/>
          </a:p>
          <a:p>
            <a:pPr>
              <a:lnSpc>
                <a:spcPct val="80000"/>
              </a:lnSpc>
              <a:buFontTx/>
              <a:buNone/>
            </a:pPr>
            <a:endParaRPr lang="en-US" sz="1600" dirty="0"/>
          </a:p>
          <a:p>
            <a:pPr lvl="1">
              <a:lnSpc>
                <a:spcPct val="80000"/>
              </a:lnSpc>
            </a:pPr>
            <a:r>
              <a:rPr lang="en-US" sz="1600" dirty="0"/>
              <a:t>I/O must interact with cache, so need virtual address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600" dirty="0"/>
          </a:p>
          <a:p>
            <a:pPr lvl="1">
              <a:lnSpc>
                <a:spcPct val="80000"/>
              </a:lnSpc>
            </a:pPr>
            <a:endParaRPr lang="en-US" sz="1600" dirty="0"/>
          </a:p>
        </p:txBody>
      </p:sp>
      <p:sp>
        <p:nvSpPr>
          <p:cNvPr id="940034" name="Rectangle 2"/>
          <p:cNvSpPr>
            <a:spLocks noGrp="1" noChangeArrowheads="1"/>
          </p:cNvSpPr>
          <p:nvPr>
            <p:ph type="title"/>
          </p:nvPr>
        </p:nvSpPr>
        <p:spPr>
          <a:xfrm>
            <a:off x="983432" y="76200"/>
            <a:ext cx="9684568" cy="781050"/>
          </a:xfrm>
          <a:noFill/>
          <a:ln/>
        </p:spPr>
        <p:txBody>
          <a:bodyPr vert="horz" lIns="90488" tIns="45720" rIns="90488" bIns="45720" rtlCol="0" anchor="ctr">
            <a:noAutofit/>
          </a:bodyPr>
          <a:lstStyle/>
          <a:p>
            <a:r>
              <a:rPr lang="en-US" sz="3000" dirty="0"/>
              <a:t>Fast hits by Avoiding Address Translation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0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0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40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40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40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40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40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40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40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40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40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40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40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40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40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40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40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40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400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400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400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400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4003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4003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0035" grpId="0" build="p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058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Pipelined Cache Access</a:t>
            </a:r>
          </a:p>
          <a:p>
            <a:pPr lvl="1"/>
            <a:r>
              <a:rPr lang="en-US" altLang="zh-CN" dirty="0"/>
              <a:t>The second stage of the write (cache is updated with new data) occurs during the first stage of the next write. </a:t>
            </a:r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Write hits take longer than read hits because tag checking is required before the data is written. </a:t>
            </a:r>
          </a:p>
          <a:p>
            <a:pPr lvl="1"/>
            <a:r>
              <a:rPr lang="en-US" altLang="zh-CN" dirty="0"/>
              <a:t>Allows tag checking and data writing to occur simultaneously. </a:t>
            </a:r>
          </a:p>
          <a:p>
            <a:endParaRPr lang="en-US" dirty="0"/>
          </a:p>
        </p:txBody>
      </p:sp>
      <p:sp>
        <p:nvSpPr>
          <p:cNvPr id="94106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 Hit Time Reduction Technique: </a:t>
            </a:r>
          </a:p>
        </p:txBody>
      </p:sp>
      <p:pic>
        <p:nvPicPr>
          <p:cNvPr id="9410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101" y="947068"/>
            <a:ext cx="8305800" cy="5715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Trace caches</a:t>
            </a:r>
          </a:p>
          <a:p>
            <a:pPr lvl="1"/>
            <a:r>
              <a:rPr lang="en-US" altLang="zh-CN" dirty="0"/>
              <a:t>Instead of limiting the instructions in a static cache block to spatial locality, a trace cache finds a dynamic sequence of instructions including taken branches to load a cache block.</a:t>
            </a:r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The cache blocks contains dynamic traces of the executed instructions as determined by CPU rather than containing static sequences of instructions as determined by memory.</a:t>
            </a:r>
          </a:p>
          <a:p>
            <a:pPr lvl="2"/>
            <a:r>
              <a:rPr lang="en-US" altLang="zh-CN" dirty="0"/>
              <a:t>The branch prediction is folded into the cache and must be validated alone with this addresses to have a valid fetch.</a:t>
            </a:r>
          </a:p>
        </p:txBody>
      </p:sp>
      <p:sp>
        <p:nvSpPr>
          <p:cNvPr id="942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Fourth Hit Time Reduction Technique: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107" name="Rectangle 3"/>
          <p:cNvSpPr>
            <a:spLocks noGrp="1" noChangeArrowheads="1"/>
          </p:cNvSpPr>
          <p:nvPr>
            <p:ph idx="1"/>
          </p:nvPr>
        </p:nvSpPr>
        <p:spPr>
          <a:xfrm>
            <a:off x="882172" y="2276872"/>
            <a:ext cx="10019288" cy="44196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1.Reduce Hit Time via Small and Simple Caches</a:t>
            </a:r>
            <a:endParaRPr lang="en-US" altLang="zh-CN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2.Reduce Hit Time via Avoiding Address Translation during Indexing of the Cache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3. Reduce Hit Time via pipelined Cache Access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dirty="0"/>
              <a:t>4. Reduce Hit Time via Trace </a:t>
            </a:r>
            <a:r>
              <a:rPr lang="en-US" altLang="zh-CN" dirty="0"/>
              <a:t>c</a:t>
            </a:r>
            <a:r>
              <a:rPr lang="en-US" dirty="0"/>
              <a:t>aches</a:t>
            </a:r>
          </a:p>
        </p:txBody>
      </p:sp>
      <p:sp>
        <p:nvSpPr>
          <p:cNvPr id="943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Summary: Reducing Hit Time</a:t>
            </a:r>
          </a:p>
        </p:txBody>
      </p:sp>
      <p:sp>
        <p:nvSpPr>
          <p:cNvPr id="943108" name="Oval 4"/>
          <p:cNvSpPr>
            <a:spLocks noChangeArrowheads="1"/>
          </p:cNvSpPr>
          <p:nvPr/>
        </p:nvSpPr>
        <p:spPr bwMode="auto">
          <a:xfrm>
            <a:off x="3657600" y="1371600"/>
            <a:ext cx="1676400" cy="6096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43109" name="Object 5"/>
          <p:cNvGraphicFramePr>
            <a:graphicFrameLocks noChangeAspect="1"/>
          </p:cNvGraphicFramePr>
          <p:nvPr/>
        </p:nvGraphicFramePr>
        <p:xfrm>
          <a:off x="1905000" y="1447801"/>
          <a:ext cx="81534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1" name="Equation" r:id="rId3" imgW="4267080" imgH="266400" progId="Equation.3">
                  <p:embed/>
                </p:oleObj>
              </mc:Choice>
              <mc:Fallback>
                <p:oleObj name="Equation" r:id="rId3" imgW="4267080" imgH="266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447801"/>
                        <a:ext cx="815340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131" name="Rectangle 3"/>
          <p:cNvSpPr>
            <a:spLocks noGrp="1" noChangeArrowheads="1"/>
          </p:cNvSpPr>
          <p:nvPr>
            <p:ph idx="1"/>
          </p:nvPr>
        </p:nvSpPr>
        <p:spPr>
          <a:xfrm>
            <a:off x="1775520" y="914400"/>
            <a:ext cx="9145016" cy="57912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800" i="1" dirty="0">
                <a:solidFill>
                  <a:schemeClr val="hlink"/>
                </a:solidFill>
              </a:rPr>
              <a:t>Technique			 	MP 	MR	HT Complexity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solidFill>
                  <a:schemeClr val="hlink"/>
                </a:solidFill>
              </a:rPr>
              <a:t>1</a:t>
            </a:r>
            <a:r>
              <a:rPr lang="en-US" sz="1800" dirty="0"/>
              <a:t>.Multilevel caches			+			2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solidFill>
                  <a:schemeClr val="hlink"/>
                </a:solidFill>
              </a:rPr>
              <a:t>2</a:t>
            </a:r>
            <a:r>
              <a:rPr lang="en-US" sz="1800" dirty="0"/>
              <a:t>.Early Restart &amp; Critical Word 1st 		+			2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solidFill>
                  <a:schemeClr val="hlink"/>
                </a:solidFill>
              </a:rPr>
              <a:t>3</a:t>
            </a:r>
            <a:r>
              <a:rPr lang="en-US" sz="1800" dirty="0"/>
              <a:t>.Priority to Read Misses			+			1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 dirty="0">
                <a:solidFill>
                  <a:schemeClr val="hlink"/>
                </a:solidFill>
                <a:ea typeface="宋体" pitchFamily="2" charset="-122"/>
              </a:rPr>
              <a:t>4</a:t>
            </a:r>
            <a:r>
              <a:rPr lang="en-US" altLang="zh-CN" sz="1800" dirty="0">
                <a:ea typeface="宋体" pitchFamily="2" charset="-122"/>
              </a:rPr>
              <a:t>.Merging write buffer			+			1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 dirty="0">
                <a:solidFill>
                  <a:schemeClr val="hlink"/>
                </a:solidFill>
                <a:ea typeface="宋体" pitchFamily="2" charset="-122"/>
              </a:rPr>
              <a:t>5</a:t>
            </a:r>
            <a:r>
              <a:rPr lang="en-US" altLang="zh-CN" sz="1800" dirty="0">
                <a:ea typeface="宋体" pitchFamily="2" charset="-122"/>
              </a:rPr>
              <a:t>.Victim caches				+	+		2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 dirty="0">
                <a:solidFill>
                  <a:schemeClr val="hlink"/>
                </a:solidFill>
                <a:ea typeface="宋体" pitchFamily="2" charset="-122"/>
              </a:rPr>
              <a:t>6</a:t>
            </a:r>
            <a:r>
              <a:rPr lang="en-US" altLang="zh-CN" sz="1800" dirty="0">
                <a:ea typeface="宋体" pitchFamily="2" charset="-122"/>
              </a:rPr>
              <a:t>.Larger block size			-	+		0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 dirty="0">
                <a:solidFill>
                  <a:schemeClr val="hlink"/>
                </a:solidFill>
                <a:ea typeface="宋体" pitchFamily="2" charset="-122"/>
              </a:rPr>
              <a:t>7</a:t>
            </a:r>
            <a:r>
              <a:rPr lang="en-US" altLang="zh-CN" sz="1800" dirty="0">
                <a:ea typeface="宋体" pitchFamily="2" charset="-122"/>
              </a:rPr>
              <a:t>.Larger cache size				+	</a:t>
            </a:r>
            <a:r>
              <a:rPr lang="en-US" sz="1800" dirty="0"/>
              <a:t>-</a:t>
            </a:r>
            <a:r>
              <a:rPr lang="en-US" altLang="zh-CN" sz="1800" dirty="0">
                <a:ea typeface="宋体" pitchFamily="2" charset="-122"/>
              </a:rPr>
              <a:t> 	1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solidFill>
                  <a:schemeClr val="hlink"/>
                </a:solidFill>
              </a:rPr>
              <a:t>8</a:t>
            </a:r>
            <a:r>
              <a:rPr lang="en-US" sz="1800" dirty="0"/>
              <a:t>.Higher Associativity				+	-	1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 dirty="0">
                <a:solidFill>
                  <a:schemeClr val="hlink"/>
                </a:solidFill>
                <a:ea typeface="宋体" pitchFamily="2" charset="-122"/>
              </a:rPr>
              <a:t>9</a:t>
            </a:r>
            <a:r>
              <a:rPr lang="en-US" altLang="zh-CN" sz="1800" dirty="0">
                <a:ea typeface="宋体" pitchFamily="2" charset="-122"/>
              </a:rPr>
              <a:t>.Way-predicting cache and </a:t>
            </a:r>
            <a:r>
              <a:rPr lang="en-US" sz="1800" dirty="0"/>
              <a:t>Pseudo-associative caches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 dirty="0">
                <a:ea typeface="宋体" pitchFamily="2" charset="-122"/>
              </a:rPr>
              <a:t>							+		2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solidFill>
                  <a:schemeClr val="hlink"/>
                </a:solidFill>
              </a:rPr>
              <a:t>10</a:t>
            </a:r>
            <a:r>
              <a:rPr lang="en-US" sz="1800" dirty="0"/>
              <a:t>.Compiler techniques reduce cache misses	+		0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solidFill>
                  <a:schemeClr val="hlink"/>
                </a:solidFill>
              </a:rPr>
              <a:t>11</a:t>
            </a:r>
            <a:r>
              <a:rPr lang="en-US" sz="1800" dirty="0"/>
              <a:t>.Non-Blocking Caches			+	+		3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solidFill>
                  <a:schemeClr val="hlink"/>
                </a:solidFill>
              </a:rPr>
              <a:t>12</a:t>
            </a:r>
            <a:r>
              <a:rPr lang="en-US" sz="1800" dirty="0"/>
              <a:t>.HW Prefetching of </a:t>
            </a:r>
            <a:r>
              <a:rPr lang="en-US" sz="1800" dirty="0" err="1"/>
              <a:t>Instr</a:t>
            </a:r>
            <a:r>
              <a:rPr lang="en-US" sz="1800" dirty="0"/>
              <a:t>/Data		+	+	2instr./3data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solidFill>
                  <a:schemeClr val="hlink"/>
                </a:solidFill>
              </a:rPr>
              <a:t>13</a:t>
            </a:r>
            <a:r>
              <a:rPr lang="en-US" sz="1800" dirty="0"/>
              <a:t>.Compiler Controlled Prefetching		+	+		3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solidFill>
                  <a:schemeClr val="hlink"/>
                </a:solidFill>
              </a:rPr>
              <a:t>14.</a:t>
            </a:r>
            <a:r>
              <a:rPr lang="en-US" sz="1800" dirty="0"/>
              <a:t>Small &amp; Simple Caches				</a:t>
            </a:r>
            <a:r>
              <a:rPr lang="en-US" altLang="zh-CN" sz="1800" dirty="0"/>
              <a:t> - </a:t>
            </a:r>
            <a:r>
              <a:rPr lang="en-US" sz="1800" dirty="0"/>
              <a:t>	</a:t>
            </a:r>
            <a:r>
              <a:rPr lang="en-US" altLang="zh-CN" sz="1800" dirty="0"/>
              <a:t> + </a:t>
            </a:r>
            <a:r>
              <a:rPr lang="en-US" sz="1800" dirty="0"/>
              <a:t>	</a:t>
            </a:r>
            <a:r>
              <a:rPr lang="en-US" sz="1800" b="1" dirty="0"/>
              <a:t>0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solidFill>
                  <a:schemeClr val="hlink"/>
                </a:solidFill>
              </a:rPr>
              <a:t>15</a:t>
            </a:r>
            <a:r>
              <a:rPr lang="en-US" sz="1800" dirty="0"/>
              <a:t>.Avoiding Address Translation				+	2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>
                <a:solidFill>
                  <a:schemeClr val="hlink"/>
                </a:solidFill>
              </a:rPr>
              <a:t>16</a:t>
            </a:r>
            <a:r>
              <a:rPr lang="en-US" sz="1800" dirty="0"/>
              <a:t>.Pipelined Cache Access				+	1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 dirty="0">
                <a:solidFill>
                  <a:schemeClr val="hlink"/>
                </a:solidFill>
                <a:ea typeface="宋体" pitchFamily="2" charset="-122"/>
              </a:rPr>
              <a:t>17</a:t>
            </a:r>
            <a:r>
              <a:rPr lang="en-US" altLang="zh-CN" sz="1800" dirty="0">
                <a:ea typeface="宋体" pitchFamily="2" charset="-122"/>
              </a:rPr>
              <a:t>.Trace cache						+	3</a:t>
            </a:r>
          </a:p>
        </p:txBody>
      </p:sp>
      <p:sp>
        <p:nvSpPr>
          <p:cNvPr id="944130" name="Rectangle 2"/>
          <p:cNvSpPr>
            <a:spLocks noGrp="1" noChangeArrowheads="1"/>
          </p:cNvSpPr>
          <p:nvPr>
            <p:ph type="title"/>
          </p:nvPr>
        </p:nvSpPr>
        <p:spPr>
          <a:xfrm>
            <a:off x="998190" y="134518"/>
            <a:ext cx="8372178" cy="685800"/>
          </a:xfrm>
        </p:spPr>
        <p:txBody>
          <a:bodyPr/>
          <a:lstStyle/>
          <a:p>
            <a:r>
              <a:rPr lang="en-US" dirty="0"/>
              <a:t>Cache Optimization Summary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944132" name="Rectangle 4"/>
          <p:cNvSpPr>
            <a:spLocks noChangeArrowheads="1"/>
          </p:cNvSpPr>
          <p:nvPr/>
        </p:nvSpPr>
        <p:spPr bwMode="auto">
          <a:xfrm rot="16200000">
            <a:off x="845904" y="1422631"/>
            <a:ext cx="1009893" cy="705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dirty="0">
                <a:solidFill>
                  <a:schemeClr val="hlink"/>
                </a:solidFill>
                <a:latin typeface="Arial" pitchFamily="34" charset="0"/>
              </a:rPr>
              <a:t>miss</a:t>
            </a:r>
          </a:p>
          <a:p>
            <a:r>
              <a:rPr lang="en-US" sz="2000" dirty="0">
                <a:solidFill>
                  <a:schemeClr val="hlink"/>
                </a:solidFill>
                <a:latin typeface="Arial" pitchFamily="34" charset="0"/>
              </a:rPr>
              <a:t>penalty</a:t>
            </a:r>
          </a:p>
        </p:txBody>
      </p:sp>
      <p:sp>
        <p:nvSpPr>
          <p:cNvPr id="944133" name="Line 5"/>
          <p:cNvSpPr>
            <a:spLocks noChangeShapeType="1"/>
          </p:cNvSpPr>
          <p:nvPr/>
        </p:nvSpPr>
        <p:spPr bwMode="auto">
          <a:xfrm>
            <a:off x="1920874" y="2564904"/>
            <a:ext cx="860425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4134" name="Line 6"/>
          <p:cNvSpPr>
            <a:spLocks noChangeShapeType="1"/>
          </p:cNvSpPr>
          <p:nvPr/>
        </p:nvSpPr>
        <p:spPr bwMode="auto">
          <a:xfrm>
            <a:off x="1919536" y="5013176"/>
            <a:ext cx="860425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4135" name="Rectangle 7"/>
          <p:cNvSpPr>
            <a:spLocks noChangeArrowheads="1"/>
          </p:cNvSpPr>
          <p:nvPr/>
        </p:nvSpPr>
        <p:spPr bwMode="auto">
          <a:xfrm rot="16200000">
            <a:off x="893994" y="2976876"/>
            <a:ext cx="1221489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/>
            <a:r>
              <a:rPr lang="en-US" sz="2000" dirty="0">
                <a:solidFill>
                  <a:schemeClr val="hlink"/>
                </a:solidFill>
                <a:latin typeface="Arial" pitchFamily="34" charset="0"/>
              </a:rPr>
              <a:t>miss rate</a:t>
            </a:r>
          </a:p>
        </p:txBody>
      </p:sp>
      <p:sp>
        <p:nvSpPr>
          <p:cNvPr id="944136" name="Rectangle 8"/>
          <p:cNvSpPr>
            <a:spLocks noChangeArrowheads="1"/>
          </p:cNvSpPr>
          <p:nvPr/>
        </p:nvSpPr>
        <p:spPr bwMode="auto">
          <a:xfrm rot="16200000">
            <a:off x="1000593" y="5453367"/>
            <a:ext cx="1008290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/>
            <a:r>
              <a:rPr lang="en-US" sz="2000" dirty="0">
                <a:solidFill>
                  <a:schemeClr val="hlink"/>
                </a:solidFill>
                <a:latin typeface="Arial" pitchFamily="34" charset="0"/>
              </a:rPr>
              <a:t>hit time</a:t>
            </a:r>
          </a:p>
        </p:txBody>
      </p:sp>
      <p:sp>
        <p:nvSpPr>
          <p:cNvPr id="944137" name="Line 9"/>
          <p:cNvSpPr>
            <a:spLocks noChangeShapeType="1"/>
          </p:cNvSpPr>
          <p:nvPr/>
        </p:nvSpPr>
        <p:spPr bwMode="auto">
          <a:xfrm>
            <a:off x="1919536" y="4191000"/>
            <a:ext cx="860425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944138" name="Rectangle 10"/>
          <p:cNvSpPr>
            <a:spLocks noChangeArrowheads="1"/>
          </p:cNvSpPr>
          <p:nvPr/>
        </p:nvSpPr>
        <p:spPr bwMode="auto">
          <a:xfrm rot="16200000">
            <a:off x="799416" y="4297477"/>
            <a:ext cx="1410644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/>
            <a:r>
              <a:rPr lang="en-US" sz="2000" dirty="0">
                <a:solidFill>
                  <a:schemeClr val="hlink"/>
                </a:solidFill>
                <a:latin typeface="Arial" pitchFamily="34" charset="0"/>
              </a:rPr>
              <a:t>parallelism</a:t>
            </a:r>
          </a:p>
        </p:txBody>
      </p:sp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154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To be continued</a:t>
            </a:r>
          </a:p>
        </p:txBody>
      </p:sp>
      <p:sp>
        <p:nvSpPr>
          <p:cNvPr id="94515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5.8 </a:t>
            </a:r>
            <a:r>
              <a:rPr lang="en-US" altLang="zh-CN" sz="2000" dirty="0"/>
              <a:t>Main Memory and Organizations for Improving Performance</a:t>
            </a:r>
          </a:p>
        </p:txBody>
      </p:sp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31504" y="1268760"/>
            <a:ext cx="9036496" cy="4752528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000" b="1"/>
              <a:t>THANK YOU </a:t>
            </a:r>
            <a:endParaRPr lang="en-US" altLang="zh-CN" sz="20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4727848" y="2760068"/>
            <a:ext cx="27363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4EA2"/>
                </a:solidFill>
              </a:rPr>
              <a:t>THANK YOU</a:t>
            </a:r>
          </a:p>
          <a:p>
            <a:endParaRPr lang="en-US" altLang="zh-CN" sz="3200" b="1" dirty="0">
              <a:solidFill>
                <a:srgbClr val="004EA2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3739415"/>
            <a:ext cx="12192000" cy="2940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3" rIns="85683" bIns="4284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endParaRPr lang="en-US" altLang="zh-CN" sz="4123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>
            <a:off x="5939809" y="3551764"/>
            <a:ext cx="312387" cy="187653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3" rIns="85683" bIns="4284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81"/>
          </a:p>
        </p:txBody>
      </p:sp>
      <p:sp>
        <p:nvSpPr>
          <p:cNvPr id="9" name="矩形 8"/>
          <p:cNvSpPr/>
          <p:nvPr/>
        </p:nvSpPr>
        <p:spPr>
          <a:xfrm>
            <a:off x="0" y="4135388"/>
            <a:ext cx="12191998" cy="857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3" rIns="85683" bIns="4284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endParaRPr lang="en-US" altLang="zh-CN" sz="4123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6080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 additive="base" accumulate="none">
                                        <p:cTn id="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500000" y="500000"/>
                                      <p:to x="120000" y="120000"/>
                                    </p:animScale>
                                    <p:animScale>
                                      <p:cBhvr additive="base" accumulate="none">
                                        <p:cTn id="9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20000" y="1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 additive="base" accumulate="none">
                                        <p:cTn id="1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500000" y="500000"/>
                                      <p:to x="120000" y="120000"/>
                                    </p:animScale>
                                    <p:animScale>
                                      <p:cBhvr additive="base" accumulate="none">
                                        <p:cTn id="20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20000" y="1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射线">
  <a:themeElements>
    <a:clrScheme name="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射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v5_arch10</Template>
  <TotalTime>17069</TotalTime>
  <Pages>61</Pages>
  <Words>8044</Words>
  <Application>Microsoft Office PowerPoint</Application>
  <PresentationFormat>宽屏</PresentationFormat>
  <Paragraphs>977</Paragraphs>
  <Slides>71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71</vt:i4>
      </vt:variant>
    </vt:vector>
  </HeadingPairs>
  <TitlesOfParts>
    <vt:vector size="89" baseType="lpstr">
      <vt:lpstr>CG Omega</vt:lpstr>
      <vt:lpstr>Courier</vt:lpstr>
      <vt:lpstr>Geneva</vt:lpstr>
      <vt:lpstr>Palatino</vt:lpstr>
      <vt:lpstr>黑体</vt:lpstr>
      <vt:lpstr>微软雅黑</vt:lpstr>
      <vt:lpstr>Arial</vt:lpstr>
      <vt:lpstr>Comic Sans MS</vt:lpstr>
      <vt:lpstr>Courier New</vt:lpstr>
      <vt:lpstr>Symbol</vt:lpstr>
      <vt:lpstr>Tahoma</vt:lpstr>
      <vt:lpstr>Times</vt:lpstr>
      <vt:lpstr>Times New Roman</vt:lpstr>
      <vt:lpstr>Wingdings</vt:lpstr>
      <vt:lpstr>射线</vt:lpstr>
      <vt:lpstr>Equation</vt:lpstr>
      <vt:lpstr>位图图像</vt:lpstr>
      <vt:lpstr>Chart</vt:lpstr>
      <vt:lpstr>Computer Architecture  ----A Quantitative Approach</vt:lpstr>
      <vt:lpstr>5.4 Reducing Cache miss penalty</vt:lpstr>
      <vt:lpstr>First Miss Penalty Reduction Technique:</vt:lpstr>
      <vt:lpstr>Parameter about Multilevel cache</vt:lpstr>
      <vt:lpstr>Memory stall per instruction </vt:lpstr>
      <vt:lpstr>Example7: Multilevel cache</vt:lpstr>
      <vt:lpstr>Example8: Multilevel cache</vt:lpstr>
      <vt:lpstr>Second Miss Penalty Reduction Technique:</vt:lpstr>
      <vt:lpstr>Example9: Critical Word First</vt:lpstr>
      <vt:lpstr>Third Miss Penalty Reduction Technique:</vt:lpstr>
      <vt:lpstr>Example10: Giving Priority to Read Misses over Writes</vt:lpstr>
      <vt:lpstr>Fourth Miss Penalty Reduction Technique: </vt:lpstr>
      <vt:lpstr>Fifth Miss Penalty Reduction Technique: </vt:lpstr>
      <vt:lpstr>How to combine victim Cache</vt:lpstr>
      <vt:lpstr>Summary: Miss Penalty Reduction</vt:lpstr>
      <vt:lpstr>5.5 Reducing  miss rate</vt:lpstr>
      <vt:lpstr>Where do misses come from?</vt:lpstr>
      <vt:lpstr>3Cs Absolute Miss Rate (SPEC92)</vt:lpstr>
      <vt:lpstr>3Cs Relative Miss Rate</vt:lpstr>
      <vt:lpstr>Reducing Cache Miss Rate</vt:lpstr>
      <vt:lpstr>Cache Organization?</vt:lpstr>
      <vt:lpstr>First Miss Rate Reduction Technique</vt:lpstr>
      <vt:lpstr>The performance curve is U-shaped </vt:lpstr>
      <vt:lpstr>Example11: Larger Block Size</vt:lpstr>
      <vt:lpstr>Example11: Larger Block Size-2</vt:lpstr>
      <vt:lpstr>Second Miss Rate Reduction Technique</vt:lpstr>
      <vt:lpstr>PowerPoint 演示文稿</vt:lpstr>
      <vt:lpstr>Huge Caches =&gt; Working Sets</vt:lpstr>
      <vt:lpstr>Third Miss Rate Reduction Technique:</vt:lpstr>
      <vt:lpstr>Associativity</vt:lpstr>
      <vt:lpstr>Associativity vs Cycle Time</vt:lpstr>
      <vt:lpstr>Example12: Higher Associativity</vt:lpstr>
      <vt:lpstr>Example12: Higher Associativity-2</vt:lpstr>
      <vt:lpstr>Fourth Miss Rate Reduction Technique:</vt:lpstr>
      <vt:lpstr>Pseudo-Associative Cache (column associative)</vt:lpstr>
      <vt:lpstr>Fifth Miss Rate Reduction Technique:</vt:lpstr>
      <vt:lpstr>①Loop Interchange</vt:lpstr>
      <vt:lpstr>② Unoptimized Matrix Multiplication </vt:lpstr>
      <vt:lpstr>Blocking optimized Matrix Multiplication </vt:lpstr>
      <vt:lpstr>PowerPoint 演示文稿</vt:lpstr>
      <vt:lpstr>Reducing Conflict Misses by Blocking</vt:lpstr>
      <vt:lpstr>③Loop Fusion</vt:lpstr>
      <vt:lpstr>④Merging Arrays</vt:lpstr>
      <vt:lpstr>Summary of Compiler Optimizations to Reduce Cache Misses (by hand)</vt:lpstr>
      <vt:lpstr>Summary: Miss Rate Reduction</vt:lpstr>
      <vt:lpstr>5.6  Reduce Cache Miss Penalty or Miss Rate via Parallelism</vt:lpstr>
      <vt:lpstr>First Miss Penalty/Rate Reduction Technique: </vt:lpstr>
      <vt:lpstr>Ratio of the average memory stall time for a blocking cache to hit-under-miss schemes as the number of outstanding misses is varied for 18 SPEC92 programs.</vt:lpstr>
      <vt:lpstr>Example13: Nonblocking</vt:lpstr>
      <vt:lpstr>Second Miss Penalty/Rate Reduction Technique: </vt:lpstr>
      <vt:lpstr>Third Miss Penalty/Rate Reduction Technique: </vt:lpstr>
      <vt:lpstr>Example13: Compiler-controlled prefetch</vt:lpstr>
      <vt:lpstr>Example13: Compiler-controlled prefetch-2</vt:lpstr>
      <vt:lpstr>Example13: Compiler-controlled prefetch-3</vt:lpstr>
      <vt:lpstr>Example13: Compiler-controlled prefetch-4</vt:lpstr>
      <vt:lpstr>Summary: Reduce Cache Miss Penalty or Miss Rate via Parallelism</vt:lpstr>
      <vt:lpstr>5.7  Reducing Hit Time</vt:lpstr>
      <vt:lpstr>First Hit Time Reduction Technique: </vt:lpstr>
      <vt:lpstr>Second Hit Time Reduction Technique: </vt:lpstr>
      <vt:lpstr>a virtual address to a physical address</vt:lpstr>
      <vt:lpstr>TLBs</vt:lpstr>
      <vt:lpstr>Translation Look-Aside Buffers</vt:lpstr>
      <vt:lpstr>Fast hits by Avoiding Address Translation </vt:lpstr>
      <vt:lpstr>Fast Cache Hits by Avoiding Translation: </vt:lpstr>
      <vt:lpstr>Fast hits by Avoiding Address Translation</vt:lpstr>
      <vt:lpstr>Third Hit Time Reduction Technique: </vt:lpstr>
      <vt:lpstr>Fourth Hit Time Reduction Technique:</vt:lpstr>
      <vt:lpstr>Summary: Reducing Hit Time</vt:lpstr>
      <vt:lpstr>Cache Optimization Summary</vt:lpstr>
      <vt:lpstr>5.8 Main Memory and Organizations for Improving Performance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</dc:title>
  <dc:creator>wzchen</dc:creator>
  <cp:lastModifiedBy>宋 天泽</cp:lastModifiedBy>
  <cp:revision>399</cp:revision>
  <cp:lastPrinted>1999-10-22T19:54:41Z</cp:lastPrinted>
  <dcterms:created xsi:type="dcterms:W3CDTF">1996-09-04T07:14:34Z</dcterms:created>
  <dcterms:modified xsi:type="dcterms:W3CDTF">2024-09-05T12:36:00Z</dcterms:modified>
</cp:coreProperties>
</file>