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notesMasterIdLst>
    <p:notesMasterId r:id="rId66"/>
  </p:notesMasterIdLst>
  <p:handoutMasterIdLst>
    <p:handoutMasterId r:id="rId67"/>
  </p:handoutMasterIdLst>
  <p:sldIdLst>
    <p:sldId id="510" r:id="rId2"/>
    <p:sldId id="259" r:id="rId3"/>
    <p:sldId id="260" r:id="rId4"/>
    <p:sldId id="261" r:id="rId5"/>
    <p:sldId id="262" r:id="rId6"/>
    <p:sldId id="348" r:id="rId7"/>
    <p:sldId id="263" r:id="rId8"/>
    <p:sldId id="265" r:id="rId9"/>
    <p:sldId id="349" r:id="rId10"/>
    <p:sldId id="350" r:id="rId11"/>
    <p:sldId id="266" r:id="rId12"/>
    <p:sldId id="267" r:id="rId13"/>
    <p:sldId id="270" r:id="rId14"/>
    <p:sldId id="308" r:id="rId15"/>
    <p:sldId id="309" r:id="rId16"/>
    <p:sldId id="310" r:id="rId17"/>
    <p:sldId id="311" r:id="rId18"/>
    <p:sldId id="312" r:id="rId19"/>
    <p:sldId id="271" r:id="rId20"/>
    <p:sldId id="272" r:id="rId21"/>
    <p:sldId id="273" r:id="rId22"/>
    <p:sldId id="274" r:id="rId23"/>
    <p:sldId id="275" r:id="rId24"/>
    <p:sldId id="279" r:id="rId25"/>
    <p:sldId id="353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5" r:id="rId47"/>
    <p:sldId id="306" r:id="rId48"/>
    <p:sldId id="307" r:id="rId49"/>
    <p:sldId id="313" r:id="rId50"/>
    <p:sldId id="314" r:id="rId51"/>
    <p:sldId id="315" r:id="rId52"/>
    <p:sldId id="317" r:id="rId53"/>
    <p:sldId id="318" r:id="rId54"/>
    <p:sldId id="319" r:id="rId55"/>
    <p:sldId id="320" r:id="rId56"/>
    <p:sldId id="321" r:id="rId57"/>
    <p:sldId id="322" r:id="rId58"/>
    <p:sldId id="323" r:id="rId59"/>
    <p:sldId id="324" r:id="rId60"/>
    <p:sldId id="326" r:id="rId61"/>
    <p:sldId id="327" r:id="rId62"/>
    <p:sldId id="328" r:id="rId63"/>
    <p:sldId id="329" r:id="rId64"/>
    <p:sldId id="512" r:id="rId65"/>
  </p:sldIdLst>
  <p:sldSz cx="9144000" cy="5143500" type="screen16x9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73" autoAdjust="0"/>
    <p:restoredTop sz="85674" autoAdjust="0"/>
  </p:normalViewPr>
  <p:slideViewPr>
    <p:cSldViewPr>
      <p:cViewPr varScale="1">
        <p:scale>
          <a:sx n="172" d="100"/>
          <a:sy n="172" d="100"/>
        </p:scale>
        <p:origin x="156" y="64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8730158730159"/>
          <c:y val="2.8776978417266199E-2"/>
          <c:w val="0.82539682539682502"/>
          <c:h val="0.88249400479616302"/>
        </c:manualLayout>
      </c:layout>
      <c:lineChart>
        <c:grouping val="standar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东部</c:v>
                </c:pt>
              </c:strCache>
            </c:strRef>
          </c:tx>
          <c:spPr>
            <a:ln w="17939">
              <a:solidFill>
                <a:srgbClr val="FF0000"/>
              </a:solidFill>
              <a:prstDash val="solid"/>
            </a:ln>
          </c:spPr>
          <c:marker>
            <c:symbol val="diamond"/>
            <c:size val="7"/>
            <c:spPr>
              <a:solidFill>
                <a:srgbClr val="FF0000"/>
              </a:solidFill>
              <a:ln>
                <a:solidFill>
                  <a:srgbClr val="FF0000"/>
                </a:solidFill>
                <a:prstDash val="solid"/>
              </a:ln>
            </c:spPr>
          </c:marker>
          <c:dLbls>
            <c:spPr>
              <a:noFill/>
              <a:ln w="35878">
                <a:noFill/>
              </a:ln>
            </c:spPr>
            <c:txPr>
              <a:bodyPr/>
              <a:lstStyle/>
              <a:p>
                <a:pPr>
                  <a:defRPr sz="1377" b="1" i="0" u="none" strike="noStrike" baseline="0">
                    <a:solidFill>
                      <a:schemeClr val="tx1"/>
                    </a:solidFill>
                    <a:latin typeface="SimSun"/>
                    <a:ea typeface="SimSun"/>
                    <a:cs typeface="SimSun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Sheet1!$B$1:$AA$1</c:f>
              <c:numCache>
                <c:formatCode>General</c:formatCode>
                <c:ptCount val="26"/>
                <c:pt idx="0">
                  <c:v>1978</c:v>
                </c:pt>
                <c:pt idx="1">
                  <c:v>1980</c:v>
                </c:pt>
                <c:pt idx="2">
                  <c:v>1982</c:v>
                </c:pt>
                <c:pt idx="3">
                  <c:v>1984</c:v>
                </c:pt>
                <c:pt idx="4">
                  <c:v>1986</c:v>
                </c:pt>
                <c:pt idx="5">
                  <c:v>1987</c:v>
                </c:pt>
                <c:pt idx="6">
                  <c:v>1988</c:v>
                </c:pt>
                <c:pt idx="7">
                  <c:v>1989</c:v>
                </c:pt>
                <c:pt idx="8">
                  <c:v>1990</c:v>
                </c:pt>
                <c:pt idx="9">
                  <c:v>1991</c:v>
                </c:pt>
                <c:pt idx="10">
                  <c:v>1992</c:v>
                </c:pt>
                <c:pt idx="11">
                  <c:v>1993</c:v>
                </c:pt>
                <c:pt idx="12">
                  <c:v>1994</c:v>
                </c:pt>
                <c:pt idx="13">
                  <c:v>1995</c:v>
                </c:pt>
                <c:pt idx="14">
                  <c:v>1996</c:v>
                </c:pt>
                <c:pt idx="15">
                  <c:v>1997</c:v>
                </c:pt>
                <c:pt idx="16">
                  <c:v>1998</c:v>
                </c:pt>
                <c:pt idx="17">
                  <c:v>1999</c:v>
                </c:pt>
                <c:pt idx="18">
                  <c:v>2000</c:v>
                </c:pt>
                <c:pt idx="19">
                  <c:v>2001</c:v>
                </c:pt>
                <c:pt idx="20">
                  <c:v>2002</c:v>
                </c:pt>
                <c:pt idx="21">
                  <c:v>2003</c:v>
                </c:pt>
                <c:pt idx="22">
                  <c:v>2004</c:v>
                </c:pt>
                <c:pt idx="23">
                  <c:v>2005</c:v>
                </c:pt>
                <c:pt idx="24">
                  <c:v>2006</c:v>
                </c:pt>
              </c:numCache>
            </c:numRef>
          </c:cat>
          <c:val>
            <c:numRef>
              <c:f>Sheet1!$B$2:$AA$2</c:f>
              <c:numCache>
                <c:formatCode>General</c:formatCode>
                <c:ptCount val="26"/>
                <c:pt idx="3">
                  <c:v>1.5</c:v>
                </c:pt>
                <c:pt idx="4">
                  <c:v>5</c:v>
                </c:pt>
                <c:pt idx="5">
                  <c:v>9</c:v>
                </c:pt>
                <c:pt idx="6">
                  <c:v>13</c:v>
                </c:pt>
                <c:pt idx="7">
                  <c:v>18</c:v>
                </c:pt>
                <c:pt idx="8">
                  <c:v>24</c:v>
                </c:pt>
                <c:pt idx="9">
                  <c:v>51</c:v>
                </c:pt>
                <c:pt idx="10">
                  <c:v>80</c:v>
                </c:pt>
                <c:pt idx="11">
                  <c:v>117</c:v>
                </c:pt>
                <c:pt idx="12">
                  <c:v>183</c:v>
                </c:pt>
                <c:pt idx="13">
                  <c:v>280</c:v>
                </c:pt>
                <c:pt idx="14">
                  <c:v>481</c:v>
                </c:pt>
                <c:pt idx="15">
                  <c:v>649</c:v>
                </c:pt>
                <c:pt idx="16">
                  <c:v>993</c:v>
                </c:pt>
                <c:pt idx="17">
                  <c:v>1267</c:v>
                </c:pt>
                <c:pt idx="18">
                  <c:v>1779</c:v>
                </c:pt>
                <c:pt idx="19">
                  <c:v>2584</c:v>
                </c:pt>
                <c:pt idx="20">
                  <c:v>4195</c:v>
                </c:pt>
                <c:pt idx="21">
                  <c:v>5364</c:v>
                </c:pt>
                <c:pt idx="22">
                  <c:v>5764</c:v>
                </c:pt>
                <c:pt idx="23">
                  <c:v>6505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37-400A-970B-A80456F75F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042909872"/>
        <c:axId val="-1042908096"/>
      </c:lineChart>
      <c:catAx>
        <c:axId val="-1042909872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ln w="4485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413" b="1" i="0" u="none" strike="noStrike" baseline="0">
                <a:solidFill>
                  <a:schemeClr val="tx1"/>
                </a:solidFill>
                <a:latin typeface="SimSun"/>
                <a:ea typeface="SimSun"/>
                <a:cs typeface="SimSun"/>
              </a:defRPr>
            </a:pPr>
            <a:endParaRPr lang="zh-CN"/>
          </a:p>
        </c:txPr>
        <c:crossAx val="-1042908096"/>
        <c:crossesAt val="1"/>
        <c:auto val="0"/>
        <c:lblAlgn val="ctr"/>
        <c:lblOffset val="100"/>
        <c:tickLblSkip val="2"/>
        <c:tickMarkSkip val="2"/>
        <c:noMultiLvlLbl val="0"/>
      </c:catAx>
      <c:valAx>
        <c:axId val="-1042908096"/>
        <c:scaling>
          <c:logBase val="10"/>
          <c:orientation val="minMax"/>
        </c:scaling>
        <c:delete val="0"/>
        <c:axPos val="l"/>
        <c:majorGridlines>
          <c:spPr>
            <a:ln w="4485">
              <a:solidFill>
                <a:schemeClr val="tx1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2543" b="1" i="0" u="none" strike="noStrike" baseline="0">
                    <a:solidFill>
                      <a:schemeClr val="tx1"/>
                    </a:solidFill>
                    <a:latin typeface="SimSun"/>
                    <a:ea typeface="SimSun"/>
                    <a:cs typeface="SimSun"/>
                  </a:defRPr>
                </a:pPr>
                <a:r>
                  <a:rPr lang="en-US" altLang="en-US" sz="1200" dirty="0"/>
                  <a:t>Performance(vs. VAX-11/780)</a:t>
                </a:r>
              </a:p>
            </c:rich>
          </c:tx>
          <c:layout>
            <c:manualLayout>
              <c:xMode val="edge"/>
              <c:yMode val="edge"/>
              <c:x val="3.9800995024875619E-3"/>
              <c:y val="0.27646442632170976"/>
            </c:manualLayout>
          </c:layout>
          <c:overlay val="0"/>
          <c:spPr>
            <a:noFill/>
            <a:ln w="35878">
              <a:noFill/>
            </a:ln>
          </c:spPr>
        </c:title>
        <c:numFmt formatCode="0_);[Red]\(0\)" sourceLinked="0"/>
        <c:majorTickMark val="in"/>
        <c:minorTickMark val="none"/>
        <c:tickLblPos val="nextTo"/>
        <c:spPr>
          <a:ln w="4485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554" b="1" i="0" u="none" strike="noStrike" baseline="0">
                <a:solidFill>
                  <a:schemeClr val="tx1"/>
                </a:solidFill>
                <a:latin typeface="SimSun"/>
                <a:ea typeface="SimSun"/>
                <a:cs typeface="SimSun"/>
              </a:defRPr>
            </a:pPr>
            <a:endParaRPr lang="zh-CN"/>
          </a:p>
        </c:txPr>
        <c:crossAx val="-1042909872"/>
        <c:crosses val="autoZero"/>
        <c:crossBetween val="between"/>
        <c:majorUnit val="10"/>
        <c:minorUnit val="10"/>
      </c:valAx>
      <c:spPr>
        <a:noFill/>
        <a:ln w="17939">
          <a:solidFill>
            <a:schemeClr val="tx1"/>
          </a:solidFill>
          <a:prstDash val="solid"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2543" b="1" i="0" u="none" strike="noStrike" baseline="0">
          <a:solidFill>
            <a:schemeClr val="tx1"/>
          </a:solidFill>
          <a:latin typeface="SimSun"/>
          <a:ea typeface="SimSun"/>
          <a:cs typeface="SimSun"/>
        </a:defRPr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761904761904801"/>
          <c:y val="7.4340527577937701E-2"/>
          <c:w val="0.8"/>
          <c:h val="0.772182254196641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Area X</c:v>
                </c:pt>
              </c:strCache>
            </c:strRef>
          </c:tx>
          <c:spPr>
            <a:solidFill>
              <a:schemeClr val="accent1"/>
            </a:solidFill>
            <a:ln w="9359">
              <a:solidFill>
                <a:schemeClr val="tx1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Pipelined</c:v>
                </c:pt>
                <c:pt idx="1">
                  <c:v>S-Scalar</c:v>
                </c:pt>
                <c:pt idx="2">
                  <c:v>OOO-Spec</c:v>
                </c:pt>
                <c:pt idx="3">
                  <c:v>Deep Pipe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</c:v>
                </c:pt>
                <c:pt idx="1">
                  <c:v>3.5</c:v>
                </c:pt>
                <c:pt idx="2">
                  <c:v>2.1</c:v>
                </c:pt>
                <c:pt idx="3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F8-4095-AB2B-209FF24808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Perf X</c:v>
                </c:pt>
              </c:strCache>
            </c:strRef>
          </c:tx>
          <c:spPr>
            <a:solidFill>
              <a:schemeClr val="accent2"/>
            </a:solidFill>
            <a:ln w="9359">
              <a:solidFill>
                <a:schemeClr val="tx1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Pipelined</c:v>
                </c:pt>
                <c:pt idx="1">
                  <c:v>S-Scalar</c:v>
                </c:pt>
                <c:pt idx="2">
                  <c:v>OOO-Spec</c:v>
                </c:pt>
                <c:pt idx="3">
                  <c:v>Deep Pipe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2.9</c:v>
                </c:pt>
                <c:pt idx="2">
                  <c:v>1.7</c:v>
                </c:pt>
                <c:pt idx="3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F8-4095-AB2B-209FF24808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1040274736"/>
        <c:axId val="-1040272528"/>
      </c:barChart>
      <c:catAx>
        <c:axId val="-1040274736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ln w="28076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26" b="1" i="0" u="none" strike="noStrike" baseline="0">
                <a:solidFill>
                  <a:schemeClr val="tx1"/>
                </a:solidFill>
                <a:latin typeface="SimSun"/>
                <a:ea typeface="SimSun"/>
                <a:cs typeface="SimSun"/>
              </a:defRPr>
            </a:pPr>
            <a:endParaRPr lang="zh-CN"/>
          </a:p>
        </c:txPr>
        <c:crossAx val="-1040272528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1040272528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326" b="1" i="0" u="none" strike="noStrike" baseline="0">
                    <a:solidFill>
                      <a:schemeClr val="tx1"/>
                    </a:solidFill>
                    <a:latin typeface="SimSun"/>
                    <a:ea typeface="SimSun"/>
                    <a:cs typeface="SimSun"/>
                  </a:defRPr>
                </a:pPr>
                <a:r>
                  <a:rPr lang="en-US" altLang="en-US"/>
                  <a:t>Increase (X)</a:t>
                </a:r>
              </a:p>
            </c:rich>
          </c:tx>
          <c:layout>
            <c:manualLayout>
              <c:xMode val="edge"/>
              <c:yMode val="edge"/>
              <c:x val="2.6984126984126999E-2"/>
              <c:y val="0.26139088729016802"/>
            </c:manualLayout>
          </c:layout>
          <c:overlay val="0"/>
          <c:spPr>
            <a:noFill/>
            <a:ln w="18718">
              <a:noFill/>
            </a:ln>
          </c:spPr>
        </c:title>
        <c:numFmt formatCode="General" sourceLinked="1"/>
        <c:majorTickMark val="in"/>
        <c:minorTickMark val="none"/>
        <c:tickLblPos val="nextTo"/>
        <c:spPr>
          <a:ln w="18718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26" b="1" i="0" u="none" strike="noStrike" baseline="0">
                <a:solidFill>
                  <a:schemeClr val="tx1"/>
                </a:solidFill>
                <a:latin typeface="SimSun"/>
                <a:ea typeface="SimSun"/>
                <a:cs typeface="SimSun"/>
              </a:defRPr>
            </a:pPr>
            <a:endParaRPr lang="zh-CN"/>
          </a:p>
        </c:txPr>
        <c:crossAx val="-1040274736"/>
        <c:crosses val="autoZero"/>
        <c:crossBetween val="between"/>
        <c:majorUnit val="1"/>
        <c:minorUnit val="0.1"/>
      </c:valAx>
      <c:spPr>
        <a:noFill/>
        <a:ln w="28076">
          <a:solidFill>
            <a:schemeClr val="tx1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51111111111111096"/>
          <c:y val="0.115107913669065"/>
          <c:w val="0.34482587721227576"/>
          <c:h val="0.23669475526085554"/>
        </c:manualLayout>
      </c:layout>
      <c:overlay val="0"/>
      <c:spPr>
        <a:solidFill>
          <a:schemeClr val="bg1"/>
        </a:solidFill>
        <a:ln w="18718">
          <a:noFill/>
        </a:ln>
      </c:spPr>
      <c:txPr>
        <a:bodyPr/>
        <a:lstStyle/>
        <a:p>
          <a:pPr>
            <a:defRPr sz="1220" b="1" i="0" u="none" strike="noStrike" baseline="0">
              <a:solidFill>
                <a:schemeClr val="tx1"/>
              </a:solidFill>
              <a:latin typeface="SimSun"/>
              <a:ea typeface="SimSun"/>
              <a:cs typeface="SimSun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326" b="1" i="0" u="none" strike="noStrike" baseline="0">
          <a:solidFill>
            <a:schemeClr val="tx1"/>
          </a:solidFill>
          <a:latin typeface="SimSun"/>
          <a:ea typeface="SimSun"/>
          <a:cs typeface="SimSun"/>
        </a:defRPr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984126984126999"/>
          <c:y val="7.4340527577937701E-2"/>
          <c:w val="0.77619047619047599"/>
          <c:h val="0.832134292565946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Power X</c:v>
                </c:pt>
              </c:strCache>
            </c:strRef>
          </c:tx>
          <c:spPr>
            <a:solidFill>
              <a:schemeClr val="accent1"/>
            </a:solidFill>
            <a:ln w="9359">
              <a:solidFill>
                <a:schemeClr val="tx1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Pipelined</c:v>
                </c:pt>
                <c:pt idx="1">
                  <c:v>S-Scalar</c:v>
                </c:pt>
                <c:pt idx="2">
                  <c:v>OOO-Spec</c:v>
                </c:pt>
                <c:pt idx="3">
                  <c:v>Deep Pipe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1.3</c:v>
                </c:pt>
                <c:pt idx="1">
                  <c:v>2.4</c:v>
                </c:pt>
                <c:pt idx="2">
                  <c:v>2.1</c:v>
                </c:pt>
                <c:pt idx="3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F1-4718-9B32-22489F029B0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Mips/W (%)</c:v>
                </c:pt>
              </c:strCache>
            </c:strRef>
          </c:tx>
          <c:spPr>
            <a:solidFill>
              <a:schemeClr val="accent2"/>
            </a:solidFill>
            <a:ln w="9359">
              <a:solidFill>
                <a:schemeClr val="tx1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Pipelined</c:v>
                </c:pt>
                <c:pt idx="1">
                  <c:v>S-Scalar</c:v>
                </c:pt>
                <c:pt idx="2">
                  <c:v>OOO-Spec</c:v>
                </c:pt>
                <c:pt idx="3">
                  <c:v>Deep Pipe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0.78</c:v>
                </c:pt>
                <c:pt idx="1">
                  <c:v>0.19</c:v>
                </c:pt>
                <c:pt idx="2">
                  <c:v>-0.16</c:v>
                </c:pt>
                <c:pt idx="3">
                  <c:v>-0.17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F1-4718-9B32-22489F029B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1022660080"/>
        <c:axId val="-1022657328"/>
      </c:barChart>
      <c:catAx>
        <c:axId val="-1022660080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ln w="28076">
            <a:solidFill>
              <a:schemeClr val="tx1"/>
            </a:solidFill>
            <a:prstDash val="solid"/>
          </a:ln>
        </c:spPr>
        <c:txPr>
          <a:bodyPr rot="-2700000" vert="horz"/>
          <a:lstStyle/>
          <a:p>
            <a:pPr>
              <a:defRPr sz="1326" b="1" i="0" u="none" strike="noStrike" baseline="0">
                <a:solidFill>
                  <a:schemeClr val="tx1"/>
                </a:solidFill>
                <a:latin typeface="SimSun"/>
                <a:ea typeface="SimSun"/>
                <a:cs typeface="SimSun"/>
              </a:defRPr>
            </a:pPr>
            <a:endParaRPr lang="zh-CN"/>
          </a:p>
        </c:txPr>
        <c:crossAx val="-1022657328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1022657328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326" b="1" i="0" u="none" strike="noStrike" baseline="0">
                    <a:solidFill>
                      <a:schemeClr val="tx1"/>
                    </a:solidFill>
                    <a:latin typeface="SimSun"/>
                    <a:ea typeface="SimSun"/>
                    <a:cs typeface="SimSun"/>
                  </a:defRPr>
                </a:pPr>
                <a:r>
                  <a:rPr lang="en-US" altLang="en-US"/>
                  <a:t>Increase (X)</a:t>
                </a:r>
              </a:p>
            </c:rich>
          </c:tx>
          <c:layout>
            <c:manualLayout>
              <c:xMode val="edge"/>
              <c:yMode val="edge"/>
              <c:x val="2.6984126984126999E-2"/>
              <c:y val="0.29016786570743403"/>
            </c:manualLayout>
          </c:layout>
          <c:overlay val="0"/>
          <c:spPr>
            <a:noFill/>
            <a:ln w="18718">
              <a:noFill/>
            </a:ln>
          </c:spPr>
        </c:title>
        <c:numFmt formatCode="General" sourceLinked="1"/>
        <c:majorTickMark val="in"/>
        <c:minorTickMark val="none"/>
        <c:tickLblPos val="nextTo"/>
        <c:spPr>
          <a:ln w="18718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326" b="1" i="0" u="none" strike="noStrike" baseline="0">
                <a:solidFill>
                  <a:schemeClr val="tx1"/>
                </a:solidFill>
                <a:latin typeface="SimSun"/>
                <a:ea typeface="SimSun"/>
                <a:cs typeface="SimSun"/>
              </a:defRPr>
            </a:pPr>
            <a:endParaRPr lang="zh-CN"/>
          </a:p>
        </c:txPr>
        <c:crossAx val="-1022660080"/>
        <c:crosses val="autoZero"/>
        <c:crossBetween val="between"/>
        <c:majorUnit val="1"/>
        <c:minorUnit val="0.1"/>
      </c:valAx>
      <c:spPr>
        <a:noFill/>
        <a:ln w="28076">
          <a:solidFill>
            <a:schemeClr val="tx1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47454097567413012"/>
          <c:y val="8.6036284938066948E-2"/>
          <c:w val="0.30818487074590539"/>
          <c:h val="0.16651931666436431"/>
        </c:manualLayout>
      </c:layout>
      <c:overlay val="0"/>
      <c:spPr>
        <a:solidFill>
          <a:schemeClr val="bg1"/>
        </a:solidFill>
        <a:ln w="18718">
          <a:noFill/>
        </a:ln>
      </c:spPr>
      <c:txPr>
        <a:bodyPr/>
        <a:lstStyle/>
        <a:p>
          <a:pPr>
            <a:defRPr sz="1220" b="1" i="0" u="none" strike="noStrike" baseline="0">
              <a:solidFill>
                <a:schemeClr val="tx1"/>
              </a:solidFill>
              <a:latin typeface="SimSun"/>
              <a:ea typeface="SimSun"/>
              <a:cs typeface="SimSun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326" b="1" i="0" u="none" strike="noStrike" baseline="0">
          <a:solidFill>
            <a:schemeClr val="tx1"/>
          </a:solidFill>
          <a:latin typeface="SimSun"/>
          <a:ea typeface="SimSun"/>
          <a:cs typeface="SimSun"/>
        </a:defRPr>
      </a:pPr>
      <a:endParaRPr lang="zh-CN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5D65D-4600-434A-9487-4B0F487BDC90}" type="datetimeFigureOut">
              <a:rPr kumimoji="1" lang="zh-CN" altLang="en-US" smtClean="0"/>
              <a:t>2026/3/8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A3C7E-0B6F-5E4B-80CB-89C3E095233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905110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kumimoji="1"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78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1"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24129778-1184-405C-BF2A-69549BBD5E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597829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7188" y="690563"/>
            <a:ext cx="6138862" cy="3454400"/>
          </a:xfrm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288" y="4373563"/>
            <a:ext cx="5045075" cy="4068762"/>
          </a:xfrm>
          <a:noFill/>
        </p:spPr>
        <p:txBody>
          <a:bodyPr lIns="91431" tIns="45716" rIns="91431" bIns="45716"/>
          <a:lstStyle/>
          <a:p>
            <a:pPr eaLnBrk="1" hangingPunct="1"/>
            <a:endParaRPr lang="zh-TW" altLang="en-US">
              <a:ea typeface="PMingLiU" pitchFamily="18" charset="-12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Personal mobile device (PMD) is the term we apply to a collection of wireless</a:t>
            </a:r>
          </a:p>
          <a:p>
            <a:r>
              <a:rPr lang="en-US" altLang="zh-CN" dirty="0"/>
              <a:t>devices with multimedia user interfaces such as cell phones, tablet computers,</a:t>
            </a:r>
          </a:p>
          <a:p>
            <a:r>
              <a:rPr lang="en-US" altLang="zh-CN" dirty="0"/>
              <a:t>and so on. Cost is a prime concern given the consumer price for the whole</a:t>
            </a:r>
          </a:p>
          <a:p>
            <a:r>
              <a:rPr lang="en-US" altLang="zh-CN" dirty="0"/>
              <a:t>product is a few hundred dollars. Although the emphasis on energy efficiency</a:t>
            </a:r>
          </a:p>
          <a:p>
            <a:r>
              <a:rPr lang="en-US" altLang="zh-CN" dirty="0"/>
              <a:t>is frequently driven by the use of batteries, the need to use less expensive </a:t>
            </a:r>
            <a:r>
              <a:rPr lang="en-US" altLang="zh-CN" dirty="0" err="1"/>
              <a:t>packag</a:t>
            </a:r>
            <a:r>
              <a:rPr lang="en-US" altLang="zh-CN" dirty="0"/>
              <a:t>-</a:t>
            </a:r>
          </a:p>
          <a:p>
            <a:r>
              <a:rPr lang="en-US" altLang="zh-CN" dirty="0" err="1"/>
              <a:t>ing</a:t>
            </a:r>
            <a:r>
              <a:rPr lang="en-US" altLang="zh-CN" dirty="0"/>
              <a:t>—plastic versus ceramic—and the absence of a fan for cooling also limit total</a:t>
            </a:r>
          </a:p>
          <a:p>
            <a:r>
              <a:rPr lang="en-US" altLang="zh-CN" dirty="0"/>
              <a:t>power consumption. We examine the issue of energy and power in more detail</a:t>
            </a:r>
          </a:p>
          <a:p>
            <a:r>
              <a:rPr lang="en-US" altLang="zh-CN" dirty="0"/>
              <a:t>in Section 1.5. Applications on PMDs are often web-based and media-oriented,</a:t>
            </a:r>
          </a:p>
          <a:p>
            <a:r>
              <a:rPr lang="en-US" altLang="zh-CN" dirty="0"/>
              <a:t>like the previously mentioned Google Translate example. Energy and size</a:t>
            </a:r>
          </a:p>
          <a:p>
            <a:r>
              <a:rPr lang="en-US" altLang="zh-CN" dirty="0"/>
              <a:t>requirements lead to use of Flash memory for storage (Chapter 2) instead of</a:t>
            </a:r>
          </a:p>
          <a:p>
            <a:r>
              <a:rPr lang="en-US" altLang="zh-CN" dirty="0"/>
              <a:t>magnetic disks.</a:t>
            </a:r>
          </a:p>
          <a:p>
            <a:endParaRPr lang="en-US" altLang="zh-CN" dirty="0"/>
          </a:p>
          <a:p>
            <a:r>
              <a:rPr lang="en-US" altLang="zh-CN" dirty="0"/>
              <a:t>The processors in a PMD are often considered embedded computers, but we</a:t>
            </a:r>
          </a:p>
          <a:p>
            <a:r>
              <a:rPr lang="en-US" altLang="zh-CN" dirty="0"/>
              <a:t>are keeping them as a separate category because PMDs are platforms that can</a:t>
            </a:r>
          </a:p>
          <a:p>
            <a:r>
              <a:rPr lang="en-US" altLang="zh-CN" dirty="0"/>
              <a:t>run externally developed software, and they share many of the characteristics of</a:t>
            </a:r>
          </a:p>
          <a:p>
            <a:r>
              <a:rPr lang="en-US" altLang="zh-CN" dirty="0"/>
              <a:t>desktop computers. Other embedded devices are more limited in hardware and</a:t>
            </a:r>
          </a:p>
          <a:p>
            <a:r>
              <a:rPr lang="en-US" altLang="zh-CN" dirty="0"/>
              <a:t>software sophistication</a:t>
            </a:r>
            <a:r>
              <a:rPr lang="en-US" altLang="zh-CN" b="1" dirty="0"/>
              <a:t>. We use the ability to run third-party software as the </a:t>
            </a:r>
            <a:r>
              <a:rPr lang="en-US" altLang="zh-CN" b="1" dirty="0" err="1"/>
              <a:t>divid</a:t>
            </a:r>
            <a:r>
              <a:rPr lang="en-US" altLang="zh-CN" b="1" dirty="0"/>
              <a:t>-</a:t>
            </a:r>
          </a:p>
          <a:p>
            <a:r>
              <a:rPr lang="en-US" altLang="zh-CN" b="1" dirty="0" err="1"/>
              <a:t>ing</a:t>
            </a:r>
            <a:r>
              <a:rPr lang="en-US" altLang="zh-CN" b="1" dirty="0"/>
              <a:t> line between nonembedded and embedded computers.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Responsiveness and predictability are key characteristics for media </a:t>
            </a:r>
            <a:r>
              <a:rPr lang="en-US" altLang="zh-CN" dirty="0" err="1"/>
              <a:t>applica</a:t>
            </a:r>
            <a:r>
              <a:rPr lang="en-US" altLang="zh-CN" dirty="0"/>
              <a:t>-</a:t>
            </a:r>
          </a:p>
          <a:p>
            <a:r>
              <a:rPr lang="en-US" altLang="zh-CN" dirty="0" err="1"/>
              <a:t>tions</a:t>
            </a:r>
            <a:r>
              <a:rPr lang="en-US" altLang="zh-CN" dirty="0"/>
              <a:t>. A real-time performance requirement means a segment of the application</a:t>
            </a:r>
          </a:p>
          <a:p>
            <a:r>
              <a:rPr lang="en-US" altLang="zh-CN" dirty="0"/>
              <a:t>has an absolute maximum execution time. For example, in playing a video on a</a:t>
            </a:r>
          </a:p>
          <a:p>
            <a:r>
              <a:rPr lang="en-US" altLang="zh-CN" dirty="0"/>
              <a:t>PMD, the time to process each video frame is limited, since the processor must</a:t>
            </a:r>
          </a:p>
          <a:p>
            <a:r>
              <a:rPr lang="en-US" altLang="zh-CN" dirty="0"/>
              <a:t>accept and process the next frame shortly. In some applications, a more nuanced</a:t>
            </a:r>
          </a:p>
          <a:p>
            <a:r>
              <a:rPr lang="en-US" altLang="zh-CN" dirty="0"/>
              <a:t>requirement exists: the average time for a particular task is constrained as well as</a:t>
            </a:r>
          </a:p>
          <a:p>
            <a:r>
              <a:rPr lang="en-US" altLang="zh-CN" dirty="0"/>
              <a:t>the number of instances when some maximum time is exceeded. Such</a:t>
            </a:r>
          </a:p>
          <a:p>
            <a:r>
              <a:rPr lang="en-US" altLang="zh-CN" dirty="0"/>
              <a:t>approaches—sometimes called soft real-time—arise when it is possible to miss</a:t>
            </a:r>
          </a:p>
          <a:p>
            <a:r>
              <a:rPr lang="en-US" altLang="zh-CN" dirty="0"/>
              <a:t>the time constraint on an event occasionally, as long as not too many are missed.</a:t>
            </a:r>
          </a:p>
          <a:p>
            <a:r>
              <a:rPr lang="en-US" altLang="zh-CN" dirty="0"/>
              <a:t>Real-time performance tends to be highly application-dependent.</a:t>
            </a:r>
          </a:p>
          <a:p>
            <a:endParaRPr lang="en-US" altLang="zh-CN" dirty="0"/>
          </a:p>
          <a:p>
            <a:r>
              <a:rPr lang="en-US" altLang="zh-CN" dirty="0"/>
              <a:t>Other key characteristics in many PMD applications are the need to minimize</a:t>
            </a:r>
          </a:p>
          <a:p>
            <a:r>
              <a:rPr lang="en-US" altLang="zh-CN" dirty="0"/>
              <a:t>memory and the need to use energy efficiently. Energy efficiency is driven by both</a:t>
            </a:r>
          </a:p>
          <a:p>
            <a:r>
              <a:rPr lang="en-US" altLang="zh-CN" dirty="0"/>
              <a:t>battery power and heat dissipation. The memory can be a substantial portion of the</a:t>
            </a:r>
          </a:p>
          <a:p>
            <a:r>
              <a:rPr lang="en-US" altLang="zh-CN" dirty="0"/>
              <a:t>system cost, and it is important to optimize memory size in such cases. The </a:t>
            </a:r>
            <a:r>
              <a:rPr lang="en-US" altLang="zh-CN" dirty="0" err="1"/>
              <a:t>impor</a:t>
            </a:r>
            <a:r>
              <a:rPr lang="en-US" altLang="zh-CN" dirty="0"/>
              <a:t>-</a:t>
            </a:r>
          </a:p>
          <a:p>
            <a:r>
              <a:rPr lang="en-US" altLang="zh-CN" dirty="0" err="1"/>
              <a:t>tance</a:t>
            </a:r>
            <a:r>
              <a:rPr lang="en-US" altLang="zh-CN" dirty="0"/>
              <a:t> of memory size translates to an emphasis on code size, since data size is </a:t>
            </a:r>
            <a:r>
              <a:rPr lang="en-US" altLang="zh-CN" dirty="0" err="1"/>
              <a:t>dic</a:t>
            </a:r>
            <a:r>
              <a:rPr lang="en-US" altLang="zh-CN" dirty="0"/>
              <a:t>-</a:t>
            </a:r>
          </a:p>
          <a:p>
            <a:r>
              <a:rPr lang="en-US" altLang="zh-CN" dirty="0" err="1"/>
              <a:t>tated</a:t>
            </a:r>
            <a:r>
              <a:rPr lang="en-US" altLang="zh-CN" dirty="0"/>
              <a:t> by the application.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9440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228600" y="1070373"/>
            <a:ext cx="8077200" cy="1207294"/>
          </a:xfrm>
          <a:prstGeom prst="rect">
            <a:avLst/>
          </a:prstGeom>
        </p:spPr>
        <p:txBody>
          <a:bodyPr/>
          <a:lstStyle>
            <a:lvl1pPr>
              <a:defRPr sz="345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2581275"/>
            <a:ext cx="6629400" cy="12573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90497421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005576"/>
            <a:ext cx="7924800" cy="3314700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026055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760656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150"/>
            <a:ext cx="3886200" cy="3314700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3886200" cy="3314700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6BCCD3-7126-48AC-B7C7-EEAE347F5A2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2297902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41562F-96E8-4534-8C58-A32194A4227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3165266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208041-7436-4D56-933D-76CF1F687BA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68110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2DF116-2147-4978-AD93-F6240241CD4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3308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28AC3D-F116-4939-BAB0-F1E6BFB9A94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748776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FEABEC-C00B-4F4F-9811-30455D9CD4A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110608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200150"/>
            <a:ext cx="7924800" cy="331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CB59D2-F228-4FCF-8A72-188DD75A925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1628434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0014" y="171450"/>
            <a:ext cx="2084387" cy="43434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171450"/>
            <a:ext cx="6102350" cy="4343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EBF705-63F4-4DD8-A1E0-C616308D179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236455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200150"/>
            <a:ext cx="7924800" cy="33147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FD96B7-CA68-4DB4-BEA0-A55A8FE64F9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78409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6905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" y="1168004"/>
            <a:ext cx="4405313" cy="34313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57713" y="1168004"/>
            <a:ext cx="4406900" cy="16585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57713" y="2940844"/>
            <a:ext cx="4406900" cy="16585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0" y="4677966"/>
            <a:ext cx="19050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657600" y="4682729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42150" y="4682729"/>
            <a:ext cx="19050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BC78D7F6-81EB-426B-B783-68932B4FE8A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6474322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" y="1168004"/>
            <a:ext cx="8964613" cy="16585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" y="2940844"/>
            <a:ext cx="8964613" cy="16585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0" y="4677966"/>
            <a:ext cx="19050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657600" y="4682729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42150" y="4682729"/>
            <a:ext cx="19050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BC78D7F6-81EB-426B-B783-68932B4FE8A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8782939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" y="1168004"/>
            <a:ext cx="8964613" cy="16585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" y="2940844"/>
            <a:ext cx="8964613" cy="16585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0" y="4677966"/>
            <a:ext cx="19050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657600" y="4682729"/>
            <a:ext cx="28956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42150" y="4682729"/>
            <a:ext cx="1905000" cy="342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1</a:t>
            </a:r>
            <a:fld id="{D1DEDDA3-5544-4B59-BA66-7B31A1EC49A8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0103323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171450"/>
            <a:ext cx="7696200" cy="7429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1085850"/>
            <a:ext cx="4191000" cy="36004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085850"/>
            <a:ext cx="4191000" cy="36004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2114293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梯形 10"/>
          <p:cNvSpPr/>
          <p:nvPr/>
        </p:nvSpPr>
        <p:spPr>
          <a:xfrm>
            <a:off x="467544" y="164107"/>
            <a:ext cx="3713932" cy="413296"/>
          </a:xfrm>
          <a:prstGeom prst="trapezoid">
            <a:avLst>
              <a:gd name="adj" fmla="val 27273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87474"/>
            <a:ext cx="864096" cy="48993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3495700" y="164109"/>
            <a:ext cx="5328592" cy="413296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431804" y="543114"/>
            <a:ext cx="4392488" cy="34291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5580112" y="4731990"/>
            <a:ext cx="3563888" cy="3052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浙江大学计算机学院系统结构实验室</a:t>
            </a:r>
          </a:p>
        </p:txBody>
      </p:sp>
      <p:sp>
        <p:nvSpPr>
          <p:cNvPr id="16" name="矩形 15"/>
          <p:cNvSpPr/>
          <p:nvPr/>
        </p:nvSpPr>
        <p:spPr>
          <a:xfrm>
            <a:off x="5580112" y="5056027"/>
            <a:ext cx="3563888" cy="414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1629" y="174216"/>
            <a:ext cx="7903790" cy="3790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55834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</p:sldLayoutIdLst>
  <p:transition/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1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charset="0"/>
          <a:ea typeface="宋体" pitchFamily="2" charset="-122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charset="0"/>
          <a:ea typeface="宋体" pitchFamily="2" charset="-122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charset="0"/>
          <a:ea typeface="宋体" pitchFamily="2" charset="-122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charset="0"/>
          <a:ea typeface="宋体" pitchFamily="2" charset="-122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15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l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l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l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ichinamag.com/word/37505.aspx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hyperlink" Target="ftp://download.intel.com/pressroom/images/centrino_dieshot.zi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596435"/>
            <a:ext cx="868724" cy="77541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1761660"/>
            <a:ext cx="9144000" cy="124213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1143001" y="2058591"/>
            <a:ext cx="6346031" cy="6477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Computer Architecture </a:t>
            </a:r>
            <a:b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----A Quantitative Approach</a:t>
            </a:r>
            <a:endParaRPr lang="zh-CN" altLang="en-US" sz="15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4454334" y="3003798"/>
            <a:ext cx="235332" cy="162018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rgbClr val="004EA2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 flipV="1">
            <a:off x="0" y="1670258"/>
            <a:ext cx="9143999" cy="3429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363711" y="3494476"/>
            <a:ext cx="2416579" cy="1412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陈文智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浙江大学计算机学院</a:t>
            </a:r>
          </a:p>
          <a:p>
            <a:pPr algn="ctr"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chenwz@zju.edu.cn</a:t>
            </a:r>
          </a:p>
        </p:txBody>
      </p:sp>
    </p:spTree>
    <p:extLst>
      <p:ext uri="{BB962C8B-B14F-4D97-AF65-F5344CB8AC3E}">
        <p14:creationId xmlns:p14="http://schemas.microsoft.com/office/powerpoint/2010/main" val="42566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005576"/>
            <a:ext cx="8210872" cy="3654406"/>
          </a:xfrm>
        </p:spPr>
        <p:txBody>
          <a:bodyPr/>
          <a:lstStyle/>
          <a:p>
            <a:r>
              <a:rPr lang="en-US" altLang="zh-CN" sz="1600" b="1" dirty="0"/>
              <a:t>1.1   Introduction</a:t>
            </a:r>
          </a:p>
          <a:p>
            <a:r>
              <a:rPr lang="en-US" altLang="zh-CN" sz="1600" dirty="0"/>
              <a:t>1.2   Classes of computers</a:t>
            </a:r>
          </a:p>
          <a:p>
            <a:r>
              <a:rPr lang="en-US" altLang="zh-CN" sz="1600" dirty="0"/>
              <a:t>1.3   Defining computer architecture and What’s the task of computer design?</a:t>
            </a:r>
          </a:p>
          <a:p>
            <a:r>
              <a:rPr lang="en-US" altLang="zh-CN" sz="1600" dirty="0"/>
              <a:t>1.4   Trends in Technology</a:t>
            </a:r>
          </a:p>
          <a:p>
            <a:r>
              <a:rPr lang="en-US" altLang="zh-CN" sz="1600" dirty="0"/>
              <a:t>1.5   Trends in power in Integrated circuits</a:t>
            </a:r>
          </a:p>
          <a:p>
            <a:r>
              <a:rPr lang="en-US" altLang="zh-CN" sz="1600" dirty="0"/>
              <a:t>1.6   Trends in Cost</a:t>
            </a:r>
          </a:p>
          <a:p>
            <a:r>
              <a:rPr lang="en-US" altLang="zh-CN" sz="1600" dirty="0"/>
              <a:t>1.7   Dependability</a:t>
            </a:r>
          </a:p>
          <a:p>
            <a:r>
              <a:rPr lang="en-US" altLang="zh-CN" sz="1600" dirty="0"/>
              <a:t>1.8   Measuring, Reporting and summarizing Perf.</a:t>
            </a:r>
          </a:p>
          <a:p>
            <a:r>
              <a:rPr lang="en-US" altLang="zh-CN" sz="1600" dirty="0"/>
              <a:t>1.9   Quantitative Principles of computer Design </a:t>
            </a:r>
          </a:p>
          <a:p>
            <a:r>
              <a:rPr lang="en-US" altLang="zh-CN" sz="1600" dirty="0"/>
              <a:t>1.10 Putting it altogether</a:t>
            </a: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Topics in Chapter 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Original:</a:t>
            </a:r>
          </a:p>
          <a:p>
            <a:pPr lvl="1"/>
            <a:r>
              <a:rPr lang="en-US" altLang="zh-CN" dirty="0"/>
              <a:t>     Big Fishes Eating Little Fishes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History of the Computer  </a:t>
            </a:r>
          </a:p>
        </p:txBody>
      </p:sp>
      <p:grpSp>
        <p:nvGrpSpPr>
          <p:cNvPr id="6150" name="Group 4"/>
          <p:cNvGrpSpPr>
            <a:grpSpLocks/>
          </p:cNvGrpSpPr>
          <p:nvPr/>
        </p:nvGrpSpPr>
        <p:grpSpPr bwMode="auto">
          <a:xfrm>
            <a:off x="1657347" y="2628911"/>
            <a:ext cx="5772134" cy="1085853"/>
            <a:chOff x="807" y="1787"/>
            <a:chExt cx="4384" cy="507"/>
          </a:xfrm>
        </p:grpSpPr>
        <p:sp>
          <p:nvSpPr>
            <p:cNvPr id="6151" name="Freeform 5" descr="50%"/>
            <p:cNvSpPr>
              <a:spLocks/>
            </p:cNvSpPr>
            <p:nvPr/>
          </p:nvSpPr>
          <p:spPr bwMode="auto">
            <a:xfrm>
              <a:off x="888" y="2059"/>
              <a:ext cx="38" cy="31"/>
            </a:xfrm>
            <a:custGeom>
              <a:avLst/>
              <a:gdLst>
                <a:gd name="T0" fmla="*/ 0 w 38"/>
                <a:gd name="T1" fmla="*/ 0 h 31"/>
                <a:gd name="T2" fmla="*/ 1 w 38"/>
                <a:gd name="T3" fmla="*/ 3 h 31"/>
                <a:gd name="T4" fmla="*/ 3 w 38"/>
                <a:gd name="T5" fmla="*/ 6 h 31"/>
                <a:gd name="T6" fmla="*/ 5 w 38"/>
                <a:gd name="T7" fmla="*/ 9 h 31"/>
                <a:gd name="T8" fmla="*/ 7 w 38"/>
                <a:gd name="T9" fmla="*/ 12 h 31"/>
                <a:gd name="T10" fmla="*/ 10 w 38"/>
                <a:gd name="T11" fmla="*/ 15 h 31"/>
                <a:gd name="T12" fmla="*/ 13 w 38"/>
                <a:gd name="T13" fmla="*/ 19 h 31"/>
                <a:gd name="T14" fmla="*/ 15 w 38"/>
                <a:gd name="T15" fmla="*/ 21 h 31"/>
                <a:gd name="T16" fmla="*/ 18 w 38"/>
                <a:gd name="T17" fmla="*/ 23 h 31"/>
                <a:gd name="T18" fmla="*/ 21 w 38"/>
                <a:gd name="T19" fmla="*/ 25 h 31"/>
                <a:gd name="T20" fmla="*/ 24 w 38"/>
                <a:gd name="T21" fmla="*/ 27 h 31"/>
                <a:gd name="T22" fmla="*/ 26 w 38"/>
                <a:gd name="T23" fmla="*/ 28 h 31"/>
                <a:gd name="T24" fmla="*/ 29 w 38"/>
                <a:gd name="T25" fmla="*/ 29 h 31"/>
                <a:gd name="T26" fmla="*/ 33 w 38"/>
                <a:gd name="T27" fmla="*/ 30 h 31"/>
                <a:gd name="T28" fmla="*/ 36 w 38"/>
                <a:gd name="T29" fmla="*/ 30 h 31"/>
                <a:gd name="T30" fmla="*/ 37 w 38"/>
                <a:gd name="T31" fmla="*/ 29 h 31"/>
                <a:gd name="T32" fmla="*/ 35 w 38"/>
                <a:gd name="T33" fmla="*/ 27 h 31"/>
                <a:gd name="T34" fmla="*/ 33 w 38"/>
                <a:gd name="T35" fmla="*/ 25 h 31"/>
                <a:gd name="T36" fmla="*/ 31 w 38"/>
                <a:gd name="T37" fmla="*/ 22 h 31"/>
                <a:gd name="T38" fmla="*/ 29 w 38"/>
                <a:gd name="T39" fmla="*/ 19 h 31"/>
                <a:gd name="T40" fmla="*/ 27 w 38"/>
                <a:gd name="T41" fmla="*/ 16 h 31"/>
                <a:gd name="T42" fmla="*/ 26 w 38"/>
                <a:gd name="T43" fmla="*/ 13 h 31"/>
                <a:gd name="T44" fmla="*/ 25 w 38"/>
                <a:gd name="T45" fmla="*/ 11 h 31"/>
                <a:gd name="T46" fmla="*/ 24 w 38"/>
                <a:gd name="T47" fmla="*/ 6 h 31"/>
                <a:gd name="T48" fmla="*/ 24 w 38"/>
                <a:gd name="T49" fmla="*/ 3 h 31"/>
                <a:gd name="T50" fmla="*/ 24 w 38"/>
                <a:gd name="T51" fmla="*/ 1 h 31"/>
                <a:gd name="T52" fmla="*/ 0 w 38"/>
                <a:gd name="T53" fmla="*/ 0 h 31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8" h="31">
                  <a:moveTo>
                    <a:pt x="0" y="0"/>
                  </a:moveTo>
                  <a:lnTo>
                    <a:pt x="1" y="3"/>
                  </a:lnTo>
                  <a:lnTo>
                    <a:pt x="3" y="6"/>
                  </a:lnTo>
                  <a:lnTo>
                    <a:pt x="5" y="9"/>
                  </a:lnTo>
                  <a:lnTo>
                    <a:pt x="7" y="12"/>
                  </a:lnTo>
                  <a:lnTo>
                    <a:pt x="10" y="15"/>
                  </a:lnTo>
                  <a:lnTo>
                    <a:pt x="13" y="19"/>
                  </a:lnTo>
                  <a:lnTo>
                    <a:pt x="15" y="21"/>
                  </a:lnTo>
                  <a:lnTo>
                    <a:pt x="18" y="23"/>
                  </a:lnTo>
                  <a:lnTo>
                    <a:pt x="21" y="25"/>
                  </a:lnTo>
                  <a:lnTo>
                    <a:pt x="24" y="27"/>
                  </a:lnTo>
                  <a:lnTo>
                    <a:pt x="26" y="28"/>
                  </a:lnTo>
                  <a:lnTo>
                    <a:pt x="29" y="29"/>
                  </a:lnTo>
                  <a:lnTo>
                    <a:pt x="33" y="30"/>
                  </a:lnTo>
                  <a:lnTo>
                    <a:pt x="36" y="30"/>
                  </a:lnTo>
                  <a:lnTo>
                    <a:pt x="37" y="29"/>
                  </a:lnTo>
                  <a:lnTo>
                    <a:pt x="35" y="27"/>
                  </a:lnTo>
                  <a:lnTo>
                    <a:pt x="33" y="25"/>
                  </a:lnTo>
                  <a:lnTo>
                    <a:pt x="31" y="22"/>
                  </a:lnTo>
                  <a:lnTo>
                    <a:pt x="29" y="19"/>
                  </a:lnTo>
                  <a:lnTo>
                    <a:pt x="27" y="16"/>
                  </a:lnTo>
                  <a:lnTo>
                    <a:pt x="26" y="13"/>
                  </a:lnTo>
                  <a:lnTo>
                    <a:pt x="25" y="11"/>
                  </a:lnTo>
                  <a:lnTo>
                    <a:pt x="24" y="6"/>
                  </a:lnTo>
                  <a:lnTo>
                    <a:pt x="24" y="3"/>
                  </a:lnTo>
                  <a:lnTo>
                    <a:pt x="24" y="1"/>
                  </a:lnTo>
                  <a:lnTo>
                    <a:pt x="0" y="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2" name="Freeform 6" descr="50%"/>
            <p:cNvSpPr>
              <a:spLocks/>
            </p:cNvSpPr>
            <p:nvPr/>
          </p:nvSpPr>
          <p:spPr bwMode="auto">
            <a:xfrm>
              <a:off x="807" y="1986"/>
              <a:ext cx="321" cy="98"/>
            </a:xfrm>
            <a:custGeom>
              <a:avLst/>
              <a:gdLst>
                <a:gd name="T0" fmla="*/ 3 w 321"/>
                <a:gd name="T1" fmla="*/ 58 h 98"/>
                <a:gd name="T2" fmla="*/ 13 w 321"/>
                <a:gd name="T3" fmla="*/ 54 h 98"/>
                <a:gd name="T4" fmla="*/ 28 w 321"/>
                <a:gd name="T5" fmla="*/ 49 h 98"/>
                <a:gd name="T6" fmla="*/ 43 w 321"/>
                <a:gd name="T7" fmla="*/ 46 h 98"/>
                <a:gd name="T8" fmla="*/ 59 w 321"/>
                <a:gd name="T9" fmla="*/ 43 h 98"/>
                <a:gd name="T10" fmla="*/ 75 w 321"/>
                <a:gd name="T11" fmla="*/ 40 h 98"/>
                <a:gd name="T12" fmla="*/ 88 w 321"/>
                <a:gd name="T13" fmla="*/ 37 h 98"/>
                <a:gd name="T14" fmla="*/ 95 w 321"/>
                <a:gd name="T15" fmla="*/ 33 h 98"/>
                <a:gd name="T16" fmla="*/ 103 w 321"/>
                <a:gd name="T17" fmla="*/ 25 h 98"/>
                <a:gd name="T18" fmla="*/ 114 w 321"/>
                <a:gd name="T19" fmla="*/ 14 h 98"/>
                <a:gd name="T20" fmla="*/ 125 w 321"/>
                <a:gd name="T21" fmla="*/ 4 h 98"/>
                <a:gd name="T22" fmla="*/ 133 w 321"/>
                <a:gd name="T23" fmla="*/ 12 h 98"/>
                <a:gd name="T24" fmla="*/ 137 w 321"/>
                <a:gd name="T25" fmla="*/ 29 h 98"/>
                <a:gd name="T26" fmla="*/ 140 w 321"/>
                <a:gd name="T27" fmla="*/ 36 h 98"/>
                <a:gd name="T28" fmla="*/ 159 w 321"/>
                <a:gd name="T29" fmla="*/ 39 h 98"/>
                <a:gd name="T30" fmla="*/ 177 w 321"/>
                <a:gd name="T31" fmla="*/ 43 h 98"/>
                <a:gd name="T32" fmla="*/ 191 w 321"/>
                <a:gd name="T33" fmla="*/ 43 h 98"/>
                <a:gd name="T34" fmla="*/ 206 w 321"/>
                <a:gd name="T35" fmla="*/ 39 h 98"/>
                <a:gd name="T36" fmla="*/ 218 w 321"/>
                <a:gd name="T37" fmla="*/ 48 h 98"/>
                <a:gd name="T38" fmla="*/ 229 w 321"/>
                <a:gd name="T39" fmla="*/ 51 h 98"/>
                <a:gd name="T40" fmla="*/ 243 w 321"/>
                <a:gd name="T41" fmla="*/ 51 h 98"/>
                <a:gd name="T42" fmla="*/ 258 w 321"/>
                <a:gd name="T43" fmla="*/ 45 h 98"/>
                <a:gd name="T44" fmla="*/ 275 w 321"/>
                <a:gd name="T45" fmla="*/ 31 h 98"/>
                <a:gd name="T46" fmla="*/ 294 w 321"/>
                <a:gd name="T47" fmla="*/ 14 h 98"/>
                <a:gd name="T48" fmla="*/ 314 w 321"/>
                <a:gd name="T49" fmla="*/ 8 h 98"/>
                <a:gd name="T50" fmla="*/ 314 w 321"/>
                <a:gd name="T51" fmla="*/ 13 h 98"/>
                <a:gd name="T52" fmla="*/ 305 w 321"/>
                <a:gd name="T53" fmla="*/ 25 h 98"/>
                <a:gd name="T54" fmla="*/ 294 w 321"/>
                <a:gd name="T55" fmla="*/ 37 h 98"/>
                <a:gd name="T56" fmla="*/ 287 w 321"/>
                <a:gd name="T57" fmla="*/ 48 h 98"/>
                <a:gd name="T58" fmla="*/ 287 w 321"/>
                <a:gd name="T59" fmla="*/ 60 h 98"/>
                <a:gd name="T60" fmla="*/ 295 w 321"/>
                <a:gd name="T61" fmla="*/ 73 h 98"/>
                <a:gd name="T62" fmla="*/ 305 w 321"/>
                <a:gd name="T63" fmla="*/ 82 h 98"/>
                <a:gd name="T64" fmla="*/ 313 w 321"/>
                <a:gd name="T65" fmla="*/ 89 h 98"/>
                <a:gd name="T66" fmla="*/ 314 w 321"/>
                <a:gd name="T67" fmla="*/ 93 h 98"/>
                <a:gd name="T68" fmla="*/ 302 w 321"/>
                <a:gd name="T69" fmla="*/ 93 h 98"/>
                <a:gd name="T70" fmla="*/ 291 w 321"/>
                <a:gd name="T71" fmla="*/ 90 h 98"/>
                <a:gd name="T72" fmla="*/ 281 w 321"/>
                <a:gd name="T73" fmla="*/ 85 h 98"/>
                <a:gd name="T74" fmla="*/ 264 w 321"/>
                <a:gd name="T75" fmla="*/ 74 h 98"/>
                <a:gd name="T76" fmla="*/ 243 w 321"/>
                <a:gd name="T77" fmla="*/ 72 h 98"/>
                <a:gd name="T78" fmla="*/ 218 w 321"/>
                <a:gd name="T79" fmla="*/ 75 h 98"/>
                <a:gd name="T80" fmla="*/ 202 w 321"/>
                <a:gd name="T81" fmla="*/ 82 h 98"/>
                <a:gd name="T82" fmla="*/ 197 w 321"/>
                <a:gd name="T83" fmla="*/ 89 h 98"/>
                <a:gd name="T84" fmla="*/ 175 w 321"/>
                <a:gd name="T85" fmla="*/ 88 h 98"/>
                <a:gd name="T86" fmla="*/ 156 w 321"/>
                <a:gd name="T87" fmla="*/ 94 h 98"/>
                <a:gd name="T88" fmla="*/ 86 w 321"/>
                <a:gd name="T89" fmla="*/ 97 h 98"/>
                <a:gd name="T90" fmla="*/ 46 w 321"/>
                <a:gd name="T91" fmla="*/ 93 h 98"/>
                <a:gd name="T92" fmla="*/ 11 w 321"/>
                <a:gd name="T93" fmla="*/ 81 h 98"/>
                <a:gd name="T94" fmla="*/ 11 w 321"/>
                <a:gd name="T95" fmla="*/ 74 h 98"/>
                <a:gd name="T96" fmla="*/ 3 w 321"/>
                <a:gd name="T97" fmla="*/ 67 h 98"/>
                <a:gd name="T98" fmla="*/ 0 w 321"/>
                <a:gd name="T99" fmla="*/ 62 h 9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321" h="98">
                  <a:moveTo>
                    <a:pt x="0" y="60"/>
                  </a:moveTo>
                  <a:lnTo>
                    <a:pt x="1" y="59"/>
                  </a:lnTo>
                  <a:lnTo>
                    <a:pt x="3" y="58"/>
                  </a:lnTo>
                  <a:lnTo>
                    <a:pt x="7" y="56"/>
                  </a:lnTo>
                  <a:lnTo>
                    <a:pt x="10" y="55"/>
                  </a:lnTo>
                  <a:lnTo>
                    <a:pt x="13" y="54"/>
                  </a:lnTo>
                  <a:lnTo>
                    <a:pt x="18" y="52"/>
                  </a:lnTo>
                  <a:lnTo>
                    <a:pt x="23" y="51"/>
                  </a:lnTo>
                  <a:lnTo>
                    <a:pt x="28" y="49"/>
                  </a:lnTo>
                  <a:lnTo>
                    <a:pt x="32" y="48"/>
                  </a:lnTo>
                  <a:lnTo>
                    <a:pt x="38" y="47"/>
                  </a:lnTo>
                  <a:lnTo>
                    <a:pt x="43" y="46"/>
                  </a:lnTo>
                  <a:lnTo>
                    <a:pt x="49" y="45"/>
                  </a:lnTo>
                  <a:lnTo>
                    <a:pt x="54" y="44"/>
                  </a:lnTo>
                  <a:lnTo>
                    <a:pt x="59" y="43"/>
                  </a:lnTo>
                  <a:lnTo>
                    <a:pt x="63" y="42"/>
                  </a:lnTo>
                  <a:lnTo>
                    <a:pt x="69" y="41"/>
                  </a:lnTo>
                  <a:lnTo>
                    <a:pt x="75" y="40"/>
                  </a:lnTo>
                  <a:lnTo>
                    <a:pt x="80" y="39"/>
                  </a:lnTo>
                  <a:lnTo>
                    <a:pt x="84" y="38"/>
                  </a:lnTo>
                  <a:lnTo>
                    <a:pt x="88" y="37"/>
                  </a:lnTo>
                  <a:lnTo>
                    <a:pt x="91" y="36"/>
                  </a:lnTo>
                  <a:lnTo>
                    <a:pt x="93" y="34"/>
                  </a:lnTo>
                  <a:lnTo>
                    <a:pt x="95" y="33"/>
                  </a:lnTo>
                  <a:lnTo>
                    <a:pt x="97" y="31"/>
                  </a:lnTo>
                  <a:lnTo>
                    <a:pt x="100" y="28"/>
                  </a:lnTo>
                  <a:lnTo>
                    <a:pt x="103" y="25"/>
                  </a:lnTo>
                  <a:lnTo>
                    <a:pt x="106" y="21"/>
                  </a:lnTo>
                  <a:lnTo>
                    <a:pt x="110" y="18"/>
                  </a:lnTo>
                  <a:lnTo>
                    <a:pt x="114" y="14"/>
                  </a:lnTo>
                  <a:lnTo>
                    <a:pt x="117" y="10"/>
                  </a:lnTo>
                  <a:lnTo>
                    <a:pt x="121" y="7"/>
                  </a:lnTo>
                  <a:lnTo>
                    <a:pt x="125" y="4"/>
                  </a:lnTo>
                  <a:lnTo>
                    <a:pt x="130" y="0"/>
                  </a:lnTo>
                  <a:lnTo>
                    <a:pt x="131" y="7"/>
                  </a:lnTo>
                  <a:lnTo>
                    <a:pt x="133" y="12"/>
                  </a:lnTo>
                  <a:lnTo>
                    <a:pt x="135" y="18"/>
                  </a:lnTo>
                  <a:lnTo>
                    <a:pt x="136" y="24"/>
                  </a:lnTo>
                  <a:lnTo>
                    <a:pt x="137" y="29"/>
                  </a:lnTo>
                  <a:lnTo>
                    <a:pt x="137" y="32"/>
                  </a:lnTo>
                  <a:lnTo>
                    <a:pt x="135" y="35"/>
                  </a:lnTo>
                  <a:lnTo>
                    <a:pt x="140" y="36"/>
                  </a:lnTo>
                  <a:lnTo>
                    <a:pt x="145" y="37"/>
                  </a:lnTo>
                  <a:lnTo>
                    <a:pt x="152" y="38"/>
                  </a:lnTo>
                  <a:lnTo>
                    <a:pt x="159" y="39"/>
                  </a:lnTo>
                  <a:lnTo>
                    <a:pt x="166" y="41"/>
                  </a:lnTo>
                  <a:lnTo>
                    <a:pt x="171" y="42"/>
                  </a:lnTo>
                  <a:lnTo>
                    <a:pt x="177" y="43"/>
                  </a:lnTo>
                  <a:lnTo>
                    <a:pt x="183" y="43"/>
                  </a:lnTo>
                  <a:lnTo>
                    <a:pt x="188" y="44"/>
                  </a:lnTo>
                  <a:lnTo>
                    <a:pt x="191" y="43"/>
                  </a:lnTo>
                  <a:lnTo>
                    <a:pt x="195" y="41"/>
                  </a:lnTo>
                  <a:lnTo>
                    <a:pt x="198" y="38"/>
                  </a:lnTo>
                  <a:lnTo>
                    <a:pt x="206" y="39"/>
                  </a:lnTo>
                  <a:lnTo>
                    <a:pt x="215" y="42"/>
                  </a:lnTo>
                  <a:lnTo>
                    <a:pt x="222" y="43"/>
                  </a:lnTo>
                  <a:lnTo>
                    <a:pt x="218" y="48"/>
                  </a:lnTo>
                  <a:lnTo>
                    <a:pt x="220" y="49"/>
                  </a:lnTo>
                  <a:lnTo>
                    <a:pt x="225" y="50"/>
                  </a:lnTo>
                  <a:lnTo>
                    <a:pt x="229" y="51"/>
                  </a:lnTo>
                  <a:lnTo>
                    <a:pt x="234" y="52"/>
                  </a:lnTo>
                  <a:lnTo>
                    <a:pt x="238" y="51"/>
                  </a:lnTo>
                  <a:lnTo>
                    <a:pt x="243" y="51"/>
                  </a:lnTo>
                  <a:lnTo>
                    <a:pt x="248" y="50"/>
                  </a:lnTo>
                  <a:lnTo>
                    <a:pt x="253" y="48"/>
                  </a:lnTo>
                  <a:lnTo>
                    <a:pt x="258" y="45"/>
                  </a:lnTo>
                  <a:lnTo>
                    <a:pt x="264" y="41"/>
                  </a:lnTo>
                  <a:lnTo>
                    <a:pt x="269" y="37"/>
                  </a:lnTo>
                  <a:lnTo>
                    <a:pt x="275" y="31"/>
                  </a:lnTo>
                  <a:lnTo>
                    <a:pt x="281" y="24"/>
                  </a:lnTo>
                  <a:lnTo>
                    <a:pt x="288" y="19"/>
                  </a:lnTo>
                  <a:lnTo>
                    <a:pt x="294" y="14"/>
                  </a:lnTo>
                  <a:lnTo>
                    <a:pt x="300" y="11"/>
                  </a:lnTo>
                  <a:lnTo>
                    <a:pt x="306" y="9"/>
                  </a:lnTo>
                  <a:lnTo>
                    <a:pt x="314" y="8"/>
                  </a:lnTo>
                  <a:lnTo>
                    <a:pt x="320" y="8"/>
                  </a:lnTo>
                  <a:lnTo>
                    <a:pt x="317" y="11"/>
                  </a:lnTo>
                  <a:lnTo>
                    <a:pt x="314" y="13"/>
                  </a:lnTo>
                  <a:lnTo>
                    <a:pt x="313" y="15"/>
                  </a:lnTo>
                  <a:lnTo>
                    <a:pt x="309" y="22"/>
                  </a:lnTo>
                  <a:lnTo>
                    <a:pt x="305" y="25"/>
                  </a:lnTo>
                  <a:lnTo>
                    <a:pt x="301" y="28"/>
                  </a:lnTo>
                  <a:lnTo>
                    <a:pt x="297" y="33"/>
                  </a:lnTo>
                  <a:lnTo>
                    <a:pt x="294" y="37"/>
                  </a:lnTo>
                  <a:lnTo>
                    <a:pt x="292" y="41"/>
                  </a:lnTo>
                  <a:lnTo>
                    <a:pt x="289" y="45"/>
                  </a:lnTo>
                  <a:lnTo>
                    <a:pt x="287" y="48"/>
                  </a:lnTo>
                  <a:lnTo>
                    <a:pt x="286" y="52"/>
                  </a:lnTo>
                  <a:lnTo>
                    <a:pt x="286" y="56"/>
                  </a:lnTo>
                  <a:lnTo>
                    <a:pt x="287" y="60"/>
                  </a:lnTo>
                  <a:lnTo>
                    <a:pt x="289" y="65"/>
                  </a:lnTo>
                  <a:lnTo>
                    <a:pt x="292" y="69"/>
                  </a:lnTo>
                  <a:lnTo>
                    <a:pt x="295" y="73"/>
                  </a:lnTo>
                  <a:lnTo>
                    <a:pt x="298" y="76"/>
                  </a:lnTo>
                  <a:lnTo>
                    <a:pt x="301" y="79"/>
                  </a:lnTo>
                  <a:lnTo>
                    <a:pt x="305" y="82"/>
                  </a:lnTo>
                  <a:lnTo>
                    <a:pt x="309" y="85"/>
                  </a:lnTo>
                  <a:lnTo>
                    <a:pt x="311" y="87"/>
                  </a:lnTo>
                  <a:lnTo>
                    <a:pt x="313" y="89"/>
                  </a:lnTo>
                  <a:lnTo>
                    <a:pt x="316" y="91"/>
                  </a:lnTo>
                  <a:lnTo>
                    <a:pt x="317" y="93"/>
                  </a:lnTo>
                  <a:lnTo>
                    <a:pt x="314" y="93"/>
                  </a:lnTo>
                  <a:lnTo>
                    <a:pt x="309" y="93"/>
                  </a:lnTo>
                  <a:lnTo>
                    <a:pt x="305" y="93"/>
                  </a:lnTo>
                  <a:lnTo>
                    <a:pt x="302" y="93"/>
                  </a:lnTo>
                  <a:lnTo>
                    <a:pt x="297" y="92"/>
                  </a:lnTo>
                  <a:lnTo>
                    <a:pt x="294" y="91"/>
                  </a:lnTo>
                  <a:lnTo>
                    <a:pt x="291" y="90"/>
                  </a:lnTo>
                  <a:lnTo>
                    <a:pt x="288" y="88"/>
                  </a:lnTo>
                  <a:lnTo>
                    <a:pt x="284" y="87"/>
                  </a:lnTo>
                  <a:lnTo>
                    <a:pt x="281" y="85"/>
                  </a:lnTo>
                  <a:lnTo>
                    <a:pt x="274" y="80"/>
                  </a:lnTo>
                  <a:lnTo>
                    <a:pt x="270" y="77"/>
                  </a:lnTo>
                  <a:lnTo>
                    <a:pt x="264" y="74"/>
                  </a:lnTo>
                  <a:lnTo>
                    <a:pt x="258" y="73"/>
                  </a:lnTo>
                  <a:lnTo>
                    <a:pt x="252" y="73"/>
                  </a:lnTo>
                  <a:lnTo>
                    <a:pt x="243" y="72"/>
                  </a:lnTo>
                  <a:lnTo>
                    <a:pt x="235" y="73"/>
                  </a:lnTo>
                  <a:lnTo>
                    <a:pt x="227" y="74"/>
                  </a:lnTo>
                  <a:lnTo>
                    <a:pt x="218" y="75"/>
                  </a:lnTo>
                  <a:lnTo>
                    <a:pt x="209" y="77"/>
                  </a:lnTo>
                  <a:lnTo>
                    <a:pt x="203" y="80"/>
                  </a:lnTo>
                  <a:lnTo>
                    <a:pt x="202" y="82"/>
                  </a:lnTo>
                  <a:lnTo>
                    <a:pt x="203" y="83"/>
                  </a:lnTo>
                  <a:lnTo>
                    <a:pt x="208" y="86"/>
                  </a:lnTo>
                  <a:lnTo>
                    <a:pt x="197" y="89"/>
                  </a:lnTo>
                  <a:lnTo>
                    <a:pt x="182" y="93"/>
                  </a:lnTo>
                  <a:lnTo>
                    <a:pt x="179" y="90"/>
                  </a:lnTo>
                  <a:lnTo>
                    <a:pt x="175" y="88"/>
                  </a:lnTo>
                  <a:lnTo>
                    <a:pt x="171" y="87"/>
                  </a:lnTo>
                  <a:lnTo>
                    <a:pt x="164" y="87"/>
                  </a:lnTo>
                  <a:lnTo>
                    <a:pt x="156" y="94"/>
                  </a:lnTo>
                  <a:lnTo>
                    <a:pt x="149" y="89"/>
                  </a:lnTo>
                  <a:lnTo>
                    <a:pt x="97" y="96"/>
                  </a:lnTo>
                  <a:lnTo>
                    <a:pt x="86" y="97"/>
                  </a:lnTo>
                  <a:lnTo>
                    <a:pt x="77" y="96"/>
                  </a:lnTo>
                  <a:lnTo>
                    <a:pt x="66" y="95"/>
                  </a:lnTo>
                  <a:lnTo>
                    <a:pt x="46" y="93"/>
                  </a:lnTo>
                  <a:lnTo>
                    <a:pt x="28" y="88"/>
                  </a:lnTo>
                  <a:lnTo>
                    <a:pt x="18" y="84"/>
                  </a:lnTo>
                  <a:lnTo>
                    <a:pt x="11" y="81"/>
                  </a:lnTo>
                  <a:lnTo>
                    <a:pt x="18" y="79"/>
                  </a:lnTo>
                  <a:lnTo>
                    <a:pt x="14" y="76"/>
                  </a:lnTo>
                  <a:lnTo>
                    <a:pt x="11" y="74"/>
                  </a:lnTo>
                  <a:lnTo>
                    <a:pt x="6" y="70"/>
                  </a:lnTo>
                  <a:lnTo>
                    <a:pt x="5" y="69"/>
                  </a:lnTo>
                  <a:lnTo>
                    <a:pt x="3" y="67"/>
                  </a:lnTo>
                  <a:lnTo>
                    <a:pt x="2" y="66"/>
                  </a:lnTo>
                  <a:lnTo>
                    <a:pt x="1" y="63"/>
                  </a:lnTo>
                  <a:lnTo>
                    <a:pt x="0" y="62"/>
                  </a:lnTo>
                  <a:lnTo>
                    <a:pt x="0" y="6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53" name="Group 7"/>
            <p:cNvGrpSpPr>
              <a:grpSpLocks/>
            </p:cNvGrpSpPr>
            <p:nvPr/>
          </p:nvGrpSpPr>
          <p:grpSpPr bwMode="auto">
            <a:xfrm>
              <a:off x="834" y="2048"/>
              <a:ext cx="2" cy="3"/>
              <a:chOff x="772" y="2047"/>
              <a:chExt cx="2" cy="3"/>
            </a:xfrm>
          </p:grpSpPr>
          <p:sp>
            <p:nvSpPr>
              <p:cNvPr id="6224" name="Oval 8" descr="50%"/>
              <p:cNvSpPr>
                <a:spLocks noChangeArrowheads="1"/>
              </p:cNvSpPr>
              <p:nvPr/>
            </p:nvSpPr>
            <p:spPr bwMode="auto">
              <a:xfrm>
                <a:off x="772" y="2047"/>
                <a:ext cx="2" cy="2"/>
              </a:xfrm>
              <a:prstGeom prst="ellipse">
                <a:avLst/>
              </a:pr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25" name="Arc 9" descr="50%"/>
              <p:cNvSpPr>
                <a:spLocks/>
              </p:cNvSpPr>
              <p:nvPr/>
            </p:nvSpPr>
            <p:spPr bwMode="auto">
              <a:xfrm>
                <a:off x="773" y="2048"/>
                <a:ext cx="1" cy="2"/>
              </a:xfrm>
              <a:custGeom>
                <a:avLst/>
                <a:gdLst>
                  <a:gd name="T0" fmla="*/ 0 w 43200"/>
                  <a:gd name="T1" fmla="*/ 1 h 43200"/>
                  <a:gd name="T2" fmla="*/ 0 w 43200"/>
                  <a:gd name="T3" fmla="*/ 1 h 43200"/>
                  <a:gd name="T4" fmla="*/ 1 w 43200"/>
                  <a:gd name="T5" fmla="*/ 1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2280" y="11940"/>
                    </a:moveTo>
                  </a:path>
                  <a:path w="43200" h="43200" stroke="0" extrusionOk="0">
                    <a:moveTo>
                      <a:pt x="2280" y="11940"/>
                    </a:moveTo>
                    <a:lnTo>
                      <a:pt x="21600" y="21600"/>
                    </a:lnTo>
                    <a:lnTo>
                      <a:pt x="2280" y="11940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154" name="Group 10"/>
            <p:cNvGrpSpPr>
              <a:grpSpLocks/>
            </p:cNvGrpSpPr>
            <p:nvPr/>
          </p:nvGrpSpPr>
          <p:grpSpPr bwMode="auto">
            <a:xfrm>
              <a:off x="851" y="2060"/>
              <a:ext cx="23" cy="4"/>
              <a:chOff x="789" y="2059"/>
              <a:chExt cx="23" cy="4"/>
            </a:xfrm>
          </p:grpSpPr>
          <p:sp>
            <p:nvSpPr>
              <p:cNvPr id="6219" name="Arc 11" descr="50%"/>
              <p:cNvSpPr>
                <a:spLocks/>
              </p:cNvSpPr>
              <p:nvPr/>
            </p:nvSpPr>
            <p:spPr bwMode="auto">
              <a:xfrm>
                <a:off x="793" y="2059"/>
                <a:ext cx="0" cy="4"/>
              </a:xfrm>
              <a:custGeom>
                <a:avLst/>
                <a:gdLst>
                  <a:gd name="T0" fmla="*/ 1 w 43200"/>
                  <a:gd name="T1" fmla="*/ 2 h 43200"/>
                  <a:gd name="T2" fmla="*/ 1 w 43200"/>
                  <a:gd name="T3" fmla="*/ 2 h 43200"/>
                  <a:gd name="T4" fmla="*/ 1 w 43200"/>
                  <a:gd name="T5" fmla="*/ 2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43200" stroke="0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lnTo>
                      <a:pt x="43200" y="21600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20" name="Arc 12" descr="50%"/>
              <p:cNvSpPr>
                <a:spLocks/>
              </p:cNvSpPr>
              <p:nvPr/>
            </p:nvSpPr>
            <p:spPr bwMode="auto">
              <a:xfrm>
                <a:off x="789" y="2059"/>
                <a:ext cx="0" cy="4"/>
              </a:xfrm>
              <a:custGeom>
                <a:avLst/>
                <a:gdLst>
                  <a:gd name="T0" fmla="*/ 1 w 43200"/>
                  <a:gd name="T1" fmla="*/ 2 h 43200"/>
                  <a:gd name="T2" fmla="*/ 1 w 43200"/>
                  <a:gd name="T3" fmla="*/ 2 h 43200"/>
                  <a:gd name="T4" fmla="*/ 1 w 43200"/>
                  <a:gd name="T5" fmla="*/ 2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43200" stroke="0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lnTo>
                      <a:pt x="43200" y="21600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21" name="Arc 13" descr="50%"/>
              <p:cNvSpPr>
                <a:spLocks/>
              </p:cNvSpPr>
              <p:nvPr/>
            </p:nvSpPr>
            <p:spPr bwMode="auto">
              <a:xfrm>
                <a:off x="796" y="2059"/>
                <a:ext cx="7" cy="4"/>
              </a:xfrm>
              <a:custGeom>
                <a:avLst/>
                <a:gdLst>
                  <a:gd name="T0" fmla="*/ 2 w 35950"/>
                  <a:gd name="T1" fmla="*/ 0 h 43200"/>
                  <a:gd name="T2" fmla="*/ 0 w 35950"/>
                  <a:gd name="T3" fmla="*/ 3 h 43200"/>
                  <a:gd name="T4" fmla="*/ 3 w 35950"/>
                  <a:gd name="T5" fmla="*/ 2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950" h="43200" fill="none" extrusionOk="0">
                    <a:moveTo>
                      <a:pt x="9664" y="514"/>
                    </a:moveTo>
                    <a:cubicBezTo>
                      <a:pt x="11202" y="172"/>
                      <a:pt x="12773" y="-1"/>
                      <a:pt x="14350" y="0"/>
                    </a:cubicBezTo>
                    <a:cubicBezTo>
                      <a:pt x="26279" y="0"/>
                      <a:pt x="35950" y="9670"/>
                      <a:pt x="35950" y="21600"/>
                    </a:cubicBezTo>
                    <a:cubicBezTo>
                      <a:pt x="35950" y="33529"/>
                      <a:pt x="26279" y="43200"/>
                      <a:pt x="14350" y="43200"/>
                    </a:cubicBezTo>
                    <a:cubicBezTo>
                      <a:pt x="9059" y="43200"/>
                      <a:pt x="3953" y="41258"/>
                      <a:pt x="-1" y="37744"/>
                    </a:cubicBezTo>
                  </a:path>
                  <a:path w="35950" h="43200" stroke="0" extrusionOk="0">
                    <a:moveTo>
                      <a:pt x="9664" y="514"/>
                    </a:moveTo>
                    <a:cubicBezTo>
                      <a:pt x="11202" y="172"/>
                      <a:pt x="12773" y="-1"/>
                      <a:pt x="14350" y="0"/>
                    </a:cubicBezTo>
                    <a:cubicBezTo>
                      <a:pt x="26279" y="0"/>
                      <a:pt x="35950" y="9670"/>
                      <a:pt x="35950" y="21600"/>
                    </a:cubicBezTo>
                    <a:cubicBezTo>
                      <a:pt x="35950" y="33529"/>
                      <a:pt x="26279" y="43200"/>
                      <a:pt x="14350" y="43200"/>
                    </a:cubicBezTo>
                    <a:cubicBezTo>
                      <a:pt x="9059" y="43200"/>
                      <a:pt x="3953" y="41258"/>
                      <a:pt x="-1" y="37744"/>
                    </a:cubicBezTo>
                    <a:lnTo>
                      <a:pt x="14350" y="21600"/>
                    </a:lnTo>
                    <a:lnTo>
                      <a:pt x="9664" y="51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22" name="Arc 14" descr="50%"/>
              <p:cNvSpPr>
                <a:spLocks/>
              </p:cNvSpPr>
              <p:nvPr/>
            </p:nvSpPr>
            <p:spPr bwMode="auto">
              <a:xfrm>
                <a:off x="800" y="2059"/>
                <a:ext cx="7" cy="4"/>
              </a:xfrm>
              <a:custGeom>
                <a:avLst/>
                <a:gdLst>
                  <a:gd name="T0" fmla="*/ 2 w 35950"/>
                  <a:gd name="T1" fmla="*/ 0 h 43200"/>
                  <a:gd name="T2" fmla="*/ 0 w 35950"/>
                  <a:gd name="T3" fmla="*/ 3 h 43200"/>
                  <a:gd name="T4" fmla="*/ 3 w 35950"/>
                  <a:gd name="T5" fmla="*/ 2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950" h="43200" fill="none" extrusionOk="0">
                    <a:moveTo>
                      <a:pt x="9664" y="514"/>
                    </a:moveTo>
                    <a:cubicBezTo>
                      <a:pt x="11202" y="172"/>
                      <a:pt x="12773" y="-1"/>
                      <a:pt x="14350" y="0"/>
                    </a:cubicBezTo>
                    <a:cubicBezTo>
                      <a:pt x="26279" y="0"/>
                      <a:pt x="35950" y="9670"/>
                      <a:pt x="35950" y="21600"/>
                    </a:cubicBezTo>
                    <a:cubicBezTo>
                      <a:pt x="35950" y="33529"/>
                      <a:pt x="26279" y="43200"/>
                      <a:pt x="14350" y="43200"/>
                    </a:cubicBezTo>
                    <a:cubicBezTo>
                      <a:pt x="9059" y="43200"/>
                      <a:pt x="3953" y="41258"/>
                      <a:pt x="-1" y="37744"/>
                    </a:cubicBezTo>
                  </a:path>
                  <a:path w="35950" h="43200" stroke="0" extrusionOk="0">
                    <a:moveTo>
                      <a:pt x="9664" y="514"/>
                    </a:moveTo>
                    <a:cubicBezTo>
                      <a:pt x="11202" y="172"/>
                      <a:pt x="12773" y="-1"/>
                      <a:pt x="14350" y="0"/>
                    </a:cubicBezTo>
                    <a:cubicBezTo>
                      <a:pt x="26279" y="0"/>
                      <a:pt x="35950" y="9670"/>
                      <a:pt x="35950" y="21600"/>
                    </a:cubicBezTo>
                    <a:cubicBezTo>
                      <a:pt x="35950" y="33529"/>
                      <a:pt x="26279" y="43200"/>
                      <a:pt x="14350" y="43200"/>
                    </a:cubicBezTo>
                    <a:cubicBezTo>
                      <a:pt x="9059" y="43200"/>
                      <a:pt x="3953" y="41258"/>
                      <a:pt x="-1" y="37744"/>
                    </a:cubicBezTo>
                    <a:lnTo>
                      <a:pt x="14350" y="21600"/>
                    </a:lnTo>
                    <a:lnTo>
                      <a:pt x="9664" y="51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23" name="Arc 15" descr="50%"/>
              <p:cNvSpPr>
                <a:spLocks/>
              </p:cNvSpPr>
              <p:nvPr/>
            </p:nvSpPr>
            <p:spPr bwMode="auto">
              <a:xfrm>
                <a:off x="806" y="2059"/>
                <a:ext cx="6" cy="4"/>
              </a:xfrm>
              <a:custGeom>
                <a:avLst/>
                <a:gdLst>
                  <a:gd name="T0" fmla="*/ 1 w 30373"/>
                  <a:gd name="T1" fmla="*/ 0 h 43200"/>
                  <a:gd name="T2" fmla="*/ 0 w 30373"/>
                  <a:gd name="T3" fmla="*/ 4 h 43200"/>
                  <a:gd name="T4" fmla="*/ 2 w 30373"/>
                  <a:gd name="T5" fmla="*/ 2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373" h="43200" fill="none" extrusionOk="0">
                    <a:moveTo>
                      <a:pt x="4087" y="514"/>
                    </a:moveTo>
                    <a:cubicBezTo>
                      <a:pt x="5625" y="172"/>
                      <a:pt x="7196" y="-1"/>
                      <a:pt x="8773" y="0"/>
                    </a:cubicBezTo>
                    <a:cubicBezTo>
                      <a:pt x="20702" y="0"/>
                      <a:pt x="30373" y="9670"/>
                      <a:pt x="30373" y="21600"/>
                    </a:cubicBezTo>
                    <a:cubicBezTo>
                      <a:pt x="30373" y="33529"/>
                      <a:pt x="20702" y="43200"/>
                      <a:pt x="8773" y="43200"/>
                    </a:cubicBezTo>
                    <a:cubicBezTo>
                      <a:pt x="5750" y="43200"/>
                      <a:pt x="2761" y="42565"/>
                      <a:pt x="-1" y="41338"/>
                    </a:cubicBezTo>
                  </a:path>
                  <a:path w="30373" h="43200" stroke="0" extrusionOk="0">
                    <a:moveTo>
                      <a:pt x="4087" y="514"/>
                    </a:moveTo>
                    <a:cubicBezTo>
                      <a:pt x="5625" y="172"/>
                      <a:pt x="7196" y="-1"/>
                      <a:pt x="8773" y="0"/>
                    </a:cubicBezTo>
                    <a:cubicBezTo>
                      <a:pt x="20702" y="0"/>
                      <a:pt x="30373" y="9670"/>
                      <a:pt x="30373" y="21600"/>
                    </a:cubicBezTo>
                    <a:cubicBezTo>
                      <a:pt x="30373" y="33529"/>
                      <a:pt x="20702" y="43200"/>
                      <a:pt x="8773" y="43200"/>
                    </a:cubicBezTo>
                    <a:cubicBezTo>
                      <a:pt x="5750" y="43200"/>
                      <a:pt x="2761" y="42565"/>
                      <a:pt x="-1" y="41338"/>
                    </a:cubicBezTo>
                    <a:lnTo>
                      <a:pt x="8773" y="21600"/>
                    </a:lnTo>
                    <a:lnTo>
                      <a:pt x="4087" y="51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155" name="Freeform 16" descr="50%"/>
            <p:cNvSpPr>
              <a:spLocks/>
            </p:cNvSpPr>
            <p:nvPr/>
          </p:nvSpPr>
          <p:spPr bwMode="auto">
            <a:xfrm>
              <a:off x="807" y="1988"/>
              <a:ext cx="312" cy="58"/>
            </a:xfrm>
            <a:custGeom>
              <a:avLst/>
              <a:gdLst>
                <a:gd name="T0" fmla="*/ 7 w 312"/>
                <a:gd name="T1" fmla="*/ 48 h 58"/>
                <a:gd name="T2" fmla="*/ 21 w 312"/>
                <a:gd name="T3" fmla="*/ 44 h 58"/>
                <a:gd name="T4" fmla="*/ 42 w 312"/>
                <a:gd name="T5" fmla="*/ 39 h 58"/>
                <a:gd name="T6" fmla="*/ 63 w 312"/>
                <a:gd name="T7" fmla="*/ 36 h 58"/>
                <a:gd name="T8" fmla="*/ 83 w 312"/>
                <a:gd name="T9" fmla="*/ 32 h 58"/>
                <a:gd name="T10" fmla="*/ 94 w 312"/>
                <a:gd name="T11" fmla="*/ 27 h 58"/>
                <a:gd name="T12" fmla="*/ 104 w 312"/>
                <a:gd name="T13" fmla="*/ 18 h 58"/>
                <a:gd name="T14" fmla="*/ 119 w 312"/>
                <a:gd name="T15" fmla="*/ 5 h 58"/>
                <a:gd name="T16" fmla="*/ 130 w 312"/>
                <a:gd name="T17" fmla="*/ 10 h 58"/>
                <a:gd name="T18" fmla="*/ 134 w 312"/>
                <a:gd name="T19" fmla="*/ 25 h 58"/>
                <a:gd name="T20" fmla="*/ 142 w 312"/>
                <a:gd name="T21" fmla="*/ 31 h 58"/>
                <a:gd name="T22" fmla="*/ 168 w 312"/>
                <a:gd name="T23" fmla="*/ 35 h 58"/>
                <a:gd name="T24" fmla="*/ 187 w 312"/>
                <a:gd name="T25" fmla="*/ 36 h 58"/>
                <a:gd name="T26" fmla="*/ 210 w 312"/>
                <a:gd name="T27" fmla="*/ 35 h 58"/>
                <a:gd name="T28" fmla="*/ 219 w 312"/>
                <a:gd name="T29" fmla="*/ 43 h 58"/>
                <a:gd name="T30" fmla="*/ 238 w 312"/>
                <a:gd name="T31" fmla="*/ 44 h 58"/>
                <a:gd name="T32" fmla="*/ 258 w 312"/>
                <a:gd name="T33" fmla="*/ 34 h 58"/>
                <a:gd name="T34" fmla="*/ 275 w 312"/>
                <a:gd name="T35" fmla="*/ 20 h 58"/>
                <a:gd name="T36" fmla="*/ 288 w 312"/>
                <a:gd name="T37" fmla="*/ 11 h 58"/>
                <a:gd name="T38" fmla="*/ 299 w 312"/>
                <a:gd name="T39" fmla="*/ 6 h 58"/>
                <a:gd name="T40" fmla="*/ 309 w 312"/>
                <a:gd name="T41" fmla="*/ 8 h 58"/>
                <a:gd name="T42" fmla="*/ 301 w 312"/>
                <a:gd name="T43" fmla="*/ 18 h 58"/>
                <a:gd name="T44" fmla="*/ 291 w 312"/>
                <a:gd name="T45" fmla="*/ 26 h 58"/>
                <a:gd name="T46" fmla="*/ 285 w 312"/>
                <a:gd name="T47" fmla="*/ 34 h 58"/>
                <a:gd name="T48" fmla="*/ 280 w 312"/>
                <a:gd name="T49" fmla="*/ 40 h 58"/>
                <a:gd name="T50" fmla="*/ 279 w 312"/>
                <a:gd name="T51" fmla="*/ 48 h 58"/>
                <a:gd name="T52" fmla="*/ 270 w 312"/>
                <a:gd name="T53" fmla="*/ 46 h 58"/>
                <a:gd name="T54" fmla="*/ 262 w 312"/>
                <a:gd name="T55" fmla="*/ 49 h 58"/>
                <a:gd name="T56" fmla="*/ 253 w 312"/>
                <a:gd name="T57" fmla="*/ 48 h 58"/>
                <a:gd name="T58" fmla="*/ 243 w 312"/>
                <a:gd name="T59" fmla="*/ 48 h 58"/>
                <a:gd name="T60" fmla="*/ 232 w 312"/>
                <a:gd name="T61" fmla="*/ 47 h 58"/>
                <a:gd name="T62" fmla="*/ 220 w 312"/>
                <a:gd name="T63" fmla="*/ 48 h 58"/>
                <a:gd name="T64" fmla="*/ 208 w 312"/>
                <a:gd name="T65" fmla="*/ 50 h 58"/>
                <a:gd name="T66" fmla="*/ 196 w 312"/>
                <a:gd name="T67" fmla="*/ 50 h 58"/>
                <a:gd name="T68" fmla="*/ 184 w 312"/>
                <a:gd name="T69" fmla="*/ 50 h 58"/>
                <a:gd name="T70" fmla="*/ 174 w 312"/>
                <a:gd name="T71" fmla="*/ 52 h 58"/>
                <a:gd name="T72" fmla="*/ 162 w 312"/>
                <a:gd name="T73" fmla="*/ 54 h 58"/>
                <a:gd name="T74" fmla="*/ 148 w 312"/>
                <a:gd name="T75" fmla="*/ 54 h 58"/>
                <a:gd name="T76" fmla="*/ 136 w 312"/>
                <a:gd name="T77" fmla="*/ 54 h 58"/>
                <a:gd name="T78" fmla="*/ 125 w 312"/>
                <a:gd name="T79" fmla="*/ 53 h 58"/>
                <a:gd name="T80" fmla="*/ 113 w 312"/>
                <a:gd name="T81" fmla="*/ 54 h 58"/>
                <a:gd name="T82" fmla="*/ 104 w 312"/>
                <a:gd name="T83" fmla="*/ 53 h 58"/>
                <a:gd name="T84" fmla="*/ 93 w 312"/>
                <a:gd name="T85" fmla="*/ 54 h 58"/>
                <a:gd name="T86" fmla="*/ 80 w 312"/>
                <a:gd name="T87" fmla="*/ 54 h 58"/>
                <a:gd name="T88" fmla="*/ 64 w 312"/>
                <a:gd name="T89" fmla="*/ 57 h 58"/>
                <a:gd name="T90" fmla="*/ 46 w 312"/>
                <a:gd name="T91" fmla="*/ 57 h 58"/>
                <a:gd name="T92" fmla="*/ 31 w 312"/>
                <a:gd name="T93" fmla="*/ 55 h 58"/>
                <a:gd name="T94" fmla="*/ 17 w 312"/>
                <a:gd name="T95" fmla="*/ 55 h 58"/>
                <a:gd name="T96" fmla="*/ 4 w 312"/>
                <a:gd name="T97" fmla="*/ 53 h 58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312" h="58">
                  <a:moveTo>
                    <a:pt x="0" y="52"/>
                  </a:moveTo>
                  <a:lnTo>
                    <a:pt x="2" y="50"/>
                  </a:lnTo>
                  <a:lnTo>
                    <a:pt x="5" y="49"/>
                  </a:lnTo>
                  <a:lnTo>
                    <a:pt x="7" y="48"/>
                  </a:lnTo>
                  <a:lnTo>
                    <a:pt x="10" y="47"/>
                  </a:lnTo>
                  <a:lnTo>
                    <a:pt x="13" y="46"/>
                  </a:lnTo>
                  <a:lnTo>
                    <a:pt x="18" y="45"/>
                  </a:lnTo>
                  <a:lnTo>
                    <a:pt x="21" y="44"/>
                  </a:lnTo>
                  <a:lnTo>
                    <a:pt x="26" y="42"/>
                  </a:lnTo>
                  <a:lnTo>
                    <a:pt x="31" y="41"/>
                  </a:lnTo>
                  <a:lnTo>
                    <a:pt x="37" y="40"/>
                  </a:lnTo>
                  <a:lnTo>
                    <a:pt x="42" y="39"/>
                  </a:lnTo>
                  <a:lnTo>
                    <a:pt x="48" y="39"/>
                  </a:lnTo>
                  <a:lnTo>
                    <a:pt x="53" y="38"/>
                  </a:lnTo>
                  <a:lnTo>
                    <a:pt x="58" y="37"/>
                  </a:lnTo>
                  <a:lnTo>
                    <a:pt x="63" y="36"/>
                  </a:lnTo>
                  <a:lnTo>
                    <a:pt x="67" y="35"/>
                  </a:lnTo>
                  <a:lnTo>
                    <a:pt x="73" y="34"/>
                  </a:lnTo>
                  <a:lnTo>
                    <a:pt x="78" y="33"/>
                  </a:lnTo>
                  <a:lnTo>
                    <a:pt x="83" y="32"/>
                  </a:lnTo>
                  <a:lnTo>
                    <a:pt x="86" y="32"/>
                  </a:lnTo>
                  <a:lnTo>
                    <a:pt x="90" y="30"/>
                  </a:lnTo>
                  <a:lnTo>
                    <a:pt x="92" y="29"/>
                  </a:lnTo>
                  <a:lnTo>
                    <a:pt x="94" y="27"/>
                  </a:lnTo>
                  <a:lnTo>
                    <a:pt x="96" y="25"/>
                  </a:lnTo>
                  <a:lnTo>
                    <a:pt x="98" y="23"/>
                  </a:lnTo>
                  <a:lnTo>
                    <a:pt x="101" y="20"/>
                  </a:lnTo>
                  <a:lnTo>
                    <a:pt x="104" y="18"/>
                  </a:lnTo>
                  <a:lnTo>
                    <a:pt x="107" y="14"/>
                  </a:lnTo>
                  <a:lnTo>
                    <a:pt x="111" y="11"/>
                  </a:lnTo>
                  <a:lnTo>
                    <a:pt x="115" y="8"/>
                  </a:lnTo>
                  <a:lnTo>
                    <a:pt x="119" y="5"/>
                  </a:lnTo>
                  <a:lnTo>
                    <a:pt x="123" y="2"/>
                  </a:lnTo>
                  <a:lnTo>
                    <a:pt x="127" y="0"/>
                  </a:lnTo>
                  <a:lnTo>
                    <a:pt x="128" y="4"/>
                  </a:lnTo>
                  <a:lnTo>
                    <a:pt x="130" y="10"/>
                  </a:lnTo>
                  <a:lnTo>
                    <a:pt x="132" y="15"/>
                  </a:lnTo>
                  <a:lnTo>
                    <a:pt x="133" y="20"/>
                  </a:lnTo>
                  <a:lnTo>
                    <a:pt x="134" y="22"/>
                  </a:lnTo>
                  <a:lnTo>
                    <a:pt x="134" y="25"/>
                  </a:lnTo>
                  <a:lnTo>
                    <a:pt x="134" y="27"/>
                  </a:lnTo>
                  <a:lnTo>
                    <a:pt x="132" y="29"/>
                  </a:lnTo>
                  <a:lnTo>
                    <a:pt x="137" y="31"/>
                  </a:lnTo>
                  <a:lnTo>
                    <a:pt x="142" y="31"/>
                  </a:lnTo>
                  <a:lnTo>
                    <a:pt x="148" y="32"/>
                  </a:lnTo>
                  <a:lnTo>
                    <a:pt x="155" y="33"/>
                  </a:lnTo>
                  <a:lnTo>
                    <a:pt x="162" y="34"/>
                  </a:lnTo>
                  <a:lnTo>
                    <a:pt x="168" y="35"/>
                  </a:lnTo>
                  <a:lnTo>
                    <a:pt x="174" y="36"/>
                  </a:lnTo>
                  <a:lnTo>
                    <a:pt x="178" y="37"/>
                  </a:lnTo>
                  <a:lnTo>
                    <a:pt x="183" y="37"/>
                  </a:lnTo>
                  <a:lnTo>
                    <a:pt x="187" y="36"/>
                  </a:lnTo>
                  <a:lnTo>
                    <a:pt x="190" y="34"/>
                  </a:lnTo>
                  <a:lnTo>
                    <a:pt x="194" y="32"/>
                  </a:lnTo>
                  <a:lnTo>
                    <a:pt x="202" y="33"/>
                  </a:lnTo>
                  <a:lnTo>
                    <a:pt x="210" y="35"/>
                  </a:lnTo>
                  <a:lnTo>
                    <a:pt x="216" y="37"/>
                  </a:lnTo>
                  <a:lnTo>
                    <a:pt x="213" y="40"/>
                  </a:lnTo>
                  <a:lnTo>
                    <a:pt x="215" y="41"/>
                  </a:lnTo>
                  <a:lnTo>
                    <a:pt x="219" y="43"/>
                  </a:lnTo>
                  <a:lnTo>
                    <a:pt x="223" y="44"/>
                  </a:lnTo>
                  <a:lnTo>
                    <a:pt x="228" y="44"/>
                  </a:lnTo>
                  <a:lnTo>
                    <a:pt x="233" y="44"/>
                  </a:lnTo>
                  <a:lnTo>
                    <a:pt x="238" y="44"/>
                  </a:lnTo>
                  <a:lnTo>
                    <a:pt x="242" y="43"/>
                  </a:lnTo>
                  <a:lnTo>
                    <a:pt x="248" y="41"/>
                  </a:lnTo>
                  <a:lnTo>
                    <a:pt x="253" y="39"/>
                  </a:lnTo>
                  <a:lnTo>
                    <a:pt x="258" y="34"/>
                  </a:lnTo>
                  <a:lnTo>
                    <a:pt x="263" y="31"/>
                  </a:lnTo>
                  <a:lnTo>
                    <a:pt x="268" y="26"/>
                  </a:lnTo>
                  <a:lnTo>
                    <a:pt x="271" y="24"/>
                  </a:lnTo>
                  <a:lnTo>
                    <a:pt x="275" y="20"/>
                  </a:lnTo>
                  <a:lnTo>
                    <a:pt x="278" y="18"/>
                  </a:lnTo>
                  <a:lnTo>
                    <a:pt x="282" y="15"/>
                  </a:lnTo>
                  <a:lnTo>
                    <a:pt x="285" y="13"/>
                  </a:lnTo>
                  <a:lnTo>
                    <a:pt x="288" y="11"/>
                  </a:lnTo>
                  <a:lnTo>
                    <a:pt x="291" y="10"/>
                  </a:lnTo>
                  <a:lnTo>
                    <a:pt x="293" y="9"/>
                  </a:lnTo>
                  <a:lnTo>
                    <a:pt x="296" y="7"/>
                  </a:lnTo>
                  <a:lnTo>
                    <a:pt x="299" y="6"/>
                  </a:lnTo>
                  <a:lnTo>
                    <a:pt x="302" y="6"/>
                  </a:lnTo>
                  <a:lnTo>
                    <a:pt x="306" y="6"/>
                  </a:lnTo>
                  <a:lnTo>
                    <a:pt x="311" y="6"/>
                  </a:lnTo>
                  <a:lnTo>
                    <a:pt x="309" y="8"/>
                  </a:lnTo>
                  <a:lnTo>
                    <a:pt x="307" y="11"/>
                  </a:lnTo>
                  <a:lnTo>
                    <a:pt x="305" y="12"/>
                  </a:lnTo>
                  <a:lnTo>
                    <a:pt x="303" y="15"/>
                  </a:lnTo>
                  <a:lnTo>
                    <a:pt x="301" y="18"/>
                  </a:lnTo>
                  <a:lnTo>
                    <a:pt x="298" y="20"/>
                  </a:lnTo>
                  <a:lnTo>
                    <a:pt x="294" y="23"/>
                  </a:lnTo>
                  <a:lnTo>
                    <a:pt x="292" y="25"/>
                  </a:lnTo>
                  <a:lnTo>
                    <a:pt x="291" y="26"/>
                  </a:lnTo>
                  <a:lnTo>
                    <a:pt x="289" y="29"/>
                  </a:lnTo>
                  <a:lnTo>
                    <a:pt x="288" y="30"/>
                  </a:lnTo>
                  <a:lnTo>
                    <a:pt x="286" y="32"/>
                  </a:lnTo>
                  <a:lnTo>
                    <a:pt x="285" y="34"/>
                  </a:lnTo>
                  <a:lnTo>
                    <a:pt x="284" y="36"/>
                  </a:lnTo>
                  <a:lnTo>
                    <a:pt x="282" y="38"/>
                  </a:lnTo>
                  <a:lnTo>
                    <a:pt x="281" y="39"/>
                  </a:lnTo>
                  <a:lnTo>
                    <a:pt x="280" y="40"/>
                  </a:lnTo>
                  <a:lnTo>
                    <a:pt x="280" y="43"/>
                  </a:lnTo>
                  <a:lnTo>
                    <a:pt x="279" y="44"/>
                  </a:lnTo>
                  <a:lnTo>
                    <a:pt x="279" y="46"/>
                  </a:lnTo>
                  <a:lnTo>
                    <a:pt x="279" y="48"/>
                  </a:lnTo>
                  <a:lnTo>
                    <a:pt x="277" y="46"/>
                  </a:lnTo>
                  <a:lnTo>
                    <a:pt x="274" y="46"/>
                  </a:lnTo>
                  <a:lnTo>
                    <a:pt x="272" y="46"/>
                  </a:lnTo>
                  <a:lnTo>
                    <a:pt x="270" y="46"/>
                  </a:lnTo>
                  <a:lnTo>
                    <a:pt x="268" y="47"/>
                  </a:lnTo>
                  <a:lnTo>
                    <a:pt x="266" y="48"/>
                  </a:lnTo>
                  <a:lnTo>
                    <a:pt x="264" y="48"/>
                  </a:lnTo>
                  <a:lnTo>
                    <a:pt x="262" y="49"/>
                  </a:lnTo>
                  <a:lnTo>
                    <a:pt x="259" y="49"/>
                  </a:lnTo>
                  <a:lnTo>
                    <a:pt x="256" y="49"/>
                  </a:lnTo>
                  <a:lnTo>
                    <a:pt x="254" y="48"/>
                  </a:lnTo>
                  <a:lnTo>
                    <a:pt x="253" y="48"/>
                  </a:lnTo>
                  <a:lnTo>
                    <a:pt x="251" y="47"/>
                  </a:lnTo>
                  <a:lnTo>
                    <a:pt x="249" y="47"/>
                  </a:lnTo>
                  <a:lnTo>
                    <a:pt x="245" y="48"/>
                  </a:lnTo>
                  <a:lnTo>
                    <a:pt x="243" y="48"/>
                  </a:lnTo>
                  <a:lnTo>
                    <a:pt x="241" y="48"/>
                  </a:lnTo>
                  <a:lnTo>
                    <a:pt x="238" y="48"/>
                  </a:lnTo>
                  <a:lnTo>
                    <a:pt x="235" y="47"/>
                  </a:lnTo>
                  <a:lnTo>
                    <a:pt x="232" y="47"/>
                  </a:lnTo>
                  <a:lnTo>
                    <a:pt x="229" y="48"/>
                  </a:lnTo>
                  <a:lnTo>
                    <a:pt x="225" y="48"/>
                  </a:lnTo>
                  <a:lnTo>
                    <a:pt x="223" y="48"/>
                  </a:lnTo>
                  <a:lnTo>
                    <a:pt x="220" y="48"/>
                  </a:lnTo>
                  <a:lnTo>
                    <a:pt x="217" y="48"/>
                  </a:lnTo>
                  <a:lnTo>
                    <a:pt x="214" y="48"/>
                  </a:lnTo>
                  <a:lnTo>
                    <a:pt x="212" y="49"/>
                  </a:lnTo>
                  <a:lnTo>
                    <a:pt x="208" y="50"/>
                  </a:lnTo>
                  <a:lnTo>
                    <a:pt x="205" y="50"/>
                  </a:lnTo>
                  <a:lnTo>
                    <a:pt x="202" y="51"/>
                  </a:lnTo>
                  <a:lnTo>
                    <a:pt x="199" y="51"/>
                  </a:lnTo>
                  <a:lnTo>
                    <a:pt x="196" y="50"/>
                  </a:lnTo>
                  <a:lnTo>
                    <a:pt x="193" y="49"/>
                  </a:lnTo>
                  <a:lnTo>
                    <a:pt x="189" y="50"/>
                  </a:lnTo>
                  <a:lnTo>
                    <a:pt x="187" y="50"/>
                  </a:lnTo>
                  <a:lnTo>
                    <a:pt x="184" y="50"/>
                  </a:lnTo>
                  <a:lnTo>
                    <a:pt x="181" y="50"/>
                  </a:lnTo>
                  <a:lnTo>
                    <a:pt x="179" y="50"/>
                  </a:lnTo>
                  <a:lnTo>
                    <a:pt x="176" y="51"/>
                  </a:lnTo>
                  <a:lnTo>
                    <a:pt x="174" y="52"/>
                  </a:lnTo>
                  <a:lnTo>
                    <a:pt x="171" y="52"/>
                  </a:lnTo>
                  <a:lnTo>
                    <a:pt x="168" y="53"/>
                  </a:lnTo>
                  <a:lnTo>
                    <a:pt x="165" y="53"/>
                  </a:lnTo>
                  <a:lnTo>
                    <a:pt x="162" y="54"/>
                  </a:lnTo>
                  <a:lnTo>
                    <a:pt x="159" y="54"/>
                  </a:lnTo>
                  <a:lnTo>
                    <a:pt x="155" y="54"/>
                  </a:lnTo>
                  <a:lnTo>
                    <a:pt x="151" y="53"/>
                  </a:lnTo>
                  <a:lnTo>
                    <a:pt x="148" y="54"/>
                  </a:lnTo>
                  <a:lnTo>
                    <a:pt x="145" y="54"/>
                  </a:lnTo>
                  <a:lnTo>
                    <a:pt x="142" y="54"/>
                  </a:lnTo>
                  <a:lnTo>
                    <a:pt x="139" y="54"/>
                  </a:lnTo>
                  <a:lnTo>
                    <a:pt x="136" y="54"/>
                  </a:lnTo>
                  <a:lnTo>
                    <a:pt x="133" y="54"/>
                  </a:lnTo>
                  <a:lnTo>
                    <a:pt x="130" y="53"/>
                  </a:lnTo>
                  <a:lnTo>
                    <a:pt x="128" y="53"/>
                  </a:lnTo>
                  <a:lnTo>
                    <a:pt x="125" y="53"/>
                  </a:lnTo>
                  <a:lnTo>
                    <a:pt x="122" y="53"/>
                  </a:lnTo>
                  <a:lnTo>
                    <a:pt x="119" y="53"/>
                  </a:lnTo>
                  <a:lnTo>
                    <a:pt x="116" y="53"/>
                  </a:lnTo>
                  <a:lnTo>
                    <a:pt x="113" y="54"/>
                  </a:lnTo>
                  <a:lnTo>
                    <a:pt x="111" y="54"/>
                  </a:lnTo>
                  <a:lnTo>
                    <a:pt x="109" y="53"/>
                  </a:lnTo>
                  <a:lnTo>
                    <a:pt x="106" y="53"/>
                  </a:lnTo>
                  <a:lnTo>
                    <a:pt x="104" y="53"/>
                  </a:lnTo>
                  <a:lnTo>
                    <a:pt x="101" y="53"/>
                  </a:lnTo>
                  <a:lnTo>
                    <a:pt x="98" y="53"/>
                  </a:lnTo>
                  <a:lnTo>
                    <a:pt x="96" y="53"/>
                  </a:lnTo>
                  <a:lnTo>
                    <a:pt x="93" y="54"/>
                  </a:lnTo>
                  <a:lnTo>
                    <a:pt x="89" y="54"/>
                  </a:lnTo>
                  <a:lnTo>
                    <a:pt x="86" y="53"/>
                  </a:lnTo>
                  <a:lnTo>
                    <a:pt x="83" y="54"/>
                  </a:lnTo>
                  <a:lnTo>
                    <a:pt x="80" y="54"/>
                  </a:lnTo>
                  <a:lnTo>
                    <a:pt x="77" y="55"/>
                  </a:lnTo>
                  <a:lnTo>
                    <a:pt x="74" y="56"/>
                  </a:lnTo>
                  <a:lnTo>
                    <a:pt x="69" y="57"/>
                  </a:lnTo>
                  <a:lnTo>
                    <a:pt x="64" y="57"/>
                  </a:lnTo>
                  <a:lnTo>
                    <a:pt x="59" y="57"/>
                  </a:lnTo>
                  <a:lnTo>
                    <a:pt x="55" y="57"/>
                  </a:lnTo>
                  <a:lnTo>
                    <a:pt x="49" y="57"/>
                  </a:lnTo>
                  <a:lnTo>
                    <a:pt x="46" y="57"/>
                  </a:lnTo>
                  <a:lnTo>
                    <a:pt x="43" y="57"/>
                  </a:lnTo>
                  <a:lnTo>
                    <a:pt x="40" y="57"/>
                  </a:lnTo>
                  <a:lnTo>
                    <a:pt x="36" y="57"/>
                  </a:lnTo>
                  <a:lnTo>
                    <a:pt x="31" y="55"/>
                  </a:lnTo>
                  <a:lnTo>
                    <a:pt x="27" y="55"/>
                  </a:lnTo>
                  <a:lnTo>
                    <a:pt x="23" y="55"/>
                  </a:lnTo>
                  <a:lnTo>
                    <a:pt x="20" y="55"/>
                  </a:lnTo>
                  <a:lnTo>
                    <a:pt x="17" y="55"/>
                  </a:lnTo>
                  <a:lnTo>
                    <a:pt x="13" y="55"/>
                  </a:lnTo>
                  <a:lnTo>
                    <a:pt x="10" y="54"/>
                  </a:lnTo>
                  <a:lnTo>
                    <a:pt x="7" y="53"/>
                  </a:lnTo>
                  <a:lnTo>
                    <a:pt x="4" y="53"/>
                  </a:lnTo>
                  <a:lnTo>
                    <a:pt x="1" y="52"/>
                  </a:lnTo>
                  <a:lnTo>
                    <a:pt x="0" y="52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56" name="Group 17"/>
            <p:cNvGrpSpPr>
              <a:grpSpLocks/>
            </p:cNvGrpSpPr>
            <p:nvPr/>
          </p:nvGrpSpPr>
          <p:grpSpPr bwMode="auto">
            <a:xfrm>
              <a:off x="871" y="2062"/>
              <a:ext cx="47" cy="37"/>
              <a:chOff x="809" y="2061"/>
              <a:chExt cx="47" cy="37"/>
            </a:xfrm>
          </p:grpSpPr>
          <p:sp>
            <p:nvSpPr>
              <p:cNvPr id="6217" name="Freeform 18" descr="50%"/>
              <p:cNvSpPr>
                <a:spLocks/>
              </p:cNvSpPr>
              <p:nvPr/>
            </p:nvSpPr>
            <p:spPr bwMode="auto">
              <a:xfrm>
                <a:off x="809" y="2067"/>
                <a:ext cx="47" cy="31"/>
              </a:xfrm>
              <a:custGeom>
                <a:avLst/>
                <a:gdLst>
                  <a:gd name="T0" fmla="*/ 43 w 47"/>
                  <a:gd name="T1" fmla="*/ 27 h 31"/>
                  <a:gd name="T2" fmla="*/ 40 w 47"/>
                  <a:gd name="T3" fmla="*/ 24 h 31"/>
                  <a:gd name="T4" fmla="*/ 39 w 47"/>
                  <a:gd name="T5" fmla="*/ 22 h 31"/>
                  <a:gd name="T6" fmla="*/ 37 w 47"/>
                  <a:gd name="T7" fmla="*/ 21 h 31"/>
                  <a:gd name="T8" fmla="*/ 36 w 47"/>
                  <a:gd name="T9" fmla="*/ 19 h 31"/>
                  <a:gd name="T10" fmla="*/ 35 w 47"/>
                  <a:gd name="T11" fmla="*/ 17 h 31"/>
                  <a:gd name="T12" fmla="*/ 34 w 47"/>
                  <a:gd name="T13" fmla="*/ 16 h 31"/>
                  <a:gd name="T14" fmla="*/ 33 w 47"/>
                  <a:gd name="T15" fmla="*/ 14 h 31"/>
                  <a:gd name="T16" fmla="*/ 32 w 47"/>
                  <a:gd name="T17" fmla="*/ 12 h 31"/>
                  <a:gd name="T18" fmla="*/ 31 w 47"/>
                  <a:gd name="T19" fmla="*/ 10 h 31"/>
                  <a:gd name="T20" fmla="*/ 30 w 47"/>
                  <a:gd name="T21" fmla="*/ 7 h 31"/>
                  <a:gd name="T22" fmla="*/ 30 w 47"/>
                  <a:gd name="T23" fmla="*/ 5 h 31"/>
                  <a:gd name="T24" fmla="*/ 30 w 47"/>
                  <a:gd name="T25" fmla="*/ 3 h 31"/>
                  <a:gd name="T26" fmla="*/ 30 w 47"/>
                  <a:gd name="T27" fmla="*/ 0 h 31"/>
                  <a:gd name="T28" fmla="*/ 0 w 47"/>
                  <a:gd name="T29" fmla="*/ 0 h 31"/>
                  <a:gd name="T30" fmla="*/ 1 w 47"/>
                  <a:gd name="T31" fmla="*/ 2 h 31"/>
                  <a:gd name="T32" fmla="*/ 2 w 47"/>
                  <a:gd name="T33" fmla="*/ 4 h 31"/>
                  <a:gd name="T34" fmla="*/ 4 w 47"/>
                  <a:gd name="T35" fmla="*/ 6 h 31"/>
                  <a:gd name="T36" fmla="*/ 6 w 47"/>
                  <a:gd name="T37" fmla="*/ 9 h 31"/>
                  <a:gd name="T38" fmla="*/ 8 w 47"/>
                  <a:gd name="T39" fmla="*/ 11 h 31"/>
                  <a:gd name="T40" fmla="*/ 10 w 47"/>
                  <a:gd name="T41" fmla="*/ 13 h 31"/>
                  <a:gd name="T42" fmla="*/ 12 w 47"/>
                  <a:gd name="T43" fmla="*/ 15 h 31"/>
                  <a:gd name="T44" fmla="*/ 14 w 47"/>
                  <a:gd name="T45" fmla="*/ 17 h 31"/>
                  <a:gd name="T46" fmla="*/ 17 w 47"/>
                  <a:gd name="T47" fmla="*/ 19 h 31"/>
                  <a:gd name="T48" fmla="*/ 20 w 47"/>
                  <a:gd name="T49" fmla="*/ 22 h 31"/>
                  <a:gd name="T50" fmla="*/ 23 w 47"/>
                  <a:gd name="T51" fmla="*/ 23 h 31"/>
                  <a:gd name="T52" fmla="*/ 25 w 47"/>
                  <a:gd name="T53" fmla="*/ 24 h 31"/>
                  <a:gd name="T54" fmla="*/ 28 w 47"/>
                  <a:gd name="T55" fmla="*/ 26 h 31"/>
                  <a:gd name="T56" fmla="*/ 30 w 47"/>
                  <a:gd name="T57" fmla="*/ 27 h 31"/>
                  <a:gd name="T58" fmla="*/ 33 w 47"/>
                  <a:gd name="T59" fmla="*/ 28 h 31"/>
                  <a:gd name="T60" fmla="*/ 36 w 47"/>
                  <a:gd name="T61" fmla="*/ 28 h 31"/>
                  <a:gd name="T62" fmla="*/ 39 w 47"/>
                  <a:gd name="T63" fmla="*/ 29 h 31"/>
                  <a:gd name="T64" fmla="*/ 41 w 47"/>
                  <a:gd name="T65" fmla="*/ 29 h 31"/>
                  <a:gd name="T66" fmla="*/ 44 w 47"/>
                  <a:gd name="T67" fmla="*/ 29 h 31"/>
                  <a:gd name="T68" fmla="*/ 46 w 47"/>
                  <a:gd name="T69" fmla="*/ 30 h 31"/>
                  <a:gd name="T70" fmla="*/ 43 w 47"/>
                  <a:gd name="T71" fmla="*/ 27 h 31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47" h="31">
                    <a:moveTo>
                      <a:pt x="43" y="27"/>
                    </a:moveTo>
                    <a:lnTo>
                      <a:pt x="40" y="24"/>
                    </a:lnTo>
                    <a:lnTo>
                      <a:pt x="39" y="22"/>
                    </a:lnTo>
                    <a:lnTo>
                      <a:pt x="37" y="21"/>
                    </a:lnTo>
                    <a:lnTo>
                      <a:pt x="36" y="19"/>
                    </a:lnTo>
                    <a:lnTo>
                      <a:pt x="35" y="17"/>
                    </a:lnTo>
                    <a:lnTo>
                      <a:pt x="34" y="16"/>
                    </a:lnTo>
                    <a:lnTo>
                      <a:pt x="33" y="14"/>
                    </a:lnTo>
                    <a:lnTo>
                      <a:pt x="32" y="12"/>
                    </a:lnTo>
                    <a:lnTo>
                      <a:pt x="31" y="10"/>
                    </a:lnTo>
                    <a:lnTo>
                      <a:pt x="30" y="7"/>
                    </a:lnTo>
                    <a:lnTo>
                      <a:pt x="30" y="5"/>
                    </a:lnTo>
                    <a:lnTo>
                      <a:pt x="30" y="3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1" y="2"/>
                    </a:lnTo>
                    <a:lnTo>
                      <a:pt x="2" y="4"/>
                    </a:lnTo>
                    <a:lnTo>
                      <a:pt x="4" y="6"/>
                    </a:lnTo>
                    <a:lnTo>
                      <a:pt x="6" y="9"/>
                    </a:lnTo>
                    <a:lnTo>
                      <a:pt x="8" y="11"/>
                    </a:lnTo>
                    <a:lnTo>
                      <a:pt x="10" y="13"/>
                    </a:lnTo>
                    <a:lnTo>
                      <a:pt x="12" y="15"/>
                    </a:lnTo>
                    <a:lnTo>
                      <a:pt x="14" y="17"/>
                    </a:lnTo>
                    <a:lnTo>
                      <a:pt x="17" y="19"/>
                    </a:lnTo>
                    <a:lnTo>
                      <a:pt x="20" y="22"/>
                    </a:lnTo>
                    <a:lnTo>
                      <a:pt x="23" y="23"/>
                    </a:lnTo>
                    <a:lnTo>
                      <a:pt x="25" y="24"/>
                    </a:lnTo>
                    <a:lnTo>
                      <a:pt x="28" y="26"/>
                    </a:lnTo>
                    <a:lnTo>
                      <a:pt x="30" y="27"/>
                    </a:lnTo>
                    <a:lnTo>
                      <a:pt x="33" y="28"/>
                    </a:lnTo>
                    <a:lnTo>
                      <a:pt x="36" y="28"/>
                    </a:lnTo>
                    <a:lnTo>
                      <a:pt x="39" y="29"/>
                    </a:lnTo>
                    <a:lnTo>
                      <a:pt x="41" y="29"/>
                    </a:lnTo>
                    <a:lnTo>
                      <a:pt x="44" y="29"/>
                    </a:lnTo>
                    <a:lnTo>
                      <a:pt x="46" y="30"/>
                    </a:lnTo>
                    <a:lnTo>
                      <a:pt x="43" y="27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18" name="Freeform 19" descr="50%"/>
              <p:cNvSpPr>
                <a:spLocks/>
              </p:cNvSpPr>
              <p:nvPr/>
            </p:nvSpPr>
            <p:spPr bwMode="auto">
              <a:xfrm>
                <a:off x="810" y="2061"/>
                <a:ext cx="21" cy="7"/>
              </a:xfrm>
              <a:custGeom>
                <a:avLst/>
                <a:gdLst>
                  <a:gd name="T0" fmla="*/ 0 w 21"/>
                  <a:gd name="T1" fmla="*/ 6 h 7"/>
                  <a:gd name="T2" fmla="*/ 0 w 21"/>
                  <a:gd name="T3" fmla="*/ 6 h 7"/>
                  <a:gd name="T4" fmla="*/ 1 w 21"/>
                  <a:gd name="T5" fmla="*/ 0 h 7"/>
                  <a:gd name="T6" fmla="*/ 20 w 21"/>
                  <a:gd name="T7" fmla="*/ 0 h 7"/>
                  <a:gd name="T8" fmla="*/ 20 w 21"/>
                  <a:gd name="T9" fmla="*/ 6 h 7"/>
                  <a:gd name="T10" fmla="*/ 0 w 21"/>
                  <a:gd name="T11" fmla="*/ 6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1" h="7">
                    <a:moveTo>
                      <a:pt x="0" y="6"/>
                    </a:moveTo>
                    <a:lnTo>
                      <a:pt x="0" y="6"/>
                    </a:lnTo>
                    <a:lnTo>
                      <a:pt x="1" y="0"/>
                    </a:lnTo>
                    <a:lnTo>
                      <a:pt x="20" y="0"/>
                    </a:lnTo>
                    <a:lnTo>
                      <a:pt x="20" y="6"/>
                    </a:lnTo>
                    <a:lnTo>
                      <a:pt x="0" y="6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57" name="Freeform 20" descr="50%"/>
            <p:cNvSpPr>
              <a:spLocks/>
            </p:cNvSpPr>
            <p:nvPr/>
          </p:nvSpPr>
          <p:spPr bwMode="auto">
            <a:xfrm>
              <a:off x="4020" y="2118"/>
              <a:ext cx="184" cy="136"/>
            </a:xfrm>
            <a:custGeom>
              <a:avLst/>
              <a:gdLst>
                <a:gd name="T0" fmla="*/ 0 w 184"/>
                <a:gd name="T1" fmla="*/ 0 h 136"/>
                <a:gd name="T2" fmla="*/ 7 w 184"/>
                <a:gd name="T3" fmla="*/ 14 h 136"/>
                <a:gd name="T4" fmla="*/ 16 w 184"/>
                <a:gd name="T5" fmla="*/ 28 h 136"/>
                <a:gd name="T6" fmla="*/ 27 w 184"/>
                <a:gd name="T7" fmla="*/ 43 h 136"/>
                <a:gd name="T8" fmla="*/ 38 w 184"/>
                <a:gd name="T9" fmla="*/ 55 h 136"/>
                <a:gd name="T10" fmla="*/ 52 w 184"/>
                <a:gd name="T11" fmla="*/ 70 h 136"/>
                <a:gd name="T12" fmla="*/ 66 w 184"/>
                <a:gd name="T13" fmla="*/ 85 h 136"/>
                <a:gd name="T14" fmla="*/ 77 w 184"/>
                <a:gd name="T15" fmla="*/ 96 h 136"/>
                <a:gd name="T16" fmla="*/ 90 w 184"/>
                <a:gd name="T17" fmla="*/ 106 h 136"/>
                <a:gd name="T18" fmla="*/ 103 w 184"/>
                <a:gd name="T19" fmla="*/ 114 h 136"/>
                <a:gd name="T20" fmla="*/ 117 w 184"/>
                <a:gd name="T21" fmla="*/ 121 h 136"/>
                <a:gd name="T22" fmla="*/ 131 w 184"/>
                <a:gd name="T23" fmla="*/ 127 h 136"/>
                <a:gd name="T24" fmla="*/ 146 w 184"/>
                <a:gd name="T25" fmla="*/ 132 h 136"/>
                <a:gd name="T26" fmla="*/ 162 w 184"/>
                <a:gd name="T27" fmla="*/ 135 h 136"/>
                <a:gd name="T28" fmla="*/ 176 w 184"/>
                <a:gd name="T29" fmla="*/ 135 h 136"/>
                <a:gd name="T30" fmla="*/ 183 w 184"/>
                <a:gd name="T31" fmla="*/ 134 h 136"/>
                <a:gd name="T32" fmla="*/ 174 w 184"/>
                <a:gd name="T33" fmla="*/ 125 h 136"/>
                <a:gd name="T34" fmla="*/ 164 w 184"/>
                <a:gd name="T35" fmla="*/ 113 h 136"/>
                <a:gd name="T36" fmla="*/ 154 w 184"/>
                <a:gd name="T37" fmla="*/ 101 h 136"/>
                <a:gd name="T38" fmla="*/ 144 w 184"/>
                <a:gd name="T39" fmla="*/ 87 h 136"/>
                <a:gd name="T40" fmla="*/ 135 w 184"/>
                <a:gd name="T41" fmla="*/ 73 h 136"/>
                <a:gd name="T42" fmla="*/ 128 w 184"/>
                <a:gd name="T43" fmla="*/ 60 h 136"/>
                <a:gd name="T44" fmla="*/ 124 w 184"/>
                <a:gd name="T45" fmla="*/ 48 h 136"/>
                <a:gd name="T46" fmla="*/ 119 w 184"/>
                <a:gd name="T47" fmla="*/ 28 h 136"/>
                <a:gd name="T48" fmla="*/ 119 w 184"/>
                <a:gd name="T49" fmla="*/ 13 h 136"/>
                <a:gd name="T50" fmla="*/ 119 w 184"/>
                <a:gd name="T51" fmla="*/ 2 h 136"/>
                <a:gd name="T52" fmla="*/ 0 w 184"/>
                <a:gd name="T53" fmla="*/ 0 h 1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84" h="136">
                  <a:moveTo>
                    <a:pt x="0" y="0"/>
                  </a:moveTo>
                  <a:lnTo>
                    <a:pt x="7" y="14"/>
                  </a:lnTo>
                  <a:lnTo>
                    <a:pt x="16" y="28"/>
                  </a:lnTo>
                  <a:lnTo>
                    <a:pt x="27" y="43"/>
                  </a:lnTo>
                  <a:lnTo>
                    <a:pt x="38" y="55"/>
                  </a:lnTo>
                  <a:lnTo>
                    <a:pt x="52" y="70"/>
                  </a:lnTo>
                  <a:lnTo>
                    <a:pt x="66" y="85"/>
                  </a:lnTo>
                  <a:lnTo>
                    <a:pt x="77" y="96"/>
                  </a:lnTo>
                  <a:lnTo>
                    <a:pt x="90" y="106"/>
                  </a:lnTo>
                  <a:lnTo>
                    <a:pt x="103" y="114"/>
                  </a:lnTo>
                  <a:lnTo>
                    <a:pt x="117" y="121"/>
                  </a:lnTo>
                  <a:lnTo>
                    <a:pt x="131" y="127"/>
                  </a:lnTo>
                  <a:lnTo>
                    <a:pt x="146" y="132"/>
                  </a:lnTo>
                  <a:lnTo>
                    <a:pt x="162" y="135"/>
                  </a:lnTo>
                  <a:lnTo>
                    <a:pt x="176" y="135"/>
                  </a:lnTo>
                  <a:lnTo>
                    <a:pt x="183" y="134"/>
                  </a:lnTo>
                  <a:lnTo>
                    <a:pt x="174" y="125"/>
                  </a:lnTo>
                  <a:lnTo>
                    <a:pt x="164" y="113"/>
                  </a:lnTo>
                  <a:lnTo>
                    <a:pt x="154" y="101"/>
                  </a:lnTo>
                  <a:lnTo>
                    <a:pt x="144" y="87"/>
                  </a:lnTo>
                  <a:lnTo>
                    <a:pt x="135" y="73"/>
                  </a:lnTo>
                  <a:lnTo>
                    <a:pt x="128" y="60"/>
                  </a:lnTo>
                  <a:lnTo>
                    <a:pt x="124" y="48"/>
                  </a:lnTo>
                  <a:lnTo>
                    <a:pt x="119" y="28"/>
                  </a:lnTo>
                  <a:lnTo>
                    <a:pt x="119" y="13"/>
                  </a:lnTo>
                  <a:lnTo>
                    <a:pt x="119" y="2"/>
                  </a:lnTo>
                  <a:lnTo>
                    <a:pt x="0" y="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8" name="Freeform 21" descr="50%"/>
            <p:cNvSpPr>
              <a:spLocks/>
            </p:cNvSpPr>
            <p:nvPr/>
          </p:nvSpPr>
          <p:spPr bwMode="auto">
            <a:xfrm>
              <a:off x="3624" y="1787"/>
              <a:ext cx="1567" cy="440"/>
            </a:xfrm>
            <a:custGeom>
              <a:avLst/>
              <a:gdLst>
                <a:gd name="T0" fmla="*/ 17 w 1567"/>
                <a:gd name="T1" fmla="*/ 261 h 440"/>
                <a:gd name="T2" fmla="*/ 64 w 1567"/>
                <a:gd name="T3" fmla="*/ 244 h 440"/>
                <a:gd name="T4" fmla="*/ 137 w 1567"/>
                <a:gd name="T5" fmla="*/ 222 h 440"/>
                <a:gd name="T6" fmla="*/ 214 w 1567"/>
                <a:gd name="T7" fmla="*/ 207 h 440"/>
                <a:gd name="T8" fmla="*/ 289 w 1567"/>
                <a:gd name="T9" fmla="*/ 193 h 440"/>
                <a:gd name="T10" fmla="*/ 367 w 1567"/>
                <a:gd name="T11" fmla="*/ 179 h 440"/>
                <a:gd name="T12" fmla="*/ 431 w 1567"/>
                <a:gd name="T13" fmla="*/ 167 h 440"/>
                <a:gd name="T14" fmla="*/ 468 w 1567"/>
                <a:gd name="T15" fmla="*/ 147 h 440"/>
                <a:gd name="T16" fmla="*/ 504 w 1567"/>
                <a:gd name="T17" fmla="*/ 112 h 440"/>
                <a:gd name="T18" fmla="*/ 558 w 1567"/>
                <a:gd name="T19" fmla="*/ 62 h 440"/>
                <a:gd name="T20" fmla="*/ 613 w 1567"/>
                <a:gd name="T21" fmla="*/ 16 h 440"/>
                <a:gd name="T22" fmla="*/ 652 w 1567"/>
                <a:gd name="T23" fmla="*/ 53 h 440"/>
                <a:gd name="T24" fmla="*/ 674 w 1567"/>
                <a:gd name="T25" fmla="*/ 131 h 440"/>
                <a:gd name="T26" fmla="*/ 688 w 1567"/>
                <a:gd name="T27" fmla="*/ 161 h 440"/>
                <a:gd name="T28" fmla="*/ 778 w 1567"/>
                <a:gd name="T29" fmla="*/ 176 h 440"/>
                <a:gd name="T30" fmla="*/ 870 w 1567"/>
                <a:gd name="T31" fmla="*/ 192 h 440"/>
                <a:gd name="T32" fmla="*/ 938 w 1567"/>
                <a:gd name="T33" fmla="*/ 192 h 440"/>
                <a:gd name="T34" fmla="*/ 1011 w 1567"/>
                <a:gd name="T35" fmla="*/ 178 h 440"/>
                <a:gd name="T36" fmla="*/ 1067 w 1567"/>
                <a:gd name="T37" fmla="*/ 215 h 440"/>
                <a:gd name="T38" fmla="*/ 1122 w 1567"/>
                <a:gd name="T39" fmla="*/ 230 h 440"/>
                <a:gd name="T40" fmla="*/ 1191 w 1567"/>
                <a:gd name="T41" fmla="*/ 229 h 440"/>
                <a:gd name="T42" fmla="*/ 1265 w 1567"/>
                <a:gd name="T43" fmla="*/ 203 h 440"/>
                <a:gd name="T44" fmla="*/ 1346 w 1567"/>
                <a:gd name="T45" fmla="*/ 138 h 440"/>
                <a:gd name="T46" fmla="*/ 1441 w 1567"/>
                <a:gd name="T47" fmla="*/ 63 h 440"/>
                <a:gd name="T48" fmla="*/ 1536 w 1567"/>
                <a:gd name="T49" fmla="*/ 33 h 440"/>
                <a:gd name="T50" fmla="*/ 1540 w 1567"/>
                <a:gd name="T51" fmla="*/ 59 h 440"/>
                <a:gd name="T52" fmla="*/ 1494 w 1567"/>
                <a:gd name="T53" fmla="*/ 112 h 440"/>
                <a:gd name="T54" fmla="*/ 1441 w 1567"/>
                <a:gd name="T55" fmla="*/ 165 h 440"/>
                <a:gd name="T56" fmla="*/ 1407 w 1567"/>
                <a:gd name="T57" fmla="*/ 218 h 440"/>
                <a:gd name="T58" fmla="*/ 1407 w 1567"/>
                <a:gd name="T59" fmla="*/ 273 h 440"/>
                <a:gd name="T60" fmla="*/ 1444 w 1567"/>
                <a:gd name="T61" fmla="*/ 329 h 440"/>
                <a:gd name="T62" fmla="*/ 1492 w 1567"/>
                <a:gd name="T63" fmla="*/ 371 h 440"/>
                <a:gd name="T64" fmla="*/ 1534 w 1567"/>
                <a:gd name="T65" fmla="*/ 405 h 440"/>
                <a:gd name="T66" fmla="*/ 1536 w 1567"/>
                <a:gd name="T67" fmla="*/ 423 h 440"/>
                <a:gd name="T68" fmla="*/ 1477 w 1567"/>
                <a:gd name="T69" fmla="*/ 421 h 440"/>
                <a:gd name="T70" fmla="*/ 1424 w 1567"/>
                <a:gd name="T71" fmla="*/ 408 h 440"/>
                <a:gd name="T72" fmla="*/ 1375 w 1567"/>
                <a:gd name="T73" fmla="*/ 384 h 440"/>
                <a:gd name="T74" fmla="*/ 1292 w 1567"/>
                <a:gd name="T75" fmla="*/ 335 h 440"/>
                <a:gd name="T76" fmla="*/ 1191 w 1567"/>
                <a:gd name="T77" fmla="*/ 327 h 440"/>
                <a:gd name="T78" fmla="*/ 1069 w 1567"/>
                <a:gd name="T79" fmla="*/ 340 h 440"/>
                <a:gd name="T80" fmla="*/ 992 w 1567"/>
                <a:gd name="T81" fmla="*/ 369 h 440"/>
                <a:gd name="T82" fmla="*/ 966 w 1567"/>
                <a:gd name="T83" fmla="*/ 404 h 440"/>
                <a:gd name="T84" fmla="*/ 857 w 1567"/>
                <a:gd name="T85" fmla="*/ 400 h 440"/>
                <a:gd name="T86" fmla="*/ 765 w 1567"/>
                <a:gd name="T87" fmla="*/ 428 h 440"/>
                <a:gd name="T88" fmla="*/ 424 w 1567"/>
                <a:gd name="T89" fmla="*/ 439 h 440"/>
                <a:gd name="T90" fmla="*/ 228 w 1567"/>
                <a:gd name="T91" fmla="*/ 420 h 440"/>
                <a:gd name="T92" fmla="*/ 56 w 1567"/>
                <a:gd name="T93" fmla="*/ 365 h 440"/>
                <a:gd name="T94" fmla="*/ 56 w 1567"/>
                <a:gd name="T95" fmla="*/ 337 h 440"/>
                <a:gd name="T96" fmla="*/ 18 w 1567"/>
                <a:gd name="T97" fmla="*/ 303 h 440"/>
                <a:gd name="T98" fmla="*/ 3 w 1567"/>
                <a:gd name="T99" fmla="*/ 280 h 44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567" h="440">
                  <a:moveTo>
                    <a:pt x="0" y="272"/>
                  </a:moveTo>
                  <a:lnTo>
                    <a:pt x="5" y="268"/>
                  </a:lnTo>
                  <a:lnTo>
                    <a:pt x="17" y="261"/>
                  </a:lnTo>
                  <a:lnTo>
                    <a:pt x="35" y="254"/>
                  </a:lnTo>
                  <a:lnTo>
                    <a:pt x="49" y="250"/>
                  </a:lnTo>
                  <a:lnTo>
                    <a:pt x="64" y="244"/>
                  </a:lnTo>
                  <a:lnTo>
                    <a:pt x="89" y="236"/>
                  </a:lnTo>
                  <a:lnTo>
                    <a:pt x="114" y="229"/>
                  </a:lnTo>
                  <a:lnTo>
                    <a:pt x="137" y="222"/>
                  </a:lnTo>
                  <a:lnTo>
                    <a:pt x="161" y="217"/>
                  </a:lnTo>
                  <a:lnTo>
                    <a:pt x="186" y="212"/>
                  </a:lnTo>
                  <a:lnTo>
                    <a:pt x="214" y="207"/>
                  </a:lnTo>
                  <a:lnTo>
                    <a:pt x="241" y="202"/>
                  </a:lnTo>
                  <a:lnTo>
                    <a:pt x="265" y="197"/>
                  </a:lnTo>
                  <a:lnTo>
                    <a:pt x="289" y="193"/>
                  </a:lnTo>
                  <a:lnTo>
                    <a:pt x="311" y="189"/>
                  </a:lnTo>
                  <a:lnTo>
                    <a:pt x="342" y="183"/>
                  </a:lnTo>
                  <a:lnTo>
                    <a:pt x="367" y="179"/>
                  </a:lnTo>
                  <a:lnTo>
                    <a:pt x="391" y="175"/>
                  </a:lnTo>
                  <a:lnTo>
                    <a:pt x="412" y="172"/>
                  </a:lnTo>
                  <a:lnTo>
                    <a:pt x="431" y="167"/>
                  </a:lnTo>
                  <a:lnTo>
                    <a:pt x="446" y="161"/>
                  </a:lnTo>
                  <a:lnTo>
                    <a:pt x="457" y="155"/>
                  </a:lnTo>
                  <a:lnTo>
                    <a:pt x="468" y="147"/>
                  </a:lnTo>
                  <a:lnTo>
                    <a:pt x="478" y="138"/>
                  </a:lnTo>
                  <a:lnTo>
                    <a:pt x="490" y="126"/>
                  </a:lnTo>
                  <a:lnTo>
                    <a:pt x="504" y="112"/>
                  </a:lnTo>
                  <a:lnTo>
                    <a:pt x="522" y="95"/>
                  </a:lnTo>
                  <a:lnTo>
                    <a:pt x="539" y="78"/>
                  </a:lnTo>
                  <a:lnTo>
                    <a:pt x="558" y="62"/>
                  </a:lnTo>
                  <a:lnTo>
                    <a:pt x="574" y="45"/>
                  </a:lnTo>
                  <a:lnTo>
                    <a:pt x="593" y="31"/>
                  </a:lnTo>
                  <a:lnTo>
                    <a:pt x="613" y="16"/>
                  </a:lnTo>
                  <a:lnTo>
                    <a:pt x="636" y="0"/>
                  </a:lnTo>
                  <a:lnTo>
                    <a:pt x="643" y="28"/>
                  </a:lnTo>
                  <a:lnTo>
                    <a:pt x="652" y="53"/>
                  </a:lnTo>
                  <a:lnTo>
                    <a:pt x="661" y="80"/>
                  </a:lnTo>
                  <a:lnTo>
                    <a:pt x="669" y="108"/>
                  </a:lnTo>
                  <a:lnTo>
                    <a:pt x="674" y="131"/>
                  </a:lnTo>
                  <a:lnTo>
                    <a:pt x="673" y="145"/>
                  </a:lnTo>
                  <a:lnTo>
                    <a:pt x="663" y="157"/>
                  </a:lnTo>
                  <a:lnTo>
                    <a:pt x="688" y="161"/>
                  </a:lnTo>
                  <a:lnTo>
                    <a:pt x="713" y="165"/>
                  </a:lnTo>
                  <a:lnTo>
                    <a:pt x="744" y="171"/>
                  </a:lnTo>
                  <a:lnTo>
                    <a:pt x="778" y="176"/>
                  </a:lnTo>
                  <a:lnTo>
                    <a:pt x="813" y="183"/>
                  </a:lnTo>
                  <a:lnTo>
                    <a:pt x="841" y="188"/>
                  </a:lnTo>
                  <a:lnTo>
                    <a:pt x="870" y="192"/>
                  </a:lnTo>
                  <a:lnTo>
                    <a:pt x="896" y="195"/>
                  </a:lnTo>
                  <a:lnTo>
                    <a:pt x="920" y="197"/>
                  </a:lnTo>
                  <a:lnTo>
                    <a:pt x="938" y="192"/>
                  </a:lnTo>
                  <a:lnTo>
                    <a:pt x="955" y="183"/>
                  </a:lnTo>
                  <a:lnTo>
                    <a:pt x="972" y="172"/>
                  </a:lnTo>
                  <a:lnTo>
                    <a:pt x="1011" y="178"/>
                  </a:lnTo>
                  <a:lnTo>
                    <a:pt x="1053" y="188"/>
                  </a:lnTo>
                  <a:lnTo>
                    <a:pt x="1089" y="194"/>
                  </a:lnTo>
                  <a:lnTo>
                    <a:pt x="1067" y="215"/>
                  </a:lnTo>
                  <a:lnTo>
                    <a:pt x="1080" y="219"/>
                  </a:lnTo>
                  <a:lnTo>
                    <a:pt x="1100" y="225"/>
                  </a:lnTo>
                  <a:lnTo>
                    <a:pt x="1122" y="230"/>
                  </a:lnTo>
                  <a:lnTo>
                    <a:pt x="1146" y="234"/>
                  </a:lnTo>
                  <a:lnTo>
                    <a:pt x="1168" y="231"/>
                  </a:lnTo>
                  <a:lnTo>
                    <a:pt x="1191" y="229"/>
                  </a:lnTo>
                  <a:lnTo>
                    <a:pt x="1216" y="225"/>
                  </a:lnTo>
                  <a:lnTo>
                    <a:pt x="1242" y="217"/>
                  </a:lnTo>
                  <a:lnTo>
                    <a:pt x="1265" y="203"/>
                  </a:lnTo>
                  <a:lnTo>
                    <a:pt x="1295" y="183"/>
                  </a:lnTo>
                  <a:lnTo>
                    <a:pt x="1317" y="165"/>
                  </a:lnTo>
                  <a:lnTo>
                    <a:pt x="1346" y="138"/>
                  </a:lnTo>
                  <a:lnTo>
                    <a:pt x="1376" y="108"/>
                  </a:lnTo>
                  <a:lnTo>
                    <a:pt x="1411" y="82"/>
                  </a:lnTo>
                  <a:lnTo>
                    <a:pt x="1441" y="63"/>
                  </a:lnTo>
                  <a:lnTo>
                    <a:pt x="1471" y="48"/>
                  </a:lnTo>
                  <a:lnTo>
                    <a:pt x="1500" y="38"/>
                  </a:lnTo>
                  <a:lnTo>
                    <a:pt x="1536" y="33"/>
                  </a:lnTo>
                  <a:lnTo>
                    <a:pt x="1566" y="35"/>
                  </a:lnTo>
                  <a:lnTo>
                    <a:pt x="1550" y="48"/>
                  </a:lnTo>
                  <a:lnTo>
                    <a:pt x="1540" y="59"/>
                  </a:lnTo>
                  <a:lnTo>
                    <a:pt x="1534" y="68"/>
                  </a:lnTo>
                  <a:lnTo>
                    <a:pt x="1511" y="98"/>
                  </a:lnTo>
                  <a:lnTo>
                    <a:pt x="1494" y="112"/>
                  </a:lnTo>
                  <a:lnTo>
                    <a:pt x="1474" y="128"/>
                  </a:lnTo>
                  <a:lnTo>
                    <a:pt x="1456" y="147"/>
                  </a:lnTo>
                  <a:lnTo>
                    <a:pt x="1441" y="165"/>
                  </a:lnTo>
                  <a:lnTo>
                    <a:pt x="1428" y="183"/>
                  </a:lnTo>
                  <a:lnTo>
                    <a:pt x="1416" y="202"/>
                  </a:lnTo>
                  <a:lnTo>
                    <a:pt x="1407" y="218"/>
                  </a:lnTo>
                  <a:lnTo>
                    <a:pt x="1401" y="235"/>
                  </a:lnTo>
                  <a:lnTo>
                    <a:pt x="1399" y="254"/>
                  </a:lnTo>
                  <a:lnTo>
                    <a:pt x="1407" y="273"/>
                  </a:lnTo>
                  <a:lnTo>
                    <a:pt x="1416" y="294"/>
                  </a:lnTo>
                  <a:lnTo>
                    <a:pt x="1429" y="311"/>
                  </a:lnTo>
                  <a:lnTo>
                    <a:pt x="1444" y="329"/>
                  </a:lnTo>
                  <a:lnTo>
                    <a:pt x="1459" y="343"/>
                  </a:lnTo>
                  <a:lnTo>
                    <a:pt x="1475" y="356"/>
                  </a:lnTo>
                  <a:lnTo>
                    <a:pt x="1492" y="371"/>
                  </a:lnTo>
                  <a:lnTo>
                    <a:pt x="1511" y="387"/>
                  </a:lnTo>
                  <a:lnTo>
                    <a:pt x="1522" y="397"/>
                  </a:lnTo>
                  <a:lnTo>
                    <a:pt x="1534" y="405"/>
                  </a:lnTo>
                  <a:lnTo>
                    <a:pt x="1546" y="413"/>
                  </a:lnTo>
                  <a:lnTo>
                    <a:pt x="1554" y="422"/>
                  </a:lnTo>
                  <a:lnTo>
                    <a:pt x="1536" y="423"/>
                  </a:lnTo>
                  <a:lnTo>
                    <a:pt x="1514" y="423"/>
                  </a:lnTo>
                  <a:lnTo>
                    <a:pt x="1494" y="423"/>
                  </a:lnTo>
                  <a:lnTo>
                    <a:pt x="1477" y="421"/>
                  </a:lnTo>
                  <a:lnTo>
                    <a:pt x="1455" y="419"/>
                  </a:lnTo>
                  <a:lnTo>
                    <a:pt x="1439" y="414"/>
                  </a:lnTo>
                  <a:lnTo>
                    <a:pt x="1424" y="408"/>
                  </a:lnTo>
                  <a:lnTo>
                    <a:pt x="1408" y="401"/>
                  </a:lnTo>
                  <a:lnTo>
                    <a:pt x="1391" y="393"/>
                  </a:lnTo>
                  <a:lnTo>
                    <a:pt x="1375" y="384"/>
                  </a:lnTo>
                  <a:lnTo>
                    <a:pt x="1344" y="363"/>
                  </a:lnTo>
                  <a:lnTo>
                    <a:pt x="1322" y="350"/>
                  </a:lnTo>
                  <a:lnTo>
                    <a:pt x="1292" y="335"/>
                  </a:lnTo>
                  <a:lnTo>
                    <a:pt x="1263" y="330"/>
                  </a:lnTo>
                  <a:lnTo>
                    <a:pt x="1232" y="331"/>
                  </a:lnTo>
                  <a:lnTo>
                    <a:pt x="1191" y="327"/>
                  </a:lnTo>
                  <a:lnTo>
                    <a:pt x="1154" y="331"/>
                  </a:lnTo>
                  <a:lnTo>
                    <a:pt x="1112" y="333"/>
                  </a:lnTo>
                  <a:lnTo>
                    <a:pt x="1069" y="340"/>
                  </a:lnTo>
                  <a:lnTo>
                    <a:pt x="1024" y="350"/>
                  </a:lnTo>
                  <a:lnTo>
                    <a:pt x="997" y="360"/>
                  </a:lnTo>
                  <a:lnTo>
                    <a:pt x="992" y="369"/>
                  </a:lnTo>
                  <a:lnTo>
                    <a:pt x="997" y="378"/>
                  </a:lnTo>
                  <a:lnTo>
                    <a:pt x="1019" y="391"/>
                  </a:lnTo>
                  <a:lnTo>
                    <a:pt x="966" y="404"/>
                  </a:lnTo>
                  <a:lnTo>
                    <a:pt x="893" y="422"/>
                  </a:lnTo>
                  <a:lnTo>
                    <a:pt x="877" y="409"/>
                  </a:lnTo>
                  <a:lnTo>
                    <a:pt x="857" y="400"/>
                  </a:lnTo>
                  <a:lnTo>
                    <a:pt x="837" y="395"/>
                  </a:lnTo>
                  <a:lnTo>
                    <a:pt x="806" y="394"/>
                  </a:lnTo>
                  <a:lnTo>
                    <a:pt x="765" y="428"/>
                  </a:lnTo>
                  <a:lnTo>
                    <a:pt x="731" y="403"/>
                  </a:lnTo>
                  <a:lnTo>
                    <a:pt x="475" y="437"/>
                  </a:lnTo>
                  <a:lnTo>
                    <a:pt x="424" y="439"/>
                  </a:lnTo>
                  <a:lnTo>
                    <a:pt x="376" y="436"/>
                  </a:lnTo>
                  <a:lnTo>
                    <a:pt x="327" y="432"/>
                  </a:lnTo>
                  <a:lnTo>
                    <a:pt x="228" y="420"/>
                  </a:lnTo>
                  <a:lnTo>
                    <a:pt x="139" y="399"/>
                  </a:lnTo>
                  <a:lnTo>
                    <a:pt x="90" y="382"/>
                  </a:lnTo>
                  <a:lnTo>
                    <a:pt x="56" y="365"/>
                  </a:lnTo>
                  <a:lnTo>
                    <a:pt x="92" y="359"/>
                  </a:lnTo>
                  <a:lnTo>
                    <a:pt x="70" y="346"/>
                  </a:lnTo>
                  <a:lnTo>
                    <a:pt x="56" y="337"/>
                  </a:lnTo>
                  <a:lnTo>
                    <a:pt x="31" y="317"/>
                  </a:lnTo>
                  <a:lnTo>
                    <a:pt x="25" y="311"/>
                  </a:lnTo>
                  <a:lnTo>
                    <a:pt x="18" y="303"/>
                  </a:lnTo>
                  <a:lnTo>
                    <a:pt x="13" y="297"/>
                  </a:lnTo>
                  <a:lnTo>
                    <a:pt x="8" y="287"/>
                  </a:lnTo>
                  <a:lnTo>
                    <a:pt x="3" y="280"/>
                  </a:lnTo>
                  <a:lnTo>
                    <a:pt x="0" y="272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59" name="Group 22"/>
            <p:cNvGrpSpPr>
              <a:grpSpLocks/>
            </p:cNvGrpSpPr>
            <p:nvPr/>
          </p:nvGrpSpPr>
          <p:grpSpPr bwMode="auto">
            <a:xfrm>
              <a:off x="3760" y="2072"/>
              <a:ext cx="33" cy="30"/>
              <a:chOff x="3698" y="2071"/>
              <a:chExt cx="33" cy="30"/>
            </a:xfrm>
          </p:grpSpPr>
          <p:sp>
            <p:nvSpPr>
              <p:cNvPr id="6215" name="Oval 23" descr="50%"/>
              <p:cNvSpPr>
                <a:spLocks noChangeArrowheads="1"/>
              </p:cNvSpPr>
              <p:nvPr/>
            </p:nvSpPr>
            <p:spPr bwMode="auto">
              <a:xfrm>
                <a:off x="3698" y="2071"/>
                <a:ext cx="33" cy="30"/>
              </a:xfrm>
              <a:prstGeom prst="ellipse">
                <a:avLst/>
              </a:pr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16" name="Arc 24" descr="50%"/>
              <p:cNvSpPr>
                <a:spLocks/>
              </p:cNvSpPr>
              <p:nvPr/>
            </p:nvSpPr>
            <p:spPr bwMode="auto">
              <a:xfrm>
                <a:off x="3704" y="2075"/>
                <a:ext cx="25" cy="23"/>
              </a:xfrm>
              <a:custGeom>
                <a:avLst/>
                <a:gdLst>
                  <a:gd name="T0" fmla="*/ 20 w 43200"/>
                  <a:gd name="T1" fmla="*/ 2 h 42650"/>
                  <a:gd name="T2" fmla="*/ 10 w 43200"/>
                  <a:gd name="T3" fmla="*/ 0 h 42650"/>
                  <a:gd name="T4" fmla="*/ 13 w 43200"/>
                  <a:gd name="T5" fmla="*/ 11 h 4265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2650" fill="none" extrusionOk="0">
                    <a:moveTo>
                      <a:pt x="35273" y="4329"/>
                    </a:moveTo>
                    <a:cubicBezTo>
                      <a:pt x="40290" y="8431"/>
                      <a:pt x="43200" y="14569"/>
                      <a:pt x="43200" y="21050"/>
                    </a:cubicBezTo>
                    <a:cubicBezTo>
                      <a:pt x="43200" y="32979"/>
                      <a:pt x="33529" y="42650"/>
                      <a:pt x="21600" y="42650"/>
                    </a:cubicBezTo>
                    <a:cubicBezTo>
                      <a:pt x="9670" y="42650"/>
                      <a:pt x="0" y="32979"/>
                      <a:pt x="0" y="21050"/>
                    </a:cubicBezTo>
                    <a:cubicBezTo>
                      <a:pt x="-1" y="10986"/>
                      <a:pt x="6950" y="2255"/>
                      <a:pt x="16757" y="-1"/>
                    </a:cubicBezTo>
                  </a:path>
                  <a:path w="43200" h="42650" stroke="0" extrusionOk="0">
                    <a:moveTo>
                      <a:pt x="35273" y="4329"/>
                    </a:moveTo>
                    <a:cubicBezTo>
                      <a:pt x="40290" y="8431"/>
                      <a:pt x="43200" y="14569"/>
                      <a:pt x="43200" y="21050"/>
                    </a:cubicBezTo>
                    <a:cubicBezTo>
                      <a:pt x="43200" y="32979"/>
                      <a:pt x="33529" y="42650"/>
                      <a:pt x="21600" y="42650"/>
                    </a:cubicBezTo>
                    <a:cubicBezTo>
                      <a:pt x="9670" y="42650"/>
                      <a:pt x="0" y="32979"/>
                      <a:pt x="0" y="21050"/>
                    </a:cubicBezTo>
                    <a:cubicBezTo>
                      <a:pt x="-1" y="10986"/>
                      <a:pt x="6950" y="2255"/>
                      <a:pt x="16757" y="-1"/>
                    </a:cubicBezTo>
                    <a:lnTo>
                      <a:pt x="21600" y="21050"/>
                    </a:lnTo>
                    <a:lnTo>
                      <a:pt x="35273" y="4329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160" name="Group 25"/>
            <p:cNvGrpSpPr>
              <a:grpSpLocks/>
            </p:cNvGrpSpPr>
            <p:nvPr/>
          </p:nvGrpSpPr>
          <p:grpSpPr bwMode="auto">
            <a:xfrm>
              <a:off x="3854" y="2107"/>
              <a:ext cx="99" cy="72"/>
              <a:chOff x="3792" y="2106"/>
              <a:chExt cx="99" cy="72"/>
            </a:xfrm>
          </p:grpSpPr>
          <p:sp>
            <p:nvSpPr>
              <p:cNvPr id="6210" name="Arc 26" descr="50%"/>
              <p:cNvSpPr>
                <a:spLocks/>
              </p:cNvSpPr>
              <p:nvPr/>
            </p:nvSpPr>
            <p:spPr bwMode="auto">
              <a:xfrm>
                <a:off x="3813" y="2106"/>
                <a:ext cx="13" cy="72"/>
              </a:xfrm>
              <a:custGeom>
                <a:avLst/>
                <a:gdLst>
                  <a:gd name="T0" fmla="*/ 1 w 25753"/>
                  <a:gd name="T1" fmla="*/ 0 h 43200"/>
                  <a:gd name="T2" fmla="*/ 0 w 25753"/>
                  <a:gd name="T3" fmla="*/ 71 h 43200"/>
                  <a:gd name="T4" fmla="*/ 2 w 25753"/>
                  <a:gd name="T5" fmla="*/ 3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753" h="43200" fill="none" extrusionOk="0">
                    <a:moveTo>
                      <a:pt x="2105" y="97"/>
                    </a:moveTo>
                    <a:cubicBezTo>
                      <a:pt x="2785" y="32"/>
                      <a:pt x="3469" y="-1"/>
                      <a:pt x="4153" y="0"/>
                    </a:cubicBezTo>
                    <a:cubicBezTo>
                      <a:pt x="16082" y="0"/>
                      <a:pt x="25753" y="9670"/>
                      <a:pt x="25753" y="21600"/>
                    </a:cubicBezTo>
                    <a:cubicBezTo>
                      <a:pt x="25753" y="33529"/>
                      <a:pt x="16082" y="43200"/>
                      <a:pt x="4153" y="43200"/>
                    </a:cubicBezTo>
                    <a:cubicBezTo>
                      <a:pt x="2758" y="43200"/>
                      <a:pt x="1368" y="43065"/>
                      <a:pt x="0" y="42796"/>
                    </a:cubicBezTo>
                  </a:path>
                  <a:path w="25753" h="43200" stroke="0" extrusionOk="0">
                    <a:moveTo>
                      <a:pt x="2105" y="97"/>
                    </a:moveTo>
                    <a:cubicBezTo>
                      <a:pt x="2785" y="32"/>
                      <a:pt x="3469" y="-1"/>
                      <a:pt x="4153" y="0"/>
                    </a:cubicBezTo>
                    <a:cubicBezTo>
                      <a:pt x="16082" y="0"/>
                      <a:pt x="25753" y="9670"/>
                      <a:pt x="25753" y="21600"/>
                    </a:cubicBezTo>
                    <a:cubicBezTo>
                      <a:pt x="25753" y="33529"/>
                      <a:pt x="16082" y="43200"/>
                      <a:pt x="4153" y="43200"/>
                    </a:cubicBezTo>
                    <a:cubicBezTo>
                      <a:pt x="2758" y="43200"/>
                      <a:pt x="1368" y="43065"/>
                      <a:pt x="0" y="42796"/>
                    </a:cubicBezTo>
                    <a:lnTo>
                      <a:pt x="4153" y="21600"/>
                    </a:lnTo>
                    <a:lnTo>
                      <a:pt x="2105" y="97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11" name="Arc 27" descr="50%"/>
              <p:cNvSpPr>
                <a:spLocks/>
              </p:cNvSpPr>
              <p:nvPr/>
            </p:nvSpPr>
            <p:spPr bwMode="auto">
              <a:xfrm>
                <a:off x="3792" y="2106"/>
                <a:ext cx="14" cy="72"/>
              </a:xfrm>
              <a:custGeom>
                <a:avLst/>
                <a:gdLst>
                  <a:gd name="T0" fmla="*/ 2 w 27434"/>
                  <a:gd name="T1" fmla="*/ 0 h 43200"/>
                  <a:gd name="T2" fmla="*/ 0 w 27434"/>
                  <a:gd name="T3" fmla="*/ 71 h 43200"/>
                  <a:gd name="T4" fmla="*/ 3 w 27434"/>
                  <a:gd name="T5" fmla="*/ 3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434" h="43200" fill="none" extrusionOk="0">
                    <a:moveTo>
                      <a:pt x="3877" y="88"/>
                    </a:moveTo>
                    <a:cubicBezTo>
                      <a:pt x="4528" y="29"/>
                      <a:pt x="5180" y="-1"/>
                      <a:pt x="5834" y="0"/>
                    </a:cubicBezTo>
                    <a:cubicBezTo>
                      <a:pt x="17763" y="0"/>
                      <a:pt x="27434" y="9670"/>
                      <a:pt x="27434" y="21600"/>
                    </a:cubicBezTo>
                    <a:cubicBezTo>
                      <a:pt x="27434" y="33529"/>
                      <a:pt x="17763" y="43200"/>
                      <a:pt x="5834" y="43200"/>
                    </a:cubicBezTo>
                    <a:cubicBezTo>
                      <a:pt x="3861" y="43200"/>
                      <a:pt x="1898" y="42929"/>
                      <a:pt x="-1" y="42397"/>
                    </a:cubicBezTo>
                  </a:path>
                  <a:path w="27434" h="43200" stroke="0" extrusionOk="0">
                    <a:moveTo>
                      <a:pt x="3877" y="88"/>
                    </a:moveTo>
                    <a:cubicBezTo>
                      <a:pt x="4528" y="29"/>
                      <a:pt x="5180" y="-1"/>
                      <a:pt x="5834" y="0"/>
                    </a:cubicBezTo>
                    <a:cubicBezTo>
                      <a:pt x="17763" y="0"/>
                      <a:pt x="27434" y="9670"/>
                      <a:pt x="27434" y="21600"/>
                    </a:cubicBezTo>
                    <a:cubicBezTo>
                      <a:pt x="27434" y="33529"/>
                      <a:pt x="17763" y="43200"/>
                      <a:pt x="5834" y="43200"/>
                    </a:cubicBezTo>
                    <a:cubicBezTo>
                      <a:pt x="3861" y="43200"/>
                      <a:pt x="1898" y="42929"/>
                      <a:pt x="-1" y="42397"/>
                    </a:cubicBezTo>
                    <a:lnTo>
                      <a:pt x="5834" y="21600"/>
                    </a:lnTo>
                    <a:lnTo>
                      <a:pt x="3877" y="8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12" name="Arc 28" descr="50%"/>
              <p:cNvSpPr>
                <a:spLocks/>
              </p:cNvSpPr>
              <p:nvPr/>
            </p:nvSpPr>
            <p:spPr bwMode="auto">
              <a:xfrm>
                <a:off x="3834" y="2106"/>
                <a:ext cx="13" cy="72"/>
              </a:xfrm>
              <a:custGeom>
                <a:avLst/>
                <a:gdLst>
                  <a:gd name="T0" fmla="*/ 1 w 25753"/>
                  <a:gd name="T1" fmla="*/ 0 h 43200"/>
                  <a:gd name="T2" fmla="*/ 0 w 25753"/>
                  <a:gd name="T3" fmla="*/ 71 h 43200"/>
                  <a:gd name="T4" fmla="*/ 2 w 25753"/>
                  <a:gd name="T5" fmla="*/ 3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753" h="43200" fill="none" extrusionOk="0">
                    <a:moveTo>
                      <a:pt x="2105" y="97"/>
                    </a:moveTo>
                    <a:cubicBezTo>
                      <a:pt x="2785" y="32"/>
                      <a:pt x="3469" y="-1"/>
                      <a:pt x="4153" y="0"/>
                    </a:cubicBezTo>
                    <a:cubicBezTo>
                      <a:pt x="16082" y="0"/>
                      <a:pt x="25753" y="9670"/>
                      <a:pt x="25753" y="21600"/>
                    </a:cubicBezTo>
                    <a:cubicBezTo>
                      <a:pt x="25753" y="33529"/>
                      <a:pt x="16082" y="43200"/>
                      <a:pt x="4153" y="43200"/>
                    </a:cubicBezTo>
                    <a:cubicBezTo>
                      <a:pt x="2758" y="43200"/>
                      <a:pt x="1368" y="43065"/>
                      <a:pt x="0" y="42796"/>
                    </a:cubicBezTo>
                  </a:path>
                  <a:path w="25753" h="43200" stroke="0" extrusionOk="0">
                    <a:moveTo>
                      <a:pt x="2105" y="97"/>
                    </a:moveTo>
                    <a:cubicBezTo>
                      <a:pt x="2785" y="32"/>
                      <a:pt x="3469" y="-1"/>
                      <a:pt x="4153" y="0"/>
                    </a:cubicBezTo>
                    <a:cubicBezTo>
                      <a:pt x="16082" y="0"/>
                      <a:pt x="25753" y="9670"/>
                      <a:pt x="25753" y="21600"/>
                    </a:cubicBezTo>
                    <a:cubicBezTo>
                      <a:pt x="25753" y="33529"/>
                      <a:pt x="16082" y="43200"/>
                      <a:pt x="4153" y="43200"/>
                    </a:cubicBezTo>
                    <a:cubicBezTo>
                      <a:pt x="2758" y="43200"/>
                      <a:pt x="1368" y="43065"/>
                      <a:pt x="0" y="42796"/>
                    </a:cubicBezTo>
                    <a:lnTo>
                      <a:pt x="4153" y="21600"/>
                    </a:lnTo>
                    <a:lnTo>
                      <a:pt x="2105" y="97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13" name="Arc 29" descr="50%"/>
              <p:cNvSpPr>
                <a:spLocks/>
              </p:cNvSpPr>
              <p:nvPr/>
            </p:nvSpPr>
            <p:spPr bwMode="auto">
              <a:xfrm>
                <a:off x="3855" y="2106"/>
                <a:ext cx="13" cy="72"/>
              </a:xfrm>
              <a:custGeom>
                <a:avLst/>
                <a:gdLst>
                  <a:gd name="T0" fmla="*/ 1 w 25753"/>
                  <a:gd name="T1" fmla="*/ 0 h 43200"/>
                  <a:gd name="T2" fmla="*/ 0 w 25753"/>
                  <a:gd name="T3" fmla="*/ 71 h 43200"/>
                  <a:gd name="T4" fmla="*/ 2 w 25753"/>
                  <a:gd name="T5" fmla="*/ 3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753" h="43200" fill="none" extrusionOk="0">
                    <a:moveTo>
                      <a:pt x="2105" y="97"/>
                    </a:moveTo>
                    <a:cubicBezTo>
                      <a:pt x="2785" y="32"/>
                      <a:pt x="3469" y="-1"/>
                      <a:pt x="4153" y="0"/>
                    </a:cubicBezTo>
                    <a:cubicBezTo>
                      <a:pt x="16082" y="0"/>
                      <a:pt x="25753" y="9670"/>
                      <a:pt x="25753" y="21600"/>
                    </a:cubicBezTo>
                    <a:cubicBezTo>
                      <a:pt x="25753" y="33529"/>
                      <a:pt x="16082" y="43200"/>
                      <a:pt x="4153" y="43200"/>
                    </a:cubicBezTo>
                    <a:cubicBezTo>
                      <a:pt x="2758" y="43200"/>
                      <a:pt x="1368" y="43065"/>
                      <a:pt x="0" y="42796"/>
                    </a:cubicBezTo>
                  </a:path>
                  <a:path w="25753" h="43200" stroke="0" extrusionOk="0">
                    <a:moveTo>
                      <a:pt x="2105" y="97"/>
                    </a:moveTo>
                    <a:cubicBezTo>
                      <a:pt x="2785" y="32"/>
                      <a:pt x="3469" y="-1"/>
                      <a:pt x="4153" y="0"/>
                    </a:cubicBezTo>
                    <a:cubicBezTo>
                      <a:pt x="16082" y="0"/>
                      <a:pt x="25753" y="9670"/>
                      <a:pt x="25753" y="21600"/>
                    </a:cubicBezTo>
                    <a:cubicBezTo>
                      <a:pt x="25753" y="33529"/>
                      <a:pt x="16082" y="43200"/>
                      <a:pt x="4153" y="43200"/>
                    </a:cubicBezTo>
                    <a:cubicBezTo>
                      <a:pt x="2758" y="43200"/>
                      <a:pt x="1368" y="43065"/>
                      <a:pt x="0" y="42796"/>
                    </a:cubicBezTo>
                    <a:lnTo>
                      <a:pt x="4153" y="21600"/>
                    </a:lnTo>
                    <a:lnTo>
                      <a:pt x="2105" y="97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14" name="Arc 30" descr="50%"/>
              <p:cNvSpPr>
                <a:spLocks/>
              </p:cNvSpPr>
              <p:nvPr/>
            </p:nvSpPr>
            <p:spPr bwMode="auto">
              <a:xfrm>
                <a:off x="3878" y="2106"/>
                <a:ext cx="13" cy="72"/>
              </a:xfrm>
              <a:custGeom>
                <a:avLst/>
                <a:gdLst>
                  <a:gd name="T0" fmla="*/ 1 w 25753"/>
                  <a:gd name="T1" fmla="*/ 0 h 43200"/>
                  <a:gd name="T2" fmla="*/ 0 w 25753"/>
                  <a:gd name="T3" fmla="*/ 71 h 43200"/>
                  <a:gd name="T4" fmla="*/ 2 w 25753"/>
                  <a:gd name="T5" fmla="*/ 3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753" h="43200" fill="none" extrusionOk="0">
                    <a:moveTo>
                      <a:pt x="2105" y="97"/>
                    </a:moveTo>
                    <a:cubicBezTo>
                      <a:pt x="2785" y="32"/>
                      <a:pt x="3469" y="-1"/>
                      <a:pt x="4153" y="0"/>
                    </a:cubicBezTo>
                    <a:cubicBezTo>
                      <a:pt x="16082" y="0"/>
                      <a:pt x="25753" y="9670"/>
                      <a:pt x="25753" y="21600"/>
                    </a:cubicBezTo>
                    <a:cubicBezTo>
                      <a:pt x="25753" y="33529"/>
                      <a:pt x="16082" y="43200"/>
                      <a:pt x="4153" y="43200"/>
                    </a:cubicBezTo>
                    <a:cubicBezTo>
                      <a:pt x="2758" y="43200"/>
                      <a:pt x="1368" y="43065"/>
                      <a:pt x="0" y="42796"/>
                    </a:cubicBezTo>
                  </a:path>
                  <a:path w="25753" h="43200" stroke="0" extrusionOk="0">
                    <a:moveTo>
                      <a:pt x="2105" y="97"/>
                    </a:moveTo>
                    <a:cubicBezTo>
                      <a:pt x="2785" y="32"/>
                      <a:pt x="3469" y="-1"/>
                      <a:pt x="4153" y="0"/>
                    </a:cubicBezTo>
                    <a:cubicBezTo>
                      <a:pt x="16082" y="0"/>
                      <a:pt x="25753" y="9670"/>
                      <a:pt x="25753" y="21600"/>
                    </a:cubicBezTo>
                    <a:cubicBezTo>
                      <a:pt x="25753" y="33529"/>
                      <a:pt x="16082" y="43200"/>
                      <a:pt x="4153" y="43200"/>
                    </a:cubicBezTo>
                    <a:cubicBezTo>
                      <a:pt x="2758" y="43200"/>
                      <a:pt x="1368" y="43065"/>
                      <a:pt x="0" y="42796"/>
                    </a:cubicBezTo>
                    <a:lnTo>
                      <a:pt x="4153" y="21600"/>
                    </a:lnTo>
                    <a:lnTo>
                      <a:pt x="2105" y="97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161" name="Freeform 31" descr="50%"/>
            <p:cNvSpPr>
              <a:spLocks/>
            </p:cNvSpPr>
            <p:nvPr/>
          </p:nvSpPr>
          <p:spPr bwMode="auto">
            <a:xfrm>
              <a:off x="3628" y="1792"/>
              <a:ext cx="1553" cy="292"/>
            </a:xfrm>
            <a:custGeom>
              <a:avLst/>
              <a:gdLst>
                <a:gd name="T0" fmla="*/ 33 w 1553"/>
                <a:gd name="T1" fmla="*/ 246 h 292"/>
                <a:gd name="T2" fmla="*/ 105 w 1553"/>
                <a:gd name="T3" fmla="*/ 223 h 292"/>
                <a:gd name="T4" fmla="*/ 209 w 1553"/>
                <a:gd name="T5" fmla="*/ 200 h 292"/>
                <a:gd name="T6" fmla="*/ 312 w 1553"/>
                <a:gd name="T7" fmla="*/ 182 h 292"/>
                <a:gd name="T8" fmla="*/ 410 w 1553"/>
                <a:gd name="T9" fmla="*/ 165 h 292"/>
                <a:gd name="T10" fmla="*/ 468 w 1553"/>
                <a:gd name="T11" fmla="*/ 140 h 292"/>
                <a:gd name="T12" fmla="*/ 518 w 1553"/>
                <a:gd name="T13" fmla="*/ 91 h 292"/>
                <a:gd name="T14" fmla="*/ 592 w 1553"/>
                <a:gd name="T15" fmla="*/ 27 h 292"/>
                <a:gd name="T16" fmla="*/ 646 w 1553"/>
                <a:gd name="T17" fmla="*/ 52 h 292"/>
                <a:gd name="T18" fmla="*/ 667 w 1553"/>
                <a:gd name="T19" fmla="*/ 126 h 292"/>
                <a:gd name="T20" fmla="*/ 707 w 1553"/>
                <a:gd name="T21" fmla="*/ 160 h 292"/>
                <a:gd name="T22" fmla="*/ 834 w 1553"/>
                <a:gd name="T23" fmla="*/ 181 h 292"/>
                <a:gd name="T24" fmla="*/ 931 w 1553"/>
                <a:gd name="T25" fmla="*/ 185 h 292"/>
                <a:gd name="T26" fmla="*/ 1046 w 1553"/>
                <a:gd name="T27" fmla="*/ 181 h 292"/>
                <a:gd name="T28" fmla="*/ 1092 w 1553"/>
                <a:gd name="T29" fmla="*/ 218 h 292"/>
                <a:gd name="T30" fmla="*/ 1183 w 1553"/>
                <a:gd name="T31" fmla="*/ 222 h 292"/>
                <a:gd name="T32" fmla="*/ 1287 w 1553"/>
                <a:gd name="T33" fmla="*/ 176 h 292"/>
                <a:gd name="T34" fmla="*/ 1368 w 1553"/>
                <a:gd name="T35" fmla="*/ 103 h 292"/>
                <a:gd name="T36" fmla="*/ 1434 w 1553"/>
                <a:gd name="T37" fmla="*/ 59 h 292"/>
                <a:gd name="T38" fmla="*/ 1491 w 1553"/>
                <a:gd name="T39" fmla="*/ 35 h 292"/>
                <a:gd name="T40" fmla="*/ 1540 w 1553"/>
                <a:gd name="T41" fmla="*/ 41 h 292"/>
                <a:gd name="T42" fmla="*/ 1500 w 1553"/>
                <a:gd name="T43" fmla="*/ 91 h 292"/>
                <a:gd name="T44" fmla="*/ 1448 w 1553"/>
                <a:gd name="T45" fmla="*/ 136 h 292"/>
                <a:gd name="T46" fmla="*/ 1418 w 1553"/>
                <a:gd name="T47" fmla="*/ 174 h 292"/>
                <a:gd name="T48" fmla="*/ 1396 w 1553"/>
                <a:gd name="T49" fmla="*/ 208 h 292"/>
                <a:gd name="T50" fmla="*/ 1388 w 1553"/>
                <a:gd name="T51" fmla="*/ 244 h 292"/>
                <a:gd name="T52" fmla="*/ 1344 w 1553"/>
                <a:gd name="T53" fmla="*/ 237 h 292"/>
                <a:gd name="T54" fmla="*/ 1305 w 1553"/>
                <a:gd name="T55" fmla="*/ 249 h 292"/>
                <a:gd name="T56" fmla="*/ 1259 w 1553"/>
                <a:gd name="T57" fmla="*/ 244 h 292"/>
                <a:gd name="T58" fmla="*/ 1208 w 1553"/>
                <a:gd name="T59" fmla="*/ 247 h 292"/>
                <a:gd name="T60" fmla="*/ 1155 w 1553"/>
                <a:gd name="T61" fmla="*/ 242 h 292"/>
                <a:gd name="T62" fmla="*/ 1096 w 1553"/>
                <a:gd name="T63" fmla="*/ 245 h 292"/>
                <a:gd name="T64" fmla="*/ 1035 w 1553"/>
                <a:gd name="T65" fmla="*/ 255 h 292"/>
                <a:gd name="T66" fmla="*/ 976 w 1553"/>
                <a:gd name="T67" fmla="*/ 256 h 292"/>
                <a:gd name="T68" fmla="*/ 918 w 1553"/>
                <a:gd name="T69" fmla="*/ 257 h 292"/>
                <a:gd name="T70" fmla="*/ 864 w 1553"/>
                <a:gd name="T71" fmla="*/ 263 h 292"/>
                <a:gd name="T72" fmla="*/ 807 w 1553"/>
                <a:gd name="T73" fmla="*/ 275 h 292"/>
                <a:gd name="T74" fmla="*/ 738 w 1553"/>
                <a:gd name="T75" fmla="*/ 275 h 292"/>
                <a:gd name="T76" fmla="*/ 679 w 1553"/>
                <a:gd name="T77" fmla="*/ 278 h 292"/>
                <a:gd name="T78" fmla="*/ 620 w 1553"/>
                <a:gd name="T79" fmla="*/ 269 h 292"/>
                <a:gd name="T80" fmla="*/ 563 w 1553"/>
                <a:gd name="T81" fmla="*/ 275 h 292"/>
                <a:gd name="T82" fmla="*/ 516 w 1553"/>
                <a:gd name="T83" fmla="*/ 268 h 292"/>
                <a:gd name="T84" fmla="*/ 458 w 1553"/>
                <a:gd name="T85" fmla="*/ 275 h 292"/>
                <a:gd name="T86" fmla="*/ 397 w 1553"/>
                <a:gd name="T87" fmla="*/ 278 h 292"/>
                <a:gd name="T88" fmla="*/ 319 w 1553"/>
                <a:gd name="T89" fmla="*/ 291 h 292"/>
                <a:gd name="T90" fmla="*/ 227 w 1553"/>
                <a:gd name="T91" fmla="*/ 291 h 292"/>
                <a:gd name="T92" fmla="*/ 152 w 1553"/>
                <a:gd name="T93" fmla="*/ 280 h 292"/>
                <a:gd name="T94" fmla="*/ 82 w 1553"/>
                <a:gd name="T95" fmla="*/ 283 h 292"/>
                <a:gd name="T96" fmla="*/ 16 w 1553"/>
                <a:gd name="T97" fmla="*/ 270 h 29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553" h="292">
                  <a:moveTo>
                    <a:pt x="0" y="262"/>
                  </a:moveTo>
                  <a:lnTo>
                    <a:pt x="9" y="257"/>
                  </a:lnTo>
                  <a:lnTo>
                    <a:pt x="20" y="251"/>
                  </a:lnTo>
                  <a:lnTo>
                    <a:pt x="33" y="246"/>
                  </a:lnTo>
                  <a:lnTo>
                    <a:pt x="47" y="241"/>
                  </a:lnTo>
                  <a:lnTo>
                    <a:pt x="63" y="236"/>
                  </a:lnTo>
                  <a:lnTo>
                    <a:pt x="86" y="230"/>
                  </a:lnTo>
                  <a:lnTo>
                    <a:pt x="105" y="223"/>
                  </a:lnTo>
                  <a:lnTo>
                    <a:pt x="129" y="216"/>
                  </a:lnTo>
                  <a:lnTo>
                    <a:pt x="156" y="210"/>
                  </a:lnTo>
                  <a:lnTo>
                    <a:pt x="182" y="204"/>
                  </a:lnTo>
                  <a:lnTo>
                    <a:pt x="209" y="200"/>
                  </a:lnTo>
                  <a:lnTo>
                    <a:pt x="234" y="196"/>
                  </a:lnTo>
                  <a:lnTo>
                    <a:pt x="261" y="192"/>
                  </a:lnTo>
                  <a:lnTo>
                    <a:pt x="286" y="187"/>
                  </a:lnTo>
                  <a:lnTo>
                    <a:pt x="312" y="182"/>
                  </a:lnTo>
                  <a:lnTo>
                    <a:pt x="332" y="178"/>
                  </a:lnTo>
                  <a:lnTo>
                    <a:pt x="362" y="173"/>
                  </a:lnTo>
                  <a:lnTo>
                    <a:pt x="387" y="169"/>
                  </a:lnTo>
                  <a:lnTo>
                    <a:pt x="410" y="165"/>
                  </a:lnTo>
                  <a:lnTo>
                    <a:pt x="428" y="161"/>
                  </a:lnTo>
                  <a:lnTo>
                    <a:pt x="444" y="155"/>
                  </a:lnTo>
                  <a:lnTo>
                    <a:pt x="458" y="147"/>
                  </a:lnTo>
                  <a:lnTo>
                    <a:pt x="468" y="140"/>
                  </a:lnTo>
                  <a:lnTo>
                    <a:pt x="477" y="130"/>
                  </a:lnTo>
                  <a:lnTo>
                    <a:pt x="487" y="120"/>
                  </a:lnTo>
                  <a:lnTo>
                    <a:pt x="503" y="104"/>
                  </a:lnTo>
                  <a:lnTo>
                    <a:pt x="518" y="91"/>
                  </a:lnTo>
                  <a:lnTo>
                    <a:pt x="535" y="75"/>
                  </a:lnTo>
                  <a:lnTo>
                    <a:pt x="553" y="59"/>
                  </a:lnTo>
                  <a:lnTo>
                    <a:pt x="571" y="42"/>
                  </a:lnTo>
                  <a:lnTo>
                    <a:pt x="592" y="27"/>
                  </a:lnTo>
                  <a:lnTo>
                    <a:pt x="612" y="12"/>
                  </a:lnTo>
                  <a:lnTo>
                    <a:pt x="629" y="0"/>
                  </a:lnTo>
                  <a:lnTo>
                    <a:pt x="636" y="24"/>
                  </a:lnTo>
                  <a:lnTo>
                    <a:pt x="646" y="52"/>
                  </a:lnTo>
                  <a:lnTo>
                    <a:pt x="654" y="78"/>
                  </a:lnTo>
                  <a:lnTo>
                    <a:pt x="662" y="102"/>
                  </a:lnTo>
                  <a:lnTo>
                    <a:pt x="665" y="114"/>
                  </a:lnTo>
                  <a:lnTo>
                    <a:pt x="667" y="126"/>
                  </a:lnTo>
                  <a:lnTo>
                    <a:pt x="665" y="138"/>
                  </a:lnTo>
                  <a:lnTo>
                    <a:pt x="655" y="151"/>
                  </a:lnTo>
                  <a:lnTo>
                    <a:pt x="681" y="156"/>
                  </a:lnTo>
                  <a:lnTo>
                    <a:pt x="707" y="160"/>
                  </a:lnTo>
                  <a:lnTo>
                    <a:pt x="738" y="165"/>
                  </a:lnTo>
                  <a:lnTo>
                    <a:pt x="773" y="170"/>
                  </a:lnTo>
                  <a:lnTo>
                    <a:pt x="808" y="177"/>
                  </a:lnTo>
                  <a:lnTo>
                    <a:pt x="834" y="181"/>
                  </a:lnTo>
                  <a:lnTo>
                    <a:pt x="864" y="185"/>
                  </a:lnTo>
                  <a:lnTo>
                    <a:pt x="889" y="188"/>
                  </a:lnTo>
                  <a:lnTo>
                    <a:pt x="912" y="190"/>
                  </a:lnTo>
                  <a:lnTo>
                    <a:pt x="931" y="185"/>
                  </a:lnTo>
                  <a:lnTo>
                    <a:pt x="949" y="177"/>
                  </a:lnTo>
                  <a:lnTo>
                    <a:pt x="965" y="165"/>
                  </a:lnTo>
                  <a:lnTo>
                    <a:pt x="1004" y="171"/>
                  </a:lnTo>
                  <a:lnTo>
                    <a:pt x="1046" y="181"/>
                  </a:lnTo>
                  <a:lnTo>
                    <a:pt x="1077" y="187"/>
                  </a:lnTo>
                  <a:lnTo>
                    <a:pt x="1058" y="206"/>
                  </a:lnTo>
                  <a:lnTo>
                    <a:pt x="1072" y="211"/>
                  </a:lnTo>
                  <a:lnTo>
                    <a:pt x="1092" y="218"/>
                  </a:lnTo>
                  <a:lnTo>
                    <a:pt x="1114" y="223"/>
                  </a:lnTo>
                  <a:lnTo>
                    <a:pt x="1138" y="226"/>
                  </a:lnTo>
                  <a:lnTo>
                    <a:pt x="1160" y="224"/>
                  </a:lnTo>
                  <a:lnTo>
                    <a:pt x="1183" y="222"/>
                  </a:lnTo>
                  <a:lnTo>
                    <a:pt x="1207" y="218"/>
                  </a:lnTo>
                  <a:lnTo>
                    <a:pt x="1234" y="210"/>
                  </a:lnTo>
                  <a:lnTo>
                    <a:pt x="1258" y="196"/>
                  </a:lnTo>
                  <a:lnTo>
                    <a:pt x="1287" y="176"/>
                  </a:lnTo>
                  <a:lnTo>
                    <a:pt x="1310" y="158"/>
                  </a:lnTo>
                  <a:lnTo>
                    <a:pt x="1337" y="133"/>
                  </a:lnTo>
                  <a:lnTo>
                    <a:pt x="1349" y="122"/>
                  </a:lnTo>
                  <a:lnTo>
                    <a:pt x="1368" y="103"/>
                  </a:lnTo>
                  <a:lnTo>
                    <a:pt x="1386" y="91"/>
                  </a:lnTo>
                  <a:lnTo>
                    <a:pt x="1402" y="79"/>
                  </a:lnTo>
                  <a:lnTo>
                    <a:pt x="1419" y="68"/>
                  </a:lnTo>
                  <a:lnTo>
                    <a:pt x="1434" y="59"/>
                  </a:lnTo>
                  <a:lnTo>
                    <a:pt x="1449" y="52"/>
                  </a:lnTo>
                  <a:lnTo>
                    <a:pt x="1463" y="45"/>
                  </a:lnTo>
                  <a:lnTo>
                    <a:pt x="1476" y="40"/>
                  </a:lnTo>
                  <a:lnTo>
                    <a:pt x="1491" y="35"/>
                  </a:lnTo>
                  <a:lnTo>
                    <a:pt x="1506" y="33"/>
                  </a:lnTo>
                  <a:lnTo>
                    <a:pt x="1524" y="32"/>
                  </a:lnTo>
                  <a:lnTo>
                    <a:pt x="1552" y="32"/>
                  </a:lnTo>
                  <a:lnTo>
                    <a:pt x="1540" y="41"/>
                  </a:lnTo>
                  <a:lnTo>
                    <a:pt x="1528" y="54"/>
                  </a:lnTo>
                  <a:lnTo>
                    <a:pt x="1522" y="62"/>
                  </a:lnTo>
                  <a:lnTo>
                    <a:pt x="1511" y="78"/>
                  </a:lnTo>
                  <a:lnTo>
                    <a:pt x="1500" y="91"/>
                  </a:lnTo>
                  <a:lnTo>
                    <a:pt x="1485" y="104"/>
                  </a:lnTo>
                  <a:lnTo>
                    <a:pt x="1466" y="118"/>
                  </a:lnTo>
                  <a:lnTo>
                    <a:pt x="1456" y="126"/>
                  </a:lnTo>
                  <a:lnTo>
                    <a:pt x="1448" y="136"/>
                  </a:lnTo>
                  <a:lnTo>
                    <a:pt x="1438" y="147"/>
                  </a:lnTo>
                  <a:lnTo>
                    <a:pt x="1432" y="155"/>
                  </a:lnTo>
                  <a:lnTo>
                    <a:pt x="1425" y="164"/>
                  </a:lnTo>
                  <a:lnTo>
                    <a:pt x="1418" y="174"/>
                  </a:lnTo>
                  <a:lnTo>
                    <a:pt x="1412" y="183"/>
                  </a:lnTo>
                  <a:lnTo>
                    <a:pt x="1406" y="192"/>
                  </a:lnTo>
                  <a:lnTo>
                    <a:pt x="1401" y="200"/>
                  </a:lnTo>
                  <a:lnTo>
                    <a:pt x="1396" y="208"/>
                  </a:lnTo>
                  <a:lnTo>
                    <a:pt x="1392" y="218"/>
                  </a:lnTo>
                  <a:lnTo>
                    <a:pt x="1390" y="226"/>
                  </a:lnTo>
                  <a:lnTo>
                    <a:pt x="1389" y="235"/>
                  </a:lnTo>
                  <a:lnTo>
                    <a:pt x="1388" y="244"/>
                  </a:lnTo>
                  <a:lnTo>
                    <a:pt x="1380" y="239"/>
                  </a:lnTo>
                  <a:lnTo>
                    <a:pt x="1366" y="237"/>
                  </a:lnTo>
                  <a:lnTo>
                    <a:pt x="1355" y="236"/>
                  </a:lnTo>
                  <a:lnTo>
                    <a:pt x="1344" y="237"/>
                  </a:lnTo>
                  <a:lnTo>
                    <a:pt x="1334" y="240"/>
                  </a:lnTo>
                  <a:lnTo>
                    <a:pt x="1325" y="244"/>
                  </a:lnTo>
                  <a:lnTo>
                    <a:pt x="1315" y="246"/>
                  </a:lnTo>
                  <a:lnTo>
                    <a:pt x="1305" y="249"/>
                  </a:lnTo>
                  <a:lnTo>
                    <a:pt x="1294" y="251"/>
                  </a:lnTo>
                  <a:lnTo>
                    <a:pt x="1279" y="248"/>
                  </a:lnTo>
                  <a:lnTo>
                    <a:pt x="1268" y="247"/>
                  </a:lnTo>
                  <a:lnTo>
                    <a:pt x="1259" y="244"/>
                  </a:lnTo>
                  <a:lnTo>
                    <a:pt x="1248" y="241"/>
                  </a:lnTo>
                  <a:lnTo>
                    <a:pt x="1237" y="242"/>
                  </a:lnTo>
                  <a:lnTo>
                    <a:pt x="1222" y="244"/>
                  </a:lnTo>
                  <a:lnTo>
                    <a:pt x="1208" y="247"/>
                  </a:lnTo>
                  <a:lnTo>
                    <a:pt x="1198" y="246"/>
                  </a:lnTo>
                  <a:lnTo>
                    <a:pt x="1183" y="245"/>
                  </a:lnTo>
                  <a:lnTo>
                    <a:pt x="1169" y="242"/>
                  </a:lnTo>
                  <a:lnTo>
                    <a:pt x="1155" y="242"/>
                  </a:lnTo>
                  <a:lnTo>
                    <a:pt x="1143" y="245"/>
                  </a:lnTo>
                  <a:lnTo>
                    <a:pt x="1124" y="247"/>
                  </a:lnTo>
                  <a:lnTo>
                    <a:pt x="1112" y="247"/>
                  </a:lnTo>
                  <a:lnTo>
                    <a:pt x="1096" y="245"/>
                  </a:lnTo>
                  <a:lnTo>
                    <a:pt x="1082" y="244"/>
                  </a:lnTo>
                  <a:lnTo>
                    <a:pt x="1066" y="247"/>
                  </a:lnTo>
                  <a:lnTo>
                    <a:pt x="1053" y="251"/>
                  </a:lnTo>
                  <a:lnTo>
                    <a:pt x="1035" y="255"/>
                  </a:lnTo>
                  <a:lnTo>
                    <a:pt x="1021" y="256"/>
                  </a:lnTo>
                  <a:lnTo>
                    <a:pt x="1005" y="258"/>
                  </a:lnTo>
                  <a:lnTo>
                    <a:pt x="992" y="258"/>
                  </a:lnTo>
                  <a:lnTo>
                    <a:pt x="976" y="256"/>
                  </a:lnTo>
                  <a:lnTo>
                    <a:pt x="960" y="252"/>
                  </a:lnTo>
                  <a:lnTo>
                    <a:pt x="943" y="256"/>
                  </a:lnTo>
                  <a:lnTo>
                    <a:pt x="932" y="257"/>
                  </a:lnTo>
                  <a:lnTo>
                    <a:pt x="918" y="257"/>
                  </a:lnTo>
                  <a:lnTo>
                    <a:pt x="905" y="256"/>
                  </a:lnTo>
                  <a:lnTo>
                    <a:pt x="891" y="256"/>
                  </a:lnTo>
                  <a:lnTo>
                    <a:pt x="877" y="258"/>
                  </a:lnTo>
                  <a:lnTo>
                    <a:pt x="864" y="263"/>
                  </a:lnTo>
                  <a:lnTo>
                    <a:pt x="852" y="266"/>
                  </a:lnTo>
                  <a:lnTo>
                    <a:pt x="837" y="271"/>
                  </a:lnTo>
                  <a:lnTo>
                    <a:pt x="823" y="273"/>
                  </a:lnTo>
                  <a:lnTo>
                    <a:pt x="807" y="275"/>
                  </a:lnTo>
                  <a:lnTo>
                    <a:pt x="791" y="277"/>
                  </a:lnTo>
                  <a:lnTo>
                    <a:pt x="770" y="275"/>
                  </a:lnTo>
                  <a:lnTo>
                    <a:pt x="751" y="273"/>
                  </a:lnTo>
                  <a:lnTo>
                    <a:pt x="738" y="275"/>
                  </a:lnTo>
                  <a:lnTo>
                    <a:pt x="720" y="277"/>
                  </a:lnTo>
                  <a:lnTo>
                    <a:pt x="707" y="277"/>
                  </a:lnTo>
                  <a:lnTo>
                    <a:pt x="692" y="278"/>
                  </a:lnTo>
                  <a:lnTo>
                    <a:pt x="679" y="278"/>
                  </a:lnTo>
                  <a:lnTo>
                    <a:pt x="660" y="277"/>
                  </a:lnTo>
                  <a:lnTo>
                    <a:pt x="644" y="273"/>
                  </a:lnTo>
                  <a:lnTo>
                    <a:pt x="633" y="269"/>
                  </a:lnTo>
                  <a:lnTo>
                    <a:pt x="620" y="269"/>
                  </a:lnTo>
                  <a:lnTo>
                    <a:pt x="606" y="268"/>
                  </a:lnTo>
                  <a:lnTo>
                    <a:pt x="592" y="271"/>
                  </a:lnTo>
                  <a:lnTo>
                    <a:pt x="576" y="273"/>
                  </a:lnTo>
                  <a:lnTo>
                    <a:pt x="563" y="275"/>
                  </a:lnTo>
                  <a:lnTo>
                    <a:pt x="551" y="275"/>
                  </a:lnTo>
                  <a:lnTo>
                    <a:pt x="542" y="273"/>
                  </a:lnTo>
                  <a:lnTo>
                    <a:pt x="529" y="269"/>
                  </a:lnTo>
                  <a:lnTo>
                    <a:pt x="516" y="268"/>
                  </a:lnTo>
                  <a:lnTo>
                    <a:pt x="503" y="269"/>
                  </a:lnTo>
                  <a:lnTo>
                    <a:pt x="491" y="271"/>
                  </a:lnTo>
                  <a:lnTo>
                    <a:pt x="476" y="273"/>
                  </a:lnTo>
                  <a:lnTo>
                    <a:pt x="458" y="275"/>
                  </a:lnTo>
                  <a:lnTo>
                    <a:pt x="443" y="275"/>
                  </a:lnTo>
                  <a:lnTo>
                    <a:pt x="428" y="273"/>
                  </a:lnTo>
                  <a:lnTo>
                    <a:pt x="412" y="276"/>
                  </a:lnTo>
                  <a:lnTo>
                    <a:pt x="397" y="278"/>
                  </a:lnTo>
                  <a:lnTo>
                    <a:pt x="381" y="282"/>
                  </a:lnTo>
                  <a:lnTo>
                    <a:pt x="365" y="286"/>
                  </a:lnTo>
                  <a:lnTo>
                    <a:pt x="343" y="290"/>
                  </a:lnTo>
                  <a:lnTo>
                    <a:pt x="319" y="291"/>
                  </a:lnTo>
                  <a:lnTo>
                    <a:pt x="293" y="291"/>
                  </a:lnTo>
                  <a:lnTo>
                    <a:pt x="270" y="290"/>
                  </a:lnTo>
                  <a:lnTo>
                    <a:pt x="242" y="291"/>
                  </a:lnTo>
                  <a:lnTo>
                    <a:pt x="227" y="291"/>
                  </a:lnTo>
                  <a:lnTo>
                    <a:pt x="213" y="289"/>
                  </a:lnTo>
                  <a:lnTo>
                    <a:pt x="197" y="291"/>
                  </a:lnTo>
                  <a:lnTo>
                    <a:pt x="179" y="290"/>
                  </a:lnTo>
                  <a:lnTo>
                    <a:pt x="152" y="280"/>
                  </a:lnTo>
                  <a:lnTo>
                    <a:pt x="133" y="281"/>
                  </a:lnTo>
                  <a:lnTo>
                    <a:pt x="116" y="283"/>
                  </a:lnTo>
                  <a:lnTo>
                    <a:pt x="98" y="283"/>
                  </a:lnTo>
                  <a:lnTo>
                    <a:pt x="82" y="283"/>
                  </a:lnTo>
                  <a:lnTo>
                    <a:pt x="64" y="281"/>
                  </a:lnTo>
                  <a:lnTo>
                    <a:pt x="47" y="278"/>
                  </a:lnTo>
                  <a:lnTo>
                    <a:pt x="31" y="273"/>
                  </a:lnTo>
                  <a:lnTo>
                    <a:pt x="16" y="270"/>
                  </a:lnTo>
                  <a:lnTo>
                    <a:pt x="1" y="266"/>
                  </a:lnTo>
                  <a:lnTo>
                    <a:pt x="0" y="262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62" name="Group 32"/>
            <p:cNvGrpSpPr>
              <a:grpSpLocks/>
            </p:cNvGrpSpPr>
            <p:nvPr/>
          </p:nvGrpSpPr>
          <p:grpSpPr bwMode="auto">
            <a:xfrm>
              <a:off x="3940" y="2157"/>
              <a:ext cx="223" cy="137"/>
              <a:chOff x="3878" y="2156"/>
              <a:chExt cx="223" cy="137"/>
            </a:xfrm>
          </p:grpSpPr>
          <p:sp>
            <p:nvSpPr>
              <p:cNvPr id="6208" name="Freeform 33" descr="50%"/>
              <p:cNvSpPr>
                <a:spLocks/>
              </p:cNvSpPr>
              <p:nvPr/>
            </p:nvSpPr>
            <p:spPr bwMode="auto">
              <a:xfrm>
                <a:off x="3878" y="2159"/>
                <a:ext cx="223" cy="134"/>
              </a:xfrm>
              <a:custGeom>
                <a:avLst/>
                <a:gdLst>
                  <a:gd name="T0" fmla="*/ 208 w 223"/>
                  <a:gd name="T1" fmla="*/ 120 h 134"/>
                  <a:gd name="T2" fmla="*/ 196 w 223"/>
                  <a:gd name="T3" fmla="*/ 108 h 134"/>
                  <a:gd name="T4" fmla="*/ 188 w 223"/>
                  <a:gd name="T5" fmla="*/ 100 h 134"/>
                  <a:gd name="T6" fmla="*/ 182 w 223"/>
                  <a:gd name="T7" fmla="*/ 93 h 134"/>
                  <a:gd name="T8" fmla="*/ 176 w 223"/>
                  <a:gd name="T9" fmla="*/ 86 h 134"/>
                  <a:gd name="T10" fmla="*/ 170 w 223"/>
                  <a:gd name="T11" fmla="*/ 78 h 134"/>
                  <a:gd name="T12" fmla="*/ 164 w 223"/>
                  <a:gd name="T13" fmla="*/ 71 h 134"/>
                  <a:gd name="T14" fmla="*/ 159 w 223"/>
                  <a:gd name="T15" fmla="*/ 63 h 134"/>
                  <a:gd name="T16" fmla="*/ 154 w 223"/>
                  <a:gd name="T17" fmla="*/ 53 h 134"/>
                  <a:gd name="T18" fmla="*/ 150 w 223"/>
                  <a:gd name="T19" fmla="*/ 43 h 134"/>
                  <a:gd name="T20" fmla="*/ 146 w 223"/>
                  <a:gd name="T21" fmla="*/ 33 h 134"/>
                  <a:gd name="T22" fmla="*/ 144 w 223"/>
                  <a:gd name="T23" fmla="*/ 23 h 134"/>
                  <a:gd name="T24" fmla="*/ 144 w 223"/>
                  <a:gd name="T25" fmla="*/ 13 h 134"/>
                  <a:gd name="T26" fmla="*/ 143 w 223"/>
                  <a:gd name="T27" fmla="*/ 0 h 134"/>
                  <a:gd name="T28" fmla="*/ 0 w 223"/>
                  <a:gd name="T29" fmla="*/ 0 h 134"/>
                  <a:gd name="T30" fmla="*/ 4 w 223"/>
                  <a:gd name="T31" fmla="*/ 8 h 134"/>
                  <a:gd name="T32" fmla="*/ 11 w 223"/>
                  <a:gd name="T33" fmla="*/ 19 h 134"/>
                  <a:gd name="T34" fmla="*/ 18 w 223"/>
                  <a:gd name="T35" fmla="*/ 28 h 134"/>
                  <a:gd name="T36" fmla="*/ 26 w 223"/>
                  <a:gd name="T37" fmla="*/ 38 h 134"/>
                  <a:gd name="T38" fmla="*/ 36 w 223"/>
                  <a:gd name="T39" fmla="*/ 48 h 134"/>
                  <a:gd name="T40" fmla="*/ 47 w 223"/>
                  <a:gd name="T41" fmla="*/ 58 h 134"/>
                  <a:gd name="T42" fmla="*/ 58 w 223"/>
                  <a:gd name="T43" fmla="*/ 67 h 134"/>
                  <a:gd name="T44" fmla="*/ 70 w 223"/>
                  <a:gd name="T45" fmla="*/ 76 h 134"/>
                  <a:gd name="T46" fmla="*/ 82 w 223"/>
                  <a:gd name="T47" fmla="*/ 86 h 134"/>
                  <a:gd name="T48" fmla="*/ 98 w 223"/>
                  <a:gd name="T49" fmla="*/ 97 h 134"/>
                  <a:gd name="T50" fmla="*/ 111 w 223"/>
                  <a:gd name="T51" fmla="*/ 104 h 134"/>
                  <a:gd name="T52" fmla="*/ 123 w 223"/>
                  <a:gd name="T53" fmla="*/ 110 h 134"/>
                  <a:gd name="T54" fmla="*/ 135 w 223"/>
                  <a:gd name="T55" fmla="*/ 115 h 134"/>
                  <a:gd name="T56" fmla="*/ 147 w 223"/>
                  <a:gd name="T57" fmla="*/ 120 h 134"/>
                  <a:gd name="T58" fmla="*/ 159 w 223"/>
                  <a:gd name="T59" fmla="*/ 124 h 134"/>
                  <a:gd name="T60" fmla="*/ 173 w 223"/>
                  <a:gd name="T61" fmla="*/ 127 h 134"/>
                  <a:gd name="T62" fmla="*/ 189 w 223"/>
                  <a:gd name="T63" fmla="*/ 130 h 134"/>
                  <a:gd name="T64" fmla="*/ 201 w 223"/>
                  <a:gd name="T65" fmla="*/ 131 h 134"/>
                  <a:gd name="T66" fmla="*/ 213 w 223"/>
                  <a:gd name="T67" fmla="*/ 132 h 134"/>
                  <a:gd name="T68" fmla="*/ 222 w 223"/>
                  <a:gd name="T69" fmla="*/ 133 h 134"/>
                  <a:gd name="T70" fmla="*/ 208 w 223"/>
                  <a:gd name="T71" fmla="*/ 120 h 13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23" h="134">
                    <a:moveTo>
                      <a:pt x="208" y="120"/>
                    </a:moveTo>
                    <a:lnTo>
                      <a:pt x="196" y="108"/>
                    </a:lnTo>
                    <a:lnTo>
                      <a:pt x="188" y="100"/>
                    </a:lnTo>
                    <a:lnTo>
                      <a:pt x="182" y="93"/>
                    </a:lnTo>
                    <a:lnTo>
                      <a:pt x="176" y="86"/>
                    </a:lnTo>
                    <a:lnTo>
                      <a:pt x="170" y="78"/>
                    </a:lnTo>
                    <a:lnTo>
                      <a:pt x="164" y="71"/>
                    </a:lnTo>
                    <a:lnTo>
                      <a:pt x="159" y="63"/>
                    </a:lnTo>
                    <a:lnTo>
                      <a:pt x="154" y="53"/>
                    </a:lnTo>
                    <a:lnTo>
                      <a:pt x="150" y="43"/>
                    </a:lnTo>
                    <a:lnTo>
                      <a:pt x="146" y="33"/>
                    </a:lnTo>
                    <a:lnTo>
                      <a:pt x="144" y="23"/>
                    </a:lnTo>
                    <a:lnTo>
                      <a:pt x="144" y="13"/>
                    </a:lnTo>
                    <a:lnTo>
                      <a:pt x="143" y="0"/>
                    </a:lnTo>
                    <a:lnTo>
                      <a:pt x="0" y="0"/>
                    </a:lnTo>
                    <a:lnTo>
                      <a:pt x="4" y="8"/>
                    </a:lnTo>
                    <a:lnTo>
                      <a:pt x="11" y="19"/>
                    </a:lnTo>
                    <a:lnTo>
                      <a:pt x="18" y="28"/>
                    </a:lnTo>
                    <a:lnTo>
                      <a:pt x="26" y="38"/>
                    </a:lnTo>
                    <a:lnTo>
                      <a:pt x="36" y="48"/>
                    </a:lnTo>
                    <a:lnTo>
                      <a:pt x="47" y="58"/>
                    </a:lnTo>
                    <a:lnTo>
                      <a:pt x="58" y="67"/>
                    </a:lnTo>
                    <a:lnTo>
                      <a:pt x="70" y="76"/>
                    </a:lnTo>
                    <a:lnTo>
                      <a:pt x="82" y="86"/>
                    </a:lnTo>
                    <a:lnTo>
                      <a:pt x="98" y="97"/>
                    </a:lnTo>
                    <a:lnTo>
                      <a:pt x="111" y="104"/>
                    </a:lnTo>
                    <a:lnTo>
                      <a:pt x="123" y="110"/>
                    </a:lnTo>
                    <a:lnTo>
                      <a:pt x="135" y="115"/>
                    </a:lnTo>
                    <a:lnTo>
                      <a:pt x="147" y="120"/>
                    </a:lnTo>
                    <a:lnTo>
                      <a:pt x="159" y="124"/>
                    </a:lnTo>
                    <a:lnTo>
                      <a:pt x="173" y="127"/>
                    </a:lnTo>
                    <a:lnTo>
                      <a:pt x="189" y="130"/>
                    </a:lnTo>
                    <a:lnTo>
                      <a:pt x="201" y="131"/>
                    </a:lnTo>
                    <a:lnTo>
                      <a:pt x="213" y="132"/>
                    </a:lnTo>
                    <a:lnTo>
                      <a:pt x="222" y="133"/>
                    </a:lnTo>
                    <a:lnTo>
                      <a:pt x="208" y="120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09" name="Freeform 34" descr="50%"/>
              <p:cNvSpPr>
                <a:spLocks/>
              </p:cNvSpPr>
              <p:nvPr/>
            </p:nvSpPr>
            <p:spPr bwMode="auto">
              <a:xfrm>
                <a:off x="3882" y="2156"/>
                <a:ext cx="132" cy="2"/>
              </a:xfrm>
              <a:custGeom>
                <a:avLst/>
                <a:gdLst>
                  <a:gd name="T0" fmla="*/ 1 w 132"/>
                  <a:gd name="T1" fmla="*/ 0 h 2"/>
                  <a:gd name="T2" fmla="*/ 0 w 132"/>
                  <a:gd name="T3" fmla="*/ 0 h 2"/>
                  <a:gd name="T4" fmla="*/ 3 w 132"/>
                  <a:gd name="T5" fmla="*/ 1 h 2"/>
                  <a:gd name="T6" fmla="*/ 131 w 132"/>
                  <a:gd name="T7" fmla="*/ 1 h 2"/>
                  <a:gd name="T8" fmla="*/ 131 w 132"/>
                  <a:gd name="T9" fmla="*/ 0 h 2"/>
                  <a:gd name="T10" fmla="*/ 1 w 132"/>
                  <a:gd name="T11" fmla="*/ 0 h 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2" h="2">
                    <a:moveTo>
                      <a:pt x="1" y="0"/>
                    </a:moveTo>
                    <a:lnTo>
                      <a:pt x="0" y="0"/>
                    </a:lnTo>
                    <a:lnTo>
                      <a:pt x="3" y="1"/>
                    </a:lnTo>
                    <a:lnTo>
                      <a:pt x="131" y="1"/>
                    </a:lnTo>
                    <a:lnTo>
                      <a:pt x="131" y="0"/>
                    </a:lnTo>
                    <a:lnTo>
                      <a:pt x="1" y="0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63" name="Freeform 35" descr="50%"/>
            <p:cNvSpPr>
              <a:spLocks/>
            </p:cNvSpPr>
            <p:nvPr/>
          </p:nvSpPr>
          <p:spPr bwMode="auto">
            <a:xfrm>
              <a:off x="2807" y="2094"/>
              <a:ext cx="124" cy="93"/>
            </a:xfrm>
            <a:custGeom>
              <a:avLst/>
              <a:gdLst>
                <a:gd name="T0" fmla="*/ 0 w 124"/>
                <a:gd name="T1" fmla="*/ 0 h 93"/>
                <a:gd name="T2" fmla="*/ 5 w 124"/>
                <a:gd name="T3" fmla="*/ 9 h 93"/>
                <a:gd name="T4" fmla="*/ 11 w 124"/>
                <a:gd name="T5" fmla="*/ 19 h 93"/>
                <a:gd name="T6" fmla="*/ 18 w 124"/>
                <a:gd name="T7" fmla="*/ 29 h 93"/>
                <a:gd name="T8" fmla="*/ 25 w 124"/>
                <a:gd name="T9" fmla="*/ 38 h 93"/>
                <a:gd name="T10" fmla="*/ 35 w 124"/>
                <a:gd name="T11" fmla="*/ 48 h 93"/>
                <a:gd name="T12" fmla="*/ 44 w 124"/>
                <a:gd name="T13" fmla="*/ 58 h 93"/>
                <a:gd name="T14" fmla="*/ 52 w 124"/>
                <a:gd name="T15" fmla="*/ 65 h 93"/>
                <a:gd name="T16" fmla="*/ 60 w 124"/>
                <a:gd name="T17" fmla="*/ 72 h 93"/>
                <a:gd name="T18" fmla="*/ 69 w 124"/>
                <a:gd name="T19" fmla="*/ 78 h 93"/>
                <a:gd name="T20" fmla="*/ 79 w 124"/>
                <a:gd name="T21" fmla="*/ 83 h 93"/>
                <a:gd name="T22" fmla="*/ 88 w 124"/>
                <a:gd name="T23" fmla="*/ 87 h 93"/>
                <a:gd name="T24" fmla="*/ 98 w 124"/>
                <a:gd name="T25" fmla="*/ 90 h 93"/>
                <a:gd name="T26" fmla="*/ 109 w 124"/>
                <a:gd name="T27" fmla="*/ 92 h 93"/>
                <a:gd name="T28" fmla="*/ 118 w 124"/>
                <a:gd name="T29" fmla="*/ 92 h 93"/>
                <a:gd name="T30" fmla="*/ 123 w 124"/>
                <a:gd name="T31" fmla="*/ 91 h 93"/>
                <a:gd name="T32" fmla="*/ 117 w 124"/>
                <a:gd name="T33" fmla="*/ 85 h 93"/>
                <a:gd name="T34" fmla="*/ 110 w 124"/>
                <a:gd name="T35" fmla="*/ 77 h 93"/>
                <a:gd name="T36" fmla="*/ 104 w 124"/>
                <a:gd name="T37" fmla="*/ 69 h 93"/>
                <a:gd name="T38" fmla="*/ 97 w 124"/>
                <a:gd name="T39" fmla="*/ 59 h 93"/>
                <a:gd name="T40" fmla="*/ 91 w 124"/>
                <a:gd name="T41" fmla="*/ 50 h 93"/>
                <a:gd name="T42" fmla="*/ 86 w 124"/>
                <a:gd name="T43" fmla="*/ 41 h 93"/>
                <a:gd name="T44" fmla="*/ 83 w 124"/>
                <a:gd name="T45" fmla="*/ 32 h 93"/>
                <a:gd name="T46" fmla="*/ 80 w 124"/>
                <a:gd name="T47" fmla="*/ 19 h 93"/>
                <a:gd name="T48" fmla="*/ 80 w 124"/>
                <a:gd name="T49" fmla="*/ 9 h 93"/>
                <a:gd name="T50" fmla="*/ 80 w 124"/>
                <a:gd name="T51" fmla="*/ 1 h 93"/>
                <a:gd name="T52" fmla="*/ 0 w 124"/>
                <a:gd name="T53" fmla="*/ 0 h 93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24" h="93">
                  <a:moveTo>
                    <a:pt x="0" y="0"/>
                  </a:moveTo>
                  <a:lnTo>
                    <a:pt x="5" y="9"/>
                  </a:lnTo>
                  <a:lnTo>
                    <a:pt x="11" y="19"/>
                  </a:lnTo>
                  <a:lnTo>
                    <a:pt x="18" y="29"/>
                  </a:lnTo>
                  <a:lnTo>
                    <a:pt x="25" y="38"/>
                  </a:lnTo>
                  <a:lnTo>
                    <a:pt x="35" y="48"/>
                  </a:lnTo>
                  <a:lnTo>
                    <a:pt x="44" y="58"/>
                  </a:lnTo>
                  <a:lnTo>
                    <a:pt x="52" y="65"/>
                  </a:lnTo>
                  <a:lnTo>
                    <a:pt x="60" y="72"/>
                  </a:lnTo>
                  <a:lnTo>
                    <a:pt x="69" y="78"/>
                  </a:lnTo>
                  <a:lnTo>
                    <a:pt x="79" y="83"/>
                  </a:lnTo>
                  <a:lnTo>
                    <a:pt x="88" y="87"/>
                  </a:lnTo>
                  <a:lnTo>
                    <a:pt x="98" y="90"/>
                  </a:lnTo>
                  <a:lnTo>
                    <a:pt x="109" y="92"/>
                  </a:lnTo>
                  <a:lnTo>
                    <a:pt x="118" y="92"/>
                  </a:lnTo>
                  <a:lnTo>
                    <a:pt x="123" y="91"/>
                  </a:lnTo>
                  <a:lnTo>
                    <a:pt x="117" y="85"/>
                  </a:lnTo>
                  <a:lnTo>
                    <a:pt x="110" y="77"/>
                  </a:lnTo>
                  <a:lnTo>
                    <a:pt x="104" y="69"/>
                  </a:lnTo>
                  <a:lnTo>
                    <a:pt x="97" y="59"/>
                  </a:lnTo>
                  <a:lnTo>
                    <a:pt x="91" y="50"/>
                  </a:lnTo>
                  <a:lnTo>
                    <a:pt x="86" y="41"/>
                  </a:lnTo>
                  <a:lnTo>
                    <a:pt x="83" y="32"/>
                  </a:lnTo>
                  <a:lnTo>
                    <a:pt x="80" y="19"/>
                  </a:lnTo>
                  <a:lnTo>
                    <a:pt x="80" y="9"/>
                  </a:lnTo>
                  <a:lnTo>
                    <a:pt x="80" y="1"/>
                  </a:lnTo>
                  <a:lnTo>
                    <a:pt x="0" y="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4" name="Freeform 36" descr="50%"/>
            <p:cNvSpPr>
              <a:spLocks/>
            </p:cNvSpPr>
            <p:nvPr/>
          </p:nvSpPr>
          <p:spPr bwMode="auto">
            <a:xfrm>
              <a:off x="2544" y="1872"/>
              <a:ext cx="1053" cy="300"/>
            </a:xfrm>
            <a:custGeom>
              <a:avLst/>
              <a:gdLst>
                <a:gd name="T0" fmla="*/ 11 w 1053"/>
                <a:gd name="T1" fmla="*/ 178 h 300"/>
                <a:gd name="T2" fmla="*/ 43 w 1053"/>
                <a:gd name="T3" fmla="*/ 165 h 300"/>
                <a:gd name="T4" fmla="*/ 92 w 1053"/>
                <a:gd name="T5" fmla="*/ 151 h 300"/>
                <a:gd name="T6" fmla="*/ 143 w 1053"/>
                <a:gd name="T7" fmla="*/ 140 h 300"/>
                <a:gd name="T8" fmla="*/ 194 w 1053"/>
                <a:gd name="T9" fmla="*/ 131 h 300"/>
                <a:gd name="T10" fmla="*/ 246 w 1053"/>
                <a:gd name="T11" fmla="*/ 122 h 300"/>
                <a:gd name="T12" fmla="*/ 289 w 1053"/>
                <a:gd name="T13" fmla="*/ 113 h 300"/>
                <a:gd name="T14" fmla="*/ 314 w 1053"/>
                <a:gd name="T15" fmla="*/ 100 h 300"/>
                <a:gd name="T16" fmla="*/ 339 w 1053"/>
                <a:gd name="T17" fmla="*/ 76 h 300"/>
                <a:gd name="T18" fmla="*/ 375 w 1053"/>
                <a:gd name="T19" fmla="*/ 41 h 300"/>
                <a:gd name="T20" fmla="*/ 412 w 1053"/>
                <a:gd name="T21" fmla="*/ 10 h 300"/>
                <a:gd name="T22" fmla="*/ 438 w 1053"/>
                <a:gd name="T23" fmla="*/ 36 h 300"/>
                <a:gd name="T24" fmla="*/ 453 w 1053"/>
                <a:gd name="T25" fmla="*/ 88 h 300"/>
                <a:gd name="T26" fmla="*/ 462 w 1053"/>
                <a:gd name="T27" fmla="*/ 109 h 300"/>
                <a:gd name="T28" fmla="*/ 523 w 1053"/>
                <a:gd name="T29" fmla="*/ 119 h 300"/>
                <a:gd name="T30" fmla="*/ 584 w 1053"/>
                <a:gd name="T31" fmla="*/ 130 h 300"/>
                <a:gd name="T32" fmla="*/ 630 w 1053"/>
                <a:gd name="T33" fmla="*/ 130 h 300"/>
                <a:gd name="T34" fmla="*/ 679 w 1053"/>
                <a:gd name="T35" fmla="*/ 121 h 300"/>
                <a:gd name="T36" fmla="*/ 717 w 1053"/>
                <a:gd name="T37" fmla="*/ 146 h 300"/>
                <a:gd name="T38" fmla="*/ 754 w 1053"/>
                <a:gd name="T39" fmla="*/ 156 h 300"/>
                <a:gd name="T40" fmla="*/ 800 w 1053"/>
                <a:gd name="T41" fmla="*/ 156 h 300"/>
                <a:gd name="T42" fmla="*/ 849 w 1053"/>
                <a:gd name="T43" fmla="*/ 138 h 300"/>
                <a:gd name="T44" fmla="*/ 904 w 1053"/>
                <a:gd name="T45" fmla="*/ 94 h 300"/>
                <a:gd name="T46" fmla="*/ 968 w 1053"/>
                <a:gd name="T47" fmla="*/ 43 h 300"/>
                <a:gd name="T48" fmla="*/ 1032 w 1053"/>
                <a:gd name="T49" fmla="*/ 22 h 300"/>
                <a:gd name="T50" fmla="*/ 1034 w 1053"/>
                <a:gd name="T51" fmla="*/ 39 h 300"/>
                <a:gd name="T52" fmla="*/ 1004 w 1053"/>
                <a:gd name="T53" fmla="*/ 76 h 300"/>
                <a:gd name="T54" fmla="*/ 968 w 1053"/>
                <a:gd name="T55" fmla="*/ 112 h 300"/>
                <a:gd name="T56" fmla="*/ 945 w 1053"/>
                <a:gd name="T57" fmla="*/ 148 h 300"/>
                <a:gd name="T58" fmla="*/ 945 w 1053"/>
                <a:gd name="T59" fmla="*/ 185 h 300"/>
                <a:gd name="T60" fmla="*/ 970 w 1053"/>
                <a:gd name="T61" fmla="*/ 224 h 300"/>
                <a:gd name="T62" fmla="*/ 1002 w 1053"/>
                <a:gd name="T63" fmla="*/ 252 h 300"/>
                <a:gd name="T64" fmla="*/ 1031 w 1053"/>
                <a:gd name="T65" fmla="*/ 276 h 300"/>
                <a:gd name="T66" fmla="*/ 1032 w 1053"/>
                <a:gd name="T67" fmla="*/ 287 h 300"/>
                <a:gd name="T68" fmla="*/ 992 w 1053"/>
                <a:gd name="T69" fmla="*/ 286 h 300"/>
                <a:gd name="T70" fmla="*/ 957 w 1053"/>
                <a:gd name="T71" fmla="*/ 278 h 300"/>
                <a:gd name="T72" fmla="*/ 923 w 1053"/>
                <a:gd name="T73" fmla="*/ 261 h 300"/>
                <a:gd name="T74" fmla="*/ 868 w 1053"/>
                <a:gd name="T75" fmla="*/ 227 h 300"/>
                <a:gd name="T76" fmla="*/ 800 w 1053"/>
                <a:gd name="T77" fmla="*/ 222 h 300"/>
                <a:gd name="T78" fmla="*/ 718 w 1053"/>
                <a:gd name="T79" fmla="*/ 231 h 300"/>
                <a:gd name="T80" fmla="*/ 666 w 1053"/>
                <a:gd name="T81" fmla="*/ 251 h 300"/>
                <a:gd name="T82" fmla="*/ 649 w 1053"/>
                <a:gd name="T83" fmla="*/ 274 h 300"/>
                <a:gd name="T84" fmla="*/ 576 w 1053"/>
                <a:gd name="T85" fmla="*/ 272 h 300"/>
                <a:gd name="T86" fmla="*/ 514 w 1053"/>
                <a:gd name="T87" fmla="*/ 291 h 300"/>
                <a:gd name="T88" fmla="*/ 285 w 1053"/>
                <a:gd name="T89" fmla="*/ 299 h 300"/>
                <a:gd name="T90" fmla="*/ 153 w 1053"/>
                <a:gd name="T91" fmla="*/ 286 h 300"/>
                <a:gd name="T92" fmla="*/ 38 w 1053"/>
                <a:gd name="T93" fmla="*/ 248 h 300"/>
                <a:gd name="T94" fmla="*/ 38 w 1053"/>
                <a:gd name="T95" fmla="*/ 229 h 300"/>
                <a:gd name="T96" fmla="*/ 12 w 1053"/>
                <a:gd name="T97" fmla="*/ 206 h 300"/>
                <a:gd name="T98" fmla="*/ 2 w 1053"/>
                <a:gd name="T99" fmla="*/ 190 h 30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053" h="300">
                  <a:moveTo>
                    <a:pt x="0" y="185"/>
                  </a:moveTo>
                  <a:lnTo>
                    <a:pt x="4" y="182"/>
                  </a:lnTo>
                  <a:lnTo>
                    <a:pt x="11" y="178"/>
                  </a:lnTo>
                  <a:lnTo>
                    <a:pt x="24" y="173"/>
                  </a:lnTo>
                  <a:lnTo>
                    <a:pt x="33" y="169"/>
                  </a:lnTo>
                  <a:lnTo>
                    <a:pt x="43" y="165"/>
                  </a:lnTo>
                  <a:lnTo>
                    <a:pt x="60" y="160"/>
                  </a:lnTo>
                  <a:lnTo>
                    <a:pt x="76" y="155"/>
                  </a:lnTo>
                  <a:lnTo>
                    <a:pt x="92" y="151"/>
                  </a:lnTo>
                  <a:lnTo>
                    <a:pt x="108" y="147"/>
                  </a:lnTo>
                  <a:lnTo>
                    <a:pt x="125" y="144"/>
                  </a:lnTo>
                  <a:lnTo>
                    <a:pt x="143" y="140"/>
                  </a:lnTo>
                  <a:lnTo>
                    <a:pt x="162" y="137"/>
                  </a:lnTo>
                  <a:lnTo>
                    <a:pt x="178" y="134"/>
                  </a:lnTo>
                  <a:lnTo>
                    <a:pt x="194" y="131"/>
                  </a:lnTo>
                  <a:lnTo>
                    <a:pt x="209" y="128"/>
                  </a:lnTo>
                  <a:lnTo>
                    <a:pt x="229" y="124"/>
                  </a:lnTo>
                  <a:lnTo>
                    <a:pt x="246" y="122"/>
                  </a:lnTo>
                  <a:lnTo>
                    <a:pt x="263" y="119"/>
                  </a:lnTo>
                  <a:lnTo>
                    <a:pt x="277" y="117"/>
                  </a:lnTo>
                  <a:lnTo>
                    <a:pt x="289" y="113"/>
                  </a:lnTo>
                  <a:lnTo>
                    <a:pt x="300" y="109"/>
                  </a:lnTo>
                  <a:lnTo>
                    <a:pt x="307" y="105"/>
                  </a:lnTo>
                  <a:lnTo>
                    <a:pt x="314" y="100"/>
                  </a:lnTo>
                  <a:lnTo>
                    <a:pt x="321" y="93"/>
                  </a:lnTo>
                  <a:lnTo>
                    <a:pt x="329" y="85"/>
                  </a:lnTo>
                  <a:lnTo>
                    <a:pt x="339" y="76"/>
                  </a:lnTo>
                  <a:lnTo>
                    <a:pt x="350" y="64"/>
                  </a:lnTo>
                  <a:lnTo>
                    <a:pt x="362" y="53"/>
                  </a:lnTo>
                  <a:lnTo>
                    <a:pt x="375" y="41"/>
                  </a:lnTo>
                  <a:lnTo>
                    <a:pt x="386" y="30"/>
                  </a:lnTo>
                  <a:lnTo>
                    <a:pt x="399" y="21"/>
                  </a:lnTo>
                  <a:lnTo>
                    <a:pt x="412" y="10"/>
                  </a:lnTo>
                  <a:lnTo>
                    <a:pt x="427" y="0"/>
                  </a:lnTo>
                  <a:lnTo>
                    <a:pt x="432" y="19"/>
                  </a:lnTo>
                  <a:lnTo>
                    <a:pt x="438" y="36"/>
                  </a:lnTo>
                  <a:lnTo>
                    <a:pt x="444" y="54"/>
                  </a:lnTo>
                  <a:lnTo>
                    <a:pt x="450" y="73"/>
                  </a:lnTo>
                  <a:lnTo>
                    <a:pt x="453" y="88"/>
                  </a:lnTo>
                  <a:lnTo>
                    <a:pt x="452" y="98"/>
                  </a:lnTo>
                  <a:lnTo>
                    <a:pt x="446" y="107"/>
                  </a:lnTo>
                  <a:lnTo>
                    <a:pt x="462" y="109"/>
                  </a:lnTo>
                  <a:lnTo>
                    <a:pt x="479" y="112"/>
                  </a:lnTo>
                  <a:lnTo>
                    <a:pt x="500" y="116"/>
                  </a:lnTo>
                  <a:lnTo>
                    <a:pt x="523" y="119"/>
                  </a:lnTo>
                  <a:lnTo>
                    <a:pt x="546" y="124"/>
                  </a:lnTo>
                  <a:lnTo>
                    <a:pt x="565" y="127"/>
                  </a:lnTo>
                  <a:lnTo>
                    <a:pt x="584" y="130"/>
                  </a:lnTo>
                  <a:lnTo>
                    <a:pt x="602" y="132"/>
                  </a:lnTo>
                  <a:lnTo>
                    <a:pt x="618" y="134"/>
                  </a:lnTo>
                  <a:lnTo>
                    <a:pt x="630" y="130"/>
                  </a:lnTo>
                  <a:lnTo>
                    <a:pt x="642" y="124"/>
                  </a:lnTo>
                  <a:lnTo>
                    <a:pt x="653" y="117"/>
                  </a:lnTo>
                  <a:lnTo>
                    <a:pt x="679" y="121"/>
                  </a:lnTo>
                  <a:lnTo>
                    <a:pt x="707" y="127"/>
                  </a:lnTo>
                  <a:lnTo>
                    <a:pt x="731" y="132"/>
                  </a:lnTo>
                  <a:lnTo>
                    <a:pt x="717" y="146"/>
                  </a:lnTo>
                  <a:lnTo>
                    <a:pt x="726" y="149"/>
                  </a:lnTo>
                  <a:lnTo>
                    <a:pt x="739" y="153"/>
                  </a:lnTo>
                  <a:lnTo>
                    <a:pt x="754" y="156"/>
                  </a:lnTo>
                  <a:lnTo>
                    <a:pt x="770" y="159"/>
                  </a:lnTo>
                  <a:lnTo>
                    <a:pt x="784" y="157"/>
                  </a:lnTo>
                  <a:lnTo>
                    <a:pt x="800" y="156"/>
                  </a:lnTo>
                  <a:lnTo>
                    <a:pt x="817" y="152"/>
                  </a:lnTo>
                  <a:lnTo>
                    <a:pt x="834" y="147"/>
                  </a:lnTo>
                  <a:lnTo>
                    <a:pt x="849" y="138"/>
                  </a:lnTo>
                  <a:lnTo>
                    <a:pt x="870" y="124"/>
                  </a:lnTo>
                  <a:lnTo>
                    <a:pt x="885" y="112"/>
                  </a:lnTo>
                  <a:lnTo>
                    <a:pt x="904" y="94"/>
                  </a:lnTo>
                  <a:lnTo>
                    <a:pt x="924" y="73"/>
                  </a:lnTo>
                  <a:lnTo>
                    <a:pt x="948" y="56"/>
                  </a:lnTo>
                  <a:lnTo>
                    <a:pt x="968" y="43"/>
                  </a:lnTo>
                  <a:lnTo>
                    <a:pt x="988" y="32"/>
                  </a:lnTo>
                  <a:lnTo>
                    <a:pt x="1008" y="25"/>
                  </a:lnTo>
                  <a:lnTo>
                    <a:pt x="1032" y="22"/>
                  </a:lnTo>
                  <a:lnTo>
                    <a:pt x="1052" y="23"/>
                  </a:lnTo>
                  <a:lnTo>
                    <a:pt x="1042" y="32"/>
                  </a:lnTo>
                  <a:lnTo>
                    <a:pt x="1034" y="39"/>
                  </a:lnTo>
                  <a:lnTo>
                    <a:pt x="1031" y="46"/>
                  </a:lnTo>
                  <a:lnTo>
                    <a:pt x="1015" y="66"/>
                  </a:lnTo>
                  <a:lnTo>
                    <a:pt x="1004" y="76"/>
                  </a:lnTo>
                  <a:lnTo>
                    <a:pt x="990" y="87"/>
                  </a:lnTo>
                  <a:lnTo>
                    <a:pt x="978" y="100"/>
                  </a:lnTo>
                  <a:lnTo>
                    <a:pt x="968" y="112"/>
                  </a:lnTo>
                  <a:lnTo>
                    <a:pt x="959" y="124"/>
                  </a:lnTo>
                  <a:lnTo>
                    <a:pt x="951" y="137"/>
                  </a:lnTo>
                  <a:lnTo>
                    <a:pt x="945" y="148"/>
                  </a:lnTo>
                  <a:lnTo>
                    <a:pt x="941" y="159"/>
                  </a:lnTo>
                  <a:lnTo>
                    <a:pt x="940" y="172"/>
                  </a:lnTo>
                  <a:lnTo>
                    <a:pt x="945" y="185"/>
                  </a:lnTo>
                  <a:lnTo>
                    <a:pt x="951" y="200"/>
                  </a:lnTo>
                  <a:lnTo>
                    <a:pt x="960" y="212"/>
                  </a:lnTo>
                  <a:lnTo>
                    <a:pt x="970" y="224"/>
                  </a:lnTo>
                  <a:lnTo>
                    <a:pt x="980" y="233"/>
                  </a:lnTo>
                  <a:lnTo>
                    <a:pt x="991" y="242"/>
                  </a:lnTo>
                  <a:lnTo>
                    <a:pt x="1002" y="252"/>
                  </a:lnTo>
                  <a:lnTo>
                    <a:pt x="1015" y="263"/>
                  </a:lnTo>
                  <a:lnTo>
                    <a:pt x="1023" y="270"/>
                  </a:lnTo>
                  <a:lnTo>
                    <a:pt x="1031" y="276"/>
                  </a:lnTo>
                  <a:lnTo>
                    <a:pt x="1039" y="281"/>
                  </a:lnTo>
                  <a:lnTo>
                    <a:pt x="1044" y="287"/>
                  </a:lnTo>
                  <a:lnTo>
                    <a:pt x="1032" y="287"/>
                  </a:lnTo>
                  <a:lnTo>
                    <a:pt x="1017" y="287"/>
                  </a:lnTo>
                  <a:lnTo>
                    <a:pt x="1004" y="288"/>
                  </a:lnTo>
                  <a:lnTo>
                    <a:pt x="992" y="286"/>
                  </a:lnTo>
                  <a:lnTo>
                    <a:pt x="978" y="285"/>
                  </a:lnTo>
                  <a:lnTo>
                    <a:pt x="967" y="281"/>
                  </a:lnTo>
                  <a:lnTo>
                    <a:pt x="957" y="278"/>
                  </a:lnTo>
                  <a:lnTo>
                    <a:pt x="946" y="273"/>
                  </a:lnTo>
                  <a:lnTo>
                    <a:pt x="934" y="267"/>
                  </a:lnTo>
                  <a:lnTo>
                    <a:pt x="923" y="261"/>
                  </a:lnTo>
                  <a:lnTo>
                    <a:pt x="903" y="247"/>
                  </a:lnTo>
                  <a:lnTo>
                    <a:pt x="888" y="238"/>
                  </a:lnTo>
                  <a:lnTo>
                    <a:pt x="868" y="227"/>
                  </a:lnTo>
                  <a:lnTo>
                    <a:pt x="848" y="225"/>
                  </a:lnTo>
                  <a:lnTo>
                    <a:pt x="828" y="225"/>
                  </a:lnTo>
                  <a:lnTo>
                    <a:pt x="800" y="222"/>
                  </a:lnTo>
                  <a:lnTo>
                    <a:pt x="775" y="225"/>
                  </a:lnTo>
                  <a:lnTo>
                    <a:pt x="747" y="226"/>
                  </a:lnTo>
                  <a:lnTo>
                    <a:pt x="718" y="231"/>
                  </a:lnTo>
                  <a:lnTo>
                    <a:pt x="688" y="238"/>
                  </a:lnTo>
                  <a:lnTo>
                    <a:pt x="670" y="245"/>
                  </a:lnTo>
                  <a:lnTo>
                    <a:pt x="666" y="251"/>
                  </a:lnTo>
                  <a:lnTo>
                    <a:pt x="670" y="257"/>
                  </a:lnTo>
                  <a:lnTo>
                    <a:pt x="684" y="266"/>
                  </a:lnTo>
                  <a:lnTo>
                    <a:pt x="649" y="274"/>
                  </a:lnTo>
                  <a:lnTo>
                    <a:pt x="600" y="287"/>
                  </a:lnTo>
                  <a:lnTo>
                    <a:pt x="589" y="278"/>
                  </a:lnTo>
                  <a:lnTo>
                    <a:pt x="576" y="272"/>
                  </a:lnTo>
                  <a:lnTo>
                    <a:pt x="562" y="269"/>
                  </a:lnTo>
                  <a:lnTo>
                    <a:pt x="542" y="268"/>
                  </a:lnTo>
                  <a:lnTo>
                    <a:pt x="514" y="291"/>
                  </a:lnTo>
                  <a:lnTo>
                    <a:pt x="491" y="274"/>
                  </a:lnTo>
                  <a:lnTo>
                    <a:pt x="319" y="297"/>
                  </a:lnTo>
                  <a:lnTo>
                    <a:pt x="285" y="299"/>
                  </a:lnTo>
                  <a:lnTo>
                    <a:pt x="253" y="296"/>
                  </a:lnTo>
                  <a:lnTo>
                    <a:pt x="220" y="294"/>
                  </a:lnTo>
                  <a:lnTo>
                    <a:pt x="153" y="286"/>
                  </a:lnTo>
                  <a:lnTo>
                    <a:pt x="93" y="271"/>
                  </a:lnTo>
                  <a:lnTo>
                    <a:pt x="60" y="260"/>
                  </a:lnTo>
                  <a:lnTo>
                    <a:pt x="38" y="248"/>
                  </a:lnTo>
                  <a:lnTo>
                    <a:pt x="62" y="244"/>
                  </a:lnTo>
                  <a:lnTo>
                    <a:pt x="47" y="235"/>
                  </a:lnTo>
                  <a:lnTo>
                    <a:pt x="38" y="229"/>
                  </a:lnTo>
                  <a:lnTo>
                    <a:pt x="21" y="215"/>
                  </a:lnTo>
                  <a:lnTo>
                    <a:pt x="17" y="212"/>
                  </a:lnTo>
                  <a:lnTo>
                    <a:pt x="12" y="206"/>
                  </a:lnTo>
                  <a:lnTo>
                    <a:pt x="9" y="202"/>
                  </a:lnTo>
                  <a:lnTo>
                    <a:pt x="6" y="195"/>
                  </a:lnTo>
                  <a:lnTo>
                    <a:pt x="2" y="190"/>
                  </a:lnTo>
                  <a:lnTo>
                    <a:pt x="0" y="185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65" name="Group 37"/>
            <p:cNvGrpSpPr>
              <a:grpSpLocks/>
            </p:cNvGrpSpPr>
            <p:nvPr/>
          </p:nvGrpSpPr>
          <p:grpSpPr bwMode="auto">
            <a:xfrm>
              <a:off x="2634" y="2064"/>
              <a:ext cx="17" cy="15"/>
              <a:chOff x="2572" y="2063"/>
              <a:chExt cx="17" cy="15"/>
            </a:xfrm>
          </p:grpSpPr>
          <p:sp>
            <p:nvSpPr>
              <p:cNvPr id="6206" name="Oval 38" descr="50%"/>
              <p:cNvSpPr>
                <a:spLocks noChangeArrowheads="1"/>
              </p:cNvSpPr>
              <p:nvPr/>
            </p:nvSpPr>
            <p:spPr bwMode="auto">
              <a:xfrm>
                <a:off x="2572" y="2063"/>
                <a:ext cx="16" cy="15"/>
              </a:xfrm>
              <a:prstGeom prst="ellipse">
                <a:avLst/>
              </a:pr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7" name="Arc 39" descr="50%"/>
              <p:cNvSpPr>
                <a:spLocks/>
              </p:cNvSpPr>
              <p:nvPr/>
            </p:nvSpPr>
            <p:spPr bwMode="auto">
              <a:xfrm>
                <a:off x="2575" y="2064"/>
                <a:ext cx="14" cy="14"/>
              </a:xfrm>
              <a:custGeom>
                <a:avLst/>
                <a:gdLst>
                  <a:gd name="T0" fmla="*/ 11 w 43200"/>
                  <a:gd name="T1" fmla="*/ 1 h 42369"/>
                  <a:gd name="T2" fmla="*/ 5 w 43200"/>
                  <a:gd name="T3" fmla="*/ 0 h 42369"/>
                  <a:gd name="T4" fmla="*/ 7 w 43200"/>
                  <a:gd name="T5" fmla="*/ 7 h 4236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2369" fill="none" extrusionOk="0">
                    <a:moveTo>
                      <a:pt x="33581" y="2797"/>
                    </a:moveTo>
                    <a:cubicBezTo>
                      <a:pt x="39590" y="6803"/>
                      <a:pt x="43200" y="13547"/>
                      <a:pt x="43200" y="20769"/>
                    </a:cubicBezTo>
                    <a:cubicBezTo>
                      <a:pt x="43200" y="32698"/>
                      <a:pt x="33529" y="42369"/>
                      <a:pt x="21600" y="42369"/>
                    </a:cubicBezTo>
                    <a:cubicBezTo>
                      <a:pt x="9670" y="42369"/>
                      <a:pt x="0" y="32698"/>
                      <a:pt x="0" y="20769"/>
                    </a:cubicBezTo>
                    <a:cubicBezTo>
                      <a:pt x="-1" y="11125"/>
                      <a:pt x="6393" y="2649"/>
                      <a:pt x="15666" y="0"/>
                    </a:cubicBezTo>
                  </a:path>
                  <a:path w="43200" h="42369" stroke="0" extrusionOk="0">
                    <a:moveTo>
                      <a:pt x="33581" y="2797"/>
                    </a:moveTo>
                    <a:cubicBezTo>
                      <a:pt x="39590" y="6803"/>
                      <a:pt x="43200" y="13547"/>
                      <a:pt x="43200" y="20769"/>
                    </a:cubicBezTo>
                    <a:cubicBezTo>
                      <a:pt x="43200" y="32698"/>
                      <a:pt x="33529" y="42369"/>
                      <a:pt x="21600" y="42369"/>
                    </a:cubicBezTo>
                    <a:cubicBezTo>
                      <a:pt x="9670" y="42369"/>
                      <a:pt x="0" y="32698"/>
                      <a:pt x="0" y="20769"/>
                    </a:cubicBezTo>
                    <a:cubicBezTo>
                      <a:pt x="-1" y="11125"/>
                      <a:pt x="6393" y="2649"/>
                      <a:pt x="15666" y="0"/>
                    </a:cubicBezTo>
                    <a:lnTo>
                      <a:pt x="21600" y="20769"/>
                    </a:lnTo>
                    <a:lnTo>
                      <a:pt x="33581" y="2797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166" name="Group 40"/>
            <p:cNvGrpSpPr>
              <a:grpSpLocks/>
            </p:cNvGrpSpPr>
            <p:nvPr/>
          </p:nvGrpSpPr>
          <p:grpSpPr bwMode="auto">
            <a:xfrm>
              <a:off x="2695" y="2088"/>
              <a:ext cx="64" cy="44"/>
              <a:chOff x="2633" y="2087"/>
              <a:chExt cx="64" cy="44"/>
            </a:xfrm>
          </p:grpSpPr>
          <p:sp>
            <p:nvSpPr>
              <p:cNvPr id="6201" name="Arc 41" descr="50%"/>
              <p:cNvSpPr>
                <a:spLocks/>
              </p:cNvSpPr>
              <p:nvPr/>
            </p:nvSpPr>
            <p:spPr bwMode="auto">
              <a:xfrm>
                <a:off x="2647" y="2087"/>
                <a:ext cx="6" cy="44"/>
              </a:xfrm>
              <a:custGeom>
                <a:avLst/>
                <a:gdLst>
                  <a:gd name="T0" fmla="*/ 1 w 30717"/>
                  <a:gd name="T1" fmla="*/ 1 h 43200"/>
                  <a:gd name="T2" fmla="*/ 0 w 30717"/>
                  <a:gd name="T3" fmla="*/ 42 h 43200"/>
                  <a:gd name="T4" fmla="*/ 2 w 30717"/>
                  <a:gd name="T5" fmla="*/ 22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717" h="43200" fill="none" extrusionOk="0">
                    <a:moveTo>
                      <a:pt x="4431" y="514"/>
                    </a:moveTo>
                    <a:cubicBezTo>
                      <a:pt x="5969" y="172"/>
                      <a:pt x="7540" y="-1"/>
                      <a:pt x="9117" y="0"/>
                    </a:cubicBezTo>
                    <a:cubicBezTo>
                      <a:pt x="21046" y="0"/>
                      <a:pt x="30717" y="9670"/>
                      <a:pt x="30717" y="21600"/>
                    </a:cubicBezTo>
                    <a:cubicBezTo>
                      <a:pt x="30717" y="33529"/>
                      <a:pt x="21046" y="43200"/>
                      <a:pt x="9117" y="43200"/>
                    </a:cubicBezTo>
                    <a:cubicBezTo>
                      <a:pt x="5967" y="43200"/>
                      <a:pt x="2855" y="42511"/>
                      <a:pt x="-1" y="41181"/>
                    </a:cubicBezTo>
                  </a:path>
                  <a:path w="30717" h="43200" stroke="0" extrusionOk="0">
                    <a:moveTo>
                      <a:pt x="4431" y="514"/>
                    </a:moveTo>
                    <a:cubicBezTo>
                      <a:pt x="5969" y="172"/>
                      <a:pt x="7540" y="-1"/>
                      <a:pt x="9117" y="0"/>
                    </a:cubicBezTo>
                    <a:cubicBezTo>
                      <a:pt x="21046" y="0"/>
                      <a:pt x="30717" y="9670"/>
                      <a:pt x="30717" y="21600"/>
                    </a:cubicBezTo>
                    <a:cubicBezTo>
                      <a:pt x="30717" y="33529"/>
                      <a:pt x="21046" y="43200"/>
                      <a:pt x="9117" y="43200"/>
                    </a:cubicBezTo>
                    <a:cubicBezTo>
                      <a:pt x="5967" y="43200"/>
                      <a:pt x="2855" y="42511"/>
                      <a:pt x="-1" y="41181"/>
                    </a:cubicBezTo>
                    <a:lnTo>
                      <a:pt x="9117" y="21600"/>
                    </a:lnTo>
                    <a:lnTo>
                      <a:pt x="4431" y="51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2" name="Arc 42" descr="50%"/>
              <p:cNvSpPr>
                <a:spLocks/>
              </p:cNvSpPr>
              <p:nvPr/>
            </p:nvSpPr>
            <p:spPr bwMode="auto">
              <a:xfrm>
                <a:off x="2633" y="2087"/>
                <a:ext cx="6" cy="44"/>
              </a:xfrm>
              <a:custGeom>
                <a:avLst/>
                <a:gdLst>
                  <a:gd name="T0" fmla="*/ 1 w 30717"/>
                  <a:gd name="T1" fmla="*/ 1 h 43200"/>
                  <a:gd name="T2" fmla="*/ 0 w 30717"/>
                  <a:gd name="T3" fmla="*/ 42 h 43200"/>
                  <a:gd name="T4" fmla="*/ 2 w 30717"/>
                  <a:gd name="T5" fmla="*/ 22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717" h="43200" fill="none" extrusionOk="0">
                    <a:moveTo>
                      <a:pt x="4431" y="514"/>
                    </a:moveTo>
                    <a:cubicBezTo>
                      <a:pt x="5969" y="172"/>
                      <a:pt x="7540" y="-1"/>
                      <a:pt x="9117" y="0"/>
                    </a:cubicBezTo>
                    <a:cubicBezTo>
                      <a:pt x="21046" y="0"/>
                      <a:pt x="30717" y="9670"/>
                      <a:pt x="30717" y="21600"/>
                    </a:cubicBezTo>
                    <a:cubicBezTo>
                      <a:pt x="30717" y="33529"/>
                      <a:pt x="21046" y="43200"/>
                      <a:pt x="9117" y="43200"/>
                    </a:cubicBezTo>
                    <a:cubicBezTo>
                      <a:pt x="5967" y="43200"/>
                      <a:pt x="2855" y="42511"/>
                      <a:pt x="-1" y="41181"/>
                    </a:cubicBezTo>
                  </a:path>
                  <a:path w="30717" h="43200" stroke="0" extrusionOk="0">
                    <a:moveTo>
                      <a:pt x="4431" y="514"/>
                    </a:moveTo>
                    <a:cubicBezTo>
                      <a:pt x="5969" y="172"/>
                      <a:pt x="7540" y="-1"/>
                      <a:pt x="9117" y="0"/>
                    </a:cubicBezTo>
                    <a:cubicBezTo>
                      <a:pt x="21046" y="0"/>
                      <a:pt x="30717" y="9670"/>
                      <a:pt x="30717" y="21600"/>
                    </a:cubicBezTo>
                    <a:cubicBezTo>
                      <a:pt x="30717" y="33529"/>
                      <a:pt x="21046" y="43200"/>
                      <a:pt x="9117" y="43200"/>
                    </a:cubicBezTo>
                    <a:cubicBezTo>
                      <a:pt x="5967" y="43200"/>
                      <a:pt x="2855" y="42511"/>
                      <a:pt x="-1" y="41181"/>
                    </a:cubicBezTo>
                    <a:lnTo>
                      <a:pt x="9117" y="21600"/>
                    </a:lnTo>
                    <a:lnTo>
                      <a:pt x="4431" y="51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3" name="Arc 43" descr="50%"/>
              <p:cNvSpPr>
                <a:spLocks/>
              </p:cNvSpPr>
              <p:nvPr/>
            </p:nvSpPr>
            <p:spPr bwMode="auto">
              <a:xfrm>
                <a:off x="2661" y="2087"/>
                <a:ext cx="6" cy="44"/>
              </a:xfrm>
              <a:custGeom>
                <a:avLst/>
                <a:gdLst>
                  <a:gd name="T0" fmla="*/ 1 w 30717"/>
                  <a:gd name="T1" fmla="*/ 1 h 43200"/>
                  <a:gd name="T2" fmla="*/ 0 w 30717"/>
                  <a:gd name="T3" fmla="*/ 42 h 43200"/>
                  <a:gd name="T4" fmla="*/ 2 w 30717"/>
                  <a:gd name="T5" fmla="*/ 22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717" h="43200" fill="none" extrusionOk="0">
                    <a:moveTo>
                      <a:pt x="4431" y="514"/>
                    </a:moveTo>
                    <a:cubicBezTo>
                      <a:pt x="5969" y="172"/>
                      <a:pt x="7540" y="-1"/>
                      <a:pt x="9117" y="0"/>
                    </a:cubicBezTo>
                    <a:cubicBezTo>
                      <a:pt x="21046" y="0"/>
                      <a:pt x="30717" y="9670"/>
                      <a:pt x="30717" y="21600"/>
                    </a:cubicBezTo>
                    <a:cubicBezTo>
                      <a:pt x="30717" y="33529"/>
                      <a:pt x="21046" y="43200"/>
                      <a:pt x="9117" y="43200"/>
                    </a:cubicBezTo>
                    <a:cubicBezTo>
                      <a:pt x="5967" y="43200"/>
                      <a:pt x="2855" y="42511"/>
                      <a:pt x="-1" y="41181"/>
                    </a:cubicBezTo>
                  </a:path>
                  <a:path w="30717" h="43200" stroke="0" extrusionOk="0">
                    <a:moveTo>
                      <a:pt x="4431" y="514"/>
                    </a:moveTo>
                    <a:cubicBezTo>
                      <a:pt x="5969" y="172"/>
                      <a:pt x="7540" y="-1"/>
                      <a:pt x="9117" y="0"/>
                    </a:cubicBezTo>
                    <a:cubicBezTo>
                      <a:pt x="21046" y="0"/>
                      <a:pt x="30717" y="9670"/>
                      <a:pt x="30717" y="21600"/>
                    </a:cubicBezTo>
                    <a:cubicBezTo>
                      <a:pt x="30717" y="33529"/>
                      <a:pt x="21046" y="43200"/>
                      <a:pt x="9117" y="43200"/>
                    </a:cubicBezTo>
                    <a:cubicBezTo>
                      <a:pt x="5967" y="43200"/>
                      <a:pt x="2855" y="42511"/>
                      <a:pt x="-1" y="41181"/>
                    </a:cubicBezTo>
                    <a:lnTo>
                      <a:pt x="9117" y="21600"/>
                    </a:lnTo>
                    <a:lnTo>
                      <a:pt x="4431" y="51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4" name="Arc 44" descr="50%"/>
              <p:cNvSpPr>
                <a:spLocks/>
              </p:cNvSpPr>
              <p:nvPr/>
            </p:nvSpPr>
            <p:spPr bwMode="auto">
              <a:xfrm>
                <a:off x="2675" y="2087"/>
                <a:ext cx="6" cy="44"/>
              </a:xfrm>
              <a:custGeom>
                <a:avLst/>
                <a:gdLst>
                  <a:gd name="T0" fmla="*/ 1 w 30717"/>
                  <a:gd name="T1" fmla="*/ 1 h 43200"/>
                  <a:gd name="T2" fmla="*/ 0 w 30717"/>
                  <a:gd name="T3" fmla="*/ 42 h 43200"/>
                  <a:gd name="T4" fmla="*/ 2 w 30717"/>
                  <a:gd name="T5" fmla="*/ 22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717" h="43200" fill="none" extrusionOk="0">
                    <a:moveTo>
                      <a:pt x="4431" y="514"/>
                    </a:moveTo>
                    <a:cubicBezTo>
                      <a:pt x="5969" y="172"/>
                      <a:pt x="7540" y="-1"/>
                      <a:pt x="9117" y="0"/>
                    </a:cubicBezTo>
                    <a:cubicBezTo>
                      <a:pt x="21046" y="0"/>
                      <a:pt x="30717" y="9670"/>
                      <a:pt x="30717" y="21600"/>
                    </a:cubicBezTo>
                    <a:cubicBezTo>
                      <a:pt x="30717" y="33529"/>
                      <a:pt x="21046" y="43200"/>
                      <a:pt x="9117" y="43200"/>
                    </a:cubicBezTo>
                    <a:cubicBezTo>
                      <a:pt x="5967" y="43200"/>
                      <a:pt x="2855" y="42511"/>
                      <a:pt x="-1" y="41181"/>
                    </a:cubicBezTo>
                  </a:path>
                  <a:path w="30717" h="43200" stroke="0" extrusionOk="0">
                    <a:moveTo>
                      <a:pt x="4431" y="514"/>
                    </a:moveTo>
                    <a:cubicBezTo>
                      <a:pt x="5969" y="172"/>
                      <a:pt x="7540" y="-1"/>
                      <a:pt x="9117" y="0"/>
                    </a:cubicBezTo>
                    <a:cubicBezTo>
                      <a:pt x="21046" y="0"/>
                      <a:pt x="30717" y="9670"/>
                      <a:pt x="30717" y="21600"/>
                    </a:cubicBezTo>
                    <a:cubicBezTo>
                      <a:pt x="30717" y="33529"/>
                      <a:pt x="21046" y="43200"/>
                      <a:pt x="9117" y="43200"/>
                    </a:cubicBezTo>
                    <a:cubicBezTo>
                      <a:pt x="5967" y="43200"/>
                      <a:pt x="2855" y="42511"/>
                      <a:pt x="-1" y="41181"/>
                    </a:cubicBezTo>
                    <a:lnTo>
                      <a:pt x="9117" y="21600"/>
                    </a:lnTo>
                    <a:lnTo>
                      <a:pt x="4431" y="51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5" name="Arc 45" descr="50%"/>
              <p:cNvSpPr>
                <a:spLocks/>
              </p:cNvSpPr>
              <p:nvPr/>
            </p:nvSpPr>
            <p:spPr bwMode="auto">
              <a:xfrm>
                <a:off x="2691" y="2087"/>
                <a:ext cx="6" cy="44"/>
              </a:xfrm>
              <a:custGeom>
                <a:avLst/>
                <a:gdLst>
                  <a:gd name="T0" fmla="*/ 0 w 26498"/>
                  <a:gd name="T1" fmla="*/ 1 h 43200"/>
                  <a:gd name="T2" fmla="*/ 0 w 26498"/>
                  <a:gd name="T3" fmla="*/ 43 h 43200"/>
                  <a:gd name="T4" fmla="*/ 1 w 26498"/>
                  <a:gd name="T5" fmla="*/ 22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498" h="43200" fill="none" extrusionOk="0">
                    <a:moveTo>
                      <a:pt x="212" y="514"/>
                    </a:moveTo>
                    <a:cubicBezTo>
                      <a:pt x="1750" y="172"/>
                      <a:pt x="3321" y="-1"/>
                      <a:pt x="4898" y="0"/>
                    </a:cubicBezTo>
                    <a:cubicBezTo>
                      <a:pt x="16827" y="0"/>
                      <a:pt x="26498" y="9670"/>
                      <a:pt x="26498" y="21600"/>
                    </a:cubicBezTo>
                    <a:cubicBezTo>
                      <a:pt x="26498" y="33529"/>
                      <a:pt x="16827" y="43200"/>
                      <a:pt x="4898" y="43200"/>
                    </a:cubicBezTo>
                    <a:cubicBezTo>
                      <a:pt x="3249" y="43200"/>
                      <a:pt x="1605" y="43011"/>
                      <a:pt x="-1" y="42637"/>
                    </a:cubicBezTo>
                  </a:path>
                  <a:path w="26498" h="43200" stroke="0" extrusionOk="0">
                    <a:moveTo>
                      <a:pt x="212" y="514"/>
                    </a:moveTo>
                    <a:cubicBezTo>
                      <a:pt x="1750" y="172"/>
                      <a:pt x="3321" y="-1"/>
                      <a:pt x="4898" y="0"/>
                    </a:cubicBezTo>
                    <a:cubicBezTo>
                      <a:pt x="16827" y="0"/>
                      <a:pt x="26498" y="9670"/>
                      <a:pt x="26498" y="21600"/>
                    </a:cubicBezTo>
                    <a:cubicBezTo>
                      <a:pt x="26498" y="33529"/>
                      <a:pt x="16827" y="43200"/>
                      <a:pt x="4898" y="43200"/>
                    </a:cubicBezTo>
                    <a:cubicBezTo>
                      <a:pt x="3249" y="43200"/>
                      <a:pt x="1605" y="43011"/>
                      <a:pt x="-1" y="42637"/>
                    </a:cubicBezTo>
                    <a:lnTo>
                      <a:pt x="4898" y="21600"/>
                    </a:lnTo>
                    <a:lnTo>
                      <a:pt x="212" y="51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167" name="Freeform 46" descr="50%"/>
            <p:cNvSpPr>
              <a:spLocks/>
            </p:cNvSpPr>
            <p:nvPr/>
          </p:nvSpPr>
          <p:spPr bwMode="auto">
            <a:xfrm>
              <a:off x="2544" y="1872"/>
              <a:ext cx="1040" cy="197"/>
            </a:xfrm>
            <a:custGeom>
              <a:avLst/>
              <a:gdLst>
                <a:gd name="T0" fmla="*/ 22 w 1040"/>
                <a:gd name="T1" fmla="*/ 165 h 197"/>
                <a:gd name="T2" fmla="*/ 70 w 1040"/>
                <a:gd name="T3" fmla="*/ 150 h 197"/>
                <a:gd name="T4" fmla="*/ 139 w 1040"/>
                <a:gd name="T5" fmla="*/ 135 h 197"/>
                <a:gd name="T6" fmla="*/ 208 w 1040"/>
                <a:gd name="T7" fmla="*/ 122 h 197"/>
                <a:gd name="T8" fmla="*/ 275 w 1040"/>
                <a:gd name="T9" fmla="*/ 110 h 197"/>
                <a:gd name="T10" fmla="*/ 313 w 1040"/>
                <a:gd name="T11" fmla="*/ 94 h 197"/>
                <a:gd name="T12" fmla="*/ 347 w 1040"/>
                <a:gd name="T13" fmla="*/ 61 h 197"/>
                <a:gd name="T14" fmla="*/ 397 w 1040"/>
                <a:gd name="T15" fmla="*/ 18 h 197"/>
                <a:gd name="T16" fmla="*/ 432 w 1040"/>
                <a:gd name="T17" fmla="*/ 35 h 197"/>
                <a:gd name="T18" fmla="*/ 447 w 1040"/>
                <a:gd name="T19" fmla="*/ 85 h 197"/>
                <a:gd name="T20" fmla="*/ 473 w 1040"/>
                <a:gd name="T21" fmla="*/ 107 h 197"/>
                <a:gd name="T22" fmla="*/ 559 w 1040"/>
                <a:gd name="T23" fmla="*/ 122 h 197"/>
                <a:gd name="T24" fmla="*/ 623 w 1040"/>
                <a:gd name="T25" fmla="*/ 124 h 197"/>
                <a:gd name="T26" fmla="*/ 701 w 1040"/>
                <a:gd name="T27" fmla="*/ 122 h 197"/>
                <a:gd name="T28" fmla="*/ 731 w 1040"/>
                <a:gd name="T29" fmla="*/ 146 h 197"/>
                <a:gd name="T30" fmla="*/ 793 w 1040"/>
                <a:gd name="T31" fmla="*/ 149 h 197"/>
                <a:gd name="T32" fmla="*/ 862 w 1040"/>
                <a:gd name="T33" fmla="*/ 118 h 197"/>
                <a:gd name="T34" fmla="*/ 917 w 1040"/>
                <a:gd name="T35" fmla="*/ 69 h 197"/>
                <a:gd name="T36" fmla="*/ 961 w 1040"/>
                <a:gd name="T37" fmla="*/ 39 h 197"/>
                <a:gd name="T38" fmla="*/ 998 w 1040"/>
                <a:gd name="T39" fmla="*/ 23 h 197"/>
                <a:gd name="T40" fmla="*/ 1032 w 1040"/>
                <a:gd name="T41" fmla="*/ 27 h 197"/>
                <a:gd name="T42" fmla="*/ 1005 w 1040"/>
                <a:gd name="T43" fmla="*/ 61 h 197"/>
                <a:gd name="T44" fmla="*/ 970 w 1040"/>
                <a:gd name="T45" fmla="*/ 91 h 197"/>
                <a:gd name="T46" fmla="*/ 950 w 1040"/>
                <a:gd name="T47" fmla="*/ 117 h 197"/>
                <a:gd name="T48" fmla="*/ 935 w 1040"/>
                <a:gd name="T49" fmla="*/ 139 h 197"/>
                <a:gd name="T50" fmla="*/ 930 w 1040"/>
                <a:gd name="T51" fmla="*/ 164 h 197"/>
                <a:gd name="T52" fmla="*/ 901 w 1040"/>
                <a:gd name="T53" fmla="*/ 159 h 197"/>
                <a:gd name="T54" fmla="*/ 874 w 1040"/>
                <a:gd name="T55" fmla="*/ 167 h 197"/>
                <a:gd name="T56" fmla="*/ 843 w 1040"/>
                <a:gd name="T57" fmla="*/ 164 h 197"/>
                <a:gd name="T58" fmla="*/ 809 w 1040"/>
                <a:gd name="T59" fmla="*/ 166 h 197"/>
                <a:gd name="T60" fmla="*/ 774 w 1040"/>
                <a:gd name="T61" fmla="*/ 163 h 197"/>
                <a:gd name="T62" fmla="*/ 734 w 1040"/>
                <a:gd name="T63" fmla="*/ 164 h 197"/>
                <a:gd name="T64" fmla="*/ 693 w 1040"/>
                <a:gd name="T65" fmla="*/ 171 h 197"/>
                <a:gd name="T66" fmla="*/ 654 w 1040"/>
                <a:gd name="T67" fmla="*/ 172 h 197"/>
                <a:gd name="T68" fmla="*/ 615 w 1040"/>
                <a:gd name="T69" fmla="*/ 173 h 197"/>
                <a:gd name="T70" fmla="*/ 579 w 1040"/>
                <a:gd name="T71" fmla="*/ 177 h 197"/>
                <a:gd name="T72" fmla="*/ 540 w 1040"/>
                <a:gd name="T73" fmla="*/ 185 h 197"/>
                <a:gd name="T74" fmla="*/ 494 w 1040"/>
                <a:gd name="T75" fmla="*/ 184 h 197"/>
                <a:gd name="T76" fmla="*/ 455 w 1040"/>
                <a:gd name="T77" fmla="*/ 187 h 197"/>
                <a:gd name="T78" fmla="*/ 415 w 1040"/>
                <a:gd name="T79" fmla="*/ 181 h 197"/>
                <a:gd name="T80" fmla="*/ 377 w 1040"/>
                <a:gd name="T81" fmla="*/ 184 h 197"/>
                <a:gd name="T82" fmla="*/ 345 w 1040"/>
                <a:gd name="T83" fmla="*/ 181 h 197"/>
                <a:gd name="T84" fmla="*/ 307 w 1040"/>
                <a:gd name="T85" fmla="*/ 184 h 197"/>
                <a:gd name="T86" fmla="*/ 266 w 1040"/>
                <a:gd name="T87" fmla="*/ 187 h 197"/>
                <a:gd name="T88" fmla="*/ 213 w 1040"/>
                <a:gd name="T89" fmla="*/ 196 h 197"/>
                <a:gd name="T90" fmla="*/ 152 w 1040"/>
                <a:gd name="T91" fmla="*/ 196 h 197"/>
                <a:gd name="T92" fmla="*/ 101 w 1040"/>
                <a:gd name="T93" fmla="*/ 188 h 197"/>
                <a:gd name="T94" fmla="*/ 55 w 1040"/>
                <a:gd name="T95" fmla="*/ 190 h 197"/>
                <a:gd name="T96" fmla="*/ 10 w 1040"/>
                <a:gd name="T97" fmla="*/ 181 h 19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040" h="197">
                  <a:moveTo>
                    <a:pt x="0" y="176"/>
                  </a:moveTo>
                  <a:lnTo>
                    <a:pt x="6" y="172"/>
                  </a:lnTo>
                  <a:lnTo>
                    <a:pt x="13" y="169"/>
                  </a:lnTo>
                  <a:lnTo>
                    <a:pt x="22" y="165"/>
                  </a:lnTo>
                  <a:lnTo>
                    <a:pt x="31" y="162"/>
                  </a:lnTo>
                  <a:lnTo>
                    <a:pt x="42" y="159"/>
                  </a:lnTo>
                  <a:lnTo>
                    <a:pt x="58" y="154"/>
                  </a:lnTo>
                  <a:lnTo>
                    <a:pt x="70" y="150"/>
                  </a:lnTo>
                  <a:lnTo>
                    <a:pt x="86" y="145"/>
                  </a:lnTo>
                  <a:lnTo>
                    <a:pt x="104" y="141"/>
                  </a:lnTo>
                  <a:lnTo>
                    <a:pt x="121" y="137"/>
                  </a:lnTo>
                  <a:lnTo>
                    <a:pt x="139" y="135"/>
                  </a:lnTo>
                  <a:lnTo>
                    <a:pt x="157" y="132"/>
                  </a:lnTo>
                  <a:lnTo>
                    <a:pt x="175" y="129"/>
                  </a:lnTo>
                  <a:lnTo>
                    <a:pt x="191" y="126"/>
                  </a:lnTo>
                  <a:lnTo>
                    <a:pt x="208" y="122"/>
                  </a:lnTo>
                  <a:lnTo>
                    <a:pt x="222" y="120"/>
                  </a:lnTo>
                  <a:lnTo>
                    <a:pt x="242" y="116"/>
                  </a:lnTo>
                  <a:lnTo>
                    <a:pt x="259" y="113"/>
                  </a:lnTo>
                  <a:lnTo>
                    <a:pt x="275" y="110"/>
                  </a:lnTo>
                  <a:lnTo>
                    <a:pt x="286" y="108"/>
                  </a:lnTo>
                  <a:lnTo>
                    <a:pt x="297" y="104"/>
                  </a:lnTo>
                  <a:lnTo>
                    <a:pt x="307" y="99"/>
                  </a:lnTo>
                  <a:lnTo>
                    <a:pt x="313" y="94"/>
                  </a:lnTo>
                  <a:lnTo>
                    <a:pt x="320" y="87"/>
                  </a:lnTo>
                  <a:lnTo>
                    <a:pt x="326" y="81"/>
                  </a:lnTo>
                  <a:lnTo>
                    <a:pt x="336" y="70"/>
                  </a:lnTo>
                  <a:lnTo>
                    <a:pt x="347" y="61"/>
                  </a:lnTo>
                  <a:lnTo>
                    <a:pt x="358" y="50"/>
                  </a:lnTo>
                  <a:lnTo>
                    <a:pt x="370" y="39"/>
                  </a:lnTo>
                  <a:lnTo>
                    <a:pt x="382" y="28"/>
                  </a:lnTo>
                  <a:lnTo>
                    <a:pt x="397" y="18"/>
                  </a:lnTo>
                  <a:lnTo>
                    <a:pt x="410" y="8"/>
                  </a:lnTo>
                  <a:lnTo>
                    <a:pt x="422" y="0"/>
                  </a:lnTo>
                  <a:lnTo>
                    <a:pt x="426" y="16"/>
                  </a:lnTo>
                  <a:lnTo>
                    <a:pt x="432" y="35"/>
                  </a:lnTo>
                  <a:lnTo>
                    <a:pt x="438" y="52"/>
                  </a:lnTo>
                  <a:lnTo>
                    <a:pt x="444" y="68"/>
                  </a:lnTo>
                  <a:lnTo>
                    <a:pt x="445" y="77"/>
                  </a:lnTo>
                  <a:lnTo>
                    <a:pt x="447" y="85"/>
                  </a:lnTo>
                  <a:lnTo>
                    <a:pt x="445" y="92"/>
                  </a:lnTo>
                  <a:lnTo>
                    <a:pt x="439" y="101"/>
                  </a:lnTo>
                  <a:lnTo>
                    <a:pt x="456" y="105"/>
                  </a:lnTo>
                  <a:lnTo>
                    <a:pt x="473" y="107"/>
                  </a:lnTo>
                  <a:lnTo>
                    <a:pt x="494" y="110"/>
                  </a:lnTo>
                  <a:lnTo>
                    <a:pt x="517" y="114"/>
                  </a:lnTo>
                  <a:lnTo>
                    <a:pt x="541" y="119"/>
                  </a:lnTo>
                  <a:lnTo>
                    <a:pt x="559" y="122"/>
                  </a:lnTo>
                  <a:lnTo>
                    <a:pt x="578" y="124"/>
                  </a:lnTo>
                  <a:lnTo>
                    <a:pt x="596" y="127"/>
                  </a:lnTo>
                  <a:lnTo>
                    <a:pt x="611" y="128"/>
                  </a:lnTo>
                  <a:lnTo>
                    <a:pt x="623" y="124"/>
                  </a:lnTo>
                  <a:lnTo>
                    <a:pt x="635" y="119"/>
                  </a:lnTo>
                  <a:lnTo>
                    <a:pt x="646" y="111"/>
                  </a:lnTo>
                  <a:lnTo>
                    <a:pt x="672" y="115"/>
                  </a:lnTo>
                  <a:lnTo>
                    <a:pt x="701" y="122"/>
                  </a:lnTo>
                  <a:lnTo>
                    <a:pt x="721" y="126"/>
                  </a:lnTo>
                  <a:lnTo>
                    <a:pt x="708" y="138"/>
                  </a:lnTo>
                  <a:lnTo>
                    <a:pt x="718" y="142"/>
                  </a:lnTo>
                  <a:lnTo>
                    <a:pt x="731" y="146"/>
                  </a:lnTo>
                  <a:lnTo>
                    <a:pt x="746" y="150"/>
                  </a:lnTo>
                  <a:lnTo>
                    <a:pt x="762" y="152"/>
                  </a:lnTo>
                  <a:lnTo>
                    <a:pt x="777" y="150"/>
                  </a:lnTo>
                  <a:lnTo>
                    <a:pt x="793" y="149"/>
                  </a:lnTo>
                  <a:lnTo>
                    <a:pt x="809" y="146"/>
                  </a:lnTo>
                  <a:lnTo>
                    <a:pt x="826" y="141"/>
                  </a:lnTo>
                  <a:lnTo>
                    <a:pt x="843" y="132"/>
                  </a:lnTo>
                  <a:lnTo>
                    <a:pt x="862" y="118"/>
                  </a:lnTo>
                  <a:lnTo>
                    <a:pt x="877" y="106"/>
                  </a:lnTo>
                  <a:lnTo>
                    <a:pt x="896" y="89"/>
                  </a:lnTo>
                  <a:lnTo>
                    <a:pt x="903" y="82"/>
                  </a:lnTo>
                  <a:lnTo>
                    <a:pt x="917" y="69"/>
                  </a:lnTo>
                  <a:lnTo>
                    <a:pt x="928" y="61"/>
                  </a:lnTo>
                  <a:lnTo>
                    <a:pt x="939" y="53"/>
                  </a:lnTo>
                  <a:lnTo>
                    <a:pt x="950" y="46"/>
                  </a:lnTo>
                  <a:lnTo>
                    <a:pt x="961" y="39"/>
                  </a:lnTo>
                  <a:lnTo>
                    <a:pt x="971" y="35"/>
                  </a:lnTo>
                  <a:lnTo>
                    <a:pt x="980" y="30"/>
                  </a:lnTo>
                  <a:lnTo>
                    <a:pt x="989" y="27"/>
                  </a:lnTo>
                  <a:lnTo>
                    <a:pt x="998" y="23"/>
                  </a:lnTo>
                  <a:lnTo>
                    <a:pt x="1009" y="22"/>
                  </a:lnTo>
                  <a:lnTo>
                    <a:pt x="1021" y="21"/>
                  </a:lnTo>
                  <a:lnTo>
                    <a:pt x="1039" y="21"/>
                  </a:lnTo>
                  <a:lnTo>
                    <a:pt x="1032" y="27"/>
                  </a:lnTo>
                  <a:lnTo>
                    <a:pt x="1024" y="36"/>
                  </a:lnTo>
                  <a:lnTo>
                    <a:pt x="1019" y="42"/>
                  </a:lnTo>
                  <a:lnTo>
                    <a:pt x="1012" y="52"/>
                  </a:lnTo>
                  <a:lnTo>
                    <a:pt x="1005" y="61"/>
                  </a:lnTo>
                  <a:lnTo>
                    <a:pt x="995" y="70"/>
                  </a:lnTo>
                  <a:lnTo>
                    <a:pt x="982" y="79"/>
                  </a:lnTo>
                  <a:lnTo>
                    <a:pt x="975" y="85"/>
                  </a:lnTo>
                  <a:lnTo>
                    <a:pt x="970" y="91"/>
                  </a:lnTo>
                  <a:lnTo>
                    <a:pt x="964" y="99"/>
                  </a:lnTo>
                  <a:lnTo>
                    <a:pt x="959" y="104"/>
                  </a:lnTo>
                  <a:lnTo>
                    <a:pt x="954" y="110"/>
                  </a:lnTo>
                  <a:lnTo>
                    <a:pt x="950" y="117"/>
                  </a:lnTo>
                  <a:lnTo>
                    <a:pt x="946" y="123"/>
                  </a:lnTo>
                  <a:lnTo>
                    <a:pt x="942" y="129"/>
                  </a:lnTo>
                  <a:lnTo>
                    <a:pt x="938" y="135"/>
                  </a:lnTo>
                  <a:lnTo>
                    <a:pt x="935" y="139"/>
                  </a:lnTo>
                  <a:lnTo>
                    <a:pt x="933" y="146"/>
                  </a:lnTo>
                  <a:lnTo>
                    <a:pt x="931" y="152"/>
                  </a:lnTo>
                  <a:lnTo>
                    <a:pt x="931" y="158"/>
                  </a:lnTo>
                  <a:lnTo>
                    <a:pt x="930" y="164"/>
                  </a:lnTo>
                  <a:lnTo>
                    <a:pt x="924" y="160"/>
                  </a:lnTo>
                  <a:lnTo>
                    <a:pt x="915" y="159"/>
                  </a:lnTo>
                  <a:lnTo>
                    <a:pt x="908" y="159"/>
                  </a:lnTo>
                  <a:lnTo>
                    <a:pt x="901" y="159"/>
                  </a:lnTo>
                  <a:lnTo>
                    <a:pt x="893" y="161"/>
                  </a:lnTo>
                  <a:lnTo>
                    <a:pt x="887" y="164"/>
                  </a:lnTo>
                  <a:lnTo>
                    <a:pt x="881" y="165"/>
                  </a:lnTo>
                  <a:lnTo>
                    <a:pt x="874" y="167"/>
                  </a:lnTo>
                  <a:lnTo>
                    <a:pt x="867" y="168"/>
                  </a:lnTo>
                  <a:lnTo>
                    <a:pt x="857" y="167"/>
                  </a:lnTo>
                  <a:lnTo>
                    <a:pt x="849" y="166"/>
                  </a:lnTo>
                  <a:lnTo>
                    <a:pt x="843" y="164"/>
                  </a:lnTo>
                  <a:lnTo>
                    <a:pt x="836" y="162"/>
                  </a:lnTo>
                  <a:lnTo>
                    <a:pt x="829" y="163"/>
                  </a:lnTo>
                  <a:lnTo>
                    <a:pt x="818" y="164"/>
                  </a:lnTo>
                  <a:lnTo>
                    <a:pt x="809" y="166"/>
                  </a:lnTo>
                  <a:lnTo>
                    <a:pt x="802" y="165"/>
                  </a:lnTo>
                  <a:lnTo>
                    <a:pt x="793" y="164"/>
                  </a:lnTo>
                  <a:lnTo>
                    <a:pt x="783" y="163"/>
                  </a:lnTo>
                  <a:lnTo>
                    <a:pt x="774" y="163"/>
                  </a:lnTo>
                  <a:lnTo>
                    <a:pt x="766" y="164"/>
                  </a:lnTo>
                  <a:lnTo>
                    <a:pt x="753" y="166"/>
                  </a:lnTo>
                  <a:lnTo>
                    <a:pt x="745" y="166"/>
                  </a:lnTo>
                  <a:lnTo>
                    <a:pt x="734" y="164"/>
                  </a:lnTo>
                  <a:lnTo>
                    <a:pt x="725" y="164"/>
                  </a:lnTo>
                  <a:lnTo>
                    <a:pt x="714" y="166"/>
                  </a:lnTo>
                  <a:lnTo>
                    <a:pt x="706" y="169"/>
                  </a:lnTo>
                  <a:lnTo>
                    <a:pt x="693" y="171"/>
                  </a:lnTo>
                  <a:lnTo>
                    <a:pt x="684" y="172"/>
                  </a:lnTo>
                  <a:lnTo>
                    <a:pt x="673" y="173"/>
                  </a:lnTo>
                  <a:lnTo>
                    <a:pt x="664" y="174"/>
                  </a:lnTo>
                  <a:lnTo>
                    <a:pt x="654" y="172"/>
                  </a:lnTo>
                  <a:lnTo>
                    <a:pt x="643" y="169"/>
                  </a:lnTo>
                  <a:lnTo>
                    <a:pt x="632" y="172"/>
                  </a:lnTo>
                  <a:lnTo>
                    <a:pt x="624" y="172"/>
                  </a:lnTo>
                  <a:lnTo>
                    <a:pt x="615" y="173"/>
                  </a:lnTo>
                  <a:lnTo>
                    <a:pt x="606" y="172"/>
                  </a:lnTo>
                  <a:lnTo>
                    <a:pt x="597" y="172"/>
                  </a:lnTo>
                  <a:lnTo>
                    <a:pt x="587" y="173"/>
                  </a:lnTo>
                  <a:lnTo>
                    <a:pt x="579" y="177"/>
                  </a:lnTo>
                  <a:lnTo>
                    <a:pt x="571" y="179"/>
                  </a:lnTo>
                  <a:lnTo>
                    <a:pt x="561" y="182"/>
                  </a:lnTo>
                  <a:lnTo>
                    <a:pt x="551" y="184"/>
                  </a:lnTo>
                  <a:lnTo>
                    <a:pt x="540" y="185"/>
                  </a:lnTo>
                  <a:lnTo>
                    <a:pt x="530" y="186"/>
                  </a:lnTo>
                  <a:lnTo>
                    <a:pt x="516" y="184"/>
                  </a:lnTo>
                  <a:lnTo>
                    <a:pt x="503" y="184"/>
                  </a:lnTo>
                  <a:lnTo>
                    <a:pt x="494" y="184"/>
                  </a:lnTo>
                  <a:lnTo>
                    <a:pt x="482" y="186"/>
                  </a:lnTo>
                  <a:lnTo>
                    <a:pt x="473" y="186"/>
                  </a:lnTo>
                  <a:lnTo>
                    <a:pt x="463" y="187"/>
                  </a:lnTo>
                  <a:lnTo>
                    <a:pt x="455" y="187"/>
                  </a:lnTo>
                  <a:lnTo>
                    <a:pt x="442" y="186"/>
                  </a:lnTo>
                  <a:lnTo>
                    <a:pt x="431" y="184"/>
                  </a:lnTo>
                  <a:lnTo>
                    <a:pt x="424" y="181"/>
                  </a:lnTo>
                  <a:lnTo>
                    <a:pt x="415" y="181"/>
                  </a:lnTo>
                  <a:lnTo>
                    <a:pt x="406" y="181"/>
                  </a:lnTo>
                  <a:lnTo>
                    <a:pt x="397" y="182"/>
                  </a:lnTo>
                  <a:lnTo>
                    <a:pt x="386" y="184"/>
                  </a:lnTo>
                  <a:lnTo>
                    <a:pt x="377" y="184"/>
                  </a:lnTo>
                  <a:lnTo>
                    <a:pt x="369" y="184"/>
                  </a:lnTo>
                  <a:lnTo>
                    <a:pt x="363" y="183"/>
                  </a:lnTo>
                  <a:lnTo>
                    <a:pt x="354" y="181"/>
                  </a:lnTo>
                  <a:lnTo>
                    <a:pt x="345" y="181"/>
                  </a:lnTo>
                  <a:lnTo>
                    <a:pt x="336" y="181"/>
                  </a:lnTo>
                  <a:lnTo>
                    <a:pt x="328" y="182"/>
                  </a:lnTo>
                  <a:lnTo>
                    <a:pt x="319" y="183"/>
                  </a:lnTo>
                  <a:lnTo>
                    <a:pt x="307" y="184"/>
                  </a:lnTo>
                  <a:lnTo>
                    <a:pt x="296" y="184"/>
                  </a:lnTo>
                  <a:lnTo>
                    <a:pt x="286" y="184"/>
                  </a:lnTo>
                  <a:lnTo>
                    <a:pt x="276" y="185"/>
                  </a:lnTo>
                  <a:lnTo>
                    <a:pt x="266" y="187"/>
                  </a:lnTo>
                  <a:lnTo>
                    <a:pt x="255" y="190"/>
                  </a:lnTo>
                  <a:lnTo>
                    <a:pt x="245" y="192"/>
                  </a:lnTo>
                  <a:lnTo>
                    <a:pt x="230" y="195"/>
                  </a:lnTo>
                  <a:lnTo>
                    <a:pt x="213" y="196"/>
                  </a:lnTo>
                  <a:lnTo>
                    <a:pt x="196" y="196"/>
                  </a:lnTo>
                  <a:lnTo>
                    <a:pt x="181" y="195"/>
                  </a:lnTo>
                  <a:lnTo>
                    <a:pt x="162" y="196"/>
                  </a:lnTo>
                  <a:lnTo>
                    <a:pt x="152" y="196"/>
                  </a:lnTo>
                  <a:lnTo>
                    <a:pt x="142" y="194"/>
                  </a:lnTo>
                  <a:lnTo>
                    <a:pt x="132" y="196"/>
                  </a:lnTo>
                  <a:lnTo>
                    <a:pt x="120" y="195"/>
                  </a:lnTo>
                  <a:lnTo>
                    <a:pt x="101" y="188"/>
                  </a:lnTo>
                  <a:lnTo>
                    <a:pt x="89" y="189"/>
                  </a:lnTo>
                  <a:lnTo>
                    <a:pt x="77" y="190"/>
                  </a:lnTo>
                  <a:lnTo>
                    <a:pt x="65" y="190"/>
                  </a:lnTo>
                  <a:lnTo>
                    <a:pt x="55" y="190"/>
                  </a:lnTo>
                  <a:lnTo>
                    <a:pt x="43" y="189"/>
                  </a:lnTo>
                  <a:lnTo>
                    <a:pt x="31" y="187"/>
                  </a:lnTo>
                  <a:lnTo>
                    <a:pt x="20" y="184"/>
                  </a:lnTo>
                  <a:lnTo>
                    <a:pt x="10" y="181"/>
                  </a:lnTo>
                  <a:lnTo>
                    <a:pt x="0" y="179"/>
                  </a:lnTo>
                  <a:lnTo>
                    <a:pt x="0" y="176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68" name="Group 47"/>
            <p:cNvGrpSpPr>
              <a:grpSpLocks/>
            </p:cNvGrpSpPr>
            <p:nvPr/>
          </p:nvGrpSpPr>
          <p:grpSpPr bwMode="auto">
            <a:xfrm>
              <a:off x="2753" y="2119"/>
              <a:ext cx="151" cy="95"/>
              <a:chOff x="2691" y="2118"/>
              <a:chExt cx="151" cy="95"/>
            </a:xfrm>
          </p:grpSpPr>
          <p:sp>
            <p:nvSpPr>
              <p:cNvPr id="6199" name="Freeform 48" descr="50%"/>
              <p:cNvSpPr>
                <a:spLocks/>
              </p:cNvSpPr>
              <p:nvPr/>
            </p:nvSpPr>
            <p:spPr bwMode="auto">
              <a:xfrm>
                <a:off x="2691" y="2121"/>
                <a:ext cx="151" cy="92"/>
              </a:xfrm>
              <a:custGeom>
                <a:avLst/>
                <a:gdLst>
                  <a:gd name="T0" fmla="*/ 140 w 151"/>
                  <a:gd name="T1" fmla="*/ 82 h 92"/>
                  <a:gd name="T2" fmla="*/ 132 w 151"/>
                  <a:gd name="T3" fmla="*/ 74 h 92"/>
                  <a:gd name="T4" fmla="*/ 127 w 151"/>
                  <a:gd name="T5" fmla="*/ 69 h 92"/>
                  <a:gd name="T6" fmla="*/ 123 w 151"/>
                  <a:gd name="T7" fmla="*/ 64 h 92"/>
                  <a:gd name="T8" fmla="*/ 118 w 151"/>
                  <a:gd name="T9" fmla="*/ 59 h 92"/>
                  <a:gd name="T10" fmla="*/ 114 w 151"/>
                  <a:gd name="T11" fmla="*/ 54 h 92"/>
                  <a:gd name="T12" fmla="*/ 111 w 151"/>
                  <a:gd name="T13" fmla="*/ 49 h 92"/>
                  <a:gd name="T14" fmla="*/ 107 w 151"/>
                  <a:gd name="T15" fmla="*/ 43 h 92"/>
                  <a:gd name="T16" fmla="*/ 104 w 151"/>
                  <a:gd name="T17" fmla="*/ 37 h 92"/>
                  <a:gd name="T18" fmla="*/ 101 w 151"/>
                  <a:gd name="T19" fmla="*/ 30 h 92"/>
                  <a:gd name="T20" fmla="*/ 99 w 151"/>
                  <a:gd name="T21" fmla="*/ 23 h 92"/>
                  <a:gd name="T22" fmla="*/ 97 w 151"/>
                  <a:gd name="T23" fmla="*/ 16 h 92"/>
                  <a:gd name="T24" fmla="*/ 97 w 151"/>
                  <a:gd name="T25" fmla="*/ 9 h 92"/>
                  <a:gd name="T26" fmla="*/ 97 w 151"/>
                  <a:gd name="T27" fmla="*/ 0 h 92"/>
                  <a:gd name="T28" fmla="*/ 0 w 151"/>
                  <a:gd name="T29" fmla="*/ 1 h 92"/>
                  <a:gd name="T30" fmla="*/ 3 w 151"/>
                  <a:gd name="T31" fmla="*/ 6 h 92"/>
                  <a:gd name="T32" fmla="*/ 8 w 151"/>
                  <a:gd name="T33" fmla="*/ 13 h 92"/>
                  <a:gd name="T34" fmla="*/ 13 w 151"/>
                  <a:gd name="T35" fmla="*/ 20 h 92"/>
                  <a:gd name="T36" fmla="*/ 18 w 151"/>
                  <a:gd name="T37" fmla="*/ 26 h 92"/>
                  <a:gd name="T38" fmla="*/ 25 w 151"/>
                  <a:gd name="T39" fmla="*/ 33 h 92"/>
                  <a:gd name="T40" fmla="*/ 32 w 151"/>
                  <a:gd name="T41" fmla="*/ 40 h 92"/>
                  <a:gd name="T42" fmla="*/ 39 w 151"/>
                  <a:gd name="T43" fmla="*/ 46 h 92"/>
                  <a:gd name="T44" fmla="*/ 47 w 151"/>
                  <a:gd name="T45" fmla="*/ 52 h 92"/>
                  <a:gd name="T46" fmla="*/ 56 w 151"/>
                  <a:gd name="T47" fmla="*/ 59 h 92"/>
                  <a:gd name="T48" fmla="*/ 66 w 151"/>
                  <a:gd name="T49" fmla="*/ 67 h 92"/>
                  <a:gd name="T50" fmla="*/ 75 w 151"/>
                  <a:gd name="T51" fmla="*/ 72 h 92"/>
                  <a:gd name="T52" fmla="*/ 83 w 151"/>
                  <a:gd name="T53" fmla="*/ 76 h 92"/>
                  <a:gd name="T54" fmla="*/ 91 w 151"/>
                  <a:gd name="T55" fmla="*/ 79 h 92"/>
                  <a:gd name="T56" fmla="*/ 99 w 151"/>
                  <a:gd name="T57" fmla="*/ 82 h 92"/>
                  <a:gd name="T58" fmla="*/ 107 w 151"/>
                  <a:gd name="T59" fmla="*/ 85 h 92"/>
                  <a:gd name="T60" fmla="*/ 117 w 151"/>
                  <a:gd name="T61" fmla="*/ 87 h 92"/>
                  <a:gd name="T62" fmla="*/ 127 w 151"/>
                  <a:gd name="T63" fmla="*/ 89 h 92"/>
                  <a:gd name="T64" fmla="*/ 135 w 151"/>
                  <a:gd name="T65" fmla="*/ 90 h 92"/>
                  <a:gd name="T66" fmla="*/ 143 w 151"/>
                  <a:gd name="T67" fmla="*/ 91 h 92"/>
                  <a:gd name="T68" fmla="*/ 150 w 151"/>
                  <a:gd name="T69" fmla="*/ 91 h 92"/>
                  <a:gd name="T70" fmla="*/ 140 w 151"/>
                  <a:gd name="T71" fmla="*/ 82 h 9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151" h="92">
                    <a:moveTo>
                      <a:pt x="140" y="82"/>
                    </a:moveTo>
                    <a:lnTo>
                      <a:pt x="132" y="74"/>
                    </a:lnTo>
                    <a:lnTo>
                      <a:pt x="127" y="69"/>
                    </a:lnTo>
                    <a:lnTo>
                      <a:pt x="123" y="64"/>
                    </a:lnTo>
                    <a:lnTo>
                      <a:pt x="118" y="59"/>
                    </a:lnTo>
                    <a:lnTo>
                      <a:pt x="114" y="54"/>
                    </a:lnTo>
                    <a:lnTo>
                      <a:pt x="111" y="49"/>
                    </a:lnTo>
                    <a:lnTo>
                      <a:pt x="107" y="43"/>
                    </a:lnTo>
                    <a:lnTo>
                      <a:pt x="104" y="37"/>
                    </a:lnTo>
                    <a:lnTo>
                      <a:pt x="101" y="30"/>
                    </a:lnTo>
                    <a:lnTo>
                      <a:pt x="99" y="23"/>
                    </a:lnTo>
                    <a:lnTo>
                      <a:pt x="97" y="16"/>
                    </a:lnTo>
                    <a:lnTo>
                      <a:pt x="97" y="9"/>
                    </a:lnTo>
                    <a:lnTo>
                      <a:pt x="97" y="0"/>
                    </a:lnTo>
                    <a:lnTo>
                      <a:pt x="0" y="1"/>
                    </a:lnTo>
                    <a:lnTo>
                      <a:pt x="3" y="6"/>
                    </a:lnTo>
                    <a:lnTo>
                      <a:pt x="8" y="13"/>
                    </a:lnTo>
                    <a:lnTo>
                      <a:pt x="13" y="20"/>
                    </a:lnTo>
                    <a:lnTo>
                      <a:pt x="18" y="26"/>
                    </a:lnTo>
                    <a:lnTo>
                      <a:pt x="25" y="33"/>
                    </a:lnTo>
                    <a:lnTo>
                      <a:pt x="32" y="40"/>
                    </a:lnTo>
                    <a:lnTo>
                      <a:pt x="39" y="46"/>
                    </a:lnTo>
                    <a:lnTo>
                      <a:pt x="47" y="52"/>
                    </a:lnTo>
                    <a:lnTo>
                      <a:pt x="56" y="59"/>
                    </a:lnTo>
                    <a:lnTo>
                      <a:pt x="66" y="67"/>
                    </a:lnTo>
                    <a:lnTo>
                      <a:pt x="75" y="72"/>
                    </a:lnTo>
                    <a:lnTo>
                      <a:pt x="83" y="76"/>
                    </a:lnTo>
                    <a:lnTo>
                      <a:pt x="91" y="79"/>
                    </a:lnTo>
                    <a:lnTo>
                      <a:pt x="99" y="82"/>
                    </a:lnTo>
                    <a:lnTo>
                      <a:pt x="107" y="85"/>
                    </a:lnTo>
                    <a:lnTo>
                      <a:pt x="117" y="87"/>
                    </a:lnTo>
                    <a:lnTo>
                      <a:pt x="127" y="89"/>
                    </a:lnTo>
                    <a:lnTo>
                      <a:pt x="135" y="90"/>
                    </a:lnTo>
                    <a:lnTo>
                      <a:pt x="143" y="91"/>
                    </a:lnTo>
                    <a:lnTo>
                      <a:pt x="150" y="91"/>
                    </a:lnTo>
                    <a:lnTo>
                      <a:pt x="140" y="82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00" name="Freeform 49" descr="50%"/>
              <p:cNvSpPr>
                <a:spLocks/>
              </p:cNvSpPr>
              <p:nvPr/>
            </p:nvSpPr>
            <p:spPr bwMode="auto">
              <a:xfrm>
                <a:off x="2694" y="2118"/>
                <a:ext cx="86" cy="3"/>
              </a:xfrm>
              <a:custGeom>
                <a:avLst/>
                <a:gdLst>
                  <a:gd name="T0" fmla="*/ 0 w 86"/>
                  <a:gd name="T1" fmla="*/ 2 h 3"/>
                  <a:gd name="T2" fmla="*/ 0 w 86"/>
                  <a:gd name="T3" fmla="*/ 1 h 3"/>
                  <a:gd name="T4" fmla="*/ 2 w 86"/>
                  <a:gd name="T5" fmla="*/ 0 h 3"/>
                  <a:gd name="T6" fmla="*/ 85 w 86"/>
                  <a:gd name="T7" fmla="*/ 0 h 3"/>
                  <a:gd name="T8" fmla="*/ 85 w 86"/>
                  <a:gd name="T9" fmla="*/ 2 h 3"/>
                  <a:gd name="T10" fmla="*/ 0 w 86"/>
                  <a:gd name="T11" fmla="*/ 2 h 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6" h="3">
                    <a:moveTo>
                      <a:pt x="0" y="2"/>
                    </a:moveTo>
                    <a:lnTo>
                      <a:pt x="0" y="1"/>
                    </a:lnTo>
                    <a:lnTo>
                      <a:pt x="2" y="0"/>
                    </a:lnTo>
                    <a:lnTo>
                      <a:pt x="85" y="0"/>
                    </a:lnTo>
                    <a:lnTo>
                      <a:pt x="85" y="2"/>
                    </a:lnTo>
                    <a:lnTo>
                      <a:pt x="0" y="2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69" name="Freeform 50" descr="50%"/>
            <p:cNvSpPr>
              <a:spLocks/>
            </p:cNvSpPr>
            <p:nvPr/>
          </p:nvSpPr>
          <p:spPr bwMode="auto">
            <a:xfrm>
              <a:off x="1984" y="2078"/>
              <a:ext cx="84" cy="64"/>
            </a:xfrm>
            <a:custGeom>
              <a:avLst/>
              <a:gdLst>
                <a:gd name="T0" fmla="*/ 0 w 84"/>
                <a:gd name="T1" fmla="*/ 0 h 64"/>
                <a:gd name="T2" fmla="*/ 3 w 84"/>
                <a:gd name="T3" fmla="*/ 6 h 64"/>
                <a:gd name="T4" fmla="*/ 7 w 84"/>
                <a:gd name="T5" fmla="*/ 13 h 64"/>
                <a:gd name="T6" fmla="*/ 12 w 84"/>
                <a:gd name="T7" fmla="*/ 19 h 64"/>
                <a:gd name="T8" fmla="*/ 17 w 84"/>
                <a:gd name="T9" fmla="*/ 25 h 64"/>
                <a:gd name="T10" fmla="*/ 23 w 84"/>
                <a:gd name="T11" fmla="*/ 32 h 64"/>
                <a:gd name="T12" fmla="*/ 29 w 84"/>
                <a:gd name="T13" fmla="*/ 39 h 64"/>
                <a:gd name="T14" fmla="*/ 35 w 84"/>
                <a:gd name="T15" fmla="*/ 44 h 64"/>
                <a:gd name="T16" fmla="*/ 40 w 84"/>
                <a:gd name="T17" fmla="*/ 49 h 64"/>
                <a:gd name="T18" fmla="*/ 46 w 84"/>
                <a:gd name="T19" fmla="*/ 53 h 64"/>
                <a:gd name="T20" fmla="*/ 53 w 84"/>
                <a:gd name="T21" fmla="*/ 56 h 64"/>
                <a:gd name="T22" fmla="*/ 59 w 84"/>
                <a:gd name="T23" fmla="*/ 59 h 64"/>
                <a:gd name="T24" fmla="*/ 66 w 84"/>
                <a:gd name="T25" fmla="*/ 62 h 64"/>
                <a:gd name="T26" fmla="*/ 73 w 84"/>
                <a:gd name="T27" fmla="*/ 63 h 64"/>
                <a:gd name="T28" fmla="*/ 79 w 84"/>
                <a:gd name="T29" fmla="*/ 63 h 64"/>
                <a:gd name="T30" fmla="*/ 83 w 84"/>
                <a:gd name="T31" fmla="*/ 62 h 64"/>
                <a:gd name="T32" fmla="*/ 79 w 84"/>
                <a:gd name="T33" fmla="*/ 58 h 64"/>
                <a:gd name="T34" fmla="*/ 74 w 84"/>
                <a:gd name="T35" fmla="*/ 52 h 64"/>
                <a:gd name="T36" fmla="*/ 70 w 84"/>
                <a:gd name="T37" fmla="*/ 47 h 64"/>
                <a:gd name="T38" fmla="*/ 65 w 84"/>
                <a:gd name="T39" fmla="*/ 40 h 64"/>
                <a:gd name="T40" fmla="*/ 61 w 84"/>
                <a:gd name="T41" fmla="*/ 34 h 64"/>
                <a:gd name="T42" fmla="*/ 58 w 84"/>
                <a:gd name="T43" fmla="*/ 28 h 64"/>
                <a:gd name="T44" fmla="*/ 56 w 84"/>
                <a:gd name="T45" fmla="*/ 22 h 64"/>
                <a:gd name="T46" fmla="*/ 53 w 84"/>
                <a:gd name="T47" fmla="*/ 13 h 64"/>
                <a:gd name="T48" fmla="*/ 53 w 84"/>
                <a:gd name="T49" fmla="*/ 6 h 64"/>
                <a:gd name="T50" fmla="*/ 53 w 84"/>
                <a:gd name="T51" fmla="*/ 0 h 64"/>
                <a:gd name="T52" fmla="*/ 0 w 84"/>
                <a:gd name="T53" fmla="*/ 0 h 6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84" h="64">
                  <a:moveTo>
                    <a:pt x="0" y="0"/>
                  </a:moveTo>
                  <a:lnTo>
                    <a:pt x="3" y="6"/>
                  </a:lnTo>
                  <a:lnTo>
                    <a:pt x="7" y="13"/>
                  </a:lnTo>
                  <a:lnTo>
                    <a:pt x="12" y="19"/>
                  </a:lnTo>
                  <a:lnTo>
                    <a:pt x="17" y="25"/>
                  </a:lnTo>
                  <a:lnTo>
                    <a:pt x="23" y="32"/>
                  </a:lnTo>
                  <a:lnTo>
                    <a:pt x="29" y="39"/>
                  </a:lnTo>
                  <a:lnTo>
                    <a:pt x="35" y="44"/>
                  </a:lnTo>
                  <a:lnTo>
                    <a:pt x="40" y="49"/>
                  </a:lnTo>
                  <a:lnTo>
                    <a:pt x="46" y="53"/>
                  </a:lnTo>
                  <a:lnTo>
                    <a:pt x="53" y="56"/>
                  </a:lnTo>
                  <a:lnTo>
                    <a:pt x="59" y="59"/>
                  </a:lnTo>
                  <a:lnTo>
                    <a:pt x="66" y="62"/>
                  </a:lnTo>
                  <a:lnTo>
                    <a:pt x="73" y="63"/>
                  </a:lnTo>
                  <a:lnTo>
                    <a:pt x="79" y="63"/>
                  </a:lnTo>
                  <a:lnTo>
                    <a:pt x="83" y="62"/>
                  </a:lnTo>
                  <a:lnTo>
                    <a:pt x="79" y="58"/>
                  </a:lnTo>
                  <a:lnTo>
                    <a:pt x="74" y="52"/>
                  </a:lnTo>
                  <a:lnTo>
                    <a:pt x="70" y="47"/>
                  </a:lnTo>
                  <a:lnTo>
                    <a:pt x="65" y="40"/>
                  </a:lnTo>
                  <a:lnTo>
                    <a:pt x="61" y="34"/>
                  </a:lnTo>
                  <a:lnTo>
                    <a:pt x="58" y="28"/>
                  </a:lnTo>
                  <a:lnTo>
                    <a:pt x="56" y="22"/>
                  </a:lnTo>
                  <a:lnTo>
                    <a:pt x="53" y="13"/>
                  </a:lnTo>
                  <a:lnTo>
                    <a:pt x="53" y="6"/>
                  </a:lnTo>
                  <a:lnTo>
                    <a:pt x="53" y="0"/>
                  </a:lnTo>
                  <a:lnTo>
                    <a:pt x="0" y="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0" name="Freeform 51" descr="50%"/>
            <p:cNvSpPr>
              <a:spLocks/>
            </p:cNvSpPr>
            <p:nvPr/>
          </p:nvSpPr>
          <p:spPr bwMode="auto">
            <a:xfrm>
              <a:off x="1804" y="1922"/>
              <a:ext cx="710" cy="207"/>
            </a:xfrm>
            <a:custGeom>
              <a:avLst/>
              <a:gdLst>
                <a:gd name="T0" fmla="*/ 8 w 710"/>
                <a:gd name="T1" fmla="*/ 123 h 207"/>
                <a:gd name="T2" fmla="*/ 30 w 710"/>
                <a:gd name="T3" fmla="*/ 114 h 207"/>
                <a:gd name="T4" fmla="*/ 62 w 710"/>
                <a:gd name="T5" fmla="*/ 104 h 207"/>
                <a:gd name="T6" fmla="*/ 97 w 710"/>
                <a:gd name="T7" fmla="*/ 97 h 207"/>
                <a:gd name="T8" fmla="*/ 131 w 710"/>
                <a:gd name="T9" fmla="*/ 91 h 207"/>
                <a:gd name="T10" fmla="*/ 166 w 710"/>
                <a:gd name="T11" fmla="*/ 84 h 207"/>
                <a:gd name="T12" fmla="*/ 195 w 710"/>
                <a:gd name="T13" fmla="*/ 78 h 207"/>
                <a:gd name="T14" fmla="*/ 212 w 710"/>
                <a:gd name="T15" fmla="*/ 69 h 207"/>
                <a:gd name="T16" fmla="*/ 229 w 710"/>
                <a:gd name="T17" fmla="*/ 53 h 207"/>
                <a:gd name="T18" fmla="*/ 253 w 710"/>
                <a:gd name="T19" fmla="*/ 29 h 207"/>
                <a:gd name="T20" fmla="*/ 278 w 710"/>
                <a:gd name="T21" fmla="*/ 8 h 207"/>
                <a:gd name="T22" fmla="*/ 295 w 710"/>
                <a:gd name="T23" fmla="*/ 25 h 207"/>
                <a:gd name="T24" fmla="*/ 305 w 710"/>
                <a:gd name="T25" fmla="*/ 61 h 207"/>
                <a:gd name="T26" fmla="*/ 312 w 710"/>
                <a:gd name="T27" fmla="*/ 76 h 207"/>
                <a:gd name="T28" fmla="*/ 353 w 710"/>
                <a:gd name="T29" fmla="*/ 83 h 207"/>
                <a:gd name="T30" fmla="*/ 394 w 710"/>
                <a:gd name="T31" fmla="*/ 90 h 207"/>
                <a:gd name="T32" fmla="*/ 425 w 710"/>
                <a:gd name="T33" fmla="*/ 90 h 207"/>
                <a:gd name="T34" fmla="*/ 458 w 710"/>
                <a:gd name="T35" fmla="*/ 84 h 207"/>
                <a:gd name="T36" fmla="*/ 483 w 710"/>
                <a:gd name="T37" fmla="*/ 101 h 207"/>
                <a:gd name="T38" fmla="*/ 508 w 710"/>
                <a:gd name="T39" fmla="*/ 108 h 207"/>
                <a:gd name="T40" fmla="*/ 540 w 710"/>
                <a:gd name="T41" fmla="*/ 108 h 207"/>
                <a:gd name="T42" fmla="*/ 573 w 710"/>
                <a:gd name="T43" fmla="*/ 95 h 207"/>
                <a:gd name="T44" fmla="*/ 610 w 710"/>
                <a:gd name="T45" fmla="*/ 65 h 207"/>
                <a:gd name="T46" fmla="*/ 653 w 710"/>
                <a:gd name="T47" fmla="*/ 30 h 207"/>
                <a:gd name="T48" fmla="*/ 696 w 710"/>
                <a:gd name="T49" fmla="*/ 16 h 207"/>
                <a:gd name="T50" fmla="*/ 697 w 710"/>
                <a:gd name="T51" fmla="*/ 28 h 207"/>
                <a:gd name="T52" fmla="*/ 677 w 710"/>
                <a:gd name="T53" fmla="*/ 53 h 207"/>
                <a:gd name="T54" fmla="*/ 653 w 710"/>
                <a:gd name="T55" fmla="*/ 78 h 207"/>
                <a:gd name="T56" fmla="*/ 637 w 710"/>
                <a:gd name="T57" fmla="*/ 102 h 207"/>
                <a:gd name="T58" fmla="*/ 637 w 710"/>
                <a:gd name="T59" fmla="*/ 128 h 207"/>
                <a:gd name="T60" fmla="*/ 654 w 710"/>
                <a:gd name="T61" fmla="*/ 155 h 207"/>
                <a:gd name="T62" fmla="*/ 676 w 710"/>
                <a:gd name="T63" fmla="*/ 174 h 207"/>
                <a:gd name="T64" fmla="*/ 695 w 710"/>
                <a:gd name="T65" fmla="*/ 190 h 207"/>
                <a:gd name="T66" fmla="*/ 696 w 710"/>
                <a:gd name="T67" fmla="*/ 199 h 207"/>
                <a:gd name="T68" fmla="*/ 669 w 710"/>
                <a:gd name="T69" fmla="*/ 198 h 207"/>
                <a:gd name="T70" fmla="*/ 645 w 710"/>
                <a:gd name="T71" fmla="*/ 192 h 207"/>
                <a:gd name="T72" fmla="*/ 623 w 710"/>
                <a:gd name="T73" fmla="*/ 180 h 207"/>
                <a:gd name="T74" fmla="*/ 585 w 710"/>
                <a:gd name="T75" fmla="*/ 157 h 207"/>
                <a:gd name="T76" fmla="*/ 540 w 710"/>
                <a:gd name="T77" fmla="*/ 154 h 207"/>
                <a:gd name="T78" fmla="*/ 484 w 710"/>
                <a:gd name="T79" fmla="*/ 160 h 207"/>
                <a:gd name="T80" fmla="*/ 449 w 710"/>
                <a:gd name="T81" fmla="*/ 174 h 207"/>
                <a:gd name="T82" fmla="*/ 438 w 710"/>
                <a:gd name="T83" fmla="*/ 190 h 207"/>
                <a:gd name="T84" fmla="*/ 388 w 710"/>
                <a:gd name="T85" fmla="*/ 188 h 207"/>
                <a:gd name="T86" fmla="*/ 347 w 710"/>
                <a:gd name="T87" fmla="*/ 201 h 207"/>
                <a:gd name="T88" fmla="*/ 192 w 710"/>
                <a:gd name="T89" fmla="*/ 206 h 207"/>
                <a:gd name="T90" fmla="*/ 104 w 710"/>
                <a:gd name="T91" fmla="*/ 197 h 207"/>
                <a:gd name="T92" fmla="*/ 26 w 710"/>
                <a:gd name="T93" fmla="*/ 172 h 207"/>
                <a:gd name="T94" fmla="*/ 26 w 710"/>
                <a:gd name="T95" fmla="*/ 158 h 207"/>
                <a:gd name="T96" fmla="*/ 8 w 710"/>
                <a:gd name="T97" fmla="*/ 142 h 207"/>
                <a:gd name="T98" fmla="*/ 2 w 710"/>
                <a:gd name="T99" fmla="*/ 132 h 20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710" h="207">
                  <a:moveTo>
                    <a:pt x="0" y="128"/>
                  </a:moveTo>
                  <a:lnTo>
                    <a:pt x="3" y="126"/>
                  </a:lnTo>
                  <a:lnTo>
                    <a:pt x="8" y="123"/>
                  </a:lnTo>
                  <a:lnTo>
                    <a:pt x="16" y="119"/>
                  </a:lnTo>
                  <a:lnTo>
                    <a:pt x="22" y="117"/>
                  </a:lnTo>
                  <a:lnTo>
                    <a:pt x="30" y="114"/>
                  </a:lnTo>
                  <a:lnTo>
                    <a:pt x="41" y="111"/>
                  </a:lnTo>
                  <a:lnTo>
                    <a:pt x="52" y="107"/>
                  </a:lnTo>
                  <a:lnTo>
                    <a:pt x="62" y="104"/>
                  </a:lnTo>
                  <a:lnTo>
                    <a:pt x="73" y="102"/>
                  </a:lnTo>
                  <a:lnTo>
                    <a:pt x="84" y="100"/>
                  </a:lnTo>
                  <a:lnTo>
                    <a:pt x="97" y="97"/>
                  </a:lnTo>
                  <a:lnTo>
                    <a:pt x="109" y="95"/>
                  </a:lnTo>
                  <a:lnTo>
                    <a:pt x="120" y="93"/>
                  </a:lnTo>
                  <a:lnTo>
                    <a:pt x="131" y="91"/>
                  </a:lnTo>
                  <a:lnTo>
                    <a:pt x="141" y="89"/>
                  </a:lnTo>
                  <a:lnTo>
                    <a:pt x="155" y="86"/>
                  </a:lnTo>
                  <a:lnTo>
                    <a:pt x="166" y="84"/>
                  </a:lnTo>
                  <a:lnTo>
                    <a:pt x="177" y="82"/>
                  </a:lnTo>
                  <a:lnTo>
                    <a:pt x="187" y="81"/>
                  </a:lnTo>
                  <a:lnTo>
                    <a:pt x="195" y="78"/>
                  </a:lnTo>
                  <a:lnTo>
                    <a:pt x="202" y="75"/>
                  </a:lnTo>
                  <a:lnTo>
                    <a:pt x="207" y="73"/>
                  </a:lnTo>
                  <a:lnTo>
                    <a:pt x="212" y="69"/>
                  </a:lnTo>
                  <a:lnTo>
                    <a:pt x="217" y="65"/>
                  </a:lnTo>
                  <a:lnTo>
                    <a:pt x="222" y="59"/>
                  </a:lnTo>
                  <a:lnTo>
                    <a:pt x="229" y="53"/>
                  </a:lnTo>
                  <a:lnTo>
                    <a:pt x="236" y="44"/>
                  </a:lnTo>
                  <a:lnTo>
                    <a:pt x="244" y="37"/>
                  </a:lnTo>
                  <a:lnTo>
                    <a:pt x="253" y="29"/>
                  </a:lnTo>
                  <a:lnTo>
                    <a:pt x="260" y="21"/>
                  </a:lnTo>
                  <a:lnTo>
                    <a:pt x="269" y="15"/>
                  </a:lnTo>
                  <a:lnTo>
                    <a:pt x="278" y="8"/>
                  </a:lnTo>
                  <a:lnTo>
                    <a:pt x="288" y="0"/>
                  </a:lnTo>
                  <a:lnTo>
                    <a:pt x="292" y="13"/>
                  </a:lnTo>
                  <a:lnTo>
                    <a:pt x="295" y="25"/>
                  </a:lnTo>
                  <a:lnTo>
                    <a:pt x="300" y="37"/>
                  </a:lnTo>
                  <a:lnTo>
                    <a:pt x="303" y="51"/>
                  </a:lnTo>
                  <a:lnTo>
                    <a:pt x="305" y="61"/>
                  </a:lnTo>
                  <a:lnTo>
                    <a:pt x="305" y="68"/>
                  </a:lnTo>
                  <a:lnTo>
                    <a:pt x="301" y="74"/>
                  </a:lnTo>
                  <a:lnTo>
                    <a:pt x="312" y="76"/>
                  </a:lnTo>
                  <a:lnTo>
                    <a:pt x="323" y="78"/>
                  </a:lnTo>
                  <a:lnTo>
                    <a:pt x="337" y="80"/>
                  </a:lnTo>
                  <a:lnTo>
                    <a:pt x="353" y="83"/>
                  </a:lnTo>
                  <a:lnTo>
                    <a:pt x="369" y="86"/>
                  </a:lnTo>
                  <a:lnTo>
                    <a:pt x="381" y="88"/>
                  </a:lnTo>
                  <a:lnTo>
                    <a:pt x="394" y="90"/>
                  </a:lnTo>
                  <a:lnTo>
                    <a:pt x="406" y="91"/>
                  </a:lnTo>
                  <a:lnTo>
                    <a:pt x="417" y="92"/>
                  </a:lnTo>
                  <a:lnTo>
                    <a:pt x="425" y="90"/>
                  </a:lnTo>
                  <a:lnTo>
                    <a:pt x="433" y="86"/>
                  </a:lnTo>
                  <a:lnTo>
                    <a:pt x="440" y="81"/>
                  </a:lnTo>
                  <a:lnTo>
                    <a:pt x="458" y="84"/>
                  </a:lnTo>
                  <a:lnTo>
                    <a:pt x="477" y="88"/>
                  </a:lnTo>
                  <a:lnTo>
                    <a:pt x="493" y="91"/>
                  </a:lnTo>
                  <a:lnTo>
                    <a:pt x="483" y="101"/>
                  </a:lnTo>
                  <a:lnTo>
                    <a:pt x="489" y="103"/>
                  </a:lnTo>
                  <a:lnTo>
                    <a:pt x="498" y="106"/>
                  </a:lnTo>
                  <a:lnTo>
                    <a:pt x="508" y="108"/>
                  </a:lnTo>
                  <a:lnTo>
                    <a:pt x="519" y="110"/>
                  </a:lnTo>
                  <a:lnTo>
                    <a:pt x="529" y="109"/>
                  </a:lnTo>
                  <a:lnTo>
                    <a:pt x="540" y="108"/>
                  </a:lnTo>
                  <a:lnTo>
                    <a:pt x="551" y="105"/>
                  </a:lnTo>
                  <a:lnTo>
                    <a:pt x="562" y="102"/>
                  </a:lnTo>
                  <a:lnTo>
                    <a:pt x="573" y="95"/>
                  </a:lnTo>
                  <a:lnTo>
                    <a:pt x="587" y="86"/>
                  </a:lnTo>
                  <a:lnTo>
                    <a:pt x="596" y="77"/>
                  </a:lnTo>
                  <a:lnTo>
                    <a:pt x="610" y="65"/>
                  </a:lnTo>
                  <a:lnTo>
                    <a:pt x="623" y="51"/>
                  </a:lnTo>
                  <a:lnTo>
                    <a:pt x="639" y="39"/>
                  </a:lnTo>
                  <a:lnTo>
                    <a:pt x="653" y="30"/>
                  </a:lnTo>
                  <a:lnTo>
                    <a:pt x="666" y="22"/>
                  </a:lnTo>
                  <a:lnTo>
                    <a:pt x="679" y="18"/>
                  </a:lnTo>
                  <a:lnTo>
                    <a:pt x="696" y="16"/>
                  </a:lnTo>
                  <a:lnTo>
                    <a:pt x="709" y="16"/>
                  </a:lnTo>
                  <a:lnTo>
                    <a:pt x="702" y="22"/>
                  </a:lnTo>
                  <a:lnTo>
                    <a:pt x="697" y="28"/>
                  </a:lnTo>
                  <a:lnTo>
                    <a:pt x="695" y="32"/>
                  </a:lnTo>
                  <a:lnTo>
                    <a:pt x="685" y="46"/>
                  </a:lnTo>
                  <a:lnTo>
                    <a:pt x="677" y="53"/>
                  </a:lnTo>
                  <a:lnTo>
                    <a:pt x="668" y="60"/>
                  </a:lnTo>
                  <a:lnTo>
                    <a:pt x="659" y="69"/>
                  </a:lnTo>
                  <a:lnTo>
                    <a:pt x="653" y="78"/>
                  </a:lnTo>
                  <a:lnTo>
                    <a:pt x="647" y="86"/>
                  </a:lnTo>
                  <a:lnTo>
                    <a:pt x="641" y="95"/>
                  </a:lnTo>
                  <a:lnTo>
                    <a:pt x="637" y="102"/>
                  </a:lnTo>
                  <a:lnTo>
                    <a:pt x="635" y="110"/>
                  </a:lnTo>
                  <a:lnTo>
                    <a:pt x="634" y="119"/>
                  </a:lnTo>
                  <a:lnTo>
                    <a:pt x="637" y="128"/>
                  </a:lnTo>
                  <a:lnTo>
                    <a:pt x="641" y="138"/>
                  </a:lnTo>
                  <a:lnTo>
                    <a:pt x="647" y="146"/>
                  </a:lnTo>
                  <a:lnTo>
                    <a:pt x="654" y="155"/>
                  </a:lnTo>
                  <a:lnTo>
                    <a:pt x="661" y="161"/>
                  </a:lnTo>
                  <a:lnTo>
                    <a:pt x="668" y="167"/>
                  </a:lnTo>
                  <a:lnTo>
                    <a:pt x="676" y="174"/>
                  </a:lnTo>
                  <a:lnTo>
                    <a:pt x="684" y="182"/>
                  </a:lnTo>
                  <a:lnTo>
                    <a:pt x="689" y="186"/>
                  </a:lnTo>
                  <a:lnTo>
                    <a:pt x="695" y="190"/>
                  </a:lnTo>
                  <a:lnTo>
                    <a:pt x="700" y="194"/>
                  </a:lnTo>
                  <a:lnTo>
                    <a:pt x="704" y="198"/>
                  </a:lnTo>
                  <a:lnTo>
                    <a:pt x="696" y="199"/>
                  </a:lnTo>
                  <a:lnTo>
                    <a:pt x="686" y="199"/>
                  </a:lnTo>
                  <a:lnTo>
                    <a:pt x="677" y="199"/>
                  </a:lnTo>
                  <a:lnTo>
                    <a:pt x="669" y="198"/>
                  </a:lnTo>
                  <a:lnTo>
                    <a:pt x="659" y="197"/>
                  </a:lnTo>
                  <a:lnTo>
                    <a:pt x="652" y="194"/>
                  </a:lnTo>
                  <a:lnTo>
                    <a:pt x="645" y="192"/>
                  </a:lnTo>
                  <a:lnTo>
                    <a:pt x="638" y="189"/>
                  </a:lnTo>
                  <a:lnTo>
                    <a:pt x="630" y="185"/>
                  </a:lnTo>
                  <a:lnTo>
                    <a:pt x="623" y="180"/>
                  </a:lnTo>
                  <a:lnTo>
                    <a:pt x="609" y="171"/>
                  </a:lnTo>
                  <a:lnTo>
                    <a:pt x="599" y="165"/>
                  </a:lnTo>
                  <a:lnTo>
                    <a:pt x="585" y="157"/>
                  </a:lnTo>
                  <a:lnTo>
                    <a:pt x="572" y="155"/>
                  </a:lnTo>
                  <a:lnTo>
                    <a:pt x="558" y="156"/>
                  </a:lnTo>
                  <a:lnTo>
                    <a:pt x="540" y="154"/>
                  </a:lnTo>
                  <a:lnTo>
                    <a:pt x="523" y="156"/>
                  </a:lnTo>
                  <a:lnTo>
                    <a:pt x="504" y="156"/>
                  </a:lnTo>
                  <a:lnTo>
                    <a:pt x="484" y="160"/>
                  </a:lnTo>
                  <a:lnTo>
                    <a:pt x="464" y="165"/>
                  </a:lnTo>
                  <a:lnTo>
                    <a:pt x="452" y="169"/>
                  </a:lnTo>
                  <a:lnTo>
                    <a:pt x="449" y="174"/>
                  </a:lnTo>
                  <a:lnTo>
                    <a:pt x="452" y="178"/>
                  </a:lnTo>
                  <a:lnTo>
                    <a:pt x="461" y="184"/>
                  </a:lnTo>
                  <a:lnTo>
                    <a:pt x="438" y="190"/>
                  </a:lnTo>
                  <a:lnTo>
                    <a:pt x="405" y="198"/>
                  </a:lnTo>
                  <a:lnTo>
                    <a:pt x="397" y="192"/>
                  </a:lnTo>
                  <a:lnTo>
                    <a:pt x="388" y="188"/>
                  </a:lnTo>
                  <a:lnTo>
                    <a:pt x="379" y="186"/>
                  </a:lnTo>
                  <a:lnTo>
                    <a:pt x="365" y="185"/>
                  </a:lnTo>
                  <a:lnTo>
                    <a:pt x="347" y="201"/>
                  </a:lnTo>
                  <a:lnTo>
                    <a:pt x="331" y="189"/>
                  </a:lnTo>
                  <a:lnTo>
                    <a:pt x="215" y="205"/>
                  </a:lnTo>
                  <a:lnTo>
                    <a:pt x="192" y="206"/>
                  </a:lnTo>
                  <a:lnTo>
                    <a:pt x="171" y="205"/>
                  </a:lnTo>
                  <a:lnTo>
                    <a:pt x="148" y="203"/>
                  </a:lnTo>
                  <a:lnTo>
                    <a:pt x="104" y="197"/>
                  </a:lnTo>
                  <a:lnTo>
                    <a:pt x="63" y="187"/>
                  </a:lnTo>
                  <a:lnTo>
                    <a:pt x="41" y="179"/>
                  </a:lnTo>
                  <a:lnTo>
                    <a:pt x="26" y="172"/>
                  </a:lnTo>
                  <a:lnTo>
                    <a:pt x="42" y="168"/>
                  </a:lnTo>
                  <a:lnTo>
                    <a:pt x="32" y="163"/>
                  </a:lnTo>
                  <a:lnTo>
                    <a:pt x="26" y="158"/>
                  </a:lnTo>
                  <a:lnTo>
                    <a:pt x="14" y="149"/>
                  </a:lnTo>
                  <a:lnTo>
                    <a:pt x="12" y="146"/>
                  </a:lnTo>
                  <a:lnTo>
                    <a:pt x="8" y="142"/>
                  </a:lnTo>
                  <a:lnTo>
                    <a:pt x="6" y="140"/>
                  </a:lnTo>
                  <a:lnTo>
                    <a:pt x="4" y="135"/>
                  </a:lnTo>
                  <a:lnTo>
                    <a:pt x="2" y="132"/>
                  </a:lnTo>
                  <a:lnTo>
                    <a:pt x="0" y="128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71" name="Group 52"/>
            <p:cNvGrpSpPr>
              <a:grpSpLocks/>
            </p:cNvGrpSpPr>
            <p:nvPr/>
          </p:nvGrpSpPr>
          <p:grpSpPr bwMode="auto">
            <a:xfrm>
              <a:off x="1868" y="2058"/>
              <a:ext cx="8" cy="7"/>
              <a:chOff x="1806" y="2057"/>
              <a:chExt cx="8" cy="7"/>
            </a:xfrm>
          </p:grpSpPr>
          <p:sp>
            <p:nvSpPr>
              <p:cNvPr id="6197" name="Oval 53" descr="50%"/>
              <p:cNvSpPr>
                <a:spLocks noChangeArrowheads="1"/>
              </p:cNvSpPr>
              <p:nvPr/>
            </p:nvSpPr>
            <p:spPr bwMode="auto">
              <a:xfrm>
                <a:off x="1806" y="2057"/>
                <a:ext cx="6" cy="6"/>
              </a:xfrm>
              <a:prstGeom prst="ellipse">
                <a:avLst/>
              </a:pr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98" name="Arc 54" descr="50%"/>
              <p:cNvSpPr>
                <a:spLocks/>
              </p:cNvSpPr>
              <p:nvPr/>
            </p:nvSpPr>
            <p:spPr bwMode="auto">
              <a:xfrm>
                <a:off x="1807" y="2057"/>
                <a:ext cx="7" cy="7"/>
              </a:xfrm>
              <a:custGeom>
                <a:avLst/>
                <a:gdLst>
                  <a:gd name="T0" fmla="*/ 4 w 43200"/>
                  <a:gd name="T1" fmla="*/ 0 h 42555"/>
                  <a:gd name="T2" fmla="*/ 2 w 43200"/>
                  <a:gd name="T3" fmla="*/ 0 h 42555"/>
                  <a:gd name="T4" fmla="*/ 4 w 43200"/>
                  <a:gd name="T5" fmla="*/ 3 h 4255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2555" fill="none" extrusionOk="0">
                    <a:moveTo>
                      <a:pt x="26839" y="-1"/>
                    </a:moveTo>
                    <a:cubicBezTo>
                      <a:pt x="36454" y="2403"/>
                      <a:pt x="43200" y="11043"/>
                      <a:pt x="43200" y="20955"/>
                    </a:cubicBezTo>
                    <a:cubicBezTo>
                      <a:pt x="43200" y="32884"/>
                      <a:pt x="33529" y="42555"/>
                      <a:pt x="21600" y="42555"/>
                    </a:cubicBezTo>
                    <a:cubicBezTo>
                      <a:pt x="9670" y="42555"/>
                      <a:pt x="0" y="32884"/>
                      <a:pt x="0" y="20955"/>
                    </a:cubicBezTo>
                    <a:cubicBezTo>
                      <a:pt x="-1" y="12773"/>
                      <a:pt x="4622" y="5294"/>
                      <a:pt x="11940" y="1635"/>
                    </a:cubicBezTo>
                  </a:path>
                  <a:path w="43200" h="42555" stroke="0" extrusionOk="0">
                    <a:moveTo>
                      <a:pt x="26839" y="-1"/>
                    </a:moveTo>
                    <a:cubicBezTo>
                      <a:pt x="36454" y="2403"/>
                      <a:pt x="43200" y="11043"/>
                      <a:pt x="43200" y="20955"/>
                    </a:cubicBezTo>
                    <a:cubicBezTo>
                      <a:pt x="43200" y="32884"/>
                      <a:pt x="33529" y="42555"/>
                      <a:pt x="21600" y="42555"/>
                    </a:cubicBezTo>
                    <a:cubicBezTo>
                      <a:pt x="9670" y="42555"/>
                      <a:pt x="0" y="32884"/>
                      <a:pt x="0" y="20955"/>
                    </a:cubicBezTo>
                    <a:cubicBezTo>
                      <a:pt x="-1" y="12773"/>
                      <a:pt x="4622" y="5294"/>
                      <a:pt x="11940" y="1635"/>
                    </a:cubicBezTo>
                    <a:lnTo>
                      <a:pt x="21600" y="20955"/>
                    </a:lnTo>
                    <a:lnTo>
                      <a:pt x="26839" y="-1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172" name="Group 55"/>
            <p:cNvGrpSpPr>
              <a:grpSpLocks/>
            </p:cNvGrpSpPr>
            <p:nvPr/>
          </p:nvGrpSpPr>
          <p:grpSpPr bwMode="auto">
            <a:xfrm>
              <a:off x="1908" y="2075"/>
              <a:ext cx="38" cy="25"/>
              <a:chOff x="1846" y="2074"/>
              <a:chExt cx="38" cy="25"/>
            </a:xfrm>
          </p:grpSpPr>
          <p:sp>
            <p:nvSpPr>
              <p:cNvPr id="6192" name="Arc 56" descr="50%"/>
              <p:cNvSpPr>
                <a:spLocks/>
              </p:cNvSpPr>
              <p:nvPr/>
            </p:nvSpPr>
            <p:spPr bwMode="auto">
              <a:xfrm>
                <a:off x="1855" y="2074"/>
                <a:ext cx="1" cy="25"/>
              </a:xfrm>
              <a:custGeom>
                <a:avLst/>
                <a:gdLst>
                  <a:gd name="T0" fmla="*/ 0 w 41371"/>
                  <a:gd name="T1" fmla="*/ 7 h 43200"/>
                  <a:gd name="T2" fmla="*/ 0 w 41371"/>
                  <a:gd name="T3" fmla="*/ 18 h 43200"/>
                  <a:gd name="T4" fmla="*/ 0 w 41371"/>
                  <a:gd name="T5" fmla="*/ 13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371" h="43200" fill="none" extrusionOk="0">
                    <a:moveTo>
                      <a:pt x="607" y="11635"/>
                    </a:moveTo>
                    <a:cubicBezTo>
                      <a:pt x="4324" y="4485"/>
                      <a:pt x="11712" y="-1"/>
                      <a:pt x="19771" y="0"/>
                    </a:cubicBezTo>
                    <a:cubicBezTo>
                      <a:pt x="31700" y="0"/>
                      <a:pt x="41371" y="9670"/>
                      <a:pt x="41371" y="21600"/>
                    </a:cubicBezTo>
                    <a:cubicBezTo>
                      <a:pt x="41371" y="33529"/>
                      <a:pt x="31700" y="43200"/>
                      <a:pt x="19771" y="43200"/>
                    </a:cubicBezTo>
                    <a:cubicBezTo>
                      <a:pt x="11205" y="43200"/>
                      <a:pt x="3449" y="38138"/>
                      <a:pt x="0" y="30298"/>
                    </a:cubicBezTo>
                  </a:path>
                  <a:path w="41371" h="43200" stroke="0" extrusionOk="0">
                    <a:moveTo>
                      <a:pt x="607" y="11635"/>
                    </a:moveTo>
                    <a:cubicBezTo>
                      <a:pt x="4324" y="4485"/>
                      <a:pt x="11712" y="-1"/>
                      <a:pt x="19771" y="0"/>
                    </a:cubicBezTo>
                    <a:cubicBezTo>
                      <a:pt x="31700" y="0"/>
                      <a:pt x="41371" y="9670"/>
                      <a:pt x="41371" y="21600"/>
                    </a:cubicBezTo>
                    <a:cubicBezTo>
                      <a:pt x="41371" y="33529"/>
                      <a:pt x="31700" y="43200"/>
                      <a:pt x="19771" y="43200"/>
                    </a:cubicBezTo>
                    <a:cubicBezTo>
                      <a:pt x="11205" y="43200"/>
                      <a:pt x="3449" y="38138"/>
                      <a:pt x="0" y="30298"/>
                    </a:cubicBezTo>
                    <a:lnTo>
                      <a:pt x="19771" y="21600"/>
                    </a:lnTo>
                    <a:lnTo>
                      <a:pt x="607" y="11635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93" name="Arc 57" descr="50%"/>
              <p:cNvSpPr>
                <a:spLocks/>
              </p:cNvSpPr>
              <p:nvPr/>
            </p:nvSpPr>
            <p:spPr bwMode="auto">
              <a:xfrm>
                <a:off x="1846" y="2074"/>
                <a:ext cx="1" cy="25"/>
              </a:xfrm>
              <a:custGeom>
                <a:avLst/>
                <a:gdLst>
                  <a:gd name="T0" fmla="*/ 0 w 41371"/>
                  <a:gd name="T1" fmla="*/ 7 h 43200"/>
                  <a:gd name="T2" fmla="*/ 0 w 41371"/>
                  <a:gd name="T3" fmla="*/ 18 h 43200"/>
                  <a:gd name="T4" fmla="*/ 0 w 41371"/>
                  <a:gd name="T5" fmla="*/ 13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371" h="43200" fill="none" extrusionOk="0">
                    <a:moveTo>
                      <a:pt x="607" y="11635"/>
                    </a:moveTo>
                    <a:cubicBezTo>
                      <a:pt x="4324" y="4485"/>
                      <a:pt x="11712" y="-1"/>
                      <a:pt x="19771" y="0"/>
                    </a:cubicBezTo>
                    <a:cubicBezTo>
                      <a:pt x="31700" y="0"/>
                      <a:pt x="41371" y="9670"/>
                      <a:pt x="41371" y="21600"/>
                    </a:cubicBezTo>
                    <a:cubicBezTo>
                      <a:pt x="41371" y="33529"/>
                      <a:pt x="31700" y="43200"/>
                      <a:pt x="19771" y="43200"/>
                    </a:cubicBezTo>
                    <a:cubicBezTo>
                      <a:pt x="11205" y="43200"/>
                      <a:pt x="3449" y="38138"/>
                      <a:pt x="0" y="30298"/>
                    </a:cubicBezTo>
                  </a:path>
                  <a:path w="41371" h="43200" stroke="0" extrusionOk="0">
                    <a:moveTo>
                      <a:pt x="607" y="11635"/>
                    </a:moveTo>
                    <a:cubicBezTo>
                      <a:pt x="4324" y="4485"/>
                      <a:pt x="11712" y="-1"/>
                      <a:pt x="19771" y="0"/>
                    </a:cubicBezTo>
                    <a:cubicBezTo>
                      <a:pt x="31700" y="0"/>
                      <a:pt x="41371" y="9670"/>
                      <a:pt x="41371" y="21600"/>
                    </a:cubicBezTo>
                    <a:cubicBezTo>
                      <a:pt x="41371" y="33529"/>
                      <a:pt x="31700" y="43200"/>
                      <a:pt x="19771" y="43200"/>
                    </a:cubicBezTo>
                    <a:cubicBezTo>
                      <a:pt x="11205" y="43200"/>
                      <a:pt x="3449" y="38138"/>
                      <a:pt x="0" y="30298"/>
                    </a:cubicBezTo>
                    <a:lnTo>
                      <a:pt x="19771" y="21600"/>
                    </a:lnTo>
                    <a:lnTo>
                      <a:pt x="607" y="11635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94" name="Arc 58" descr="50%"/>
              <p:cNvSpPr>
                <a:spLocks/>
              </p:cNvSpPr>
              <p:nvPr/>
            </p:nvSpPr>
            <p:spPr bwMode="auto">
              <a:xfrm>
                <a:off x="1864" y="2074"/>
                <a:ext cx="0" cy="25"/>
              </a:xfrm>
              <a:custGeom>
                <a:avLst/>
                <a:gdLst>
                  <a:gd name="T0" fmla="*/ 1 w 43200"/>
                  <a:gd name="T1" fmla="*/ 13 h 43200"/>
                  <a:gd name="T2" fmla="*/ 1 w 43200"/>
                  <a:gd name="T3" fmla="*/ 13 h 43200"/>
                  <a:gd name="T4" fmla="*/ 1 w 43200"/>
                  <a:gd name="T5" fmla="*/ 13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43200" stroke="0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lnTo>
                      <a:pt x="43200" y="21600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95" name="Arc 59" descr="50%"/>
              <p:cNvSpPr>
                <a:spLocks/>
              </p:cNvSpPr>
              <p:nvPr/>
            </p:nvSpPr>
            <p:spPr bwMode="auto">
              <a:xfrm>
                <a:off x="1874" y="2074"/>
                <a:ext cx="1" cy="25"/>
              </a:xfrm>
              <a:custGeom>
                <a:avLst/>
                <a:gdLst>
                  <a:gd name="T0" fmla="*/ 0 w 41371"/>
                  <a:gd name="T1" fmla="*/ 7 h 43200"/>
                  <a:gd name="T2" fmla="*/ 0 w 41371"/>
                  <a:gd name="T3" fmla="*/ 18 h 43200"/>
                  <a:gd name="T4" fmla="*/ 0 w 41371"/>
                  <a:gd name="T5" fmla="*/ 13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371" h="43200" fill="none" extrusionOk="0">
                    <a:moveTo>
                      <a:pt x="607" y="11635"/>
                    </a:moveTo>
                    <a:cubicBezTo>
                      <a:pt x="4324" y="4485"/>
                      <a:pt x="11712" y="-1"/>
                      <a:pt x="19771" y="0"/>
                    </a:cubicBezTo>
                    <a:cubicBezTo>
                      <a:pt x="31700" y="0"/>
                      <a:pt x="41371" y="9670"/>
                      <a:pt x="41371" y="21600"/>
                    </a:cubicBezTo>
                    <a:cubicBezTo>
                      <a:pt x="41371" y="33529"/>
                      <a:pt x="31700" y="43200"/>
                      <a:pt x="19771" y="43200"/>
                    </a:cubicBezTo>
                    <a:cubicBezTo>
                      <a:pt x="11205" y="43200"/>
                      <a:pt x="3449" y="38138"/>
                      <a:pt x="0" y="30298"/>
                    </a:cubicBezTo>
                  </a:path>
                  <a:path w="41371" h="43200" stroke="0" extrusionOk="0">
                    <a:moveTo>
                      <a:pt x="607" y="11635"/>
                    </a:moveTo>
                    <a:cubicBezTo>
                      <a:pt x="4324" y="4485"/>
                      <a:pt x="11712" y="-1"/>
                      <a:pt x="19771" y="0"/>
                    </a:cubicBezTo>
                    <a:cubicBezTo>
                      <a:pt x="31700" y="0"/>
                      <a:pt x="41371" y="9670"/>
                      <a:pt x="41371" y="21600"/>
                    </a:cubicBezTo>
                    <a:cubicBezTo>
                      <a:pt x="41371" y="33529"/>
                      <a:pt x="31700" y="43200"/>
                      <a:pt x="19771" y="43200"/>
                    </a:cubicBezTo>
                    <a:cubicBezTo>
                      <a:pt x="11205" y="43200"/>
                      <a:pt x="3449" y="38138"/>
                      <a:pt x="0" y="30298"/>
                    </a:cubicBezTo>
                    <a:lnTo>
                      <a:pt x="19771" y="21600"/>
                    </a:lnTo>
                    <a:lnTo>
                      <a:pt x="607" y="11635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96" name="Arc 60" descr="50%"/>
              <p:cNvSpPr>
                <a:spLocks/>
              </p:cNvSpPr>
              <p:nvPr/>
            </p:nvSpPr>
            <p:spPr bwMode="auto">
              <a:xfrm>
                <a:off x="1884" y="2074"/>
                <a:ext cx="0" cy="25"/>
              </a:xfrm>
              <a:custGeom>
                <a:avLst/>
                <a:gdLst>
                  <a:gd name="T0" fmla="*/ 1 w 43200"/>
                  <a:gd name="T1" fmla="*/ 13 h 43200"/>
                  <a:gd name="T2" fmla="*/ 1 w 43200"/>
                  <a:gd name="T3" fmla="*/ 13 h 43200"/>
                  <a:gd name="T4" fmla="*/ 1 w 43200"/>
                  <a:gd name="T5" fmla="*/ 13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43200" stroke="0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lnTo>
                      <a:pt x="43200" y="21600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173" name="Freeform 61" descr="50%"/>
            <p:cNvSpPr>
              <a:spLocks/>
            </p:cNvSpPr>
            <p:nvPr/>
          </p:nvSpPr>
          <p:spPr bwMode="auto">
            <a:xfrm>
              <a:off x="1806" y="1924"/>
              <a:ext cx="699" cy="134"/>
            </a:xfrm>
            <a:custGeom>
              <a:avLst/>
              <a:gdLst>
                <a:gd name="T0" fmla="*/ 15 w 699"/>
                <a:gd name="T1" fmla="*/ 112 h 134"/>
                <a:gd name="T2" fmla="*/ 47 w 699"/>
                <a:gd name="T3" fmla="*/ 102 h 134"/>
                <a:gd name="T4" fmla="*/ 94 w 699"/>
                <a:gd name="T5" fmla="*/ 91 h 134"/>
                <a:gd name="T6" fmla="*/ 140 w 699"/>
                <a:gd name="T7" fmla="*/ 83 h 134"/>
                <a:gd name="T8" fmla="*/ 185 w 699"/>
                <a:gd name="T9" fmla="*/ 75 h 134"/>
                <a:gd name="T10" fmla="*/ 211 w 699"/>
                <a:gd name="T11" fmla="*/ 64 h 134"/>
                <a:gd name="T12" fmla="*/ 233 w 699"/>
                <a:gd name="T13" fmla="*/ 42 h 134"/>
                <a:gd name="T14" fmla="*/ 267 w 699"/>
                <a:gd name="T15" fmla="*/ 12 h 134"/>
                <a:gd name="T16" fmla="*/ 291 w 699"/>
                <a:gd name="T17" fmla="*/ 24 h 134"/>
                <a:gd name="T18" fmla="*/ 300 w 699"/>
                <a:gd name="T19" fmla="*/ 58 h 134"/>
                <a:gd name="T20" fmla="*/ 318 w 699"/>
                <a:gd name="T21" fmla="*/ 73 h 134"/>
                <a:gd name="T22" fmla="*/ 376 w 699"/>
                <a:gd name="T23" fmla="*/ 83 h 134"/>
                <a:gd name="T24" fmla="*/ 419 w 699"/>
                <a:gd name="T25" fmla="*/ 85 h 134"/>
                <a:gd name="T26" fmla="*/ 471 w 699"/>
                <a:gd name="T27" fmla="*/ 83 h 134"/>
                <a:gd name="T28" fmla="*/ 491 w 699"/>
                <a:gd name="T29" fmla="*/ 99 h 134"/>
                <a:gd name="T30" fmla="*/ 532 w 699"/>
                <a:gd name="T31" fmla="*/ 102 h 134"/>
                <a:gd name="T32" fmla="*/ 579 w 699"/>
                <a:gd name="T33" fmla="*/ 80 h 134"/>
                <a:gd name="T34" fmla="*/ 616 w 699"/>
                <a:gd name="T35" fmla="*/ 47 h 134"/>
                <a:gd name="T36" fmla="*/ 645 w 699"/>
                <a:gd name="T37" fmla="*/ 27 h 134"/>
                <a:gd name="T38" fmla="*/ 671 w 699"/>
                <a:gd name="T39" fmla="*/ 16 h 134"/>
                <a:gd name="T40" fmla="*/ 693 w 699"/>
                <a:gd name="T41" fmla="*/ 19 h 134"/>
                <a:gd name="T42" fmla="*/ 675 w 699"/>
                <a:gd name="T43" fmla="*/ 42 h 134"/>
                <a:gd name="T44" fmla="*/ 652 w 699"/>
                <a:gd name="T45" fmla="*/ 62 h 134"/>
                <a:gd name="T46" fmla="*/ 638 w 699"/>
                <a:gd name="T47" fmla="*/ 79 h 134"/>
                <a:gd name="T48" fmla="*/ 628 w 699"/>
                <a:gd name="T49" fmla="*/ 95 h 134"/>
                <a:gd name="T50" fmla="*/ 625 w 699"/>
                <a:gd name="T51" fmla="*/ 111 h 134"/>
                <a:gd name="T52" fmla="*/ 605 w 699"/>
                <a:gd name="T53" fmla="*/ 108 h 134"/>
                <a:gd name="T54" fmla="*/ 587 w 699"/>
                <a:gd name="T55" fmla="*/ 114 h 134"/>
                <a:gd name="T56" fmla="*/ 567 w 699"/>
                <a:gd name="T57" fmla="*/ 111 h 134"/>
                <a:gd name="T58" fmla="*/ 544 w 699"/>
                <a:gd name="T59" fmla="*/ 112 h 134"/>
                <a:gd name="T60" fmla="*/ 520 w 699"/>
                <a:gd name="T61" fmla="*/ 110 h 134"/>
                <a:gd name="T62" fmla="*/ 493 w 699"/>
                <a:gd name="T63" fmla="*/ 112 h 134"/>
                <a:gd name="T64" fmla="*/ 466 w 699"/>
                <a:gd name="T65" fmla="*/ 116 h 134"/>
                <a:gd name="T66" fmla="*/ 439 w 699"/>
                <a:gd name="T67" fmla="*/ 117 h 134"/>
                <a:gd name="T68" fmla="*/ 413 w 699"/>
                <a:gd name="T69" fmla="*/ 117 h 134"/>
                <a:gd name="T70" fmla="*/ 389 w 699"/>
                <a:gd name="T71" fmla="*/ 120 h 134"/>
                <a:gd name="T72" fmla="*/ 363 w 699"/>
                <a:gd name="T73" fmla="*/ 125 h 134"/>
                <a:gd name="T74" fmla="*/ 332 w 699"/>
                <a:gd name="T75" fmla="*/ 125 h 134"/>
                <a:gd name="T76" fmla="*/ 305 w 699"/>
                <a:gd name="T77" fmla="*/ 127 h 134"/>
                <a:gd name="T78" fmla="*/ 279 w 699"/>
                <a:gd name="T79" fmla="*/ 123 h 134"/>
                <a:gd name="T80" fmla="*/ 253 w 699"/>
                <a:gd name="T81" fmla="*/ 125 h 134"/>
                <a:gd name="T82" fmla="*/ 232 w 699"/>
                <a:gd name="T83" fmla="*/ 123 h 134"/>
                <a:gd name="T84" fmla="*/ 207 w 699"/>
                <a:gd name="T85" fmla="*/ 125 h 134"/>
                <a:gd name="T86" fmla="*/ 179 w 699"/>
                <a:gd name="T87" fmla="*/ 127 h 134"/>
                <a:gd name="T88" fmla="*/ 143 w 699"/>
                <a:gd name="T89" fmla="*/ 133 h 134"/>
                <a:gd name="T90" fmla="*/ 102 w 699"/>
                <a:gd name="T91" fmla="*/ 133 h 134"/>
                <a:gd name="T92" fmla="*/ 68 w 699"/>
                <a:gd name="T93" fmla="*/ 127 h 134"/>
                <a:gd name="T94" fmla="*/ 37 w 699"/>
                <a:gd name="T95" fmla="*/ 129 h 134"/>
                <a:gd name="T96" fmla="*/ 7 w 699"/>
                <a:gd name="T97" fmla="*/ 123 h 13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699" h="134">
                  <a:moveTo>
                    <a:pt x="0" y="120"/>
                  </a:moveTo>
                  <a:lnTo>
                    <a:pt x="4" y="117"/>
                  </a:lnTo>
                  <a:lnTo>
                    <a:pt x="9" y="115"/>
                  </a:lnTo>
                  <a:lnTo>
                    <a:pt x="15" y="112"/>
                  </a:lnTo>
                  <a:lnTo>
                    <a:pt x="21" y="110"/>
                  </a:lnTo>
                  <a:lnTo>
                    <a:pt x="29" y="108"/>
                  </a:lnTo>
                  <a:lnTo>
                    <a:pt x="39" y="105"/>
                  </a:lnTo>
                  <a:lnTo>
                    <a:pt x="47" y="102"/>
                  </a:lnTo>
                  <a:lnTo>
                    <a:pt x="58" y="99"/>
                  </a:lnTo>
                  <a:lnTo>
                    <a:pt x="70" y="96"/>
                  </a:lnTo>
                  <a:lnTo>
                    <a:pt x="82" y="93"/>
                  </a:lnTo>
                  <a:lnTo>
                    <a:pt x="94" y="91"/>
                  </a:lnTo>
                  <a:lnTo>
                    <a:pt x="106" y="90"/>
                  </a:lnTo>
                  <a:lnTo>
                    <a:pt x="118" y="88"/>
                  </a:lnTo>
                  <a:lnTo>
                    <a:pt x="129" y="85"/>
                  </a:lnTo>
                  <a:lnTo>
                    <a:pt x="140" y="83"/>
                  </a:lnTo>
                  <a:lnTo>
                    <a:pt x="149" y="81"/>
                  </a:lnTo>
                  <a:lnTo>
                    <a:pt x="163" y="79"/>
                  </a:lnTo>
                  <a:lnTo>
                    <a:pt x="174" y="77"/>
                  </a:lnTo>
                  <a:lnTo>
                    <a:pt x="185" y="75"/>
                  </a:lnTo>
                  <a:lnTo>
                    <a:pt x="193" y="74"/>
                  </a:lnTo>
                  <a:lnTo>
                    <a:pt x="200" y="71"/>
                  </a:lnTo>
                  <a:lnTo>
                    <a:pt x="206" y="67"/>
                  </a:lnTo>
                  <a:lnTo>
                    <a:pt x="211" y="64"/>
                  </a:lnTo>
                  <a:lnTo>
                    <a:pt x="215" y="59"/>
                  </a:lnTo>
                  <a:lnTo>
                    <a:pt x="219" y="55"/>
                  </a:lnTo>
                  <a:lnTo>
                    <a:pt x="226" y="48"/>
                  </a:lnTo>
                  <a:lnTo>
                    <a:pt x="233" y="42"/>
                  </a:lnTo>
                  <a:lnTo>
                    <a:pt x="241" y="34"/>
                  </a:lnTo>
                  <a:lnTo>
                    <a:pt x="249" y="27"/>
                  </a:lnTo>
                  <a:lnTo>
                    <a:pt x="257" y="19"/>
                  </a:lnTo>
                  <a:lnTo>
                    <a:pt x="267" y="12"/>
                  </a:lnTo>
                  <a:lnTo>
                    <a:pt x="276" y="6"/>
                  </a:lnTo>
                  <a:lnTo>
                    <a:pt x="283" y="0"/>
                  </a:lnTo>
                  <a:lnTo>
                    <a:pt x="286" y="11"/>
                  </a:lnTo>
                  <a:lnTo>
                    <a:pt x="291" y="24"/>
                  </a:lnTo>
                  <a:lnTo>
                    <a:pt x="295" y="36"/>
                  </a:lnTo>
                  <a:lnTo>
                    <a:pt x="298" y="47"/>
                  </a:lnTo>
                  <a:lnTo>
                    <a:pt x="300" y="52"/>
                  </a:lnTo>
                  <a:lnTo>
                    <a:pt x="300" y="58"/>
                  </a:lnTo>
                  <a:lnTo>
                    <a:pt x="300" y="63"/>
                  </a:lnTo>
                  <a:lnTo>
                    <a:pt x="295" y="69"/>
                  </a:lnTo>
                  <a:lnTo>
                    <a:pt x="306" y="72"/>
                  </a:lnTo>
                  <a:lnTo>
                    <a:pt x="318" y="73"/>
                  </a:lnTo>
                  <a:lnTo>
                    <a:pt x="332" y="75"/>
                  </a:lnTo>
                  <a:lnTo>
                    <a:pt x="348" y="78"/>
                  </a:lnTo>
                  <a:lnTo>
                    <a:pt x="364" y="81"/>
                  </a:lnTo>
                  <a:lnTo>
                    <a:pt x="376" y="83"/>
                  </a:lnTo>
                  <a:lnTo>
                    <a:pt x="389" y="85"/>
                  </a:lnTo>
                  <a:lnTo>
                    <a:pt x="400" y="86"/>
                  </a:lnTo>
                  <a:lnTo>
                    <a:pt x="410" y="87"/>
                  </a:lnTo>
                  <a:lnTo>
                    <a:pt x="419" y="85"/>
                  </a:lnTo>
                  <a:lnTo>
                    <a:pt x="427" y="81"/>
                  </a:lnTo>
                  <a:lnTo>
                    <a:pt x="434" y="75"/>
                  </a:lnTo>
                  <a:lnTo>
                    <a:pt x="452" y="78"/>
                  </a:lnTo>
                  <a:lnTo>
                    <a:pt x="471" y="83"/>
                  </a:lnTo>
                  <a:lnTo>
                    <a:pt x="484" y="86"/>
                  </a:lnTo>
                  <a:lnTo>
                    <a:pt x="476" y="94"/>
                  </a:lnTo>
                  <a:lnTo>
                    <a:pt x="482" y="96"/>
                  </a:lnTo>
                  <a:lnTo>
                    <a:pt x="491" y="99"/>
                  </a:lnTo>
                  <a:lnTo>
                    <a:pt x="501" y="102"/>
                  </a:lnTo>
                  <a:lnTo>
                    <a:pt x="512" y="103"/>
                  </a:lnTo>
                  <a:lnTo>
                    <a:pt x="522" y="102"/>
                  </a:lnTo>
                  <a:lnTo>
                    <a:pt x="532" y="102"/>
                  </a:lnTo>
                  <a:lnTo>
                    <a:pt x="543" y="99"/>
                  </a:lnTo>
                  <a:lnTo>
                    <a:pt x="555" y="96"/>
                  </a:lnTo>
                  <a:lnTo>
                    <a:pt x="566" y="90"/>
                  </a:lnTo>
                  <a:lnTo>
                    <a:pt x="579" y="80"/>
                  </a:lnTo>
                  <a:lnTo>
                    <a:pt x="589" y="72"/>
                  </a:lnTo>
                  <a:lnTo>
                    <a:pt x="602" y="61"/>
                  </a:lnTo>
                  <a:lnTo>
                    <a:pt x="607" y="56"/>
                  </a:lnTo>
                  <a:lnTo>
                    <a:pt x="616" y="47"/>
                  </a:lnTo>
                  <a:lnTo>
                    <a:pt x="624" y="42"/>
                  </a:lnTo>
                  <a:lnTo>
                    <a:pt x="631" y="36"/>
                  </a:lnTo>
                  <a:lnTo>
                    <a:pt x="639" y="31"/>
                  </a:lnTo>
                  <a:lnTo>
                    <a:pt x="645" y="27"/>
                  </a:lnTo>
                  <a:lnTo>
                    <a:pt x="652" y="24"/>
                  </a:lnTo>
                  <a:lnTo>
                    <a:pt x="658" y="21"/>
                  </a:lnTo>
                  <a:lnTo>
                    <a:pt x="664" y="18"/>
                  </a:lnTo>
                  <a:lnTo>
                    <a:pt x="671" y="16"/>
                  </a:lnTo>
                  <a:lnTo>
                    <a:pt x="677" y="15"/>
                  </a:lnTo>
                  <a:lnTo>
                    <a:pt x="686" y="15"/>
                  </a:lnTo>
                  <a:lnTo>
                    <a:pt x="698" y="15"/>
                  </a:lnTo>
                  <a:lnTo>
                    <a:pt x="693" y="19"/>
                  </a:lnTo>
                  <a:lnTo>
                    <a:pt x="688" y="25"/>
                  </a:lnTo>
                  <a:lnTo>
                    <a:pt x="685" y="29"/>
                  </a:lnTo>
                  <a:lnTo>
                    <a:pt x="680" y="36"/>
                  </a:lnTo>
                  <a:lnTo>
                    <a:pt x="675" y="42"/>
                  </a:lnTo>
                  <a:lnTo>
                    <a:pt x="668" y="48"/>
                  </a:lnTo>
                  <a:lnTo>
                    <a:pt x="659" y="54"/>
                  </a:lnTo>
                  <a:lnTo>
                    <a:pt x="655" y="58"/>
                  </a:lnTo>
                  <a:lnTo>
                    <a:pt x="652" y="62"/>
                  </a:lnTo>
                  <a:lnTo>
                    <a:pt x="647" y="67"/>
                  </a:lnTo>
                  <a:lnTo>
                    <a:pt x="645" y="71"/>
                  </a:lnTo>
                  <a:lnTo>
                    <a:pt x="641" y="75"/>
                  </a:lnTo>
                  <a:lnTo>
                    <a:pt x="638" y="79"/>
                  </a:lnTo>
                  <a:lnTo>
                    <a:pt x="636" y="84"/>
                  </a:lnTo>
                  <a:lnTo>
                    <a:pt x="633" y="88"/>
                  </a:lnTo>
                  <a:lnTo>
                    <a:pt x="630" y="91"/>
                  </a:lnTo>
                  <a:lnTo>
                    <a:pt x="628" y="95"/>
                  </a:lnTo>
                  <a:lnTo>
                    <a:pt x="627" y="99"/>
                  </a:lnTo>
                  <a:lnTo>
                    <a:pt x="626" y="103"/>
                  </a:lnTo>
                  <a:lnTo>
                    <a:pt x="625" y="108"/>
                  </a:lnTo>
                  <a:lnTo>
                    <a:pt x="625" y="111"/>
                  </a:lnTo>
                  <a:lnTo>
                    <a:pt x="621" y="109"/>
                  </a:lnTo>
                  <a:lnTo>
                    <a:pt x="615" y="108"/>
                  </a:lnTo>
                  <a:lnTo>
                    <a:pt x="610" y="108"/>
                  </a:lnTo>
                  <a:lnTo>
                    <a:pt x="605" y="108"/>
                  </a:lnTo>
                  <a:lnTo>
                    <a:pt x="600" y="110"/>
                  </a:lnTo>
                  <a:lnTo>
                    <a:pt x="596" y="111"/>
                  </a:lnTo>
                  <a:lnTo>
                    <a:pt x="592" y="112"/>
                  </a:lnTo>
                  <a:lnTo>
                    <a:pt x="587" y="114"/>
                  </a:lnTo>
                  <a:lnTo>
                    <a:pt x="582" y="114"/>
                  </a:lnTo>
                  <a:lnTo>
                    <a:pt x="576" y="113"/>
                  </a:lnTo>
                  <a:lnTo>
                    <a:pt x="570" y="112"/>
                  </a:lnTo>
                  <a:lnTo>
                    <a:pt x="567" y="111"/>
                  </a:lnTo>
                  <a:lnTo>
                    <a:pt x="562" y="110"/>
                  </a:lnTo>
                  <a:lnTo>
                    <a:pt x="557" y="110"/>
                  </a:lnTo>
                  <a:lnTo>
                    <a:pt x="550" y="111"/>
                  </a:lnTo>
                  <a:lnTo>
                    <a:pt x="544" y="112"/>
                  </a:lnTo>
                  <a:lnTo>
                    <a:pt x="539" y="112"/>
                  </a:lnTo>
                  <a:lnTo>
                    <a:pt x="532" y="112"/>
                  </a:lnTo>
                  <a:lnTo>
                    <a:pt x="526" y="110"/>
                  </a:lnTo>
                  <a:lnTo>
                    <a:pt x="520" y="110"/>
                  </a:lnTo>
                  <a:lnTo>
                    <a:pt x="514" y="112"/>
                  </a:lnTo>
                  <a:lnTo>
                    <a:pt x="506" y="113"/>
                  </a:lnTo>
                  <a:lnTo>
                    <a:pt x="500" y="113"/>
                  </a:lnTo>
                  <a:lnTo>
                    <a:pt x="493" y="112"/>
                  </a:lnTo>
                  <a:lnTo>
                    <a:pt x="487" y="111"/>
                  </a:lnTo>
                  <a:lnTo>
                    <a:pt x="480" y="112"/>
                  </a:lnTo>
                  <a:lnTo>
                    <a:pt x="474" y="115"/>
                  </a:lnTo>
                  <a:lnTo>
                    <a:pt x="466" y="116"/>
                  </a:lnTo>
                  <a:lnTo>
                    <a:pt x="460" y="117"/>
                  </a:lnTo>
                  <a:lnTo>
                    <a:pt x="453" y="118"/>
                  </a:lnTo>
                  <a:lnTo>
                    <a:pt x="447" y="118"/>
                  </a:lnTo>
                  <a:lnTo>
                    <a:pt x="439" y="117"/>
                  </a:lnTo>
                  <a:lnTo>
                    <a:pt x="432" y="115"/>
                  </a:lnTo>
                  <a:lnTo>
                    <a:pt x="424" y="117"/>
                  </a:lnTo>
                  <a:lnTo>
                    <a:pt x="419" y="117"/>
                  </a:lnTo>
                  <a:lnTo>
                    <a:pt x="413" y="117"/>
                  </a:lnTo>
                  <a:lnTo>
                    <a:pt x="407" y="117"/>
                  </a:lnTo>
                  <a:lnTo>
                    <a:pt x="401" y="117"/>
                  </a:lnTo>
                  <a:lnTo>
                    <a:pt x="394" y="118"/>
                  </a:lnTo>
                  <a:lnTo>
                    <a:pt x="389" y="120"/>
                  </a:lnTo>
                  <a:lnTo>
                    <a:pt x="384" y="122"/>
                  </a:lnTo>
                  <a:lnTo>
                    <a:pt x="377" y="124"/>
                  </a:lnTo>
                  <a:lnTo>
                    <a:pt x="371" y="125"/>
                  </a:lnTo>
                  <a:lnTo>
                    <a:pt x="363" y="125"/>
                  </a:lnTo>
                  <a:lnTo>
                    <a:pt x="356" y="126"/>
                  </a:lnTo>
                  <a:lnTo>
                    <a:pt x="347" y="125"/>
                  </a:lnTo>
                  <a:lnTo>
                    <a:pt x="338" y="125"/>
                  </a:lnTo>
                  <a:lnTo>
                    <a:pt x="332" y="125"/>
                  </a:lnTo>
                  <a:lnTo>
                    <a:pt x="324" y="126"/>
                  </a:lnTo>
                  <a:lnTo>
                    <a:pt x="318" y="126"/>
                  </a:lnTo>
                  <a:lnTo>
                    <a:pt x="311" y="127"/>
                  </a:lnTo>
                  <a:lnTo>
                    <a:pt x="305" y="127"/>
                  </a:lnTo>
                  <a:lnTo>
                    <a:pt x="297" y="126"/>
                  </a:lnTo>
                  <a:lnTo>
                    <a:pt x="290" y="125"/>
                  </a:lnTo>
                  <a:lnTo>
                    <a:pt x="285" y="123"/>
                  </a:lnTo>
                  <a:lnTo>
                    <a:pt x="279" y="123"/>
                  </a:lnTo>
                  <a:lnTo>
                    <a:pt x="273" y="123"/>
                  </a:lnTo>
                  <a:lnTo>
                    <a:pt x="267" y="124"/>
                  </a:lnTo>
                  <a:lnTo>
                    <a:pt x="259" y="125"/>
                  </a:lnTo>
                  <a:lnTo>
                    <a:pt x="253" y="125"/>
                  </a:lnTo>
                  <a:lnTo>
                    <a:pt x="248" y="125"/>
                  </a:lnTo>
                  <a:lnTo>
                    <a:pt x="244" y="125"/>
                  </a:lnTo>
                  <a:lnTo>
                    <a:pt x="238" y="123"/>
                  </a:lnTo>
                  <a:lnTo>
                    <a:pt x="232" y="123"/>
                  </a:lnTo>
                  <a:lnTo>
                    <a:pt x="226" y="123"/>
                  </a:lnTo>
                  <a:lnTo>
                    <a:pt x="221" y="124"/>
                  </a:lnTo>
                  <a:lnTo>
                    <a:pt x="215" y="125"/>
                  </a:lnTo>
                  <a:lnTo>
                    <a:pt x="207" y="125"/>
                  </a:lnTo>
                  <a:lnTo>
                    <a:pt x="199" y="125"/>
                  </a:lnTo>
                  <a:lnTo>
                    <a:pt x="193" y="125"/>
                  </a:lnTo>
                  <a:lnTo>
                    <a:pt x="186" y="126"/>
                  </a:lnTo>
                  <a:lnTo>
                    <a:pt x="179" y="127"/>
                  </a:lnTo>
                  <a:lnTo>
                    <a:pt x="172" y="129"/>
                  </a:lnTo>
                  <a:lnTo>
                    <a:pt x="165" y="130"/>
                  </a:lnTo>
                  <a:lnTo>
                    <a:pt x="155" y="132"/>
                  </a:lnTo>
                  <a:lnTo>
                    <a:pt x="143" y="133"/>
                  </a:lnTo>
                  <a:lnTo>
                    <a:pt x="132" y="133"/>
                  </a:lnTo>
                  <a:lnTo>
                    <a:pt x="122" y="132"/>
                  </a:lnTo>
                  <a:lnTo>
                    <a:pt x="109" y="133"/>
                  </a:lnTo>
                  <a:lnTo>
                    <a:pt x="102" y="133"/>
                  </a:lnTo>
                  <a:lnTo>
                    <a:pt x="96" y="132"/>
                  </a:lnTo>
                  <a:lnTo>
                    <a:pt x="89" y="133"/>
                  </a:lnTo>
                  <a:lnTo>
                    <a:pt x="81" y="132"/>
                  </a:lnTo>
                  <a:lnTo>
                    <a:pt x="68" y="127"/>
                  </a:lnTo>
                  <a:lnTo>
                    <a:pt x="60" y="128"/>
                  </a:lnTo>
                  <a:lnTo>
                    <a:pt x="52" y="129"/>
                  </a:lnTo>
                  <a:lnTo>
                    <a:pt x="44" y="129"/>
                  </a:lnTo>
                  <a:lnTo>
                    <a:pt x="37" y="129"/>
                  </a:lnTo>
                  <a:lnTo>
                    <a:pt x="29" y="128"/>
                  </a:lnTo>
                  <a:lnTo>
                    <a:pt x="22" y="127"/>
                  </a:lnTo>
                  <a:lnTo>
                    <a:pt x="14" y="125"/>
                  </a:lnTo>
                  <a:lnTo>
                    <a:pt x="7" y="123"/>
                  </a:lnTo>
                  <a:lnTo>
                    <a:pt x="1" y="122"/>
                  </a:lnTo>
                  <a:lnTo>
                    <a:pt x="0" y="12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74" name="Group 62"/>
            <p:cNvGrpSpPr>
              <a:grpSpLocks/>
            </p:cNvGrpSpPr>
            <p:nvPr/>
          </p:nvGrpSpPr>
          <p:grpSpPr bwMode="auto">
            <a:xfrm>
              <a:off x="1947" y="2092"/>
              <a:ext cx="102" cy="69"/>
              <a:chOff x="1885" y="2091"/>
              <a:chExt cx="102" cy="69"/>
            </a:xfrm>
          </p:grpSpPr>
          <p:sp>
            <p:nvSpPr>
              <p:cNvPr id="6190" name="Freeform 63" descr="50%"/>
              <p:cNvSpPr>
                <a:spLocks/>
              </p:cNvSpPr>
              <p:nvPr/>
            </p:nvSpPr>
            <p:spPr bwMode="auto">
              <a:xfrm>
                <a:off x="1885" y="2096"/>
                <a:ext cx="102" cy="64"/>
              </a:xfrm>
              <a:custGeom>
                <a:avLst/>
                <a:gdLst>
                  <a:gd name="T0" fmla="*/ 95 w 102"/>
                  <a:gd name="T1" fmla="*/ 57 h 64"/>
                  <a:gd name="T2" fmla="*/ 89 w 102"/>
                  <a:gd name="T3" fmla="*/ 51 h 64"/>
                  <a:gd name="T4" fmla="*/ 86 w 102"/>
                  <a:gd name="T5" fmla="*/ 47 h 64"/>
                  <a:gd name="T6" fmla="*/ 83 w 102"/>
                  <a:gd name="T7" fmla="*/ 44 h 64"/>
                  <a:gd name="T8" fmla="*/ 80 w 102"/>
                  <a:gd name="T9" fmla="*/ 41 h 64"/>
                  <a:gd name="T10" fmla="*/ 77 w 102"/>
                  <a:gd name="T11" fmla="*/ 37 h 64"/>
                  <a:gd name="T12" fmla="*/ 75 w 102"/>
                  <a:gd name="T13" fmla="*/ 34 h 64"/>
                  <a:gd name="T14" fmla="*/ 72 w 102"/>
                  <a:gd name="T15" fmla="*/ 30 h 64"/>
                  <a:gd name="T16" fmla="*/ 70 w 102"/>
                  <a:gd name="T17" fmla="*/ 25 h 64"/>
                  <a:gd name="T18" fmla="*/ 68 w 102"/>
                  <a:gd name="T19" fmla="*/ 21 h 64"/>
                  <a:gd name="T20" fmla="*/ 67 w 102"/>
                  <a:gd name="T21" fmla="*/ 16 h 64"/>
                  <a:gd name="T22" fmla="*/ 66 w 102"/>
                  <a:gd name="T23" fmla="*/ 11 h 64"/>
                  <a:gd name="T24" fmla="*/ 66 w 102"/>
                  <a:gd name="T25" fmla="*/ 6 h 64"/>
                  <a:gd name="T26" fmla="*/ 65 w 102"/>
                  <a:gd name="T27" fmla="*/ 0 h 64"/>
                  <a:gd name="T28" fmla="*/ 0 w 102"/>
                  <a:gd name="T29" fmla="*/ 0 h 64"/>
                  <a:gd name="T30" fmla="*/ 2 w 102"/>
                  <a:gd name="T31" fmla="*/ 4 h 64"/>
                  <a:gd name="T32" fmla="*/ 5 w 102"/>
                  <a:gd name="T33" fmla="*/ 9 h 64"/>
                  <a:gd name="T34" fmla="*/ 9 w 102"/>
                  <a:gd name="T35" fmla="*/ 14 h 64"/>
                  <a:gd name="T36" fmla="*/ 12 w 102"/>
                  <a:gd name="T37" fmla="*/ 18 h 64"/>
                  <a:gd name="T38" fmla="*/ 17 w 102"/>
                  <a:gd name="T39" fmla="*/ 23 h 64"/>
                  <a:gd name="T40" fmla="*/ 22 w 102"/>
                  <a:gd name="T41" fmla="*/ 28 h 64"/>
                  <a:gd name="T42" fmla="*/ 27 w 102"/>
                  <a:gd name="T43" fmla="*/ 32 h 64"/>
                  <a:gd name="T44" fmla="*/ 32 w 102"/>
                  <a:gd name="T45" fmla="*/ 36 h 64"/>
                  <a:gd name="T46" fmla="*/ 38 w 102"/>
                  <a:gd name="T47" fmla="*/ 41 h 64"/>
                  <a:gd name="T48" fmla="*/ 45 w 102"/>
                  <a:gd name="T49" fmla="*/ 46 h 64"/>
                  <a:gd name="T50" fmla="*/ 51 w 102"/>
                  <a:gd name="T51" fmla="*/ 49 h 64"/>
                  <a:gd name="T52" fmla="*/ 56 w 102"/>
                  <a:gd name="T53" fmla="*/ 52 h 64"/>
                  <a:gd name="T54" fmla="*/ 61 w 102"/>
                  <a:gd name="T55" fmla="*/ 54 h 64"/>
                  <a:gd name="T56" fmla="*/ 67 w 102"/>
                  <a:gd name="T57" fmla="*/ 57 h 64"/>
                  <a:gd name="T58" fmla="*/ 72 w 102"/>
                  <a:gd name="T59" fmla="*/ 59 h 64"/>
                  <a:gd name="T60" fmla="*/ 79 w 102"/>
                  <a:gd name="T61" fmla="*/ 60 h 64"/>
                  <a:gd name="T62" fmla="*/ 86 w 102"/>
                  <a:gd name="T63" fmla="*/ 61 h 64"/>
                  <a:gd name="T64" fmla="*/ 91 w 102"/>
                  <a:gd name="T65" fmla="*/ 62 h 64"/>
                  <a:gd name="T66" fmla="*/ 97 w 102"/>
                  <a:gd name="T67" fmla="*/ 62 h 64"/>
                  <a:gd name="T68" fmla="*/ 101 w 102"/>
                  <a:gd name="T69" fmla="*/ 63 h 64"/>
                  <a:gd name="T70" fmla="*/ 95 w 102"/>
                  <a:gd name="T71" fmla="*/ 57 h 6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102" h="64">
                    <a:moveTo>
                      <a:pt x="95" y="57"/>
                    </a:moveTo>
                    <a:lnTo>
                      <a:pt x="89" y="51"/>
                    </a:lnTo>
                    <a:lnTo>
                      <a:pt x="86" y="47"/>
                    </a:lnTo>
                    <a:lnTo>
                      <a:pt x="83" y="44"/>
                    </a:lnTo>
                    <a:lnTo>
                      <a:pt x="80" y="41"/>
                    </a:lnTo>
                    <a:lnTo>
                      <a:pt x="77" y="37"/>
                    </a:lnTo>
                    <a:lnTo>
                      <a:pt x="75" y="34"/>
                    </a:lnTo>
                    <a:lnTo>
                      <a:pt x="72" y="30"/>
                    </a:lnTo>
                    <a:lnTo>
                      <a:pt x="70" y="25"/>
                    </a:lnTo>
                    <a:lnTo>
                      <a:pt x="68" y="21"/>
                    </a:lnTo>
                    <a:lnTo>
                      <a:pt x="67" y="16"/>
                    </a:lnTo>
                    <a:lnTo>
                      <a:pt x="66" y="11"/>
                    </a:lnTo>
                    <a:lnTo>
                      <a:pt x="66" y="6"/>
                    </a:lnTo>
                    <a:lnTo>
                      <a:pt x="65" y="0"/>
                    </a:lnTo>
                    <a:lnTo>
                      <a:pt x="0" y="0"/>
                    </a:lnTo>
                    <a:lnTo>
                      <a:pt x="2" y="4"/>
                    </a:lnTo>
                    <a:lnTo>
                      <a:pt x="5" y="9"/>
                    </a:lnTo>
                    <a:lnTo>
                      <a:pt x="9" y="14"/>
                    </a:lnTo>
                    <a:lnTo>
                      <a:pt x="12" y="18"/>
                    </a:lnTo>
                    <a:lnTo>
                      <a:pt x="17" y="23"/>
                    </a:lnTo>
                    <a:lnTo>
                      <a:pt x="22" y="28"/>
                    </a:lnTo>
                    <a:lnTo>
                      <a:pt x="27" y="32"/>
                    </a:lnTo>
                    <a:lnTo>
                      <a:pt x="32" y="36"/>
                    </a:lnTo>
                    <a:lnTo>
                      <a:pt x="38" y="41"/>
                    </a:lnTo>
                    <a:lnTo>
                      <a:pt x="45" y="46"/>
                    </a:lnTo>
                    <a:lnTo>
                      <a:pt x="51" y="49"/>
                    </a:lnTo>
                    <a:lnTo>
                      <a:pt x="56" y="52"/>
                    </a:lnTo>
                    <a:lnTo>
                      <a:pt x="61" y="54"/>
                    </a:lnTo>
                    <a:lnTo>
                      <a:pt x="67" y="57"/>
                    </a:lnTo>
                    <a:lnTo>
                      <a:pt x="72" y="59"/>
                    </a:lnTo>
                    <a:lnTo>
                      <a:pt x="79" y="60"/>
                    </a:lnTo>
                    <a:lnTo>
                      <a:pt x="86" y="61"/>
                    </a:lnTo>
                    <a:lnTo>
                      <a:pt x="91" y="62"/>
                    </a:lnTo>
                    <a:lnTo>
                      <a:pt x="97" y="62"/>
                    </a:lnTo>
                    <a:lnTo>
                      <a:pt x="101" y="63"/>
                    </a:lnTo>
                    <a:lnTo>
                      <a:pt x="95" y="57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91" name="Freeform 64" descr="50%"/>
              <p:cNvSpPr>
                <a:spLocks/>
              </p:cNvSpPr>
              <p:nvPr/>
            </p:nvSpPr>
            <p:spPr bwMode="auto">
              <a:xfrm>
                <a:off x="1887" y="2091"/>
                <a:ext cx="56" cy="5"/>
              </a:xfrm>
              <a:custGeom>
                <a:avLst/>
                <a:gdLst>
                  <a:gd name="T0" fmla="*/ 0 w 56"/>
                  <a:gd name="T1" fmla="*/ 4 h 5"/>
                  <a:gd name="T2" fmla="*/ 0 w 56"/>
                  <a:gd name="T3" fmla="*/ 3 h 5"/>
                  <a:gd name="T4" fmla="*/ 1 w 56"/>
                  <a:gd name="T5" fmla="*/ 0 h 5"/>
                  <a:gd name="T6" fmla="*/ 55 w 56"/>
                  <a:gd name="T7" fmla="*/ 0 h 5"/>
                  <a:gd name="T8" fmla="*/ 55 w 56"/>
                  <a:gd name="T9" fmla="*/ 4 h 5"/>
                  <a:gd name="T10" fmla="*/ 0 w 56"/>
                  <a:gd name="T11" fmla="*/ 4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6" h="5">
                    <a:moveTo>
                      <a:pt x="0" y="4"/>
                    </a:moveTo>
                    <a:lnTo>
                      <a:pt x="0" y="3"/>
                    </a:lnTo>
                    <a:lnTo>
                      <a:pt x="1" y="0"/>
                    </a:lnTo>
                    <a:lnTo>
                      <a:pt x="55" y="0"/>
                    </a:lnTo>
                    <a:lnTo>
                      <a:pt x="55" y="4"/>
                    </a:lnTo>
                    <a:lnTo>
                      <a:pt x="0" y="4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75" name="Freeform 65" descr="50%"/>
            <p:cNvSpPr>
              <a:spLocks/>
            </p:cNvSpPr>
            <p:nvPr/>
          </p:nvSpPr>
          <p:spPr bwMode="auto">
            <a:xfrm>
              <a:off x="1372" y="2067"/>
              <a:ext cx="58" cy="46"/>
            </a:xfrm>
            <a:custGeom>
              <a:avLst/>
              <a:gdLst>
                <a:gd name="T0" fmla="*/ 0 w 58"/>
                <a:gd name="T1" fmla="*/ 0 h 46"/>
                <a:gd name="T2" fmla="*/ 2 w 58"/>
                <a:gd name="T3" fmla="*/ 5 h 46"/>
                <a:gd name="T4" fmla="*/ 5 w 58"/>
                <a:gd name="T5" fmla="*/ 9 h 46"/>
                <a:gd name="T6" fmla="*/ 9 w 58"/>
                <a:gd name="T7" fmla="*/ 14 h 46"/>
                <a:gd name="T8" fmla="*/ 12 w 58"/>
                <a:gd name="T9" fmla="*/ 18 h 46"/>
                <a:gd name="T10" fmla="*/ 16 w 58"/>
                <a:gd name="T11" fmla="*/ 23 h 46"/>
                <a:gd name="T12" fmla="*/ 21 w 58"/>
                <a:gd name="T13" fmla="*/ 28 h 46"/>
                <a:gd name="T14" fmla="*/ 24 w 58"/>
                <a:gd name="T15" fmla="*/ 32 h 46"/>
                <a:gd name="T16" fmla="*/ 28 w 58"/>
                <a:gd name="T17" fmla="*/ 35 h 46"/>
                <a:gd name="T18" fmla="*/ 32 w 58"/>
                <a:gd name="T19" fmla="*/ 38 h 46"/>
                <a:gd name="T20" fmla="*/ 36 w 58"/>
                <a:gd name="T21" fmla="*/ 40 h 46"/>
                <a:gd name="T22" fmla="*/ 41 w 58"/>
                <a:gd name="T23" fmla="*/ 42 h 46"/>
                <a:gd name="T24" fmla="*/ 45 w 58"/>
                <a:gd name="T25" fmla="*/ 44 h 46"/>
                <a:gd name="T26" fmla="*/ 50 w 58"/>
                <a:gd name="T27" fmla="*/ 45 h 46"/>
                <a:gd name="T28" fmla="*/ 54 w 58"/>
                <a:gd name="T29" fmla="*/ 45 h 46"/>
                <a:gd name="T30" fmla="*/ 57 w 58"/>
                <a:gd name="T31" fmla="*/ 44 h 46"/>
                <a:gd name="T32" fmla="*/ 54 w 58"/>
                <a:gd name="T33" fmla="*/ 41 h 46"/>
                <a:gd name="T34" fmla="*/ 51 w 58"/>
                <a:gd name="T35" fmla="*/ 37 h 46"/>
                <a:gd name="T36" fmla="*/ 48 w 58"/>
                <a:gd name="T37" fmla="*/ 33 h 46"/>
                <a:gd name="T38" fmla="*/ 45 w 58"/>
                <a:gd name="T39" fmla="*/ 29 h 46"/>
                <a:gd name="T40" fmla="*/ 42 w 58"/>
                <a:gd name="T41" fmla="*/ 24 h 46"/>
                <a:gd name="T42" fmla="*/ 40 w 58"/>
                <a:gd name="T43" fmla="*/ 20 h 46"/>
                <a:gd name="T44" fmla="*/ 38 w 58"/>
                <a:gd name="T45" fmla="*/ 16 h 46"/>
                <a:gd name="T46" fmla="*/ 37 w 58"/>
                <a:gd name="T47" fmla="*/ 10 h 46"/>
                <a:gd name="T48" fmla="*/ 37 w 58"/>
                <a:gd name="T49" fmla="*/ 5 h 46"/>
                <a:gd name="T50" fmla="*/ 37 w 58"/>
                <a:gd name="T51" fmla="*/ 1 h 46"/>
                <a:gd name="T52" fmla="*/ 0 w 58"/>
                <a:gd name="T53" fmla="*/ 0 h 4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58" h="46">
                  <a:moveTo>
                    <a:pt x="0" y="0"/>
                  </a:moveTo>
                  <a:lnTo>
                    <a:pt x="2" y="5"/>
                  </a:lnTo>
                  <a:lnTo>
                    <a:pt x="5" y="9"/>
                  </a:lnTo>
                  <a:lnTo>
                    <a:pt x="9" y="14"/>
                  </a:lnTo>
                  <a:lnTo>
                    <a:pt x="12" y="18"/>
                  </a:lnTo>
                  <a:lnTo>
                    <a:pt x="16" y="23"/>
                  </a:lnTo>
                  <a:lnTo>
                    <a:pt x="21" y="28"/>
                  </a:lnTo>
                  <a:lnTo>
                    <a:pt x="24" y="32"/>
                  </a:lnTo>
                  <a:lnTo>
                    <a:pt x="28" y="35"/>
                  </a:lnTo>
                  <a:lnTo>
                    <a:pt x="32" y="38"/>
                  </a:lnTo>
                  <a:lnTo>
                    <a:pt x="36" y="40"/>
                  </a:lnTo>
                  <a:lnTo>
                    <a:pt x="41" y="42"/>
                  </a:lnTo>
                  <a:lnTo>
                    <a:pt x="45" y="44"/>
                  </a:lnTo>
                  <a:lnTo>
                    <a:pt x="50" y="45"/>
                  </a:lnTo>
                  <a:lnTo>
                    <a:pt x="54" y="45"/>
                  </a:lnTo>
                  <a:lnTo>
                    <a:pt x="57" y="44"/>
                  </a:lnTo>
                  <a:lnTo>
                    <a:pt x="54" y="41"/>
                  </a:lnTo>
                  <a:lnTo>
                    <a:pt x="51" y="37"/>
                  </a:lnTo>
                  <a:lnTo>
                    <a:pt x="48" y="33"/>
                  </a:lnTo>
                  <a:lnTo>
                    <a:pt x="45" y="29"/>
                  </a:lnTo>
                  <a:lnTo>
                    <a:pt x="42" y="24"/>
                  </a:lnTo>
                  <a:lnTo>
                    <a:pt x="40" y="20"/>
                  </a:lnTo>
                  <a:lnTo>
                    <a:pt x="38" y="16"/>
                  </a:lnTo>
                  <a:lnTo>
                    <a:pt x="37" y="10"/>
                  </a:lnTo>
                  <a:lnTo>
                    <a:pt x="37" y="5"/>
                  </a:lnTo>
                  <a:lnTo>
                    <a:pt x="37" y="1"/>
                  </a:lnTo>
                  <a:lnTo>
                    <a:pt x="0" y="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6" name="Freeform 66" descr="50%"/>
            <p:cNvSpPr>
              <a:spLocks/>
            </p:cNvSpPr>
            <p:nvPr/>
          </p:nvSpPr>
          <p:spPr bwMode="auto">
            <a:xfrm>
              <a:off x="1251" y="1959"/>
              <a:ext cx="481" cy="145"/>
            </a:xfrm>
            <a:custGeom>
              <a:avLst/>
              <a:gdLst>
                <a:gd name="T0" fmla="*/ 5 w 481"/>
                <a:gd name="T1" fmla="*/ 85 h 145"/>
                <a:gd name="T2" fmla="*/ 20 w 481"/>
                <a:gd name="T3" fmla="*/ 80 h 145"/>
                <a:gd name="T4" fmla="*/ 42 w 481"/>
                <a:gd name="T5" fmla="*/ 73 h 145"/>
                <a:gd name="T6" fmla="*/ 65 w 481"/>
                <a:gd name="T7" fmla="*/ 68 h 145"/>
                <a:gd name="T8" fmla="*/ 89 w 481"/>
                <a:gd name="T9" fmla="*/ 63 h 145"/>
                <a:gd name="T10" fmla="*/ 112 w 481"/>
                <a:gd name="T11" fmla="*/ 58 h 145"/>
                <a:gd name="T12" fmla="*/ 132 w 481"/>
                <a:gd name="T13" fmla="*/ 54 h 145"/>
                <a:gd name="T14" fmla="*/ 143 w 481"/>
                <a:gd name="T15" fmla="*/ 48 h 145"/>
                <a:gd name="T16" fmla="*/ 155 w 481"/>
                <a:gd name="T17" fmla="*/ 37 h 145"/>
                <a:gd name="T18" fmla="*/ 171 w 481"/>
                <a:gd name="T19" fmla="*/ 20 h 145"/>
                <a:gd name="T20" fmla="*/ 188 w 481"/>
                <a:gd name="T21" fmla="*/ 5 h 145"/>
                <a:gd name="T22" fmla="*/ 200 w 481"/>
                <a:gd name="T23" fmla="*/ 17 h 145"/>
                <a:gd name="T24" fmla="*/ 207 w 481"/>
                <a:gd name="T25" fmla="*/ 43 h 145"/>
                <a:gd name="T26" fmla="*/ 211 w 481"/>
                <a:gd name="T27" fmla="*/ 53 h 145"/>
                <a:gd name="T28" fmla="*/ 239 w 481"/>
                <a:gd name="T29" fmla="*/ 57 h 145"/>
                <a:gd name="T30" fmla="*/ 267 w 481"/>
                <a:gd name="T31" fmla="*/ 63 h 145"/>
                <a:gd name="T32" fmla="*/ 288 w 481"/>
                <a:gd name="T33" fmla="*/ 63 h 145"/>
                <a:gd name="T34" fmla="*/ 310 w 481"/>
                <a:gd name="T35" fmla="*/ 58 h 145"/>
                <a:gd name="T36" fmla="*/ 327 w 481"/>
                <a:gd name="T37" fmla="*/ 70 h 145"/>
                <a:gd name="T38" fmla="*/ 344 w 481"/>
                <a:gd name="T39" fmla="*/ 75 h 145"/>
                <a:gd name="T40" fmla="*/ 365 w 481"/>
                <a:gd name="T41" fmla="*/ 75 h 145"/>
                <a:gd name="T42" fmla="*/ 388 w 481"/>
                <a:gd name="T43" fmla="*/ 66 h 145"/>
                <a:gd name="T44" fmla="*/ 413 w 481"/>
                <a:gd name="T45" fmla="*/ 45 h 145"/>
                <a:gd name="T46" fmla="*/ 442 w 481"/>
                <a:gd name="T47" fmla="*/ 20 h 145"/>
                <a:gd name="T48" fmla="*/ 471 w 481"/>
                <a:gd name="T49" fmla="*/ 11 h 145"/>
                <a:gd name="T50" fmla="*/ 472 w 481"/>
                <a:gd name="T51" fmla="*/ 19 h 145"/>
                <a:gd name="T52" fmla="*/ 458 w 481"/>
                <a:gd name="T53" fmla="*/ 37 h 145"/>
                <a:gd name="T54" fmla="*/ 442 w 481"/>
                <a:gd name="T55" fmla="*/ 54 h 145"/>
                <a:gd name="T56" fmla="*/ 431 w 481"/>
                <a:gd name="T57" fmla="*/ 71 h 145"/>
                <a:gd name="T58" fmla="*/ 431 w 481"/>
                <a:gd name="T59" fmla="*/ 89 h 145"/>
                <a:gd name="T60" fmla="*/ 443 w 481"/>
                <a:gd name="T61" fmla="*/ 108 h 145"/>
                <a:gd name="T62" fmla="*/ 457 w 481"/>
                <a:gd name="T63" fmla="*/ 122 h 145"/>
                <a:gd name="T64" fmla="*/ 470 w 481"/>
                <a:gd name="T65" fmla="*/ 133 h 145"/>
                <a:gd name="T66" fmla="*/ 471 w 481"/>
                <a:gd name="T67" fmla="*/ 138 h 145"/>
                <a:gd name="T68" fmla="*/ 453 w 481"/>
                <a:gd name="T69" fmla="*/ 138 h 145"/>
                <a:gd name="T70" fmla="*/ 437 w 481"/>
                <a:gd name="T71" fmla="*/ 134 h 145"/>
                <a:gd name="T72" fmla="*/ 421 w 481"/>
                <a:gd name="T73" fmla="*/ 126 h 145"/>
                <a:gd name="T74" fmla="*/ 396 w 481"/>
                <a:gd name="T75" fmla="*/ 109 h 145"/>
                <a:gd name="T76" fmla="*/ 365 w 481"/>
                <a:gd name="T77" fmla="*/ 107 h 145"/>
                <a:gd name="T78" fmla="*/ 328 w 481"/>
                <a:gd name="T79" fmla="*/ 111 h 145"/>
                <a:gd name="T80" fmla="*/ 304 w 481"/>
                <a:gd name="T81" fmla="*/ 121 h 145"/>
                <a:gd name="T82" fmla="*/ 296 w 481"/>
                <a:gd name="T83" fmla="*/ 132 h 145"/>
                <a:gd name="T84" fmla="*/ 263 w 481"/>
                <a:gd name="T85" fmla="*/ 131 h 145"/>
                <a:gd name="T86" fmla="*/ 235 w 481"/>
                <a:gd name="T87" fmla="*/ 140 h 145"/>
                <a:gd name="T88" fmla="*/ 130 w 481"/>
                <a:gd name="T89" fmla="*/ 144 h 145"/>
                <a:gd name="T90" fmla="*/ 70 w 481"/>
                <a:gd name="T91" fmla="*/ 138 h 145"/>
                <a:gd name="T92" fmla="*/ 17 w 481"/>
                <a:gd name="T93" fmla="*/ 120 h 145"/>
                <a:gd name="T94" fmla="*/ 17 w 481"/>
                <a:gd name="T95" fmla="*/ 110 h 145"/>
                <a:gd name="T96" fmla="*/ 5 w 481"/>
                <a:gd name="T97" fmla="*/ 99 h 145"/>
                <a:gd name="T98" fmla="*/ 1 w 481"/>
                <a:gd name="T99" fmla="*/ 92 h 14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481" h="145">
                  <a:moveTo>
                    <a:pt x="0" y="89"/>
                  </a:moveTo>
                  <a:lnTo>
                    <a:pt x="2" y="88"/>
                  </a:lnTo>
                  <a:lnTo>
                    <a:pt x="5" y="85"/>
                  </a:lnTo>
                  <a:lnTo>
                    <a:pt x="11" y="83"/>
                  </a:lnTo>
                  <a:lnTo>
                    <a:pt x="15" y="82"/>
                  </a:lnTo>
                  <a:lnTo>
                    <a:pt x="20" y="80"/>
                  </a:lnTo>
                  <a:lnTo>
                    <a:pt x="27" y="77"/>
                  </a:lnTo>
                  <a:lnTo>
                    <a:pt x="35" y="75"/>
                  </a:lnTo>
                  <a:lnTo>
                    <a:pt x="42" y="73"/>
                  </a:lnTo>
                  <a:lnTo>
                    <a:pt x="49" y="71"/>
                  </a:lnTo>
                  <a:lnTo>
                    <a:pt x="57" y="69"/>
                  </a:lnTo>
                  <a:lnTo>
                    <a:pt x="65" y="68"/>
                  </a:lnTo>
                  <a:lnTo>
                    <a:pt x="74" y="66"/>
                  </a:lnTo>
                  <a:lnTo>
                    <a:pt x="81" y="64"/>
                  </a:lnTo>
                  <a:lnTo>
                    <a:pt x="89" y="63"/>
                  </a:lnTo>
                  <a:lnTo>
                    <a:pt x="95" y="62"/>
                  </a:lnTo>
                  <a:lnTo>
                    <a:pt x="105" y="60"/>
                  </a:lnTo>
                  <a:lnTo>
                    <a:pt x="112" y="58"/>
                  </a:lnTo>
                  <a:lnTo>
                    <a:pt x="120" y="57"/>
                  </a:lnTo>
                  <a:lnTo>
                    <a:pt x="126" y="56"/>
                  </a:lnTo>
                  <a:lnTo>
                    <a:pt x="132" y="54"/>
                  </a:lnTo>
                  <a:lnTo>
                    <a:pt x="137" y="52"/>
                  </a:lnTo>
                  <a:lnTo>
                    <a:pt x="140" y="51"/>
                  </a:lnTo>
                  <a:lnTo>
                    <a:pt x="143" y="48"/>
                  </a:lnTo>
                  <a:lnTo>
                    <a:pt x="147" y="45"/>
                  </a:lnTo>
                  <a:lnTo>
                    <a:pt x="150" y="41"/>
                  </a:lnTo>
                  <a:lnTo>
                    <a:pt x="155" y="37"/>
                  </a:lnTo>
                  <a:lnTo>
                    <a:pt x="160" y="31"/>
                  </a:lnTo>
                  <a:lnTo>
                    <a:pt x="165" y="25"/>
                  </a:lnTo>
                  <a:lnTo>
                    <a:pt x="171" y="20"/>
                  </a:lnTo>
                  <a:lnTo>
                    <a:pt x="176" y="14"/>
                  </a:lnTo>
                  <a:lnTo>
                    <a:pt x="182" y="10"/>
                  </a:lnTo>
                  <a:lnTo>
                    <a:pt x="188" y="5"/>
                  </a:lnTo>
                  <a:lnTo>
                    <a:pt x="195" y="0"/>
                  </a:lnTo>
                  <a:lnTo>
                    <a:pt x="197" y="9"/>
                  </a:lnTo>
                  <a:lnTo>
                    <a:pt x="200" y="17"/>
                  </a:lnTo>
                  <a:lnTo>
                    <a:pt x="203" y="26"/>
                  </a:lnTo>
                  <a:lnTo>
                    <a:pt x="205" y="35"/>
                  </a:lnTo>
                  <a:lnTo>
                    <a:pt x="207" y="43"/>
                  </a:lnTo>
                  <a:lnTo>
                    <a:pt x="206" y="47"/>
                  </a:lnTo>
                  <a:lnTo>
                    <a:pt x="203" y="51"/>
                  </a:lnTo>
                  <a:lnTo>
                    <a:pt x="211" y="53"/>
                  </a:lnTo>
                  <a:lnTo>
                    <a:pt x="218" y="54"/>
                  </a:lnTo>
                  <a:lnTo>
                    <a:pt x="228" y="56"/>
                  </a:lnTo>
                  <a:lnTo>
                    <a:pt x="239" y="57"/>
                  </a:lnTo>
                  <a:lnTo>
                    <a:pt x="249" y="60"/>
                  </a:lnTo>
                  <a:lnTo>
                    <a:pt x="258" y="61"/>
                  </a:lnTo>
                  <a:lnTo>
                    <a:pt x="267" y="63"/>
                  </a:lnTo>
                  <a:lnTo>
                    <a:pt x="275" y="64"/>
                  </a:lnTo>
                  <a:lnTo>
                    <a:pt x="282" y="64"/>
                  </a:lnTo>
                  <a:lnTo>
                    <a:pt x="288" y="63"/>
                  </a:lnTo>
                  <a:lnTo>
                    <a:pt x="293" y="60"/>
                  </a:lnTo>
                  <a:lnTo>
                    <a:pt x="298" y="56"/>
                  </a:lnTo>
                  <a:lnTo>
                    <a:pt x="310" y="58"/>
                  </a:lnTo>
                  <a:lnTo>
                    <a:pt x="323" y="61"/>
                  </a:lnTo>
                  <a:lnTo>
                    <a:pt x="334" y="63"/>
                  </a:lnTo>
                  <a:lnTo>
                    <a:pt x="327" y="70"/>
                  </a:lnTo>
                  <a:lnTo>
                    <a:pt x="331" y="72"/>
                  </a:lnTo>
                  <a:lnTo>
                    <a:pt x="337" y="74"/>
                  </a:lnTo>
                  <a:lnTo>
                    <a:pt x="344" y="75"/>
                  </a:lnTo>
                  <a:lnTo>
                    <a:pt x="351" y="76"/>
                  </a:lnTo>
                  <a:lnTo>
                    <a:pt x="358" y="76"/>
                  </a:lnTo>
                  <a:lnTo>
                    <a:pt x="365" y="75"/>
                  </a:lnTo>
                  <a:lnTo>
                    <a:pt x="373" y="73"/>
                  </a:lnTo>
                  <a:lnTo>
                    <a:pt x="381" y="71"/>
                  </a:lnTo>
                  <a:lnTo>
                    <a:pt x="388" y="66"/>
                  </a:lnTo>
                  <a:lnTo>
                    <a:pt x="397" y="60"/>
                  </a:lnTo>
                  <a:lnTo>
                    <a:pt x="404" y="54"/>
                  </a:lnTo>
                  <a:lnTo>
                    <a:pt x="413" y="45"/>
                  </a:lnTo>
                  <a:lnTo>
                    <a:pt x="422" y="35"/>
                  </a:lnTo>
                  <a:lnTo>
                    <a:pt x="433" y="27"/>
                  </a:lnTo>
                  <a:lnTo>
                    <a:pt x="442" y="20"/>
                  </a:lnTo>
                  <a:lnTo>
                    <a:pt x="451" y="15"/>
                  </a:lnTo>
                  <a:lnTo>
                    <a:pt x="460" y="12"/>
                  </a:lnTo>
                  <a:lnTo>
                    <a:pt x="471" y="11"/>
                  </a:lnTo>
                  <a:lnTo>
                    <a:pt x="480" y="11"/>
                  </a:lnTo>
                  <a:lnTo>
                    <a:pt x="475" y="15"/>
                  </a:lnTo>
                  <a:lnTo>
                    <a:pt x="472" y="19"/>
                  </a:lnTo>
                  <a:lnTo>
                    <a:pt x="470" y="22"/>
                  </a:lnTo>
                  <a:lnTo>
                    <a:pt x="463" y="32"/>
                  </a:lnTo>
                  <a:lnTo>
                    <a:pt x="458" y="37"/>
                  </a:lnTo>
                  <a:lnTo>
                    <a:pt x="452" y="42"/>
                  </a:lnTo>
                  <a:lnTo>
                    <a:pt x="446" y="48"/>
                  </a:lnTo>
                  <a:lnTo>
                    <a:pt x="442" y="54"/>
                  </a:lnTo>
                  <a:lnTo>
                    <a:pt x="438" y="60"/>
                  </a:lnTo>
                  <a:lnTo>
                    <a:pt x="434" y="66"/>
                  </a:lnTo>
                  <a:lnTo>
                    <a:pt x="431" y="71"/>
                  </a:lnTo>
                  <a:lnTo>
                    <a:pt x="430" y="77"/>
                  </a:lnTo>
                  <a:lnTo>
                    <a:pt x="429" y="83"/>
                  </a:lnTo>
                  <a:lnTo>
                    <a:pt x="431" y="89"/>
                  </a:lnTo>
                  <a:lnTo>
                    <a:pt x="434" y="96"/>
                  </a:lnTo>
                  <a:lnTo>
                    <a:pt x="438" y="102"/>
                  </a:lnTo>
                  <a:lnTo>
                    <a:pt x="443" y="108"/>
                  </a:lnTo>
                  <a:lnTo>
                    <a:pt x="447" y="112"/>
                  </a:lnTo>
                  <a:lnTo>
                    <a:pt x="452" y="116"/>
                  </a:lnTo>
                  <a:lnTo>
                    <a:pt x="457" y="122"/>
                  </a:lnTo>
                  <a:lnTo>
                    <a:pt x="463" y="127"/>
                  </a:lnTo>
                  <a:lnTo>
                    <a:pt x="467" y="130"/>
                  </a:lnTo>
                  <a:lnTo>
                    <a:pt x="470" y="133"/>
                  </a:lnTo>
                  <a:lnTo>
                    <a:pt x="474" y="135"/>
                  </a:lnTo>
                  <a:lnTo>
                    <a:pt x="476" y="138"/>
                  </a:lnTo>
                  <a:lnTo>
                    <a:pt x="471" y="138"/>
                  </a:lnTo>
                  <a:lnTo>
                    <a:pt x="464" y="138"/>
                  </a:lnTo>
                  <a:lnTo>
                    <a:pt x="458" y="138"/>
                  </a:lnTo>
                  <a:lnTo>
                    <a:pt x="453" y="138"/>
                  </a:lnTo>
                  <a:lnTo>
                    <a:pt x="446" y="137"/>
                  </a:lnTo>
                  <a:lnTo>
                    <a:pt x="441" y="135"/>
                  </a:lnTo>
                  <a:lnTo>
                    <a:pt x="437" y="134"/>
                  </a:lnTo>
                  <a:lnTo>
                    <a:pt x="432" y="131"/>
                  </a:lnTo>
                  <a:lnTo>
                    <a:pt x="426" y="129"/>
                  </a:lnTo>
                  <a:lnTo>
                    <a:pt x="421" y="126"/>
                  </a:lnTo>
                  <a:lnTo>
                    <a:pt x="412" y="119"/>
                  </a:lnTo>
                  <a:lnTo>
                    <a:pt x="405" y="115"/>
                  </a:lnTo>
                  <a:lnTo>
                    <a:pt x="396" y="109"/>
                  </a:lnTo>
                  <a:lnTo>
                    <a:pt x="387" y="108"/>
                  </a:lnTo>
                  <a:lnTo>
                    <a:pt x="378" y="108"/>
                  </a:lnTo>
                  <a:lnTo>
                    <a:pt x="365" y="107"/>
                  </a:lnTo>
                  <a:lnTo>
                    <a:pt x="354" y="108"/>
                  </a:lnTo>
                  <a:lnTo>
                    <a:pt x="341" y="109"/>
                  </a:lnTo>
                  <a:lnTo>
                    <a:pt x="328" y="111"/>
                  </a:lnTo>
                  <a:lnTo>
                    <a:pt x="314" y="115"/>
                  </a:lnTo>
                  <a:lnTo>
                    <a:pt x="306" y="118"/>
                  </a:lnTo>
                  <a:lnTo>
                    <a:pt x="304" y="121"/>
                  </a:lnTo>
                  <a:lnTo>
                    <a:pt x="306" y="124"/>
                  </a:lnTo>
                  <a:lnTo>
                    <a:pt x="312" y="128"/>
                  </a:lnTo>
                  <a:lnTo>
                    <a:pt x="296" y="132"/>
                  </a:lnTo>
                  <a:lnTo>
                    <a:pt x="274" y="138"/>
                  </a:lnTo>
                  <a:lnTo>
                    <a:pt x="269" y="134"/>
                  </a:lnTo>
                  <a:lnTo>
                    <a:pt x="263" y="131"/>
                  </a:lnTo>
                  <a:lnTo>
                    <a:pt x="257" y="129"/>
                  </a:lnTo>
                  <a:lnTo>
                    <a:pt x="247" y="129"/>
                  </a:lnTo>
                  <a:lnTo>
                    <a:pt x="235" y="140"/>
                  </a:lnTo>
                  <a:lnTo>
                    <a:pt x="224" y="132"/>
                  </a:lnTo>
                  <a:lnTo>
                    <a:pt x="145" y="143"/>
                  </a:lnTo>
                  <a:lnTo>
                    <a:pt x="130" y="144"/>
                  </a:lnTo>
                  <a:lnTo>
                    <a:pt x="115" y="143"/>
                  </a:lnTo>
                  <a:lnTo>
                    <a:pt x="100" y="141"/>
                  </a:lnTo>
                  <a:lnTo>
                    <a:pt x="70" y="138"/>
                  </a:lnTo>
                  <a:lnTo>
                    <a:pt x="42" y="130"/>
                  </a:lnTo>
                  <a:lnTo>
                    <a:pt x="27" y="125"/>
                  </a:lnTo>
                  <a:lnTo>
                    <a:pt x="17" y="120"/>
                  </a:lnTo>
                  <a:lnTo>
                    <a:pt x="28" y="117"/>
                  </a:lnTo>
                  <a:lnTo>
                    <a:pt x="21" y="113"/>
                  </a:lnTo>
                  <a:lnTo>
                    <a:pt x="17" y="110"/>
                  </a:lnTo>
                  <a:lnTo>
                    <a:pt x="9" y="104"/>
                  </a:lnTo>
                  <a:lnTo>
                    <a:pt x="8" y="102"/>
                  </a:lnTo>
                  <a:lnTo>
                    <a:pt x="5" y="99"/>
                  </a:lnTo>
                  <a:lnTo>
                    <a:pt x="4" y="97"/>
                  </a:lnTo>
                  <a:lnTo>
                    <a:pt x="2" y="94"/>
                  </a:lnTo>
                  <a:lnTo>
                    <a:pt x="1" y="92"/>
                  </a:lnTo>
                  <a:lnTo>
                    <a:pt x="0" y="89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77" name="Group 67"/>
            <p:cNvGrpSpPr>
              <a:grpSpLocks/>
            </p:cNvGrpSpPr>
            <p:nvPr/>
          </p:nvGrpSpPr>
          <p:grpSpPr bwMode="auto">
            <a:xfrm>
              <a:off x="1291" y="2051"/>
              <a:ext cx="7" cy="7"/>
              <a:chOff x="1229" y="2050"/>
              <a:chExt cx="7" cy="7"/>
            </a:xfrm>
          </p:grpSpPr>
          <p:sp>
            <p:nvSpPr>
              <p:cNvPr id="6188" name="Oval 68" descr="50%"/>
              <p:cNvSpPr>
                <a:spLocks noChangeArrowheads="1"/>
              </p:cNvSpPr>
              <p:nvPr/>
            </p:nvSpPr>
            <p:spPr bwMode="auto">
              <a:xfrm>
                <a:off x="1229" y="2050"/>
                <a:ext cx="7" cy="7"/>
              </a:xfrm>
              <a:prstGeom prst="ellipse">
                <a:avLst/>
              </a:pr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89" name="Arc 69" descr="50%"/>
              <p:cNvSpPr>
                <a:spLocks/>
              </p:cNvSpPr>
              <p:nvPr/>
            </p:nvSpPr>
            <p:spPr bwMode="auto">
              <a:xfrm>
                <a:off x="1233" y="2053"/>
                <a:ext cx="2" cy="2"/>
              </a:xfrm>
              <a:custGeom>
                <a:avLst/>
                <a:gdLst>
                  <a:gd name="T0" fmla="*/ 1 w 43200"/>
                  <a:gd name="T1" fmla="*/ 0 h 43200"/>
                  <a:gd name="T2" fmla="*/ 0 w 43200"/>
                  <a:gd name="T3" fmla="*/ 0 h 43200"/>
                  <a:gd name="T4" fmla="*/ 1 w 43200"/>
                  <a:gd name="T5" fmla="*/ 1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5871"/>
                      <a:pt x="2275" y="10377"/>
                      <a:pt x="6326" y="6326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5871"/>
                      <a:pt x="2275" y="10377"/>
                      <a:pt x="6326" y="6326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178" name="Group 70"/>
            <p:cNvGrpSpPr>
              <a:grpSpLocks/>
            </p:cNvGrpSpPr>
            <p:nvPr/>
          </p:nvGrpSpPr>
          <p:grpSpPr bwMode="auto">
            <a:xfrm>
              <a:off x="1318" y="2067"/>
              <a:ext cx="30" cy="13"/>
              <a:chOff x="1256" y="2066"/>
              <a:chExt cx="30" cy="13"/>
            </a:xfrm>
          </p:grpSpPr>
          <p:sp>
            <p:nvSpPr>
              <p:cNvPr id="6183" name="Arc 71" descr="50%"/>
              <p:cNvSpPr>
                <a:spLocks/>
              </p:cNvSpPr>
              <p:nvPr/>
            </p:nvSpPr>
            <p:spPr bwMode="auto">
              <a:xfrm>
                <a:off x="1264" y="2066"/>
                <a:ext cx="2" cy="13"/>
              </a:xfrm>
              <a:custGeom>
                <a:avLst/>
                <a:gdLst>
                  <a:gd name="T0" fmla="*/ 0 w 35746"/>
                  <a:gd name="T1" fmla="*/ 1 h 43200"/>
                  <a:gd name="T2" fmla="*/ 0 w 35746"/>
                  <a:gd name="T3" fmla="*/ 11 h 43200"/>
                  <a:gd name="T4" fmla="*/ 1 w 35746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746" h="43200" fill="none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</a:path>
                  <a:path w="35746" h="43200" stroke="0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  <a:lnTo>
                      <a:pt x="14146" y="21600"/>
                    </a:lnTo>
                    <a:lnTo>
                      <a:pt x="2777" y="323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84" name="Arc 72" descr="50%"/>
              <p:cNvSpPr>
                <a:spLocks/>
              </p:cNvSpPr>
              <p:nvPr/>
            </p:nvSpPr>
            <p:spPr bwMode="auto">
              <a:xfrm>
                <a:off x="1256" y="2066"/>
                <a:ext cx="3" cy="13"/>
              </a:xfrm>
              <a:custGeom>
                <a:avLst/>
                <a:gdLst>
                  <a:gd name="T0" fmla="*/ 0 w 33372"/>
                  <a:gd name="T1" fmla="*/ 1 h 43200"/>
                  <a:gd name="T2" fmla="*/ 0 w 33372"/>
                  <a:gd name="T3" fmla="*/ 12 h 43200"/>
                  <a:gd name="T4" fmla="*/ 1 w 33372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372" h="43200" fill="none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</a:path>
                  <a:path w="33372" h="43200" stroke="0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  <a:lnTo>
                      <a:pt x="11772" y="21600"/>
                    </a:lnTo>
                    <a:lnTo>
                      <a:pt x="2675" y="200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85" name="Arc 73" descr="50%"/>
              <p:cNvSpPr>
                <a:spLocks/>
              </p:cNvSpPr>
              <p:nvPr/>
            </p:nvSpPr>
            <p:spPr bwMode="auto">
              <a:xfrm>
                <a:off x="1269" y="2066"/>
                <a:ext cx="3" cy="13"/>
              </a:xfrm>
              <a:custGeom>
                <a:avLst/>
                <a:gdLst>
                  <a:gd name="T0" fmla="*/ 0 w 33372"/>
                  <a:gd name="T1" fmla="*/ 1 h 43200"/>
                  <a:gd name="T2" fmla="*/ 0 w 33372"/>
                  <a:gd name="T3" fmla="*/ 12 h 43200"/>
                  <a:gd name="T4" fmla="*/ 1 w 33372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372" h="43200" fill="none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</a:path>
                  <a:path w="33372" h="43200" stroke="0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  <a:lnTo>
                      <a:pt x="11772" y="21600"/>
                    </a:lnTo>
                    <a:lnTo>
                      <a:pt x="2675" y="200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86" name="Arc 74" descr="50%"/>
              <p:cNvSpPr>
                <a:spLocks/>
              </p:cNvSpPr>
              <p:nvPr/>
            </p:nvSpPr>
            <p:spPr bwMode="auto">
              <a:xfrm>
                <a:off x="1277" y="2066"/>
                <a:ext cx="2" cy="13"/>
              </a:xfrm>
              <a:custGeom>
                <a:avLst/>
                <a:gdLst>
                  <a:gd name="T0" fmla="*/ 0 w 35746"/>
                  <a:gd name="T1" fmla="*/ 1 h 43200"/>
                  <a:gd name="T2" fmla="*/ 0 w 35746"/>
                  <a:gd name="T3" fmla="*/ 11 h 43200"/>
                  <a:gd name="T4" fmla="*/ 1 w 35746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746" h="43200" fill="none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</a:path>
                  <a:path w="35746" h="43200" stroke="0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  <a:lnTo>
                      <a:pt x="14146" y="21600"/>
                    </a:lnTo>
                    <a:lnTo>
                      <a:pt x="2777" y="323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87" name="Arc 75" descr="50%"/>
              <p:cNvSpPr>
                <a:spLocks/>
              </p:cNvSpPr>
              <p:nvPr/>
            </p:nvSpPr>
            <p:spPr bwMode="auto">
              <a:xfrm>
                <a:off x="1284" y="2066"/>
                <a:ext cx="2" cy="13"/>
              </a:xfrm>
              <a:custGeom>
                <a:avLst/>
                <a:gdLst>
                  <a:gd name="T0" fmla="*/ 0 w 35746"/>
                  <a:gd name="T1" fmla="*/ 1 h 43200"/>
                  <a:gd name="T2" fmla="*/ 0 w 35746"/>
                  <a:gd name="T3" fmla="*/ 11 h 43200"/>
                  <a:gd name="T4" fmla="*/ 1 w 35746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746" h="43200" fill="none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</a:path>
                  <a:path w="35746" h="43200" stroke="0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  <a:lnTo>
                      <a:pt x="14146" y="21600"/>
                    </a:lnTo>
                    <a:lnTo>
                      <a:pt x="2777" y="323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179" name="Freeform 76" descr="50%"/>
            <p:cNvSpPr>
              <a:spLocks/>
            </p:cNvSpPr>
            <p:nvPr/>
          </p:nvSpPr>
          <p:spPr bwMode="auto">
            <a:xfrm>
              <a:off x="1252" y="1960"/>
              <a:ext cx="471" cy="91"/>
            </a:xfrm>
            <a:custGeom>
              <a:avLst/>
              <a:gdLst>
                <a:gd name="T0" fmla="*/ 10 w 471"/>
                <a:gd name="T1" fmla="*/ 76 h 91"/>
                <a:gd name="T2" fmla="*/ 32 w 471"/>
                <a:gd name="T3" fmla="*/ 69 h 91"/>
                <a:gd name="T4" fmla="*/ 63 w 471"/>
                <a:gd name="T5" fmla="*/ 62 h 91"/>
                <a:gd name="T6" fmla="*/ 94 w 471"/>
                <a:gd name="T7" fmla="*/ 57 h 91"/>
                <a:gd name="T8" fmla="*/ 125 w 471"/>
                <a:gd name="T9" fmla="*/ 51 h 91"/>
                <a:gd name="T10" fmla="*/ 142 w 471"/>
                <a:gd name="T11" fmla="*/ 43 h 91"/>
                <a:gd name="T12" fmla="*/ 157 w 471"/>
                <a:gd name="T13" fmla="*/ 28 h 91"/>
                <a:gd name="T14" fmla="*/ 180 w 471"/>
                <a:gd name="T15" fmla="*/ 8 h 91"/>
                <a:gd name="T16" fmla="*/ 196 w 471"/>
                <a:gd name="T17" fmla="*/ 17 h 91"/>
                <a:gd name="T18" fmla="*/ 203 w 471"/>
                <a:gd name="T19" fmla="*/ 39 h 91"/>
                <a:gd name="T20" fmla="*/ 214 w 471"/>
                <a:gd name="T21" fmla="*/ 50 h 91"/>
                <a:gd name="T22" fmla="*/ 253 w 471"/>
                <a:gd name="T23" fmla="*/ 56 h 91"/>
                <a:gd name="T24" fmla="*/ 282 w 471"/>
                <a:gd name="T25" fmla="*/ 58 h 91"/>
                <a:gd name="T26" fmla="*/ 317 w 471"/>
                <a:gd name="T27" fmla="*/ 56 h 91"/>
                <a:gd name="T28" fmla="*/ 331 w 471"/>
                <a:gd name="T29" fmla="*/ 68 h 91"/>
                <a:gd name="T30" fmla="*/ 359 w 471"/>
                <a:gd name="T31" fmla="*/ 69 h 91"/>
                <a:gd name="T32" fmla="*/ 390 w 471"/>
                <a:gd name="T33" fmla="*/ 55 h 91"/>
                <a:gd name="T34" fmla="*/ 415 w 471"/>
                <a:gd name="T35" fmla="*/ 32 h 91"/>
                <a:gd name="T36" fmla="*/ 435 w 471"/>
                <a:gd name="T37" fmla="*/ 18 h 91"/>
                <a:gd name="T38" fmla="*/ 452 w 471"/>
                <a:gd name="T39" fmla="*/ 11 h 91"/>
                <a:gd name="T40" fmla="*/ 467 w 471"/>
                <a:gd name="T41" fmla="*/ 13 h 91"/>
                <a:gd name="T42" fmla="*/ 455 w 471"/>
                <a:gd name="T43" fmla="*/ 28 h 91"/>
                <a:gd name="T44" fmla="*/ 439 w 471"/>
                <a:gd name="T45" fmla="*/ 42 h 91"/>
                <a:gd name="T46" fmla="*/ 430 w 471"/>
                <a:gd name="T47" fmla="*/ 54 h 91"/>
                <a:gd name="T48" fmla="*/ 423 w 471"/>
                <a:gd name="T49" fmla="*/ 64 h 91"/>
                <a:gd name="T50" fmla="*/ 421 w 471"/>
                <a:gd name="T51" fmla="*/ 76 h 91"/>
                <a:gd name="T52" fmla="*/ 408 w 471"/>
                <a:gd name="T53" fmla="*/ 73 h 91"/>
                <a:gd name="T54" fmla="*/ 395 w 471"/>
                <a:gd name="T55" fmla="*/ 77 h 91"/>
                <a:gd name="T56" fmla="*/ 382 w 471"/>
                <a:gd name="T57" fmla="*/ 76 h 91"/>
                <a:gd name="T58" fmla="*/ 366 w 471"/>
                <a:gd name="T59" fmla="*/ 77 h 91"/>
                <a:gd name="T60" fmla="*/ 350 w 471"/>
                <a:gd name="T61" fmla="*/ 75 h 91"/>
                <a:gd name="T62" fmla="*/ 332 w 471"/>
                <a:gd name="T63" fmla="*/ 76 h 91"/>
                <a:gd name="T64" fmla="*/ 314 w 471"/>
                <a:gd name="T65" fmla="*/ 79 h 91"/>
                <a:gd name="T66" fmla="*/ 296 w 471"/>
                <a:gd name="T67" fmla="*/ 80 h 91"/>
                <a:gd name="T68" fmla="*/ 278 w 471"/>
                <a:gd name="T69" fmla="*/ 80 h 91"/>
                <a:gd name="T70" fmla="*/ 262 w 471"/>
                <a:gd name="T71" fmla="*/ 82 h 91"/>
                <a:gd name="T72" fmla="*/ 245 w 471"/>
                <a:gd name="T73" fmla="*/ 85 h 91"/>
                <a:gd name="T74" fmla="*/ 224 w 471"/>
                <a:gd name="T75" fmla="*/ 85 h 91"/>
                <a:gd name="T76" fmla="*/ 206 w 471"/>
                <a:gd name="T77" fmla="*/ 86 h 91"/>
                <a:gd name="T78" fmla="*/ 188 w 471"/>
                <a:gd name="T79" fmla="*/ 84 h 91"/>
                <a:gd name="T80" fmla="*/ 171 w 471"/>
                <a:gd name="T81" fmla="*/ 85 h 91"/>
                <a:gd name="T82" fmla="*/ 156 w 471"/>
                <a:gd name="T83" fmla="*/ 84 h 91"/>
                <a:gd name="T84" fmla="*/ 139 w 471"/>
                <a:gd name="T85" fmla="*/ 85 h 91"/>
                <a:gd name="T86" fmla="*/ 120 w 471"/>
                <a:gd name="T87" fmla="*/ 86 h 91"/>
                <a:gd name="T88" fmla="*/ 96 w 471"/>
                <a:gd name="T89" fmla="*/ 90 h 91"/>
                <a:gd name="T90" fmla="*/ 69 w 471"/>
                <a:gd name="T91" fmla="*/ 90 h 91"/>
                <a:gd name="T92" fmla="*/ 46 w 471"/>
                <a:gd name="T93" fmla="*/ 87 h 91"/>
                <a:gd name="T94" fmla="*/ 25 w 471"/>
                <a:gd name="T95" fmla="*/ 88 h 91"/>
                <a:gd name="T96" fmla="*/ 5 w 471"/>
                <a:gd name="T97" fmla="*/ 84 h 9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471" h="91">
                  <a:moveTo>
                    <a:pt x="0" y="82"/>
                  </a:moveTo>
                  <a:lnTo>
                    <a:pt x="3" y="80"/>
                  </a:lnTo>
                  <a:lnTo>
                    <a:pt x="6" y="78"/>
                  </a:lnTo>
                  <a:lnTo>
                    <a:pt x="10" y="76"/>
                  </a:lnTo>
                  <a:lnTo>
                    <a:pt x="14" y="75"/>
                  </a:lnTo>
                  <a:lnTo>
                    <a:pt x="19" y="73"/>
                  </a:lnTo>
                  <a:lnTo>
                    <a:pt x="27" y="72"/>
                  </a:lnTo>
                  <a:lnTo>
                    <a:pt x="32" y="69"/>
                  </a:lnTo>
                  <a:lnTo>
                    <a:pt x="39" y="67"/>
                  </a:lnTo>
                  <a:lnTo>
                    <a:pt x="47" y="65"/>
                  </a:lnTo>
                  <a:lnTo>
                    <a:pt x="55" y="63"/>
                  </a:lnTo>
                  <a:lnTo>
                    <a:pt x="63" y="62"/>
                  </a:lnTo>
                  <a:lnTo>
                    <a:pt x="71" y="61"/>
                  </a:lnTo>
                  <a:lnTo>
                    <a:pt x="79" y="60"/>
                  </a:lnTo>
                  <a:lnTo>
                    <a:pt x="87" y="58"/>
                  </a:lnTo>
                  <a:lnTo>
                    <a:pt x="94" y="57"/>
                  </a:lnTo>
                  <a:lnTo>
                    <a:pt x="101" y="55"/>
                  </a:lnTo>
                  <a:lnTo>
                    <a:pt x="110" y="54"/>
                  </a:lnTo>
                  <a:lnTo>
                    <a:pt x="117" y="52"/>
                  </a:lnTo>
                  <a:lnTo>
                    <a:pt x="125" y="51"/>
                  </a:lnTo>
                  <a:lnTo>
                    <a:pt x="130" y="50"/>
                  </a:lnTo>
                  <a:lnTo>
                    <a:pt x="135" y="49"/>
                  </a:lnTo>
                  <a:lnTo>
                    <a:pt x="139" y="46"/>
                  </a:lnTo>
                  <a:lnTo>
                    <a:pt x="142" y="43"/>
                  </a:lnTo>
                  <a:lnTo>
                    <a:pt x="145" y="40"/>
                  </a:lnTo>
                  <a:lnTo>
                    <a:pt x="147" y="38"/>
                  </a:lnTo>
                  <a:lnTo>
                    <a:pt x="152" y="33"/>
                  </a:lnTo>
                  <a:lnTo>
                    <a:pt x="157" y="28"/>
                  </a:lnTo>
                  <a:lnTo>
                    <a:pt x="162" y="23"/>
                  </a:lnTo>
                  <a:lnTo>
                    <a:pt x="168" y="18"/>
                  </a:lnTo>
                  <a:lnTo>
                    <a:pt x="173" y="13"/>
                  </a:lnTo>
                  <a:lnTo>
                    <a:pt x="180" y="8"/>
                  </a:lnTo>
                  <a:lnTo>
                    <a:pt x="186" y="4"/>
                  </a:lnTo>
                  <a:lnTo>
                    <a:pt x="191" y="0"/>
                  </a:lnTo>
                  <a:lnTo>
                    <a:pt x="193" y="8"/>
                  </a:lnTo>
                  <a:lnTo>
                    <a:pt x="196" y="17"/>
                  </a:lnTo>
                  <a:lnTo>
                    <a:pt x="199" y="24"/>
                  </a:lnTo>
                  <a:lnTo>
                    <a:pt x="201" y="32"/>
                  </a:lnTo>
                  <a:lnTo>
                    <a:pt x="202" y="36"/>
                  </a:lnTo>
                  <a:lnTo>
                    <a:pt x="203" y="39"/>
                  </a:lnTo>
                  <a:lnTo>
                    <a:pt x="202" y="43"/>
                  </a:lnTo>
                  <a:lnTo>
                    <a:pt x="199" y="47"/>
                  </a:lnTo>
                  <a:lnTo>
                    <a:pt x="206" y="49"/>
                  </a:lnTo>
                  <a:lnTo>
                    <a:pt x="214" y="50"/>
                  </a:lnTo>
                  <a:lnTo>
                    <a:pt x="224" y="51"/>
                  </a:lnTo>
                  <a:lnTo>
                    <a:pt x="234" y="53"/>
                  </a:lnTo>
                  <a:lnTo>
                    <a:pt x="245" y="55"/>
                  </a:lnTo>
                  <a:lnTo>
                    <a:pt x="253" y="56"/>
                  </a:lnTo>
                  <a:lnTo>
                    <a:pt x="262" y="58"/>
                  </a:lnTo>
                  <a:lnTo>
                    <a:pt x="269" y="59"/>
                  </a:lnTo>
                  <a:lnTo>
                    <a:pt x="276" y="59"/>
                  </a:lnTo>
                  <a:lnTo>
                    <a:pt x="282" y="58"/>
                  </a:lnTo>
                  <a:lnTo>
                    <a:pt x="288" y="55"/>
                  </a:lnTo>
                  <a:lnTo>
                    <a:pt x="293" y="51"/>
                  </a:lnTo>
                  <a:lnTo>
                    <a:pt x="305" y="53"/>
                  </a:lnTo>
                  <a:lnTo>
                    <a:pt x="317" y="56"/>
                  </a:lnTo>
                  <a:lnTo>
                    <a:pt x="326" y="58"/>
                  </a:lnTo>
                  <a:lnTo>
                    <a:pt x="321" y="64"/>
                  </a:lnTo>
                  <a:lnTo>
                    <a:pt x="325" y="66"/>
                  </a:lnTo>
                  <a:lnTo>
                    <a:pt x="331" y="68"/>
                  </a:lnTo>
                  <a:lnTo>
                    <a:pt x="338" y="69"/>
                  </a:lnTo>
                  <a:lnTo>
                    <a:pt x="345" y="70"/>
                  </a:lnTo>
                  <a:lnTo>
                    <a:pt x="352" y="70"/>
                  </a:lnTo>
                  <a:lnTo>
                    <a:pt x="359" y="69"/>
                  </a:lnTo>
                  <a:lnTo>
                    <a:pt x="366" y="68"/>
                  </a:lnTo>
                  <a:lnTo>
                    <a:pt x="374" y="65"/>
                  </a:lnTo>
                  <a:lnTo>
                    <a:pt x="382" y="61"/>
                  </a:lnTo>
                  <a:lnTo>
                    <a:pt x="390" y="55"/>
                  </a:lnTo>
                  <a:lnTo>
                    <a:pt x="397" y="49"/>
                  </a:lnTo>
                  <a:lnTo>
                    <a:pt x="405" y="41"/>
                  </a:lnTo>
                  <a:lnTo>
                    <a:pt x="409" y="38"/>
                  </a:lnTo>
                  <a:lnTo>
                    <a:pt x="415" y="32"/>
                  </a:lnTo>
                  <a:lnTo>
                    <a:pt x="420" y="28"/>
                  </a:lnTo>
                  <a:lnTo>
                    <a:pt x="425" y="25"/>
                  </a:lnTo>
                  <a:lnTo>
                    <a:pt x="430" y="21"/>
                  </a:lnTo>
                  <a:lnTo>
                    <a:pt x="435" y="18"/>
                  </a:lnTo>
                  <a:lnTo>
                    <a:pt x="440" y="17"/>
                  </a:lnTo>
                  <a:lnTo>
                    <a:pt x="443" y="14"/>
                  </a:lnTo>
                  <a:lnTo>
                    <a:pt x="447" y="13"/>
                  </a:lnTo>
                  <a:lnTo>
                    <a:pt x="452" y="11"/>
                  </a:lnTo>
                  <a:lnTo>
                    <a:pt x="456" y="11"/>
                  </a:lnTo>
                  <a:lnTo>
                    <a:pt x="462" y="10"/>
                  </a:lnTo>
                  <a:lnTo>
                    <a:pt x="470" y="10"/>
                  </a:lnTo>
                  <a:lnTo>
                    <a:pt x="467" y="13"/>
                  </a:lnTo>
                  <a:lnTo>
                    <a:pt x="463" y="17"/>
                  </a:lnTo>
                  <a:lnTo>
                    <a:pt x="461" y="19"/>
                  </a:lnTo>
                  <a:lnTo>
                    <a:pt x="458" y="24"/>
                  </a:lnTo>
                  <a:lnTo>
                    <a:pt x="455" y="28"/>
                  </a:lnTo>
                  <a:lnTo>
                    <a:pt x="450" y="32"/>
                  </a:lnTo>
                  <a:lnTo>
                    <a:pt x="444" y="37"/>
                  </a:lnTo>
                  <a:lnTo>
                    <a:pt x="441" y="39"/>
                  </a:lnTo>
                  <a:lnTo>
                    <a:pt x="439" y="42"/>
                  </a:lnTo>
                  <a:lnTo>
                    <a:pt x="436" y="46"/>
                  </a:lnTo>
                  <a:lnTo>
                    <a:pt x="434" y="49"/>
                  </a:lnTo>
                  <a:lnTo>
                    <a:pt x="432" y="51"/>
                  </a:lnTo>
                  <a:lnTo>
                    <a:pt x="430" y="54"/>
                  </a:lnTo>
                  <a:lnTo>
                    <a:pt x="428" y="57"/>
                  </a:lnTo>
                  <a:lnTo>
                    <a:pt x="426" y="60"/>
                  </a:lnTo>
                  <a:lnTo>
                    <a:pt x="425" y="62"/>
                  </a:lnTo>
                  <a:lnTo>
                    <a:pt x="423" y="64"/>
                  </a:lnTo>
                  <a:lnTo>
                    <a:pt x="422" y="68"/>
                  </a:lnTo>
                  <a:lnTo>
                    <a:pt x="422" y="70"/>
                  </a:lnTo>
                  <a:lnTo>
                    <a:pt x="421" y="73"/>
                  </a:lnTo>
                  <a:lnTo>
                    <a:pt x="421" y="76"/>
                  </a:lnTo>
                  <a:lnTo>
                    <a:pt x="418" y="74"/>
                  </a:lnTo>
                  <a:lnTo>
                    <a:pt x="414" y="73"/>
                  </a:lnTo>
                  <a:lnTo>
                    <a:pt x="411" y="73"/>
                  </a:lnTo>
                  <a:lnTo>
                    <a:pt x="408" y="73"/>
                  </a:lnTo>
                  <a:lnTo>
                    <a:pt x="404" y="74"/>
                  </a:lnTo>
                  <a:lnTo>
                    <a:pt x="402" y="76"/>
                  </a:lnTo>
                  <a:lnTo>
                    <a:pt x="399" y="76"/>
                  </a:lnTo>
                  <a:lnTo>
                    <a:pt x="395" y="77"/>
                  </a:lnTo>
                  <a:lnTo>
                    <a:pt x="392" y="78"/>
                  </a:lnTo>
                  <a:lnTo>
                    <a:pt x="388" y="77"/>
                  </a:lnTo>
                  <a:lnTo>
                    <a:pt x="384" y="77"/>
                  </a:lnTo>
                  <a:lnTo>
                    <a:pt x="382" y="76"/>
                  </a:lnTo>
                  <a:lnTo>
                    <a:pt x="379" y="75"/>
                  </a:lnTo>
                  <a:lnTo>
                    <a:pt x="375" y="75"/>
                  </a:lnTo>
                  <a:lnTo>
                    <a:pt x="371" y="76"/>
                  </a:lnTo>
                  <a:lnTo>
                    <a:pt x="366" y="77"/>
                  </a:lnTo>
                  <a:lnTo>
                    <a:pt x="363" y="76"/>
                  </a:lnTo>
                  <a:lnTo>
                    <a:pt x="359" y="76"/>
                  </a:lnTo>
                  <a:lnTo>
                    <a:pt x="355" y="75"/>
                  </a:lnTo>
                  <a:lnTo>
                    <a:pt x="350" y="75"/>
                  </a:lnTo>
                  <a:lnTo>
                    <a:pt x="347" y="76"/>
                  </a:lnTo>
                  <a:lnTo>
                    <a:pt x="341" y="77"/>
                  </a:lnTo>
                  <a:lnTo>
                    <a:pt x="337" y="77"/>
                  </a:lnTo>
                  <a:lnTo>
                    <a:pt x="332" y="76"/>
                  </a:lnTo>
                  <a:lnTo>
                    <a:pt x="328" y="76"/>
                  </a:lnTo>
                  <a:lnTo>
                    <a:pt x="323" y="77"/>
                  </a:lnTo>
                  <a:lnTo>
                    <a:pt x="320" y="78"/>
                  </a:lnTo>
                  <a:lnTo>
                    <a:pt x="314" y="79"/>
                  </a:lnTo>
                  <a:lnTo>
                    <a:pt x="310" y="80"/>
                  </a:lnTo>
                  <a:lnTo>
                    <a:pt x="305" y="80"/>
                  </a:lnTo>
                  <a:lnTo>
                    <a:pt x="301" y="80"/>
                  </a:lnTo>
                  <a:lnTo>
                    <a:pt x="296" y="80"/>
                  </a:lnTo>
                  <a:lnTo>
                    <a:pt x="291" y="78"/>
                  </a:lnTo>
                  <a:lnTo>
                    <a:pt x="286" y="80"/>
                  </a:lnTo>
                  <a:lnTo>
                    <a:pt x="282" y="80"/>
                  </a:lnTo>
                  <a:lnTo>
                    <a:pt x="278" y="80"/>
                  </a:lnTo>
                  <a:lnTo>
                    <a:pt x="274" y="80"/>
                  </a:lnTo>
                  <a:lnTo>
                    <a:pt x="270" y="80"/>
                  </a:lnTo>
                  <a:lnTo>
                    <a:pt x="266" y="80"/>
                  </a:lnTo>
                  <a:lnTo>
                    <a:pt x="262" y="82"/>
                  </a:lnTo>
                  <a:lnTo>
                    <a:pt x="259" y="83"/>
                  </a:lnTo>
                  <a:lnTo>
                    <a:pt x="254" y="84"/>
                  </a:lnTo>
                  <a:lnTo>
                    <a:pt x="250" y="84"/>
                  </a:lnTo>
                  <a:lnTo>
                    <a:pt x="245" y="85"/>
                  </a:lnTo>
                  <a:lnTo>
                    <a:pt x="240" y="86"/>
                  </a:lnTo>
                  <a:lnTo>
                    <a:pt x="234" y="85"/>
                  </a:lnTo>
                  <a:lnTo>
                    <a:pt x="228" y="85"/>
                  </a:lnTo>
                  <a:lnTo>
                    <a:pt x="224" y="85"/>
                  </a:lnTo>
                  <a:lnTo>
                    <a:pt x="218" y="86"/>
                  </a:lnTo>
                  <a:lnTo>
                    <a:pt x="214" y="86"/>
                  </a:lnTo>
                  <a:lnTo>
                    <a:pt x="210" y="86"/>
                  </a:lnTo>
                  <a:lnTo>
                    <a:pt x="206" y="86"/>
                  </a:lnTo>
                  <a:lnTo>
                    <a:pt x="201" y="86"/>
                  </a:lnTo>
                  <a:lnTo>
                    <a:pt x="196" y="84"/>
                  </a:lnTo>
                  <a:lnTo>
                    <a:pt x="192" y="84"/>
                  </a:lnTo>
                  <a:lnTo>
                    <a:pt x="188" y="84"/>
                  </a:lnTo>
                  <a:lnTo>
                    <a:pt x="184" y="84"/>
                  </a:lnTo>
                  <a:lnTo>
                    <a:pt x="180" y="84"/>
                  </a:lnTo>
                  <a:lnTo>
                    <a:pt x="175" y="84"/>
                  </a:lnTo>
                  <a:lnTo>
                    <a:pt x="171" y="85"/>
                  </a:lnTo>
                  <a:lnTo>
                    <a:pt x="167" y="85"/>
                  </a:lnTo>
                  <a:lnTo>
                    <a:pt x="164" y="84"/>
                  </a:lnTo>
                  <a:lnTo>
                    <a:pt x="160" y="84"/>
                  </a:lnTo>
                  <a:lnTo>
                    <a:pt x="156" y="84"/>
                  </a:lnTo>
                  <a:lnTo>
                    <a:pt x="152" y="84"/>
                  </a:lnTo>
                  <a:lnTo>
                    <a:pt x="149" y="84"/>
                  </a:lnTo>
                  <a:lnTo>
                    <a:pt x="145" y="84"/>
                  </a:lnTo>
                  <a:lnTo>
                    <a:pt x="139" y="85"/>
                  </a:lnTo>
                  <a:lnTo>
                    <a:pt x="135" y="85"/>
                  </a:lnTo>
                  <a:lnTo>
                    <a:pt x="130" y="84"/>
                  </a:lnTo>
                  <a:lnTo>
                    <a:pt x="125" y="85"/>
                  </a:lnTo>
                  <a:lnTo>
                    <a:pt x="120" y="86"/>
                  </a:lnTo>
                  <a:lnTo>
                    <a:pt x="116" y="88"/>
                  </a:lnTo>
                  <a:lnTo>
                    <a:pt x="111" y="89"/>
                  </a:lnTo>
                  <a:lnTo>
                    <a:pt x="104" y="90"/>
                  </a:lnTo>
                  <a:lnTo>
                    <a:pt x="96" y="90"/>
                  </a:lnTo>
                  <a:lnTo>
                    <a:pt x="89" y="90"/>
                  </a:lnTo>
                  <a:lnTo>
                    <a:pt x="82" y="90"/>
                  </a:lnTo>
                  <a:lnTo>
                    <a:pt x="74" y="90"/>
                  </a:lnTo>
                  <a:lnTo>
                    <a:pt x="69" y="90"/>
                  </a:lnTo>
                  <a:lnTo>
                    <a:pt x="65" y="90"/>
                  </a:lnTo>
                  <a:lnTo>
                    <a:pt x="60" y="90"/>
                  </a:lnTo>
                  <a:lnTo>
                    <a:pt x="54" y="90"/>
                  </a:lnTo>
                  <a:lnTo>
                    <a:pt x="46" y="87"/>
                  </a:lnTo>
                  <a:lnTo>
                    <a:pt x="40" y="87"/>
                  </a:lnTo>
                  <a:lnTo>
                    <a:pt x="35" y="88"/>
                  </a:lnTo>
                  <a:lnTo>
                    <a:pt x="29" y="88"/>
                  </a:lnTo>
                  <a:lnTo>
                    <a:pt x="25" y="88"/>
                  </a:lnTo>
                  <a:lnTo>
                    <a:pt x="20" y="87"/>
                  </a:lnTo>
                  <a:lnTo>
                    <a:pt x="15" y="86"/>
                  </a:lnTo>
                  <a:lnTo>
                    <a:pt x="10" y="85"/>
                  </a:lnTo>
                  <a:lnTo>
                    <a:pt x="5" y="84"/>
                  </a:lnTo>
                  <a:lnTo>
                    <a:pt x="0" y="83"/>
                  </a:lnTo>
                  <a:lnTo>
                    <a:pt x="0" y="82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80" name="Group 77"/>
            <p:cNvGrpSpPr>
              <a:grpSpLocks/>
            </p:cNvGrpSpPr>
            <p:nvPr/>
          </p:nvGrpSpPr>
          <p:grpSpPr bwMode="auto">
            <a:xfrm>
              <a:off x="1348" y="2075"/>
              <a:ext cx="69" cy="51"/>
              <a:chOff x="1286" y="2074"/>
              <a:chExt cx="69" cy="51"/>
            </a:xfrm>
          </p:grpSpPr>
          <p:sp>
            <p:nvSpPr>
              <p:cNvPr id="6181" name="Freeform 78" descr="50%"/>
              <p:cNvSpPr>
                <a:spLocks/>
              </p:cNvSpPr>
              <p:nvPr/>
            </p:nvSpPr>
            <p:spPr bwMode="auto">
              <a:xfrm>
                <a:off x="1286" y="2080"/>
                <a:ext cx="69" cy="45"/>
              </a:xfrm>
              <a:custGeom>
                <a:avLst/>
                <a:gdLst>
                  <a:gd name="T0" fmla="*/ 64 w 69"/>
                  <a:gd name="T1" fmla="*/ 39 h 45"/>
                  <a:gd name="T2" fmla="*/ 60 w 69"/>
                  <a:gd name="T3" fmla="*/ 35 h 45"/>
                  <a:gd name="T4" fmla="*/ 58 w 69"/>
                  <a:gd name="T5" fmla="*/ 33 h 45"/>
                  <a:gd name="T6" fmla="*/ 56 w 69"/>
                  <a:gd name="T7" fmla="*/ 31 h 45"/>
                  <a:gd name="T8" fmla="*/ 54 w 69"/>
                  <a:gd name="T9" fmla="*/ 28 h 45"/>
                  <a:gd name="T10" fmla="*/ 52 w 69"/>
                  <a:gd name="T11" fmla="*/ 26 h 45"/>
                  <a:gd name="T12" fmla="*/ 50 w 69"/>
                  <a:gd name="T13" fmla="*/ 23 h 45"/>
                  <a:gd name="T14" fmla="*/ 48 w 69"/>
                  <a:gd name="T15" fmla="*/ 21 h 45"/>
                  <a:gd name="T16" fmla="*/ 47 w 69"/>
                  <a:gd name="T17" fmla="*/ 17 h 45"/>
                  <a:gd name="T18" fmla="*/ 46 w 69"/>
                  <a:gd name="T19" fmla="*/ 14 h 45"/>
                  <a:gd name="T20" fmla="*/ 45 w 69"/>
                  <a:gd name="T21" fmla="*/ 11 h 45"/>
                  <a:gd name="T22" fmla="*/ 44 w 69"/>
                  <a:gd name="T23" fmla="*/ 8 h 45"/>
                  <a:gd name="T24" fmla="*/ 44 w 69"/>
                  <a:gd name="T25" fmla="*/ 4 h 45"/>
                  <a:gd name="T26" fmla="*/ 44 w 69"/>
                  <a:gd name="T27" fmla="*/ 0 h 45"/>
                  <a:gd name="T28" fmla="*/ 0 w 69"/>
                  <a:gd name="T29" fmla="*/ 0 h 45"/>
                  <a:gd name="T30" fmla="*/ 1 w 69"/>
                  <a:gd name="T31" fmla="*/ 3 h 45"/>
                  <a:gd name="T32" fmla="*/ 3 w 69"/>
                  <a:gd name="T33" fmla="*/ 6 h 45"/>
                  <a:gd name="T34" fmla="*/ 5 w 69"/>
                  <a:gd name="T35" fmla="*/ 9 h 45"/>
                  <a:gd name="T36" fmla="*/ 8 w 69"/>
                  <a:gd name="T37" fmla="*/ 12 h 45"/>
                  <a:gd name="T38" fmla="*/ 11 w 69"/>
                  <a:gd name="T39" fmla="*/ 16 h 45"/>
                  <a:gd name="T40" fmla="*/ 14 w 69"/>
                  <a:gd name="T41" fmla="*/ 19 h 45"/>
                  <a:gd name="T42" fmla="*/ 18 w 69"/>
                  <a:gd name="T43" fmla="*/ 22 h 45"/>
                  <a:gd name="T44" fmla="*/ 21 w 69"/>
                  <a:gd name="T45" fmla="*/ 25 h 45"/>
                  <a:gd name="T46" fmla="*/ 25 w 69"/>
                  <a:gd name="T47" fmla="*/ 28 h 45"/>
                  <a:gd name="T48" fmla="*/ 30 w 69"/>
                  <a:gd name="T49" fmla="*/ 32 h 45"/>
                  <a:gd name="T50" fmla="*/ 34 w 69"/>
                  <a:gd name="T51" fmla="*/ 34 h 45"/>
                  <a:gd name="T52" fmla="*/ 38 w 69"/>
                  <a:gd name="T53" fmla="*/ 36 h 45"/>
                  <a:gd name="T54" fmla="*/ 41 w 69"/>
                  <a:gd name="T55" fmla="*/ 38 h 45"/>
                  <a:gd name="T56" fmla="*/ 45 w 69"/>
                  <a:gd name="T57" fmla="*/ 39 h 45"/>
                  <a:gd name="T58" fmla="*/ 49 w 69"/>
                  <a:gd name="T59" fmla="*/ 41 h 45"/>
                  <a:gd name="T60" fmla="*/ 53 w 69"/>
                  <a:gd name="T61" fmla="*/ 42 h 45"/>
                  <a:gd name="T62" fmla="*/ 58 w 69"/>
                  <a:gd name="T63" fmla="*/ 43 h 45"/>
                  <a:gd name="T64" fmla="*/ 62 w 69"/>
                  <a:gd name="T65" fmla="*/ 43 h 45"/>
                  <a:gd name="T66" fmla="*/ 65 w 69"/>
                  <a:gd name="T67" fmla="*/ 43 h 45"/>
                  <a:gd name="T68" fmla="*/ 68 w 69"/>
                  <a:gd name="T69" fmla="*/ 44 h 45"/>
                  <a:gd name="T70" fmla="*/ 64 w 69"/>
                  <a:gd name="T71" fmla="*/ 39 h 4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69" h="45">
                    <a:moveTo>
                      <a:pt x="64" y="39"/>
                    </a:moveTo>
                    <a:lnTo>
                      <a:pt x="60" y="35"/>
                    </a:lnTo>
                    <a:lnTo>
                      <a:pt x="58" y="33"/>
                    </a:lnTo>
                    <a:lnTo>
                      <a:pt x="56" y="31"/>
                    </a:lnTo>
                    <a:lnTo>
                      <a:pt x="54" y="28"/>
                    </a:lnTo>
                    <a:lnTo>
                      <a:pt x="52" y="26"/>
                    </a:lnTo>
                    <a:lnTo>
                      <a:pt x="50" y="23"/>
                    </a:lnTo>
                    <a:lnTo>
                      <a:pt x="48" y="21"/>
                    </a:lnTo>
                    <a:lnTo>
                      <a:pt x="47" y="17"/>
                    </a:lnTo>
                    <a:lnTo>
                      <a:pt x="46" y="14"/>
                    </a:lnTo>
                    <a:lnTo>
                      <a:pt x="45" y="11"/>
                    </a:lnTo>
                    <a:lnTo>
                      <a:pt x="44" y="8"/>
                    </a:lnTo>
                    <a:lnTo>
                      <a:pt x="44" y="4"/>
                    </a:lnTo>
                    <a:lnTo>
                      <a:pt x="44" y="0"/>
                    </a:lnTo>
                    <a:lnTo>
                      <a:pt x="0" y="0"/>
                    </a:lnTo>
                    <a:lnTo>
                      <a:pt x="1" y="3"/>
                    </a:lnTo>
                    <a:lnTo>
                      <a:pt x="3" y="6"/>
                    </a:lnTo>
                    <a:lnTo>
                      <a:pt x="5" y="9"/>
                    </a:lnTo>
                    <a:lnTo>
                      <a:pt x="8" y="12"/>
                    </a:lnTo>
                    <a:lnTo>
                      <a:pt x="11" y="16"/>
                    </a:lnTo>
                    <a:lnTo>
                      <a:pt x="14" y="19"/>
                    </a:lnTo>
                    <a:lnTo>
                      <a:pt x="18" y="22"/>
                    </a:lnTo>
                    <a:lnTo>
                      <a:pt x="21" y="25"/>
                    </a:lnTo>
                    <a:lnTo>
                      <a:pt x="25" y="28"/>
                    </a:lnTo>
                    <a:lnTo>
                      <a:pt x="30" y="32"/>
                    </a:lnTo>
                    <a:lnTo>
                      <a:pt x="34" y="34"/>
                    </a:lnTo>
                    <a:lnTo>
                      <a:pt x="38" y="36"/>
                    </a:lnTo>
                    <a:lnTo>
                      <a:pt x="41" y="38"/>
                    </a:lnTo>
                    <a:lnTo>
                      <a:pt x="45" y="39"/>
                    </a:lnTo>
                    <a:lnTo>
                      <a:pt x="49" y="41"/>
                    </a:lnTo>
                    <a:lnTo>
                      <a:pt x="53" y="42"/>
                    </a:lnTo>
                    <a:lnTo>
                      <a:pt x="58" y="43"/>
                    </a:lnTo>
                    <a:lnTo>
                      <a:pt x="62" y="43"/>
                    </a:lnTo>
                    <a:lnTo>
                      <a:pt x="65" y="43"/>
                    </a:lnTo>
                    <a:lnTo>
                      <a:pt x="68" y="44"/>
                    </a:lnTo>
                    <a:lnTo>
                      <a:pt x="64" y="39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2" name="Freeform 79" descr="50%"/>
              <p:cNvSpPr>
                <a:spLocks/>
              </p:cNvSpPr>
              <p:nvPr/>
            </p:nvSpPr>
            <p:spPr bwMode="auto">
              <a:xfrm>
                <a:off x="1287" y="2074"/>
                <a:ext cx="36" cy="6"/>
              </a:xfrm>
              <a:custGeom>
                <a:avLst/>
                <a:gdLst>
                  <a:gd name="T0" fmla="*/ 0 w 36"/>
                  <a:gd name="T1" fmla="*/ 5 h 6"/>
                  <a:gd name="T2" fmla="*/ 0 w 36"/>
                  <a:gd name="T3" fmla="*/ 3 h 6"/>
                  <a:gd name="T4" fmla="*/ 1 w 36"/>
                  <a:gd name="T5" fmla="*/ 0 h 6"/>
                  <a:gd name="T6" fmla="*/ 35 w 36"/>
                  <a:gd name="T7" fmla="*/ 0 h 6"/>
                  <a:gd name="T8" fmla="*/ 35 w 36"/>
                  <a:gd name="T9" fmla="*/ 5 h 6"/>
                  <a:gd name="T10" fmla="*/ 0 w 36"/>
                  <a:gd name="T11" fmla="*/ 5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6" h="6">
                    <a:moveTo>
                      <a:pt x="0" y="5"/>
                    </a:moveTo>
                    <a:lnTo>
                      <a:pt x="0" y="3"/>
                    </a:lnTo>
                    <a:lnTo>
                      <a:pt x="1" y="0"/>
                    </a:lnTo>
                    <a:lnTo>
                      <a:pt x="35" y="0"/>
                    </a:lnTo>
                    <a:lnTo>
                      <a:pt x="35" y="5"/>
                    </a:lnTo>
                    <a:lnTo>
                      <a:pt x="0" y="5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Computer Food Chain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0AE4A46-482D-48CA-852F-1A13DBFF36C6}"/>
              </a:ext>
            </a:extLst>
          </p:cNvPr>
          <p:cNvGrpSpPr/>
          <p:nvPr/>
        </p:nvGrpSpPr>
        <p:grpSpPr>
          <a:xfrm>
            <a:off x="1348138" y="775693"/>
            <a:ext cx="6451706" cy="3967757"/>
            <a:chOff x="1348138" y="775693"/>
            <a:chExt cx="6451706" cy="3967757"/>
          </a:xfrm>
        </p:grpSpPr>
        <p:sp>
          <p:nvSpPr>
            <p:cNvPr id="7174" name="Rectangle 4"/>
            <p:cNvSpPr>
              <a:spLocks noChangeArrowheads="1"/>
            </p:cNvSpPr>
            <p:nvPr/>
          </p:nvSpPr>
          <p:spPr bwMode="auto">
            <a:xfrm>
              <a:off x="7402489" y="2305646"/>
              <a:ext cx="397355" cy="3440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eaLnBrk="0" hangingPunct="0"/>
              <a:r>
                <a:rPr kumimoji="1" lang="en-US" altLang="zh-CN" dirty="0">
                  <a:latin typeface="Comic Sans MS" pitchFamily="66" charset="0"/>
                </a:rPr>
                <a:t>PC</a:t>
              </a:r>
            </a:p>
          </p:txBody>
        </p:sp>
        <p:sp>
          <p:nvSpPr>
            <p:cNvPr id="7175" name="Rectangle 5"/>
            <p:cNvSpPr>
              <a:spLocks noChangeArrowheads="1"/>
            </p:cNvSpPr>
            <p:nvPr/>
          </p:nvSpPr>
          <p:spPr bwMode="auto">
            <a:xfrm>
              <a:off x="6359847" y="2319934"/>
              <a:ext cx="891897" cy="6215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eaLnBrk="0" hangingPunct="0"/>
              <a:r>
                <a:rPr kumimoji="1" lang="en-US" altLang="zh-CN" dirty="0">
                  <a:latin typeface="Comic Sans MS" pitchFamily="66" charset="0"/>
                </a:rPr>
                <a:t>Work-</a:t>
              </a:r>
            </a:p>
            <a:p>
              <a:pPr eaLnBrk="0" hangingPunct="0"/>
              <a:r>
                <a:rPr kumimoji="1" lang="en-US" altLang="zh-CN" dirty="0">
                  <a:latin typeface="Comic Sans MS" pitchFamily="66" charset="0"/>
                </a:rPr>
                <a:t>station</a:t>
              </a:r>
            </a:p>
          </p:txBody>
        </p:sp>
        <p:sp>
          <p:nvSpPr>
            <p:cNvPr id="7176" name="Rectangle 6"/>
            <p:cNvSpPr>
              <a:spLocks noChangeArrowheads="1"/>
            </p:cNvSpPr>
            <p:nvPr/>
          </p:nvSpPr>
          <p:spPr bwMode="auto">
            <a:xfrm>
              <a:off x="5243575" y="2434234"/>
              <a:ext cx="1146549" cy="6215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eaLnBrk="0" hangingPunct="0"/>
              <a:r>
                <a:rPr kumimoji="1" lang="en-US" altLang="zh-CN" dirty="0">
                  <a:latin typeface="Comic Sans MS" pitchFamily="66" charset="0"/>
                </a:rPr>
                <a:t>Mini-</a:t>
              </a:r>
            </a:p>
            <a:p>
              <a:pPr eaLnBrk="0" hangingPunct="0"/>
              <a:r>
                <a:rPr kumimoji="1" lang="en-US" altLang="zh-CN" dirty="0">
                  <a:latin typeface="Comic Sans MS" pitchFamily="66" charset="0"/>
                </a:rPr>
                <a:t>computer</a:t>
              </a:r>
            </a:p>
          </p:txBody>
        </p:sp>
        <p:sp>
          <p:nvSpPr>
            <p:cNvPr id="7177" name="Rectangle 7"/>
            <p:cNvSpPr>
              <a:spLocks noChangeArrowheads="1"/>
            </p:cNvSpPr>
            <p:nvPr/>
          </p:nvSpPr>
          <p:spPr bwMode="auto">
            <a:xfrm>
              <a:off x="2685021" y="1627826"/>
              <a:ext cx="1296634" cy="3440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eaLnBrk="0" hangingPunct="0"/>
              <a:r>
                <a:rPr kumimoji="1" lang="en-US" altLang="zh-CN" dirty="0">
                  <a:latin typeface="Comic Sans MS" pitchFamily="66" charset="0"/>
                </a:rPr>
                <a:t>Mainframe</a:t>
              </a:r>
            </a:p>
          </p:txBody>
        </p:sp>
        <p:sp>
          <p:nvSpPr>
            <p:cNvPr id="7178" name="Rectangle 8"/>
            <p:cNvSpPr>
              <a:spLocks noChangeArrowheads="1"/>
            </p:cNvSpPr>
            <p:nvPr/>
          </p:nvSpPr>
          <p:spPr bwMode="auto">
            <a:xfrm>
              <a:off x="3413648" y="2491384"/>
              <a:ext cx="1739506" cy="6215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eaLnBrk="0" hangingPunct="0"/>
              <a:r>
                <a:rPr kumimoji="1" lang="en-US" altLang="zh-CN" dirty="0">
                  <a:latin typeface="Comic Sans MS" pitchFamily="66" charset="0"/>
                </a:rPr>
                <a:t>Mini-</a:t>
              </a:r>
            </a:p>
            <a:p>
              <a:pPr eaLnBrk="0" hangingPunct="0"/>
              <a:r>
                <a:rPr kumimoji="1" lang="en-US" altLang="zh-CN" dirty="0">
                  <a:latin typeface="Comic Sans MS" pitchFamily="66" charset="0"/>
                </a:rPr>
                <a:t>supercomputer</a:t>
              </a:r>
            </a:p>
          </p:txBody>
        </p:sp>
        <p:sp>
          <p:nvSpPr>
            <p:cNvPr id="7179" name="Rectangle 9"/>
            <p:cNvSpPr>
              <a:spLocks noChangeArrowheads="1"/>
            </p:cNvSpPr>
            <p:nvPr/>
          </p:nvSpPr>
          <p:spPr bwMode="auto">
            <a:xfrm>
              <a:off x="1469928" y="2548534"/>
              <a:ext cx="1788715" cy="3440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eaLnBrk="0" hangingPunct="0"/>
              <a:r>
                <a:rPr kumimoji="1" lang="en-US" altLang="zh-CN" dirty="0">
                  <a:latin typeface="Comic Sans MS" pitchFamily="66" charset="0"/>
                </a:rPr>
                <a:t>Supercomputer</a:t>
              </a:r>
            </a:p>
          </p:txBody>
        </p:sp>
        <p:sp>
          <p:nvSpPr>
            <p:cNvPr id="7180" name="Freeform 10" descr="50%"/>
            <p:cNvSpPr>
              <a:spLocks/>
            </p:cNvSpPr>
            <p:nvPr/>
          </p:nvSpPr>
          <p:spPr bwMode="auto">
            <a:xfrm>
              <a:off x="2634754" y="1359099"/>
              <a:ext cx="338306" cy="238125"/>
            </a:xfrm>
            <a:custGeom>
              <a:avLst/>
              <a:gdLst>
                <a:gd name="T0" fmla="*/ 0 w 275"/>
                <a:gd name="T1" fmla="*/ 0 h 200"/>
                <a:gd name="T2" fmla="*/ 11 w 275"/>
                <a:gd name="T3" fmla="*/ 19 h 200"/>
                <a:gd name="T4" fmla="*/ 24 w 275"/>
                <a:gd name="T5" fmla="*/ 41 h 200"/>
                <a:gd name="T6" fmla="*/ 41 w 275"/>
                <a:gd name="T7" fmla="*/ 62 h 200"/>
                <a:gd name="T8" fmla="*/ 57 w 275"/>
                <a:gd name="T9" fmla="*/ 81 h 200"/>
                <a:gd name="T10" fmla="*/ 78 w 275"/>
                <a:gd name="T11" fmla="*/ 102 h 200"/>
                <a:gd name="T12" fmla="*/ 99 w 275"/>
                <a:gd name="T13" fmla="*/ 124 h 200"/>
                <a:gd name="T14" fmla="*/ 116 w 275"/>
                <a:gd name="T15" fmla="*/ 140 h 200"/>
                <a:gd name="T16" fmla="*/ 135 w 275"/>
                <a:gd name="T17" fmla="*/ 156 h 200"/>
                <a:gd name="T18" fmla="*/ 154 w 275"/>
                <a:gd name="T19" fmla="*/ 167 h 200"/>
                <a:gd name="T20" fmla="*/ 176 w 275"/>
                <a:gd name="T21" fmla="*/ 178 h 200"/>
                <a:gd name="T22" fmla="*/ 197 w 275"/>
                <a:gd name="T23" fmla="*/ 187 h 200"/>
                <a:gd name="T24" fmla="*/ 219 w 275"/>
                <a:gd name="T25" fmla="*/ 194 h 200"/>
                <a:gd name="T26" fmla="*/ 242 w 275"/>
                <a:gd name="T27" fmla="*/ 198 h 200"/>
                <a:gd name="T28" fmla="*/ 263 w 275"/>
                <a:gd name="T29" fmla="*/ 199 h 200"/>
                <a:gd name="T30" fmla="*/ 274 w 275"/>
                <a:gd name="T31" fmla="*/ 197 h 200"/>
                <a:gd name="T32" fmla="*/ 261 w 275"/>
                <a:gd name="T33" fmla="*/ 183 h 200"/>
                <a:gd name="T34" fmla="*/ 246 w 275"/>
                <a:gd name="T35" fmla="*/ 165 h 200"/>
                <a:gd name="T36" fmla="*/ 231 w 275"/>
                <a:gd name="T37" fmla="*/ 148 h 200"/>
                <a:gd name="T38" fmla="*/ 216 w 275"/>
                <a:gd name="T39" fmla="*/ 128 h 200"/>
                <a:gd name="T40" fmla="*/ 203 w 275"/>
                <a:gd name="T41" fmla="*/ 107 h 200"/>
                <a:gd name="T42" fmla="*/ 192 w 275"/>
                <a:gd name="T43" fmla="*/ 88 h 200"/>
                <a:gd name="T44" fmla="*/ 185 w 275"/>
                <a:gd name="T45" fmla="*/ 69 h 200"/>
                <a:gd name="T46" fmla="*/ 178 w 275"/>
                <a:gd name="T47" fmla="*/ 41 h 200"/>
                <a:gd name="T48" fmla="*/ 178 w 275"/>
                <a:gd name="T49" fmla="*/ 18 h 200"/>
                <a:gd name="T50" fmla="*/ 178 w 275"/>
                <a:gd name="T51" fmla="*/ 2 h 200"/>
                <a:gd name="T52" fmla="*/ 0 w 275"/>
                <a:gd name="T53" fmla="*/ 0 h 20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275" h="200">
                  <a:moveTo>
                    <a:pt x="0" y="0"/>
                  </a:moveTo>
                  <a:lnTo>
                    <a:pt x="11" y="19"/>
                  </a:lnTo>
                  <a:lnTo>
                    <a:pt x="24" y="41"/>
                  </a:lnTo>
                  <a:lnTo>
                    <a:pt x="41" y="62"/>
                  </a:lnTo>
                  <a:lnTo>
                    <a:pt x="57" y="81"/>
                  </a:lnTo>
                  <a:lnTo>
                    <a:pt x="78" y="102"/>
                  </a:lnTo>
                  <a:lnTo>
                    <a:pt x="99" y="124"/>
                  </a:lnTo>
                  <a:lnTo>
                    <a:pt x="116" y="140"/>
                  </a:lnTo>
                  <a:lnTo>
                    <a:pt x="135" y="156"/>
                  </a:lnTo>
                  <a:lnTo>
                    <a:pt x="154" y="167"/>
                  </a:lnTo>
                  <a:lnTo>
                    <a:pt x="176" y="178"/>
                  </a:lnTo>
                  <a:lnTo>
                    <a:pt x="197" y="187"/>
                  </a:lnTo>
                  <a:lnTo>
                    <a:pt x="219" y="194"/>
                  </a:lnTo>
                  <a:lnTo>
                    <a:pt x="242" y="198"/>
                  </a:lnTo>
                  <a:lnTo>
                    <a:pt x="263" y="199"/>
                  </a:lnTo>
                  <a:lnTo>
                    <a:pt x="274" y="197"/>
                  </a:lnTo>
                  <a:lnTo>
                    <a:pt x="261" y="183"/>
                  </a:lnTo>
                  <a:lnTo>
                    <a:pt x="246" y="165"/>
                  </a:lnTo>
                  <a:lnTo>
                    <a:pt x="231" y="148"/>
                  </a:lnTo>
                  <a:lnTo>
                    <a:pt x="216" y="128"/>
                  </a:lnTo>
                  <a:lnTo>
                    <a:pt x="203" y="107"/>
                  </a:lnTo>
                  <a:lnTo>
                    <a:pt x="192" y="88"/>
                  </a:lnTo>
                  <a:lnTo>
                    <a:pt x="185" y="69"/>
                  </a:lnTo>
                  <a:lnTo>
                    <a:pt x="178" y="41"/>
                  </a:lnTo>
                  <a:lnTo>
                    <a:pt x="178" y="18"/>
                  </a:lnTo>
                  <a:lnTo>
                    <a:pt x="178" y="2"/>
                  </a:lnTo>
                  <a:lnTo>
                    <a:pt x="0" y="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1" name="Freeform 11" descr="50%"/>
            <p:cNvSpPr>
              <a:spLocks/>
            </p:cNvSpPr>
            <p:nvPr/>
          </p:nvSpPr>
          <p:spPr bwMode="auto">
            <a:xfrm>
              <a:off x="1907704" y="775693"/>
              <a:ext cx="2877444" cy="773906"/>
            </a:xfrm>
            <a:custGeom>
              <a:avLst/>
              <a:gdLst>
                <a:gd name="T0" fmla="*/ 26 w 2339"/>
                <a:gd name="T1" fmla="*/ 386 h 650"/>
                <a:gd name="T2" fmla="*/ 97 w 2339"/>
                <a:gd name="T3" fmla="*/ 360 h 650"/>
                <a:gd name="T4" fmla="*/ 205 w 2339"/>
                <a:gd name="T5" fmla="*/ 329 h 650"/>
                <a:gd name="T6" fmla="*/ 319 w 2339"/>
                <a:gd name="T7" fmla="*/ 306 h 650"/>
                <a:gd name="T8" fmla="*/ 432 w 2339"/>
                <a:gd name="T9" fmla="*/ 286 h 650"/>
                <a:gd name="T10" fmla="*/ 548 w 2339"/>
                <a:gd name="T11" fmla="*/ 265 h 650"/>
                <a:gd name="T12" fmla="*/ 643 w 2339"/>
                <a:gd name="T13" fmla="*/ 247 h 650"/>
                <a:gd name="T14" fmla="*/ 699 w 2339"/>
                <a:gd name="T15" fmla="*/ 218 h 650"/>
                <a:gd name="T16" fmla="*/ 753 w 2339"/>
                <a:gd name="T17" fmla="*/ 166 h 650"/>
                <a:gd name="T18" fmla="*/ 833 w 2339"/>
                <a:gd name="T19" fmla="*/ 91 h 650"/>
                <a:gd name="T20" fmla="*/ 915 w 2339"/>
                <a:gd name="T21" fmla="*/ 24 h 650"/>
                <a:gd name="T22" fmla="*/ 973 w 2339"/>
                <a:gd name="T23" fmla="*/ 79 h 650"/>
                <a:gd name="T24" fmla="*/ 1007 w 2339"/>
                <a:gd name="T25" fmla="*/ 193 h 650"/>
                <a:gd name="T26" fmla="*/ 1027 w 2339"/>
                <a:gd name="T27" fmla="*/ 238 h 650"/>
                <a:gd name="T28" fmla="*/ 1162 w 2339"/>
                <a:gd name="T29" fmla="*/ 260 h 650"/>
                <a:gd name="T30" fmla="*/ 1298 w 2339"/>
                <a:gd name="T31" fmla="*/ 284 h 650"/>
                <a:gd name="T32" fmla="*/ 1401 w 2339"/>
                <a:gd name="T33" fmla="*/ 284 h 650"/>
                <a:gd name="T34" fmla="*/ 1510 w 2339"/>
                <a:gd name="T35" fmla="*/ 263 h 650"/>
                <a:gd name="T36" fmla="*/ 1593 w 2339"/>
                <a:gd name="T37" fmla="*/ 317 h 650"/>
                <a:gd name="T38" fmla="*/ 1675 w 2339"/>
                <a:gd name="T39" fmla="*/ 340 h 650"/>
                <a:gd name="T40" fmla="*/ 1779 w 2339"/>
                <a:gd name="T41" fmla="*/ 339 h 650"/>
                <a:gd name="T42" fmla="*/ 1888 w 2339"/>
                <a:gd name="T43" fmla="*/ 300 h 650"/>
                <a:gd name="T44" fmla="*/ 2009 w 2339"/>
                <a:gd name="T45" fmla="*/ 204 h 650"/>
                <a:gd name="T46" fmla="*/ 2151 w 2339"/>
                <a:gd name="T47" fmla="*/ 94 h 650"/>
                <a:gd name="T48" fmla="*/ 2293 w 2339"/>
                <a:gd name="T49" fmla="*/ 49 h 650"/>
                <a:gd name="T50" fmla="*/ 2299 w 2339"/>
                <a:gd name="T51" fmla="*/ 87 h 650"/>
                <a:gd name="T52" fmla="*/ 2231 w 2339"/>
                <a:gd name="T53" fmla="*/ 166 h 650"/>
                <a:gd name="T54" fmla="*/ 2151 w 2339"/>
                <a:gd name="T55" fmla="*/ 244 h 650"/>
                <a:gd name="T56" fmla="*/ 2100 w 2339"/>
                <a:gd name="T57" fmla="*/ 322 h 650"/>
                <a:gd name="T58" fmla="*/ 2100 w 2339"/>
                <a:gd name="T59" fmla="*/ 403 h 650"/>
                <a:gd name="T60" fmla="*/ 2157 w 2339"/>
                <a:gd name="T61" fmla="*/ 486 h 650"/>
                <a:gd name="T62" fmla="*/ 2227 w 2339"/>
                <a:gd name="T63" fmla="*/ 549 h 650"/>
                <a:gd name="T64" fmla="*/ 2291 w 2339"/>
                <a:gd name="T65" fmla="*/ 599 h 650"/>
                <a:gd name="T66" fmla="*/ 2293 w 2339"/>
                <a:gd name="T67" fmla="*/ 624 h 650"/>
                <a:gd name="T68" fmla="*/ 2205 w 2339"/>
                <a:gd name="T69" fmla="*/ 622 h 650"/>
                <a:gd name="T70" fmla="*/ 2126 w 2339"/>
                <a:gd name="T71" fmla="*/ 603 h 650"/>
                <a:gd name="T72" fmla="*/ 2052 w 2339"/>
                <a:gd name="T73" fmla="*/ 567 h 650"/>
                <a:gd name="T74" fmla="*/ 1929 w 2339"/>
                <a:gd name="T75" fmla="*/ 494 h 650"/>
                <a:gd name="T76" fmla="*/ 1779 w 2339"/>
                <a:gd name="T77" fmla="*/ 483 h 650"/>
                <a:gd name="T78" fmla="*/ 1596 w 2339"/>
                <a:gd name="T79" fmla="*/ 503 h 650"/>
                <a:gd name="T80" fmla="*/ 1481 w 2339"/>
                <a:gd name="T81" fmla="*/ 546 h 650"/>
                <a:gd name="T82" fmla="*/ 1443 w 2339"/>
                <a:gd name="T83" fmla="*/ 596 h 650"/>
                <a:gd name="T84" fmla="*/ 1279 w 2339"/>
                <a:gd name="T85" fmla="*/ 592 h 650"/>
                <a:gd name="T86" fmla="*/ 1143 w 2339"/>
                <a:gd name="T87" fmla="*/ 633 h 650"/>
                <a:gd name="T88" fmla="*/ 633 w 2339"/>
                <a:gd name="T89" fmla="*/ 649 h 650"/>
                <a:gd name="T90" fmla="*/ 341 w 2339"/>
                <a:gd name="T91" fmla="*/ 621 h 650"/>
                <a:gd name="T92" fmla="*/ 84 w 2339"/>
                <a:gd name="T93" fmla="*/ 540 h 650"/>
                <a:gd name="T94" fmla="*/ 84 w 2339"/>
                <a:gd name="T95" fmla="*/ 498 h 650"/>
                <a:gd name="T96" fmla="*/ 27 w 2339"/>
                <a:gd name="T97" fmla="*/ 448 h 650"/>
                <a:gd name="T98" fmla="*/ 5 w 2339"/>
                <a:gd name="T99" fmla="*/ 414 h 65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339" h="650">
                  <a:moveTo>
                    <a:pt x="0" y="402"/>
                  </a:moveTo>
                  <a:lnTo>
                    <a:pt x="8" y="396"/>
                  </a:lnTo>
                  <a:lnTo>
                    <a:pt x="26" y="386"/>
                  </a:lnTo>
                  <a:lnTo>
                    <a:pt x="53" y="375"/>
                  </a:lnTo>
                  <a:lnTo>
                    <a:pt x="73" y="369"/>
                  </a:lnTo>
                  <a:lnTo>
                    <a:pt x="97" y="360"/>
                  </a:lnTo>
                  <a:lnTo>
                    <a:pt x="134" y="348"/>
                  </a:lnTo>
                  <a:lnTo>
                    <a:pt x="170" y="338"/>
                  </a:lnTo>
                  <a:lnTo>
                    <a:pt x="205" y="329"/>
                  </a:lnTo>
                  <a:lnTo>
                    <a:pt x="240" y="320"/>
                  </a:lnTo>
                  <a:lnTo>
                    <a:pt x="278" y="313"/>
                  </a:lnTo>
                  <a:lnTo>
                    <a:pt x="319" y="306"/>
                  </a:lnTo>
                  <a:lnTo>
                    <a:pt x="360" y="298"/>
                  </a:lnTo>
                  <a:lnTo>
                    <a:pt x="396" y="292"/>
                  </a:lnTo>
                  <a:lnTo>
                    <a:pt x="432" y="286"/>
                  </a:lnTo>
                  <a:lnTo>
                    <a:pt x="464" y="280"/>
                  </a:lnTo>
                  <a:lnTo>
                    <a:pt x="510" y="271"/>
                  </a:lnTo>
                  <a:lnTo>
                    <a:pt x="548" y="265"/>
                  </a:lnTo>
                  <a:lnTo>
                    <a:pt x="584" y="259"/>
                  </a:lnTo>
                  <a:lnTo>
                    <a:pt x="615" y="254"/>
                  </a:lnTo>
                  <a:lnTo>
                    <a:pt x="643" y="247"/>
                  </a:lnTo>
                  <a:lnTo>
                    <a:pt x="667" y="237"/>
                  </a:lnTo>
                  <a:lnTo>
                    <a:pt x="683" y="229"/>
                  </a:lnTo>
                  <a:lnTo>
                    <a:pt x="699" y="218"/>
                  </a:lnTo>
                  <a:lnTo>
                    <a:pt x="715" y="204"/>
                  </a:lnTo>
                  <a:lnTo>
                    <a:pt x="732" y="186"/>
                  </a:lnTo>
                  <a:lnTo>
                    <a:pt x="753" y="166"/>
                  </a:lnTo>
                  <a:lnTo>
                    <a:pt x="779" y="140"/>
                  </a:lnTo>
                  <a:lnTo>
                    <a:pt x="804" y="116"/>
                  </a:lnTo>
                  <a:lnTo>
                    <a:pt x="833" y="91"/>
                  </a:lnTo>
                  <a:lnTo>
                    <a:pt x="858" y="67"/>
                  </a:lnTo>
                  <a:lnTo>
                    <a:pt x="886" y="46"/>
                  </a:lnTo>
                  <a:lnTo>
                    <a:pt x="915" y="24"/>
                  </a:lnTo>
                  <a:lnTo>
                    <a:pt x="950" y="0"/>
                  </a:lnTo>
                  <a:lnTo>
                    <a:pt x="961" y="42"/>
                  </a:lnTo>
                  <a:lnTo>
                    <a:pt x="973" y="79"/>
                  </a:lnTo>
                  <a:lnTo>
                    <a:pt x="987" y="118"/>
                  </a:lnTo>
                  <a:lnTo>
                    <a:pt x="999" y="159"/>
                  </a:lnTo>
                  <a:lnTo>
                    <a:pt x="1007" y="193"/>
                  </a:lnTo>
                  <a:lnTo>
                    <a:pt x="1004" y="214"/>
                  </a:lnTo>
                  <a:lnTo>
                    <a:pt x="991" y="233"/>
                  </a:lnTo>
                  <a:lnTo>
                    <a:pt x="1027" y="238"/>
                  </a:lnTo>
                  <a:lnTo>
                    <a:pt x="1064" y="244"/>
                  </a:lnTo>
                  <a:lnTo>
                    <a:pt x="1111" y="252"/>
                  </a:lnTo>
                  <a:lnTo>
                    <a:pt x="1162" y="260"/>
                  </a:lnTo>
                  <a:lnTo>
                    <a:pt x="1215" y="270"/>
                  </a:lnTo>
                  <a:lnTo>
                    <a:pt x="1255" y="278"/>
                  </a:lnTo>
                  <a:lnTo>
                    <a:pt x="1298" y="284"/>
                  </a:lnTo>
                  <a:lnTo>
                    <a:pt x="1339" y="288"/>
                  </a:lnTo>
                  <a:lnTo>
                    <a:pt x="1374" y="291"/>
                  </a:lnTo>
                  <a:lnTo>
                    <a:pt x="1401" y="284"/>
                  </a:lnTo>
                  <a:lnTo>
                    <a:pt x="1426" y="271"/>
                  </a:lnTo>
                  <a:lnTo>
                    <a:pt x="1452" y="254"/>
                  </a:lnTo>
                  <a:lnTo>
                    <a:pt x="1510" y="263"/>
                  </a:lnTo>
                  <a:lnTo>
                    <a:pt x="1572" y="278"/>
                  </a:lnTo>
                  <a:lnTo>
                    <a:pt x="1625" y="287"/>
                  </a:lnTo>
                  <a:lnTo>
                    <a:pt x="1593" y="317"/>
                  </a:lnTo>
                  <a:lnTo>
                    <a:pt x="1613" y="324"/>
                  </a:lnTo>
                  <a:lnTo>
                    <a:pt x="1643" y="333"/>
                  </a:lnTo>
                  <a:lnTo>
                    <a:pt x="1675" y="340"/>
                  </a:lnTo>
                  <a:lnTo>
                    <a:pt x="1711" y="345"/>
                  </a:lnTo>
                  <a:lnTo>
                    <a:pt x="1744" y="342"/>
                  </a:lnTo>
                  <a:lnTo>
                    <a:pt x="1779" y="339"/>
                  </a:lnTo>
                  <a:lnTo>
                    <a:pt x="1816" y="332"/>
                  </a:lnTo>
                  <a:lnTo>
                    <a:pt x="1854" y="320"/>
                  </a:lnTo>
                  <a:lnTo>
                    <a:pt x="1888" y="300"/>
                  </a:lnTo>
                  <a:lnTo>
                    <a:pt x="1934" y="270"/>
                  </a:lnTo>
                  <a:lnTo>
                    <a:pt x="1966" y="243"/>
                  </a:lnTo>
                  <a:lnTo>
                    <a:pt x="2009" y="204"/>
                  </a:lnTo>
                  <a:lnTo>
                    <a:pt x="2054" y="159"/>
                  </a:lnTo>
                  <a:lnTo>
                    <a:pt x="2107" y="122"/>
                  </a:lnTo>
                  <a:lnTo>
                    <a:pt x="2151" y="94"/>
                  </a:lnTo>
                  <a:lnTo>
                    <a:pt x="2197" y="71"/>
                  </a:lnTo>
                  <a:lnTo>
                    <a:pt x="2240" y="56"/>
                  </a:lnTo>
                  <a:lnTo>
                    <a:pt x="2293" y="49"/>
                  </a:lnTo>
                  <a:lnTo>
                    <a:pt x="2338" y="52"/>
                  </a:lnTo>
                  <a:lnTo>
                    <a:pt x="2315" y="71"/>
                  </a:lnTo>
                  <a:lnTo>
                    <a:pt x="2299" y="87"/>
                  </a:lnTo>
                  <a:lnTo>
                    <a:pt x="2291" y="100"/>
                  </a:lnTo>
                  <a:lnTo>
                    <a:pt x="2257" y="145"/>
                  </a:lnTo>
                  <a:lnTo>
                    <a:pt x="2231" y="166"/>
                  </a:lnTo>
                  <a:lnTo>
                    <a:pt x="2200" y="189"/>
                  </a:lnTo>
                  <a:lnTo>
                    <a:pt x="2173" y="217"/>
                  </a:lnTo>
                  <a:lnTo>
                    <a:pt x="2151" y="244"/>
                  </a:lnTo>
                  <a:lnTo>
                    <a:pt x="2132" y="271"/>
                  </a:lnTo>
                  <a:lnTo>
                    <a:pt x="2114" y="299"/>
                  </a:lnTo>
                  <a:lnTo>
                    <a:pt x="2100" y="322"/>
                  </a:lnTo>
                  <a:lnTo>
                    <a:pt x="2092" y="347"/>
                  </a:lnTo>
                  <a:lnTo>
                    <a:pt x="2089" y="375"/>
                  </a:lnTo>
                  <a:lnTo>
                    <a:pt x="2100" y="403"/>
                  </a:lnTo>
                  <a:lnTo>
                    <a:pt x="2114" y="434"/>
                  </a:lnTo>
                  <a:lnTo>
                    <a:pt x="2134" y="460"/>
                  </a:lnTo>
                  <a:lnTo>
                    <a:pt x="2157" y="486"/>
                  </a:lnTo>
                  <a:lnTo>
                    <a:pt x="2178" y="507"/>
                  </a:lnTo>
                  <a:lnTo>
                    <a:pt x="2202" y="526"/>
                  </a:lnTo>
                  <a:lnTo>
                    <a:pt x="2227" y="549"/>
                  </a:lnTo>
                  <a:lnTo>
                    <a:pt x="2256" y="571"/>
                  </a:lnTo>
                  <a:lnTo>
                    <a:pt x="2273" y="586"/>
                  </a:lnTo>
                  <a:lnTo>
                    <a:pt x="2291" y="599"/>
                  </a:lnTo>
                  <a:lnTo>
                    <a:pt x="2308" y="610"/>
                  </a:lnTo>
                  <a:lnTo>
                    <a:pt x="2320" y="623"/>
                  </a:lnTo>
                  <a:lnTo>
                    <a:pt x="2293" y="624"/>
                  </a:lnTo>
                  <a:lnTo>
                    <a:pt x="2261" y="624"/>
                  </a:lnTo>
                  <a:lnTo>
                    <a:pt x="2231" y="625"/>
                  </a:lnTo>
                  <a:lnTo>
                    <a:pt x="2205" y="622"/>
                  </a:lnTo>
                  <a:lnTo>
                    <a:pt x="2173" y="618"/>
                  </a:lnTo>
                  <a:lnTo>
                    <a:pt x="2149" y="611"/>
                  </a:lnTo>
                  <a:lnTo>
                    <a:pt x="2126" y="603"/>
                  </a:lnTo>
                  <a:lnTo>
                    <a:pt x="2103" y="593"/>
                  </a:lnTo>
                  <a:lnTo>
                    <a:pt x="2076" y="581"/>
                  </a:lnTo>
                  <a:lnTo>
                    <a:pt x="2052" y="567"/>
                  </a:lnTo>
                  <a:lnTo>
                    <a:pt x="2006" y="537"/>
                  </a:lnTo>
                  <a:lnTo>
                    <a:pt x="1974" y="518"/>
                  </a:lnTo>
                  <a:lnTo>
                    <a:pt x="1929" y="494"/>
                  </a:lnTo>
                  <a:lnTo>
                    <a:pt x="1886" y="488"/>
                  </a:lnTo>
                  <a:lnTo>
                    <a:pt x="1840" y="490"/>
                  </a:lnTo>
                  <a:lnTo>
                    <a:pt x="1779" y="483"/>
                  </a:lnTo>
                  <a:lnTo>
                    <a:pt x="1722" y="490"/>
                  </a:lnTo>
                  <a:lnTo>
                    <a:pt x="1660" y="492"/>
                  </a:lnTo>
                  <a:lnTo>
                    <a:pt x="1596" y="503"/>
                  </a:lnTo>
                  <a:lnTo>
                    <a:pt x="1529" y="518"/>
                  </a:lnTo>
                  <a:lnTo>
                    <a:pt x="1489" y="533"/>
                  </a:lnTo>
                  <a:lnTo>
                    <a:pt x="1481" y="546"/>
                  </a:lnTo>
                  <a:lnTo>
                    <a:pt x="1489" y="559"/>
                  </a:lnTo>
                  <a:lnTo>
                    <a:pt x="1521" y="578"/>
                  </a:lnTo>
                  <a:lnTo>
                    <a:pt x="1443" y="596"/>
                  </a:lnTo>
                  <a:lnTo>
                    <a:pt x="1333" y="623"/>
                  </a:lnTo>
                  <a:lnTo>
                    <a:pt x="1309" y="604"/>
                  </a:lnTo>
                  <a:lnTo>
                    <a:pt x="1279" y="592"/>
                  </a:lnTo>
                  <a:lnTo>
                    <a:pt x="1250" y="584"/>
                  </a:lnTo>
                  <a:lnTo>
                    <a:pt x="1204" y="583"/>
                  </a:lnTo>
                  <a:lnTo>
                    <a:pt x="1143" y="633"/>
                  </a:lnTo>
                  <a:lnTo>
                    <a:pt x="1092" y="596"/>
                  </a:lnTo>
                  <a:lnTo>
                    <a:pt x="709" y="646"/>
                  </a:lnTo>
                  <a:lnTo>
                    <a:pt x="633" y="649"/>
                  </a:lnTo>
                  <a:lnTo>
                    <a:pt x="562" y="644"/>
                  </a:lnTo>
                  <a:lnTo>
                    <a:pt x="489" y="638"/>
                  </a:lnTo>
                  <a:lnTo>
                    <a:pt x="341" y="621"/>
                  </a:lnTo>
                  <a:lnTo>
                    <a:pt x="208" y="589"/>
                  </a:lnTo>
                  <a:lnTo>
                    <a:pt x="135" y="564"/>
                  </a:lnTo>
                  <a:lnTo>
                    <a:pt x="84" y="540"/>
                  </a:lnTo>
                  <a:lnTo>
                    <a:pt x="138" y="530"/>
                  </a:lnTo>
                  <a:lnTo>
                    <a:pt x="105" y="512"/>
                  </a:lnTo>
                  <a:lnTo>
                    <a:pt x="84" y="498"/>
                  </a:lnTo>
                  <a:lnTo>
                    <a:pt x="47" y="468"/>
                  </a:lnTo>
                  <a:lnTo>
                    <a:pt x="38" y="460"/>
                  </a:lnTo>
                  <a:lnTo>
                    <a:pt x="27" y="448"/>
                  </a:lnTo>
                  <a:lnTo>
                    <a:pt x="19" y="439"/>
                  </a:lnTo>
                  <a:lnTo>
                    <a:pt x="13" y="424"/>
                  </a:lnTo>
                  <a:lnTo>
                    <a:pt x="5" y="414"/>
                  </a:lnTo>
                  <a:lnTo>
                    <a:pt x="0" y="402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182" name="Group 12"/>
            <p:cNvGrpSpPr>
              <a:grpSpLocks/>
            </p:cNvGrpSpPr>
            <p:nvPr/>
          </p:nvGrpSpPr>
          <p:grpSpPr bwMode="auto">
            <a:xfrm>
              <a:off x="2154975" y="1275756"/>
              <a:ext cx="70122" cy="60722"/>
              <a:chOff x="1008" y="1648"/>
              <a:chExt cx="57" cy="51"/>
            </a:xfrm>
          </p:grpSpPr>
          <p:sp>
            <p:nvSpPr>
              <p:cNvPr id="7757" name="Oval 13" descr="50%"/>
              <p:cNvSpPr>
                <a:spLocks noChangeArrowheads="1"/>
              </p:cNvSpPr>
              <p:nvPr/>
            </p:nvSpPr>
            <p:spPr bwMode="auto">
              <a:xfrm>
                <a:off x="1008" y="1648"/>
                <a:ext cx="57" cy="51"/>
              </a:xfrm>
              <a:prstGeom prst="ellipse">
                <a:avLst/>
              </a:pr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58" name="Arc 14" descr="50%"/>
              <p:cNvSpPr>
                <a:spLocks/>
              </p:cNvSpPr>
              <p:nvPr/>
            </p:nvSpPr>
            <p:spPr bwMode="auto">
              <a:xfrm>
                <a:off x="1019" y="1654"/>
                <a:ext cx="42" cy="38"/>
              </a:xfrm>
              <a:custGeom>
                <a:avLst/>
                <a:gdLst>
                  <a:gd name="T0" fmla="*/ 35 w 43200"/>
                  <a:gd name="T1" fmla="*/ 5 h 42819"/>
                  <a:gd name="T2" fmla="*/ 17 w 43200"/>
                  <a:gd name="T3" fmla="*/ 0 h 42819"/>
                  <a:gd name="T4" fmla="*/ 21 w 43200"/>
                  <a:gd name="T5" fmla="*/ 19 h 428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2819" fill="none" extrusionOk="0">
                    <a:moveTo>
                      <a:pt x="36091" y="5202"/>
                    </a:moveTo>
                    <a:cubicBezTo>
                      <a:pt x="40617" y="9296"/>
                      <a:pt x="43200" y="15115"/>
                      <a:pt x="43200" y="21219"/>
                    </a:cubicBezTo>
                    <a:cubicBezTo>
                      <a:pt x="43200" y="33148"/>
                      <a:pt x="33529" y="42819"/>
                      <a:pt x="21600" y="42819"/>
                    </a:cubicBezTo>
                    <a:cubicBezTo>
                      <a:pt x="9670" y="42819"/>
                      <a:pt x="0" y="33148"/>
                      <a:pt x="0" y="21219"/>
                    </a:cubicBezTo>
                    <a:cubicBezTo>
                      <a:pt x="-1" y="10848"/>
                      <a:pt x="7370" y="1941"/>
                      <a:pt x="17558" y="0"/>
                    </a:cubicBezTo>
                  </a:path>
                  <a:path w="43200" h="42819" stroke="0" extrusionOk="0">
                    <a:moveTo>
                      <a:pt x="36091" y="5202"/>
                    </a:moveTo>
                    <a:cubicBezTo>
                      <a:pt x="40617" y="9296"/>
                      <a:pt x="43200" y="15115"/>
                      <a:pt x="43200" y="21219"/>
                    </a:cubicBezTo>
                    <a:cubicBezTo>
                      <a:pt x="43200" y="33148"/>
                      <a:pt x="33529" y="42819"/>
                      <a:pt x="21600" y="42819"/>
                    </a:cubicBezTo>
                    <a:cubicBezTo>
                      <a:pt x="9670" y="42819"/>
                      <a:pt x="0" y="33148"/>
                      <a:pt x="0" y="21219"/>
                    </a:cubicBezTo>
                    <a:cubicBezTo>
                      <a:pt x="-1" y="10848"/>
                      <a:pt x="7370" y="1941"/>
                      <a:pt x="17558" y="0"/>
                    </a:cubicBezTo>
                    <a:lnTo>
                      <a:pt x="21600" y="21219"/>
                    </a:lnTo>
                    <a:lnTo>
                      <a:pt x="36091" y="5202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183" name="Group 15"/>
            <p:cNvGrpSpPr>
              <a:grpSpLocks/>
            </p:cNvGrpSpPr>
            <p:nvPr/>
          </p:nvGrpSpPr>
          <p:grpSpPr bwMode="auto">
            <a:xfrm>
              <a:off x="2330894" y="1335287"/>
              <a:ext cx="188221" cy="135731"/>
              <a:chOff x="1151" y="1698"/>
              <a:chExt cx="153" cy="114"/>
            </a:xfrm>
          </p:grpSpPr>
          <p:sp>
            <p:nvSpPr>
              <p:cNvPr id="7752" name="Arc 16" descr="50%"/>
              <p:cNvSpPr>
                <a:spLocks/>
              </p:cNvSpPr>
              <p:nvPr/>
            </p:nvSpPr>
            <p:spPr bwMode="auto">
              <a:xfrm>
                <a:off x="1183" y="1698"/>
                <a:ext cx="22" cy="114"/>
              </a:xfrm>
              <a:custGeom>
                <a:avLst/>
                <a:gdLst>
                  <a:gd name="T0" fmla="*/ 2 w 25027"/>
                  <a:gd name="T1" fmla="*/ 0 h 43200"/>
                  <a:gd name="T2" fmla="*/ 0 w 25027"/>
                  <a:gd name="T3" fmla="*/ 113 h 43200"/>
                  <a:gd name="T4" fmla="*/ 3 w 25027"/>
                  <a:gd name="T5" fmla="*/ 5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027" h="43200" fill="none" extrusionOk="0">
                    <a:moveTo>
                      <a:pt x="2291" y="29"/>
                    </a:moveTo>
                    <a:cubicBezTo>
                      <a:pt x="2670" y="9"/>
                      <a:pt x="3048" y="-1"/>
                      <a:pt x="3427" y="0"/>
                    </a:cubicBezTo>
                    <a:cubicBezTo>
                      <a:pt x="15356" y="0"/>
                      <a:pt x="25027" y="9670"/>
                      <a:pt x="25027" y="21600"/>
                    </a:cubicBezTo>
                    <a:cubicBezTo>
                      <a:pt x="25027" y="33529"/>
                      <a:pt x="15356" y="43200"/>
                      <a:pt x="3427" y="43200"/>
                    </a:cubicBezTo>
                    <a:cubicBezTo>
                      <a:pt x="2279" y="43200"/>
                      <a:pt x="1133" y="43108"/>
                      <a:pt x="-1" y="42926"/>
                    </a:cubicBezTo>
                  </a:path>
                  <a:path w="25027" h="43200" stroke="0" extrusionOk="0">
                    <a:moveTo>
                      <a:pt x="2291" y="29"/>
                    </a:moveTo>
                    <a:cubicBezTo>
                      <a:pt x="2670" y="9"/>
                      <a:pt x="3048" y="-1"/>
                      <a:pt x="3427" y="0"/>
                    </a:cubicBezTo>
                    <a:cubicBezTo>
                      <a:pt x="15356" y="0"/>
                      <a:pt x="25027" y="9670"/>
                      <a:pt x="25027" y="21600"/>
                    </a:cubicBezTo>
                    <a:cubicBezTo>
                      <a:pt x="25027" y="33529"/>
                      <a:pt x="15356" y="43200"/>
                      <a:pt x="3427" y="43200"/>
                    </a:cubicBezTo>
                    <a:cubicBezTo>
                      <a:pt x="2279" y="43200"/>
                      <a:pt x="1133" y="43108"/>
                      <a:pt x="-1" y="42926"/>
                    </a:cubicBezTo>
                    <a:lnTo>
                      <a:pt x="3427" y="21600"/>
                    </a:lnTo>
                    <a:lnTo>
                      <a:pt x="2291" y="29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53" name="Arc 17" descr="50%"/>
              <p:cNvSpPr>
                <a:spLocks/>
              </p:cNvSpPr>
              <p:nvPr/>
            </p:nvSpPr>
            <p:spPr bwMode="auto">
              <a:xfrm>
                <a:off x="1151" y="1698"/>
                <a:ext cx="26" cy="114"/>
              </a:xfrm>
              <a:custGeom>
                <a:avLst/>
                <a:gdLst>
                  <a:gd name="T0" fmla="*/ 5 w 27870"/>
                  <a:gd name="T1" fmla="*/ 0 h 43200"/>
                  <a:gd name="T2" fmla="*/ 0 w 27870"/>
                  <a:gd name="T3" fmla="*/ 112 h 43200"/>
                  <a:gd name="T4" fmla="*/ 6 w 27870"/>
                  <a:gd name="T5" fmla="*/ 5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870" h="43200" fill="none" extrusionOk="0">
                    <a:moveTo>
                      <a:pt x="5217" y="25"/>
                    </a:moveTo>
                    <a:cubicBezTo>
                      <a:pt x="5568" y="8"/>
                      <a:pt x="5919" y="-1"/>
                      <a:pt x="6270" y="0"/>
                    </a:cubicBezTo>
                    <a:cubicBezTo>
                      <a:pt x="18199" y="0"/>
                      <a:pt x="27870" y="9670"/>
                      <a:pt x="27870" y="21600"/>
                    </a:cubicBezTo>
                    <a:cubicBezTo>
                      <a:pt x="27870" y="33529"/>
                      <a:pt x="18199" y="43200"/>
                      <a:pt x="6270" y="43200"/>
                    </a:cubicBezTo>
                    <a:cubicBezTo>
                      <a:pt x="4145" y="43200"/>
                      <a:pt x="2032" y="42886"/>
                      <a:pt x="0" y="42269"/>
                    </a:cubicBezTo>
                  </a:path>
                  <a:path w="27870" h="43200" stroke="0" extrusionOk="0">
                    <a:moveTo>
                      <a:pt x="5217" y="25"/>
                    </a:moveTo>
                    <a:cubicBezTo>
                      <a:pt x="5568" y="8"/>
                      <a:pt x="5919" y="-1"/>
                      <a:pt x="6270" y="0"/>
                    </a:cubicBezTo>
                    <a:cubicBezTo>
                      <a:pt x="18199" y="0"/>
                      <a:pt x="27870" y="9670"/>
                      <a:pt x="27870" y="21600"/>
                    </a:cubicBezTo>
                    <a:cubicBezTo>
                      <a:pt x="27870" y="33529"/>
                      <a:pt x="18199" y="43200"/>
                      <a:pt x="6270" y="43200"/>
                    </a:cubicBezTo>
                    <a:cubicBezTo>
                      <a:pt x="4145" y="43200"/>
                      <a:pt x="2032" y="42886"/>
                      <a:pt x="0" y="42269"/>
                    </a:cubicBezTo>
                    <a:lnTo>
                      <a:pt x="6270" y="21600"/>
                    </a:lnTo>
                    <a:lnTo>
                      <a:pt x="5217" y="25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54" name="Arc 18" descr="50%"/>
              <p:cNvSpPr>
                <a:spLocks/>
              </p:cNvSpPr>
              <p:nvPr/>
            </p:nvSpPr>
            <p:spPr bwMode="auto">
              <a:xfrm>
                <a:off x="1215" y="1698"/>
                <a:ext cx="23" cy="114"/>
              </a:xfrm>
              <a:custGeom>
                <a:avLst/>
                <a:gdLst>
                  <a:gd name="T0" fmla="*/ 2 w 24942"/>
                  <a:gd name="T1" fmla="*/ 0 h 43200"/>
                  <a:gd name="T2" fmla="*/ 0 w 24942"/>
                  <a:gd name="T3" fmla="*/ 113 h 43200"/>
                  <a:gd name="T4" fmla="*/ 3 w 24942"/>
                  <a:gd name="T5" fmla="*/ 5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942" h="43200" fill="none" extrusionOk="0">
                    <a:moveTo>
                      <a:pt x="2236" y="28"/>
                    </a:moveTo>
                    <a:cubicBezTo>
                      <a:pt x="2604" y="9"/>
                      <a:pt x="2973" y="-1"/>
                      <a:pt x="3342" y="0"/>
                    </a:cubicBezTo>
                    <a:cubicBezTo>
                      <a:pt x="15271" y="0"/>
                      <a:pt x="24942" y="9670"/>
                      <a:pt x="24942" y="21600"/>
                    </a:cubicBezTo>
                    <a:cubicBezTo>
                      <a:pt x="24942" y="33529"/>
                      <a:pt x="15271" y="43200"/>
                      <a:pt x="3342" y="43200"/>
                    </a:cubicBezTo>
                    <a:cubicBezTo>
                      <a:pt x="2222" y="43200"/>
                      <a:pt x="1105" y="43113"/>
                      <a:pt x="0" y="42939"/>
                    </a:cubicBezTo>
                  </a:path>
                  <a:path w="24942" h="43200" stroke="0" extrusionOk="0">
                    <a:moveTo>
                      <a:pt x="2236" y="28"/>
                    </a:moveTo>
                    <a:cubicBezTo>
                      <a:pt x="2604" y="9"/>
                      <a:pt x="2973" y="-1"/>
                      <a:pt x="3342" y="0"/>
                    </a:cubicBezTo>
                    <a:cubicBezTo>
                      <a:pt x="15271" y="0"/>
                      <a:pt x="24942" y="9670"/>
                      <a:pt x="24942" y="21600"/>
                    </a:cubicBezTo>
                    <a:cubicBezTo>
                      <a:pt x="24942" y="33529"/>
                      <a:pt x="15271" y="43200"/>
                      <a:pt x="3342" y="43200"/>
                    </a:cubicBezTo>
                    <a:cubicBezTo>
                      <a:pt x="2222" y="43200"/>
                      <a:pt x="1105" y="43113"/>
                      <a:pt x="0" y="42939"/>
                    </a:cubicBezTo>
                    <a:lnTo>
                      <a:pt x="3342" y="21600"/>
                    </a:lnTo>
                    <a:lnTo>
                      <a:pt x="2236" y="2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55" name="Arc 19" descr="50%"/>
              <p:cNvSpPr>
                <a:spLocks/>
              </p:cNvSpPr>
              <p:nvPr/>
            </p:nvSpPr>
            <p:spPr bwMode="auto">
              <a:xfrm>
                <a:off x="1246" y="1698"/>
                <a:ext cx="23" cy="114"/>
              </a:xfrm>
              <a:custGeom>
                <a:avLst/>
                <a:gdLst>
                  <a:gd name="T0" fmla="*/ 2 w 24942"/>
                  <a:gd name="T1" fmla="*/ 0 h 43200"/>
                  <a:gd name="T2" fmla="*/ 0 w 24942"/>
                  <a:gd name="T3" fmla="*/ 113 h 43200"/>
                  <a:gd name="T4" fmla="*/ 3 w 24942"/>
                  <a:gd name="T5" fmla="*/ 5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942" h="43200" fill="none" extrusionOk="0">
                    <a:moveTo>
                      <a:pt x="2236" y="28"/>
                    </a:moveTo>
                    <a:cubicBezTo>
                      <a:pt x="2604" y="9"/>
                      <a:pt x="2973" y="-1"/>
                      <a:pt x="3342" y="0"/>
                    </a:cubicBezTo>
                    <a:cubicBezTo>
                      <a:pt x="15271" y="0"/>
                      <a:pt x="24942" y="9670"/>
                      <a:pt x="24942" y="21600"/>
                    </a:cubicBezTo>
                    <a:cubicBezTo>
                      <a:pt x="24942" y="33529"/>
                      <a:pt x="15271" y="43200"/>
                      <a:pt x="3342" y="43200"/>
                    </a:cubicBezTo>
                    <a:cubicBezTo>
                      <a:pt x="2222" y="43200"/>
                      <a:pt x="1105" y="43113"/>
                      <a:pt x="0" y="42939"/>
                    </a:cubicBezTo>
                  </a:path>
                  <a:path w="24942" h="43200" stroke="0" extrusionOk="0">
                    <a:moveTo>
                      <a:pt x="2236" y="28"/>
                    </a:moveTo>
                    <a:cubicBezTo>
                      <a:pt x="2604" y="9"/>
                      <a:pt x="2973" y="-1"/>
                      <a:pt x="3342" y="0"/>
                    </a:cubicBezTo>
                    <a:cubicBezTo>
                      <a:pt x="15271" y="0"/>
                      <a:pt x="24942" y="9670"/>
                      <a:pt x="24942" y="21600"/>
                    </a:cubicBezTo>
                    <a:cubicBezTo>
                      <a:pt x="24942" y="33529"/>
                      <a:pt x="15271" y="43200"/>
                      <a:pt x="3342" y="43200"/>
                    </a:cubicBezTo>
                    <a:cubicBezTo>
                      <a:pt x="2222" y="43200"/>
                      <a:pt x="1105" y="43113"/>
                      <a:pt x="0" y="42939"/>
                    </a:cubicBezTo>
                    <a:lnTo>
                      <a:pt x="3342" y="21600"/>
                    </a:lnTo>
                    <a:lnTo>
                      <a:pt x="2236" y="2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56" name="Arc 20" descr="50%"/>
              <p:cNvSpPr>
                <a:spLocks/>
              </p:cNvSpPr>
              <p:nvPr/>
            </p:nvSpPr>
            <p:spPr bwMode="auto">
              <a:xfrm>
                <a:off x="1281" y="1698"/>
                <a:ext cx="23" cy="114"/>
              </a:xfrm>
              <a:custGeom>
                <a:avLst/>
                <a:gdLst>
                  <a:gd name="T0" fmla="*/ 2 w 24942"/>
                  <a:gd name="T1" fmla="*/ 0 h 43200"/>
                  <a:gd name="T2" fmla="*/ 0 w 24942"/>
                  <a:gd name="T3" fmla="*/ 113 h 43200"/>
                  <a:gd name="T4" fmla="*/ 3 w 24942"/>
                  <a:gd name="T5" fmla="*/ 5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942" h="43200" fill="none" extrusionOk="0">
                    <a:moveTo>
                      <a:pt x="2236" y="28"/>
                    </a:moveTo>
                    <a:cubicBezTo>
                      <a:pt x="2604" y="9"/>
                      <a:pt x="2973" y="-1"/>
                      <a:pt x="3342" y="0"/>
                    </a:cubicBezTo>
                    <a:cubicBezTo>
                      <a:pt x="15271" y="0"/>
                      <a:pt x="24942" y="9670"/>
                      <a:pt x="24942" y="21600"/>
                    </a:cubicBezTo>
                    <a:cubicBezTo>
                      <a:pt x="24942" y="33529"/>
                      <a:pt x="15271" y="43200"/>
                      <a:pt x="3342" y="43200"/>
                    </a:cubicBezTo>
                    <a:cubicBezTo>
                      <a:pt x="2222" y="43200"/>
                      <a:pt x="1105" y="43113"/>
                      <a:pt x="0" y="42939"/>
                    </a:cubicBezTo>
                  </a:path>
                  <a:path w="24942" h="43200" stroke="0" extrusionOk="0">
                    <a:moveTo>
                      <a:pt x="2236" y="28"/>
                    </a:moveTo>
                    <a:cubicBezTo>
                      <a:pt x="2604" y="9"/>
                      <a:pt x="2973" y="-1"/>
                      <a:pt x="3342" y="0"/>
                    </a:cubicBezTo>
                    <a:cubicBezTo>
                      <a:pt x="15271" y="0"/>
                      <a:pt x="24942" y="9670"/>
                      <a:pt x="24942" y="21600"/>
                    </a:cubicBezTo>
                    <a:cubicBezTo>
                      <a:pt x="24942" y="33529"/>
                      <a:pt x="15271" y="43200"/>
                      <a:pt x="3342" y="43200"/>
                    </a:cubicBezTo>
                    <a:cubicBezTo>
                      <a:pt x="2222" y="43200"/>
                      <a:pt x="1105" y="43113"/>
                      <a:pt x="0" y="42939"/>
                    </a:cubicBezTo>
                    <a:lnTo>
                      <a:pt x="3342" y="21600"/>
                    </a:lnTo>
                    <a:lnTo>
                      <a:pt x="2236" y="2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84" name="Freeform 21" descr="50%"/>
            <p:cNvSpPr>
              <a:spLocks/>
            </p:cNvSpPr>
            <p:nvPr/>
          </p:nvSpPr>
          <p:spPr bwMode="auto">
            <a:xfrm>
              <a:off x="1915085" y="785218"/>
              <a:ext cx="2856530" cy="516731"/>
            </a:xfrm>
            <a:custGeom>
              <a:avLst/>
              <a:gdLst>
                <a:gd name="T0" fmla="*/ 50 w 2322"/>
                <a:gd name="T1" fmla="*/ 367 h 434"/>
                <a:gd name="T2" fmla="*/ 158 w 2322"/>
                <a:gd name="T3" fmla="*/ 331 h 434"/>
                <a:gd name="T4" fmla="*/ 312 w 2322"/>
                <a:gd name="T5" fmla="*/ 297 h 434"/>
                <a:gd name="T6" fmla="*/ 467 w 2322"/>
                <a:gd name="T7" fmla="*/ 271 h 434"/>
                <a:gd name="T8" fmla="*/ 614 w 2322"/>
                <a:gd name="T9" fmla="*/ 245 h 434"/>
                <a:gd name="T10" fmla="*/ 699 w 2322"/>
                <a:gd name="T11" fmla="*/ 208 h 434"/>
                <a:gd name="T12" fmla="*/ 775 w 2322"/>
                <a:gd name="T13" fmla="*/ 135 h 434"/>
                <a:gd name="T14" fmla="*/ 886 w 2322"/>
                <a:gd name="T15" fmla="*/ 40 h 434"/>
                <a:gd name="T16" fmla="*/ 965 w 2322"/>
                <a:gd name="T17" fmla="*/ 77 h 434"/>
                <a:gd name="T18" fmla="*/ 998 w 2322"/>
                <a:gd name="T19" fmla="*/ 187 h 434"/>
                <a:gd name="T20" fmla="*/ 1057 w 2322"/>
                <a:gd name="T21" fmla="*/ 237 h 434"/>
                <a:gd name="T22" fmla="*/ 1248 w 2322"/>
                <a:gd name="T23" fmla="*/ 270 h 434"/>
                <a:gd name="T24" fmla="*/ 1393 w 2322"/>
                <a:gd name="T25" fmla="*/ 275 h 434"/>
                <a:gd name="T26" fmla="*/ 1564 w 2322"/>
                <a:gd name="T27" fmla="*/ 270 h 434"/>
                <a:gd name="T28" fmla="*/ 1634 w 2322"/>
                <a:gd name="T29" fmla="*/ 324 h 434"/>
                <a:gd name="T30" fmla="*/ 1770 w 2322"/>
                <a:gd name="T31" fmla="*/ 331 h 434"/>
                <a:gd name="T32" fmla="*/ 1925 w 2322"/>
                <a:gd name="T33" fmla="*/ 262 h 434"/>
                <a:gd name="T34" fmla="*/ 2047 w 2322"/>
                <a:gd name="T35" fmla="*/ 152 h 434"/>
                <a:gd name="T36" fmla="*/ 2144 w 2322"/>
                <a:gd name="T37" fmla="*/ 87 h 434"/>
                <a:gd name="T38" fmla="*/ 2229 w 2322"/>
                <a:gd name="T39" fmla="*/ 52 h 434"/>
                <a:gd name="T40" fmla="*/ 2304 w 2322"/>
                <a:gd name="T41" fmla="*/ 60 h 434"/>
                <a:gd name="T42" fmla="*/ 2244 w 2322"/>
                <a:gd name="T43" fmla="*/ 136 h 434"/>
                <a:gd name="T44" fmla="*/ 2165 w 2322"/>
                <a:gd name="T45" fmla="*/ 202 h 434"/>
                <a:gd name="T46" fmla="*/ 2120 w 2322"/>
                <a:gd name="T47" fmla="*/ 258 h 434"/>
                <a:gd name="T48" fmla="*/ 2087 w 2322"/>
                <a:gd name="T49" fmla="*/ 309 h 434"/>
                <a:gd name="T50" fmla="*/ 2076 w 2322"/>
                <a:gd name="T51" fmla="*/ 363 h 434"/>
                <a:gd name="T52" fmla="*/ 2011 w 2322"/>
                <a:gd name="T53" fmla="*/ 353 h 434"/>
                <a:gd name="T54" fmla="*/ 1952 w 2322"/>
                <a:gd name="T55" fmla="*/ 371 h 434"/>
                <a:gd name="T56" fmla="*/ 1883 w 2322"/>
                <a:gd name="T57" fmla="*/ 363 h 434"/>
                <a:gd name="T58" fmla="*/ 1807 w 2322"/>
                <a:gd name="T59" fmla="*/ 367 h 434"/>
                <a:gd name="T60" fmla="*/ 1728 w 2322"/>
                <a:gd name="T61" fmla="*/ 360 h 434"/>
                <a:gd name="T62" fmla="*/ 1640 w 2322"/>
                <a:gd name="T63" fmla="*/ 365 h 434"/>
                <a:gd name="T64" fmla="*/ 1548 w 2322"/>
                <a:gd name="T65" fmla="*/ 379 h 434"/>
                <a:gd name="T66" fmla="*/ 1460 w 2322"/>
                <a:gd name="T67" fmla="*/ 381 h 434"/>
                <a:gd name="T68" fmla="*/ 1373 w 2322"/>
                <a:gd name="T69" fmla="*/ 383 h 434"/>
                <a:gd name="T70" fmla="*/ 1292 w 2322"/>
                <a:gd name="T71" fmla="*/ 391 h 434"/>
                <a:gd name="T72" fmla="*/ 1207 w 2322"/>
                <a:gd name="T73" fmla="*/ 410 h 434"/>
                <a:gd name="T74" fmla="*/ 1105 w 2322"/>
                <a:gd name="T75" fmla="*/ 409 h 434"/>
                <a:gd name="T76" fmla="*/ 1016 w 2322"/>
                <a:gd name="T77" fmla="*/ 415 h 434"/>
                <a:gd name="T78" fmla="*/ 927 w 2322"/>
                <a:gd name="T79" fmla="*/ 400 h 434"/>
                <a:gd name="T80" fmla="*/ 842 w 2322"/>
                <a:gd name="T81" fmla="*/ 409 h 434"/>
                <a:gd name="T82" fmla="*/ 772 w 2322"/>
                <a:gd name="T83" fmla="*/ 399 h 434"/>
                <a:gd name="T84" fmla="*/ 686 w 2322"/>
                <a:gd name="T85" fmla="*/ 409 h 434"/>
                <a:gd name="T86" fmla="*/ 594 w 2322"/>
                <a:gd name="T87" fmla="*/ 414 h 434"/>
                <a:gd name="T88" fmla="*/ 477 w 2322"/>
                <a:gd name="T89" fmla="*/ 433 h 434"/>
                <a:gd name="T90" fmla="*/ 340 w 2322"/>
                <a:gd name="T91" fmla="*/ 433 h 434"/>
                <a:gd name="T92" fmla="*/ 228 w 2322"/>
                <a:gd name="T93" fmla="*/ 417 h 434"/>
                <a:gd name="T94" fmla="*/ 124 w 2322"/>
                <a:gd name="T95" fmla="*/ 421 h 434"/>
                <a:gd name="T96" fmla="*/ 24 w 2322"/>
                <a:gd name="T97" fmla="*/ 401 h 43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322" h="434">
                  <a:moveTo>
                    <a:pt x="0" y="390"/>
                  </a:moveTo>
                  <a:lnTo>
                    <a:pt x="13" y="382"/>
                  </a:lnTo>
                  <a:lnTo>
                    <a:pt x="31" y="374"/>
                  </a:lnTo>
                  <a:lnTo>
                    <a:pt x="50" y="367"/>
                  </a:lnTo>
                  <a:lnTo>
                    <a:pt x="70" y="359"/>
                  </a:lnTo>
                  <a:lnTo>
                    <a:pt x="94" y="351"/>
                  </a:lnTo>
                  <a:lnTo>
                    <a:pt x="129" y="341"/>
                  </a:lnTo>
                  <a:lnTo>
                    <a:pt x="158" y="331"/>
                  </a:lnTo>
                  <a:lnTo>
                    <a:pt x="194" y="321"/>
                  </a:lnTo>
                  <a:lnTo>
                    <a:pt x="233" y="312"/>
                  </a:lnTo>
                  <a:lnTo>
                    <a:pt x="272" y="304"/>
                  </a:lnTo>
                  <a:lnTo>
                    <a:pt x="312" y="297"/>
                  </a:lnTo>
                  <a:lnTo>
                    <a:pt x="351" y="291"/>
                  </a:lnTo>
                  <a:lnTo>
                    <a:pt x="390" y="285"/>
                  </a:lnTo>
                  <a:lnTo>
                    <a:pt x="428" y="278"/>
                  </a:lnTo>
                  <a:lnTo>
                    <a:pt x="467" y="271"/>
                  </a:lnTo>
                  <a:lnTo>
                    <a:pt x="497" y="265"/>
                  </a:lnTo>
                  <a:lnTo>
                    <a:pt x="541" y="257"/>
                  </a:lnTo>
                  <a:lnTo>
                    <a:pt x="579" y="251"/>
                  </a:lnTo>
                  <a:lnTo>
                    <a:pt x="614" y="245"/>
                  </a:lnTo>
                  <a:lnTo>
                    <a:pt x="640" y="239"/>
                  </a:lnTo>
                  <a:lnTo>
                    <a:pt x="664" y="231"/>
                  </a:lnTo>
                  <a:lnTo>
                    <a:pt x="685" y="219"/>
                  </a:lnTo>
                  <a:lnTo>
                    <a:pt x="699" y="208"/>
                  </a:lnTo>
                  <a:lnTo>
                    <a:pt x="714" y="194"/>
                  </a:lnTo>
                  <a:lnTo>
                    <a:pt x="729" y="178"/>
                  </a:lnTo>
                  <a:lnTo>
                    <a:pt x="752" y="155"/>
                  </a:lnTo>
                  <a:lnTo>
                    <a:pt x="775" y="135"/>
                  </a:lnTo>
                  <a:lnTo>
                    <a:pt x="801" y="110"/>
                  </a:lnTo>
                  <a:lnTo>
                    <a:pt x="828" y="87"/>
                  </a:lnTo>
                  <a:lnTo>
                    <a:pt x="854" y="62"/>
                  </a:lnTo>
                  <a:lnTo>
                    <a:pt x="886" y="40"/>
                  </a:lnTo>
                  <a:lnTo>
                    <a:pt x="916" y="17"/>
                  </a:lnTo>
                  <a:lnTo>
                    <a:pt x="941" y="0"/>
                  </a:lnTo>
                  <a:lnTo>
                    <a:pt x="951" y="36"/>
                  </a:lnTo>
                  <a:lnTo>
                    <a:pt x="965" y="77"/>
                  </a:lnTo>
                  <a:lnTo>
                    <a:pt x="979" y="115"/>
                  </a:lnTo>
                  <a:lnTo>
                    <a:pt x="990" y="152"/>
                  </a:lnTo>
                  <a:lnTo>
                    <a:pt x="995" y="170"/>
                  </a:lnTo>
                  <a:lnTo>
                    <a:pt x="998" y="187"/>
                  </a:lnTo>
                  <a:lnTo>
                    <a:pt x="995" y="204"/>
                  </a:lnTo>
                  <a:lnTo>
                    <a:pt x="979" y="224"/>
                  </a:lnTo>
                  <a:lnTo>
                    <a:pt x="1019" y="232"/>
                  </a:lnTo>
                  <a:lnTo>
                    <a:pt x="1057" y="237"/>
                  </a:lnTo>
                  <a:lnTo>
                    <a:pt x="1104" y="245"/>
                  </a:lnTo>
                  <a:lnTo>
                    <a:pt x="1156" y="253"/>
                  </a:lnTo>
                  <a:lnTo>
                    <a:pt x="1208" y="263"/>
                  </a:lnTo>
                  <a:lnTo>
                    <a:pt x="1248" y="270"/>
                  </a:lnTo>
                  <a:lnTo>
                    <a:pt x="1291" y="275"/>
                  </a:lnTo>
                  <a:lnTo>
                    <a:pt x="1331" y="280"/>
                  </a:lnTo>
                  <a:lnTo>
                    <a:pt x="1364" y="283"/>
                  </a:lnTo>
                  <a:lnTo>
                    <a:pt x="1393" y="275"/>
                  </a:lnTo>
                  <a:lnTo>
                    <a:pt x="1419" y="263"/>
                  </a:lnTo>
                  <a:lnTo>
                    <a:pt x="1444" y="246"/>
                  </a:lnTo>
                  <a:lnTo>
                    <a:pt x="1501" y="255"/>
                  </a:lnTo>
                  <a:lnTo>
                    <a:pt x="1564" y="270"/>
                  </a:lnTo>
                  <a:lnTo>
                    <a:pt x="1610" y="279"/>
                  </a:lnTo>
                  <a:lnTo>
                    <a:pt x="1582" y="306"/>
                  </a:lnTo>
                  <a:lnTo>
                    <a:pt x="1603" y="315"/>
                  </a:lnTo>
                  <a:lnTo>
                    <a:pt x="1634" y="324"/>
                  </a:lnTo>
                  <a:lnTo>
                    <a:pt x="1666" y="331"/>
                  </a:lnTo>
                  <a:lnTo>
                    <a:pt x="1702" y="336"/>
                  </a:lnTo>
                  <a:lnTo>
                    <a:pt x="1734" y="333"/>
                  </a:lnTo>
                  <a:lnTo>
                    <a:pt x="1770" y="331"/>
                  </a:lnTo>
                  <a:lnTo>
                    <a:pt x="1805" y="324"/>
                  </a:lnTo>
                  <a:lnTo>
                    <a:pt x="1845" y="312"/>
                  </a:lnTo>
                  <a:lnTo>
                    <a:pt x="1881" y="291"/>
                  </a:lnTo>
                  <a:lnTo>
                    <a:pt x="1925" y="262"/>
                  </a:lnTo>
                  <a:lnTo>
                    <a:pt x="1959" y="235"/>
                  </a:lnTo>
                  <a:lnTo>
                    <a:pt x="2000" y="198"/>
                  </a:lnTo>
                  <a:lnTo>
                    <a:pt x="2017" y="181"/>
                  </a:lnTo>
                  <a:lnTo>
                    <a:pt x="2047" y="152"/>
                  </a:lnTo>
                  <a:lnTo>
                    <a:pt x="2072" y="135"/>
                  </a:lnTo>
                  <a:lnTo>
                    <a:pt x="2097" y="117"/>
                  </a:lnTo>
                  <a:lnTo>
                    <a:pt x="2122" y="101"/>
                  </a:lnTo>
                  <a:lnTo>
                    <a:pt x="2144" y="87"/>
                  </a:lnTo>
                  <a:lnTo>
                    <a:pt x="2167" y="77"/>
                  </a:lnTo>
                  <a:lnTo>
                    <a:pt x="2189" y="66"/>
                  </a:lnTo>
                  <a:lnTo>
                    <a:pt x="2208" y="58"/>
                  </a:lnTo>
                  <a:lnTo>
                    <a:pt x="2229" y="52"/>
                  </a:lnTo>
                  <a:lnTo>
                    <a:pt x="2252" y="49"/>
                  </a:lnTo>
                  <a:lnTo>
                    <a:pt x="2280" y="46"/>
                  </a:lnTo>
                  <a:lnTo>
                    <a:pt x="2321" y="47"/>
                  </a:lnTo>
                  <a:lnTo>
                    <a:pt x="2304" y="60"/>
                  </a:lnTo>
                  <a:lnTo>
                    <a:pt x="2286" y="79"/>
                  </a:lnTo>
                  <a:lnTo>
                    <a:pt x="2276" y="92"/>
                  </a:lnTo>
                  <a:lnTo>
                    <a:pt x="2260" y="115"/>
                  </a:lnTo>
                  <a:lnTo>
                    <a:pt x="2244" y="136"/>
                  </a:lnTo>
                  <a:lnTo>
                    <a:pt x="2221" y="154"/>
                  </a:lnTo>
                  <a:lnTo>
                    <a:pt x="2192" y="175"/>
                  </a:lnTo>
                  <a:lnTo>
                    <a:pt x="2178" y="187"/>
                  </a:lnTo>
                  <a:lnTo>
                    <a:pt x="2165" y="202"/>
                  </a:lnTo>
                  <a:lnTo>
                    <a:pt x="2151" y="219"/>
                  </a:lnTo>
                  <a:lnTo>
                    <a:pt x="2141" y="231"/>
                  </a:lnTo>
                  <a:lnTo>
                    <a:pt x="2130" y="244"/>
                  </a:lnTo>
                  <a:lnTo>
                    <a:pt x="2120" y="258"/>
                  </a:lnTo>
                  <a:lnTo>
                    <a:pt x="2111" y="273"/>
                  </a:lnTo>
                  <a:lnTo>
                    <a:pt x="2103" y="285"/>
                  </a:lnTo>
                  <a:lnTo>
                    <a:pt x="2095" y="297"/>
                  </a:lnTo>
                  <a:lnTo>
                    <a:pt x="2087" y="309"/>
                  </a:lnTo>
                  <a:lnTo>
                    <a:pt x="2082" y="324"/>
                  </a:lnTo>
                  <a:lnTo>
                    <a:pt x="2079" y="336"/>
                  </a:lnTo>
                  <a:lnTo>
                    <a:pt x="2078" y="350"/>
                  </a:lnTo>
                  <a:lnTo>
                    <a:pt x="2076" y="363"/>
                  </a:lnTo>
                  <a:lnTo>
                    <a:pt x="2063" y="355"/>
                  </a:lnTo>
                  <a:lnTo>
                    <a:pt x="2044" y="352"/>
                  </a:lnTo>
                  <a:lnTo>
                    <a:pt x="2027" y="351"/>
                  </a:lnTo>
                  <a:lnTo>
                    <a:pt x="2011" y="353"/>
                  </a:lnTo>
                  <a:lnTo>
                    <a:pt x="1995" y="358"/>
                  </a:lnTo>
                  <a:lnTo>
                    <a:pt x="1982" y="363"/>
                  </a:lnTo>
                  <a:lnTo>
                    <a:pt x="1967" y="367"/>
                  </a:lnTo>
                  <a:lnTo>
                    <a:pt x="1952" y="371"/>
                  </a:lnTo>
                  <a:lnTo>
                    <a:pt x="1936" y="373"/>
                  </a:lnTo>
                  <a:lnTo>
                    <a:pt x="1914" y="370"/>
                  </a:lnTo>
                  <a:lnTo>
                    <a:pt x="1896" y="367"/>
                  </a:lnTo>
                  <a:lnTo>
                    <a:pt x="1883" y="363"/>
                  </a:lnTo>
                  <a:lnTo>
                    <a:pt x="1867" y="359"/>
                  </a:lnTo>
                  <a:lnTo>
                    <a:pt x="1850" y="360"/>
                  </a:lnTo>
                  <a:lnTo>
                    <a:pt x="1827" y="364"/>
                  </a:lnTo>
                  <a:lnTo>
                    <a:pt x="1807" y="367"/>
                  </a:lnTo>
                  <a:lnTo>
                    <a:pt x="1791" y="367"/>
                  </a:lnTo>
                  <a:lnTo>
                    <a:pt x="1770" y="365"/>
                  </a:lnTo>
                  <a:lnTo>
                    <a:pt x="1749" y="360"/>
                  </a:lnTo>
                  <a:lnTo>
                    <a:pt x="1728" y="360"/>
                  </a:lnTo>
                  <a:lnTo>
                    <a:pt x="1710" y="365"/>
                  </a:lnTo>
                  <a:lnTo>
                    <a:pt x="1681" y="368"/>
                  </a:lnTo>
                  <a:lnTo>
                    <a:pt x="1663" y="368"/>
                  </a:lnTo>
                  <a:lnTo>
                    <a:pt x="1640" y="365"/>
                  </a:lnTo>
                  <a:lnTo>
                    <a:pt x="1618" y="363"/>
                  </a:lnTo>
                  <a:lnTo>
                    <a:pt x="1594" y="367"/>
                  </a:lnTo>
                  <a:lnTo>
                    <a:pt x="1575" y="374"/>
                  </a:lnTo>
                  <a:lnTo>
                    <a:pt x="1548" y="379"/>
                  </a:lnTo>
                  <a:lnTo>
                    <a:pt x="1528" y="381"/>
                  </a:lnTo>
                  <a:lnTo>
                    <a:pt x="1503" y="383"/>
                  </a:lnTo>
                  <a:lnTo>
                    <a:pt x="1484" y="385"/>
                  </a:lnTo>
                  <a:lnTo>
                    <a:pt x="1460" y="381"/>
                  </a:lnTo>
                  <a:lnTo>
                    <a:pt x="1436" y="375"/>
                  </a:lnTo>
                  <a:lnTo>
                    <a:pt x="1411" y="381"/>
                  </a:lnTo>
                  <a:lnTo>
                    <a:pt x="1394" y="382"/>
                  </a:lnTo>
                  <a:lnTo>
                    <a:pt x="1373" y="383"/>
                  </a:lnTo>
                  <a:lnTo>
                    <a:pt x="1353" y="381"/>
                  </a:lnTo>
                  <a:lnTo>
                    <a:pt x="1333" y="381"/>
                  </a:lnTo>
                  <a:lnTo>
                    <a:pt x="1312" y="383"/>
                  </a:lnTo>
                  <a:lnTo>
                    <a:pt x="1292" y="391"/>
                  </a:lnTo>
                  <a:lnTo>
                    <a:pt x="1275" y="396"/>
                  </a:lnTo>
                  <a:lnTo>
                    <a:pt x="1252" y="403"/>
                  </a:lnTo>
                  <a:lnTo>
                    <a:pt x="1231" y="406"/>
                  </a:lnTo>
                  <a:lnTo>
                    <a:pt x="1207" y="410"/>
                  </a:lnTo>
                  <a:lnTo>
                    <a:pt x="1183" y="413"/>
                  </a:lnTo>
                  <a:lnTo>
                    <a:pt x="1152" y="409"/>
                  </a:lnTo>
                  <a:lnTo>
                    <a:pt x="1124" y="407"/>
                  </a:lnTo>
                  <a:lnTo>
                    <a:pt x="1105" y="409"/>
                  </a:lnTo>
                  <a:lnTo>
                    <a:pt x="1078" y="412"/>
                  </a:lnTo>
                  <a:lnTo>
                    <a:pt x="1058" y="412"/>
                  </a:lnTo>
                  <a:lnTo>
                    <a:pt x="1035" y="414"/>
                  </a:lnTo>
                  <a:lnTo>
                    <a:pt x="1016" y="415"/>
                  </a:lnTo>
                  <a:lnTo>
                    <a:pt x="987" y="413"/>
                  </a:lnTo>
                  <a:lnTo>
                    <a:pt x="963" y="406"/>
                  </a:lnTo>
                  <a:lnTo>
                    <a:pt x="947" y="401"/>
                  </a:lnTo>
                  <a:lnTo>
                    <a:pt x="927" y="400"/>
                  </a:lnTo>
                  <a:lnTo>
                    <a:pt x="906" y="399"/>
                  </a:lnTo>
                  <a:lnTo>
                    <a:pt x="886" y="403"/>
                  </a:lnTo>
                  <a:lnTo>
                    <a:pt x="862" y="406"/>
                  </a:lnTo>
                  <a:lnTo>
                    <a:pt x="842" y="409"/>
                  </a:lnTo>
                  <a:lnTo>
                    <a:pt x="824" y="409"/>
                  </a:lnTo>
                  <a:lnTo>
                    <a:pt x="812" y="405"/>
                  </a:lnTo>
                  <a:lnTo>
                    <a:pt x="791" y="401"/>
                  </a:lnTo>
                  <a:lnTo>
                    <a:pt x="772" y="399"/>
                  </a:lnTo>
                  <a:lnTo>
                    <a:pt x="752" y="400"/>
                  </a:lnTo>
                  <a:lnTo>
                    <a:pt x="734" y="403"/>
                  </a:lnTo>
                  <a:lnTo>
                    <a:pt x="712" y="405"/>
                  </a:lnTo>
                  <a:lnTo>
                    <a:pt x="686" y="409"/>
                  </a:lnTo>
                  <a:lnTo>
                    <a:pt x="662" y="409"/>
                  </a:lnTo>
                  <a:lnTo>
                    <a:pt x="640" y="406"/>
                  </a:lnTo>
                  <a:lnTo>
                    <a:pt x="616" y="410"/>
                  </a:lnTo>
                  <a:lnTo>
                    <a:pt x="594" y="414"/>
                  </a:lnTo>
                  <a:lnTo>
                    <a:pt x="570" y="421"/>
                  </a:lnTo>
                  <a:lnTo>
                    <a:pt x="547" y="426"/>
                  </a:lnTo>
                  <a:lnTo>
                    <a:pt x="514" y="432"/>
                  </a:lnTo>
                  <a:lnTo>
                    <a:pt x="477" y="433"/>
                  </a:lnTo>
                  <a:lnTo>
                    <a:pt x="439" y="433"/>
                  </a:lnTo>
                  <a:lnTo>
                    <a:pt x="404" y="432"/>
                  </a:lnTo>
                  <a:lnTo>
                    <a:pt x="363" y="433"/>
                  </a:lnTo>
                  <a:lnTo>
                    <a:pt x="340" y="433"/>
                  </a:lnTo>
                  <a:lnTo>
                    <a:pt x="319" y="430"/>
                  </a:lnTo>
                  <a:lnTo>
                    <a:pt x="295" y="433"/>
                  </a:lnTo>
                  <a:lnTo>
                    <a:pt x="268" y="432"/>
                  </a:lnTo>
                  <a:lnTo>
                    <a:pt x="228" y="417"/>
                  </a:lnTo>
                  <a:lnTo>
                    <a:pt x="199" y="419"/>
                  </a:lnTo>
                  <a:lnTo>
                    <a:pt x="174" y="421"/>
                  </a:lnTo>
                  <a:lnTo>
                    <a:pt x="147" y="421"/>
                  </a:lnTo>
                  <a:lnTo>
                    <a:pt x="124" y="421"/>
                  </a:lnTo>
                  <a:lnTo>
                    <a:pt x="96" y="419"/>
                  </a:lnTo>
                  <a:lnTo>
                    <a:pt x="71" y="414"/>
                  </a:lnTo>
                  <a:lnTo>
                    <a:pt x="46" y="407"/>
                  </a:lnTo>
                  <a:lnTo>
                    <a:pt x="24" y="401"/>
                  </a:lnTo>
                  <a:lnTo>
                    <a:pt x="2" y="396"/>
                  </a:lnTo>
                  <a:lnTo>
                    <a:pt x="0" y="39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185" name="Group 22"/>
            <p:cNvGrpSpPr>
              <a:grpSpLocks/>
            </p:cNvGrpSpPr>
            <p:nvPr/>
          </p:nvGrpSpPr>
          <p:grpSpPr bwMode="auto">
            <a:xfrm>
              <a:off x="2488360" y="1426965"/>
              <a:ext cx="409657" cy="240506"/>
              <a:chOff x="1279" y="1775"/>
              <a:chExt cx="333" cy="202"/>
            </a:xfrm>
          </p:grpSpPr>
          <p:sp>
            <p:nvSpPr>
              <p:cNvPr id="7750" name="Freeform 23" descr="50%"/>
              <p:cNvSpPr>
                <a:spLocks/>
              </p:cNvSpPr>
              <p:nvPr/>
            </p:nvSpPr>
            <p:spPr bwMode="auto">
              <a:xfrm>
                <a:off x="1279" y="1779"/>
                <a:ext cx="333" cy="198"/>
              </a:xfrm>
              <a:custGeom>
                <a:avLst/>
                <a:gdLst>
                  <a:gd name="T0" fmla="*/ 311 w 333"/>
                  <a:gd name="T1" fmla="*/ 177 h 198"/>
                  <a:gd name="T2" fmla="*/ 293 w 333"/>
                  <a:gd name="T3" fmla="*/ 159 h 198"/>
                  <a:gd name="T4" fmla="*/ 281 w 333"/>
                  <a:gd name="T5" fmla="*/ 148 h 198"/>
                  <a:gd name="T6" fmla="*/ 272 w 333"/>
                  <a:gd name="T7" fmla="*/ 138 h 198"/>
                  <a:gd name="T8" fmla="*/ 262 w 333"/>
                  <a:gd name="T9" fmla="*/ 127 h 198"/>
                  <a:gd name="T10" fmla="*/ 254 w 333"/>
                  <a:gd name="T11" fmla="*/ 116 h 198"/>
                  <a:gd name="T12" fmla="*/ 246 w 333"/>
                  <a:gd name="T13" fmla="*/ 105 h 198"/>
                  <a:gd name="T14" fmla="*/ 237 w 333"/>
                  <a:gd name="T15" fmla="*/ 93 h 198"/>
                  <a:gd name="T16" fmla="*/ 230 w 333"/>
                  <a:gd name="T17" fmla="*/ 78 h 198"/>
                  <a:gd name="T18" fmla="*/ 224 w 333"/>
                  <a:gd name="T19" fmla="*/ 64 h 198"/>
                  <a:gd name="T20" fmla="*/ 219 w 333"/>
                  <a:gd name="T21" fmla="*/ 49 h 198"/>
                  <a:gd name="T22" fmla="*/ 215 w 333"/>
                  <a:gd name="T23" fmla="*/ 34 h 198"/>
                  <a:gd name="T24" fmla="*/ 215 w 333"/>
                  <a:gd name="T25" fmla="*/ 19 h 198"/>
                  <a:gd name="T26" fmla="*/ 214 w 333"/>
                  <a:gd name="T27" fmla="*/ 0 h 198"/>
                  <a:gd name="T28" fmla="*/ 0 w 333"/>
                  <a:gd name="T29" fmla="*/ 0 h 198"/>
                  <a:gd name="T30" fmla="*/ 6 w 333"/>
                  <a:gd name="T31" fmla="*/ 12 h 198"/>
                  <a:gd name="T32" fmla="*/ 17 w 333"/>
                  <a:gd name="T33" fmla="*/ 28 h 198"/>
                  <a:gd name="T34" fmla="*/ 27 w 333"/>
                  <a:gd name="T35" fmla="*/ 42 h 198"/>
                  <a:gd name="T36" fmla="*/ 39 w 333"/>
                  <a:gd name="T37" fmla="*/ 56 h 198"/>
                  <a:gd name="T38" fmla="*/ 54 w 333"/>
                  <a:gd name="T39" fmla="*/ 71 h 198"/>
                  <a:gd name="T40" fmla="*/ 70 w 333"/>
                  <a:gd name="T41" fmla="*/ 86 h 198"/>
                  <a:gd name="T42" fmla="*/ 87 w 333"/>
                  <a:gd name="T43" fmla="*/ 100 h 198"/>
                  <a:gd name="T44" fmla="*/ 104 w 333"/>
                  <a:gd name="T45" fmla="*/ 112 h 198"/>
                  <a:gd name="T46" fmla="*/ 123 w 333"/>
                  <a:gd name="T47" fmla="*/ 127 h 198"/>
                  <a:gd name="T48" fmla="*/ 146 w 333"/>
                  <a:gd name="T49" fmla="*/ 143 h 198"/>
                  <a:gd name="T50" fmla="*/ 166 w 333"/>
                  <a:gd name="T51" fmla="*/ 154 h 198"/>
                  <a:gd name="T52" fmla="*/ 184 w 333"/>
                  <a:gd name="T53" fmla="*/ 163 h 198"/>
                  <a:gd name="T54" fmla="*/ 201 w 333"/>
                  <a:gd name="T55" fmla="*/ 170 h 198"/>
                  <a:gd name="T56" fmla="*/ 219 w 333"/>
                  <a:gd name="T57" fmla="*/ 177 h 198"/>
                  <a:gd name="T58" fmla="*/ 238 w 333"/>
                  <a:gd name="T59" fmla="*/ 184 h 198"/>
                  <a:gd name="T60" fmla="*/ 259 w 333"/>
                  <a:gd name="T61" fmla="*/ 188 h 198"/>
                  <a:gd name="T62" fmla="*/ 282 w 333"/>
                  <a:gd name="T63" fmla="*/ 192 h 198"/>
                  <a:gd name="T64" fmla="*/ 300 w 333"/>
                  <a:gd name="T65" fmla="*/ 194 h 198"/>
                  <a:gd name="T66" fmla="*/ 318 w 333"/>
                  <a:gd name="T67" fmla="*/ 196 h 198"/>
                  <a:gd name="T68" fmla="*/ 332 w 333"/>
                  <a:gd name="T69" fmla="*/ 197 h 198"/>
                  <a:gd name="T70" fmla="*/ 311 w 333"/>
                  <a:gd name="T71" fmla="*/ 177 h 19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33" h="198">
                    <a:moveTo>
                      <a:pt x="311" y="177"/>
                    </a:moveTo>
                    <a:lnTo>
                      <a:pt x="293" y="159"/>
                    </a:lnTo>
                    <a:lnTo>
                      <a:pt x="281" y="148"/>
                    </a:lnTo>
                    <a:lnTo>
                      <a:pt x="272" y="138"/>
                    </a:lnTo>
                    <a:lnTo>
                      <a:pt x="262" y="127"/>
                    </a:lnTo>
                    <a:lnTo>
                      <a:pt x="254" y="116"/>
                    </a:lnTo>
                    <a:lnTo>
                      <a:pt x="246" y="105"/>
                    </a:lnTo>
                    <a:lnTo>
                      <a:pt x="237" y="93"/>
                    </a:lnTo>
                    <a:lnTo>
                      <a:pt x="230" y="78"/>
                    </a:lnTo>
                    <a:lnTo>
                      <a:pt x="224" y="64"/>
                    </a:lnTo>
                    <a:lnTo>
                      <a:pt x="219" y="49"/>
                    </a:lnTo>
                    <a:lnTo>
                      <a:pt x="215" y="34"/>
                    </a:lnTo>
                    <a:lnTo>
                      <a:pt x="215" y="19"/>
                    </a:lnTo>
                    <a:lnTo>
                      <a:pt x="214" y="0"/>
                    </a:lnTo>
                    <a:lnTo>
                      <a:pt x="0" y="0"/>
                    </a:lnTo>
                    <a:lnTo>
                      <a:pt x="6" y="12"/>
                    </a:lnTo>
                    <a:lnTo>
                      <a:pt x="17" y="28"/>
                    </a:lnTo>
                    <a:lnTo>
                      <a:pt x="27" y="42"/>
                    </a:lnTo>
                    <a:lnTo>
                      <a:pt x="39" y="56"/>
                    </a:lnTo>
                    <a:lnTo>
                      <a:pt x="54" y="71"/>
                    </a:lnTo>
                    <a:lnTo>
                      <a:pt x="70" y="86"/>
                    </a:lnTo>
                    <a:lnTo>
                      <a:pt x="87" y="100"/>
                    </a:lnTo>
                    <a:lnTo>
                      <a:pt x="104" y="112"/>
                    </a:lnTo>
                    <a:lnTo>
                      <a:pt x="123" y="127"/>
                    </a:lnTo>
                    <a:lnTo>
                      <a:pt x="146" y="143"/>
                    </a:lnTo>
                    <a:lnTo>
                      <a:pt x="166" y="154"/>
                    </a:lnTo>
                    <a:lnTo>
                      <a:pt x="184" y="163"/>
                    </a:lnTo>
                    <a:lnTo>
                      <a:pt x="201" y="170"/>
                    </a:lnTo>
                    <a:lnTo>
                      <a:pt x="219" y="177"/>
                    </a:lnTo>
                    <a:lnTo>
                      <a:pt x="238" y="184"/>
                    </a:lnTo>
                    <a:lnTo>
                      <a:pt x="259" y="188"/>
                    </a:lnTo>
                    <a:lnTo>
                      <a:pt x="282" y="192"/>
                    </a:lnTo>
                    <a:lnTo>
                      <a:pt x="300" y="194"/>
                    </a:lnTo>
                    <a:lnTo>
                      <a:pt x="318" y="196"/>
                    </a:lnTo>
                    <a:lnTo>
                      <a:pt x="332" y="197"/>
                    </a:lnTo>
                    <a:lnTo>
                      <a:pt x="311" y="177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51" name="Freeform 24" descr="50%"/>
              <p:cNvSpPr>
                <a:spLocks/>
              </p:cNvSpPr>
              <p:nvPr/>
            </p:nvSpPr>
            <p:spPr bwMode="auto">
              <a:xfrm>
                <a:off x="1285" y="1775"/>
                <a:ext cx="201" cy="7"/>
              </a:xfrm>
              <a:custGeom>
                <a:avLst/>
                <a:gdLst>
                  <a:gd name="T0" fmla="*/ 1 w 201"/>
                  <a:gd name="T1" fmla="*/ 0 h 7"/>
                  <a:gd name="T2" fmla="*/ 0 w 201"/>
                  <a:gd name="T3" fmla="*/ 2 h 7"/>
                  <a:gd name="T4" fmla="*/ 4 w 201"/>
                  <a:gd name="T5" fmla="*/ 6 h 7"/>
                  <a:gd name="T6" fmla="*/ 200 w 201"/>
                  <a:gd name="T7" fmla="*/ 6 h 7"/>
                  <a:gd name="T8" fmla="*/ 200 w 201"/>
                  <a:gd name="T9" fmla="*/ 0 h 7"/>
                  <a:gd name="T10" fmla="*/ 1 w 201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01" h="7">
                    <a:moveTo>
                      <a:pt x="1" y="0"/>
                    </a:moveTo>
                    <a:lnTo>
                      <a:pt x="0" y="2"/>
                    </a:lnTo>
                    <a:lnTo>
                      <a:pt x="4" y="6"/>
                    </a:lnTo>
                    <a:lnTo>
                      <a:pt x="200" y="6"/>
                    </a:lnTo>
                    <a:lnTo>
                      <a:pt x="200" y="0"/>
                    </a:lnTo>
                    <a:lnTo>
                      <a:pt x="1" y="0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86" name="Freeform 25" descr="50%"/>
            <p:cNvSpPr>
              <a:spLocks/>
            </p:cNvSpPr>
            <p:nvPr/>
          </p:nvSpPr>
          <p:spPr bwMode="auto">
            <a:xfrm>
              <a:off x="1835298" y="2404469"/>
              <a:ext cx="226357" cy="161925"/>
            </a:xfrm>
            <a:custGeom>
              <a:avLst/>
              <a:gdLst>
                <a:gd name="T0" fmla="*/ 0 w 184"/>
                <a:gd name="T1" fmla="*/ 0 h 136"/>
                <a:gd name="T2" fmla="*/ 7 w 184"/>
                <a:gd name="T3" fmla="*/ 14 h 136"/>
                <a:gd name="T4" fmla="*/ 16 w 184"/>
                <a:gd name="T5" fmla="*/ 28 h 136"/>
                <a:gd name="T6" fmla="*/ 27 w 184"/>
                <a:gd name="T7" fmla="*/ 43 h 136"/>
                <a:gd name="T8" fmla="*/ 38 w 184"/>
                <a:gd name="T9" fmla="*/ 55 h 136"/>
                <a:gd name="T10" fmla="*/ 52 w 184"/>
                <a:gd name="T11" fmla="*/ 70 h 136"/>
                <a:gd name="T12" fmla="*/ 66 w 184"/>
                <a:gd name="T13" fmla="*/ 85 h 136"/>
                <a:gd name="T14" fmla="*/ 77 w 184"/>
                <a:gd name="T15" fmla="*/ 96 h 136"/>
                <a:gd name="T16" fmla="*/ 90 w 184"/>
                <a:gd name="T17" fmla="*/ 106 h 136"/>
                <a:gd name="T18" fmla="*/ 103 w 184"/>
                <a:gd name="T19" fmla="*/ 114 h 136"/>
                <a:gd name="T20" fmla="*/ 117 w 184"/>
                <a:gd name="T21" fmla="*/ 121 h 136"/>
                <a:gd name="T22" fmla="*/ 131 w 184"/>
                <a:gd name="T23" fmla="*/ 127 h 136"/>
                <a:gd name="T24" fmla="*/ 146 w 184"/>
                <a:gd name="T25" fmla="*/ 132 h 136"/>
                <a:gd name="T26" fmla="*/ 162 w 184"/>
                <a:gd name="T27" fmla="*/ 135 h 136"/>
                <a:gd name="T28" fmla="*/ 176 w 184"/>
                <a:gd name="T29" fmla="*/ 135 h 136"/>
                <a:gd name="T30" fmla="*/ 183 w 184"/>
                <a:gd name="T31" fmla="*/ 134 h 136"/>
                <a:gd name="T32" fmla="*/ 174 w 184"/>
                <a:gd name="T33" fmla="*/ 125 h 136"/>
                <a:gd name="T34" fmla="*/ 164 w 184"/>
                <a:gd name="T35" fmla="*/ 113 h 136"/>
                <a:gd name="T36" fmla="*/ 154 w 184"/>
                <a:gd name="T37" fmla="*/ 101 h 136"/>
                <a:gd name="T38" fmla="*/ 144 w 184"/>
                <a:gd name="T39" fmla="*/ 87 h 136"/>
                <a:gd name="T40" fmla="*/ 135 w 184"/>
                <a:gd name="T41" fmla="*/ 73 h 136"/>
                <a:gd name="T42" fmla="*/ 128 w 184"/>
                <a:gd name="T43" fmla="*/ 60 h 136"/>
                <a:gd name="T44" fmla="*/ 124 w 184"/>
                <a:gd name="T45" fmla="*/ 48 h 136"/>
                <a:gd name="T46" fmla="*/ 119 w 184"/>
                <a:gd name="T47" fmla="*/ 28 h 136"/>
                <a:gd name="T48" fmla="*/ 119 w 184"/>
                <a:gd name="T49" fmla="*/ 13 h 136"/>
                <a:gd name="T50" fmla="*/ 119 w 184"/>
                <a:gd name="T51" fmla="*/ 2 h 136"/>
                <a:gd name="T52" fmla="*/ 0 w 184"/>
                <a:gd name="T53" fmla="*/ 0 h 1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84" h="136">
                  <a:moveTo>
                    <a:pt x="0" y="0"/>
                  </a:moveTo>
                  <a:lnTo>
                    <a:pt x="7" y="14"/>
                  </a:lnTo>
                  <a:lnTo>
                    <a:pt x="16" y="28"/>
                  </a:lnTo>
                  <a:lnTo>
                    <a:pt x="27" y="43"/>
                  </a:lnTo>
                  <a:lnTo>
                    <a:pt x="38" y="55"/>
                  </a:lnTo>
                  <a:lnTo>
                    <a:pt x="52" y="70"/>
                  </a:lnTo>
                  <a:lnTo>
                    <a:pt x="66" y="85"/>
                  </a:lnTo>
                  <a:lnTo>
                    <a:pt x="77" y="96"/>
                  </a:lnTo>
                  <a:lnTo>
                    <a:pt x="90" y="106"/>
                  </a:lnTo>
                  <a:lnTo>
                    <a:pt x="103" y="114"/>
                  </a:lnTo>
                  <a:lnTo>
                    <a:pt x="117" y="121"/>
                  </a:lnTo>
                  <a:lnTo>
                    <a:pt x="131" y="127"/>
                  </a:lnTo>
                  <a:lnTo>
                    <a:pt x="146" y="132"/>
                  </a:lnTo>
                  <a:lnTo>
                    <a:pt x="162" y="135"/>
                  </a:lnTo>
                  <a:lnTo>
                    <a:pt x="176" y="135"/>
                  </a:lnTo>
                  <a:lnTo>
                    <a:pt x="183" y="134"/>
                  </a:lnTo>
                  <a:lnTo>
                    <a:pt x="174" y="125"/>
                  </a:lnTo>
                  <a:lnTo>
                    <a:pt x="164" y="113"/>
                  </a:lnTo>
                  <a:lnTo>
                    <a:pt x="154" y="101"/>
                  </a:lnTo>
                  <a:lnTo>
                    <a:pt x="144" y="87"/>
                  </a:lnTo>
                  <a:lnTo>
                    <a:pt x="135" y="73"/>
                  </a:lnTo>
                  <a:lnTo>
                    <a:pt x="128" y="60"/>
                  </a:lnTo>
                  <a:lnTo>
                    <a:pt x="124" y="48"/>
                  </a:lnTo>
                  <a:lnTo>
                    <a:pt x="119" y="28"/>
                  </a:lnTo>
                  <a:lnTo>
                    <a:pt x="119" y="13"/>
                  </a:lnTo>
                  <a:lnTo>
                    <a:pt x="119" y="2"/>
                  </a:lnTo>
                  <a:lnTo>
                    <a:pt x="0" y="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7" name="Freeform 26" descr="50%"/>
            <p:cNvSpPr>
              <a:spLocks/>
            </p:cNvSpPr>
            <p:nvPr/>
          </p:nvSpPr>
          <p:spPr bwMode="auto">
            <a:xfrm>
              <a:off x="1348138" y="2010372"/>
              <a:ext cx="1927727" cy="523875"/>
            </a:xfrm>
            <a:custGeom>
              <a:avLst/>
              <a:gdLst>
                <a:gd name="T0" fmla="*/ 17 w 1567"/>
                <a:gd name="T1" fmla="*/ 261 h 440"/>
                <a:gd name="T2" fmla="*/ 64 w 1567"/>
                <a:gd name="T3" fmla="*/ 244 h 440"/>
                <a:gd name="T4" fmla="*/ 137 w 1567"/>
                <a:gd name="T5" fmla="*/ 222 h 440"/>
                <a:gd name="T6" fmla="*/ 214 w 1567"/>
                <a:gd name="T7" fmla="*/ 207 h 440"/>
                <a:gd name="T8" fmla="*/ 289 w 1567"/>
                <a:gd name="T9" fmla="*/ 193 h 440"/>
                <a:gd name="T10" fmla="*/ 367 w 1567"/>
                <a:gd name="T11" fmla="*/ 179 h 440"/>
                <a:gd name="T12" fmla="*/ 431 w 1567"/>
                <a:gd name="T13" fmla="*/ 167 h 440"/>
                <a:gd name="T14" fmla="*/ 468 w 1567"/>
                <a:gd name="T15" fmla="*/ 147 h 440"/>
                <a:gd name="T16" fmla="*/ 504 w 1567"/>
                <a:gd name="T17" fmla="*/ 112 h 440"/>
                <a:gd name="T18" fmla="*/ 558 w 1567"/>
                <a:gd name="T19" fmla="*/ 62 h 440"/>
                <a:gd name="T20" fmla="*/ 613 w 1567"/>
                <a:gd name="T21" fmla="*/ 16 h 440"/>
                <a:gd name="T22" fmla="*/ 652 w 1567"/>
                <a:gd name="T23" fmla="*/ 53 h 440"/>
                <a:gd name="T24" fmla="*/ 674 w 1567"/>
                <a:gd name="T25" fmla="*/ 131 h 440"/>
                <a:gd name="T26" fmla="*/ 688 w 1567"/>
                <a:gd name="T27" fmla="*/ 161 h 440"/>
                <a:gd name="T28" fmla="*/ 778 w 1567"/>
                <a:gd name="T29" fmla="*/ 176 h 440"/>
                <a:gd name="T30" fmla="*/ 870 w 1567"/>
                <a:gd name="T31" fmla="*/ 192 h 440"/>
                <a:gd name="T32" fmla="*/ 938 w 1567"/>
                <a:gd name="T33" fmla="*/ 192 h 440"/>
                <a:gd name="T34" fmla="*/ 1011 w 1567"/>
                <a:gd name="T35" fmla="*/ 178 h 440"/>
                <a:gd name="T36" fmla="*/ 1067 w 1567"/>
                <a:gd name="T37" fmla="*/ 215 h 440"/>
                <a:gd name="T38" fmla="*/ 1122 w 1567"/>
                <a:gd name="T39" fmla="*/ 230 h 440"/>
                <a:gd name="T40" fmla="*/ 1191 w 1567"/>
                <a:gd name="T41" fmla="*/ 229 h 440"/>
                <a:gd name="T42" fmla="*/ 1265 w 1567"/>
                <a:gd name="T43" fmla="*/ 203 h 440"/>
                <a:gd name="T44" fmla="*/ 1346 w 1567"/>
                <a:gd name="T45" fmla="*/ 138 h 440"/>
                <a:gd name="T46" fmla="*/ 1441 w 1567"/>
                <a:gd name="T47" fmla="*/ 63 h 440"/>
                <a:gd name="T48" fmla="*/ 1536 w 1567"/>
                <a:gd name="T49" fmla="*/ 33 h 440"/>
                <a:gd name="T50" fmla="*/ 1540 w 1567"/>
                <a:gd name="T51" fmla="*/ 59 h 440"/>
                <a:gd name="T52" fmla="*/ 1494 w 1567"/>
                <a:gd name="T53" fmla="*/ 112 h 440"/>
                <a:gd name="T54" fmla="*/ 1441 w 1567"/>
                <a:gd name="T55" fmla="*/ 165 h 440"/>
                <a:gd name="T56" fmla="*/ 1407 w 1567"/>
                <a:gd name="T57" fmla="*/ 218 h 440"/>
                <a:gd name="T58" fmla="*/ 1407 w 1567"/>
                <a:gd name="T59" fmla="*/ 273 h 440"/>
                <a:gd name="T60" fmla="*/ 1444 w 1567"/>
                <a:gd name="T61" fmla="*/ 329 h 440"/>
                <a:gd name="T62" fmla="*/ 1492 w 1567"/>
                <a:gd name="T63" fmla="*/ 371 h 440"/>
                <a:gd name="T64" fmla="*/ 1534 w 1567"/>
                <a:gd name="T65" fmla="*/ 405 h 440"/>
                <a:gd name="T66" fmla="*/ 1536 w 1567"/>
                <a:gd name="T67" fmla="*/ 423 h 440"/>
                <a:gd name="T68" fmla="*/ 1477 w 1567"/>
                <a:gd name="T69" fmla="*/ 421 h 440"/>
                <a:gd name="T70" fmla="*/ 1424 w 1567"/>
                <a:gd name="T71" fmla="*/ 408 h 440"/>
                <a:gd name="T72" fmla="*/ 1375 w 1567"/>
                <a:gd name="T73" fmla="*/ 384 h 440"/>
                <a:gd name="T74" fmla="*/ 1292 w 1567"/>
                <a:gd name="T75" fmla="*/ 335 h 440"/>
                <a:gd name="T76" fmla="*/ 1191 w 1567"/>
                <a:gd name="T77" fmla="*/ 327 h 440"/>
                <a:gd name="T78" fmla="*/ 1069 w 1567"/>
                <a:gd name="T79" fmla="*/ 340 h 440"/>
                <a:gd name="T80" fmla="*/ 992 w 1567"/>
                <a:gd name="T81" fmla="*/ 369 h 440"/>
                <a:gd name="T82" fmla="*/ 966 w 1567"/>
                <a:gd name="T83" fmla="*/ 404 h 440"/>
                <a:gd name="T84" fmla="*/ 857 w 1567"/>
                <a:gd name="T85" fmla="*/ 400 h 440"/>
                <a:gd name="T86" fmla="*/ 765 w 1567"/>
                <a:gd name="T87" fmla="*/ 428 h 440"/>
                <a:gd name="T88" fmla="*/ 424 w 1567"/>
                <a:gd name="T89" fmla="*/ 439 h 440"/>
                <a:gd name="T90" fmla="*/ 228 w 1567"/>
                <a:gd name="T91" fmla="*/ 420 h 440"/>
                <a:gd name="T92" fmla="*/ 56 w 1567"/>
                <a:gd name="T93" fmla="*/ 365 h 440"/>
                <a:gd name="T94" fmla="*/ 56 w 1567"/>
                <a:gd name="T95" fmla="*/ 337 h 440"/>
                <a:gd name="T96" fmla="*/ 18 w 1567"/>
                <a:gd name="T97" fmla="*/ 303 h 440"/>
                <a:gd name="T98" fmla="*/ 3 w 1567"/>
                <a:gd name="T99" fmla="*/ 280 h 44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567" h="440">
                  <a:moveTo>
                    <a:pt x="0" y="272"/>
                  </a:moveTo>
                  <a:lnTo>
                    <a:pt x="5" y="268"/>
                  </a:lnTo>
                  <a:lnTo>
                    <a:pt x="17" y="261"/>
                  </a:lnTo>
                  <a:lnTo>
                    <a:pt x="35" y="254"/>
                  </a:lnTo>
                  <a:lnTo>
                    <a:pt x="49" y="250"/>
                  </a:lnTo>
                  <a:lnTo>
                    <a:pt x="64" y="244"/>
                  </a:lnTo>
                  <a:lnTo>
                    <a:pt x="89" y="236"/>
                  </a:lnTo>
                  <a:lnTo>
                    <a:pt x="114" y="229"/>
                  </a:lnTo>
                  <a:lnTo>
                    <a:pt x="137" y="222"/>
                  </a:lnTo>
                  <a:lnTo>
                    <a:pt x="161" y="217"/>
                  </a:lnTo>
                  <a:lnTo>
                    <a:pt x="186" y="212"/>
                  </a:lnTo>
                  <a:lnTo>
                    <a:pt x="214" y="207"/>
                  </a:lnTo>
                  <a:lnTo>
                    <a:pt x="241" y="202"/>
                  </a:lnTo>
                  <a:lnTo>
                    <a:pt x="265" y="197"/>
                  </a:lnTo>
                  <a:lnTo>
                    <a:pt x="289" y="193"/>
                  </a:lnTo>
                  <a:lnTo>
                    <a:pt x="311" y="189"/>
                  </a:lnTo>
                  <a:lnTo>
                    <a:pt x="342" y="183"/>
                  </a:lnTo>
                  <a:lnTo>
                    <a:pt x="367" y="179"/>
                  </a:lnTo>
                  <a:lnTo>
                    <a:pt x="391" y="175"/>
                  </a:lnTo>
                  <a:lnTo>
                    <a:pt x="412" y="172"/>
                  </a:lnTo>
                  <a:lnTo>
                    <a:pt x="431" y="167"/>
                  </a:lnTo>
                  <a:lnTo>
                    <a:pt x="446" y="161"/>
                  </a:lnTo>
                  <a:lnTo>
                    <a:pt x="457" y="155"/>
                  </a:lnTo>
                  <a:lnTo>
                    <a:pt x="468" y="147"/>
                  </a:lnTo>
                  <a:lnTo>
                    <a:pt x="478" y="138"/>
                  </a:lnTo>
                  <a:lnTo>
                    <a:pt x="490" y="126"/>
                  </a:lnTo>
                  <a:lnTo>
                    <a:pt x="504" y="112"/>
                  </a:lnTo>
                  <a:lnTo>
                    <a:pt x="522" y="95"/>
                  </a:lnTo>
                  <a:lnTo>
                    <a:pt x="539" y="78"/>
                  </a:lnTo>
                  <a:lnTo>
                    <a:pt x="558" y="62"/>
                  </a:lnTo>
                  <a:lnTo>
                    <a:pt x="574" y="45"/>
                  </a:lnTo>
                  <a:lnTo>
                    <a:pt x="593" y="31"/>
                  </a:lnTo>
                  <a:lnTo>
                    <a:pt x="613" y="16"/>
                  </a:lnTo>
                  <a:lnTo>
                    <a:pt x="636" y="0"/>
                  </a:lnTo>
                  <a:lnTo>
                    <a:pt x="643" y="28"/>
                  </a:lnTo>
                  <a:lnTo>
                    <a:pt x="652" y="53"/>
                  </a:lnTo>
                  <a:lnTo>
                    <a:pt x="661" y="80"/>
                  </a:lnTo>
                  <a:lnTo>
                    <a:pt x="669" y="108"/>
                  </a:lnTo>
                  <a:lnTo>
                    <a:pt x="674" y="131"/>
                  </a:lnTo>
                  <a:lnTo>
                    <a:pt x="673" y="145"/>
                  </a:lnTo>
                  <a:lnTo>
                    <a:pt x="663" y="157"/>
                  </a:lnTo>
                  <a:lnTo>
                    <a:pt x="688" y="161"/>
                  </a:lnTo>
                  <a:lnTo>
                    <a:pt x="713" y="165"/>
                  </a:lnTo>
                  <a:lnTo>
                    <a:pt x="744" y="171"/>
                  </a:lnTo>
                  <a:lnTo>
                    <a:pt x="778" y="176"/>
                  </a:lnTo>
                  <a:lnTo>
                    <a:pt x="813" y="183"/>
                  </a:lnTo>
                  <a:lnTo>
                    <a:pt x="841" y="188"/>
                  </a:lnTo>
                  <a:lnTo>
                    <a:pt x="870" y="192"/>
                  </a:lnTo>
                  <a:lnTo>
                    <a:pt x="896" y="195"/>
                  </a:lnTo>
                  <a:lnTo>
                    <a:pt x="920" y="197"/>
                  </a:lnTo>
                  <a:lnTo>
                    <a:pt x="938" y="192"/>
                  </a:lnTo>
                  <a:lnTo>
                    <a:pt x="955" y="183"/>
                  </a:lnTo>
                  <a:lnTo>
                    <a:pt x="972" y="172"/>
                  </a:lnTo>
                  <a:lnTo>
                    <a:pt x="1011" y="178"/>
                  </a:lnTo>
                  <a:lnTo>
                    <a:pt x="1053" y="188"/>
                  </a:lnTo>
                  <a:lnTo>
                    <a:pt x="1089" y="194"/>
                  </a:lnTo>
                  <a:lnTo>
                    <a:pt x="1067" y="215"/>
                  </a:lnTo>
                  <a:lnTo>
                    <a:pt x="1080" y="219"/>
                  </a:lnTo>
                  <a:lnTo>
                    <a:pt x="1100" y="225"/>
                  </a:lnTo>
                  <a:lnTo>
                    <a:pt x="1122" y="230"/>
                  </a:lnTo>
                  <a:lnTo>
                    <a:pt x="1146" y="234"/>
                  </a:lnTo>
                  <a:lnTo>
                    <a:pt x="1168" y="231"/>
                  </a:lnTo>
                  <a:lnTo>
                    <a:pt x="1191" y="229"/>
                  </a:lnTo>
                  <a:lnTo>
                    <a:pt x="1216" y="225"/>
                  </a:lnTo>
                  <a:lnTo>
                    <a:pt x="1242" y="217"/>
                  </a:lnTo>
                  <a:lnTo>
                    <a:pt x="1265" y="203"/>
                  </a:lnTo>
                  <a:lnTo>
                    <a:pt x="1295" y="183"/>
                  </a:lnTo>
                  <a:lnTo>
                    <a:pt x="1317" y="165"/>
                  </a:lnTo>
                  <a:lnTo>
                    <a:pt x="1346" y="138"/>
                  </a:lnTo>
                  <a:lnTo>
                    <a:pt x="1376" y="108"/>
                  </a:lnTo>
                  <a:lnTo>
                    <a:pt x="1411" y="82"/>
                  </a:lnTo>
                  <a:lnTo>
                    <a:pt x="1441" y="63"/>
                  </a:lnTo>
                  <a:lnTo>
                    <a:pt x="1471" y="48"/>
                  </a:lnTo>
                  <a:lnTo>
                    <a:pt x="1500" y="38"/>
                  </a:lnTo>
                  <a:lnTo>
                    <a:pt x="1536" y="33"/>
                  </a:lnTo>
                  <a:lnTo>
                    <a:pt x="1566" y="35"/>
                  </a:lnTo>
                  <a:lnTo>
                    <a:pt x="1550" y="48"/>
                  </a:lnTo>
                  <a:lnTo>
                    <a:pt x="1540" y="59"/>
                  </a:lnTo>
                  <a:lnTo>
                    <a:pt x="1534" y="68"/>
                  </a:lnTo>
                  <a:lnTo>
                    <a:pt x="1511" y="98"/>
                  </a:lnTo>
                  <a:lnTo>
                    <a:pt x="1494" y="112"/>
                  </a:lnTo>
                  <a:lnTo>
                    <a:pt x="1474" y="128"/>
                  </a:lnTo>
                  <a:lnTo>
                    <a:pt x="1456" y="147"/>
                  </a:lnTo>
                  <a:lnTo>
                    <a:pt x="1441" y="165"/>
                  </a:lnTo>
                  <a:lnTo>
                    <a:pt x="1428" y="183"/>
                  </a:lnTo>
                  <a:lnTo>
                    <a:pt x="1416" y="202"/>
                  </a:lnTo>
                  <a:lnTo>
                    <a:pt x="1407" y="218"/>
                  </a:lnTo>
                  <a:lnTo>
                    <a:pt x="1401" y="235"/>
                  </a:lnTo>
                  <a:lnTo>
                    <a:pt x="1399" y="254"/>
                  </a:lnTo>
                  <a:lnTo>
                    <a:pt x="1407" y="273"/>
                  </a:lnTo>
                  <a:lnTo>
                    <a:pt x="1416" y="294"/>
                  </a:lnTo>
                  <a:lnTo>
                    <a:pt x="1429" y="311"/>
                  </a:lnTo>
                  <a:lnTo>
                    <a:pt x="1444" y="329"/>
                  </a:lnTo>
                  <a:lnTo>
                    <a:pt x="1459" y="343"/>
                  </a:lnTo>
                  <a:lnTo>
                    <a:pt x="1475" y="356"/>
                  </a:lnTo>
                  <a:lnTo>
                    <a:pt x="1492" y="371"/>
                  </a:lnTo>
                  <a:lnTo>
                    <a:pt x="1511" y="387"/>
                  </a:lnTo>
                  <a:lnTo>
                    <a:pt x="1522" y="397"/>
                  </a:lnTo>
                  <a:lnTo>
                    <a:pt x="1534" y="405"/>
                  </a:lnTo>
                  <a:lnTo>
                    <a:pt x="1546" y="413"/>
                  </a:lnTo>
                  <a:lnTo>
                    <a:pt x="1554" y="422"/>
                  </a:lnTo>
                  <a:lnTo>
                    <a:pt x="1536" y="423"/>
                  </a:lnTo>
                  <a:lnTo>
                    <a:pt x="1514" y="423"/>
                  </a:lnTo>
                  <a:lnTo>
                    <a:pt x="1494" y="423"/>
                  </a:lnTo>
                  <a:lnTo>
                    <a:pt x="1477" y="421"/>
                  </a:lnTo>
                  <a:lnTo>
                    <a:pt x="1455" y="419"/>
                  </a:lnTo>
                  <a:lnTo>
                    <a:pt x="1439" y="414"/>
                  </a:lnTo>
                  <a:lnTo>
                    <a:pt x="1424" y="408"/>
                  </a:lnTo>
                  <a:lnTo>
                    <a:pt x="1408" y="401"/>
                  </a:lnTo>
                  <a:lnTo>
                    <a:pt x="1391" y="393"/>
                  </a:lnTo>
                  <a:lnTo>
                    <a:pt x="1375" y="384"/>
                  </a:lnTo>
                  <a:lnTo>
                    <a:pt x="1344" y="363"/>
                  </a:lnTo>
                  <a:lnTo>
                    <a:pt x="1322" y="350"/>
                  </a:lnTo>
                  <a:lnTo>
                    <a:pt x="1292" y="335"/>
                  </a:lnTo>
                  <a:lnTo>
                    <a:pt x="1263" y="330"/>
                  </a:lnTo>
                  <a:lnTo>
                    <a:pt x="1232" y="331"/>
                  </a:lnTo>
                  <a:lnTo>
                    <a:pt x="1191" y="327"/>
                  </a:lnTo>
                  <a:lnTo>
                    <a:pt x="1154" y="331"/>
                  </a:lnTo>
                  <a:lnTo>
                    <a:pt x="1112" y="333"/>
                  </a:lnTo>
                  <a:lnTo>
                    <a:pt x="1069" y="340"/>
                  </a:lnTo>
                  <a:lnTo>
                    <a:pt x="1024" y="350"/>
                  </a:lnTo>
                  <a:lnTo>
                    <a:pt x="997" y="360"/>
                  </a:lnTo>
                  <a:lnTo>
                    <a:pt x="992" y="369"/>
                  </a:lnTo>
                  <a:lnTo>
                    <a:pt x="997" y="378"/>
                  </a:lnTo>
                  <a:lnTo>
                    <a:pt x="1019" y="391"/>
                  </a:lnTo>
                  <a:lnTo>
                    <a:pt x="966" y="404"/>
                  </a:lnTo>
                  <a:lnTo>
                    <a:pt x="893" y="422"/>
                  </a:lnTo>
                  <a:lnTo>
                    <a:pt x="877" y="409"/>
                  </a:lnTo>
                  <a:lnTo>
                    <a:pt x="857" y="400"/>
                  </a:lnTo>
                  <a:lnTo>
                    <a:pt x="837" y="395"/>
                  </a:lnTo>
                  <a:lnTo>
                    <a:pt x="806" y="394"/>
                  </a:lnTo>
                  <a:lnTo>
                    <a:pt x="765" y="428"/>
                  </a:lnTo>
                  <a:lnTo>
                    <a:pt x="731" y="403"/>
                  </a:lnTo>
                  <a:lnTo>
                    <a:pt x="475" y="437"/>
                  </a:lnTo>
                  <a:lnTo>
                    <a:pt x="424" y="439"/>
                  </a:lnTo>
                  <a:lnTo>
                    <a:pt x="376" y="436"/>
                  </a:lnTo>
                  <a:lnTo>
                    <a:pt x="327" y="432"/>
                  </a:lnTo>
                  <a:lnTo>
                    <a:pt x="228" y="420"/>
                  </a:lnTo>
                  <a:lnTo>
                    <a:pt x="139" y="399"/>
                  </a:lnTo>
                  <a:lnTo>
                    <a:pt x="90" y="382"/>
                  </a:lnTo>
                  <a:lnTo>
                    <a:pt x="56" y="365"/>
                  </a:lnTo>
                  <a:lnTo>
                    <a:pt x="92" y="359"/>
                  </a:lnTo>
                  <a:lnTo>
                    <a:pt x="70" y="346"/>
                  </a:lnTo>
                  <a:lnTo>
                    <a:pt x="56" y="337"/>
                  </a:lnTo>
                  <a:lnTo>
                    <a:pt x="31" y="317"/>
                  </a:lnTo>
                  <a:lnTo>
                    <a:pt x="25" y="311"/>
                  </a:lnTo>
                  <a:lnTo>
                    <a:pt x="18" y="303"/>
                  </a:lnTo>
                  <a:lnTo>
                    <a:pt x="13" y="297"/>
                  </a:lnTo>
                  <a:lnTo>
                    <a:pt x="8" y="287"/>
                  </a:lnTo>
                  <a:lnTo>
                    <a:pt x="3" y="280"/>
                  </a:lnTo>
                  <a:lnTo>
                    <a:pt x="0" y="272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188" name="Group 27"/>
            <p:cNvGrpSpPr>
              <a:grpSpLocks/>
            </p:cNvGrpSpPr>
            <p:nvPr/>
          </p:nvGrpSpPr>
          <p:grpSpPr bwMode="auto">
            <a:xfrm>
              <a:off x="1515446" y="2349700"/>
              <a:ext cx="40597" cy="35719"/>
              <a:chOff x="854" y="2407"/>
              <a:chExt cx="33" cy="30"/>
            </a:xfrm>
          </p:grpSpPr>
          <p:sp>
            <p:nvSpPr>
              <p:cNvPr id="7748" name="Oval 28" descr="50%"/>
              <p:cNvSpPr>
                <a:spLocks noChangeArrowheads="1"/>
              </p:cNvSpPr>
              <p:nvPr/>
            </p:nvSpPr>
            <p:spPr bwMode="auto">
              <a:xfrm>
                <a:off x="854" y="2407"/>
                <a:ext cx="33" cy="30"/>
              </a:xfrm>
              <a:prstGeom prst="ellipse">
                <a:avLst/>
              </a:pr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49" name="Arc 29" descr="50%"/>
              <p:cNvSpPr>
                <a:spLocks/>
              </p:cNvSpPr>
              <p:nvPr/>
            </p:nvSpPr>
            <p:spPr bwMode="auto">
              <a:xfrm>
                <a:off x="860" y="2411"/>
                <a:ext cx="25" cy="23"/>
              </a:xfrm>
              <a:custGeom>
                <a:avLst/>
                <a:gdLst>
                  <a:gd name="T0" fmla="*/ 20 w 43200"/>
                  <a:gd name="T1" fmla="*/ 2 h 42650"/>
                  <a:gd name="T2" fmla="*/ 10 w 43200"/>
                  <a:gd name="T3" fmla="*/ 0 h 42650"/>
                  <a:gd name="T4" fmla="*/ 13 w 43200"/>
                  <a:gd name="T5" fmla="*/ 11 h 4265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2650" fill="none" extrusionOk="0">
                    <a:moveTo>
                      <a:pt x="35273" y="4329"/>
                    </a:moveTo>
                    <a:cubicBezTo>
                      <a:pt x="40290" y="8431"/>
                      <a:pt x="43200" y="14569"/>
                      <a:pt x="43200" y="21050"/>
                    </a:cubicBezTo>
                    <a:cubicBezTo>
                      <a:pt x="43200" y="32979"/>
                      <a:pt x="33529" y="42650"/>
                      <a:pt x="21600" y="42650"/>
                    </a:cubicBezTo>
                    <a:cubicBezTo>
                      <a:pt x="9670" y="42650"/>
                      <a:pt x="0" y="32979"/>
                      <a:pt x="0" y="21050"/>
                    </a:cubicBezTo>
                    <a:cubicBezTo>
                      <a:pt x="-1" y="10986"/>
                      <a:pt x="6950" y="2255"/>
                      <a:pt x="16757" y="-1"/>
                    </a:cubicBezTo>
                  </a:path>
                  <a:path w="43200" h="42650" stroke="0" extrusionOk="0">
                    <a:moveTo>
                      <a:pt x="35273" y="4329"/>
                    </a:moveTo>
                    <a:cubicBezTo>
                      <a:pt x="40290" y="8431"/>
                      <a:pt x="43200" y="14569"/>
                      <a:pt x="43200" y="21050"/>
                    </a:cubicBezTo>
                    <a:cubicBezTo>
                      <a:pt x="43200" y="32979"/>
                      <a:pt x="33529" y="42650"/>
                      <a:pt x="21600" y="42650"/>
                    </a:cubicBezTo>
                    <a:cubicBezTo>
                      <a:pt x="9670" y="42650"/>
                      <a:pt x="0" y="32979"/>
                      <a:pt x="0" y="21050"/>
                    </a:cubicBezTo>
                    <a:cubicBezTo>
                      <a:pt x="-1" y="10986"/>
                      <a:pt x="6950" y="2255"/>
                      <a:pt x="16757" y="-1"/>
                    </a:cubicBezTo>
                    <a:lnTo>
                      <a:pt x="21600" y="21050"/>
                    </a:lnTo>
                    <a:lnTo>
                      <a:pt x="35273" y="4329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189" name="Group 30"/>
            <p:cNvGrpSpPr>
              <a:grpSpLocks/>
            </p:cNvGrpSpPr>
            <p:nvPr/>
          </p:nvGrpSpPr>
          <p:grpSpPr bwMode="auto">
            <a:xfrm>
              <a:off x="1631085" y="2391372"/>
              <a:ext cx="121790" cy="85725"/>
              <a:chOff x="948" y="2442"/>
              <a:chExt cx="99" cy="72"/>
            </a:xfrm>
          </p:grpSpPr>
          <p:sp>
            <p:nvSpPr>
              <p:cNvPr id="7743" name="Arc 31" descr="50%"/>
              <p:cNvSpPr>
                <a:spLocks/>
              </p:cNvSpPr>
              <p:nvPr/>
            </p:nvSpPr>
            <p:spPr bwMode="auto">
              <a:xfrm>
                <a:off x="969" y="2442"/>
                <a:ext cx="13" cy="72"/>
              </a:xfrm>
              <a:custGeom>
                <a:avLst/>
                <a:gdLst>
                  <a:gd name="T0" fmla="*/ 1 w 25753"/>
                  <a:gd name="T1" fmla="*/ 0 h 43200"/>
                  <a:gd name="T2" fmla="*/ 0 w 25753"/>
                  <a:gd name="T3" fmla="*/ 71 h 43200"/>
                  <a:gd name="T4" fmla="*/ 2 w 25753"/>
                  <a:gd name="T5" fmla="*/ 3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753" h="43200" fill="none" extrusionOk="0">
                    <a:moveTo>
                      <a:pt x="2105" y="97"/>
                    </a:moveTo>
                    <a:cubicBezTo>
                      <a:pt x="2785" y="32"/>
                      <a:pt x="3469" y="-1"/>
                      <a:pt x="4153" y="0"/>
                    </a:cubicBezTo>
                    <a:cubicBezTo>
                      <a:pt x="16082" y="0"/>
                      <a:pt x="25753" y="9670"/>
                      <a:pt x="25753" y="21600"/>
                    </a:cubicBezTo>
                    <a:cubicBezTo>
                      <a:pt x="25753" y="33529"/>
                      <a:pt x="16082" y="43200"/>
                      <a:pt x="4153" y="43200"/>
                    </a:cubicBezTo>
                    <a:cubicBezTo>
                      <a:pt x="2758" y="43200"/>
                      <a:pt x="1368" y="43065"/>
                      <a:pt x="0" y="42796"/>
                    </a:cubicBezTo>
                  </a:path>
                  <a:path w="25753" h="43200" stroke="0" extrusionOk="0">
                    <a:moveTo>
                      <a:pt x="2105" y="97"/>
                    </a:moveTo>
                    <a:cubicBezTo>
                      <a:pt x="2785" y="32"/>
                      <a:pt x="3469" y="-1"/>
                      <a:pt x="4153" y="0"/>
                    </a:cubicBezTo>
                    <a:cubicBezTo>
                      <a:pt x="16082" y="0"/>
                      <a:pt x="25753" y="9670"/>
                      <a:pt x="25753" y="21600"/>
                    </a:cubicBezTo>
                    <a:cubicBezTo>
                      <a:pt x="25753" y="33529"/>
                      <a:pt x="16082" y="43200"/>
                      <a:pt x="4153" y="43200"/>
                    </a:cubicBezTo>
                    <a:cubicBezTo>
                      <a:pt x="2758" y="43200"/>
                      <a:pt x="1368" y="43065"/>
                      <a:pt x="0" y="42796"/>
                    </a:cubicBezTo>
                    <a:lnTo>
                      <a:pt x="4153" y="21600"/>
                    </a:lnTo>
                    <a:lnTo>
                      <a:pt x="2105" y="97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44" name="Arc 32" descr="50%"/>
              <p:cNvSpPr>
                <a:spLocks/>
              </p:cNvSpPr>
              <p:nvPr/>
            </p:nvSpPr>
            <p:spPr bwMode="auto">
              <a:xfrm>
                <a:off x="948" y="2442"/>
                <a:ext cx="14" cy="72"/>
              </a:xfrm>
              <a:custGeom>
                <a:avLst/>
                <a:gdLst>
                  <a:gd name="T0" fmla="*/ 2 w 27434"/>
                  <a:gd name="T1" fmla="*/ 0 h 43200"/>
                  <a:gd name="T2" fmla="*/ 0 w 27434"/>
                  <a:gd name="T3" fmla="*/ 71 h 43200"/>
                  <a:gd name="T4" fmla="*/ 3 w 27434"/>
                  <a:gd name="T5" fmla="*/ 3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434" h="43200" fill="none" extrusionOk="0">
                    <a:moveTo>
                      <a:pt x="3877" y="88"/>
                    </a:moveTo>
                    <a:cubicBezTo>
                      <a:pt x="4528" y="29"/>
                      <a:pt x="5180" y="-1"/>
                      <a:pt x="5834" y="0"/>
                    </a:cubicBezTo>
                    <a:cubicBezTo>
                      <a:pt x="17763" y="0"/>
                      <a:pt x="27434" y="9670"/>
                      <a:pt x="27434" y="21600"/>
                    </a:cubicBezTo>
                    <a:cubicBezTo>
                      <a:pt x="27434" y="33529"/>
                      <a:pt x="17763" y="43200"/>
                      <a:pt x="5834" y="43200"/>
                    </a:cubicBezTo>
                    <a:cubicBezTo>
                      <a:pt x="3861" y="43200"/>
                      <a:pt x="1898" y="42929"/>
                      <a:pt x="-1" y="42397"/>
                    </a:cubicBezTo>
                  </a:path>
                  <a:path w="27434" h="43200" stroke="0" extrusionOk="0">
                    <a:moveTo>
                      <a:pt x="3877" y="88"/>
                    </a:moveTo>
                    <a:cubicBezTo>
                      <a:pt x="4528" y="29"/>
                      <a:pt x="5180" y="-1"/>
                      <a:pt x="5834" y="0"/>
                    </a:cubicBezTo>
                    <a:cubicBezTo>
                      <a:pt x="17763" y="0"/>
                      <a:pt x="27434" y="9670"/>
                      <a:pt x="27434" y="21600"/>
                    </a:cubicBezTo>
                    <a:cubicBezTo>
                      <a:pt x="27434" y="33529"/>
                      <a:pt x="17763" y="43200"/>
                      <a:pt x="5834" y="43200"/>
                    </a:cubicBezTo>
                    <a:cubicBezTo>
                      <a:pt x="3861" y="43200"/>
                      <a:pt x="1898" y="42929"/>
                      <a:pt x="-1" y="42397"/>
                    </a:cubicBezTo>
                    <a:lnTo>
                      <a:pt x="5834" y="21600"/>
                    </a:lnTo>
                    <a:lnTo>
                      <a:pt x="3877" y="8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45" name="Arc 33" descr="50%"/>
              <p:cNvSpPr>
                <a:spLocks/>
              </p:cNvSpPr>
              <p:nvPr/>
            </p:nvSpPr>
            <p:spPr bwMode="auto">
              <a:xfrm>
                <a:off x="990" y="2442"/>
                <a:ext cx="13" cy="72"/>
              </a:xfrm>
              <a:custGeom>
                <a:avLst/>
                <a:gdLst>
                  <a:gd name="T0" fmla="*/ 1 w 25753"/>
                  <a:gd name="T1" fmla="*/ 0 h 43200"/>
                  <a:gd name="T2" fmla="*/ 0 w 25753"/>
                  <a:gd name="T3" fmla="*/ 71 h 43200"/>
                  <a:gd name="T4" fmla="*/ 2 w 25753"/>
                  <a:gd name="T5" fmla="*/ 3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753" h="43200" fill="none" extrusionOk="0">
                    <a:moveTo>
                      <a:pt x="2105" y="97"/>
                    </a:moveTo>
                    <a:cubicBezTo>
                      <a:pt x="2785" y="32"/>
                      <a:pt x="3469" y="-1"/>
                      <a:pt x="4153" y="0"/>
                    </a:cubicBezTo>
                    <a:cubicBezTo>
                      <a:pt x="16082" y="0"/>
                      <a:pt x="25753" y="9670"/>
                      <a:pt x="25753" y="21600"/>
                    </a:cubicBezTo>
                    <a:cubicBezTo>
                      <a:pt x="25753" y="33529"/>
                      <a:pt x="16082" y="43200"/>
                      <a:pt x="4153" y="43200"/>
                    </a:cubicBezTo>
                    <a:cubicBezTo>
                      <a:pt x="2758" y="43200"/>
                      <a:pt x="1368" y="43065"/>
                      <a:pt x="0" y="42796"/>
                    </a:cubicBezTo>
                  </a:path>
                  <a:path w="25753" h="43200" stroke="0" extrusionOk="0">
                    <a:moveTo>
                      <a:pt x="2105" y="97"/>
                    </a:moveTo>
                    <a:cubicBezTo>
                      <a:pt x="2785" y="32"/>
                      <a:pt x="3469" y="-1"/>
                      <a:pt x="4153" y="0"/>
                    </a:cubicBezTo>
                    <a:cubicBezTo>
                      <a:pt x="16082" y="0"/>
                      <a:pt x="25753" y="9670"/>
                      <a:pt x="25753" y="21600"/>
                    </a:cubicBezTo>
                    <a:cubicBezTo>
                      <a:pt x="25753" y="33529"/>
                      <a:pt x="16082" y="43200"/>
                      <a:pt x="4153" y="43200"/>
                    </a:cubicBezTo>
                    <a:cubicBezTo>
                      <a:pt x="2758" y="43200"/>
                      <a:pt x="1368" y="43065"/>
                      <a:pt x="0" y="42796"/>
                    </a:cubicBezTo>
                    <a:lnTo>
                      <a:pt x="4153" y="21600"/>
                    </a:lnTo>
                    <a:lnTo>
                      <a:pt x="2105" y="97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46" name="Arc 34" descr="50%"/>
              <p:cNvSpPr>
                <a:spLocks/>
              </p:cNvSpPr>
              <p:nvPr/>
            </p:nvSpPr>
            <p:spPr bwMode="auto">
              <a:xfrm>
                <a:off x="1011" y="2442"/>
                <a:ext cx="13" cy="72"/>
              </a:xfrm>
              <a:custGeom>
                <a:avLst/>
                <a:gdLst>
                  <a:gd name="T0" fmla="*/ 1 w 25753"/>
                  <a:gd name="T1" fmla="*/ 0 h 43200"/>
                  <a:gd name="T2" fmla="*/ 0 w 25753"/>
                  <a:gd name="T3" fmla="*/ 71 h 43200"/>
                  <a:gd name="T4" fmla="*/ 2 w 25753"/>
                  <a:gd name="T5" fmla="*/ 3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753" h="43200" fill="none" extrusionOk="0">
                    <a:moveTo>
                      <a:pt x="2105" y="97"/>
                    </a:moveTo>
                    <a:cubicBezTo>
                      <a:pt x="2785" y="32"/>
                      <a:pt x="3469" y="-1"/>
                      <a:pt x="4153" y="0"/>
                    </a:cubicBezTo>
                    <a:cubicBezTo>
                      <a:pt x="16082" y="0"/>
                      <a:pt x="25753" y="9670"/>
                      <a:pt x="25753" y="21600"/>
                    </a:cubicBezTo>
                    <a:cubicBezTo>
                      <a:pt x="25753" y="33529"/>
                      <a:pt x="16082" y="43200"/>
                      <a:pt x="4153" y="43200"/>
                    </a:cubicBezTo>
                    <a:cubicBezTo>
                      <a:pt x="2758" y="43200"/>
                      <a:pt x="1368" y="43065"/>
                      <a:pt x="0" y="42796"/>
                    </a:cubicBezTo>
                  </a:path>
                  <a:path w="25753" h="43200" stroke="0" extrusionOk="0">
                    <a:moveTo>
                      <a:pt x="2105" y="97"/>
                    </a:moveTo>
                    <a:cubicBezTo>
                      <a:pt x="2785" y="32"/>
                      <a:pt x="3469" y="-1"/>
                      <a:pt x="4153" y="0"/>
                    </a:cubicBezTo>
                    <a:cubicBezTo>
                      <a:pt x="16082" y="0"/>
                      <a:pt x="25753" y="9670"/>
                      <a:pt x="25753" y="21600"/>
                    </a:cubicBezTo>
                    <a:cubicBezTo>
                      <a:pt x="25753" y="33529"/>
                      <a:pt x="16082" y="43200"/>
                      <a:pt x="4153" y="43200"/>
                    </a:cubicBezTo>
                    <a:cubicBezTo>
                      <a:pt x="2758" y="43200"/>
                      <a:pt x="1368" y="43065"/>
                      <a:pt x="0" y="42796"/>
                    </a:cubicBezTo>
                    <a:lnTo>
                      <a:pt x="4153" y="21600"/>
                    </a:lnTo>
                    <a:lnTo>
                      <a:pt x="2105" y="97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47" name="Arc 35" descr="50%"/>
              <p:cNvSpPr>
                <a:spLocks/>
              </p:cNvSpPr>
              <p:nvPr/>
            </p:nvSpPr>
            <p:spPr bwMode="auto">
              <a:xfrm>
                <a:off x="1034" y="2442"/>
                <a:ext cx="13" cy="72"/>
              </a:xfrm>
              <a:custGeom>
                <a:avLst/>
                <a:gdLst>
                  <a:gd name="T0" fmla="*/ 1 w 25753"/>
                  <a:gd name="T1" fmla="*/ 0 h 43200"/>
                  <a:gd name="T2" fmla="*/ 0 w 25753"/>
                  <a:gd name="T3" fmla="*/ 71 h 43200"/>
                  <a:gd name="T4" fmla="*/ 2 w 25753"/>
                  <a:gd name="T5" fmla="*/ 3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753" h="43200" fill="none" extrusionOk="0">
                    <a:moveTo>
                      <a:pt x="2105" y="97"/>
                    </a:moveTo>
                    <a:cubicBezTo>
                      <a:pt x="2785" y="32"/>
                      <a:pt x="3469" y="-1"/>
                      <a:pt x="4153" y="0"/>
                    </a:cubicBezTo>
                    <a:cubicBezTo>
                      <a:pt x="16082" y="0"/>
                      <a:pt x="25753" y="9670"/>
                      <a:pt x="25753" y="21600"/>
                    </a:cubicBezTo>
                    <a:cubicBezTo>
                      <a:pt x="25753" y="33529"/>
                      <a:pt x="16082" y="43200"/>
                      <a:pt x="4153" y="43200"/>
                    </a:cubicBezTo>
                    <a:cubicBezTo>
                      <a:pt x="2758" y="43200"/>
                      <a:pt x="1368" y="43065"/>
                      <a:pt x="0" y="42796"/>
                    </a:cubicBezTo>
                  </a:path>
                  <a:path w="25753" h="43200" stroke="0" extrusionOk="0">
                    <a:moveTo>
                      <a:pt x="2105" y="97"/>
                    </a:moveTo>
                    <a:cubicBezTo>
                      <a:pt x="2785" y="32"/>
                      <a:pt x="3469" y="-1"/>
                      <a:pt x="4153" y="0"/>
                    </a:cubicBezTo>
                    <a:cubicBezTo>
                      <a:pt x="16082" y="0"/>
                      <a:pt x="25753" y="9670"/>
                      <a:pt x="25753" y="21600"/>
                    </a:cubicBezTo>
                    <a:cubicBezTo>
                      <a:pt x="25753" y="33529"/>
                      <a:pt x="16082" y="43200"/>
                      <a:pt x="4153" y="43200"/>
                    </a:cubicBezTo>
                    <a:cubicBezTo>
                      <a:pt x="2758" y="43200"/>
                      <a:pt x="1368" y="43065"/>
                      <a:pt x="0" y="42796"/>
                    </a:cubicBezTo>
                    <a:lnTo>
                      <a:pt x="4153" y="21600"/>
                    </a:lnTo>
                    <a:lnTo>
                      <a:pt x="2105" y="97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90" name="Freeform 36" descr="50%"/>
            <p:cNvSpPr>
              <a:spLocks/>
            </p:cNvSpPr>
            <p:nvPr/>
          </p:nvSpPr>
          <p:spPr bwMode="auto">
            <a:xfrm>
              <a:off x="1353059" y="2016325"/>
              <a:ext cx="1910505" cy="347663"/>
            </a:xfrm>
            <a:custGeom>
              <a:avLst/>
              <a:gdLst>
                <a:gd name="T0" fmla="*/ 33 w 1553"/>
                <a:gd name="T1" fmla="*/ 246 h 292"/>
                <a:gd name="T2" fmla="*/ 105 w 1553"/>
                <a:gd name="T3" fmla="*/ 223 h 292"/>
                <a:gd name="T4" fmla="*/ 209 w 1553"/>
                <a:gd name="T5" fmla="*/ 200 h 292"/>
                <a:gd name="T6" fmla="*/ 312 w 1553"/>
                <a:gd name="T7" fmla="*/ 182 h 292"/>
                <a:gd name="T8" fmla="*/ 410 w 1553"/>
                <a:gd name="T9" fmla="*/ 165 h 292"/>
                <a:gd name="T10" fmla="*/ 468 w 1553"/>
                <a:gd name="T11" fmla="*/ 140 h 292"/>
                <a:gd name="T12" fmla="*/ 518 w 1553"/>
                <a:gd name="T13" fmla="*/ 91 h 292"/>
                <a:gd name="T14" fmla="*/ 592 w 1553"/>
                <a:gd name="T15" fmla="*/ 27 h 292"/>
                <a:gd name="T16" fmla="*/ 646 w 1553"/>
                <a:gd name="T17" fmla="*/ 52 h 292"/>
                <a:gd name="T18" fmla="*/ 667 w 1553"/>
                <a:gd name="T19" fmla="*/ 126 h 292"/>
                <a:gd name="T20" fmla="*/ 707 w 1553"/>
                <a:gd name="T21" fmla="*/ 160 h 292"/>
                <a:gd name="T22" fmla="*/ 834 w 1553"/>
                <a:gd name="T23" fmla="*/ 181 h 292"/>
                <a:gd name="T24" fmla="*/ 931 w 1553"/>
                <a:gd name="T25" fmla="*/ 185 h 292"/>
                <a:gd name="T26" fmla="*/ 1046 w 1553"/>
                <a:gd name="T27" fmla="*/ 181 h 292"/>
                <a:gd name="T28" fmla="*/ 1092 w 1553"/>
                <a:gd name="T29" fmla="*/ 218 h 292"/>
                <a:gd name="T30" fmla="*/ 1183 w 1553"/>
                <a:gd name="T31" fmla="*/ 222 h 292"/>
                <a:gd name="T32" fmla="*/ 1287 w 1553"/>
                <a:gd name="T33" fmla="*/ 176 h 292"/>
                <a:gd name="T34" fmla="*/ 1368 w 1553"/>
                <a:gd name="T35" fmla="*/ 103 h 292"/>
                <a:gd name="T36" fmla="*/ 1434 w 1553"/>
                <a:gd name="T37" fmla="*/ 59 h 292"/>
                <a:gd name="T38" fmla="*/ 1491 w 1553"/>
                <a:gd name="T39" fmla="*/ 35 h 292"/>
                <a:gd name="T40" fmla="*/ 1540 w 1553"/>
                <a:gd name="T41" fmla="*/ 41 h 292"/>
                <a:gd name="T42" fmla="*/ 1500 w 1553"/>
                <a:gd name="T43" fmla="*/ 91 h 292"/>
                <a:gd name="T44" fmla="*/ 1448 w 1553"/>
                <a:gd name="T45" fmla="*/ 136 h 292"/>
                <a:gd name="T46" fmla="*/ 1418 w 1553"/>
                <a:gd name="T47" fmla="*/ 174 h 292"/>
                <a:gd name="T48" fmla="*/ 1396 w 1553"/>
                <a:gd name="T49" fmla="*/ 208 h 292"/>
                <a:gd name="T50" fmla="*/ 1388 w 1553"/>
                <a:gd name="T51" fmla="*/ 244 h 292"/>
                <a:gd name="T52" fmla="*/ 1344 w 1553"/>
                <a:gd name="T53" fmla="*/ 237 h 292"/>
                <a:gd name="T54" fmla="*/ 1305 w 1553"/>
                <a:gd name="T55" fmla="*/ 249 h 292"/>
                <a:gd name="T56" fmla="*/ 1259 w 1553"/>
                <a:gd name="T57" fmla="*/ 244 h 292"/>
                <a:gd name="T58" fmla="*/ 1208 w 1553"/>
                <a:gd name="T59" fmla="*/ 247 h 292"/>
                <a:gd name="T60" fmla="*/ 1155 w 1553"/>
                <a:gd name="T61" fmla="*/ 242 h 292"/>
                <a:gd name="T62" fmla="*/ 1096 w 1553"/>
                <a:gd name="T63" fmla="*/ 245 h 292"/>
                <a:gd name="T64" fmla="*/ 1035 w 1553"/>
                <a:gd name="T65" fmla="*/ 255 h 292"/>
                <a:gd name="T66" fmla="*/ 976 w 1553"/>
                <a:gd name="T67" fmla="*/ 256 h 292"/>
                <a:gd name="T68" fmla="*/ 918 w 1553"/>
                <a:gd name="T69" fmla="*/ 257 h 292"/>
                <a:gd name="T70" fmla="*/ 864 w 1553"/>
                <a:gd name="T71" fmla="*/ 263 h 292"/>
                <a:gd name="T72" fmla="*/ 807 w 1553"/>
                <a:gd name="T73" fmla="*/ 275 h 292"/>
                <a:gd name="T74" fmla="*/ 738 w 1553"/>
                <a:gd name="T75" fmla="*/ 275 h 292"/>
                <a:gd name="T76" fmla="*/ 679 w 1553"/>
                <a:gd name="T77" fmla="*/ 278 h 292"/>
                <a:gd name="T78" fmla="*/ 620 w 1553"/>
                <a:gd name="T79" fmla="*/ 269 h 292"/>
                <a:gd name="T80" fmla="*/ 563 w 1553"/>
                <a:gd name="T81" fmla="*/ 275 h 292"/>
                <a:gd name="T82" fmla="*/ 516 w 1553"/>
                <a:gd name="T83" fmla="*/ 268 h 292"/>
                <a:gd name="T84" fmla="*/ 458 w 1553"/>
                <a:gd name="T85" fmla="*/ 275 h 292"/>
                <a:gd name="T86" fmla="*/ 397 w 1553"/>
                <a:gd name="T87" fmla="*/ 278 h 292"/>
                <a:gd name="T88" fmla="*/ 319 w 1553"/>
                <a:gd name="T89" fmla="*/ 291 h 292"/>
                <a:gd name="T90" fmla="*/ 227 w 1553"/>
                <a:gd name="T91" fmla="*/ 291 h 292"/>
                <a:gd name="T92" fmla="*/ 152 w 1553"/>
                <a:gd name="T93" fmla="*/ 280 h 292"/>
                <a:gd name="T94" fmla="*/ 82 w 1553"/>
                <a:gd name="T95" fmla="*/ 283 h 292"/>
                <a:gd name="T96" fmla="*/ 16 w 1553"/>
                <a:gd name="T97" fmla="*/ 270 h 29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553" h="292">
                  <a:moveTo>
                    <a:pt x="0" y="262"/>
                  </a:moveTo>
                  <a:lnTo>
                    <a:pt x="9" y="257"/>
                  </a:lnTo>
                  <a:lnTo>
                    <a:pt x="20" y="251"/>
                  </a:lnTo>
                  <a:lnTo>
                    <a:pt x="33" y="246"/>
                  </a:lnTo>
                  <a:lnTo>
                    <a:pt x="47" y="241"/>
                  </a:lnTo>
                  <a:lnTo>
                    <a:pt x="63" y="236"/>
                  </a:lnTo>
                  <a:lnTo>
                    <a:pt x="86" y="230"/>
                  </a:lnTo>
                  <a:lnTo>
                    <a:pt x="105" y="223"/>
                  </a:lnTo>
                  <a:lnTo>
                    <a:pt x="129" y="216"/>
                  </a:lnTo>
                  <a:lnTo>
                    <a:pt x="156" y="210"/>
                  </a:lnTo>
                  <a:lnTo>
                    <a:pt x="182" y="204"/>
                  </a:lnTo>
                  <a:lnTo>
                    <a:pt x="209" y="200"/>
                  </a:lnTo>
                  <a:lnTo>
                    <a:pt x="234" y="196"/>
                  </a:lnTo>
                  <a:lnTo>
                    <a:pt x="261" y="192"/>
                  </a:lnTo>
                  <a:lnTo>
                    <a:pt x="286" y="187"/>
                  </a:lnTo>
                  <a:lnTo>
                    <a:pt x="312" y="182"/>
                  </a:lnTo>
                  <a:lnTo>
                    <a:pt x="332" y="178"/>
                  </a:lnTo>
                  <a:lnTo>
                    <a:pt x="362" y="173"/>
                  </a:lnTo>
                  <a:lnTo>
                    <a:pt x="387" y="169"/>
                  </a:lnTo>
                  <a:lnTo>
                    <a:pt x="410" y="165"/>
                  </a:lnTo>
                  <a:lnTo>
                    <a:pt x="428" y="161"/>
                  </a:lnTo>
                  <a:lnTo>
                    <a:pt x="444" y="155"/>
                  </a:lnTo>
                  <a:lnTo>
                    <a:pt x="458" y="147"/>
                  </a:lnTo>
                  <a:lnTo>
                    <a:pt x="468" y="140"/>
                  </a:lnTo>
                  <a:lnTo>
                    <a:pt x="477" y="130"/>
                  </a:lnTo>
                  <a:lnTo>
                    <a:pt x="487" y="120"/>
                  </a:lnTo>
                  <a:lnTo>
                    <a:pt x="503" y="104"/>
                  </a:lnTo>
                  <a:lnTo>
                    <a:pt x="518" y="91"/>
                  </a:lnTo>
                  <a:lnTo>
                    <a:pt x="535" y="75"/>
                  </a:lnTo>
                  <a:lnTo>
                    <a:pt x="553" y="59"/>
                  </a:lnTo>
                  <a:lnTo>
                    <a:pt x="571" y="42"/>
                  </a:lnTo>
                  <a:lnTo>
                    <a:pt x="592" y="27"/>
                  </a:lnTo>
                  <a:lnTo>
                    <a:pt x="612" y="12"/>
                  </a:lnTo>
                  <a:lnTo>
                    <a:pt x="629" y="0"/>
                  </a:lnTo>
                  <a:lnTo>
                    <a:pt x="636" y="24"/>
                  </a:lnTo>
                  <a:lnTo>
                    <a:pt x="646" y="52"/>
                  </a:lnTo>
                  <a:lnTo>
                    <a:pt x="654" y="78"/>
                  </a:lnTo>
                  <a:lnTo>
                    <a:pt x="662" y="102"/>
                  </a:lnTo>
                  <a:lnTo>
                    <a:pt x="665" y="114"/>
                  </a:lnTo>
                  <a:lnTo>
                    <a:pt x="667" y="126"/>
                  </a:lnTo>
                  <a:lnTo>
                    <a:pt x="665" y="138"/>
                  </a:lnTo>
                  <a:lnTo>
                    <a:pt x="655" y="151"/>
                  </a:lnTo>
                  <a:lnTo>
                    <a:pt x="681" y="156"/>
                  </a:lnTo>
                  <a:lnTo>
                    <a:pt x="707" y="160"/>
                  </a:lnTo>
                  <a:lnTo>
                    <a:pt x="738" y="165"/>
                  </a:lnTo>
                  <a:lnTo>
                    <a:pt x="773" y="170"/>
                  </a:lnTo>
                  <a:lnTo>
                    <a:pt x="808" y="177"/>
                  </a:lnTo>
                  <a:lnTo>
                    <a:pt x="834" y="181"/>
                  </a:lnTo>
                  <a:lnTo>
                    <a:pt x="864" y="185"/>
                  </a:lnTo>
                  <a:lnTo>
                    <a:pt x="889" y="188"/>
                  </a:lnTo>
                  <a:lnTo>
                    <a:pt x="912" y="190"/>
                  </a:lnTo>
                  <a:lnTo>
                    <a:pt x="931" y="185"/>
                  </a:lnTo>
                  <a:lnTo>
                    <a:pt x="949" y="177"/>
                  </a:lnTo>
                  <a:lnTo>
                    <a:pt x="965" y="165"/>
                  </a:lnTo>
                  <a:lnTo>
                    <a:pt x="1004" y="171"/>
                  </a:lnTo>
                  <a:lnTo>
                    <a:pt x="1046" y="181"/>
                  </a:lnTo>
                  <a:lnTo>
                    <a:pt x="1077" y="187"/>
                  </a:lnTo>
                  <a:lnTo>
                    <a:pt x="1058" y="206"/>
                  </a:lnTo>
                  <a:lnTo>
                    <a:pt x="1072" y="211"/>
                  </a:lnTo>
                  <a:lnTo>
                    <a:pt x="1092" y="218"/>
                  </a:lnTo>
                  <a:lnTo>
                    <a:pt x="1114" y="223"/>
                  </a:lnTo>
                  <a:lnTo>
                    <a:pt x="1138" y="226"/>
                  </a:lnTo>
                  <a:lnTo>
                    <a:pt x="1160" y="224"/>
                  </a:lnTo>
                  <a:lnTo>
                    <a:pt x="1183" y="222"/>
                  </a:lnTo>
                  <a:lnTo>
                    <a:pt x="1207" y="218"/>
                  </a:lnTo>
                  <a:lnTo>
                    <a:pt x="1234" y="210"/>
                  </a:lnTo>
                  <a:lnTo>
                    <a:pt x="1258" y="196"/>
                  </a:lnTo>
                  <a:lnTo>
                    <a:pt x="1287" y="176"/>
                  </a:lnTo>
                  <a:lnTo>
                    <a:pt x="1310" y="158"/>
                  </a:lnTo>
                  <a:lnTo>
                    <a:pt x="1337" y="133"/>
                  </a:lnTo>
                  <a:lnTo>
                    <a:pt x="1349" y="122"/>
                  </a:lnTo>
                  <a:lnTo>
                    <a:pt x="1368" y="103"/>
                  </a:lnTo>
                  <a:lnTo>
                    <a:pt x="1386" y="91"/>
                  </a:lnTo>
                  <a:lnTo>
                    <a:pt x="1402" y="79"/>
                  </a:lnTo>
                  <a:lnTo>
                    <a:pt x="1419" y="68"/>
                  </a:lnTo>
                  <a:lnTo>
                    <a:pt x="1434" y="59"/>
                  </a:lnTo>
                  <a:lnTo>
                    <a:pt x="1449" y="52"/>
                  </a:lnTo>
                  <a:lnTo>
                    <a:pt x="1463" y="45"/>
                  </a:lnTo>
                  <a:lnTo>
                    <a:pt x="1476" y="40"/>
                  </a:lnTo>
                  <a:lnTo>
                    <a:pt x="1491" y="35"/>
                  </a:lnTo>
                  <a:lnTo>
                    <a:pt x="1506" y="33"/>
                  </a:lnTo>
                  <a:lnTo>
                    <a:pt x="1524" y="32"/>
                  </a:lnTo>
                  <a:lnTo>
                    <a:pt x="1552" y="32"/>
                  </a:lnTo>
                  <a:lnTo>
                    <a:pt x="1540" y="41"/>
                  </a:lnTo>
                  <a:lnTo>
                    <a:pt x="1528" y="54"/>
                  </a:lnTo>
                  <a:lnTo>
                    <a:pt x="1522" y="62"/>
                  </a:lnTo>
                  <a:lnTo>
                    <a:pt x="1511" y="78"/>
                  </a:lnTo>
                  <a:lnTo>
                    <a:pt x="1500" y="91"/>
                  </a:lnTo>
                  <a:lnTo>
                    <a:pt x="1485" y="104"/>
                  </a:lnTo>
                  <a:lnTo>
                    <a:pt x="1466" y="118"/>
                  </a:lnTo>
                  <a:lnTo>
                    <a:pt x="1456" y="126"/>
                  </a:lnTo>
                  <a:lnTo>
                    <a:pt x="1448" y="136"/>
                  </a:lnTo>
                  <a:lnTo>
                    <a:pt x="1438" y="147"/>
                  </a:lnTo>
                  <a:lnTo>
                    <a:pt x="1432" y="155"/>
                  </a:lnTo>
                  <a:lnTo>
                    <a:pt x="1425" y="164"/>
                  </a:lnTo>
                  <a:lnTo>
                    <a:pt x="1418" y="174"/>
                  </a:lnTo>
                  <a:lnTo>
                    <a:pt x="1412" y="183"/>
                  </a:lnTo>
                  <a:lnTo>
                    <a:pt x="1406" y="192"/>
                  </a:lnTo>
                  <a:lnTo>
                    <a:pt x="1401" y="200"/>
                  </a:lnTo>
                  <a:lnTo>
                    <a:pt x="1396" y="208"/>
                  </a:lnTo>
                  <a:lnTo>
                    <a:pt x="1392" y="218"/>
                  </a:lnTo>
                  <a:lnTo>
                    <a:pt x="1390" y="226"/>
                  </a:lnTo>
                  <a:lnTo>
                    <a:pt x="1389" y="235"/>
                  </a:lnTo>
                  <a:lnTo>
                    <a:pt x="1388" y="244"/>
                  </a:lnTo>
                  <a:lnTo>
                    <a:pt x="1380" y="239"/>
                  </a:lnTo>
                  <a:lnTo>
                    <a:pt x="1366" y="237"/>
                  </a:lnTo>
                  <a:lnTo>
                    <a:pt x="1355" y="236"/>
                  </a:lnTo>
                  <a:lnTo>
                    <a:pt x="1344" y="237"/>
                  </a:lnTo>
                  <a:lnTo>
                    <a:pt x="1334" y="240"/>
                  </a:lnTo>
                  <a:lnTo>
                    <a:pt x="1325" y="244"/>
                  </a:lnTo>
                  <a:lnTo>
                    <a:pt x="1315" y="246"/>
                  </a:lnTo>
                  <a:lnTo>
                    <a:pt x="1305" y="249"/>
                  </a:lnTo>
                  <a:lnTo>
                    <a:pt x="1294" y="251"/>
                  </a:lnTo>
                  <a:lnTo>
                    <a:pt x="1279" y="248"/>
                  </a:lnTo>
                  <a:lnTo>
                    <a:pt x="1268" y="247"/>
                  </a:lnTo>
                  <a:lnTo>
                    <a:pt x="1259" y="244"/>
                  </a:lnTo>
                  <a:lnTo>
                    <a:pt x="1248" y="241"/>
                  </a:lnTo>
                  <a:lnTo>
                    <a:pt x="1237" y="242"/>
                  </a:lnTo>
                  <a:lnTo>
                    <a:pt x="1222" y="244"/>
                  </a:lnTo>
                  <a:lnTo>
                    <a:pt x="1208" y="247"/>
                  </a:lnTo>
                  <a:lnTo>
                    <a:pt x="1198" y="246"/>
                  </a:lnTo>
                  <a:lnTo>
                    <a:pt x="1183" y="245"/>
                  </a:lnTo>
                  <a:lnTo>
                    <a:pt x="1169" y="242"/>
                  </a:lnTo>
                  <a:lnTo>
                    <a:pt x="1155" y="242"/>
                  </a:lnTo>
                  <a:lnTo>
                    <a:pt x="1143" y="245"/>
                  </a:lnTo>
                  <a:lnTo>
                    <a:pt x="1124" y="247"/>
                  </a:lnTo>
                  <a:lnTo>
                    <a:pt x="1112" y="247"/>
                  </a:lnTo>
                  <a:lnTo>
                    <a:pt x="1096" y="245"/>
                  </a:lnTo>
                  <a:lnTo>
                    <a:pt x="1082" y="244"/>
                  </a:lnTo>
                  <a:lnTo>
                    <a:pt x="1066" y="247"/>
                  </a:lnTo>
                  <a:lnTo>
                    <a:pt x="1053" y="251"/>
                  </a:lnTo>
                  <a:lnTo>
                    <a:pt x="1035" y="255"/>
                  </a:lnTo>
                  <a:lnTo>
                    <a:pt x="1021" y="256"/>
                  </a:lnTo>
                  <a:lnTo>
                    <a:pt x="1005" y="258"/>
                  </a:lnTo>
                  <a:lnTo>
                    <a:pt x="992" y="258"/>
                  </a:lnTo>
                  <a:lnTo>
                    <a:pt x="976" y="256"/>
                  </a:lnTo>
                  <a:lnTo>
                    <a:pt x="960" y="252"/>
                  </a:lnTo>
                  <a:lnTo>
                    <a:pt x="943" y="256"/>
                  </a:lnTo>
                  <a:lnTo>
                    <a:pt x="932" y="257"/>
                  </a:lnTo>
                  <a:lnTo>
                    <a:pt x="918" y="257"/>
                  </a:lnTo>
                  <a:lnTo>
                    <a:pt x="905" y="256"/>
                  </a:lnTo>
                  <a:lnTo>
                    <a:pt x="891" y="256"/>
                  </a:lnTo>
                  <a:lnTo>
                    <a:pt x="877" y="258"/>
                  </a:lnTo>
                  <a:lnTo>
                    <a:pt x="864" y="263"/>
                  </a:lnTo>
                  <a:lnTo>
                    <a:pt x="852" y="266"/>
                  </a:lnTo>
                  <a:lnTo>
                    <a:pt x="837" y="271"/>
                  </a:lnTo>
                  <a:lnTo>
                    <a:pt x="823" y="273"/>
                  </a:lnTo>
                  <a:lnTo>
                    <a:pt x="807" y="275"/>
                  </a:lnTo>
                  <a:lnTo>
                    <a:pt x="791" y="277"/>
                  </a:lnTo>
                  <a:lnTo>
                    <a:pt x="770" y="275"/>
                  </a:lnTo>
                  <a:lnTo>
                    <a:pt x="751" y="273"/>
                  </a:lnTo>
                  <a:lnTo>
                    <a:pt x="738" y="275"/>
                  </a:lnTo>
                  <a:lnTo>
                    <a:pt x="720" y="277"/>
                  </a:lnTo>
                  <a:lnTo>
                    <a:pt x="707" y="277"/>
                  </a:lnTo>
                  <a:lnTo>
                    <a:pt x="692" y="278"/>
                  </a:lnTo>
                  <a:lnTo>
                    <a:pt x="679" y="278"/>
                  </a:lnTo>
                  <a:lnTo>
                    <a:pt x="660" y="277"/>
                  </a:lnTo>
                  <a:lnTo>
                    <a:pt x="644" y="273"/>
                  </a:lnTo>
                  <a:lnTo>
                    <a:pt x="633" y="269"/>
                  </a:lnTo>
                  <a:lnTo>
                    <a:pt x="620" y="269"/>
                  </a:lnTo>
                  <a:lnTo>
                    <a:pt x="606" y="268"/>
                  </a:lnTo>
                  <a:lnTo>
                    <a:pt x="592" y="271"/>
                  </a:lnTo>
                  <a:lnTo>
                    <a:pt x="576" y="273"/>
                  </a:lnTo>
                  <a:lnTo>
                    <a:pt x="563" y="275"/>
                  </a:lnTo>
                  <a:lnTo>
                    <a:pt x="551" y="275"/>
                  </a:lnTo>
                  <a:lnTo>
                    <a:pt x="542" y="273"/>
                  </a:lnTo>
                  <a:lnTo>
                    <a:pt x="529" y="269"/>
                  </a:lnTo>
                  <a:lnTo>
                    <a:pt x="516" y="268"/>
                  </a:lnTo>
                  <a:lnTo>
                    <a:pt x="503" y="269"/>
                  </a:lnTo>
                  <a:lnTo>
                    <a:pt x="491" y="271"/>
                  </a:lnTo>
                  <a:lnTo>
                    <a:pt x="476" y="273"/>
                  </a:lnTo>
                  <a:lnTo>
                    <a:pt x="458" y="275"/>
                  </a:lnTo>
                  <a:lnTo>
                    <a:pt x="443" y="275"/>
                  </a:lnTo>
                  <a:lnTo>
                    <a:pt x="428" y="273"/>
                  </a:lnTo>
                  <a:lnTo>
                    <a:pt x="412" y="276"/>
                  </a:lnTo>
                  <a:lnTo>
                    <a:pt x="397" y="278"/>
                  </a:lnTo>
                  <a:lnTo>
                    <a:pt x="381" y="282"/>
                  </a:lnTo>
                  <a:lnTo>
                    <a:pt x="365" y="286"/>
                  </a:lnTo>
                  <a:lnTo>
                    <a:pt x="343" y="290"/>
                  </a:lnTo>
                  <a:lnTo>
                    <a:pt x="319" y="291"/>
                  </a:lnTo>
                  <a:lnTo>
                    <a:pt x="293" y="291"/>
                  </a:lnTo>
                  <a:lnTo>
                    <a:pt x="270" y="290"/>
                  </a:lnTo>
                  <a:lnTo>
                    <a:pt x="242" y="291"/>
                  </a:lnTo>
                  <a:lnTo>
                    <a:pt x="227" y="291"/>
                  </a:lnTo>
                  <a:lnTo>
                    <a:pt x="213" y="289"/>
                  </a:lnTo>
                  <a:lnTo>
                    <a:pt x="197" y="291"/>
                  </a:lnTo>
                  <a:lnTo>
                    <a:pt x="179" y="290"/>
                  </a:lnTo>
                  <a:lnTo>
                    <a:pt x="152" y="280"/>
                  </a:lnTo>
                  <a:lnTo>
                    <a:pt x="133" y="281"/>
                  </a:lnTo>
                  <a:lnTo>
                    <a:pt x="116" y="283"/>
                  </a:lnTo>
                  <a:lnTo>
                    <a:pt x="98" y="283"/>
                  </a:lnTo>
                  <a:lnTo>
                    <a:pt x="82" y="283"/>
                  </a:lnTo>
                  <a:lnTo>
                    <a:pt x="64" y="281"/>
                  </a:lnTo>
                  <a:lnTo>
                    <a:pt x="47" y="278"/>
                  </a:lnTo>
                  <a:lnTo>
                    <a:pt x="31" y="273"/>
                  </a:lnTo>
                  <a:lnTo>
                    <a:pt x="16" y="270"/>
                  </a:lnTo>
                  <a:lnTo>
                    <a:pt x="1" y="266"/>
                  </a:lnTo>
                  <a:lnTo>
                    <a:pt x="0" y="262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191" name="Group 37"/>
            <p:cNvGrpSpPr>
              <a:grpSpLocks/>
            </p:cNvGrpSpPr>
            <p:nvPr/>
          </p:nvGrpSpPr>
          <p:grpSpPr bwMode="auto">
            <a:xfrm>
              <a:off x="1736882" y="2450903"/>
              <a:ext cx="274335" cy="163116"/>
              <a:chOff x="1034" y="2492"/>
              <a:chExt cx="223" cy="137"/>
            </a:xfrm>
          </p:grpSpPr>
          <p:sp>
            <p:nvSpPr>
              <p:cNvPr id="7741" name="Freeform 38" descr="50%"/>
              <p:cNvSpPr>
                <a:spLocks/>
              </p:cNvSpPr>
              <p:nvPr/>
            </p:nvSpPr>
            <p:spPr bwMode="auto">
              <a:xfrm>
                <a:off x="1034" y="2495"/>
                <a:ext cx="223" cy="134"/>
              </a:xfrm>
              <a:custGeom>
                <a:avLst/>
                <a:gdLst>
                  <a:gd name="T0" fmla="*/ 208 w 223"/>
                  <a:gd name="T1" fmla="*/ 120 h 134"/>
                  <a:gd name="T2" fmla="*/ 196 w 223"/>
                  <a:gd name="T3" fmla="*/ 108 h 134"/>
                  <a:gd name="T4" fmla="*/ 188 w 223"/>
                  <a:gd name="T5" fmla="*/ 100 h 134"/>
                  <a:gd name="T6" fmla="*/ 182 w 223"/>
                  <a:gd name="T7" fmla="*/ 93 h 134"/>
                  <a:gd name="T8" fmla="*/ 176 w 223"/>
                  <a:gd name="T9" fmla="*/ 86 h 134"/>
                  <a:gd name="T10" fmla="*/ 170 w 223"/>
                  <a:gd name="T11" fmla="*/ 78 h 134"/>
                  <a:gd name="T12" fmla="*/ 164 w 223"/>
                  <a:gd name="T13" fmla="*/ 71 h 134"/>
                  <a:gd name="T14" fmla="*/ 159 w 223"/>
                  <a:gd name="T15" fmla="*/ 63 h 134"/>
                  <a:gd name="T16" fmla="*/ 154 w 223"/>
                  <a:gd name="T17" fmla="*/ 53 h 134"/>
                  <a:gd name="T18" fmla="*/ 150 w 223"/>
                  <a:gd name="T19" fmla="*/ 43 h 134"/>
                  <a:gd name="T20" fmla="*/ 146 w 223"/>
                  <a:gd name="T21" fmla="*/ 33 h 134"/>
                  <a:gd name="T22" fmla="*/ 144 w 223"/>
                  <a:gd name="T23" fmla="*/ 23 h 134"/>
                  <a:gd name="T24" fmla="*/ 144 w 223"/>
                  <a:gd name="T25" fmla="*/ 13 h 134"/>
                  <a:gd name="T26" fmla="*/ 143 w 223"/>
                  <a:gd name="T27" fmla="*/ 0 h 134"/>
                  <a:gd name="T28" fmla="*/ 0 w 223"/>
                  <a:gd name="T29" fmla="*/ 0 h 134"/>
                  <a:gd name="T30" fmla="*/ 4 w 223"/>
                  <a:gd name="T31" fmla="*/ 8 h 134"/>
                  <a:gd name="T32" fmla="*/ 11 w 223"/>
                  <a:gd name="T33" fmla="*/ 19 h 134"/>
                  <a:gd name="T34" fmla="*/ 18 w 223"/>
                  <a:gd name="T35" fmla="*/ 28 h 134"/>
                  <a:gd name="T36" fmla="*/ 26 w 223"/>
                  <a:gd name="T37" fmla="*/ 38 h 134"/>
                  <a:gd name="T38" fmla="*/ 36 w 223"/>
                  <a:gd name="T39" fmla="*/ 48 h 134"/>
                  <a:gd name="T40" fmla="*/ 47 w 223"/>
                  <a:gd name="T41" fmla="*/ 58 h 134"/>
                  <a:gd name="T42" fmla="*/ 58 w 223"/>
                  <a:gd name="T43" fmla="*/ 67 h 134"/>
                  <a:gd name="T44" fmla="*/ 70 w 223"/>
                  <a:gd name="T45" fmla="*/ 76 h 134"/>
                  <a:gd name="T46" fmla="*/ 82 w 223"/>
                  <a:gd name="T47" fmla="*/ 86 h 134"/>
                  <a:gd name="T48" fmla="*/ 98 w 223"/>
                  <a:gd name="T49" fmla="*/ 97 h 134"/>
                  <a:gd name="T50" fmla="*/ 111 w 223"/>
                  <a:gd name="T51" fmla="*/ 104 h 134"/>
                  <a:gd name="T52" fmla="*/ 123 w 223"/>
                  <a:gd name="T53" fmla="*/ 110 h 134"/>
                  <a:gd name="T54" fmla="*/ 135 w 223"/>
                  <a:gd name="T55" fmla="*/ 115 h 134"/>
                  <a:gd name="T56" fmla="*/ 147 w 223"/>
                  <a:gd name="T57" fmla="*/ 120 h 134"/>
                  <a:gd name="T58" fmla="*/ 159 w 223"/>
                  <a:gd name="T59" fmla="*/ 124 h 134"/>
                  <a:gd name="T60" fmla="*/ 173 w 223"/>
                  <a:gd name="T61" fmla="*/ 127 h 134"/>
                  <a:gd name="T62" fmla="*/ 189 w 223"/>
                  <a:gd name="T63" fmla="*/ 130 h 134"/>
                  <a:gd name="T64" fmla="*/ 201 w 223"/>
                  <a:gd name="T65" fmla="*/ 131 h 134"/>
                  <a:gd name="T66" fmla="*/ 213 w 223"/>
                  <a:gd name="T67" fmla="*/ 132 h 134"/>
                  <a:gd name="T68" fmla="*/ 222 w 223"/>
                  <a:gd name="T69" fmla="*/ 133 h 134"/>
                  <a:gd name="T70" fmla="*/ 208 w 223"/>
                  <a:gd name="T71" fmla="*/ 120 h 13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23" h="134">
                    <a:moveTo>
                      <a:pt x="208" y="120"/>
                    </a:moveTo>
                    <a:lnTo>
                      <a:pt x="196" y="108"/>
                    </a:lnTo>
                    <a:lnTo>
                      <a:pt x="188" y="100"/>
                    </a:lnTo>
                    <a:lnTo>
                      <a:pt x="182" y="93"/>
                    </a:lnTo>
                    <a:lnTo>
                      <a:pt x="176" y="86"/>
                    </a:lnTo>
                    <a:lnTo>
                      <a:pt x="170" y="78"/>
                    </a:lnTo>
                    <a:lnTo>
                      <a:pt x="164" y="71"/>
                    </a:lnTo>
                    <a:lnTo>
                      <a:pt x="159" y="63"/>
                    </a:lnTo>
                    <a:lnTo>
                      <a:pt x="154" y="53"/>
                    </a:lnTo>
                    <a:lnTo>
                      <a:pt x="150" y="43"/>
                    </a:lnTo>
                    <a:lnTo>
                      <a:pt x="146" y="33"/>
                    </a:lnTo>
                    <a:lnTo>
                      <a:pt x="144" y="23"/>
                    </a:lnTo>
                    <a:lnTo>
                      <a:pt x="144" y="13"/>
                    </a:lnTo>
                    <a:lnTo>
                      <a:pt x="143" y="0"/>
                    </a:lnTo>
                    <a:lnTo>
                      <a:pt x="0" y="0"/>
                    </a:lnTo>
                    <a:lnTo>
                      <a:pt x="4" y="8"/>
                    </a:lnTo>
                    <a:lnTo>
                      <a:pt x="11" y="19"/>
                    </a:lnTo>
                    <a:lnTo>
                      <a:pt x="18" y="28"/>
                    </a:lnTo>
                    <a:lnTo>
                      <a:pt x="26" y="38"/>
                    </a:lnTo>
                    <a:lnTo>
                      <a:pt x="36" y="48"/>
                    </a:lnTo>
                    <a:lnTo>
                      <a:pt x="47" y="58"/>
                    </a:lnTo>
                    <a:lnTo>
                      <a:pt x="58" y="67"/>
                    </a:lnTo>
                    <a:lnTo>
                      <a:pt x="70" y="76"/>
                    </a:lnTo>
                    <a:lnTo>
                      <a:pt x="82" y="86"/>
                    </a:lnTo>
                    <a:lnTo>
                      <a:pt x="98" y="97"/>
                    </a:lnTo>
                    <a:lnTo>
                      <a:pt x="111" y="104"/>
                    </a:lnTo>
                    <a:lnTo>
                      <a:pt x="123" y="110"/>
                    </a:lnTo>
                    <a:lnTo>
                      <a:pt x="135" y="115"/>
                    </a:lnTo>
                    <a:lnTo>
                      <a:pt x="147" y="120"/>
                    </a:lnTo>
                    <a:lnTo>
                      <a:pt x="159" y="124"/>
                    </a:lnTo>
                    <a:lnTo>
                      <a:pt x="173" y="127"/>
                    </a:lnTo>
                    <a:lnTo>
                      <a:pt x="189" y="130"/>
                    </a:lnTo>
                    <a:lnTo>
                      <a:pt x="201" y="131"/>
                    </a:lnTo>
                    <a:lnTo>
                      <a:pt x="213" y="132"/>
                    </a:lnTo>
                    <a:lnTo>
                      <a:pt x="222" y="133"/>
                    </a:lnTo>
                    <a:lnTo>
                      <a:pt x="208" y="120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42" name="Freeform 39" descr="50%"/>
              <p:cNvSpPr>
                <a:spLocks/>
              </p:cNvSpPr>
              <p:nvPr/>
            </p:nvSpPr>
            <p:spPr bwMode="auto">
              <a:xfrm>
                <a:off x="1038" y="2492"/>
                <a:ext cx="132" cy="2"/>
              </a:xfrm>
              <a:custGeom>
                <a:avLst/>
                <a:gdLst>
                  <a:gd name="T0" fmla="*/ 1 w 132"/>
                  <a:gd name="T1" fmla="*/ 0 h 2"/>
                  <a:gd name="T2" fmla="*/ 0 w 132"/>
                  <a:gd name="T3" fmla="*/ 0 h 2"/>
                  <a:gd name="T4" fmla="*/ 3 w 132"/>
                  <a:gd name="T5" fmla="*/ 1 h 2"/>
                  <a:gd name="T6" fmla="*/ 131 w 132"/>
                  <a:gd name="T7" fmla="*/ 1 h 2"/>
                  <a:gd name="T8" fmla="*/ 131 w 132"/>
                  <a:gd name="T9" fmla="*/ 0 h 2"/>
                  <a:gd name="T10" fmla="*/ 1 w 132"/>
                  <a:gd name="T11" fmla="*/ 0 h 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2" h="2">
                    <a:moveTo>
                      <a:pt x="1" y="0"/>
                    </a:moveTo>
                    <a:lnTo>
                      <a:pt x="0" y="0"/>
                    </a:lnTo>
                    <a:lnTo>
                      <a:pt x="3" y="1"/>
                    </a:lnTo>
                    <a:lnTo>
                      <a:pt x="131" y="1"/>
                    </a:lnTo>
                    <a:lnTo>
                      <a:pt x="131" y="0"/>
                    </a:lnTo>
                    <a:lnTo>
                      <a:pt x="1" y="0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92" name="Freeform 40" descr="50%"/>
            <p:cNvSpPr>
              <a:spLocks/>
            </p:cNvSpPr>
            <p:nvPr/>
          </p:nvSpPr>
          <p:spPr bwMode="auto">
            <a:xfrm>
              <a:off x="3975851" y="2323506"/>
              <a:ext cx="152545" cy="110728"/>
            </a:xfrm>
            <a:custGeom>
              <a:avLst/>
              <a:gdLst>
                <a:gd name="T0" fmla="*/ 0 w 124"/>
                <a:gd name="T1" fmla="*/ 0 h 93"/>
                <a:gd name="T2" fmla="*/ 5 w 124"/>
                <a:gd name="T3" fmla="*/ 9 h 93"/>
                <a:gd name="T4" fmla="*/ 11 w 124"/>
                <a:gd name="T5" fmla="*/ 19 h 93"/>
                <a:gd name="T6" fmla="*/ 18 w 124"/>
                <a:gd name="T7" fmla="*/ 29 h 93"/>
                <a:gd name="T8" fmla="*/ 25 w 124"/>
                <a:gd name="T9" fmla="*/ 38 h 93"/>
                <a:gd name="T10" fmla="*/ 35 w 124"/>
                <a:gd name="T11" fmla="*/ 48 h 93"/>
                <a:gd name="T12" fmla="*/ 44 w 124"/>
                <a:gd name="T13" fmla="*/ 58 h 93"/>
                <a:gd name="T14" fmla="*/ 52 w 124"/>
                <a:gd name="T15" fmla="*/ 65 h 93"/>
                <a:gd name="T16" fmla="*/ 60 w 124"/>
                <a:gd name="T17" fmla="*/ 72 h 93"/>
                <a:gd name="T18" fmla="*/ 69 w 124"/>
                <a:gd name="T19" fmla="*/ 78 h 93"/>
                <a:gd name="T20" fmla="*/ 79 w 124"/>
                <a:gd name="T21" fmla="*/ 83 h 93"/>
                <a:gd name="T22" fmla="*/ 88 w 124"/>
                <a:gd name="T23" fmla="*/ 87 h 93"/>
                <a:gd name="T24" fmla="*/ 98 w 124"/>
                <a:gd name="T25" fmla="*/ 90 h 93"/>
                <a:gd name="T26" fmla="*/ 109 w 124"/>
                <a:gd name="T27" fmla="*/ 92 h 93"/>
                <a:gd name="T28" fmla="*/ 118 w 124"/>
                <a:gd name="T29" fmla="*/ 92 h 93"/>
                <a:gd name="T30" fmla="*/ 123 w 124"/>
                <a:gd name="T31" fmla="*/ 91 h 93"/>
                <a:gd name="T32" fmla="*/ 117 w 124"/>
                <a:gd name="T33" fmla="*/ 85 h 93"/>
                <a:gd name="T34" fmla="*/ 110 w 124"/>
                <a:gd name="T35" fmla="*/ 77 h 93"/>
                <a:gd name="T36" fmla="*/ 104 w 124"/>
                <a:gd name="T37" fmla="*/ 69 h 93"/>
                <a:gd name="T38" fmla="*/ 97 w 124"/>
                <a:gd name="T39" fmla="*/ 59 h 93"/>
                <a:gd name="T40" fmla="*/ 91 w 124"/>
                <a:gd name="T41" fmla="*/ 50 h 93"/>
                <a:gd name="T42" fmla="*/ 86 w 124"/>
                <a:gd name="T43" fmla="*/ 41 h 93"/>
                <a:gd name="T44" fmla="*/ 83 w 124"/>
                <a:gd name="T45" fmla="*/ 32 h 93"/>
                <a:gd name="T46" fmla="*/ 80 w 124"/>
                <a:gd name="T47" fmla="*/ 19 h 93"/>
                <a:gd name="T48" fmla="*/ 80 w 124"/>
                <a:gd name="T49" fmla="*/ 9 h 93"/>
                <a:gd name="T50" fmla="*/ 80 w 124"/>
                <a:gd name="T51" fmla="*/ 1 h 93"/>
                <a:gd name="T52" fmla="*/ 0 w 124"/>
                <a:gd name="T53" fmla="*/ 0 h 93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24" h="93">
                  <a:moveTo>
                    <a:pt x="0" y="0"/>
                  </a:moveTo>
                  <a:lnTo>
                    <a:pt x="5" y="9"/>
                  </a:lnTo>
                  <a:lnTo>
                    <a:pt x="11" y="19"/>
                  </a:lnTo>
                  <a:lnTo>
                    <a:pt x="18" y="29"/>
                  </a:lnTo>
                  <a:lnTo>
                    <a:pt x="25" y="38"/>
                  </a:lnTo>
                  <a:lnTo>
                    <a:pt x="35" y="48"/>
                  </a:lnTo>
                  <a:lnTo>
                    <a:pt x="44" y="58"/>
                  </a:lnTo>
                  <a:lnTo>
                    <a:pt x="52" y="65"/>
                  </a:lnTo>
                  <a:lnTo>
                    <a:pt x="60" y="72"/>
                  </a:lnTo>
                  <a:lnTo>
                    <a:pt x="69" y="78"/>
                  </a:lnTo>
                  <a:lnTo>
                    <a:pt x="79" y="83"/>
                  </a:lnTo>
                  <a:lnTo>
                    <a:pt x="88" y="87"/>
                  </a:lnTo>
                  <a:lnTo>
                    <a:pt x="98" y="90"/>
                  </a:lnTo>
                  <a:lnTo>
                    <a:pt x="109" y="92"/>
                  </a:lnTo>
                  <a:lnTo>
                    <a:pt x="118" y="92"/>
                  </a:lnTo>
                  <a:lnTo>
                    <a:pt x="123" y="91"/>
                  </a:lnTo>
                  <a:lnTo>
                    <a:pt x="117" y="85"/>
                  </a:lnTo>
                  <a:lnTo>
                    <a:pt x="110" y="77"/>
                  </a:lnTo>
                  <a:lnTo>
                    <a:pt x="104" y="69"/>
                  </a:lnTo>
                  <a:lnTo>
                    <a:pt x="97" y="59"/>
                  </a:lnTo>
                  <a:lnTo>
                    <a:pt x="91" y="50"/>
                  </a:lnTo>
                  <a:lnTo>
                    <a:pt x="86" y="41"/>
                  </a:lnTo>
                  <a:lnTo>
                    <a:pt x="83" y="32"/>
                  </a:lnTo>
                  <a:lnTo>
                    <a:pt x="80" y="19"/>
                  </a:lnTo>
                  <a:lnTo>
                    <a:pt x="80" y="9"/>
                  </a:lnTo>
                  <a:lnTo>
                    <a:pt x="80" y="1"/>
                  </a:lnTo>
                  <a:lnTo>
                    <a:pt x="0" y="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3" name="Freeform 41" descr="50%"/>
            <p:cNvSpPr>
              <a:spLocks/>
            </p:cNvSpPr>
            <p:nvPr/>
          </p:nvSpPr>
          <p:spPr bwMode="auto">
            <a:xfrm>
              <a:off x="3648617" y="2055616"/>
              <a:ext cx="1295403" cy="357188"/>
            </a:xfrm>
            <a:custGeom>
              <a:avLst/>
              <a:gdLst>
                <a:gd name="T0" fmla="*/ 11 w 1053"/>
                <a:gd name="T1" fmla="*/ 178 h 300"/>
                <a:gd name="T2" fmla="*/ 43 w 1053"/>
                <a:gd name="T3" fmla="*/ 165 h 300"/>
                <a:gd name="T4" fmla="*/ 92 w 1053"/>
                <a:gd name="T5" fmla="*/ 151 h 300"/>
                <a:gd name="T6" fmla="*/ 143 w 1053"/>
                <a:gd name="T7" fmla="*/ 140 h 300"/>
                <a:gd name="T8" fmla="*/ 194 w 1053"/>
                <a:gd name="T9" fmla="*/ 131 h 300"/>
                <a:gd name="T10" fmla="*/ 246 w 1053"/>
                <a:gd name="T11" fmla="*/ 122 h 300"/>
                <a:gd name="T12" fmla="*/ 289 w 1053"/>
                <a:gd name="T13" fmla="*/ 113 h 300"/>
                <a:gd name="T14" fmla="*/ 314 w 1053"/>
                <a:gd name="T15" fmla="*/ 100 h 300"/>
                <a:gd name="T16" fmla="*/ 339 w 1053"/>
                <a:gd name="T17" fmla="*/ 76 h 300"/>
                <a:gd name="T18" fmla="*/ 375 w 1053"/>
                <a:gd name="T19" fmla="*/ 41 h 300"/>
                <a:gd name="T20" fmla="*/ 412 w 1053"/>
                <a:gd name="T21" fmla="*/ 10 h 300"/>
                <a:gd name="T22" fmla="*/ 438 w 1053"/>
                <a:gd name="T23" fmla="*/ 36 h 300"/>
                <a:gd name="T24" fmla="*/ 453 w 1053"/>
                <a:gd name="T25" fmla="*/ 88 h 300"/>
                <a:gd name="T26" fmla="*/ 462 w 1053"/>
                <a:gd name="T27" fmla="*/ 109 h 300"/>
                <a:gd name="T28" fmla="*/ 523 w 1053"/>
                <a:gd name="T29" fmla="*/ 119 h 300"/>
                <a:gd name="T30" fmla="*/ 584 w 1053"/>
                <a:gd name="T31" fmla="*/ 130 h 300"/>
                <a:gd name="T32" fmla="*/ 630 w 1053"/>
                <a:gd name="T33" fmla="*/ 130 h 300"/>
                <a:gd name="T34" fmla="*/ 679 w 1053"/>
                <a:gd name="T35" fmla="*/ 121 h 300"/>
                <a:gd name="T36" fmla="*/ 717 w 1053"/>
                <a:gd name="T37" fmla="*/ 146 h 300"/>
                <a:gd name="T38" fmla="*/ 754 w 1053"/>
                <a:gd name="T39" fmla="*/ 156 h 300"/>
                <a:gd name="T40" fmla="*/ 800 w 1053"/>
                <a:gd name="T41" fmla="*/ 156 h 300"/>
                <a:gd name="T42" fmla="*/ 849 w 1053"/>
                <a:gd name="T43" fmla="*/ 138 h 300"/>
                <a:gd name="T44" fmla="*/ 904 w 1053"/>
                <a:gd name="T45" fmla="*/ 94 h 300"/>
                <a:gd name="T46" fmla="*/ 968 w 1053"/>
                <a:gd name="T47" fmla="*/ 43 h 300"/>
                <a:gd name="T48" fmla="*/ 1032 w 1053"/>
                <a:gd name="T49" fmla="*/ 22 h 300"/>
                <a:gd name="T50" fmla="*/ 1034 w 1053"/>
                <a:gd name="T51" fmla="*/ 39 h 300"/>
                <a:gd name="T52" fmla="*/ 1004 w 1053"/>
                <a:gd name="T53" fmla="*/ 76 h 300"/>
                <a:gd name="T54" fmla="*/ 968 w 1053"/>
                <a:gd name="T55" fmla="*/ 112 h 300"/>
                <a:gd name="T56" fmla="*/ 945 w 1053"/>
                <a:gd name="T57" fmla="*/ 148 h 300"/>
                <a:gd name="T58" fmla="*/ 945 w 1053"/>
                <a:gd name="T59" fmla="*/ 185 h 300"/>
                <a:gd name="T60" fmla="*/ 970 w 1053"/>
                <a:gd name="T61" fmla="*/ 224 h 300"/>
                <a:gd name="T62" fmla="*/ 1002 w 1053"/>
                <a:gd name="T63" fmla="*/ 252 h 300"/>
                <a:gd name="T64" fmla="*/ 1031 w 1053"/>
                <a:gd name="T65" fmla="*/ 276 h 300"/>
                <a:gd name="T66" fmla="*/ 1032 w 1053"/>
                <a:gd name="T67" fmla="*/ 287 h 300"/>
                <a:gd name="T68" fmla="*/ 992 w 1053"/>
                <a:gd name="T69" fmla="*/ 286 h 300"/>
                <a:gd name="T70" fmla="*/ 957 w 1053"/>
                <a:gd name="T71" fmla="*/ 278 h 300"/>
                <a:gd name="T72" fmla="*/ 923 w 1053"/>
                <a:gd name="T73" fmla="*/ 261 h 300"/>
                <a:gd name="T74" fmla="*/ 868 w 1053"/>
                <a:gd name="T75" fmla="*/ 227 h 300"/>
                <a:gd name="T76" fmla="*/ 800 w 1053"/>
                <a:gd name="T77" fmla="*/ 222 h 300"/>
                <a:gd name="T78" fmla="*/ 718 w 1053"/>
                <a:gd name="T79" fmla="*/ 231 h 300"/>
                <a:gd name="T80" fmla="*/ 666 w 1053"/>
                <a:gd name="T81" fmla="*/ 251 h 300"/>
                <a:gd name="T82" fmla="*/ 649 w 1053"/>
                <a:gd name="T83" fmla="*/ 274 h 300"/>
                <a:gd name="T84" fmla="*/ 576 w 1053"/>
                <a:gd name="T85" fmla="*/ 272 h 300"/>
                <a:gd name="T86" fmla="*/ 514 w 1053"/>
                <a:gd name="T87" fmla="*/ 291 h 300"/>
                <a:gd name="T88" fmla="*/ 285 w 1053"/>
                <a:gd name="T89" fmla="*/ 299 h 300"/>
                <a:gd name="T90" fmla="*/ 153 w 1053"/>
                <a:gd name="T91" fmla="*/ 286 h 300"/>
                <a:gd name="T92" fmla="*/ 38 w 1053"/>
                <a:gd name="T93" fmla="*/ 248 h 300"/>
                <a:gd name="T94" fmla="*/ 38 w 1053"/>
                <a:gd name="T95" fmla="*/ 229 h 300"/>
                <a:gd name="T96" fmla="*/ 12 w 1053"/>
                <a:gd name="T97" fmla="*/ 206 h 300"/>
                <a:gd name="T98" fmla="*/ 2 w 1053"/>
                <a:gd name="T99" fmla="*/ 190 h 30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053" h="300">
                  <a:moveTo>
                    <a:pt x="0" y="185"/>
                  </a:moveTo>
                  <a:lnTo>
                    <a:pt x="4" y="182"/>
                  </a:lnTo>
                  <a:lnTo>
                    <a:pt x="11" y="178"/>
                  </a:lnTo>
                  <a:lnTo>
                    <a:pt x="24" y="173"/>
                  </a:lnTo>
                  <a:lnTo>
                    <a:pt x="33" y="169"/>
                  </a:lnTo>
                  <a:lnTo>
                    <a:pt x="43" y="165"/>
                  </a:lnTo>
                  <a:lnTo>
                    <a:pt x="60" y="160"/>
                  </a:lnTo>
                  <a:lnTo>
                    <a:pt x="76" y="155"/>
                  </a:lnTo>
                  <a:lnTo>
                    <a:pt x="92" y="151"/>
                  </a:lnTo>
                  <a:lnTo>
                    <a:pt x="108" y="147"/>
                  </a:lnTo>
                  <a:lnTo>
                    <a:pt x="125" y="144"/>
                  </a:lnTo>
                  <a:lnTo>
                    <a:pt x="143" y="140"/>
                  </a:lnTo>
                  <a:lnTo>
                    <a:pt x="162" y="137"/>
                  </a:lnTo>
                  <a:lnTo>
                    <a:pt x="178" y="134"/>
                  </a:lnTo>
                  <a:lnTo>
                    <a:pt x="194" y="131"/>
                  </a:lnTo>
                  <a:lnTo>
                    <a:pt x="209" y="128"/>
                  </a:lnTo>
                  <a:lnTo>
                    <a:pt x="229" y="124"/>
                  </a:lnTo>
                  <a:lnTo>
                    <a:pt x="246" y="122"/>
                  </a:lnTo>
                  <a:lnTo>
                    <a:pt x="263" y="119"/>
                  </a:lnTo>
                  <a:lnTo>
                    <a:pt x="277" y="117"/>
                  </a:lnTo>
                  <a:lnTo>
                    <a:pt x="289" y="113"/>
                  </a:lnTo>
                  <a:lnTo>
                    <a:pt x="300" y="109"/>
                  </a:lnTo>
                  <a:lnTo>
                    <a:pt x="307" y="105"/>
                  </a:lnTo>
                  <a:lnTo>
                    <a:pt x="314" y="100"/>
                  </a:lnTo>
                  <a:lnTo>
                    <a:pt x="321" y="93"/>
                  </a:lnTo>
                  <a:lnTo>
                    <a:pt x="329" y="85"/>
                  </a:lnTo>
                  <a:lnTo>
                    <a:pt x="339" y="76"/>
                  </a:lnTo>
                  <a:lnTo>
                    <a:pt x="350" y="64"/>
                  </a:lnTo>
                  <a:lnTo>
                    <a:pt x="362" y="53"/>
                  </a:lnTo>
                  <a:lnTo>
                    <a:pt x="375" y="41"/>
                  </a:lnTo>
                  <a:lnTo>
                    <a:pt x="386" y="30"/>
                  </a:lnTo>
                  <a:lnTo>
                    <a:pt x="399" y="21"/>
                  </a:lnTo>
                  <a:lnTo>
                    <a:pt x="412" y="10"/>
                  </a:lnTo>
                  <a:lnTo>
                    <a:pt x="427" y="0"/>
                  </a:lnTo>
                  <a:lnTo>
                    <a:pt x="432" y="19"/>
                  </a:lnTo>
                  <a:lnTo>
                    <a:pt x="438" y="36"/>
                  </a:lnTo>
                  <a:lnTo>
                    <a:pt x="444" y="54"/>
                  </a:lnTo>
                  <a:lnTo>
                    <a:pt x="450" y="73"/>
                  </a:lnTo>
                  <a:lnTo>
                    <a:pt x="453" y="88"/>
                  </a:lnTo>
                  <a:lnTo>
                    <a:pt x="452" y="98"/>
                  </a:lnTo>
                  <a:lnTo>
                    <a:pt x="446" y="107"/>
                  </a:lnTo>
                  <a:lnTo>
                    <a:pt x="462" y="109"/>
                  </a:lnTo>
                  <a:lnTo>
                    <a:pt x="479" y="112"/>
                  </a:lnTo>
                  <a:lnTo>
                    <a:pt x="500" y="116"/>
                  </a:lnTo>
                  <a:lnTo>
                    <a:pt x="523" y="119"/>
                  </a:lnTo>
                  <a:lnTo>
                    <a:pt x="546" y="124"/>
                  </a:lnTo>
                  <a:lnTo>
                    <a:pt x="565" y="127"/>
                  </a:lnTo>
                  <a:lnTo>
                    <a:pt x="584" y="130"/>
                  </a:lnTo>
                  <a:lnTo>
                    <a:pt x="602" y="132"/>
                  </a:lnTo>
                  <a:lnTo>
                    <a:pt x="618" y="134"/>
                  </a:lnTo>
                  <a:lnTo>
                    <a:pt x="630" y="130"/>
                  </a:lnTo>
                  <a:lnTo>
                    <a:pt x="642" y="124"/>
                  </a:lnTo>
                  <a:lnTo>
                    <a:pt x="653" y="117"/>
                  </a:lnTo>
                  <a:lnTo>
                    <a:pt x="679" y="121"/>
                  </a:lnTo>
                  <a:lnTo>
                    <a:pt x="707" y="127"/>
                  </a:lnTo>
                  <a:lnTo>
                    <a:pt x="731" y="132"/>
                  </a:lnTo>
                  <a:lnTo>
                    <a:pt x="717" y="146"/>
                  </a:lnTo>
                  <a:lnTo>
                    <a:pt x="726" y="149"/>
                  </a:lnTo>
                  <a:lnTo>
                    <a:pt x="739" y="153"/>
                  </a:lnTo>
                  <a:lnTo>
                    <a:pt x="754" y="156"/>
                  </a:lnTo>
                  <a:lnTo>
                    <a:pt x="770" y="159"/>
                  </a:lnTo>
                  <a:lnTo>
                    <a:pt x="784" y="157"/>
                  </a:lnTo>
                  <a:lnTo>
                    <a:pt x="800" y="156"/>
                  </a:lnTo>
                  <a:lnTo>
                    <a:pt x="817" y="152"/>
                  </a:lnTo>
                  <a:lnTo>
                    <a:pt x="834" y="147"/>
                  </a:lnTo>
                  <a:lnTo>
                    <a:pt x="849" y="138"/>
                  </a:lnTo>
                  <a:lnTo>
                    <a:pt x="870" y="124"/>
                  </a:lnTo>
                  <a:lnTo>
                    <a:pt x="885" y="112"/>
                  </a:lnTo>
                  <a:lnTo>
                    <a:pt x="904" y="94"/>
                  </a:lnTo>
                  <a:lnTo>
                    <a:pt x="924" y="73"/>
                  </a:lnTo>
                  <a:lnTo>
                    <a:pt x="948" y="56"/>
                  </a:lnTo>
                  <a:lnTo>
                    <a:pt x="968" y="43"/>
                  </a:lnTo>
                  <a:lnTo>
                    <a:pt x="988" y="32"/>
                  </a:lnTo>
                  <a:lnTo>
                    <a:pt x="1008" y="25"/>
                  </a:lnTo>
                  <a:lnTo>
                    <a:pt x="1032" y="22"/>
                  </a:lnTo>
                  <a:lnTo>
                    <a:pt x="1052" y="23"/>
                  </a:lnTo>
                  <a:lnTo>
                    <a:pt x="1042" y="32"/>
                  </a:lnTo>
                  <a:lnTo>
                    <a:pt x="1034" y="39"/>
                  </a:lnTo>
                  <a:lnTo>
                    <a:pt x="1031" y="46"/>
                  </a:lnTo>
                  <a:lnTo>
                    <a:pt x="1015" y="66"/>
                  </a:lnTo>
                  <a:lnTo>
                    <a:pt x="1004" y="76"/>
                  </a:lnTo>
                  <a:lnTo>
                    <a:pt x="990" y="87"/>
                  </a:lnTo>
                  <a:lnTo>
                    <a:pt x="978" y="100"/>
                  </a:lnTo>
                  <a:lnTo>
                    <a:pt x="968" y="112"/>
                  </a:lnTo>
                  <a:lnTo>
                    <a:pt x="959" y="124"/>
                  </a:lnTo>
                  <a:lnTo>
                    <a:pt x="951" y="137"/>
                  </a:lnTo>
                  <a:lnTo>
                    <a:pt x="945" y="148"/>
                  </a:lnTo>
                  <a:lnTo>
                    <a:pt x="941" y="159"/>
                  </a:lnTo>
                  <a:lnTo>
                    <a:pt x="940" y="172"/>
                  </a:lnTo>
                  <a:lnTo>
                    <a:pt x="945" y="185"/>
                  </a:lnTo>
                  <a:lnTo>
                    <a:pt x="951" y="200"/>
                  </a:lnTo>
                  <a:lnTo>
                    <a:pt x="960" y="212"/>
                  </a:lnTo>
                  <a:lnTo>
                    <a:pt x="970" y="224"/>
                  </a:lnTo>
                  <a:lnTo>
                    <a:pt x="980" y="233"/>
                  </a:lnTo>
                  <a:lnTo>
                    <a:pt x="991" y="242"/>
                  </a:lnTo>
                  <a:lnTo>
                    <a:pt x="1002" y="252"/>
                  </a:lnTo>
                  <a:lnTo>
                    <a:pt x="1015" y="263"/>
                  </a:lnTo>
                  <a:lnTo>
                    <a:pt x="1023" y="270"/>
                  </a:lnTo>
                  <a:lnTo>
                    <a:pt x="1031" y="276"/>
                  </a:lnTo>
                  <a:lnTo>
                    <a:pt x="1039" y="281"/>
                  </a:lnTo>
                  <a:lnTo>
                    <a:pt x="1044" y="287"/>
                  </a:lnTo>
                  <a:lnTo>
                    <a:pt x="1032" y="287"/>
                  </a:lnTo>
                  <a:lnTo>
                    <a:pt x="1017" y="287"/>
                  </a:lnTo>
                  <a:lnTo>
                    <a:pt x="1004" y="288"/>
                  </a:lnTo>
                  <a:lnTo>
                    <a:pt x="992" y="286"/>
                  </a:lnTo>
                  <a:lnTo>
                    <a:pt x="978" y="285"/>
                  </a:lnTo>
                  <a:lnTo>
                    <a:pt x="967" y="281"/>
                  </a:lnTo>
                  <a:lnTo>
                    <a:pt x="957" y="278"/>
                  </a:lnTo>
                  <a:lnTo>
                    <a:pt x="946" y="273"/>
                  </a:lnTo>
                  <a:lnTo>
                    <a:pt x="934" y="267"/>
                  </a:lnTo>
                  <a:lnTo>
                    <a:pt x="923" y="261"/>
                  </a:lnTo>
                  <a:lnTo>
                    <a:pt x="903" y="247"/>
                  </a:lnTo>
                  <a:lnTo>
                    <a:pt x="888" y="238"/>
                  </a:lnTo>
                  <a:lnTo>
                    <a:pt x="868" y="227"/>
                  </a:lnTo>
                  <a:lnTo>
                    <a:pt x="848" y="225"/>
                  </a:lnTo>
                  <a:lnTo>
                    <a:pt x="828" y="225"/>
                  </a:lnTo>
                  <a:lnTo>
                    <a:pt x="800" y="222"/>
                  </a:lnTo>
                  <a:lnTo>
                    <a:pt x="775" y="225"/>
                  </a:lnTo>
                  <a:lnTo>
                    <a:pt x="747" y="226"/>
                  </a:lnTo>
                  <a:lnTo>
                    <a:pt x="718" y="231"/>
                  </a:lnTo>
                  <a:lnTo>
                    <a:pt x="688" y="238"/>
                  </a:lnTo>
                  <a:lnTo>
                    <a:pt x="670" y="245"/>
                  </a:lnTo>
                  <a:lnTo>
                    <a:pt x="666" y="251"/>
                  </a:lnTo>
                  <a:lnTo>
                    <a:pt x="670" y="257"/>
                  </a:lnTo>
                  <a:lnTo>
                    <a:pt x="684" y="266"/>
                  </a:lnTo>
                  <a:lnTo>
                    <a:pt x="649" y="274"/>
                  </a:lnTo>
                  <a:lnTo>
                    <a:pt x="600" y="287"/>
                  </a:lnTo>
                  <a:lnTo>
                    <a:pt x="589" y="278"/>
                  </a:lnTo>
                  <a:lnTo>
                    <a:pt x="576" y="272"/>
                  </a:lnTo>
                  <a:lnTo>
                    <a:pt x="562" y="269"/>
                  </a:lnTo>
                  <a:lnTo>
                    <a:pt x="542" y="268"/>
                  </a:lnTo>
                  <a:lnTo>
                    <a:pt x="514" y="291"/>
                  </a:lnTo>
                  <a:lnTo>
                    <a:pt x="491" y="274"/>
                  </a:lnTo>
                  <a:lnTo>
                    <a:pt x="319" y="297"/>
                  </a:lnTo>
                  <a:lnTo>
                    <a:pt x="285" y="299"/>
                  </a:lnTo>
                  <a:lnTo>
                    <a:pt x="253" y="296"/>
                  </a:lnTo>
                  <a:lnTo>
                    <a:pt x="220" y="294"/>
                  </a:lnTo>
                  <a:lnTo>
                    <a:pt x="153" y="286"/>
                  </a:lnTo>
                  <a:lnTo>
                    <a:pt x="93" y="271"/>
                  </a:lnTo>
                  <a:lnTo>
                    <a:pt x="60" y="260"/>
                  </a:lnTo>
                  <a:lnTo>
                    <a:pt x="38" y="248"/>
                  </a:lnTo>
                  <a:lnTo>
                    <a:pt x="62" y="244"/>
                  </a:lnTo>
                  <a:lnTo>
                    <a:pt x="47" y="235"/>
                  </a:lnTo>
                  <a:lnTo>
                    <a:pt x="38" y="229"/>
                  </a:lnTo>
                  <a:lnTo>
                    <a:pt x="21" y="215"/>
                  </a:lnTo>
                  <a:lnTo>
                    <a:pt x="17" y="212"/>
                  </a:lnTo>
                  <a:lnTo>
                    <a:pt x="12" y="206"/>
                  </a:lnTo>
                  <a:lnTo>
                    <a:pt x="9" y="202"/>
                  </a:lnTo>
                  <a:lnTo>
                    <a:pt x="6" y="195"/>
                  </a:lnTo>
                  <a:lnTo>
                    <a:pt x="2" y="190"/>
                  </a:lnTo>
                  <a:lnTo>
                    <a:pt x="0" y="185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194" name="Group 42"/>
            <p:cNvGrpSpPr>
              <a:grpSpLocks/>
            </p:cNvGrpSpPr>
            <p:nvPr/>
          </p:nvGrpSpPr>
          <p:grpSpPr bwMode="auto">
            <a:xfrm>
              <a:off x="3763026" y="2287787"/>
              <a:ext cx="20913" cy="17859"/>
              <a:chOff x="2416" y="2355"/>
              <a:chExt cx="17" cy="15"/>
            </a:xfrm>
          </p:grpSpPr>
          <p:sp>
            <p:nvSpPr>
              <p:cNvPr id="7739" name="Oval 43" descr="50%"/>
              <p:cNvSpPr>
                <a:spLocks noChangeArrowheads="1"/>
              </p:cNvSpPr>
              <p:nvPr/>
            </p:nvSpPr>
            <p:spPr bwMode="auto">
              <a:xfrm>
                <a:off x="2416" y="2355"/>
                <a:ext cx="16" cy="15"/>
              </a:xfrm>
              <a:prstGeom prst="ellipse">
                <a:avLst/>
              </a:pr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40" name="Arc 44" descr="50%"/>
              <p:cNvSpPr>
                <a:spLocks/>
              </p:cNvSpPr>
              <p:nvPr/>
            </p:nvSpPr>
            <p:spPr bwMode="auto">
              <a:xfrm>
                <a:off x="2419" y="2356"/>
                <a:ext cx="14" cy="14"/>
              </a:xfrm>
              <a:custGeom>
                <a:avLst/>
                <a:gdLst>
                  <a:gd name="T0" fmla="*/ 11 w 43200"/>
                  <a:gd name="T1" fmla="*/ 1 h 42369"/>
                  <a:gd name="T2" fmla="*/ 5 w 43200"/>
                  <a:gd name="T3" fmla="*/ 0 h 42369"/>
                  <a:gd name="T4" fmla="*/ 7 w 43200"/>
                  <a:gd name="T5" fmla="*/ 7 h 4236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2369" fill="none" extrusionOk="0">
                    <a:moveTo>
                      <a:pt x="33581" y="2797"/>
                    </a:moveTo>
                    <a:cubicBezTo>
                      <a:pt x="39590" y="6803"/>
                      <a:pt x="43200" y="13547"/>
                      <a:pt x="43200" y="20769"/>
                    </a:cubicBezTo>
                    <a:cubicBezTo>
                      <a:pt x="43200" y="32698"/>
                      <a:pt x="33529" y="42369"/>
                      <a:pt x="21600" y="42369"/>
                    </a:cubicBezTo>
                    <a:cubicBezTo>
                      <a:pt x="9670" y="42369"/>
                      <a:pt x="0" y="32698"/>
                      <a:pt x="0" y="20769"/>
                    </a:cubicBezTo>
                    <a:cubicBezTo>
                      <a:pt x="-1" y="11125"/>
                      <a:pt x="6393" y="2649"/>
                      <a:pt x="15666" y="0"/>
                    </a:cubicBezTo>
                  </a:path>
                  <a:path w="43200" h="42369" stroke="0" extrusionOk="0">
                    <a:moveTo>
                      <a:pt x="33581" y="2797"/>
                    </a:moveTo>
                    <a:cubicBezTo>
                      <a:pt x="39590" y="6803"/>
                      <a:pt x="43200" y="13547"/>
                      <a:pt x="43200" y="20769"/>
                    </a:cubicBezTo>
                    <a:cubicBezTo>
                      <a:pt x="43200" y="32698"/>
                      <a:pt x="33529" y="42369"/>
                      <a:pt x="21600" y="42369"/>
                    </a:cubicBezTo>
                    <a:cubicBezTo>
                      <a:pt x="9670" y="42369"/>
                      <a:pt x="0" y="32698"/>
                      <a:pt x="0" y="20769"/>
                    </a:cubicBezTo>
                    <a:cubicBezTo>
                      <a:pt x="-1" y="11125"/>
                      <a:pt x="6393" y="2649"/>
                      <a:pt x="15666" y="0"/>
                    </a:cubicBezTo>
                    <a:lnTo>
                      <a:pt x="21600" y="20769"/>
                    </a:lnTo>
                    <a:lnTo>
                      <a:pt x="33581" y="2797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195" name="Group 45"/>
            <p:cNvGrpSpPr>
              <a:grpSpLocks/>
            </p:cNvGrpSpPr>
            <p:nvPr/>
          </p:nvGrpSpPr>
          <p:grpSpPr bwMode="auto">
            <a:xfrm>
              <a:off x="3838068" y="2316362"/>
              <a:ext cx="78733" cy="52388"/>
              <a:chOff x="2477" y="2379"/>
              <a:chExt cx="64" cy="44"/>
            </a:xfrm>
          </p:grpSpPr>
          <p:sp>
            <p:nvSpPr>
              <p:cNvPr id="7734" name="Arc 46" descr="50%"/>
              <p:cNvSpPr>
                <a:spLocks/>
              </p:cNvSpPr>
              <p:nvPr/>
            </p:nvSpPr>
            <p:spPr bwMode="auto">
              <a:xfrm>
                <a:off x="2491" y="2379"/>
                <a:ext cx="6" cy="44"/>
              </a:xfrm>
              <a:custGeom>
                <a:avLst/>
                <a:gdLst>
                  <a:gd name="T0" fmla="*/ 1 w 30717"/>
                  <a:gd name="T1" fmla="*/ 1 h 43200"/>
                  <a:gd name="T2" fmla="*/ 0 w 30717"/>
                  <a:gd name="T3" fmla="*/ 42 h 43200"/>
                  <a:gd name="T4" fmla="*/ 2 w 30717"/>
                  <a:gd name="T5" fmla="*/ 22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717" h="43200" fill="none" extrusionOk="0">
                    <a:moveTo>
                      <a:pt x="4431" y="514"/>
                    </a:moveTo>
                    <a:cubicBezTo>
                      <a:pt x="5969" y="172"/>
                      <a:pt x="7540" y="-1"/>
                      <a:pt x="9117" y="0"/>
                    </a:cubicBezTo>
                    <a:cubicBezTo>
                      <a:pt x="21046" y="0"/>
                      <a:pt x="30717" y="9670"/>
                      <a:pt x="30717" y="21600"/>
                    </a:cubicBezTo>
                    <a:cubicBezTo>
                      <a:pt x="30717" y="33529"/>
                      <a:pt x="21046" y="43200"/>
                      <a:pt x="9117" y="43200"/>
                    </a:cubicBezTo>
                    <a:cubicBezTo>
                      <a:pt x="5967" y="43200"/>
                      <a:pt x="2855" y="42511"/>
                      <a:pt x="-1" y="41181"/>
                    </a:cubicBezTo>
                  </a:path>
                  <a:path w="30717" h="43200" stroke="0" extrusionOk="0">
                    <a:moveTo>
                      <a:pt x="4431" y="514"/>
                    </a:moveTo>
                    <a:cubicBezTo>
                      <a:pt x="5969" y="172"/>
                      <a:pt x="7540" y="-1"/>
                      <a:pt x="9117" y="0"/>
                    </a:cubicBezTo>
                    <a:cubicBezTo>
                      <a:pt x="21046" y="0"/>
                      <a:pt x="30717" y="9670"/>
                      <a:pt x="30717" y="21600"/>
                    </a:cubicBezTo>
                    <a:cubicBezTo>
                      <a:pt x="30717" y="33529"/>
                      <a:pt x="21046" y="43200"/>
                      <a:pt x="9117" y="43200"/>
                    </a:cubicBezTo>
                    <a:cubicBezTo>
                      <a:pt x="5967" y="43200"/>
                      <a:pt x="2855" y="42511"/>
                      <a:pt x="-1" y="41181"/>
                    </a:cubicBezTo>
                    <a:lnTo>
                      <a:pt x="9117" y="21600"/>
                    </a:lnTo>
                    <a:lnTo>
                      <a:pt x="4431" y="51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35" name="Arc 47" descr="50%"/>
              <p:cNvSpPr>
                <a:spLocks/>
              </p:cNvSpPr>
              <p:nvPr/>
            </p:nvSpPr>
            <p:spPr bwMode="auto">
              <a:xfrm>
                <a:off x="2477" y="2379"/>
                <a:ext cx="6" cy="44"/>
              </a:xfrm>
              <a:custGeom>
                <a:avLst/>
                <a:gdLst>
                  <a:gd name="T0" fmla="*/ 1 w 30717"/>
                  <a:gd name="T1" fmla="*/ 1 h 43200"/>
                  <a:gd name="T2" fmla="*/ 0 w 30717"/>
                  <a:gd name="T3" fmla="*/ 42 h 43200"/>
                  <a:gd name="T4" fmla="*/ 2 w 30717"/>
                  <a:gd name="T5" fmla="*/ 22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717" h="43200" fill="none" extrusionOk="0">
                    <a:moveTo>
                      <a:pt x="4431" y="514"/>
                    </a:moveTo>
                    <a:cubicBezTo>
                      <a:pt x="5969" y="172"/>
                      <a:pt x="7540" y="-1"/>
                      <a:pt x="9117" y="0"/>
                    </a:cubicBezTo>
                    <a:cubicBezTo>
                      <a:pt x="21046" y="0"/>
                      <a:pt x="30717" y="9670"/>
                      <a:pt x="30717" y="21600"/>
                    </a:cubicBezTo>
                    <a:cubicBezTo>
                      <a:pt x="30717" y="33529"/>
                      <a:pt x="21046" y="43200"/>
                      <a:pt x="9117" y="43200"/>
                    </a:cubicBezTo>
                    <a:cubicBezTo>
                      <a:pt x="5967" y="43200"/>
                      <a:pt x="2855" y="42511"/>
                      <a:pt x="-1" y="41181"/>
                    </a:cubicBezTo>
                  </a:path>
                  <a:path w="30717" h="43200" stroke="0" extrusionOk="0">
                    <a:moveTo>
                      <a:pt x="4431" y="514"/>
                    </a:moveTo>
                    <a:cubicBezTo>
                      <a:pt x="5969" y="172"/>
                      <a:pt x="7540" y="-1"/>
                      <a:pt x="9117" y="0"/>
                    </a:cubicBezTo>
                    <a:cubicBezTo>
                      <a:pt x="21046" y="0"/>
                      <a:pt x="30717" y="9670"/>
                      <a:pt x="30717" y="21600"/>
                    </a:cubicBezTo>
                    <a:cubicBezTo>
                      <a:pt x="30717" y="33529"/>
                      <a:pt x="21046" y="43200"/>
                      <a:pt x="9117" y="43200"/>
                    </a:cubicBezTo>
                    <a:cubicBezTo>
                      <a:pt x="5967" y="43200"/>
                      <a:pt x="2855" y="42511"/>
                      <a:pt x="-1" y="41181"/>
                    </a:cubicBezTo>
                    <a:lnTo>
                      <a:pt x="9117" y="21600"/>
                    </a:lnTo>
                    <a:lnTo>
                      <a:pt x="4431" y="51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36" name="Arc 48" descr="50%"/>
              <p:cNvSpPr>
                <a:spLocks/>
              </p:cNvSpPr>
              <p:nvPr/>
            </p:nvSpPr>
            <p:spPr bwMode="auto">
              <a:xfrm>
                <a:off x="2505" y="2379"/>
                <a:ext cx="6" cy="44"/>
              </a:xfrm>
              <a:custGeom>
                <a:avLst/>
                <a:gdLst>
                  <a:gd name="T0" fmla="*/ 1 w 30717"/>
                  <a:gd name="T1" fmla="*/ 1 h 43200"/>
                  <a:gd name="T2" fmla="*/ 0 w 30717"/>
                  <a:gd name="T3" fmla="*/ 42 h 43200"/>
                  <a:gd name="T4" fmla="*/ 2 w 30717"/>
                  <a:gd name="T5" fmla="*/ 22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717" h="43200" fill="none" extrusionOk="0">
                    <a:moveTo>
                      <a:pt x="4431" y="514"/>
                    </a:moveTo>
                    <a:cubicBezTo>
                      <a:pt x="5969" y="172"/>
                      <a:pt x="7540" y="-1"/>
                      <a:pt x="9117" y="0"/>
                    </a:cubicBezTo>
                    <a:cubicBezTo>
                      <a:pt x="21046" y="0"/>
                      <a:pt x="30717" y="9670"/>
                      <a:pt x="30717" y="21600"/>
                    </a:cubicBezTo>
                    <a:cubicBezTo>
                      <a:pt x="30717" y="33529"/>
                      <a:pt x="21046" y="43200"/>
                      <a:pt x="9117" y="43200"/>
                    </a:cubicBezTo>
                    <a:cubicBezTo>
                      <a:pt x="5967" y="43200"/>
                      <a:pt x="2855" y="42511"/>
                      <a:pt x="-1" y="41181"/>
                    </a:cubicBezTo>
                  </a:path>
                  <a:path w="30717" h="43200" stroke="0" extrusionOk="0">
                    <a:moveTo>
                      <a:pt x="4431" y="514"/>
                    </a:moveTo>
                    <a:cubicBezTo>
                      <a:pt x="5969" y="172"/>
                      <a:pt x="7540" y="-1"/>
                      <a:pt x="9117" y="0"/>
                    </a:cubicBezTo>
                    <a:cubicBezTo>
                      <a:pt x="21046" y="0"/>
                      <a:pt x="30717" y="9670"/>
                      <a:pt x="30717" y="21600"/>
                    </a:cubicBezTo>
                    <a:cubicBezTo>
                      <a:pt x="30717" y="33529"/>
                      <a:pt x="21046" y="43200"/>
                      <a:pt x="9117" y="43200"/>
                    </a:cubicBezTo>
                    <a:cubicBezTo>
                      <a:pt x="5967" y="43200"/>
                      <a:pt x="2855" y="42511"/>
                      <a:pt x="-1" y="41181"/>
                    </a:cubicBezTo>
                    <a:lnTo>
                      <a:pt x="9117" y="21600"/>
                    </a:lnTo>
                    <a:lnTo>
                      <a:pt x="4431" y="51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37" name="Arc 49" descr="50%"/>
              <p:cNvSpPr>
                <a:spLocks/>
              </p:cNvSpPr>
              <p:nvPr/>
            </p:nvSpPr>
            <p:spPr bwMode="auto">
              <a:xfrm>
                <a:off x="2519" y="2379"/>
                <a:ext cx="6" cy="44"/>
              </a:xfrm>
              <a:custGeom>
                <a:avLst/>
                <a:gdLst>
                  <a:gd name="T0" fmla="*/ 1 w 30717"/>
                  <a:gd name="T1" fmla="*/ 1 h 43200"/>
                  <a:gd name="T2" fmla="*/ 0 w 30717"/>
                  <a:gd name="T3" fmla="*/ 42 h 43200"/>
                  <a:gd name="T4" fmla="*/ 2 w 30717"/>
                  <a:gd name="T5" fmla="*/ 22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717" h="43200" fill="none" extrusionOk="0">
                    <a:moveTo>
                      <a:pt x="4431" y="514"/>
                    </a:moveTo>
                    <a:cubicBezTo>
                      <a:pt x="5969" y="172"/>
                      <a:pt x="7540" y="-1"/>
                      <a:pt x="9117" y="0"/>
                    </a:cubicBezTo>
                    <a:cubicBezTo>
                      <a:pt x="21046" y="0"/>
                      <a:pt x="30717" y="9670"/>
                      <a:pt x="30717" y="21600"/>
                    </a:cubicBezTo>
                    <a:cubicBezTo>
                      <a:pt x="30717" y="33529"/>
                      <a:pt x="21046" y="43200"/>
                      <a:pt x="9117" y="43200"/>
                    </a:cubicBezTo>
                    <a:cubicBezTo>
                      <a:pt x="5967" y="43200"/>
                      <a:pt x="2855" y="42511"/>
                      <a:pt x="-1" y="41181"/>
                    </a:cubicBezTo>
                  </a:path>
                  <a:path w="30717" h="43200" stroke="0" extrusionOk="0">
                    <a:moveTo>
                      <a:pt x="4431" y="514"/>
                    </a:moveTo>
                    <a:cubicBezTo>
                      <a:pt x="5969" y="172"/>
                      <a:pt x="7540" y="-1"/>
                      <a:pt x="9117" y="0"/>
                    </a:cubicBezTo>
                    <a:cubicBezTo>
                      <a:pt x="21046" y="0"/>
                      <a:pt x="30717" y="9670"/>
                      <a:pt x="30717" y="21600"/>
                    </a:cubicBezTo>
                    <a:cubicBezTo>
                      <a:pt x="30717" y="33529"/>
                      <a:pt x="21046" y="43200"/>
                      <a:pt x="9117" y="43200"/>
                    </a:cubicBezTo>
                    <a:cubicBezTo>
                      <a:pt x="5967" y="43200"/>
                      <a:pt x="2855" y="42511"/>
                      <a:pt x="-1" y="41181"/>
                    </a:cubicBezTo>
                    <a:lnTo>
                      <a:pt x="9117" y="21600"/>
                    </a:lnTo>
                    <a:lnTo>
                      <a:pt x="4431" y="51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38" name="Arc 50" descr="50%"/>
              <p:cNvSpPr>
                <a:spLocks/>
              </p:cNvSpPr>
              <p:nvPr/>
            </p:nvSpPr>
            <p:spPr bwMode="auto">
              <a:xfrm>
                <a:off x="2535" y="2379"/>
                <a:ext cx="6" cy="44"/>
              </a:xfrm>
              <a:custGeom>
                <a:avLst/>
                <a:gdLst>
                  <a:gd name="T0" fmla="*/ 0 w 26498"/>
                  <a:gd name="T1" fmla="*/ 1 h 43200"/>
                  <a:gd name="T2" fmla="*/ 0 w 26498"/>
                  <a:gd name="T3" fmla="*/ 43 h 43200"/>
                  <a:gd name="T4" fmla="*/ 1 w 26498"/>
                  <a:gd name="T5" fmla="*/ 22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498" h="43200" fill="none" extrusionOk="0">
                    <a:moveTo>
                      <a:pt x="212" y="514"/>
                    </a:moveTo>
                    <a:cubicBezTo>
                      <a:pt x="1750" y="172"/>
                      <a:pt x="3321" y="-1"/>
                      <a:pt x="4898" y="0"/>
                    </a:cubicBezTo>
                    <a:cubicBezTo>
                      <a:pt x="16827" y="0"/>
                      <a:pt x="26498" y="9670"/>
                      <a:pt x="26498" y="21600"/>
                    </a:cubicBezTo>
                    <a:cubicBezTo>
                      <a:pt x="26498" y="33529"/>
                      <a:pt x="16827" y="43200"/>
                      <a:pt x="4898" y="43200"/>
                    </a:cubicBezTo>
                    <a:cubicBezTo>
                      <a:pt x="3249" y="43200"/>
                      <a:pt x="1605" y="43011"/>
                      <a:pt x="-1" y="42637"/>
                    </a:cubicBezTo>
                  </a:path>
                  <a:path w="26498" h="43200" stroke="0" extrusionOk="0">
                    <a:moveTo>
                      <a:pt x="212" y="514"/>
                    </a:moveTo>
                    <a:cubicBezTo>
                      <a:pt x="1750" y="172"/>
                      <a:pt x="3321" y="-1"/>
                      <a:pt x="4898" y="0"/>
                    </a:cubicBezTo>
                    <a:cubicBezTo>
                      <a:pt x="16827" y="0"/>
                      <a:pt x="26498" y="9670"/>
                      <a:pt x="26498" y="21600"/>
                    </a:cubicBezTo>
                    <a:cubicBezTo>
                      <a:pt x="26498" y="33529"/>
                      <a:pt x="16827" y="43200"/>
                      <a:pt x="4898" y="43200"/>
                    </a:cubicBezTo>
                    <a:cubicBezTo>
                      <a:pt x="3249" y="43200"/>
                      <a:pt x="1605" y="43011"/>
                      <a:pt x="-1" y="42637"/>
                    </a:cubicBezTo>
                    <a:lnTo>
                      <a:pt x="4898" y="21600"/>
                    </a:lnTo>
                    <a:lnTo>
                      <a:pt x="212" y="51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96" name="Freeform 51" descr="50%"/>
            <p:cNvSpPr>
              <a:spLocks/>
            </p:cNvSpPr>
            <p:nvPr/>
          </p:nvSpPr>
          <p:spPr bwMode="auto">
            <a:xfrm>
              <a:off x="3652308" y="2059187"/>
              <a:ext cx="1279411" cy="234553"/>
            </a:xfrm>
            <a:custGeom>
              <a:avLst/>
              <a:gdLst>
                <a:gd name="T0" fmla="*/ 22 w 1040"/>
                <a:gd name="T1" fmla="*/ 165 h 197"/>
                <a:gd name="T2" fmla="*/ 70 w 1040"/>
                <a:gd name="T3" fmla="*/ 150 h 197"/>
                <a:gd name="T4" fmla="*/ 139 w 1040"/>
                <a:gd name="T5" fmla="*/ 135 h 197"/>
                <a:gd name="T6" fmla="*/ 208 w 1040"/>
                <a:gd name="T7" fmla="*/ 122 h 197"/>
                <a:gd name="T8" fmla="*/ 275 w 1040"/>
                <a:gd name="T9" fmla="*/ 110 h 197"/>
                <a:gd name="T10" fmla="*/ 313 w 1040"/>
                <a:gd name="T11" fmla="*/ 94 h 197"/>
                <a:gd name="T12" fmla="*/ 347 w 1040"/>
                <a:gd name="T13" fmla="*/ 61 h 197"/>
                <a:gd name="T14" fmla="*/ 397 w 1040"/>
                <a:gd name="T15" fmla="*/ 18 h 197"/>
                <a:gd name="T16" fmla="*/ 432 w 1040"/>
                <a:gd name="T17" fmla="*/ 35 h 197"/>
                <a:gd name="T18" fmla="*/ 447 w 1040"/>
                <a:gd name="T19" fmla="*/ 85 h 197"/>
                <a:gd name="T20" fmla="*/ 473 w 1040"/>
                <a:gd name="T21" fmla="*/ 107 h 197"/>
                <a:gd name="T22" fmla="*/ 559 w 1040"/>
                <a:gd name="T23" fmla="*/ 122 h 197"/>
                <a:gd name="T24" fmla="*/ 623 w 1040"/>
                <a:gd name="T25" fmla="*/ 124 h 197"/>
                <a:gd name="T26" fmla="*/ 701 w 1040"/>
                <a:gd name="T27" fmla="*/ 122 h 197"/>
                <a:gd name="T28" fmla="*/ 731 w 1040"/>
                <a:gd name="T29" fmla="*/ 146 h 197"/>
                <a:gd name="T30" fmla="*/ 793 w 1040"/>
                <a:gd name="T31" fmla="*/ 149 h 197"/>
                <a:gd name="T32" fmla="*/ 862 w 1040"/>
                <a:gd name="T33" fmla="*/ 118 h 197"/>
                <a:gd name="T34" fmla="*/ 917 w 1040"/>
                <a:gd name="T35" fmla="*/ 69 h 197"/>
                <a:gd name="T36" fmla="*/ 961 w 1040"/>
                <a:gd name="T37" fmla="*/ 39 h 197"/>
                <a:gd name="T38" fmla="*/ 998 w 1040"/>
                <a:gd name="T39" fmla="*/ 23 h 197"/>
                <a:gd name="T40" fmla="*/ 1032 w 1040"/>
                <a:gd name="T41" fmla="*/ 27 h 197"/>
                <a:gd name="T42" fmla="*/ 1005 w 1040"/>
                <a:gd name="T43" fmla="*/ 61 h 197"/>
                <a:gd name="T44" fmla="*/ 970 w 1040"/>
                <a:gd name="T45" fmla="*/ 91 h 197"/>
                <a:gd name="T46" fmla="*/ 950 w 1040"/>
                <a:gd name="T47" fmla="*/ 117 h 197"/>
                <a:gd name="T48" fmla="*/ 935 w 1040"/>
                <a:gd name="T49" fmla="*/ 139 h 197"/>
                <a:gd name="T50" fmla="*/ 930 w 1040"/>
                <a:gd name="T51" fmla="*/ 164 h 197"/>
                <a:gd name="T52" fmla="*/ 901 w 1040"/>
                <a:gd name="T53" fmla="*/ 159 h 197"/>
                <a:gd name="T54" fmla="*/ 874 w 1040"/>
                <a:gd name="T55" fmla="*/ 167 h 197"/>
                <a:gd name="T56" fmla="*/ 843 w 1040"/>
                <a:gd name="T57" fmla="*/ 164 h 197"/>
                <a:gd name="T58" fmla="*/ 809 w 1040"/>
                <a:gd name="T59" fmla="*/ 166 h 197"/>
                <a:gd name="T60" fmla="*/ 774 w 1040"/>
                <a:gd name="T61" fmla="*/ 163 h 197"/>
                <a:gd name="T62" fmla="*/ 734 w 1040"/>
                <a:gd name="T63" fmla="*/ 164 h 197"/>
                <a:gd name="T64" fmla="*/ 693 w 1040"/>
                <a:gd name="T65" fmla="*/ 171 h 197"/>
                <a:gd name="T66" fmla="*/ 654 w 1040"/>
                <a:gd name="T67" fmla="*/ 172 h 197"/>
                <a:gd name="T68" fmla="*/ 615 w 1040"/>
                <a:gd name="T69" fmla="*/ 173 h 197"/>
                <a:gd name="T70" fmla="*/ 579 w 1040"/>
                <a:gd name="T71" fmla="*/ 177 h 197"/>
                <a:gd name="T72" fmla="*/ 540 w 1040"/>
                <a:gd name="T73" fmla="*/ 185 h 197"/>
                <a:gd name="T74" fmla="*/ 494 w 1040"/>
                <a:gd name="T75" fmla="*/ 184 h 197"/>
                <a:gd name="T76" fmla="*/ 455 w 1040"/>
                <a:gd name="T77" fmla="*/ 187 h 197"/>
                <a:gd name="T78" fmla="*/ 415 w 1040"/>
                <a:gd name="T79" fmla="*/ 181 h 197"/>
                <a:gd name="T80" fmla="*/ 377 w 1040"/>
                <a:gd name="T81" fmla="*/ 184 h 197"/>
                <a:gd name="T82" fmla="*/ 345 w 1040"/>
                <a:gd name="T83" fmla="*/ 181 h 197"/>
                <a:gd name="T84" fmla="*/ 307 w 1040"/>
                <a:gd name="T85" fmla="*/ 184 h 197"/>
                <a:gd name="T86" fmla="*/ 266 w 1040"/>
                <a:gd name="T87" fmla="*/ 187 h 197"/>
                <a:gd name="T88" fmla="*/ 213 w 1040"/>
                <a:gd name="T89" fmla="*/ 196 h 197"/>
                <a:gd name="T90" fmla="*/ 152 w 1040"/>
                <a:gd name="T91" fmla="*/ 196 h 197"/>
                <a:gd name="T92" fmla="*/ 101 w 1040"/>
                <a:gd name="T93" fmla="*/ 188 h 197"/>
                <a:gd name="T94" fmla="*/ 55 w 1040"/>
                <a:gd name="T95" fmla="*/ 190 h 197"/>
                <a:gd name="T96" fmla="*/ 10 w 1040"/>
                <a:gd name="T97" fmla="*/ 181 h 19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040" h="197">
                  <a:moveTo>
                    <a:pt x="0" y="176"/>
                  </a:moveTo>
                  <a:lnTo>
                    <a:pt x="6" y="172"/>
                  </a:lnTo>
                  <a:lnTo>
                    <a:pt x="13" y="169"/>
                  </a:lnTo>
                  <a:lnTo>
                    <a:pt x="22" y="165"/>
                  </a:lnTo>
                  <a:lnTo>
                    <a:pt x="31" y="162"/>
                  </a:lnTo>
                  <a:lnTo>
                    <a:pt x="42" y="159"/>
                  </a:lnTo>
                  <a:lnTo>
                    <a:pt x="58" y="154"/>
                  </a:lnTo>
                  <a:lnTo>
                    <a:pt x="70" y="150"/>
                  </a:lnTo>
                  <a:lnTo>
                    <a:pt x="86" y="145"/>
                  </a:lnTo>
                  <a:lnTo>
                    <a:pt x="104" y="141"/>
                  </a:lnTo>
                  <a:lnTo>
                    <a:pt x="121" y="137"/>
                  </a:lnTo>
                  <a:lnTo>
                    <a:pt x="139" y="135"/>
                  </a:lnTo>
                  <a:lnTo>
                    <a:pt x="157" y="132"/>
                  </a:lnTo>
                  <a:lnTo>
                    <a:pt x="175" y="129"/>
                  </a:lnTo>
                  <a:lnTo>
                    <a:pt x="191" y="126"/>
                  </a:lnTo>
                  <a:lnTo>
                    <a:pt x="208" y="122"/>
                  </a:lnTo>
                  <a:lnTo>
                    <a:pt x="222" y="120"/>
                  </a:lnTo>
                  <a:lnTo>
                    <a:pt x="242" y="116"/>
                  </a:lnTo>
                  <a:lnTo>
                    <a:pt x="259" y="113"/>
                  </a:lnTo>
                  <a:lnTo>
                    <a:pt x="275" y="110"/>
                  </a:lnTo>
                  <a:lnTo>
                    <a:pt x="286" y="108"/>
                  </a:lnTo>
                  <a:lnTo>
                    <a:pt x="297" y="104"/>
                  </a:lnTo>
                  <a:lnTo>
                    <a:pt x="307" y="99"/>
                  </a:lnTo>
                  <a:lnTo>
                    <a:pt x="313" y="94"/>
                  </a:lnTo>
                  <a:lnTo>
                    <a:pt x="320" y="87"/>
                  </a:lnTo>
                  <a:lnTo>
                    <a:pt x="326" y="81"/>
                  </a:lnTo>
                  <a:lnTo>
                    <a:pt x="336" y="70"/>
                  </a:lnTo>
                  <a:lnTo>
                    <a:pt x="347" y="61"/>
                  </a:lnTo>
                  <a:lnTo>
                    <a:pt x="358" y="50"/>
                  </a:lnTo>
                  <a:lnTo>
                    <a:pt x="370" y="39"/>
                  </a:lnTo>
                  <a:lnTo>
                    <a:pt x="382" y="28"/>
                  </a:lnTo>
                  <a:lnTo>
                    <a:pt x="397" y="18"/>
                  </a:lnTo>
                  <a:lnTo>
                    <a:pt x="410" y="8"/>
                  </a:lnTo>
                  <a:lnTo>
                    <a:pt x="422" y="0"/>
                  </a:lnTo>
                  <a:lnTo>
                    <a:pt x="426" y="16"/>
                  </a:lnTo>
                  <a:lnTo>
                    <a:pt x="432" y="35"/>
                  </a:lnTo>
                  <a:lnTo>
                    <a:pt x="438" y="52"/>
                  </a:lnTo>
                  <a:lnTo>
                    <a:pt x="444" y="68"/>
                  </a:lnTo>
                  <a:lnTo>
                    <a:pt x="445" y="77"/>
                  </a:lnTo>
                  <a:lnTo>
                    <a:pt x="447" y="85"/>
                  </a:lnTo>
                  <a:lnTo>
                    <a:pt x="445" y="92"/>
                  </a:lnTo>
                  <a:lnTo>
                    <a:pt x="439" y="101"/>
                  </a:lnTo>
                  <a:lnTo>
                    <a:pt x="456" y="105"/>
                  </a:lnTo>
                  <a:lnTo>
                    <a:pt x="473" y="107"/>
                  </a:lnTo>
                  <a:lnTo>
                    <a:pt x="494" y="110"/>
                  </a:lnTo>
                  <a:lnTo>
                    <a:pt x="517" y="114"/>
                  </a:lnTo>
                  <a:lnTo>
                    <a:pt x="541" y="119"/>
                  </a:lnTo>
                  <a:lnTo>
                    <a:pt x="559" y="122"/>
                  </a:lnTo>
                  <a:lnTo>
                    <a:pt x="578" y="124"/>
                  </a:lnTo>
                  <a:lnTo>
                    <a:pt x="596" y="127"/>
                  </a:lnTo>
                  <a:lnTo>
                    <a:pt x="611" y="128"/>
                  </a:lnTo>
                  <a:lnTo>
                    <a:pt x="623" y="124"/>
                  </a:lnTo>
                  <a:lnTo>
                    <a:pt x="635" y="119"/>
                  </a:lnTo>
                  <a:lnTo>
                    <a:pt x="646" y="111"/>
                  </a:lnTo>
                  <a:lnTo>
                    <a:pt x="672" y="115"/>
                  </a:lnTo>
                  <a:lnTo>
                    <a:pt x="701" y="122"/>
                  </a:lnTo>
                  <a:lnTo>
                    <a:pt x="721" y="126"/>
                  </a:lnTo>
                  <a:lnTo>
                    <a:pt x="708" y="138"/>
                  </a:lnTo>
                  <a:lnTo>
                    <a:pt x="718" y="142"/>
                  </a:lnTo>
                  <a:lnTo>
                    <a:pt x="731" y="146"/>
                  </a:lnTo>
                  <a:lnTo>
                    <a:pt x="746" y="150"/>
                  </a:lnTo>
                  <a:lnTo>
                    <a:pt x="762" y="152"/>
                  </a:lnTo>
                  <a:lnTo>
                    <a:pt x="777" y="150"/>
                  </a:lnTo>
                  <a:lnTo>
                    <a:pt x="793" y="149"/>
                  </a:lnTo>
                  <a:lnTo>
                    <a:pt x="809" y="146"/>
                  </a:lnTo>
                  <a:lnTo>
                    <a:pt x="826" y="141"/>
                  </a:lnTo>
                  <a:lnTo>
                    <a:pt x="843" y="132"/>
                  </a:lnTo>
                  <a:lnTo>
                    <a:pt x="862" y="118"/>
                  </a:lnTo>
                  <a:lnTo>
                    <a:pt x="877" y="106"/>
                  </a:lnTo>
                  <a:lnTo>
                    <a:pt x="896" y="89"/>
                  </a:lnTo>
                  <a:lnTo>
                    <a:pt x="903" y="82"/>
                  </a:lnTo>
                  <a:lnTo>
                    <a:pt x="917" y="69"/>
                  </a:lnTo>
                  <a:lnTo>
                    <a:pt x="928" y="61"/>
                  </a:lnTo>
                  <a:lnTo>
                    <a:pt x="939" y="53"/>
                  </a:lnTo>
                  <a:lnTo>
                    <a:pt x="950" y="46"/>
                  </a:lnTo>
                  <a:lnTo>
                    <a:pt x="961" y="39"/>
                  </a:lnTo>
                  <a:lnTo>
                    <a:pt x="971" y="35"/>
                  </a:lnTo>
                  <a:lnTo>
                    <a:pt x="980" y="30"/>
                  </a:lnTo>
                  <a:lnTo>
                    <a:pt x="989" y="27"/>
                  </a:lnTo>
                  <a:lnTo>
                    <a:pt x="998" y="23"/>
                  </a:lnTo>
                  <a:lnTo>
                    <a:pt x="1009" y="22"/>
                  </a:lnTo>
                  <a:lnTo>
                    <a:pt x="1021" y="21"/>
                  </a:lnTo>
                  <a:lnTo>
                    <a:pt x="1039" y="21"/>
                  </a:lnTo>
                  <a:lnTo>
                    <a:pt x="1032" y="27"/>
                  </a:lnTo>
                  <a:lnTo>
                    <a:pt x="1024" y="36"/>
                  </a:lnTo>
                  <a:lnTo>
                    <a:pt x="1019" y="42"/>
                  </a:lnTo>
                  <a:lnTo>
                    <a:pt x="1012" y="52"/>
                  </a:lnTo>
                  <a:lnTo>
                    <a:pt x="1005" y="61"/>
                  </a:lnTo>
                  <a:lnTo>
                    <a:pt x="995" y="70"/>
                  </a:lnTo>
                  <a:lnTo>
                    <a:pt x="982" y="79"/>
                  </a:lnTo>
                  <a:lnTo>
                    <a:pt x="975" y="85"/>
                  </a:lnTo>
                  <a:lnTo>
                    <a:pt x="970" y="91"/>
                  </a:lnTo>
                  <a:lnTo>
                    <a:pt x="964" y="99"/>
                  </a:lnTo>
                  <a:lnTo>
                    <a:pt x="959" y="104"/>
                  </a:lnTo>
                  <a:lnTo>
                    <a:pt x="954" y="110"/>
                  </a:lnTo>
                  <a:lnTo>
                    <a:pt x="950" y="117"/>
                  </a:lnTo>
                  <a:lnTo>
                    <a:pt x="946" y="123"/>
                  </a:lnTo>
                  <a:lnTo>
                    <a:pt x="942" y="129"/>
                  </a:lnTo>
                  <a:lnTo>
                    <a:pt x="938" y="135"/>
                  </a:lnTo>
                  <a:lnTo>
                    <a:pt x="935" y="139"/>
                  </a:lnTo>
                  <a:lnTo>
                    <a:pt x="933" y="146"/>
                  </a:lnTo>
                  <a:lnTo>
                    <a:pt x="931" y="152"/>
                  </a:lnTo>
                  <a:lnTo>
                    <a:pt x="931" y="158"/>
                  </a:lnTo>
                  <a:lnTo>
                    <a:pt x="930" y="164"/>
                  </a:lnTo>
                  <a:lnTo>
                    <a:pt x="924" y="160"/>
                  </a:lnTo>
                  <a:lnTo>
                    <a:pt x="915" y="159"/>
                  </a:lnTo>
                  <a:lnTo>
                    <a:pt x="908" y="159"/>
                  </a:lnTo>
                  <a:lnTo>
                    <a:pt x="901" y="159"/>
                  </a:lnTo>
                  <a:lnTo>
                    <a:pt x="893" y="161"/>
                  </a:lnTo>
                  <a:lnTo>
                    <a:pt x="887" y="164"/>
                  </a:lnTo>
                  <a:lnTo>
                    <a:pt x="881" y="165"/>
                  </a:lnTo>
                  <a:lnTo>
                    <a:pt x="874" y="167"/>
                  </a:lnTo>
                  <a:lnTo>
                    <a:pt x="867" y="168"/>
                  </a:lnTo>
                  <a:lnTo>
                    <a:pt x="857" y="167"/>
                  </a:lnTo>
                  <a:lnTo>
                    <a:pt x="849" y="166"/>
                  </a:lnTo>
                  <a:lnTo>
                    <a:pt x="843" y="164"/>
                  </a:lnTo>
                  <a:lnTo>
                    <a:pt x="836" y="162"/>
                  </a:lnTo>
                  <a:lnTo>
                    <a:pt x="829" y="163"/>
                  </a:lnTo>
                  <a:lnTo>
                    <a:pt x="818" y="164"/>
                  </a:lnTo>
                  <a:lnTo>
                    <a:pt x="809" y="166"/>
                  </a:lnTo>
                  <a:lnTo>
                    <a:pt x="802" y="165"/>
                  </a:lnTo>
                  <a:lnTo>
                    <a:pt x="793" y="164"/>
                  </a:lnTo>
                  <a:lnTo>
                    <a:pt x="783" y="163"/>
                  </a:lnTo>
                  <a:lnTo>
                    <a:pt x="774" y="163"/>
                  </a:lnTo>
                  <a:lnTo>
                    <a:pt x="766" y="164"/>
                  </a:lnTo>
                  <a:lnTo>
                    <a:pt x="753" y="166"/>
                  </a:lnTo>
                  <a:lnTo>
                    <a:pt x="745" y="166"/>
                  </a:lnTo>
                  <a:lnTo>
                    <a:pt x="734" y="164"/>
                  </a:lnTo>
                  <a:lnTo>
                    <a:pt x="725" y="164"/>
                  </a:lnTo>
                  <a:lnTo>
                    <a:pt x="714" y="166"/>
                  </a:lnTo>
                  <a:lnTo>
                    <a:pt x="706" y="169"/>
                  </a:lnTo>
                  <a:lnTo>
                    <a:pt x="693" y="171"/>
                  </a:lnTo>
                  <a:lnTo>
                    <a:pt x="684" y="172"/>
                  </a:lnTo>
                  <a:lnTo>
                    <a:pt x="673" y="173"/>
                  </a:lnTo>
                  <a:lnTo>
                    <a:pt x="664" y="174"/>
                  </a:lnTo>
                  <a:lnTo>
                    <a:pt x="654" y="172"/>
                  </a:lnTo>
                  <a:lnTo>
                    <a:pt x="643" y="169"/>
                  </a:lnTo>
                  <a:lnTo>
                    <a:pt x="632" y="172"/>
                  </a:lnTo>
                  <a:lnTo>
                    <a:pt x="624" y="172"/>
                  </a:lnTo>
                  <a:lnTo>
                    <a:pt x="615" y="173"/>
                  </a:lnTo>
                  <a:lnTo>
                    <a:pt x="606" y="172"/>
                  </a:lnTo>
                  <a:lnTo>
                    <a:pt x="597" y="172"/>
                  </a:lnTo>
                  <a:lnTo>
                    <a:pt x="587" y="173"/>
                  </a:lnTo>
                  <a:lnTo>
                    <a:pt x="579" y="177"/>
                  </a:lnTo>
                  <a:lnTo>
                    <a:pt x="571" y="179"/>
                  </a:lnTo>
                  <a:lnTo>
                    <a:pt x="561" y="182"/>
                  </a:lnTo>
                  <a:lnTo>
                    <a:pt x="551" y="184"/>
                  </a:lnTo>
                  <a:lnTo>
                    <a:pt x="540" y="185"/>
                  </a:lnTo>
                  <a:lnTo>
                    <a:pt x="530" y="186"/>
                  </a:lnTo>
                  <a:lnTo>
                    <a:pt x="516" y="184"/>
                  </a:lnTo>
                  <a:lnTo>
                    <a:pt x="503" y="184"/>
                  </a:lnTo>
                  <a:lnTo>
                    <a:pt x="494" y="184"/>
                  </a:lnTo>
                  <a:lnTo>
                    <a:pt x="482" y="186"/>
                  </a:lnTo>
                  <a:lnTo>
                    <a:pt x="473" y="186"/>
                  </a:lnTo>
                  <a:lnTo>
                    <a:pt x="463" y="187"/>
                  </a:lnTo>
                  <a:lnTo>
                    <a:pt x="455" y="187"/>
                  </a:lnTo>
                  <a:lnTo>
                    <a:pt x="442" y="186"/>
                  </a:lnTo>
                  <a:lnTo>
                    <a:pt x="431" y="184"/>
                  </a:lnTo>
                  <a:lnTo>
                    <a:pt x="424" y="181"/>
                  </a:lnTo>
                  <a:lnTo>
                    <a:pt x="415" y="181"/>
                  </a:lnTo>
                  <a:lnTo>
                    <a:pt x="406" y="181"/>
                  </a:lnTo>
                  <a:lnTo>
                    <a:pt x="397" y="182"/>
                  </a:lnTo>
                  <a:lnTo>
                    <a:pt x="386" y="184"/>
                  </a:lnTo>
                  <a:lnTo>
                    <a:pt x="377" y="184"/>
                  </a:lnTo>
                  <a:lnTo>
                    <a:pt x="369" y="184"/>
                  </a:lnTo>
                  <a:lnTo>
                    <a:pt x="363" y="183"/>
                  </a:lnTo>
                  <a:lnTo>
                    <a:pt x="354" y="181"/>
                  </a:lnTo>
                  <a:lnTo>
                    <a:pt x="345" y="181"/>
                  </a:lnTo>
                  <a:lnTo>
                    <a:pt x="336" y="181"/>
                  </a:lnTo>
                  <a:lnTo>
                    <a:pt x="328" y="182"/>
                  </a:lnTo>
                  <a:lnTo>
                    <a:pt x="319" y="183"/>
                  </a:lnTo>
                  <a:lnTo>
                    <a:pt x="307" y="184"/>
                  </a:lnTo>
                  <a:lnTo>
                    <a:pt x="296" y="184"/>
                  </a:lnTo>
                  <a:lnTo>
                    <a:pt x="286" y="184"/>
                  </a:lnTo>
                  <a:lnTo>
                    <a:pt x="276" y="185"/>
                  </a:lnTo>
                  <a:lnTo>
                    <a:pt x="266" y="187"/>
                  </a:lnTo>
                  <a:lnTo>
                    <a:pt x="255" y="190"/>
                  </a:lnTo>
                  <a:lnTo>
                    <a:pt x="245" y="192"/>
                  </a:lnTo>
                  <a:lnTo>
                    <a:pt x="230" y="195"/>
                  </a:lnTo>
                  <a:lnTo>
                    <a:pt x="213" y="196"/>
                  </a:lnTo>
                  <a:lnTo>
                    <a:pt x="196" y="196"/>
                  </a:lnTo>
                  <a:lnTo>
                    <a:pt x="181" y="195"/>
                  </a:lnTo>
                  <a:lnTo>
                    <a:pt x="162" y="196"/>
                  </a:lnTo>
                  <a:lnTo>
                    <a:pt x="152" y="196"/>
                  </a:lnTo>
                  <a:lnTo>
                    <a:pt x="142" y="194"/>
                  </a:lnTo>
                  <a:lnTo>
                    <a:pt x="132" y="196"/>
                  </a:lnTo>
                  <a:lnTo>
                    <a:pt x="120" y="195"/>
                  </a:lnTo>
                  <a:lnTo>
                    <a:pt x="101" y="188"/>
                  </a:lnTo>
                  <a:lnTo>
                    <a:pt x="89" y="189"/>
                  </a:lnTo>
                  <a:lnTo>
                    <a:pt x="77" y="190"/>
                  </a:lnTo>
                  <a:lnTo>
                    <a:pt x="65" y="190"/>
                  </a:lnTo>
                  <a:lnTo>
                    <a:pt x="55" y="190"/>
                  </a:lnTo>
                  <a:lnTo>
                    <a:pt x="43" y="189"/>
                  </a:lnTo>
                  <a:lnTo>
                    <a:pt x="31" y="187"/>
                  </a:lnTo>
                  <a:lnTo>
                    <a:pt x="20" y="184"/>
                  </a:lnTo>
                  <a:lnTo>
                    <a:pt x="10" y="181"/>
                  </a:lnTo>
                  <a:lnTo>
                    <a:pt x="0" y="179"/>
                  </a:lnTo>
                  <a:lnTo>
                    <a:pt x="0" y="176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197" name="Group 52"/>
            <p:cNvGrpSpPr>
              <a:grpSpLocks/>
            </p:cNvGrpSpPr>
            <p:nvPr/>
          </p:nvGrpSpPr>
          <p:grpSpPr bwMode="auto">
            <a:xfrm>
              <a:off x="3909420" y="2353272"/>
              <a:ext cx="185761" cy="113109"/>
              <a:chOff x="2535" y="2410"/>
              <a:chExt cx="151" cy="95"/>
            </a:xfrm>
          </p:grpSpPr>
          <p:sp>
            <p:nvSpPr>
              <p:cNvPr id="7732" name="Freeform 53" descr="50%"/>
              <p:cNvSpPr>
                <a:spLocks/>
              </p:cNvSpPr>
              <p:nvPr/>
            </p:nvSpPr>
            <p:spPr bwMode="auto">
              <a:xfrm>
                <a:off x="2535" y="2413"/>
                <a:ext cx="151" cy="92"/>
              </a:xfrm>
              <a:custGeom>
                <a:avLst/>
                <a:gdLst>
                  <a:gd name="T0" fmla="*/ 140 w 151"/>
                  <a:gd name="T1" fmla="*/ 82 h 92"/>
                  <a:gd name="T2" fmla="*/ 132 w 151"/>
                  <a:gd name="T3" fmla="*/ 74 h 92"/>
                  <a:gd name="T4" fmla="*/ 127 w 151"/>
                  <a:gd name="T5" fmla="*/ 69 h 92"/>
                  <a:gd name="T6" fmla="*/ 123 w 151"/>
                  <a:gd name="T7" fmla="*/ 64 h 92"/>
                  <a:gd name="T8" fmla="*/ 118 w 151"/>
                  <a:gd name="T9" fmla="*/ 59 h 92"/>
                  <a:gd name="T10" fmla="*/ 114 w 151"/>
                  <a:gd name="T11" fmla="*/ 54 h 92"/>
                  <a:gd name="T12" fmla="*/ 111 w 151"/>
                  <a:gd name="T13" fmla="*/ 49 h 92"/>
                  <a:gd name="T14" fmla="*/ 107 w 151"/>
                  <a:gd name="T15" fmla="*/ 43 h 92"/>
                  <a:gd name="T16" fmla="*/ 104 w 151"/>
                  <a:gd name="T17" fmla="*/ 37 h 92"/>
                  <a:gd name="T18" fmla="*/ 101 w 151"/>
                  <a:gd name="T19" fmla="*/ 30 h 92"/>
                  <a:gd name="T20" fmla="*/ 99 w 151"/>
                  <a:gd name="T21" fmla="*/ 23 h 92"/>
                  <a:gd name="T22" fmla="*/ 97 w 151"/>
                  <a:gd name="T23" fmla="*/ 16 h 92"/>
                  <a:gd name="T24" fmla="*/ 97 w 151"/>
                  <a:gd name="T25" fmla="*/ 9 h 92"/>
                  <a:gd name="T26" fmla="*/ 97 w 151"/>
                  <a:gd name="T27" fmla="*/ 0 h 92"/>
                  <a:gd name="T28" fmla="*/ 0 w 151"/>
                  <a:gd name="T29" fmla="*/ 1 h 92"/>
                  <a:gd name="T30" fmla="*/ 3 w 151"/>
                  <a:gd name="T31" fmla="*/ 6 h 92"/>
                  <a:gd name="T32" fmla="*/ 8 w 151"/>
                  <a:gd name="T33" fmla="*/ 13 h 92"/>
                  <a:gd name="T34" fmla="*/ 13 w 151"/>
                  <a:gd name="T35" fmla="*/ 20 h 92"/>
                  <a:gd name="T36" fmla="*/ 18 w 151"/>
                  <a:gd name="T37" fmla="*/ 26 h 92"/>
                  <a:gd name="T38" fmla="*/ 25 w 151"/>
                  <a:gd name="T39" fmla="*/ 33 h 92"/>
                  <a:gd name="T40" fmla="*/ 32 w 151"/>
                  <a:gd name="T41" fmla="*/ 40 h 92"/>
                  <a:gd name="T42" fmla="*/ 39 w 151"/>
                  <a:gd name="T43" fmla="*/ 46 h 92"/>
                  <a:gd name="T44" fmla="*/ 47 w 151"/>
                  <a:gd name="T45" fmla="*/ 52 h 92"/>
                  <a:gd name="T46" fmla="*/ 56 w 151"/>
                  <a:gd name="T47" fmla="*/ 59 h 92"/>
                  <a:gd name="T48" fmla="*/ 66 w 151"/>
                  <a:gd name="T49" fmla="*/ 67 h 92"/>
                  <a:gd name="T50" fmla="*/ 75 w 151"/>
                  <a:gd name="T51" fmla="*/ 72 h 92"/>
                  <a:gd name="T52" fmla="*/ 83 w 151"/>
                  <a:gd name="T53" fmla="*/ 76 h 92"/>
                  <a:gd name="T54" fmla="*/ 91 w 151"/>
                  <a:gd name="T55" fmla="*/ 79 h 92"/>
                  <a:gd name="T56" fmla="*/ 99 w 151"/>
                  <a:gd name="T57" fmla="*/ 82 h 92"/>
                  <a:gd name="T58" fmla="*/ 107 w 151"/>
                  <a:gd name="T59" fmla="*/ 85 h 92"/>
                  <a:gd name="T60" fmla="*/ 117 w 151"/>
                  <a:gd name="T61" fmla="*/ 87 h 92"/>
                  <a:gd name="T62" fmla="*/ 127 w 151"/>
                  <a:gd name="T63" fmla="*/ 89 h 92"/>
                  <a:gd name="T64" fmla="*/ 135 w 151"/>
                  <a:gd name="T65" fmla="*/ 90 h 92"/>
                  <a:gd name="T66" fmla="*/ 143 w 151"/>
                  <a:gd name="T67" fmla="*/ 91 h 92"/>
                  <a:gd name="T68" fmla="*/ 150 w 151"/>
                  <a:gd name="T69" fmla="*/ 91 h 92"/>
                  <a:gd name="T70" fmla="*/ 140 w 151"/>
                  <a:gd name="T71" fmla="*/ 82 h 9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151" h="92">
                    <a:moveTo>
                      <a:pt x="140" y="82"/>
                    </a:moveTo>
                    <a:lnTo>
                      <a:pt x="132" y="74"/>
                    </a:lnTo>
                    <a:lnTo>
                      <a:pt x="127" y="69"/>
                    </a:lnTo>
                    <a:lnTo>
                      <a:pt x="123" y="64"/>
                    </a:lnTo>
                    <a:lnTo>
                      <a:pt x="118" y="59"/>
                    </a:lnTo>
                    <a:lnTo>
                      <a:pt x="114" y="54"/>
                    </a:lnTo>
                    <a:lnTo>
                      <a:pt x="111" y="49"/>
                    </a:lnTo>
                    <a:lnTo>
                      <a:pt x="107" y="43"/>
                    </a:lnTo>
                    <a:lnTo>
                      <a:pt x="104" y="37"/>
                    </a:lnTo>
                    <a:lnTo>
                      <a:pt x="101" y="30"/>
                    </a:lnTo>
                    <a:lnTo>
                      <a:pt x="99" y="23"/>
                    </a:lnTo>
                    <a:lnTo>
                      <a:pt x="97" y="16"/>
                    </a:lnTo>
                    <a:lnTo>
                      <a:pt x="97" y="9"/>
                    </a:lnTo>
                    <a:lnTo>
                      <a:pt x="97" y="0"/>
                    </a:lnTo>
                    <a:lnTo>
                      <a:pt x="0" y="1"/>
                    </a:lnTo>
                    <a:lnTo>
                      <a:pt x="3" y="6"/>
                    </a:lnTo>
                    <a:lnTo>
                      <a:pt x="8" y="13"/>
                    </a:lnTo>
                    <a:lnTo>
                      <a:pt x="13" y="20"/>
                    </a:lnTo>
                    <a:lnTo>
                      <a:pt x="18" y="26"/>
                    </a:lnTo>
                    <a:lnTo>
                      <a:pt x="25" y="33"/>
                    </a:lnTo>
                    <a:lnTo>
                      <a:pt x="32" y="40"/>
                    </a:lnTo>
                    <a:lnTo>
                      <a:pt x="39" y="46"/>
                    </a:lnTo>
                    <a:lnTo>
                      <a:pt x="47" y="52"/>
                    </a:lnTo>
                    <a:lnTo>
                      <a:pt x="56" y="59"/>
                    </a:lnTo>
                    <a:lnTo>
                      <a:pt x="66" y="67"/>
                    </a:lnTo>
                    <a:lnTo>
                      <a:pt x="75" y="72"/>
                    </a:lnTo>
                    <a:lnTo>
                      <a:pt x="83" y="76"/>
                    </a:lnTo>
                    <a:lnTo>
                      <a:pt x="91" y="79"/>
                    </a:lnTo>
                    <a:lnTo>
                      <a:pt x="99" y="82"/>
                    </a:lnTo>
                    <a:lnTo>
                      <a:pt x="107" y="85"/>
                    </a:lnTo>
                    <a:lnTo>
                      <a:pt x="117" y="87"/>
                    </a:lnTo>
                    <a:lnTo>
                      <a:pt x="127" y="89"/>
                    </a:lnTo>
                    <a:lnTo>
                      <a:pt x="135" y="90"/>
                    </a:lnTo>
                    <a:lnTo>
                      <a:pt x="143" y="91"/>
                    </a:lnTo>
                    <a:lnTo>
                      <a:pt x="150" y="91"/>
                    </a:lnTo>
                    <a:lnTo>
                      <a:pt x="140" y="82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33" name="Freeform 54" descr="50%"/>
              <p:cNvSpPr>
                <a:spLocks/>
              </p:cNvSpPr>
              <p:nvPr/>
            </p:nvSpPr>
            <p:spPr bwMode="auto">
              <a:xfrm>
                <a:off x="2538" y="2410"/>
                <a:ext cx="86" cy="3"/>
              </a:xfrm>
              <a:custGeom>
                <a:avLst/>
                <a:gdLst>
                  <a:gd name="T0" fmla="*/ 0 w 86"/>
                  <a:gd name="T1" fmla="*/ 2 h 3"/>
                  <a:gd name="T2" fmla="*/ 0 w 86"/>
                  <a:gd name="T3" fmla="*/ 1 h 3"/>
                  <a:gd name="T4" fmla="*/ 2 w 86"/>
                  <a:gd name="T5" fmla="*/ 0 h 3"/>
                  <a:gd name="T6" fmla="*/ 85 w 86"/>
                  <a:gd name="T7" fmla="*/ 0 h 3"/>
                  <a:gd name="T8" fmla="*/ 85 w 86"/>
                  <a:gd name="T9" fmla="*/ 2 h 3"/>
                  <a:gd name="T10" fmla="*/ 0 w 86"/>
                  <a:gd name="T11" fmla="*/ 2 h 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6" h="3">
                    <a:moveTo>
                      <a:pt x="0" y="2"/>
                    </a:moveTo>
                    <a:lnTo>
                      <a:pt x="0" y="1"/>
                    </a:lnTo>
                    <a:lnTo>
                      <a:pt x="2" y="0"/>
                    </a:lnTo>
                    <a:lnTo>
                      <a:pt x="85" y="0"/>
                    </a:lnTo>
                    <a:lnTo>
                      <a:pt x="85" y="2"/>
                    </a:lnTo>
                    <a:lnTo>
                      <a:pt x="0" y="2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98" name="Freeform 55" descr="50%"/>
            <p:cNvSpPr>
              <a:spLocks/>
            </p:cNvSpPr>
            <p:nvPr/>
          </p:nvSpPr>
          <p:spPr bwMode="auto">
            <a:xfrm>
              <a:off x="5558507" y="2309219"/>
              <a:ext cx="103337" cy="76200"/>
            </a:xfrm>
            <a:custGeom>
              <a:avLst/>
              <a:gdLst>
                <a:gd name="T0" fmla="*/ 0 w 84"/>
                <a:gd name="T1" fmla="*/ 0 h 64"/>
                <a:gd name="T2" fmla="*/ 3 w 84"/>
                <a:gd name="T3" fmla="*/ 6 h 64"/>
                <a:gd name="T4" fmla="*/ 7 w 84"/>
                <a:gd name="T5" fmla="*/ 13 h 64"/>
                <a:gd name="T6" fmla="*/ 12 w 84"/>
                <a:gd name="T7" fmla="*/ 19 h 64"/>
                <a:gd name="T8" fmla="*/ 17 w 84"/>
                <a:gd name="T9" fmla="*/ 25 h 64"/>
                <a:gd name="T10" fmla="*/ 23 w 84"/>
                <a:gd name="T11" fmla="*/ 32 h 64"/>
                <a:gd name="T12" fmla="*/ 29 w 84"/>
                <a:gd name="T13" fmla="*/ 39 h 64"/>
                <a:gd name="T14" fmla="*/ 35 w 84"/>
                <a:gd name="T15" fmla="*/ 44 h 64"/>
                <a:gd name="T16" fmla="*/ 40 w 84"/>
                <a:gd name="T17" fmla="*/ 49 h 64"/>
                <a:gd name="T18" fmla="*/ 46 w 84"/>
                <a:gd name="T19" fmla="*/ 53 h 64"/>
                <a:gd name="T20" fmla="*/ 53 w 84"/>
                <a:gd name="T21" fmla="*/ 56 h 64"/>
                <a:gd name="T22" fmla="*/ 59 w 84"/>
                <a:gd name="T23" fmla="*/ 59 h 64"/>
                <a:gd name="T24" fmla="*/ 66 w 84"/>
                <a:gd name="T25" fmla="*/ 62 h 64"/>
                <a:gd name="T26" fmla="*/ 73 w 84"/>
                <a:gd name="T27" fmla="*/ 63 h 64"/>
                <a:gd name="T28" fmla="*/ 79 w 84"/>
                <a:gd name="T29" fmla="*/ 63 h 64"/>
                <a:gd name="T30" fmla="*/ 83 w 84"/>
                <a:gd name="T31" fmla="*/ 62 h 64"/>
                <a:gd name="T32" fmla="*/ 79 w 84"/>
                <a:gd name="T33" fmla="*/ 58 h 64"/>
                <a:gd name="T34" fmla="*/ 74 w 84"/>
                <a:gd name="T35" fmla="*/ 52 h 64"/>
                <a:gd name="T36" fmla="*/ 70 w 84"/>
                <a:gd name="T37" fmla="*/ 47 h 64"/>
                <a:gd name="T38" fmla="*/ 65 w 84"/>
                <a:gd name="T39" fmla="*/ 40 h 64"/>
                <a:gd name="T40" fmla="*/ 61 w 84"/>
                <a:gd name="T41" fmla="*/ 34 h 64"/>
                <a:gd name="T42" fmla="*/ 58 w 84"/>
                <a:gd name="T43" fmla="*/ 28 h 64"/>
                <a:gd name="T44" fmla="*/ 56 w 84"/>
                <a:gd name="T45" fmla="*/ 22 h 64"/>
                <a:gd name="T46" fmla="*/ 53 w 84"/>
                <a:gd name="T47" fmla="*/ 13 h 64"/>
                <a:gd name="T48" fmla="*/ 53 w 84"/>
                <a:gd name="T49" fmla="*/ 6 h 64"/>
                <a:gd name="T50" fmla="*/ 53 w 84"/>
                <a:gd name="T51" fmla="*/ 0 h 64"/>
                <a:gd name="T52" fmla="*/ 0 w 84"/>
                <a:gd name="T53" fmla="*/ 0 h 6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84" h="64">
                  <a:moveTo>
                    <a:pt x="0" y="0"/>
                  </a:moveTo>
                  <a:lnTo>
                    <a:pt x="3" y="6"/>
                  </a:lnTo>
                  <a:lnTo>
                    <a:pt x="7" y="13"/>
                  </a:lnTo>
                  <a:lnTo>
                    <a:pt x="12" y="19"/>
                  </a:lnTo>
                  <a:lnTo>
                    <a:pt x="17" y="25"/>
                  </a:lnTo>
                  <a:lnTo>
                    <a:pt x="23" y="32"/>
                  </a:lnTo>
                  <a:lnTo>
                    <a:pt x="29" y="39"/>
                  </a:lnTo>
                  <a:lnTo>
                    <a:pt x="35" y="44"/>
                  </a:lnTo>
                  <a:lnTo>
                    <a:pt x="40" y="49"/>
                  </a:lnTo>
                  <a:lnTo>
                    <a:pt x="46" y="53"/>
                  </a:lnTo>
                  <a:lnTo>
                    <a:pt x="53" y="56"/>
                  </a:lnTo>
                  <a:lnTo>
                    <a:pt x="59" y="59"/>
                  </a:lnTo>
                  <a:lnTo>
                    <a:pt x="66" y="62"/>
                  </a:lnTo>
                  <a:lnTo>
                    <a:pt x="73" y="63"/>
                  </a:lnTo>
                  <a:lnTo>
                    <a:pt x="79" y="63"/>
                  </a:lnTo>
                  <a:lnTo>
                    <a:pt x="83" y="62"/>
                  </a:lnTo>
                  <a:lnTo>
                    <a:pt x="79" y="58"/>
                  </a:lnTo>
                  <a:lnTo>
                    <a:pt x="74" y="52"/>
                  </a:lnTo>
                  <a:lnTo>
                    <a:pt x="70" y="47"/>
                  </a:lnTo>
                  <a:lnTo>
                    <a:pt x="65" y="40"/>
                  </a:lnTo>
                  <a:lnTo>
                    <a:pt x="61" y="34"/>
                  </a:lnTo>
                  <a:lnTo>
                    <a:pt x="58" y="28"/>
                  </a:lnTo>
                  <a:lnTo>
                    <a:pt x="56" y="22"/>
                  </a:lnTo>
                  <a:lnTo>
                    <a:pt x="53" y="13"/>
                  </a:lnTo>
                  <a:lnTo>
                    <a:pt x="53" y="6"/>
                  </a:lnTo>
                  <a:lnTo>
                    <a:pt x="53" y="0"/>
                  </a:lnTo>
                  <a:lnTo>
                    <a:pt x="0" y="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9" name="Freeform 56" descr="50%"/>
            <p:cNvSpPr>
              <a:spLocks/>
            </p:cNvSpPr>
            <p:nvPr/>
          </p:nvSpPr>
          <p:spPr bwMode="auto">
            <a:xfrm>
              <a:off x="5337070" y="2123481"/>
              <a:ext cx="873444" cy="246459"/>
            </a:xfrm>
            <a:custGeom>
              <a:avLst/>
              <a:gdLst>
                <a:gd name="T0" fmla="*/ 8 w 710"/>
                <a:gd name="T1" fmla="*/ 123 h 207"/>
                <a:gd name="T2" fmla="*/ 30 w 710"/>
                <a:gd name="T3" fmla="*/ 114 h 207"/>
                <a:gd name="T4" fmla="*/ 62 w 710"/>
                <a:gd name="T5" fmla="*/ 104 h 207"/>
                <a:gd name="T6" fmla="*/ 97 w 710"/>
                <a:gd name="T7" fmla="*/ 97 h 207"/>
                <a:gd name="T8" fmla="*/ 131 w 710"/>
                <a:gd name="T9" fmla="*/ 91 h 207"/>
                <a:gd name="T10" fmla="*/ 166 w 710"/>
                <a:gd name="T11" fmla="*/ 84 h 207"/>
                <a:gd name="T12" fmla="*/ 195 w 710"/>
                <a:gd name="T13" fmla="*/ 78 h 207"/>
                <a:gd name="T14" fmla="*/ 212 w 710"/>
                <a:gd name="T15" fmla="*/ 69 h 207"/>
                <a:gd name="T16" fmla="*/ 229 w 710"/>
                <a:gd name="T17" fmla="*/ 53 h 207"/>
                <a:gd name="T18" fmla="*/ 253 w 710"/>
                <a:gd name="T19" fmla="*/ 29 h 207"/>
                <a:gd name="T20" fmla="*/ 278 w 710"/>
                <a:gd name="T21" fmla="*/ 8 h 207"/>
                <a:gd name="T22" fmla="*/ 295 w 710"/>
                <a:gd name="T23" fmla="*/ 25 h 207"/>
                <a:gd name="T24" fmla="*/ 305 w 710"/>
                <a:gd name="T25" fmla="*/ 61 h 207"/>
                <a:gd name="T26" fmla="*/ 312 w 710"/>
                <a:gd name="T27" fmla="*/ 76 h 207"/>
                <a:gd name="T28" fmla="*/ 353 w 710"/>
                <a:gd name="T29" fmla="*/ 83 h 207"/>
                <a:gd name="T30" fmla="*/ 394 w 710"/>
                <a:gd name="T31" fmla="*/ 90 h 207"/>
                <a:gd name="T32" fmla="*/ 425 w 710"/>
                <a:gd name="T33" fmla="*/ 90 h 207"/>
                <a:gd name="T34" fmla="*/ 458 w 710"/>
                <a:gd name="T35" fmla="*/ 84 h 207"/>
                <a:gd name="T36" fmla="*/ 483 w 710"/>
                <a:gd name="T37" fmla="*/ 101 h 207"/>
                <a:gd name="T38" fmla="*/ 508 w 710"/>
                <a:gd name="T39" fmla="*/ 108 h 207"/>
                <a:gd name="T40" fmla="*/ 540 w 710"/>
                <a:gd name="T41" fmla="*/ 108 h 207"/>
                <a:gd name="T42" fmla="*/ 573 w 710"/>
                <a:gd name="T43" fmla="*/ 95 h 207"/>
                <a:gd name="T44" fmla="*/ 610 w 710"/>
                <a:gd name="T45" fmla="*/ 65 h 207"/>
                <a:gd name="T46" fmla="*/ 653 w 710"/>
                <a:gd name="T47" fmla="*/ 30 h 207"/>
                <a:gd name="T48" fmla="*/ 696 w 710"/>
                <a:gd name="T49" fmla="*/ 16 h 207"/>
                <a:gd name="T50" fmla="*/ 697 w 710"/>
                <a:gd name="T51" fmla="*/ 28 h 207"/>
                <a:gd name="T52" fmla="*/ 677 w 710"/>
                <a:gd name="T53" fmla="*/ 53 h 207"/>
                <a:gd name="T54" fmla="*/ 653 w 710"/>
                <a:gd name="T55" fmla="*/ 78 h 207"/>
                <a:gd name="T56" fmla="*/ 637 w 710"/>
                <a:gd name="T57" fmla="*/ 102 h 207"/>
                <a:gd name="T58" fmla="*/ 637 w 710"/>
                <a:gd name="T59" fmla="*/ 128 h 207"/>
                <a:gd name="T60" fmla="*/ 654 w 710"/>
                <a:gd name="T61" fmla="*/ 155 h 207"/>
                <a:gd name="T62" fmla="*/ 676 w 710"/>
                <a:gd name="T63" fmla="*/ 174 h 207"/>
                <a:gd name="T64" fmla="*/ 695 w 710"/>
                <a:gd name="T65" fmla="*/ 190 h 207"/>
                <a:gd name="T66" fmla="*/ 696 w 710"/>
                <a:gd name="T67" fmla="*/ 199 h 207"/>
                <a:gd name="T68" fmla="*/ 669 w 710"/>
                <a:gd name="T69" fmla="*/ 198 h 207"/>
                <a:gd name="T70" fmla="*/ 645 w 710"/>
                <a:gd name="T71" fmla="*/ 192 h 207"/>
                <a:gd name="T72" fmla="*/ 623 w 710"/>
                <a:gd name="T73" fmla="*/ 180 h 207"/>
                <a:gd name="T74" fmla="*/ 585 w 710"/>
                <a:gd name="T75" fmla="*/ 157 h 207"/>
                <a:gd name="T76" fmla="*/ 540 w 710"/>
                <a:gd name="T77" fmla="*/ 154 h 207"/>
                <a:gd name="T78" fmla="*/ 484 w 710"/>
                <a:gd name="T79" fmla="*/ 160 h 207"/>
                <a:gd name="T80" fmla="*/ 449 w 710"/>
                <a:gd name="T81" fmla="*/ 174 h 207"/>
                <a:gd name="T82" fmla="*/ 438 w 710"/>
                <a:gd name="T83" fmla="*/ 190 h 207"/>
                <a:gd name="T84" fmla="*/ 388 w 710"/>
                <a:gd name="T85" fmla="*/ 188 h 207"/>
                <a:gd name="T86" fmla="*/ 347 w 710"/>
                <a:gd name="T87" fmla="*/ 201 h 207"/>
                <a:gd name="T88" fmla="*/ 192 w 710"/>
                <a:gd name="T89" fmla="*/ 206 h 207"/>
                <a:gd name="T90" fmla="*/ 104 w 710"/>
                <a:gd name="T91" fmla="*/ 197 h 207"/>
                <a:gd name="T92" fmla="*/ 26 w 710"/>
                <a:gd name="T93" fmla="*/ 172 h 207"/>
                <a:gd name="T94" fmla="*/ 26 w 710"/>
                <a:gd name="T95" fmla="*/ 158 h 207"/>
                <a:gd name="T96" fmla="*/ 8 w 710"/>
                <a:gd name="T97" fmla="*/ 142 h 207"/>
                <a:gd name="T98" fmla="*/ 2 w 710"/>
                <a:gd name="T99" fmla="*/ 132 h 20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710" h="207">
                  <a:moveTo>
                    <a:pt x="0" y="128"/>
                  </a:moveTo>
                  <a:lnTo>
                    <a:pt x="3" y="126"/>
                  </a:lnTo>
                  <a:lnTo>
                    <a:pt x="8" y="123"/>
                  </a:lnTo>
                  <a:lnTo>
                    <a:pt x="16" y="119"/>
                  </a:lnTo>
                  <a:lnTo>
                    <a:pt x="22" y="117"/>
                  </a:lnTo>
                  <a:lnTo>
                    <a:pt x="30" y="114"/>
                  </a:lnTo>
                  <a:lnTo>
                    <a:pt x="41" y="111"/>
                  </a:lnTo>
                  <a:lnTo>
                    <a:pt x="52" y="107"/>
                  </a:lnTo>
                  <a:lnTo>
                    <a:pt x="62" y="104"/>
                  </a:lnTo>
                  <a:lnTo>
                    <a:pt x="73" y="102"/>
                  </a:lnTo>
                  <a:lnTo>
                    <a:pt x="84" y="100"/>
                  </a:lnTo>
                  <a:lnTo>
                    <a:pt x="97" y="97"/>
                  </a:lnTo>
                  <a:lnTo>
                    <a:pt x="109" y="95"/>
                  </a:lnTo>
                  <a:lnTo>
                    <a:pt x="120" y="93"/>
                  </a:lnTo>
                  <a:lnTo>
                    <a:pt x="131" y="91"/>
                  </a:lnTo>
                  <a:lnTo>
                    <a:pt x="141" y="89"/>
                  </a:lnTo>
                  <a:lnTo>
                    <a:pt x="155" y="86"/>
                  </a:lnTo>
                  <a:lnTo>
                    <a:pt x="166" y="84"/>
                  </a:lnTo>
                  <a:lnTo>
                    <a:pt x="177" y="82"/>
                  </a:lnTo>
                  <a:lnTo>
                    <a:pt x="187" y="81"/>
                  </a:lnTo>
                  <a:lnTo>
                    <a:pt x="195" y="78"/>
                  </a:lnTo>
                  <a:lnTo>
                    <a:pt x="202" y="75"/>
                  </a:lnTo>
                  <a:lnTo>
                    <a:pt x="207" y="73"/>
                  </a:lnTo>
                  <a:lnTo>
                    <a:pt x="212" y="69"/>
                  </a:lnTo>
                  <a:lnTo>
                    <a:pt x="217" y="65"/>
                  </a:lnTo>
                  <a:lnTo>
                    <a:pt x="222" y="59"/>
                  </a:lnTo>
                  <a:lnTo>
                    <a:pt x="229" y="53"/>
                  </a:lnTo>
                  <a:lnTo>
                    <a:pt x="236" y="44"/>
                  </a:lnTo>
                  <a:lnTo>
                    <a:pt x="244" y="37"/>
                  </a:lnTo>
                  <a:lnTo>
                    <a:pt x="253" y="29"/>
                  </a:lnTo>
                  <a:lnTo>
                    <a:pt x="260" y="21"/>
                  </a:lnTo>
                  <a:lnTo>
                    <a:pt x="269" y="15"/>
                  </a:lnTo>
                  <a:lnTo>
                    <a:pt x="278" y="8"/>
                  </a:lnTo>
                  <a:lnTo>
                    <a:pt x="288" y="0"/>
                  </a:lnTo>
                  <a:lnTo>
                    <a:pt x="292" y="13"/>
                  </a:lnTo>
                  <a:lnTo>
                    <a:pt x="295" y="25"/>
                  </a:lnTo>
                  <a:lnTo>
                    <a:pt x="300" y="37"/>
                  </a:lnTo>
                  <a:lnTo>
                    <a:pt x="303" y="51"/>
                  </a:lnTo>
                  <a:lnTo>
                    <a:pt x="305" y="61"/>
                  </a:lnTo>
                  <a:lnTo>
                    <a:pt x="305" y="68"/>
                  </a:lnTo>
                  <a:lnTo>
                    <a:pt x="301" y="74"/>
                  </a:lnTo>
                  <a:lnTo>
                    <a:pt x="312" y="76"/>
                  </a:lnTo>
                  <a:lnTo>
                    <a:pt x="323" y="78"/>
                  </a:lnTo>
                  <a:lnTo>
                    <a:pt x="337" y="80"/>
                  </a:lnTo>
                  <a:lnTo>
                    <a:pt x="353" y="83"/>
                  </a:lnTo>
                  <a:lnTo>
                    <a:pt x="369" y="86"/>
                  </a:lnTo>
                  <a:lnTo>
                    <a:pt x="381" y="88"/>
                  </a:lnTo>
                  <a:lnTo>
                    <a:pt x="394" y="90"/>
                  </a:lnTo>
                  <a:lnTo>
                    <a:pt x="406" y="91"/>
                  </a:lnTo>
                  <a:lnTo>
                    <a:pt x="417" y="92"/>
                  </a:lnTo>
                  <a:lnTo>
                    <a:pt x="425" y="90"/>
                  </a:lnTo>
                  <a:lnTo>
                    <a:pt x="433" y="86"/>
                  </a:lnTo>
                  <a:lnTo>
                    <a:pt x="440" y="81"/>
                  </a:lnTo>
                  <a:lnTo>
                    <a:pt x="458" y="84"/>
                  </a:lnTo>
                  <a:lnTo>
                    <a:pt x="477" y="88"/>
                  </a:lnTo>
                  <a:lnTo>
                    <a:pt x="493" y="91"/>
                  </a:lnTo>
                  <a:lnTo>
                    <a:pt x="483" y="101"/>
                  </a:lnTo>
                  <a:lnTo>
                    <a:pt x="489" y="103"/>
                  </a:lnTo>
                  <a:lnTo>
                    <a:pt x="498" y="106"/>
                  </a:lnTo>
                  <a:lnTo>
                    <a:pt x="508" y="108"/>
                  </a:lnTo>
                  <a:lnTo>
                    <a:pt x="519" y="110"/>
                  </a:lnTo>
                  <a:lnTo>
                    <a:pt x="529" y="109"/>
                  </a:lnTo>
                  <a:lnTo>
                    <a:pt x="540" y="108"/>
                  </a:lnTo>
                  <a:lnTo>
                    <a:pt x="551" y="105"/>
                  </a:lnTo>
                  <a:lnTo>
                    <a:pt x="562" y="102"/>
                  </a:lnTo>
                  <a:lnTo>
                    <a:pt x="573" y="95"/>
                  </a:lnTo>
                  <a:lnTo>
                    <a:pt x="587" y="86"/>
                  </a:lnTo>
                  <a:lnTo>
                    <a:pt x="596" y="77"/>
                  </a:lnTo>
                  <a:lnTo>
                    <a:pt x="610" y="65"/>
                  </a:lnTo>
                  <a:lnTo>
                    <a:pt x="623" y="51"/>
                  </a:lnTo>
                  <a:lnTo>
                    <a:pt x="639" y="39"/>
                  </a:lnTo>
                  <a:lnTo>
                    <a:pt x="653" y="30"/>
                  </a:lnTo>
                  <a:lnTo>
                    <a:pt x="666" y="22"/>
                  </a:lnTo>
                  <a:lnTo>
                    <a:pt x="679" y="18"/>
                  </a:lnTo>
                  <a:lnTo>
                    <a:pt x="696" y="16"/>
                  </a:lnTo>
                  <a:lnTo>
                    <a:pt x="709" y="16"/>
                  </a:lnTo>
                  <a:lnTo>
                    <a:pt x="702" y="22"/>
                  </a:lnTo>
                  <a:lnTo>
                    <a:pt x="697" y="28"/>
                  </a:lnTo>
                  <a:lnTo>
                    <a:pt x="695" y="32"/>
                  </a:lnTo>
                  <a:lnTo>
                    <a:pt x="685" y="46"/>
                  </a:lnTo>
                  <a:lnTo>
                    <a:pt x="677" y="53"/>
                  </a:lnTo>
                  <a:lnTo>
                    <a:pt x="668" y="60"/>
                  </a:lnTo>
                  <a:lnTo>
                    <a:pt x="659" y="69"/>
                  </a:lnTo>
                  <a:lnTo>
                    <a:pt x="653" y="78"/>
                  </a:lnTo>
                  <a:lnTo>
                    <a:pt x="647" y="86"/>
                  </a:lnTo>
                  <a:lnTo>
                    <a:pt x="641" y="95"/>
                  </a:lnTo>
                  <a:lnTo>
                    <a:pt x="637" y="102"/>
                  </a:lnTo>
                  <a:lnTo>
                    <a:pt x="635" y="110"/>
                  </a:lnTo>
                  <a:lnTo>
                    <a:pt x="634" y="119"/>
                  </a:lnTo>
                  <a:lnTo>
                    <a:pt x="637" y="128"/>
                  </a:lnTo>
                  <a:lnTo>
                    <a:pt x="641" y="138"/>
                  </a:lnTo>
                  <a:lnTo>
                    <a:pt x="647" y="146"/>
                  </a:lnTo>
                  <a:lnTo>
                    <a:pt x="654" y="155"/>
                  </a:lnTo>
                  <a:lnTo>
                    <a:pt x="661" y="161"/>
                  </a:lnTo>
                  <a:lnTo>
                    <a:pt x="668" y="167"/>
                  </a:lnTo>
                  <a:lnTo>
                    <a:pt x="676" y="174"/>
                  </a:lnTo>
                  <a:lnTo>
                    <a:pt x="684" y="182"/>
                  </a:lnTo>
                  <a:lnTo>
                    <a:pt x="689" y="186"/>
                  </a:lnTo>
                  <a:lnTo>
                    <a:pt x="695" y="190"/>
                  </a:lnTo>
                  <a:lnTo>
                    <a:pt x="700" y="194"/>
                  </a:lnTo>
                  <a:lnTo>
                    <a:pt x="704" y="198"/>
                  </a:lnTo>
                  <a:lnTo>
                    <a:pt x="696" y="199"/>
                  </a:lnTo>
                  <a:lnTo>
                    <a:pt x="686" y="199"/>
                  </a:lnTo>
                  <a:lnTo>
                    <a:pt x="677" y="199"/>
                  </a:lnTo>
                  <a:lnTo>
                    <a:pt x="669" y="198"/>
                  </a:lnTo>
                  <a:lnTo>
                    <a:pt x="659" y="197"/>
                  </a:lnTo>
                  <a:lnTo>
                    <a:pt x="652" y="194"/>
                  </a:lnTo>
                  <a:lnTo>
                    <a:pt x="645" y="192"/>
                  </a:lnTo>
                  <a:lnTo>
                    <a:pt x="638" y="189"/>
                  </a:lnTo>
                  <a:lnTo>
                    <a:pt x="630" y="185"/>
                  </a:lnTo>
                  <a:lnTo>
                    <a:pt x="623" y="180"/>
                  </a:lnTo>
                  <a:lnTo>
                    <a:pt x="609" y="171"/>
                  </a:lnTo>
                  <a:lnTo>
                    <a:pt x="599" y="165"/>
                  </a:lnTo>
                  <a:lnTo>
                    <a:pt x="585" y="157"/>
                  </a:lnTo>
                  <a:lnTo>
                    <a:pt x="572" y="155"/>
                  </a:lnTo>
                  <a:lnTo>
                    <a:pt x="558" y="156"/>
                  </a:lnTo>
                  <a:lnTo>
                    <a:pt x="540" y="154"/>
                  </a:lnTo>
                  <a:lnTo>
                    <a:pt x="523" y="156"/>
                  </a:lnTo>
                  <a:lnTo>
                    <a:pt x="504" y="156"/>
                  </a:lnTo>
                  <a:lnTo>
                    <a:pt x="484" y="160"/>
                  </a:lnTo>
                  <a:lnTo>
                    <a:pt x="464" y="165"/>
                  </a:lnTo>
                  <a:lnTo>
                    <a:pt x="452" y="169"/>
                  </a:lnTo>
                  <a:lnTo>
                    <a:pt x="449" y="174"/>
                  </a:lnTo>
                  <a:lnTo>
                    <a:pt x="452" y="178"/>
                  </a:lnTo>
                  <a:lnTo>
                    <a:pt x="461" y="184"/>
                  </a:lnTo>
                  <a:lnTo>
                    <a:pt x="438" y="190"/>
                  </a:lnTo>
                  <a:lnTo>
                    <a:pt x="405" y="198"/>
                  </a:lnTo>
                  <a:lnTo>
                    <a:pt x="397" y="192"/>
                  </a:lnTo>
                  <a:lnTo>
                    <a:pt x="388" y="188"/>
                  </a:lnTo>
                  <a:lnTo>
                    <a:pt x="379" y="186"/>
                  </a:lnTo>
                  <a:lnTo>
                    <a:pt x="365" y="185"/>
                  </a:lnTo>
                  <a:lnTo>
                    <a:pt x="347" y="201"/>
                  </a:lnTo>
                  <a:lnTo>
                    <a:pt x="331" y="189"/>
                  </a:lnTo>
                  <a:lnTo>
                    <a:pt x="215" y="205"/>
                  </a:lnTo>
                  <a:lnTo>
                    <a:pt x="192" y="206"/>
                  </a:lnTo>
                  <a:lnTo>
                    <a:pt x="171" y="205"/>
                  </a:lnTo>
                  <a:lnTo>
                    <a:pt x="148" y="203"/>
                  </a:lnTo>
                  <a:lnTo>
                    <a:pt x="104" y="197"/>
                  </a:lnTo>
                  <a:lnTo>
                    <a:pt x="63" y="187"/>
                  </a:lnTo>
                  <a:lnTo>
                    <a:pt x="41" y="179"/>
                  </a:lnTo>
                  <a:lnTo>
                    <a:pt x="26" y="172"/>
                  </a:lnTo>
                  <a:lnTo>
                    <a:pt x="42" y="168"/>
                  </a:lnTo>
                  <a:lnTo>
                    <a:pt x="32" y="163"/>
                  </a:lnTo>
                  <a:lnTo>
                    <a:pt x="26" y="158"/>
                  </a:lnTo>
                  <a:lnTo>
                    <a:pt x="14" y="149"/>
                  </a:lnTo>
                  <a:lnTo>
                    <a:pt x="12" y="146"/>
                  </a:lnTo>
                  <a:lnTo>
                    <a:pt x="8" y="142"/>
                  </a:lnTo>
                  <a:lnTo>
                    <a:pt x="6" y="140"/>
                  </a:lnTo>
                  <a:lnTo>
                    <a:pt x="4" y="135"/>
                  </a:lnTo>
                  <a:lnTo>
                    <a:pt x="2" y="132"/>
                  </a:lnTo>
                  <a:lnTo>
                    <a:pt x="0" y="128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200" name="Group 57"/>
            <p:cNvGrpSpPr>
              <a:grpSpLocks/>
            </p:cNvGrpSpPr>
            <p:nvPr/>
          </p:nvGrpSpPr>
          <p:grpSpPr bwMode="auto">
            <a:xfrm>
              <a:off x="5420981" y="2268142"/>
              <a:ext cx="9842" cy="8334"/>
              <a:chOff x="3426" y="1969"/>
              <a:chExt cx="8" cy="7"/>
            </a:xfrm>
          </p:grpSpPr>
          <p:sp>
            <p:nvSpPr>
              <p:cNvPr id="7730" name="Oval 58" descr="50%"/>
              <p:cNvSpPr>
                <a:spLocks noChangeArrowheads="1"/>
              </p:cNvSpPr>
              <p:nvPr/>
            </p:nvSpPr>
            <p:spPr bwMode="auto">
              <a:xfrm>
                <a:off x="3426" y="1969"/>
                <a:ext cx="6" cy="6"/>
              </a:xfrm>
              <a:prstGeom prst="ellipse">
                <a:avLst/>
              </a:pr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31" name="Arc 59" descr="50%"/>
              <p:cNvSpPr>
                <a:spLocks/>
              </p:cNvSpPr>
              <p:nvPr/>
            </p:nvSpPr>
            <p:spPr bwMode="auto">
              <a:xfrm>
                <a:off x="3427" y="1969"/>
                <a:ext cx="7" cy="7"/>
              </a:xfrm>
              <a:custGeom>
                <a:avLst/>
                <a:gdLst>
                  <a:gd name="T0" fmla="*/ 4 w 43200"/>
                  <a:gd name="T1" fmla="*/ 0 h 42555"/>
                  <a:gd name="T2" fmla="*/ 2 w 43200"/>
                  <a:gd name="T3" fmla="*/ 0 h 42555"/>
                  <a:gd name="T4" fmla="*/ 4 w 43200"/>
                  <a:gd name="T5" fmla="*/ 3 h 4255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2555" fill="none" extrusionOk="0">
                    <a:moveTo>
                      <a:pt x="26839" y="-1"/>
                    </a:moveTo>
                    <a:cubicBezTo>
                      <a:pt x="36454" y="2403"/>
                      <a:pt x="43200" y="11043"/>
                      <a:pt x="43200" y="20955"/>
                    </a:cubicBezTo>
                    <a:cubicBezTo>
                      <a:pt x="43200" y="32884"/>
                      <a:pt x="33529" y="42555"/>
                      <a:pt x="21600" y="42555"/>
                    </a:cubicBezTo>
                    <a:cubicBezTo>
                      <a:pt x="9670" y="42555"/>
                      <a:pt x="0" y="32884"/>
                      <a:pt x="0" y="20955"/>
                    </a:cubicBezTo>
                    <a:cubicBezTo>
                      <a:pt x="-1" y="12773"/>
                      <a:pt x="4622" y="5294"/>
                      <a:pt x="11940" y="1635"/>
                    </a:cubicBezTo>
                  </a:path>
                  <a:path w="43200" h="42555" stroke="0" extrusionOk="0">
                    <a:moveTo>
                      <a:pt x="26839" y="-1"/>
                    </a:moveTo>
                    <a:cubicBezTo>
                      <a:pt x="36454" y="2403"/>
                      <a:pt x="43200" y="11043"/>
                      <a:pt x="43200" y="20955"/>
                    </a:cubicBezTo>
                    <a:cubicBezTo>
                      <a:pt x="43200" y="32884"/>
                      <a:pt x="33529" y="42555"/>
                      <a:pt x="21600" y="42555"/>
                    </a:cubicBezTo>
                    <a:cubicBezTo>
                      <a:pt x="9670" y="42555"/>
                      <a:pt x="0" y="32884"/>
                      <a:pt x="0" y="20955"/>
                    </a:cubicBezTo>
                    <a:cubicBezTo>
                      <a:pt x="-1" y="12773"/>
                      <a:pt x="4622" y="5294"/>
                      <a:pt x="11940" y="1635"/>
                    </a:cubicBezTo>
                    <a:lnTo>
                      <a:pt x="21600" y="20955"/>
                    </a:lnTo>
                    <a:lnTo>
                      <a:pt x="26839" y="-1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201" name="Group 60"/>
            <p:cNvGrpSpPr>
              <a:grpSpLocks/>
            </p:cNvGrpSpPr>
            <p:nvPr/>
          </p:nvGrpSpPr>
          <p:grpSpPr bwMode="auto">
            <a:xfrm>
              <a:off x="5465012" y="2305647"/>
              <a:ext cx="46748" cy="29766"/>
              <a:chOff x="3574" y="2370"/>
              <a:chExt cx="38" cy="25"/>
            </a:xfrm>
          </p:grpSpPr>
          <p:sp>
            <p:nvSpPr>
              <p:cNvPr id="7725" name="Arc 61" descr="50%"/>
              <p:cNvSpPr>
                <a:spLocks/>
              </p:cNvSpPr>
              <p:nvPr/>
            </p:nvSpPr>
            <p:spPr bwMode="auto">
              <a:xfrm>
                <a:off x="3583" y="2370"/>
                <a:ext cx="1" cy="25"/>
              </a:xfrm>
              <a:custGeom>
                <a:avLst/>
                <a:gdLst>
                  <a:gd name="T0" fmla="*/ 0 w 41371"/>
                  <a:gd name="T1" fmla="*/ 7 h 43200"/>
                  <a:gd name="T2" fmla="*/ 0 w 41371"/>
                  <a:gd name="T3" fmla="*/ 18 h 43200"/>
                  <a:gd name="T4" fmla="*/ 0 w 41371"/>
                  <a:gd name="T5" fmla="*/ 13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371" h="43200" fill="none" extrusionOk="0">
                    <a:moveTo>
                      <a:pt x="607" y="11635"/>
                    </a:moveTo>
                    <a:cubicBezTo>
                      <a:pt x="4324" y="4485"/>
                      <a:pt x="11712" y="-1"/>
                      <a:pt x="19771" y="0"/>
                    </a:cubicBezTo>
                    <a:cubicBezTo>
                      <a:pt x="31700" y="0"/>
                      <a:pt x="41371" y="9670"/>
                      <a:pt x="41371" y="21600"/>
                    </a:cubicBezTo>
                    <a:cubicBezTo>
                      <a:pt x="41371" y="33529"/>
                      <a:pt x="31700" y="43200"/>
                      <a:pt x="19771" y="43200"/>
                    </a:cubicBezTo>
                    <a:cubicBezTo>
                      <a:pt x="11205" y="43200"/>
                      <a:pt x="3449" y="38138"/>
                      <a:pt x="0" y="30298"/>
                    </a:cubicBezTo>
                  </a:path>
                  <a:path w="41371" h="43200" stroke="0" extrusionOk="0">
                    <a:moveTo>
                      <a:pt x="607" y="11635"/>
                    </a:moveTo>
                    <a:cubicBezTo>
                      <a:pt x="4324" y="4485"/>
                      <a:pt x="11712" y="-1"/>
                      <a:pt x="19771" y="0"/>
                    </a:cubicBezTo>
                    <a:cubicBezTo>
                      <a:pt x="31700" y="0"/>
                      <a:pt x="41371" y="9670"/>
                      <a:pt x="41371" y="21600"/>
                    </a:cubicBezTo>
                    <a:cubicBezTo>
                      <a:pt x="41371" y="33529"/>
                      <a:pt x="31700" y="43200"/>
                      <a:pt x="19771" y="43200"/>
                    </a:cubicBezTo>
                    <a:cubicBezTo>
                      <a:pt x="11205" y="43200"/>
                      <a:pt x="3449" y="38138"/>
                      <a:pt x="0" y="30298"/>
                    </a:cubicBezTo>
                    <a:lnTo>
                      <a:pt x="19771" y="21600"/>
                    </a:lnTo>
                    <a:lnTo>
                      <a:pt x="607" y="11635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26" name="Arc 62" descr="50%"/>
              <p:cNvSpPr>
                <a:spLocks/>
              </p:cNvSpPr>
              <p:nvPr/>
            </p:nvSpPr>
            <p:spPr bwMode="auto">
              <a:xfrm>
                <a:off x="3574" y="2370"/>
                <a:ext cx="1" cy="25"/>
              </a:xfrm>
              <a:custGeom>
                <a:avLst/>
                <a:gdLst>
                  <a:gd name="T0" fmla="*/ 0 w 41371"/>
                  <a:gd name="T1" fmla="*/ 7 h 43200"/>
                  <a:gd name="T2" fmla="*/ 0 w 41371"/>
                  <a:gd name="T3" fmla="*/ 18 h 43200"/>
                  <a:gd name="T4" fmla="*/ 0 w 41371"/>
                  <a:gd name="T5" fmla="*/ 13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371" h="43200" fill="none" extrusionOk="0">
                    <a:moveTo>
                      <a:pt x="607" y="11635"/>
                    </a:moveTo>
                    <a:cubicBezTo>
                      <a:pt x="4324" y="4485"/>
                      <a:pt x="11712" y="-1"/>
                      <a:pt x="19771" y="0"/>
                    </a:cubicBezTo>
                    <a:cubicBezTo>
                      <a:pt x="31700" y="0"/>
                      <a:pt x="41371" y="9670"/>
                      <a:pt x="41371" y="21600"/>
                    </a:cubicBezTo>
                    <a:cubicBezTo>
                      <a:pt x="41371" y="33529"/>
                      <a:pt x="31700" y="43200"/>
                      <a:pt x="19771" y="43200"/>
                    </a:cubicBezTo>
                    <a:cubicBezTo>
                      <a:pt x="11205" y="43200"/>
                      <a:pt x="3449" y="38138"/>
                      <a:pt x="0" y="30298"/>
                    </a:cubicBezTo>
                  </a:path>
                  <a:path w="41371" h="43200" stroke="0" extrusionOk="0">
                    <a:moveTo>
                      <a:pt x="607" y="11635"/>
                    </a:moveTo>
                    <a:cubicBezTo>
                      <a:pt x="4324" y="4485"/>
                      <a:pt x="11712" y="-1"/>
                      <a:pt x="19771" y="0"/>
                    </a:cubicBezTo>
                    <a:cubicBezTo>
                      <a:pt x="31700" y="0"/>
                      <a:pt x="41371" y="9670"/>
                      <a:pt x="41371" y="21600"/>
                    </a:cubicBezTo>
                    <a:cubicBezTo>
                      <a:pt x="41371" y="33529"/>
                      <a:pt x="31700" y="43200"/>
                      <a:pt x="19771" y="43200"/>
                    </a:cubicBezTo>
                    <a:cubicBezTo>
                      <a:pt x="11205" y="43200"/>
                      <a:pt x="3449" y="38138"/>
                      <a:pt x="0" y="30298"/>
                    </a:cubicBezTo>
                    <a:lnTo>
                      <a:pt x="19771" y="21600"/>
                    </a:lnTo>
                    <a:lnTo>
                      <a:pt x="607" y="11635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27" name="Arc 63" descr="50%"/>
              <p:cNvSpPr>
                <a:spLocks/>
              </p:cNvSpPr>
              <p:nvPr/>
            </p:nvSpPr>
            <p:spPr bwMode="auto">
              <a:xfrm>
                <a:off x="3592" y="2370"/>
                <a:ext cx="0" cy="25"/>
              </a:xfrm>
              <a:custGeom>
                <a:avLst/>
                <a:gdLst>
                  <a:gd name="T0" fmla="*/ 1 w 43200"/>
                  <a:gd name="T1" fmla="*/ 13 h 43200"/>
                  <a:gd name="T2" fmla="*/ 1 w 43200"/>
                  <a:gd name="T3" fmla="*/ 13 h 43200"/>
                  <a:gd name="T4" fmla="*/ 1 w 43200"/>
                  <a:gd name="T5" fmla="*/ 13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43200" stroke="0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lnTo>
                      <a:pt x="43200" y="21600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28" name="Arc 64" descr="50%"/>
              <p:cNvSpPr>
                <a:spLocks/>
              </p:cNvSpPr>
              <p:nvPr/>
            </p:nvSpPr>
            <p:spPr bwMode="auto">
              <a:xfrm>
                <a:off x="3602" y="2370"/>
                <a:ext cx="1" cy="25"/>
              </a:xfrm>
              <a:custGeom>
                <a:avLst/>
                <a:gdLst>
                  <a:gd name="T0" fmla="*/ 0 w 41371"/>
                  <a:gd name="T1" fmla="*/ 7 h 43200"/>
                  <a:gd name="T2" fmla="*/ 0 w 41371"/>
                  <a:gd name="T3" fmla="*/ 18 h 43200"/>
                  <a:gd name="T4" fmla="*/ 0 w 41371"/>
                  <a:gd name="T5" fmla="*/ 13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371" h="43200" fill="none" extrusionOk="0">
                    <a:moveTo>
                      <a:pt x="607" y="11635"/>
                    </a:moveTo>
                    <a:cubicBezTo>
                      <a:pt x="4324" y="4485"/>
                      <a:pt x="11712" y="-1"/>
                      <a:pt x="19771" y="0"/>
                    </a:cubicBezTo>
                    <a:cubicBezTo>
                      <a:pt x="31700" y="0"/>
                      <a:pt x="41371" y="9670"/>
                      <a:pt x="41371" y="21600"/>
                    </a:cubicBezTo>
                    <a:cubicBezTo>
                      <a:pt x="41371" y="33529"/>
                      <a:pt x="31700" y="43200"/>
                      <a:pt x="19771" y="43200"/>
                    </a:cubicBezTo>
                    <a:cubicBezTo>
                      <a:pt x="11205" y="43200"/>
                      <a:pt x="3449" y="38138"/>
                      <a:pt x="0" y="30298"/>
                    </a:cubicBezTo>
                  </a:path>
                  <a:path w="41371" h="43200" stroke="0" extrusionOk="0">
                    <a:moveTo>
                      <a:pt x="607" y="11635"/>
                    </a:moveTo>
                    <a:cubicBezTo>
                      <a:pt x="4324" y="4485"/>
                      <a:pt x="11712" y="-1"/>
                      <a:pt x="19771" y="0"/>
                    </a:cubicBezTo>
                    <a:cubicBezTo>
                      <a:pt x="31700" y="0"/>
                      <a:pt x="41371" y="9670"/>
                      <a:pt x="41371" y="21600"/>
                    </a:cubicBezTo>
                    <a:cubicBezTo>
                      <a:pt x="41371" y="33529"/>
                      <a:pt x="31700" y="43200"/>
                      <a:pt x="19771" y="43200"/>
                    </a:cubicBezTo>
                    <a:cubicBezTo>
                      <a:pt x="11205" y="43200"/>
                      <a:pt x="3449" y="38138"/>
                      <a:pt x="0" y="30298"/>
                    </a:cubicBezTo>
                    <a:lnTo>
                      <a:pt x="19771" y="21600"/>
                    </a:lnTo>
                    <a:lnTo>
                      <a:pt x="607" y="11635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29" name="Arc 65" descr="50%"/>
              <p:cNvSpPr>
                <a:spLocks/>
              </p:cNvSpPr>
              <p:nvPr/>
            </p:nvSpPr>
            <p:spPr bwMode="auto">
              <a:xfrm>
                <a:off x="3612" y="2370"/>
                <a:ext cx="0" cy="25"/>
              </a:xfrm>
              <a:custGeom>
                <a:avLst/>
                <a:gdLst>
                  <a:gd name="T0" fmla="*/ 1 w 43200"/>
                  <a:gd name="T1" fmla="*/ 13 h 43200"/>
                  <a:gd name="T2" fmla="*/ 1 w 43200"/>
                  <a:gd name="T3" fmla="*/ 13 h 43200"/>
                  <a:gd name="T4" fmla="*/ 1 w 43200"/>
                  <a:gd name="T5" fmla="*/ 13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43200" stroke="0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lnTo>
                      <a:pt x="43200" y="21600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202" name="Freeform 66" descr="50%"/>
            <p:cNvSpPr>
              <a:spLocks/>
            </p:cNvSpPr>
            <p:nvPr/>
          </p:nvSpPr>
          <p:spPr bwMode="auto">
            <a:xfrm>
              <a:off x="5339531" y="2125862"/>
              <a:ext cx="859912" cy="159544"/>
            </a:xfrm>
            <a:custGeom>
              <a:avLst/>
              <a:gdLst>
                <a:gd name="T0" fmla="*/ 15 w 699"/>
                <a:gd name="T1" fmla="*/ 112 h 134"/>
                <a:gd name="T2" fmla="*/ 47 w 699"/>
                <a:gd name="T3" fmla="*/ 102 h 134"/>
                <a:gd name="T4" fmla="*/ 94 w 699"/>
                <a:gd name="T5" fmla="*/ 91 h 134"/>
                <a:gd name="T6" fmla="*/ 140 w 699"/>
                <a:gd name="T7" fmla="*/ 83 h 134"/>
                <a:gd name="T8" fmla="*/ 185 w 699"/>
                <a:gd name="T9" fmla="*/ 75 h 134"/>
                <a:gd name="T10" fmla="*/ 211 w 699"/>
                <a:gd name="T11" fmla="*/ 64 h 134"/>
                <a:gd name="T12" fmla="*/ 233 w 699"/>
                <a:gd name="T13" fmla="*/ 42 h 134"/>
                <a:gd name="T14" fmla="*/ 267 w 699"/>
                <a:gd name="T15" fmla="*/ 12 h 134"/>
                <a:gd name="T16" fmla="*/ 291 w 699"/>
                <a:gd name="T17" fmla="*/ 24 h 134"/>
                <a:gd name="T18" fmla="*/ 300 w 699"/>
                <a:gd name="T19" fmla="*/ 58 h 134"/>
                <a:gd name="T20" fmla="*/ 318 w 699"/>
                <a:gd name="T21" fmla="*/ 73 h 134"/>
                <a:gd name="T22" fmla="*/ 376 w 699"/>
                <a:gd name="T23" fmla="*/ 83 h 134"/>
                <a:gd name="T24" fmla="*/ 419 w 699"/>
                <a:gd name="T25" fmla="*/ 85 h 134"/>
                <a:gd name="T26" fmla="*/ 471 w 699"/>
                <a:gd name="T27" fmla="*/ 83 h 134"/>
                <a:gd name="T28" fmla="*/ 491 w 699"/>
                <a:gd name="T29" fmla="*/ 99 h 134"/>
                <a:gd name="T30" fmla="*/ 532 w 699"/>
                <a:gd name="T31" fmla="*/ 102 h 134"/>
                <a:gd name="T32" fmla="*/ 579 w 699"/>
                <a:gd name="T33" fmla="*/ 80 h 134"/>
                <a:gd name="T34" fmla="*/ 616 w 699"/>
                <a:gd name="T35" fmla="*/ 47 h 134"/>
                <a:gd name="T36" fmla="*/ 645 w 699"/>
                <a:gd name="T37" fmla="*/ 27 h 134"/>
                <a:gd name="T38" fmla="*/ 671 w 699"/>
                <a:gd name="T39" fmla="*/ 16 h 134"/>
                <a:gd name="T40" fmla="*/ 693 w 699"/>
                <a:gd name="T41" fmla="*/ 19 h 134"/>
                <a:gd name="T42" fmla="*/ 675 w 699"/>
                <a:gd name="T43" fmla="*/ 42 h 134"/>
                <a:gd name="T44" fmla="*/ 652 w 699"/>
                <a:gd name="T45" fmla="*/ 62 h 134"/>
                <a:gd name="T46" fmla="*/ 638 w 699"/>
                <a:gd name="T47" fmla="*/ 79 h 134"/>
                <a:gd name="T48" fmla="*/ 628 w 699"/>
                <a:gd name="T49" fmla="*/ 95 h 134"/>
                <a:gd name="T50" fmla="*/ 625 w 699"/>
                <a:gd name="T51" fmla="*/ 111 h 134"/>
                <a:gd name="T52" fmla="*/ 605 w 699"/>
                <a:gd name="T53" fmla="*/ 108 h 134"/>
                <a:gd name="T54" fmla="*/ 587 w 699"/>
                <a:gd name="T55" fmla="*/ 114 h 134"/>
                <a:gd name="T56" fmla="*/ 567 w 699"/>
                <a:gd name="T57" fmla="*/ 111 h 134"/>
                <a:gd name="T58" fmla="*/ 544 w 699"/>
                <a:gd name="T59" fmla="*/ 112 h 134"/>
                <a:gd name="T60" fmla="*/ 520 w 699"/>
                <a:gd name="T61" fmla="*/ 110 h 134"/>
                <a:gd name="T62" fmla="*/ 493 w 699"/>
                <a:gd name="T63" fmla="*/ 112 h 134"/>
                <a:gd name="T64" fmla="*/ 466 w 699"/>
                <a:gd name="T65" fmla="*/ 116 h 134"/>
                <a:gd name="T66" fmla="*/ 439 w 699"/>
                <a:gd name="T67" fmla="*/ 117 h 134"/>
                <a:gd name="T68" fmla="*/ 413 w 699"/>
                <a:gd name="T69" fmla="*/ 117 h 134"/>
                <a:gd name="T70" fmla="*/ 389 w 699"/>
                <a:gd name="T71" fmla="*/ 120 h 134"/>
                <a:gd name="T72" fmla="*/ 363 w 699"/>
                <a:gd name="T73" fmla="*/ 125 h 134"/>
                <a:gd name="T74" fmla="*/ 332 w 699"/>
                <a:gd name="T75" fmla="*/ 125 h 134"/>
                <a:gd name="T76" fmla="*/ 305 w 699"/>
                <a:gd name="T77" fmla="*/ 127 h 134"/>
                <a:gd name="T78" fmla="*/ 279 w 699"/>
                <a:gd name="T79" fmla="*/ 123 h 134"/>
                <a:gd name="T80" fmla="*/ 253 w 699"/>
                <a:gd name="T81" fmla="*/ 125 h 134"/>
                <a:gd name="T82" fmla="*/ 232 w 699"/>
                <a:gd name="T83" fmla="*/ 123 h 134"/>
                <a:gd name="T84" fmla="*/ 207 w 699"/>
                <a:gd name="T85" fmla="*/ 125 h 134"/>
                <a:gd name="T86" fmla="*/ 179 w 699"/>
                <a:gd name="T87" fmla="*/ 127 h 134"/>
                <a:gd name="T88" fmla="*/ 143 w 699"/>
                <a:gd name="T89" fmla="*/ 133 h 134"/>
                <a:gd name="T90" fmla="*/ 102 w 699"/>
                <a:gd name="T91" fmla="*/ 133 h 134"/>
                <a:gd name="T92" fmla="*/ 68 w 699"/>
                <a:gd name="T93" fmla="*/ 127 h 134"/>
                <a:gd name="T94" fmla="*/ 37 w 699"/>
                <a:gd name="T95" fmla="*/ 129 h 134"/>
                <a:gd name="T96" fmla="*/ 7 w 699"/>
                <a:gd name="T97" fmla="*/ 123 h 13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699" h="134">
                  <a:moveTo>
                    <a:pt x="0" y="120"/>
                  </a:moveTo>
                  <a:lnTo>
                    <a:pt x="4" y="117"/>
                  </a:lnTo>
                  <a:lnTo>
                    <a:pt x="9" y="115"/>
                  </a:lnTo>
                  <a:lnTo>
                    <a:pt x="15" y="112"/>
                  </a:lnTo>
                  <a:lnTo>
                    <a:pt x="21" y="110"/>
                  </a:lnTo>
                  <a:lnTo>
                    <a:pt x="29" y="108"/>
                  </a:lnTo>
                  <a:lnTo>
                    <a:pt x="39" y="105"/>
                  </a:lnTo>
                  <a:lnTo>
                    <a:pt x="47" y="102"/>
                  </a:lnTo>
                  <a:lnTo>
                    <a:pt x="58" y="99"/>
                  </a:lnTo>
                  <a:lnTo>
                    <a:pt x="70" y="96"/>
                  </a:lnTo>
                  <a:lnTo>
                    <a:pt x="82" y="93"/>
                  </a:lnTo>
                  <a:lnTo>
                    <a:pt x="94" y="91"/>
                  </a:lnTo>
                  <a:lnTo>
                    <a:pt x="106" y="90"/>
                  </a:lnTo>
                  <a:lnTo>
                    <a:pt x="118" y="88"/>
                  </a:lnTo>
                  <a:lnTo>
                    <a:pt x="129" y="85"/>
                  </a:lnTo>
                  <a:lnTo>
                    <a:pt x="140" y="83"/>
                  </a:lnTo>
                  <a:lnTo>
                    <a:pt x="149" y="81"/>
                  </a:lnTo>
                  <a:lnTo>
                    <a:pt x="163" y="79"/>
                  </a:lnTo>
                  <a:lnTo>
                    <a:pt x="174" y="77"/>
                  </a:lnTo>
                  <a:lnTo>
                    <a:pt x="185" y="75"/>
                  </a:lnTo>
                  <a:lnTo>
                    <a:pt x="193" y="74"/>
                  </a:lnTo>
                  <a:lnTo>
                    <a:pt x="200" y="71"/>
                  </a:lnTo>
                  <a:lnTo>
                    <a:pt x="206" y="67"/>
                  </a:lnTo>
                  <a:lnTo>
                    <a:pt x="211" y="64"/>
                  </a:lnTo>
                  <a:lnTo>
                    <a:pt x="215" y="59"/>
                  </a:lnTo>
                  <a:lnTo>
                    <a:pt x="219" y="55"/>
                  </a:lnTo>
                  <a:lnTo>
                    <a:pt x="226" y="48"/>
                  </a:lnTo>
                  <a:lnTo>
                    <a:pt x="233" y="42"/>
                  </a:lnTo>
                  <a:lnTo>
                    <a:pt x="241" y="34"/>
                  </a:lnTo>
                  <a:lnTo>
                    <a:pt x="249" y="27"/>
                  </a:lnTo>
                  <a:lnTo>
                    <a:pt x="257" y="19"/>
                  </a:lnTo>
                  <a:lnTo>
                    <a:pt x="267" y="12"/>
                  </a:lnTo>
                  <a:lnTo>
                    <a:pt x="276" y="6"/>
                  </a:lnTo>
                  <a:lnTo>
                    <a:pt x="283" y="0"/>
                  </a:lnTo>
                  <a:lnTo>
                    <a:pt x="286" y="11"/>
                  </a:lnTo>
                  <a:lnTo>
                    <a:pt x="291" y="24"/>
                  </a:lnTo>
                  <a:lnTo>
                    <a:pt x="295" y="36"/>
                  </a:lnTo>
                  <a:lnTo>
                    <a:pt x="298" y="47"/>
                  </a:lnTo>
                  <a:lnTo>
                    <a:pt x="300" y="52"/>
                  </a:lnTo>
                  <a:lnTo>
                    <a:pt x="300" y="58"/>
                  </a:lnTo>
                  <a:lnTo>
                    <a:pt x="300" y="63"/>
                  </a:lnTo>
                  <a:lnTo>
                    <a:pt x="295" y="69"/>
                  </a:lnTo>
                  <a:lnTo>
                    <a:pt x="306" y="72"/>
                  </a:lnTo>
                  <a:lnTo>
                    <a:pt x="318" y="73"/>
                  </a:lnTo>
                  <a:lnTo>
                    <a:pt x="332" y="75"/>
                  </a:lnTo>
                  <a:lnTo>
                    <a:pt x="348" y="78"/>
                  </a:lnTo>
                  <a:lnTo>
                    <a:pt x="364" y="81"/>
                  </a:lnTo>
                  <a:lnTo>
                    <a:pt x="376" y="83"/>
                  </a:lnTo>
                  <a:lnTo>
                    <a:pt x="389" y="85"/>
                  </a:lnTo>
                  <a:lnTo>
                    <a:pt x="400" y="86"/>
                  </a:lnTo>
                  <a:lnTo>
                    <a:pt x="410" y="87"/>
                  </a:lnTo>
                  <a:lnTo>
                    <a:pt x="419" y="85"/>
                  </a:lnTo>
                  <a:lnTo>
                    <a:pt x="427" y="81"/>
                  </a:lnTo>
                  <a:lnTo>
                    <a:pt x="434" y="75"/>
                  </a:lnTo>
                  <a:lnTo>
                    <a:pt x="452" y="78"/>
                  </a:lnTo>
                  <a:lnTo>
                    <a:pt x="471" y="83"/>
                  </a:lnTo>
                  <a:lnTo>
                    <a:pt x="484" y="86"/>
                  </a:lnTo>
                  <a:lnTo>
                    <a:pt x="476" y="94"/>
                  </a:lnTo>
                  <a:lnTo>
                    <a:pt x="482" y="96"/>
                  </a:lnTo>
                  <a:lnTo>
                    <a:pt x="491" y="99"/>
                  </a:lnTo>
                  <a:lnTo>
                    <a:pt x="501" y="102"/>
                  </a:lnTo>
                  <a:lnTo>
                    <a:pt x="512" y="103"/>
                  </a:lnTo>
                  <a:lnTo>
                    <a:pt x="522" y="102"/>
                  </a:lnTo>
                  <a:lnTo>
                    <a:pt x="532" y="102"/>
                  </a:lnTo>
                  <a:lnTo>
                    <a:pt x="543" y="99"/>
                  </a:lnTo>
                  <a:lnTo>
                    <a:pt x="555" y="96"/>
                  </a:lnTo>
                  <a:lnTo>
                    <a:pt x="566" y="90"/>
                  </a:lnTo>
                  <a:lnTo>
                    <a:pt x="579" y="80"/>
                  </a:lnTo>
                  <a:lnTo>
                    <a:pt x="589" y="72"/>
                  </a:lnTo>
                  <a:lnTo>
                    <a:pt x="602" y="61"/>
                  </a:lnTo>
                  <a:lnTo>
                    <a:pt x="607" y="56"/>
                  </a:lnTo>
                  <a:lnTo>
                    <a:pt x="616" y="47"/>
                  </a:lnTo>
                  <a:lnTo>
                    <a:pt x="624" y="42"/>
                  </a:lnTo>
                  <a:lnTo>
                    <a:pt x="631" y="36"/>
                  </a:lnTo>
                  <a:lnTo>
                    <a:pt x="639" y="31"/>
                  </a:lnTo>
                  <a:lnTo>
                    <a:pt x="645" y="27"/>
                  </a:lnTo>
                  <a:lnTo>
                    <a:pt x="652" y="24"/>
                  </a:lnTo>
                  <a:lnTo>
                    <a:pt x="658" y="21"/>
                  </a:lnTo>
                  <a:lnTo>
                    <a:pt x="664" y="18"/>
                  </a:lnTo>
                  <a:lnTo>
                    <a:pt x="671" y="16"/>
                  </a:lnTo>
                  <a:lnTo>
                    <a:pt x="677" y="15"/>
                  </a:lnTo>
                  <a:lnTo>
                    <a:pt x="686" y="15"/>
                  </a:lnTo>
                  <a:lnTo>
                    <a:pt x="698" y="15"/>
                  </a:lnTo>
                  <a:lnTo>
                    <a:pt x="693" y="19"/>
                  </a:lnTo>
                  <a:lnTo>
                    <a:pt x="688" y="25"/>
                  </a:lnTo>
                  <a:lnTo>
                    <a:pt x="685" y="29"/>
                  </a:lnTo>
                  <a:lnTo>
                    <a:pt x="680" y="36"/>
                  </a:lnTo>
                  <a:lnTo>
                    <a:pt x="675" y="42"/>
                  </a:lnTo>
                  <a:lnTo>
                    <a:pt x="668" y="48"/>
                  </a:lnTo>
                  <a:lnTo>
                    <a:pt x="659" y="54"/>
                  </a:lnTo>
                  <a:lnTo>
                    <a:pt x="655" y="58"/>
                  </a:lnTo>
                  <a:lnTo>
                    <a:pt x="652" y="62"/>
                  </a:lnTo>
                  <a:lnTo>
                    <a:pt x="647" y="67"/>
                  </a:lnTo>
                  <a:lnTo>
                    <a:pt x="645" y="71"/>
                  </a:lnTo>
                  <a:lnTo>
                    <a:pt x="641" y="75"/>
                  </a:lnTo>
                  <a:lnTo>
                    <a:pt x="638" y="79"/>
                  </a:lnTo>
                  <a:lnTo>
                    <a:pt x="636" y="84"/>
                  </a:lnTo>
                  <a:lnTo>
                    <a:pt x="633" y="88"/>
                  </a:lnTo>
                  <a:lnTo>
                    <a:pt x="630" y="91"/>
                  </a:lnTo>
                  <a:lnTo>
                    <a:pt x="628" y="95"/>
                  </a:lnTo>
                  <a:lnTo>
                    <a:pt x="627" y="99"/>
                  </a:lnTo>
                  <a:lnTo>
                    <a:pt x="626" y="103"/>
                  </a:lnTo>
                  <a:lnTo>
                    <a:pt x="625" y="108"/>
                  </a:lnTo>
                  <a:lnTo>
                    <a:pt x="625" y="111"/>
                  </a:lnTo>
                  <a:lnTo>
                    <a:pt x="621" y="109"/>
                  </a:lnTo>
                  <a:lnTo>
                    <a:pt x="615" y="108"/>
                  </a:lnTo>
                  <a:lnTo>
                    <a:pt x="610" y="108"/>
                  </a:lnTo>
                  <a:lnTo>
                    <a:pt x="605" y="108"/>
                  </a:lnTo>
                  <a:lnTo>
                    <a:pt x="600" y="110"/>
                  </a:lnTo>
                  <a:lnTo>
                    <a:pt x="596" y="111"/>
                  </a:lnTo>
                  <a:lnTo>
                    <a:pt x="592" y="112"/>
                  </a:lnTo>
                  <a:lnTo>
                    <a:pt x="587" y="114"/>
                  </a:lnTo>
                  <a:lnTo>
                    <a:pt x="582" y="114"/>
                  </a:lnTo>
                  <a:lnTo>
                    <a:pt x="576" y="113"/>
                  </a:lnTo>
                  <a:lnTo>
                    <a:pt x="570" y="112"/>
                  </a:lnTo>
                  <a:lnTo>
                    <a:pt x="567" y="111"/>
                  </a:lnTo>
                  <a:lnTo>
                    <a:pt x="562" y="110"/>
                  </a:lnTo>
                  <a:lnTo>
                    <a:pt x="557" y="110"/>
                  </a:lnTo>
                  <a:lnTo>
                    <a:pt x="550" y="111"/>
                  </a:lnTo>
                  <a:lnTo>
                    <a:pt x="544" y="112"/>
                  </a:lnTo>
                  <a:lnTo>
                    <a:pt x="539" y="112"/>
                  </a:lnTo>
                  <a:lnTo>
                    <a:pt x="532" y="112"/>
                  </a:lnTo>
                  <a:lnTo>
                    <a:pt x="526" y="110"/>
                  </a:lnTo>
                  <a:lnTo>
                    <a:pt x="520" y="110"/>
                  </a:lnTo>
                  <a:lnTo>
                    <a:pt x="514" y="112"/>
                  </a:lnTo>
                  <a:lnTo>
                    <a:pt x="506" y="113"/>
                  </a:lnTo>
                  <a:lnTo>
                    <a:pt x="500" y="113"/>
                  </a:lnTo>
                  <a:lnTo>
                    <a:pt x="493" y="112"/>
                  </a:lnTo>
                  <a:lnTo>
                    <a:pt x="487" y="111"/>
                  </a:lnTo>
                  <a:lnTo>
                    <a:pt x="480" y="112"/>
                  </a:lnTo>
                  <a:lnTo>
                    <a:pt x="474" y="115"/>
                  </a:lnTo>
                  <a:lnTo>
                    <a:pt x="466" y="116"/>
                  </a:lnTo>
                  <a:lnTo>
                    <a:pt x="460" y="117"/>
                  </a:lnTo>
                  <a:lnTo>
                    <a:pt x="453" y="118"/>
                  </a:lnTo>
                  <a:lnTo>
                    <a:pt x="447" y="118"/>
                  </a:lnTo>
                  <a:lnTo>
                    <a:pt x="439" y="117"/>
                  </a:lnTo>
                  <a:lnTo>
                    <a:pt x="432" y="115"/>
                  </a:lnTo>
                  <a:lnTo>
                    <a:pt x="424" y="117"/>
                  </a:lnTo>
                  <a:lnTo>
                    <a:pt x="419" y="117"/>
                  </a:lnTo>
                  <a:lnTo>
                    <a:pt x="413" y="117"/>
                  </a:lnTo>
                  <a:lnTo>
                    <a:pt x="407" y="117"/>
                  </a:lnTo>
                  <a:lnTo>
                    <a:pt x="401" y="117"/>
                  </a:lnTo>
                  <a:lnTo>
                    <a:pt x="394" y="118"/>
                  </a:lnTo>
                  <a:lnTo>
                    <a:pt x="389" y="120"/>
                  </a:lnTo>
                  <a:lnTo>
                    <a:pt x="384" y="122"/>
                  </a:lnTo>
                  <a:lnTo>
                    <a:pt x="377" y="124"/>
                  </a:lnTo>
                  <a:lnTo>
                    <a:pt x="371" y="125"/>
                  </a:lnTo>
                  <a:lnTo>
                    <a:pt x="363" y="125"/>
                  </a:lnTo>
                  <a:lnTo>
                    <a:pt x="356" y="126"/>
                  </a:lnTo>
                  <a:lnTo>
                    <a:pt x="347" y="125"/>
                  </a:lnTo>
                  <a:lnTo>
                    <a:pt x="338" y="125"/>
                  </a:lnTo>
                  <a:lnTo>
                    <a:pt x="332" y="125"/>
                  </a:lnTo>
                  <a:lnTo>
                    <a:pt x="324" y="126"/>
                  </a:lnTo>
                  <a:lnTo>
                    <a:pt x="318" y="126"/>
                  </a:lnTo>
                  <a:lnTo>
                    <a:pt x="311" y="127"/>
                  </a:lnTo>
                  <a:lnTo>
                    <a:pt x="305" y="127"/>
                  </a:lnTo>
                  <a:lnTo>
                    <a:pt x="297" y="126"/>
                  </a:lnTo>
                  <a:lnTo>
                    <a:pt x="290" y="125"/>
                  </a:lnTo>
                  <a:lnTo>
                    <a:pt x="285" y="123"/>
                  </a:lnTo>
                  <a:lnTo>
                    <a:pt x="279" y="123"/>
                  </a:lnTo>
                  <a:lnTo>
                    <a:pt x="273" y="123"/>
                  </a:lnTo>
                  <a:lnTo>
                    <a:pt x="267" y="124"/>
                  </a:lnTo>
                  <a:lnTo>
                    <a:pt x="259" y="125"/>
                  </a:lnTo>
                  <a:lnTo>
                    <a:pt x="253" y="125"/>
                  </a:lnTo>
                  <a:lnTo>
                    <a:pt x="248" y="125"/>
                  </a:lnTo>
                  <a:lnTo>
                    <a:pt x="244" y="125"/>
                  </a:lnTo>
                  <a:lnTo>
                    <a:pt x="238" y="123"/>
                  </a:lnTo>
                  <a:lnTo>
                    <a:pt x="232" y="123"/>
                  </a:lnTo>
                  <a:lnTo>
                    <a:pt x="226" y="123"/>
                  </a:lnTo>
                  <a:lnTo>
                    <a:pt x="221" y="124"/>
                  </a:lnTo>
                  <a:lnTo>
                    <a:pt x="215" y="125"/>
                  </a:lnTo>
                  <a:lnTo>
                    <a:pt x="207" y="125"/>
                  </a:lnTo>
                  <a:lnTo>
                    <a:pt x="199" y="125"/>
                  </a:lnTo>
                  <a:lnTo>
                    <a:pt x="193" y="125"/>
                  </a:lnTo>
                  <a:lnTo>
                    <a:pt x="186" y="126"/>
                  </a:lnTo>
                  <a:lnTo>
                    <a:pt x="179" y="127"/>
                  </a:lnTo>
                  <a:lnTo>
                    <a:pt x="172" y="129"/>
                  </a:lnTo>
                  <a:lnTo>
                    <a:pt x="165" y="130"/>
                  </a:lnTo>
                  <a:lnTo>
                    <a:pt x="155" y="132"/>
                  </a:lnTo>
                  <a:lnTo>
                    <a:pt x="143" y="133"/>
                  </a:lnTo>
                  <a:lnTo>
                    <a:pt x="132" y="133"/>
                  </a:lnTo>
                  <a:lnTo>
                    <a:pt x="122" y="132"/>
                  </a:lnTo>
                  <a:lnTo>
                    <a:pt x="109" y="133"/>
                  </a:lnTo>
                  <a:lnTo>
                    <a:pt x="102" y="133"/>
                  </a:lnTo>
                  <a:lnTo>
                    <a:pt x="96" y="132"/>
                  </a:lnTo>
                  <a:lnTo>
                    <a:pt x="89" y="133"/>
                  </a:lnTo>
                  <a:lnTo>
                    <a:pt x="81" y="132"/>
                  </a:lnTo>
                  <a:lnTo>
                    <a:pt x="68" y="127"/>
                  </a:lnTo>
                  <a:lnTo>
                    <a:pt x="60" y="128"/>
                  </a:lnTo>
                  <a:lnTo>
                    <a:pt x="52" y="129"/>
                  </a:lnTo>
                  <a:lnTo>
                    <a:pt x="44" y="129"/>
                  </a:lnTo>
                  <a:lnTo>
                    <a:pt x="37" y="129"/>
                  </a:lnTo>
                  <a:lnTo>
                    <a:pt x="29" y="128"/>
                  </a:lnTo>
                  <a:lnTo>
                    <a:pt x="22" y="127"/>
                  </a:lnTo>
                  <a:lnTo>
                    <a:pt x="14" y="125"/>
                  </a:lnTo>
                  <a:lnTo>
                    <a:pt x="7" y="123"/>
                  </a:lnTo>
                  <a:lnTo>
                    <a:pt x="1" y="122"/>
                  </a:lnTo>
                  <a:lnTo>
                    <a:pt x="0" y="12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203" name="Group 67"/>
            <p:cNvGrpSpPr>
              <a:grpSpLocks/>
            </p:cNvGrpSpPr>
            <p:nvPr/>
          </p:nvGrpSpPr>
          <p:grpSpPr bwMode="auto">
            <a:xfrm>
              <a:off x="5512989" y="2325887"/>
              <a:ext cx="125481" cy="82153"/>
              <a:chOff x="3613" y="2387"/>
              <a:chExt cx="102" cy="69"/>
            </a:xfrm>
          </p:grpSpPr>
          <p:sp>
            <p:nvSpPr>
              <p:cNvPr id="7723" name="Freeform 68" descr="50%"/>
              <p:cNvSpPr>
                <a:spLocks/>
              </p:cNvSpPr>
              <p:nvPr/>
            </p:nvSpPr>
            <p:spPr bwMode="auto">
              <a:xfrm>
                <a:off x="3613" y="2392"/>
                <a:ext cx="102" cy="64"/>
              </a:xfrm>
              <a:custGeom>
                <a:avLst/>
                <a:gdLst>
                  <a:gd name="T0" fmla="*/ 95 w 102"/>
                  <a:gd name="T1" fmla="*/ 57 h 64"/>
                  <a:gd name="T2" fmla="*/ 89 w 102"/>
                  <a:gd name="T3" fmla="*/ 51 h 64"/>
                  <a:gd name="T4" fmla="*/ 86 w 102"/>
                  <a:gd name="T5" fmla="*/ 47 h 64"/>
                  <a:gd name="T6" fmla="*/ 83 w 102"/>
                  <a:gd name="T7" fmla="*/ 44 h 64"/>
                  <a:gd name="T8" fmla="*/ 80 w 102"/>
                  <a:gd name="T9" fmla="*/ 41 h 64"/>
                  <a:gd name="T10" fmla="*/ 77 w 102"/>
                  <a:gd name="T11" fmla="*/ 37 h 64"/>
                  <a:gd name="T12" fmla="*/ 75 w 102"/>
                  <a:gd name="T13" fmla="*/ 34 h 64"/>
                  <a:gd name="T14" fmla="*/ 72 w 102"/>
                  <a:gd name="T15" fmla="*/ 30 h 64"/>
                  <a:gd name="T16" fmla="*/ 70 w 102"/>
                  <a:gd name="T17" fmla="*/ 25 h 64"/>
                  <a:gd name="T18" fmla="*/ 68 w 102"/>
                  <a:gd name="T19" fmla="*/ 21 h 64"/>
                  <a:gd name="T20" fmla="*/ 67 w 102"/>
                  <a:gd name="T21" fmla="*/ 16 h 64"/>
                  <a:gd name="T22" fmla="*/ 66 w 102"/>
                  <a:gd name="T23" fmla="*/ 11 h 64"/>
                  <a:gd name="T24" fmla="*/ 66 w 102"/>
                  <a:gd name="T25" fmla="*/ 6 h 64"/>
                  <a:gd name="T26" fmla="*/ 65 w 102"/>
                  <a:gd name="T27" fmla="*/ 0 h 64"/>
                  <a:gd name="T28" fmla="*/ 0 w 102"/>
                  <a:gd name="T29" fmla="*/ 0 h 64"/>
                  <a:gd name="T30" fmla="*/ 2 w 102"/>
                  <a:gd name="T31" fmla="*/ 4 h 64"/>
                  <a:gd name="T32" fmla="*/ 5 w 102"/>
                  <a:gd name="T33" fmla="*/ 9 h 64"/>
                  <a:gd name="T34" fmla="*/ 9 w 102"/>
                  <a:gd name="T35" fmla="*/ 14 h 64"/>
                  <a:gd name="T36" fmla="*/ 12 w 102"/>
                  <a:gd name="T37" fmla="*/ 18 h 64"/>
                  <a:gd name="T38" fmla="*/ 17 w 102"/>
                  <a:gd name="T39" fmla="*/ 23 h 64"/>
                  <a:gd name="T40" fmla="*/ 22 w 102"/>
                  <a:gd name="T41" fmla="*/ 28 h 64"/>
                  <a:gd name="T42" fmla="*/ 27 w 102"/>
                  <a:gd name="T43" fmla="*/ 32 h 64"/>
                  <a:gd name="T44" fmla="*/ 32 w 102"/>
                  <a:gd name="T45" fmla="*/ 36 h 64"/>
                  <a:gd name="T46" fmla="*/ 38 w 102"/>
                  <a:gd name="T47" fmla="*/ 41 h 64"/>
                  <a:gd name="T48" fmla="*/ 45 w 102"/>
                  <a:gd name="T49" fmla="*/ 46 h 64"/>
                  <a:gd name="T50" fmla="*/ 51 w 102"/>
                  <a:gd name="T51" fmla="*/ 49 h 64"/>
                  <a:gd name="T52" fmla="*/ 56 w 102"/>
                  <a:gd name="T53" fmla="*/ 52 h 64"/>
                  <a:gd name="T54" fmla="*/ 61 w 102"/>
                  <a:gd name="T55" fmla="*/ 54 h 64"/>
                  <a:gd name="T56" fmla="*/ 67 w 102"/>
                  <a:gd name="T57" fmla="*/ 57 h 64"/>
                  <a:gd name="T58" fmla="*/ 72 w 102"/>
                  <a:gd name="T59" fmla="*/ 59 h 64"/>
                  <a:gd name="T60" fmla="*/ 79 w 102"/>
                  <a:gd name="T61" fmla="*/ 60 h 64"/>
                  <a:gd name="T62" fmla="*/ 86 w 102"/>
                  <a:gd name="T63" fmla="*/ 61 h 64"/>
                  <a:gd name="T64" fmla="*/ 91 w 102"/>
                  <a:gd name="T65" fmla="*/ 62 h 64"/>
                  <a:gd name="T66" fmla="*/ 97 w 102"/>
                  <a:gd name="T67" fmla="*/ 62 h 64"/>
                  <a:gd name="T68" fmla="*/ 101 w 102"/>
                  <a:gd name="T69" fmla="*/ 63 h 64"/>
                  <a:gd name="T70" fmla="*/ 95 w 102"/>
                  <a:gd name="T71" fmla="*/ 57 h 6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102" h="64">
                    <a:moveTo>
                      <a:pt x="95" y="57"/>
                    </a:moveTo>
                    <a:lnTo>
                      <a:pt x="89" y="51"/>
                    </a:lnTo>
                    <a:lnTo>
                      <a:pt x="86" y="47"/>
                    </a:lnTo>
                    <a:lnTo>
                      <a:pt x="83" y="44"/>
                    </a:lnTo>
                    <a:lnTo>
                      <a:pt x="80" y="41"/>
                    </a:lnTo>
                    <a:lnTo>
                      <a:pt x="77" y="37"/>
                    </a:lnTo>
                    <a:lnTo>
                      <a:pt x="75" y="34"/>
                    </a:lnTo>
                    <a:lnTo>
                      <a:pt x="72" y="30"/>
                    </a:lnTo>
                    <a:lnTo>
                      <a:pt x="70" y="25"/>
                    </a:lnTo>
                    <a:lnTo>
                      <a:pt x="68" y="21"/>
                    </a:lnTo>
                    <a:lnTo>
                      <a:pt x="67" y="16"/>
                    </a:lnTo>
                    <a:lnTo>
                      <a:pt x="66" y="11"/>
                    </a:lnTo>
                    <a:lnTo>
                      <a:pt x="66" y="6"/>
                    </a:lnTo>
                    <a:lnTo>
                      <a:pt x="65" y="0"/>
                    </a:lnTo>
                    <a:lnTo>
                      <a:pt x="0" y="0"/>
                    </a:lnTo>
                    <a:lnTo>
                      <a:pt x="2" y="4"/>
                    </a:lnTo>
                    <a:lnTo>
                      <a:pt x="5" y="9"/>
                    </a:lnTo>
                    <a:lnTo>
                      <a:pt x="9" y="14"/>
                    </a:lnTo>
                    <a:lnTo>
                      <a:pt x="12" y="18"/>
                    </a:lnTo>
                    <a:lnTo>
                      <a:pt x="17" y="23"/>
                    </a:lnTo>
                    <a:lnTo>
                      <a:pt x="22" y="28"/>
                    </a:lnTo>
                    <a:lnTo>
                      <a:pt x="27" y="32"/>
                    </a:lnTo>
                    <a:lnTo>
                      <a:pt x="32" y="36"/>
                    </a:lnTo>
                    <a:lnTo>
                      <a:pt x="38" y="41"/>
                    </a:lnTo>
                    <a:lnTo>
                      <a:pt x="45" y="46"/>
                    </a:lnTo>
                    <a:lnTo>
                      <a:pt x="51" y="49"/>
                    </a:lnTo>
                    <a:lnTo>
                      <a:pt x="56" y="52"/>
                    </a:lnTo>
                    <a:lnTo>
                      <a:pt x="61" y="54"/>
                    </a:lnTo>
                    <a:lnTo>
                      <a:pt x="67" y="57"/>
                    </a:lnTo>
                    <a:lnTo>
                      <a:pt x="72" y="59"/>
                    </a:lnTo>
                    <a:lnTo>
                      <a:pt x="79" y="60"/>
                    </a:lnTo>
                    <a:lnTo>
                      <a:pt x="86" y="61"/>
                    </a:lnTo>
                    <a:lnTo>
                      <a:pt x="91" y="62"/>
                    </a:lnTo>
                    <a:lnTo>
                      <a:pt x="97" y="62"/>
                    </a:lnTo>
                    <a:lnTo>
                      <a:pt x="101" y="63"/>
                    </a:lnTo>
                    <a:lnTo>
                      <a:pt x="95" y="57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24" name="Freeform 69" descr="50%"/>
              <p:cNvSpPr>
                <a:spLocks/>
              </p:cNvSpPr>
              <p:nvPr/>
            </p:nvSpPr>
            <p:spPr bwMode="auto">
              <a:xfrm>
                <a:off x="3615" y="2387"/>
                <a:ext cx="56" cy="5"/>
              </a:xfrm>
              <a:custGeom>
                <a:avLst/>
                <a:gdLst>
                  <a:gd name="T0" fmla="*/ 0 w 56"/>
                  <a:gd name="T1" fmla="*/ 4 h 5"/>
                  <a:gd name="T2" fmla="*/ 0 w 56"/>
                  <a:gd name="T3" fmla="*/ 3 h 5"/>
                  <a:gd name="T4" fmla="*/ 1 w 56"/>
                  <a:gd name="T5" fmla="*/ 0 h 5"/>
                  <a:gd name="T6" fmla="*/ 55 w 56"/>
                  <a:gd name="T7" fmla="*/ 0 h 5"/>
                  <a:gd name="T8" fmla="*/ 55 w 56"/>
                  <a:gd name="T9" fmla="*/ 4 h 5"/>
                  <a:gd name="T10" fmla="*/ 0 w 56"/>
                  <a:gd name="T11" fmla="*/ 4 h 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6" h="5">
                    <a:moveTo>
                      <a:pt x="0" y="4"/>
                    </a:moveTo>
                    <a:lnTo>
                      <a:pt x="0" y="3"/>
                    </a:lnTo>
                    <a:lnTo>
                      <a:pt x="1" y="0"/>
                    </a:lnTo>
                    <a:lnTo>
                      <a:pt x="55" y="0"/>
                    </a:lnTo>
                    <a:lnTo>
                      <a:pt x="55" y="4"/>
                    </a:lnTo>
                    <a:lnTo>
                      <a:pt x="0" y="4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204" name="Freeform 70" descr="50%"/>
            <p:cNvSpPr>
              <a:spLocks/>
            </p:cNvSpPr>
            <p:nvPr/>
          </p:nvSpPr>
          <p:spPr bwMode="auto">
            <a:xfrm>
              <a:off x="6621881" y="2299694"/>
              <a:ext cx="71352" cy="54769"/>
            </a:xfrm>
            <a:custGeom>
              <a:avLst/>
              <a:gdLst>
                <a:gd name="T0" fmla="*/ 0 w 58"/>
                <a:gd name="T1" fmla="*/ 0 h 46"/>
                <a:gd name="T2" fmla="*/ 2 w 58"/>
                <a:gd name="T3" fmla="*/ 5 h 46"/>
                <a:gd name="T4" fmla="*/ 5 w 58"/>
                <a:gd name="T5" fmla="*/ 9 h 46"/>
                <a:gd name="T6" fmla="*/ 9 w 58"/>
                <a:gd name="T7" fmla="*/ 14 h 46"/>
                <a:gd name="T8" fmla="*/ 12 w 58"/>
                <a:gd name="T9" fmla="*/ 18 h 46"/>
                <a:gd name="T10" fmla="*/ 16 w 58"/>
                <a:gd name="T11" fmla="*/ 23 h 46"/>
                <a:gd name="T12" fmla="*/ 21 w 58"/>
                <a:gd name="T13" fmla="*/ 28 h 46"/>
                <a:gd name="T14" fmla="*/ 24 w 58"/>
                <a:gd name="T15" fmla="*/ 32 h 46"/>
                <a:gd name="T16" fmla="*/ 28 w 58"/>
                <a:gd name="T17" fmla="*/ 35 h 46"/>
                <a:gd name="T18" fmla="*/ 32 w 58"/>
                <a:gd name="T19" fmla="*/ 38 h 46"/>
                <a:gd name="T20" fmla="*/ 36 w 58"/>
                <a:gd name="T21" fmla="*/ 40 h 46"/>
                <a:gd name="T22" fmla="*/ 41 w 58"/>
                <a:gd name="T23" fmla="*/ 42 h 46"/>
                <a:gd name="T24" fmla="*/ 45 w 58"/>
                <a:gd name="T25" fmla="*/ 44 h 46"/>
                <a:gd name="T26" fmla="*/ 50 w 58"/>
                <a:gd name="T27" fmla="*/ 45 h 46"/>
                <a:gd name="T28" fmla="*/ 54 w 58"/>
                <a:gd name="T29" fmla="*/ 45 h 46"/>
                <a:gd name="T30" fmla="*/ 57 w 58"/>
                <a:gd name="T31" fmla="*/ 44 h 46"/>
                <a:gd name="T32" fmla="*/ 54 w 58"/>
                <a:gd name="T33" fmla="*/ 41 h 46"/>
                <a:gd name="T34" fmla="*/ 51 w 58"/>
                <a:gd name="T35" fmla="*/ 37 h 46"/>
                <a:gd name="T36" fmla="*/ 48 w 58"/>
                <a:gd name="T37" fmla="*/ 33 h 46"/>
                <a:gd name="T38" fmla="*/ 45 w 58"/>
                <a:gd name="T39" fmla="*/ 29 h 46"/>
                <a:gd name="T40" fmla="*/ 42 w 58"/>
                <a:gd name="T41" fmla="*/ 24 h 46"/>
                <a:gd name="T42" fmla="*/ 40 w 58"/>
                <a:gd name="T43" fmla="*/ 20 h 46"/>
                <a:gd name="T44" fmla="*/ 38 w 58"/>
                <a:gd name="T45" fmla="*/ 16 h 46"/>
                <a:gd name="T46" fmla="*/ 37 w 58"/>
                <a:gd name="T47" fmla="*/ 10 h 46"/>
                <a:gd name="T48" fmla="*/ 37 w 58"/>
                <a:gd name="T49" fmla="*/ 5 h 46"/>
                <a:gd name="T50" fmla="*/ 37 w 58"/>
                <a:gd name="T51" fmla="*/ 1 h 46"/>
                <a:gd name="T52" fmla="*/ 0 w 58"/>
                <a:gd name="T53" fmla="*/ 0 h 4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58" h="46">
                  <a:moveTo>
                    <a:pt x="0" y="0"/>
                  </a:moveTo>
                  <a:lnTo>
                    <a:pt x="2" y="5"/>
                  </a:lnTo>
                  <a:lnTo>
                    <a:pt x="5" y="9"/>
                  </a:lnTo>
                  <a:lnTo>
                    <a:pt x="9" y="14"/>
                  </a:lnTo>
                  <a:lnTo>
                    <a:pt x="12" y="18"/>
                  </a:lnTo>
                  <a:lnTo>
                    <a:pt x="16" y="23"/>
                  </a:lnTo>
                  <a:lnTo>
                    <a:pt x="21" y="28"/>
                  </a:lnTo>
                  <a:lnTo>
                    <a:pt x="24" y="32"/>
                  </a:lnTo>
                  <a:lnTo>
                    <a:pt x="28" y="35"/>
                  </a:lnTo>
                  <a:lnTo>
                    <a:pt x="32" y="38"/>
                  </a:lnTo>
                  <a:lnTo>
                    <a:pt x="36" y="40"/>
                  </a:lnTo>
                  <a:lnTo>
                    <a:pt x="41" y="42"/>
                  </a:lnTo>
                  <a:lnTo>
                    <a:pt x="45" y="44"/>
                  </a:lnTo>
                  <a:lnTo>
                    <a:pt x="50" y="45"/>
                  </a:lnTo>
                  <a:lnTo>
                    <a:pt x="54" y="45"/>
                  </a:lnTo>
                  <a:lnTo>
                    <a:pt x="57" y="44"/>
                  </a:lnTo>
                  <a:lnTo>
                    <a:pt x="54" y="41"/>
                  </a:lnTo>
                  <a:lnTo>
                    <a:pt x="51" y="37"/>
                  </a:lnTo>
                  <a:lnTo>
                    <a:pt x="48" y="33"/>
                  </a:lnTo>
                  <a:lnTo>
                    <a:pt x="45" y="29"/>
                  </a:lnTo>
                  <a:lnTo>
                    <a:pt x="42" y="24"/>
                  </a:lnTo>
                  <a:lnTo>
                    <a:pt x="40" y="20"/>
                  </a:lnTo>
                  <a:lnTo>
                    <a:pt x="38" y="16"/>
                  </a:lnTo>
                  <a:lnTo>
                    <a:pt x="37" y="10"/>
                  </a:lnTo>
                  <a:lnTo>
                    <a:pt x="37" y="5"/>
                  </a:lnTo>
                  <a:lnTo>
                    <a:pt x="37" y="1"/>
                  </a:lnTo>
                  <a:lnTo>
                    <a:pt x="0" y="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5" name="Freeform 71" descr="50%"/>
            <p:cNvSpPr>
              <a:spLocks/>
            </p:cNvSpPr>
            <p:nvPr/>
          </p:nvSpPr>
          <p:spPr bwMode="auto">
            <a:xfrm>
              <a:off x="6473026" y="2171106"/>
              <a:ext cx="591727" cy="172641"/>
            </a:xfrm>
            <a:custGeom>
              <a:avLst/>
              <a:gdLst>
                <a:gd name="T0" fmla="*/ 5 w 481"/>
                <a:gd name="T1" fmla="*/ 85 h 145"/>
                <a:gd name="T2" fmla="*/ 20 w 481"/>
                <a:gd name="T3" fmla="*/ 80 h 145"/>
                <a:gd name="T4" fmla="*/ 42 w 481"/>
                <a:gd name="T5" fmla="*/ 73 h 145"/>
                <a:gd name="T6" fmla="*/ 65 w 481"/>
                <a:gd name="T7" fmla="*/ 68 h 145"/>
                <a:gd name="T8" fmla="*/ 89 w 481"/>
                <a:gd name="T9" fmla="*/ 63 h 145"/>
                <a:gd name="T10" fmla="*/ 112 w 481"/>
                <a:gd name="T11" fmla="*/ 58 h 145"/>
                <a:gd name="T12" fmla="*/ 132 w 481"/>
                <a:gd name="T13" fmla="*/ 54 h 145"/>
                <a:gd name="T14" fmla="*/ 143 w 481"/>
                <a:gd name="T15" fmla="*/ 48 h 145"/>
                <a:gd name="T16" fmla="*/ 155 w 481"/>
                <a:gd name="T17" fmla="*/ 37 h 145"/>
                <a:gd name="T18" fmla="*/ 171 w 481"/>
                <a:gd name="T19" fmla="*/ 20 h 145"/>
                <a:gd name="T20" fmla="*/ 188 w 481"/>
                <a:gd name="T21" fmla="*/ 5 h 145"/>
                <a:gd name="T22" fmla="*/ 200 w 481"/>
                <a:gd name="T23" fmla="*/ 17 h 145"/>
                <a:gd name="T24" fmla="*/ 207 w 481"/>
                <a:gd name="T25" fmla="*/ 43 h 145"/>
                <a:gd name="T26" fmla="*/ 211 w 481"/>
                <a:gd name="T27" fmla="*/ 53 h 145"/>
                <a:gd name="T28" fmla="*/ 239 w 481"/>
                <a:gd name="T29" fmla="*/ 57 h 145"/>
                <a:gd name="T30" fmla="*/ 267 w 481"/>
                <a:gd name="T31" fmla="*/ 63 h 145"/>
                <a:gd name="T32" fmla="*/ 288 w 481"/>
                <a:gd name="T33" fmla="*/ 63 h 145"/>
                <a:gd name="T34" fmla="*/ 310 w 481"/>
                <a:gd name="T35" fmla="*/ 58 h 145"/>
                <a:gd name="T36" fmla="*/ 327 w 481"/>
                <a:gd name="T37" fmla="*/ 70 h 145"/>
                <a:gd name="T38" fmla="*/ 344 w 481"/>
                <a:gd name="T39" fmla="*/ 75 h 145"/>
                <a:gd name="T40" fmla="*/ 365 w 481"/>
                <a:gd name="T41" fmla="*/ 75 h 145"/>
                <a:gd name="T42" fmla="*/ 388 w 481"/>
                <a:gd name="T43" fmla="*/ 66 h 145"/>
                <a:gd name="T44" fmla="*/ 413 w 481"/>
                <a:gd name="T45" fmla="*/ 45 h 145"/>
                <a:gd name="T46" fmla="*/ 442 w 481"/>
                <a:gd name="T47" fmla="*/ 20 h 145"/>
                <a:gd name="T48" fmla="*/ 471 w 481"/>
                <a:gd name="T49" fmla="*/ 11 h 145"/>
                <a:gd name="T50" fmla="*/ 472 w 481"/>
                <a:gd name="T51" fmla="*/ 19 h 145"/>
                <a:gd name="T52" fmla="*/ 458 w 481"/>
                <a:gd name="T53" fmla="*/ 37 h 145"/>
                <a:gd name="T54" fmla="*/ 442 w 481"/>
                <a:gd name="T55" fmla="*/ 54 h 145"/>
                <a:gd name="T56" fmla="*/ 431 w 481"/>
                <a:gd name="T57" fmla="*/ 71 h 145"/>
                <a:gd name="T58" fmla="*/ 431 w 481"/>
                <a:gd name="T59" fmla="*/ 89 h 145"/>
                <a:gd name="T60" fmla="*/ 443 w 481"/>
                <a:gd name="T61" fmla="*/ 108 h 145"/>
                <a:gd name="T62" fmla="*/ 457 w 481"/>
                <a:gd name="T63" fmla="*/ 122 h 145"/>
                <a:gd name="T64" fmla="*/ 470 w 481"/>
                <a:gd name="T65" fmla="*/ 133 h 145"/>
                <a:gd name="T66" fmla="*/ 471 w 481"/>
                <a:gd name="T67" fmla="*/ 138 h 145"/>
                <a:gd name="T68" fmla="*/ 453 w 481"/>
                <a:gd name="T69" fmla="*/ 138 h 145"/>
                <a:gd name="T70" fmla="*/ 437 w 481"/>
                <a:gd name="T71" fmla="*/ 134 h 145"/>
                <a:gd name="T72" fmla="*/ 421 w 481"/>
                <a:gd name="T73" fmla="*/ 126 h 145"/>
                <a:gd name="T74" fmla="*/ 396 w 481"/>
                <a:gd name="T75" fmla="*/ 109 h 145"/>
                <a:gd name="T76" fmla="*/ 365 w 481"/>
                <a:gd name="T77" fmla="*/ 107 h 145"/>
                <a:gd name="T78" fmla="*/ 328 w 481"/>
                <a:gd name="T79" fmla="*/ 111 h 145"/>
                <a:gd name="T80" fmla="*/ 304 w 481"/>
                <a:gd name="T81" fmla="*/ 121 h 145"/>
                <a:gd name="T82" fmla="*/ 296 w 481"/>
                <a:gd name="T83" fmla="*/ 132 h 145"/>
                <a:gd name="T84" fmla="*/ 263 w 481"/>
                <a:gd name="T85" fmla="*/ 131 h 145"/>
                <a:gd name="T86" fmla="*/ 235 w 481"/>
                <a:gd name="T87" fmla="*/ 140 h 145"/>
                <a:gd name="T88" fmla="*/ 130 w 481"/>
                <a:gd name="T89" fmla="*/ 144 h 145"/>
                <a:gd name="T90" fmla="*/ 70 w 481"/>
                <a:gd name="T91" fmla="*/ 138 h 145"/>
                <a:gd name="T92" fmla="*/ 17 w 481"/>
                <a:gd name="T93" fmla="*/ 120 h 145"/>
                <a:gd name="T94" fmla="*/ 17 w 481"/>
                <a:gd name="T95" fmla="*/ 110 h 145"/>
                <a:gd name="T96" fmla="*/ 5 w 481"/>
                <a:gd name="T97" fmla="*/ 99 h 145"/>
                <a:gd name="T98" fmla="*/ 1 w 481"/>
                <a:gd name="T99" fmla="*/ 92 h 14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481" h="145">
                  <a:moveTo>
                    <a:pt x="0" y="89"/>
                  </a:moveTo>
                  <a:lnTo>
                    <a:pt x="2" y="88"/>
                  </a:lnTo>
                  <a:lnTo>
                    <a:pt x="5" y="85"/>
                  </a:lnTo>
                  <a:lnTo>
                    <a:pt x="11" y="83"/>
                  </a:lnTo>
                  <a:lnTo>
                    <a:pt x="15" y="82"/>
                  </a:lnTo>
                  <a:lnTo>
                    <a:pt x="20" y="80"/>
                  </a:lnTo>
                  <a:lnTo>
                    <a:pt x="27" y="77"/>
                  </a:lnTo>
                  <a:lnTo>
                    <a:pt x="35" y="75"/>
                  </a:lnTo>
                  <a:lnTo>
                    <a:pt x="42" y="73"/>
                  </a:lnTo>
                  <a:lnTo>
                    <a:pt x="49" y="71"/>
                  </a:lnTo>
                  <a:lnTo>
                    <a:pt x="57" y="69"/>
                  </a:lnTo>
                  <a:lnTo>
                    <a:pt x="65" y="68"/>
                  </a:lnTo>
                  <a:lnTo>
                    <a:pt x="74" y="66"/>
                  </a:lnTo>
                  <a:lnTo>
                    <a:pt x="81" y="64"/>
                  </a:lnTo>
                  <a:lnTo>
                    <a:pt x="89" y="63"/>
                  </a:lnTo>
                  <a:lnTo>
                    <a:pt x="95" y="62"/>
                  </a:lnTo>
                  <a:lnTo>
                    <a:pt x="105" y="60"/>
                  </a:lnTo>
                  <a:lnTo>
                    <a:pt x="112" y="58"/>
                  </a:lnTo>
                  <a:lnTo>
                    <a:pt x="120" y="57"/>
                  </a:lnTo>
                  <a:lnTo>
                    <a:pt x="126" y="56"/>
                  </a:lnTo>
                  <a:lnTo>
                    <a:pt x="132" y="54"/>
                  </a:lnTo>
                  <a:lnTo>
                    <a:pt x="137" y="52"/>
                  </a:lnTo>
                  <a:lnTo>
                    <a:pt x="140" y="51"/>
                  </a:lnTo>
                  <a:lnTo>
                    <a:pt x="143" y="48"/>
                  </a:lnTo>
                  <a:lnTo>
                    <a:pt x="147" y="45"/>
                  </a:lnTo>
                  <a:lnTo>
                    <a:pt x="150" y="41"/>
                  </a:lnTo>
                  <a:lnTo>
                    <a:pt x="155" y="37"/>
                  </a:lnTo>
                  <a:lnTo>
                    <a:pt x="160" y="31"/>
                  </a:lnTo>
                  <a:lnTo>
                    <a:pt x="165" y="25"/>
                  </a:lnTo>
                  <a:lnTo>
                    <a:pt x="171" y="20"/>
                  </a:lnTo>
                  <a:lnTo>
                    <a:pt x="176" y="14"/>
                  </a:lnTo>
                  <a:lnTo>
                    <a:pt x="182" y="10"/>
                  </a:lnTo>
                  <a:lnTo>
                    <a:pt x="188" y="5"/>
                  </a:lnTo>
                  <a:lnTo>
                    <a:pt x="195" y="0"/>
                  </a:lnTo>
                  <a:lnTo>
                    <a:pt x="197" y="9"/>
                  </a:lnTo>
                  <a:lnTo>
                    <a:pt x="200" y="17"/>
                  </a:lnTo>
                  <a:lnTo>
                    <a:pt x="203" y="26"/>
                  </a:lnTo>
                  <a:lnTo>
                    <a:pt x="205" y="35"/>
                  </a:lnTo>
                  <a:lnTo>
                    <a:pt x="207" y="43"/>
                  </a:lnTo>
                  <a:lnTo>
                    <a:pt x="206" y="47"/>
                  </a:lnTo>
                  <a:lnTo>
                    <a:pt x="203" y="51"/>
                  </a:lnTo>
                  <a:lnTo>
                    <a:pt x="211" y="53"/>
                  </a:lnTo>
                  <a:lnTo>
                    <a:pt x="218" y="54"/>
                  </a:lnTo>
                  <a:lnTo>
                    <a:pt x="228" y="56"/>
                  </a:lnTo>
                  <a:lnTo>
                    <a:pt x="239" y="57"/>
                  </a:lnTo>
                  <a:lnTo>
                    <a:pt x="249" y="60"/>
                  </a:lnTo>
                  <a:lnTo>
                    <a:pt x="258" y="61"/>
                  </a:lnTo>
                  <a:lnTo>
                    <a:pt x="267" y="63"/>
                  </a:lnTo>
                  <a:lnTo>
                    <a:pt x="275" y="64"/>
                  </a:lnTo>
                  <a:lnTo>
                    <a:pt x="282" y="64"/>
                  </a:lnTo>
                  <a:lnTo>
                    <a:pt x="288" y="63"/>
                  </a:lnTo>
                  <a:lnTo>
                    <a:pt x="293" y="60"/>
                  </a:lnTo>
                  <a:lnTo>
                    <a:pt x="298" y="56"/>
                  </a:lnTo>
                  <a:lnTo>
                    <a:pt x="310" y="58"/>
                  </a:lnTo>
                  <a:lnTo>
                    <a:pt x="323" y="61"/>
                  </a:lnTo>
                  <a:lnTo>
                    <a:pt x="334" y="63"/>
                  </a:lnTo>
                  <a:lnTo>
                    <a:pt x="327" y="70"/>
                  </a:lnTo>
                  <a:lnTo>
                    <a:pt x="331" y="72"/>
                  </a:lnTo>
                  <a:lnTo>
                    <a:pt x="337" y="74"/>
                  </a:lnTo>
                  <a:lnTo>
                    <a:pt x="344" y="75"/>
                  </a:lnTo>
                  <a:lnTo>
                    <a:pt x="351" y="76"/>
                  </a:lnTo>
                  <a:lnTo>
                    <a:pt x="358" y="76"/>
                  </a:lnTo>
                  <a:lnTo>
                    <a:pt x="365" y="75"/>
                  </a:lnTo>
                  <a:lnTo>
                    <a:pt x="373" y="73"/>
                  </a:lnTo>
                  <a:lnTo>
                    <a:pt x="381" y="71"/>
                  </a:lnTo>
                  <a:lnTo>
                    <a:pt x="388" y="66"/>
                  </a:lnTo>
                  <a:lnTo>
                    <a:pt x="397" y="60"/>
                  </a:lnTo>
                  <a:lnTo>
                    <a:pt x="404" y="54"/>
                  </a:lnTo>
                  <a:lnTo>
                    <a:pt x="413" y="45"/>
                  </a:lnTo>
                  <a:lnTo>
                    <a:pt x="422" y="35"/>
                  </a:lnTo>
                  <a:lnTo>
                    <a:pt x="433" y="27"/>
                  </a:lnTo>
                  <a:lnTo>
                    <a:pt x="442" y="20"/>
                  </a:lnTo>
                  <a:lnTo>
                    <a:pt x="451" y="15"/>
                  </a:lnTo>
                  <a:lnTo>
                    <a:pt x="460" y="12"/>
                  </a:lnTo>
                  <a:lnTo>
                    <a:pt x="471" y="11"/>
                  </a:lnTo>
                  <a:lnTo>
                    <a:pt x="480" y="11"/>
                  </a:lnTo>
                  <a:lnTo>
                    <a:pt x="475" y="15"/>
                  </a:lnTo>
                  <a:lnTo>
                    <a:pt x="472" y="19"/>
                  </a:lnTo>
                  <a:lnTo>
                    <a:pt x="470" y="22"/>
                  </a:lnTo>
                  <a:lnTo>
                    <a:pt x="463" y="32"/>
                  </a:lnTo>
                  <a:lnTo>
                    <a:pt x="458" y="37"/>
                  </a:lnTo>
                  <a:lnTo>
                    <a:pt x="452" y="42"/>
                  </a:lnTo>
                  <a:lnTo>
                    <a:pt x="446" y="48"/>
                  </a:lnTo>
                  <a:lnTo>
                    <a:pt x="442" y="54"/>
                  </a:lnTo>
                  <a:lnTo>
                    <a:pt x="438" y="60"/>
                  </a:lnTo>
                  <a:lnTo>
                    <a:pt x="434" y="66"/>
                  </a:lnTo>
                  <a:lnTo>
                    <a:pt x="431" y="71"/>
                  </a:lnTo>
                  <a:lnTo>
                    <a:pt x="430" y="77"/>
                  </a:lnTo>
                  <a:lnTo>
                    <a:pt x="429" y="83"/>
                  </a:lnTo>
                  <a:lnTo>
                    <a:pt x="431" y="89"/>
                  </a:lnTo>
                  <a:lnTo>
                    <a:pt x="434" y="96"/>
                  </a:lnTo>
                  <a:lnTo>
                    <a:pt x="438" y="102"/>
                  </a:lnTo>
                  <a:lnTo>
                    <a:pt x="443" y="108"/>
                  </a:lnTo>
                  <a:lnTo>
                    <a:pt x="447" y="112"/>
                  </a:lnTo>
                  <a:lnTo>
                    <a:pt x="452" y="116"/>
                  </a:lnTo>
                  <a:lnTo>
                    <a:pt x="457" y="122"/>
                  </a:lnTo>
                  <a:lnTo>
                    <a:pt x="463" y="127"/>
                  </a:lnTo>
                  <a:lnTo>
                    <a:pt x="467" y="130"/>
                  </a:lnTo>
                  <a:lnTo>
                    <a:pt x="470" y="133"/>
                  </a:lnTo>
                  <a:lnTo>
                    <a:pt x="474" y="135"/>
                  </a:lnTo>
                  <a:lnTo>
                    <a:pt x="476" y="138"/>
                  </a:lnTo>
                  <a:lnTo>
                    <a:pt x="471" y="138"/>
                  </a:lnTo>
                  <a:lnTo>
                    <a:pt x="464" y="138"/>
                  </a:lnTo>
                  <a:lnTo>
                    <a:pt x="458" y="138"/>
                  </a:lnTo>
                  <a:lnTo>
                    <a:pt x="453" y="138"/>
                  </a:lnTo>
                  <a:lnTo>
                    <a:pt x="446" y="137"/>
                  </a:lnTo>
                  <a:lnTo>
                    <a:pt x="441" y="135"/>
                  </a:lnTo>
                  <a:lnTo>
                    <a:pt x="437" y="134"/>
                  </a:lnTo>
                  <a:lnTo>
                    <a:pt x="432" y="131"/>
                  </a:lnTo>
                  <a:lnTo>
                    <a:pt x="426" y="129"/>
                  </a:lnTo>
                  <a:lnTo>
                    <a:pt x="421" y="126"/>
                  </a:lnTo>
                  <a:lnTo>
                    <a:pt x="412" y="119"/>
                  </a:lnTo>
                  <a:lnTo>
                    <a:pt x="405" y="115"/>
                  </a:lnTo>
                  <a:lnTo>
                    <a:pt x="396" y="109"/>
                  </a:lnTo>
                  <a:lnTo>
                    <a:pt x="387" y="108"/>
                  </a:lnTo>
                  <a:lnTo>
                    <a:pt x="378" y="108"/>
                  </a:lnTo>
                  <a:lnTo>
                    <a:pt x="365" y="107"/>
                  </a:lnTo>
                  <a:lnTo>
                    <a:pt x="354" y="108"/>
                  </a:lnTo>
                  <a:lnTo>
                    <a:pt x="341" y="109"/>
                  </a:lnTo>
                  <a:lnTo>
                    <a:pt x="328" y="111"/>
                  </a:lnTo>
                  <a:lnTo>
                    <a:pt x="314" y="115"/>
                  </a:lnTo>
                  <a:lnTo>
                    <a:pt x="306" y="118"/>
                  </a:lnTo>
                  <a:lnTo>
                    <a:pt x="304" y="121"/>
                  </a:lnTo>
                  <a:lnTo>
                    <a:pt x="306" y="124"/>
                  </a:lnTo>
                  <a:lnTo>
                    <a:pt x="312" y="128"/>
                  </a:lnTo>
                  <a:lnTo>
                    <a:pt x="296" y="132"/>
                  </a:lnTo>
                  <a:lnTo>
                    <a:pt x="274" y="138"/>
                  </a:lnTo>
                  <a:lnTo>
                    <a:pt x="269" y="134"/>
                  </a:lnTo>
                  <a:lnTo>
                    <a:pt x="263" y="131"/>
                  </a:lnTo>
                  <a:lnTo>
                    <a:pt x="257" y="129"/>
                  </a:lnTo>
                  <a:lnTo>
                    <a:pt x="247" y="129"/>
                  </a:lnTo>
                  <a:lnTo>
                    <a:pt x="235" y="140"/>
                  </a:lnTo>
                  <a:lnTo>
                    <a:pt x="224" y="132"/>
                  </a:lnTo>
                  <a:lnTo>
                    <a:pt x="145" y="143"/>
                  </a:lnTo>
                  <a:lnTo>
                    <a:pt x="130" y="144"/>
                  </a:lnTo>
                  <a:lnTo>
                    <a:pt x="115" y="143"/>
                  </a:lnTo>
                  <a:lnTo>
                    <a:pt x="100" y="141"/>
                  </a:lnTo>
                  <a:lnTo>
                    <a:pt x="70" y="138"/>
                  </a:lnTo>
                  <a:lnTo>
                    <a:pt x="42" y="130"/>
                  </a:lnTo>
                  <a:lnTo>
                    <a:pt x="27" y="125"/>
                  </a:lnTo>
                  <a:lnTo>
                    <a:pt x="17" y="120"/>
                  </a:lnTo>
                  <a:lnTo>
                    <a:pt x="28" y="117"/>
                  </a:lnTo>
                  <a:lnTo>
                    <a:pt x="21" y="113"/>
                  </a:lnTo>
                  <a:lnTo>
                    <a:pt x="17" y="110"/>
                  </a:lnTo>
                  <a:lnTo>
                    <a:pt x="9" y="104"/>
                  </a:lnTo>
                  <a:lnTo>
                    <a:pt x="8" y="102"/>
                  </a:lnTo>
                  <a:lnTo>
                    <a:pt x="5" y="99"/>
                  </a:lnTo>
                  <a:lnTo>
                    <a:pt x="4" y="97"/>
                  </a:lnTo>
                  <a:lnTo>
                    <a:pt x="2" y="94"/>
                  </a:lnTo>
                  <a:lnTo>
                    <a:pt x="1" y="92"/>
                  </a:lnTo>
                  <a:lnTo>
                    <a:pt x="0" y="89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206" name="Group 72"/>
            <p:cNvGrpSpPr>
              <a:grpSpLocks/>
            </p:cNvGrpSpPr>
            <p:nvPr/>
          </p:nvGrpSpPr>
          <p:grpSpPr bwMode="auto">
            <a:xfrm>
              <a:off x="6522234" y="2280644"/>
              <a:ext cx="8611" cy="8334"/>
              <a:chOff x="4253" y="2349"/>
              <a:chExt cx="7" cy="7"/>
            </a:xfrm>
          </p:grpSpPr>
          <p:sp>
            <p:nvSpPr>
              <p:cNvPr id="7721" name="Oval 73" descr="50%"/>
              <p:cNvSpPr>
                <a:spLocks noChangeArrowheads="1"/>
              </p:cNvSpPr>
              <p:nvPr/>
            </p:nvSpPr>
            <p:spPr bwMode="auto">
              <a:xfrm>
                <a:off x="4253" y="2349"/>
                <a:ext cx="7" cy="7"/>
              </a:xfrm>
              <a:prstGeom prst="ellipse">
                <a:avLst/>
              </a:pr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22" name="Arc 74" descr="50%"/>
              <p:cNvSpPr>
                <a:spLocks/>
              </p:cNvSpPr>
              <p:nvPr/>
            </p:nvSpPr>
            <p:spPr bwMode="auto">
              <a:xfrm>
                <a:off x="4257" y="2352"/>
                <a:ext cx="2" cy="2"/>
              </a:xfrm>
              <a:custGeom>
                <a:avLst/>
                <a:gdLst>
                  <a:gd name="T0" fmla="*/ 1 w 43200"/>
                  <a:gd name="T1" fmla="*/ 0 h 43200"/>
                  <a:gd name="T2" fmla="*/ 0 w 43200"/>
                  <a:gd name="T3" fmla="*/ 0 h 43200"/>
                  <a:gd name="T4" fmla="*/ 1 w 43200"/>
                  <a:gd name="T5" fmla="*/ 1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5871"/>
                      <a:pt x="2275" y="10377"/>
                      <a:pt x="6326" y="6326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5871"/>
                      <a:pt x="2275" y="10377"/>
                      <a:pt x="6326" y="6326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207" name="Group 75"/>
            <p:cNvGrpSpPr>
              <a:grpSpLocks/>
            </p:cNvGrpSpPr>
            <p:nvPr/>
          </p:nvGrpSpPr>
          <p:grpSpPr bwMode="auto">
            <a:xfrm>
              <a:off x="6555450" y="2299694"/>
              <a:ext cx="36906" cy="15478"/>
              <a:chOff x="4280" y="2365"/>
              <a:chExt cx="30" cy="13"/>
            </a:xfrm>
          </p:grpSpPr>
          <p:sp>
            <p:nvSpPr>
              <p:cNvPr id="7716" name="Arc 76" descr="50%"/>
              <p:cNvSpPr>
                <a:spLocks/>
              </p:cNvSpPr>
              <p:nvPr/>
            </p:nvSpPr>
            <p:spPr bwMode="auto">
              <a:xfrm>
                <a:off x="4288" y="2365"/>
                <a:ext cx="2" cy="13"/>
              </a:xfrm>
              <a:custGeom>
                <a:avLst/>
                <a:gdLst>
                  <a:gd name="T0" fmla="*/ 0 w 35746"/>
                  <a:gd name="T1" fmla="*/ 1 h 43200"/>
                  <a:gd name="T2" fmla="*/ 0 w 35746"/>
                  <a:gd name="T3" fmla="*/ 11 h 43200"/>
                  <a:gd name="T4" fmla="*/ 1 w 35746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746" h="43200" fill="none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</a:path>
                  <a:path w="35746" h="43200" stroke="0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  <a:lnTo>
                      <a:pt x="14146" y="21600"/>
                    </a:lnTo>
                    <a:lnTo>
                      <a:pt x="2777" y="323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17" name="Arc 77" descr="50%"/>
              <p:cNvSpPr>
                <a:spLocks/>
              </p:cNvSpPr>
              <p:nvPr/>
            </p:nvSpPr>
            <p:spPr bwMode="auto">
              <a:xfrm>
                <a:off x="4280" y="2365"/>
                <a:ext cx="3" cy="13"/>
              </a:xfrm>
              <a:custGeom>
                <a:avLst/>
                <a:gdLst>
                  <a:gd name="T0" fmla="*/ 0 w 33372"/>
                  <a:gd name="T1" fmla="*/ 1 h 43200"/>
                  <a:gd name="T2" fmla="*/ 0 w 33372"/>
                  <a:gd name="T3" fmla="*/ 12 h 43200"/>
                  <a:gd name="T4" fmla="*/ 1 w 33372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372" h="43200" fill="none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</a:path>
                  <a:path w="33372" h="43200" stroke="0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  <a:lnTo>
                      <a:pt x="11772" y="21600"/>
                    </a:lnTo>
                    <a:lnTo>
                      <a:pt x="2675" y="200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18" name="Arc 78" descr="50%"/>
              <p:cNvSpPr>
                <a:spLocks/>
              </p:cNvSpPr>
              <p:nvPr/>
            </p:nvSpPr>
            <p:spPr bwMode="auto">
              <a:xfrm>
                <a:off x="4293" y="2365"/>
                <a:ext cx="3" cy="13"/>
              </a:xfrm>
              <a:custGeom>
                <a:avLst/>
                <a:gdLst>
                  <a:gd name="T0" fmla="*/ 0 w 33372"/>
                  <a:gd name="T1" fmla="*/ 1 h 43200"/>
                  <a:gd name="T2" fmla="*/ 0 w 33372"/>
                  <a:gd name="T3" fmla="*/ 12 h 43200"/>
                  <a:gd name="T4" fmla="*/ 1 w 33372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372" h="43200" fill="none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</a:path>
                  <a:path w="33372" h="43200" stroke="0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  <a:lnTo>
                      <a:pt x="11772" y="21600"/>
                    </a:lnTo>
                    <a:lnTo>
                      <a:pt x="2675" y="200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19" name="Arc 79" descr="50%"/>
              <p:cNvSpPr>
                <a:spLocks/>
              </p:cNvSpPr>
              <p:nvPr/>
            </p:nvSpPr>
            <p:spPr bwMode="auto">
              <a:xfrm>
                <a:off x="4301" y="2365"/>
                <a:ext cx="2" cy="13"/>
              </a:xfrm>
              <a:custGeom>
                <a:avLst/>
                <a:gdLst>
                  <a:gd name="T0" fmla="*/ 0 w 35746"/>
                  <a:gd name="T1" fmla="*/ 1 h 43200"/>
                  <a:gd name="T2" fmla="*/ 0 w 35746"/>
                  <a:gd name="T3" fmla="*/ 11 h 43200"/>
                  <a:gd name="T4" fmla="*/ 1 w 35746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746" h="43200" fill="none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</a:path>
                  <a:path w="35746" h="43200" stroke="0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  <a:lnTo>
                      <a:pt x="14146" y="21600"/>
                    </a:lnTo>
                    <a:lnTo>
                      <a:pt x="2777" y="323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20" name="Arc 80" descr="50%"/>
              <p:cNvSpPr>
                <a:spLocks/>
              </p:cNvSpPr>
              <p:nvPr/>
            </p:nvSpPr>
            <p:spPr bwMode="auto">
              <a:xfrm>
                <a:off x="4308" y="2365"/>
                <a:ext cx="2" cy="13"/>
              </a:xfrm>
              <a:custGeom>
                <a:avLst/>
                <a:gdLst>
                  <a:gd name="T0" fmla="*/ 0 w 35746"/>
                  <a:gd name="T1" fmla="*/ 1 h 43200"/>
                  <a:gd name="T2" fmla="*/ 0 w 35746"/>
                  <a:gd name="T3" fmla="*/ 11 h 43200"/>
                  <a:gd name="T4" fmla="*/ 1 w 35746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746" h="43200" fill="none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</a:path>
                  <a:path w="35746" h="43200" stroke="0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  <a:lnTo>
                      <a:pt x="14146" y="21600"/>
                    </a:lnTo>
                    <a:lnTo>
                      <a:pt x="2777" y="323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208" name="Freeform 81" descr="50%"/>
            <p:cNvSpPr>
              <a:spLocks/>
            </p:cNvSpPr>
            <p:nvPr/>
          </p:nvSpPr>
          <p:spPr bwMode="auto">
            <a:xfrm>
              <a:off x="6474256" y="2172297"/>
              <a:ext cx="579425" cy="108347"/>
            </a:xfrm>
            <a:custGeom>
              <a:avLst/>
              <a:gdLst>
                <a:gd name="T0" fmla="*/ 10 w 471"/>
                <a:gd name="T1" fmla="*/ 76 h 91"/>
                <a:gd name="T2" fmla="*/ 32 w 471"/>
                <a:gd name="T3" fmla="*/ 69 h 91"/>
                <a:gd name="T4" fmla="*/ 63 w 471"/>
                <a:gd name="T5" fmla="*/ 62 h 91"/>
                <a:gd name="T6" fmla="*/ 94 w 471"/>
                <a:gd name="T7" fmla="*/ 57 h 91"/>
                <a:gd name="T8" fmla="*/ 125 w 471"/>
                <a:gd name="T9" fmla="*/ 51 h 91"/>
                <a:gd name="T10" fmla="*/ 142 w 471"/>
                <a:gd name="T11" fmla="*/ 43 h 91"/>
                <a:gd name="T12" fmla="*/ 157 w 471"/>
                <a:gd name="T13" fmla="*/ 28 h 91"/>
                <a:gd name="T14" fmla="*/ 180 w 471"/>
                <a:gd name="T15" fmla="*/ 8 h 91"/>
                <a:gd name="T16" fmla="*/ 196 w 471"/>
                <a:gd name="T17" fmla="*/ 17 h 91"/>
                <a:gd name="T18" fmla="*/ 203 w 471"/>
                <a:gd name="T19" fmla="*/ 39 h 91"/>
                <a:gd name="T20" fmla="*/ 214 w 471"/>
                <a:gd name="T21" fmla="*/ 50 h 91"/>
                <a:gd name="T22" fmla="*/ 253 w 471"/>
                <a:gd name="T23" fmla="*/ 56 h 91"/>
                <a:gd name="T24" fmla="*/ 282 w 471"/>
                <a:gd name="T25" fmla="*/ 58 h 91"/>
                <a:gd name="T26" fmla="*/ 317 w 471"/>
                <a:gd name="T27" fmla="*/ 56 h 91"/>
                <a:gd name="T28" fmla="*/ 331 w 471"/>
                <a:gd name="T29" fmla="*/ 68 h 91"/>
                <a:gd name="T30" fmla="*/ 359 w 471"/>
                <a:gd name="T31" fmla="*/ 69 h 91"/>
                <a:gd name="T32" fmla="*/ 390 w 471"/>
                <a:gd name="T33" fmla="*/ 55 h 91"/>
                <a:gd name="T34" fmla="*/ 415 w 471"/>
                <a:gd name="T35" fmla="*/ 32 h 91"/>
                <a:gd name="T36" fmla="*/ 435 w 471"/>
                <a:gd name="T37" fmla="*/ 18 h 91"/>
                <a:gd name="T38" fmla="*/ 452 w 471"/>
                <a:gd name="T39" fmla="*/ 11 h 91"/>
                <a:gd name="T40" fmla="*/ 467 w 471"/>
                <a:gd name="T41" fmla="*/ 13 h 91"/>
                <a:gd name="T42" fmla="*/ 455 w 471"/>
                <a:gd name="T43" fmla="*/ 28 h 91"/>
                <a:gd name="T44" fmla="*/ 439 w 471"/>
                <a:gd name="T45" fmla="*/ 42 h 91"/>
                <a:gd name="T46" fmla="*/ 430 w 471"/>
                <a:gd name="T47" fmla="*/ 54 h 91"/>
                <a:gd name="T48" fmla="*/ 423 w 471"/>
                <a:gd name="T49" fmla="*/ 64 h 91"/>
                <a:gd name="T50" fmla="*/ 421 w 471"/>
                <a:gd name="T51" fmla="*/ 76 h 91"/>
                <a:gd name="T52" fmla="*/ 408 w 471"/>
                <a:gd name="T53" fmla="*/ 73 h 91"/>
                <a:gd name="T54" fmla="*/ 395 w 471"/>
                <a:gd name="T55" fmla="*/ 77 h 91"/>
                <a:gd name="T56" fmla="*/ 382 w 471"/>
                <a:gd name="T57" fmla="*/ 76 h 91"/>
                <a:gd name="T58" fmla="*/ 366 w 471"/>
                <a:gd name="T59" fmla="*/ 77 h 91"/>
                <a:gd name="T60" fmla="*/ 350 w 471"/>
                <a:gd name="T61" fmla="*/ 75 h 91"/>
                <a:gd name="T62" fmla="*/ 332 w 471"/>
                <a:gd name="T63" fmla="*/ 76 h 91"/>
                <a:gd name="T64" fmla="*/ 314 w 471"/>
                <a:gd name="T65" fmla="*/ 79 h 91"/>
                <a:gd name="T66" fmla="*/ 296 w 471"/>
                <a:gd name="T67" fmla="*/ 80 h 91"/>
                <a:gd name="T68" fmla="*/ 278 w 471"/>
                <a:gd name="T69" fmla="*/ 80 h 91"/>
                <a:gd name="T70" fmla="*/ 262 w 471"/>
                <a:gd name="T71" fmla="*/ 82 h 91"/>
                <a:gd name="T72" fmla="*/ 245 w 471"/>
                <a:gd name="T73" fmla="*/ 85 h 91"/>
                <a:gd name="T74" fmla="*/ 224 w 471"/>
                <a:gd name="T75" fmla="*/ 85 h 91"/>
                <a:gd name="T76" fmla="*/ 206 w 471"/>
                <a:gd name="T77" fmla="*/ 86 h 91"/>
                <a:gd name="T78" fmla="*/ 188 w 471"/>
                <a:gd name="T79" fmla="*/ 84 h 91"/>
                <a:gd name="T80" fmla="*/ 171 w 471"/>
                <a:gd name="T81" fmla="*/ 85 h 91"/>
                <a:gd name="T82" fmla="*/ 156 w 471"/>
                <a:gd name="T83" fmla="*/ 84 h 91"/>
                <a:gd name="T84" fmla="*/ 139 w 471"/>
                <a:gd name="T85" fmla="*/ 85 h 91"/>
                <a:gd name="T86" fmla="*/ 120 w 471"/>
                <a:gd name="T87" fmla="*/ 86 h 91"/>
                <a:gd name="T88" fmla="*/ 96 w 471"/>
                <a:gd name="T89" fmla="*/ 90 h 91"/>
                <a:gd name="T90" fmla="*/ 69 w 471"/>
                <a:gd name="T91" fmla="*/ 90 h 91"/>
                <a:gd name="T92" fmla="*/ 46 w 471"/>
                <a:gd name="T93" fmla="*/ 87 h 91"/>
                <a:gd name="T94" fmla="*/ 25 w 471"/>
                <a:gd name="T95" fmla="*/ 88 h 91"/>
                <a:gd name="T96" fmla="*/ 5 w 471"/>
                <a:gd name="T97" fmla="*/ 84 h 9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471" h="91">
                  <a:moveTo>
                    <a:pt x="0" y="82"/>
                  </a:moveTo>
                  <a:lnTo>
                    <a:pt x="3" y="80"/>
                  </a:lnTo>
                  <a:lnTo>
                    <a:pt x="6" y="78"/>
                  </a:lnTo>
                  <a:lnTo>
                    <a:pt x="10" y="76"/>
                  </a:lnTo>
                  <a:lnTo>
                    <a:pt x="14" y="75"/>
                  </a:lnTo>
                  <a:lnTo>
                    <a:pt x="19" y="73"/>
                  </a:lnTo>
                  <a:lnTo>
                    <a:pt x="27" y="72"/>
                  </a:lnTo>
                  <a:lnTo>
                    <a:pt x="32" y="69"/>
                  </a:lnTo>
                  <a:lnTo>
                    <a:pt x="39" y="67"/>
                  </a:lnTo>
                  <a:lnTo>
                    <a:pt x="47" y="65"/>
                  </a:lnTo>
                  <a:lnTo>
                    <a:pt x="55" y="63"/>
                  </a:lnTo>
                  <a:lnTo>
                    <a:pt x="63" y="62"/>
                  </a:lnTo>
                  <a:lnTo>
                    <a:pt x="71" y="61"/>
                  </a:lnTo>
                  <a:lnTo>
                    <a:pt x="79" y="60"/>
                  </a:lnTo>
                  <a:lnTo>
                    <a:pt x="87" y="58"/>
                  </a:lnTo>
                  <a:lnTo>
                    <a:pt x="94" y="57"/>
                  </a:lnTo>
                  <a:lnTo>
                    <a:pt x="101" y="55"/>
                  </a:lnTo>
                  <a:lnTo>
                    <a:pt x="110" y="54"/>
                  </a:lnTo>
                  <a:lnTo>
                    <a:pt x="117" y="52"/>
                  </a:lnTo>
                  <a:lnTo>
                    <a:pt x="125" y="51"/>
                  </a:lnTo>
                  <a:lnTo>
                    <a:pt x="130" y="50"/>
                  </a:lnTo>
                  <a:lnTo>
                    <a:pt x="135" y="49"/>
                  </a:lnTo>
                  <a:lnTo>
                    <a:pt x="139" y="46"/>
                  </a:lnTo>
                  <a:lnTo>
                    <a:pt x="142" y="43"/>
                  </a:lnTo>
                  <a:lnTo>
                    <a:pt x="145" y="40"/>
                  </a:lnTo>
                  <a:lnTo>
                    <a:pt x="147" y="38"/>
                  </a:lnTo>
                  <a:lnTo>
                    <a:pt x="152" y="33"/>
                  </a:lnTo>
                  <a:lnTo>
                    <a:pt x="157" y="28"/>
                  </a:lnTo>
                  <a:lnTo>
                    <a:pt x="162" y="23"/>
                  </a:lnTo>
                  <a:lnTo>
                    <a:pt x="168" y="18"/>
                  </a:lnTo>
                  <a:lnTo>
                    <a:pt x="173" y="13"/>
                  </a:lnTo>
                  <a:lnTo>
                    <a:pt x="180" y="8"/>
                  </a:lnTo>
                  <a:lnTo>
                    <a:pt x="186" y="4"/>
                  </a:lnTo>
                  <a:lnTo>
                    <a:pt x="191" y="0"/>
                  </a:lnTo>
                  <a:lnTo>
                    <a:pt x="193" y="8"/>
                  </a:lnTo>
                  <a:lnTo>
                    <a:pt x="196" y="17"/>
                  </a:lnTo>
                  <a:lnTo>
                    <a:pt x="199" y="24"/>
                  </a:lnTo>
                  <a:lnTo>
                    <a:pt x="201" y="32"/>
                  </a:lnTo>
                  <a:lnTo>
                    <a:pt x="202" y="36"/>
                  </a:lnTo>
                  <a:lnTo>
                    <a:pt x="203" y="39"/>
                  </a:lnTo>
                  <a:lnTo>
                    <a:pt x="202" y="43"/>
                  </a:lnTo>
                  <a:lnTo>
                    <a:pt x="199" y="47"/>
                  </a:lnTo>
                  <a:lnTo>
                    <a:pt x="206" y="49"/>
                  </a:lnTo>
                  <a:lnTo>
                    <a:pt x="214" y="50"/>
                  </a:lnTo>
                  <a:lnTo>
                    <a:pt x="224" y="51"/>
                  </a:lnTo>
                  <a:lnTo>
                    <a:pt x="234" y="53"/>
                  </a:lnTo>
                  <a:lnTo>
                    <a:pt x="245" y="55"/>
                  </a:lnTo>
                  <a:lnTo>
                    <a:pt x="253" y="56"/>
                  </a:lnTo>
                  <a:lnTo>
                    <a:pt x="262" y="58"/>
                  </a:lnTo>
                  <a:lnTo>
                    <a:pt x="269" y="59"/>
                  </a:lnTo>
                  <a:lnTo>
                    <a:pt x="276" y="59"/>
                  </a:lnTo>
                  <a:lnTo>
                    <a:pt x="282" y="58"/>
                  </a:lnTo>
                  <a:lnTo>
                    <a:pt x="288" y="55"/>
                  </a:lnTo>
                  <a:lnTo>
                    <a:pt x="293" y="51"/>
                  </a:lnTo>
                  <a:lnTo>
                    <a:pt x="305" y="53"/>
                  </a:lnTo>
                  <a:lnTo>
                    <a:pt x="317" y="56"/>
                  </a:lnTo>
                  <a:lnTo>
                    <a:pt x="326" y="58"/>
                  </a:lnTo>
                  <a:lnTo>
                    <a:pt x="321" y="64"/>
                  </a:lnTo>
                  <a:lnTo>
                    <a:pt x="325" y="66"/>
                  </a:lnTo>
                  <a:lnTo>
                    <a:pt x="331" y="68"/>
                  </a:lnTo>
                  <a:lnTo>
                    <a:pt x="338" y="69"/>
                  </a:lnTo>
                  <a:lnTo>
                    <a:pt x="345" y="70"/>
                  </a:lnTo>
                  <a:lnTo>
                    <a:pt x="352" y="70"/>
                  </a:lnTo>
                  <a:lnTo>
                    <a:pt x="359" y="69"/>
                  </a:lnTo>
                  <a:lnTo>
                    <a:pt x="366" y="68"/>
                  </a:lnTo>
                  <a:lnTo>
                    <a:pt x="374" y="65"/>
                  </a:lnTo>
                  <a:lnTo>
                    <a:pt x="382" y="61"/>
                  </a:lnTo>
                  <a:lnTo>
                    <a:pt x="390" y="55"/>
                  </a:lnTo>
                  <a:lnTo>
                    <a:pt x="397" y="49"/>
                  </a:lnTo>
                  <a:lnTo>
                    <a:pt x="405" y="41"/>
                  </a:lnTo>
                  <a:lnTo>
                    <a:pt x="409" y="38"/>
                  </a:lnTo>
                  <a:lnTo>
                    <a:pt x="415" y="32"/>
                  </a:lnTo>
                  <a:lnTo>
                    <a:pt x="420" y="28"/>
                  </a:lnTo>
                  <a:lnTo>
                    <a:pt x="425" y="25"/>
                  </a:lnTo>
                  <a:lnTo>
                    <a:pt x="430" y="21"/>
                  </a:lnTo>
                  <a:lnTo>
                    <a:pt x="435" y="18"/>
                  </a:lnTo>
                  <a:lnTo>
                    <a:pt x="440" y="17"/>
                  </a:lnTo>
                  <a:lnTo>
                    <a:pt x="443" y="14"/>
                  </a:lnTo>
                  <a:lnTo>
                    <a:pt x="447" y="13"/>
                  </a:lnTo>
                  <a:lnTo>
                    <a:pt x="452" y="11"/>
                  </a:lnTo>
                  <a:lnTo>
                    <a:pt x="456" y="11"/>
                  </a:lnTo>
                  <a:lnTo>
                    <a:pt x="462" y="10"/>
                  </a:lnTo>
                  <a:lnTo>
                    <a:pt x="470" y="10"/>
                  </a:lnTo>
                  <a:lnTo>
                    <a:pt x="467" y="13"/>
                  </a:lnTo>
                  <a:lnTo>
                    <a:pt x="463" y="17"/>
                  </a:lnTo>
                  <a:lnTo>
                    <a:pt x="461" y="19"/>
                  </a:lnTo>
                  <a:lnTo>
                    <a:pt x="458" y="24"/>
                  </a:lnTo>
                  <a:lnTo>
                    <a:pt x="455" y="28"/>
                  </a:lnTo>
                  <a:lnTo>
                    <a:pt x="450" y="32"/>
                  </a:lnTo>
                  <a:lnTo>
                    <a:pt x="444" y="37"/>
                  </a:lnTo>
                  <a:lnTo>
                    <a:pt x="441" y="39"/>
                  </a:lnTo>
                  <a:lnTo>
                    <a:pt x="439" y="42"/>
                  </a:lnTo>
                  <a:lnTo>
                    <a:pt x="436" y="46"/>
                  </a:lnTo>
                  <a:lnTo>
                    <a:pt x="434" y="49"/>
                  </a:lnTo>
                  <a:lnTo>
                    <a:pt x="432" y="51"/>
                  </a:lnTo>
                  <a:lnTo>
                    <a:pt x="430" y="54"/>
                  </a:lnTo>
                  <a:lnTo>
                    <a:pt x="428" y="57"/>
                  </a:lnTo>
                  <a:lnTo>
                    <a:pt x="426" y="60"/>
                  </a:lnTo>
                  <a:lnTo>
                    <a:pt x="425" y="62"/>
                  </a:lnTo>
                  <a:lnTo>
                    <a:pt x="423" y="64"/>
                  </a:lnTo>
                  <a:lnTo>
                    <a:pt x="422" y="68"/>
                  </a:lnTo>
                  <a:lnTo>
                    <a:pt x="422" y="70"/>
                  </a:lnTo>
                  <a:lnTo>
                    <a:pt x="421" y="73"/>
                  </a:lnTo>
                  <a:lnTo>
                    <a:pt x="421" y="76"/>
                  </a:lnTo>
                  <a:lnTo>
                    <a:pt x="418" y="74"/>
                  </a:lnTo>
                  <a:lnTo>
                    <a:pt x="414" y="73"/>
                  </a:lnTo>
                  <a:lnTo>
                    <a:pt x="411" y="73"/>
                  </a:lnTo>
                  <a:lnTo>
                    <a:pt x="408" y="73"/>
                  </a:lnTo>
                  <a:lnTo>
                    <a:pt x="404" y="74"/>
                  </a:lnTo>
                  <a:lnTo>
                    <a:pt x="402" y="76"/>
                  </a:lnTo>
                  <a:lnTo>
                    <a:pt x="399" y="76"/>
                  </a:lnTo>
                  <a:lnTo>
                    <a:pt x="395" y="77"/>
                  </a:lnTo>
                  <a:lnTo>
                    <a:pt x="392" y="78"/>
                  </a:lnTo>
                  <a:lnTo>
                    <a:pt x="388" y="77"/>
                  </a:lnTo>
                  <a:lnTo>
                    <a:pt x="384" y="77"/>
                  </a:lnTo>
                  <a:lnTo>
                    <a:pt x="382" y="76"/>
                  </a:lnTo>
                  <a:lnTo>
                    <a:pt x="379" y="75"/>
                  </a:lnTo>
                  <a:lnTo>
                    <a:pt x="375" y="75"/>
                  </a:lnTo>
                  <a:lnTo>
                    <a:pt x="371" y="76"/>
                  </a:lnTo>
                  <a:lnTo>
                    <a:pt x="366" y="77"/>
                  </a:lnTo>
                  <a:lnTo>
                    <a:pt x="363" y="76"/>
                  </a:lnTo>
                  <a:lnTo>
                    <a:pt x="359" y="76"/>
                  </a:lnTo>
                  <a:lnTo>
                    <a:pt x="355" y="75"/>
                  </a:lnTo>
                  <a:lnTo>
                    <a:pt x="350" y="75"/>
                  </a:lnTo>
                  <a:lnTo>
                    <a:pt x="347" y="76"/>
                  </a:lnTo>
                  <a:lnTo>
                    <a:pt x="341" y="77"/>
                  </a:lnTo>
                  <a:lnTo>
                    <a:pt x="337" y="77"/>
                  </a:lnTo>
                  <a:lnTo>
                    <a:pt x="332" y="76"/>
                  </a:lnTo>
                  <a:lnTo>
                    <a:pt x="328" y="76"/>
                  </a:lnTo>
                  <a:lnTo>
                    <a:pt x="323" y="77"/>
                  </a:lnTo>
                  <a:lnTo>
                    <a:pt x="320" y="78"/>
                  </a:lnTo>
                  <a:lnTo>
                    <a:pt x="314" y="79"/>
                  </a:lnTo>
                  <a:lnTo>
                    <a:pt x="310" y="80"/>
                  </a:lnTo>
                  <a:lnTo>
                    <a:pt x="305" y="80"/>
                  </a:lnTo>
                  <a:lnTo>
                    <a:pt x="301" y="80"/>
                  </a:lnTo>
                  <a:lnTo>
                    <a:pt x="296" y="80"/>
                  </a:lnTo>
                  <a:lnTo>
                    <a:pt x="291" y="78"/>
                  </a:lnTo>
                  <a:lnTo>
                    <a:pt x="286" y="80"/>
                  </a:lnTo>
                  <a:lnTo>
                    <a:pt x="282" y="80"/>
                  </a:lnTo>
                  <a:lnTo>
                    <a:pt x="278" y="80"/>
                  </a:lnTo>
                  <a:lnTo>
                    <a:pt x="274" y="80"/>
                  </a:lnTo>
                  <a:lnTo>
                    <a:pt x="270" y="80"/>
                  </a:lnTo>
                  <a:lnTo>
                    <a:pt x="266" y="80"/>
                  </a:lnTo>
                  <a:lnTo>
                    <a:pt x="262" y="82"/>
                  </a:lnTo>
                  <a:lnTo>
                    <a:pt x="259" y="83"/>
                  </a:lnTo>
                  <a:lnTo>
                    <a:pt x="254" y="84"/>
                  </a:lnTo>
                  <a:lnTo>
                    <a:pt x="250" y="84"/>
                  </a:lnTo>
                  <a:lnTo>
                    <a:pt x="245" y="85"/>
                  </a:lnTo>
                  <a:lnTo>
                    <a:pt x="240" y="86"/>
                  </a:lnTo>
                  <a:lnTo>
                    <a:pt x="234" y="85"/>
                  </a:lnTo>
                  <a:lnTo>
                    <a:pt x="228" y="85"/>
                  </a:lnTo>
                  <a:lnTo>
                    <a:pt x="224" y="85"/>
                  </a:lnTo>
                  <a:lnTo>
                    <a:pt x="218" y="86"/>
                  </a:lnTo>
                  <a:lnTo>
                    <a:pt x="214" y="86"/>
                  </a:lnTo>
                  <a:lnTo>
                    <a:pt x="210" y="86"/>
                  </a:lnTo>
                  <a:lnTo>
                    <a:pt x="206" y="86"/>
                  </a:lnTo>
                  <a:lnTo>
                    <a:pt x="201" y="86"/>
                  </a:lnTo>
                  <a:lnTo>
                    <a:pt x="196" y="84"/>
                  </a:lnTo>
                  <a:lnTo>
                    <a:pt x="192" y="84"/>
                  </a:lnTo>
                  <a:lnTo>
                    <a:pt x="188" y="84"/>
                  </a:lnTo>
                  <a:lnTo>
                    <a:pt x="184" y="84"/>
                  </a:lnTo>
                  <a:lnTo>
                    <a:pt x="180" y="84"/>
                  </a:lnTo>
                  <a:lnTo>
                    <a:pt x="175" y="84"/>
                  </a:lnTo>
                  <a:lnTo>
                    <a:pt x="171" y="85"/>
                  </a:lnTo>
                  <a:lnTo>
                    <a:pt x="167" y="85"/>
                  </a:lnTo>
                  <a:lnTo>
                    <a:pt x="164" y="84"/>
                  </a:lnTo>
                  <a:lnTo>
                    <a:pt x="160" y="84"/>
                  </a:lnTo>
                  <a:lnTo>
                    <a:pt x="156" y="84"/>
                  </a:lnTo>
                  <a:lnTo>
                    <a:pt x="152" y="84"/>
                  </a:lnTo>
                  <a:lnTo>
                    <a:pt x="149" y="84"/>
                  </a:lnTo>
                  <a:lnTo>
                    <a:pt x="145" y="84"/>
                  </a:lnTo>
                  <a:lnTo>
                    <a:pt x="139" y="85"/>
                  </a:lnTo>
                  <a:lnTo>
                    <a:pt x="135" y="85"/>
                  </a:lnTo>
                  <a:lnTo>
                    <a:pt x="130" y="84"/>
                  </a:lnTo>
                  <a:lnTo>
                    <a:pt x="125" y="85"/>
                  </a:lnTo>
                  <a:lnTo>
                    <a:pt x="120" y="86"/>
                  </a:lnTo>
                  <a:lnTo>
                    <a:pt x="116" y="88"/>
                  </a:lnTo>
                  <a:lnTo>
                    <a:pt x="111" y="89"/>
                  </a:lnTo>
                  <a:lnTo>
                    <a:pt x="104" y="90"/>
                  </a:lnTo>
                  <a:lnTo>
                    <a:pt x="96" y="90"/>
                  </a:lnTo>
                  <a:lnTo>
                    <a:pt x="89" y="90"/>
                  </a:lnTo>
                  <a:lnTo>
                    <a:pt x="82" y="90"/>
                  </a:lnTo>
                  <a:lnTo>
                    <a:pt x="74" y="90"/>
                  </a:lnTo>
                  <a:lnTo>
                    <a:pt x="69" y="90"/>
                  </a:lnTo>
                  <a:lnTo>
                    <a:pt x="65" y="90"/>
                  </a:lnTo>
                  <a:lnTo>
                    <a:pt x="60" y="90"/>
                  </a:lnTo>
                  <a:lnTo>
                    <a:pt x="54" y="90"/>
                  </a:lnTo>
                  <a:lnTo>
                    <a:pt x="46" y="87"/>
                  </a:lnTo>
                  <a:lnTo>
                    <a:pt x="40" y="87"/>
                  </a:lnTo>
                  <a:lnTo>
                    <a:pt x="35" y="88"/>
                  </a:lnTo>
                  <a:lnTo>
                    <a:pt x="29" y="88"/>
                  </a:lnTo>
                  <a:lnTo>
                    <a:pt x="25" y="88"/>
                  </a:lnTo>
                  <a:lnTo>
                    <a:pt x="20" y="87"/>
                  </a:lnTo>
                  <a:lnTo>
                    <a:pt x="15" y="86"/>
                  </a:lnTo>
                  <a:lnTo>
                    <a:pt x="10" y="85"/>
                  </a:lnTo>
                  <a:lnTo>
                    <a:pt x="5" y="84"/>
                  </a:lnTo>
                  <a:lnTo>
                    <a:pt x="0" y="83"/>
                  </a:lnTo>
                  <a:lnTo>
                    <a:pt x="0" y="82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209" name="Group 82"/>
            <p:cNvGrpSpPr>
              <a:grpSpLocks/>
            </p:cNvGrpSpPr>
            <p:nvPr/>
          </p:nvGrpSpPr>
          <p:grpSpPr bwMode="auto">
            <a:xfrm>
              <a:off x="6592356" y="2309219"/>
              <a:ext cx="84884" cy="60722"/>
              <a:chOff x="4310" y="2373"/>
              <a:chExt cx="69" cy="51"/>
            </a:xfrm>
          </p:grpSpPr>
          <p:sp>
            <p:nvSpPr>
              <p:cNvPr id="7714" name="Freeform 83" descr="50%"/>
              <p:cNvSpPr>
                <a:spLocks/>
              </p:cNvSpPr>
              <p:nvPr/>
            </p:nvSpPr>
            <p:spPr bwMode="auto">
              <a:xfrm>
                <a:off x="4310" y="2379"/>
                <a:ext cx="69" cy="45"/>
              </a:xfrm>
              <a:custGeom>
                <a:avLst/>
                <a:gdLst>
                  <a:gd name="T0" fmla="*/ 64 w 69"/>
                  <a:gd name="T1" fmla="*/ 39 h 45"/>
                  <a:gd name="T2" fmla="*/ 60 w 69"/>
                  <a:gd name="T3" fmla="*/ 35 h 45"/>
                  <a:gd name="T4" fmla="*/ 58 w 69"/>
                  <a:gd name="T5" fmla="*/ 33 h 45"/>
                  <a:gd name="T6" fmla="*/ 56 w 69"/>
                  <a:gd name="T7" fmla="*/ 31 h 45"/>
                  <a:gd name="T8" fmla="*/ 54 w 69"/>
                  <a:gd name="T9" fmla="*/ 28 h 45"/>
                  <a:gd name="T10" fmla="*/ 52 w 69"/>
                  <a:gd name="T11" fmla="*/ 26 h 45"/>
                  <a:gd name="T12" fmla="*/ 50 w 69"/>
                  <a:gd name="T13" fmla="*/ 23 h 45"/>
                  <a:gd name="T14" fmla="*/ 48 w 69"/>
                  <a:gd name="T15" fmla="*/ 21 h 45"/>
                  <a:gd name="T16" fmla="*/ 47 w 69"/>
                  <a:gd name="T17" fmla="*/ 17 h 45"/>
                  <a:gd name="T18" fmla="*/ 46 w 69"/>
                  <a:gd name="T19" fmla="*/ 14 h 45"/>
                  <a:gd name="T20" fmla="*/ 45 w 69"/>
                  <a:gd name="T21" fmla="*/ 11 h 45"/>
                  <a:gd name="T22" fmla="*/ 44 w 69"/>
                  <a:gd name="T23" fmla="*/ 8 h 45"/>
                  <a:gd name="T24" fmla="*/ 44 w 69"/>
                  <a:gd name="T25" fmla="*/ 4 h 45"/>
                  <a:gd name="T26" fmla="*/ 44 w 69"/>
                  <a:gd name="T27" fmla="*/ 0 h 45"/>
                  <a:gd name="T28" fmla="*/ 0 w 69"/>
                  <a:gd name="T29" fmla="*/ 0 h 45"/>
                  <a:gd name="T30" fmla="*/ 1 w 69"/>
                  <a:gd name="T31" fmla="*/ 3 h 45"/>
                  <a:gd name="T32" fmla="*/ 3 w 69"/>
                  <a:gd name="T33" fmla="*/ 6 h 45"/>
                  <a:gd name="T34" fmla="*/ 5 w 69"/>
                  <a:gd name="T35" fmla="*/ 9 h 45"/>
                  <a:gd name="T36" fmla="*/ 8 w 69"/>
                  <a:gd name="T37" fmla="*/ 12 h 45"/>
                  <a:gd name="T38" fmla="*/ 11 w 69"/>
                  <a:gd name="T39" fmla="*/ 16 h 45"/>
                  <a:gd name="T40" fmla="*/ 14 w 69"/>
                  <a:gd name="T41" fmla="*/ 19 h 45"/>
                  <a:gd name="T42" fmla="*/ 18 w 69"/>
                  <a:gd name="T43" fmla="*/ 22 h 45"/>
                  <a:gd name="T44" fmla="*/ 21 w 69"/>
                  <a:gd name="T45" fmla="*/ 25 h 45"/>
                  <a:gd name="T46" fmla="*/ 25 w 69"/>
                  <a:gd name="T47" fmla="*/ 28 h 45"/>
                  <a:gd name="T48" fmla="*/ 30 w 69"/>
                  <a:gd name="T49" fmla="*/ 32 h 45"/>
                  <a:gd name="T50" fmla="*/ 34 w 69"/>
                  <a:gd name="T51" fmla="*/ 34 h 45"/>
                  <a:gd name="T52" fmla="*/ 38 w 69"/>
                  <a:gd name="T53" fmla="*/ 36 h 45"/>
                  <a:gd name="T54" fmla="*/ 41 w 69"/>
                  <a:gd name="T55" fmla="*/ 38 h 45"/>
                  <a:gd name="T56" fmla="*/ 45 w 69"/>
                  <a:gd name="T57" fmla="*/ 39 h 45"/>
                  <a:gd name="T58" fmla="*/ 49 w 69"/>
                  <a:gd name="T59" fmla="*/ 41 h 45"/>
                  <a:gd name="T60" fmla="*/ 53 w 69"/>
                  <a:gd name="T61" fmla="*/ 42 h 45"/>
                  <a:gd name="T62" fmla="*/ 58 w 69"/>
                  <a:gd name="T63" fmla="*/ 43 h 45"/>
                  <a:gd name="T64" fmla="*/ 62 w 69"/>
                  <a:gd name="T65" fmla="*/ 43 h 45"/>
                  <a:gd name="T66" fmla="*/ 65 w 69"/>
                  <a:gd name="T67" fmla="*/ 43 h 45"/>
                  <a:gd name="T68" fmla="*/ 68 w 69"/>
                  <a:gd name="T69" fmla="*/ 44 h 45"/>
                  <a:gd name="T70" fmla="*/ 64 w 69"/>
                  <a:gd name="T71" fmla="*/ 39 h 4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69" h="45">
                    <a:moveTo>
                      <a:pt x="64" y="39"/>
                    </a:moveTo>
                    <a:lnTo>
                      <a:pt x="60" y="35"/>
                    </a:lnTo>
                    <a:lnTo>
                      <a:pt x="58" y="33"/>
                    </a:lnTo>
                    <a:lnTo>
                      <a:pt x="56" y="31"/>
                    </a:lnTo>
                    <a:lnTo>
                      <a:pt x="54" y="28"/>
                    </a:lnTo>
                    <a:lnTo>
                      <a:pt x="52" y="26"/>
                    </a:lnTo>
                    <a:lnTo>
                      <a:pt x="50" y="23"/>
                    </a:lnTo>
                    <a:lnTo>
                      <a:pt x="48" y="21"/>
                    </a:lnTo>
                    <a:lnTo>
                      <a:pt x="47" y="17"/>
                    </a:lnTo>
                    <a:lnTo>
                      <a:pt x="46" y="14"/>
                    </a:lnTo>
                    <a:lnTo>
                      <a:pt x="45" y="11"/>
                    </a:lnTo>
                    <a:lnTo>
                      <a:pt x="44" y="8"/>
                    </a:lnTo>
                    <a:lnTo>
                      <a:pt x="44" y="4"/>
                    </a:lnTo>
                    <a:lnTo>
                      <a:pt x="44" y="0"/>
                    </a:lnTo>
                    <a:lnTo>
                      <a:pt x="0" y="0"/>
                    </a:lnTo>
                    <a:lnTo>
                      <a:pt x="1" y="3"/>
                    </a:lnTo>
                    <a:lnTo>
                      <a:pt x="3" y="6"/>
                    </a:lnTo>
                    <a:lnTo>
                      <a:pt x="5" y="9"/>
                    </a:lnTo>
                    <a:lnTo>
                      <a:pt x="8" y="12"/>
                    </a:lnTo>
                    <a:lnTo>
                      <a:pt x="11" y="16"/>
                    </a:lnTo>
                    <a:lnTo>
                      <a:pt x="14" y="19"/>
                    </a:lnTo>
                    <a:lnTo>
                      <a:pt x="18" y="22"/>
                    </a:lnTo>
                    <a:lnTo>
                      <a:pt x="21" y="25"/>
                    </a:lnTo>
                    <a:lnTo>
                      <a:pt x="25" y="28"/>
                    </a:lnTo>
                    <a:lnTo>
                      <a:pt x="30" y="32"/>
                    </a:lnTo>
                    <a:lnTo>
                      <a:pt x="34" y="34"/>
                    </a:lnTo>
                    <a:lnTo>
                      <a:pt x="38" y="36"/>
                    </a:lnTo>
                    <a:lnTo>
                      <a:pt x="41" y="38"/>
                    </a:lnTo>
                    <a:lnTo>
                      <a:pt x="45" y="39"/>
                    </a:lnTo>
                    <a:lnTo>
                      <a:pt x="49" y="41"/>
                    </a:lnTo>
                    <a:lnTo>
                      <a:pt x="53" y="42"/>
                    </a:lnTo>
                    <a:lnTo>
                      <a:pt x="58" y="43"/>
                    </a:lnTo>
                    <a:lnTo>
                      <a:pt x="62" y="43"/>
                    </a:lnTo>
                    <a:lnTo>
                      <a:pt x="65" y="43"/>
                    </a:lnTo>
                    <a:lnTo>
                      <a:pt x="68" y="44"/>
                    </a:lnTo>
                    <a:lnTo>
                      <a:pt x="64" y="39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15" name="Freeform 84" descr="50%"/>
              <p:cNvSpPr>
                <a:spLocks/>
              </p:cNvSpPr>
              <p:nvPr/>
            </p:nvSpPr>
            <p:spPr bwMode="auto">
              <a:xfrm>
                <a:off x="4311" y="2373"/>
                <a:ext cx="36" cy="6"/>
              </a:xfrm>
              <a:custGeom>
                <a:avLst/>
                <a:gdLst>
                  <a:gd name="T0" fmla="*/ 0 w 36"/>
                  <a:gd name="T1" fmla="*/ 5 h 6"/>
                  <a:gd name="T2" fmla="*/ 0 w 36"/>
                  <a:gd name="T3" fmla="*/ 3 h 6"/>
                  <a:gd name="T4" fmla="*/ 1 w 36"/>
                  <a:gd name="T5" fmla="*/ 0 h 6"/>
                  <a:gd name="T6" fmla="*/ 35 w 36"/>
                  <a:gd name="T7" fmla="*/ 0 h 6"/>
                  <a:gd name="T8" fmla="*/ 35 w 36"/>
                  <a:gd name="T9" fmla="*/ 5 h 6"/>
                  <a:gd name="T10" fmla="*/ 0 w 36"/>
                  <a:gd name="T11" fmla="*/ 5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6" h="6">
                    <a:moveTo>
                      <a:pt x="0" y="5"/>
                    </a:moveTo>
                    <a:lnTo>
                      <a:pt x="0" y="3"/>
                    </a:lnTo>
                    <a:lnTo>
                      <a:pt x="1" y="0"/>
                    </a:lnTo>
                    <a:lnTo>
                      <a:pt x="35" y="0"/>
                    </a:lnTo>
                    <a:lnTo>
                      <a:pt x="35" y="5"/>
                    </a:lnTo>
                    <a:lnTo>
                      <a:pt x="0" y="5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210" name="Group 85"/>
            <p:cNvGrpSpPr>
              <a:grpSpLocks/>
            </p:cNvGrpSpPr>
            <p:nvPr/>
          </p:nvGrpSpPr>
          <p:grpSpPr bwMode="auto">
            <a:xfrm>
              <a:off x="7390187" y="2193728"/>
              <a:ext cx="394895" cy="134541"/>
              <a:chOff x="4729" y="2288"/>
              <a:chExt cx="321" cy="113"/>
            </a:xfrm>
          </p:grpSpPr>
          <p:sp>
            <p:nvSpPr>
              <p:cNvPr id="7699" name="Freeform 86" descr="50%"/>
              <p:cNvSpPr>
                <a:spLocks/>
              </p:cNvSpPr>
              <p:nvPr/>
            </p:nvSpPr>
            <p:spPr bwMode="auto">
              <a:xfrm>
                <a:off x="4810" y="2361"/>
                <a:ext cx="38" cy="31"/>
              </a:xfrm>
              <a:custGeom>
                <a:avLst/>
                <a:gdLst>
                  <a:gd name="T0" fmla="*/ 0 w 38"/>
                  <a:gd name="T1" fmla="*/ 0 h 31"/>
                  <a:gd name="T2" fmla="*/ 1 w 38"/>
                  <a:gd name="T3" fmla="*/ 3 h 31"/>
                  <a:gd name="T4" fmla="*/ 3 w 38"/>
                  <a:gd name="T5" fmla="*/ 6 h 31"/>
                  <a:gd name="T6" fmla="*/ 5 w 38"/>
                  <a:gd name="T7" fmla="*/ 9 h 31"/>
                  <a:gd name="T8" fmla="*/ 7 w 38"/>
                  <a:gd name="T9" fmla="*/ 12 h 31"/>
                  <a:gd name="T10" fmla="*/ 10 w 38"/>
                  <a:gd name="T11" fmla="*/ 15 h 31"/>
                  <a:gd name="T12" fmla="*/ 13 w 38"/>
                  <a:gd name="T13" fmla="*/ 19 h 31"/>
                  <a:gd name="T14" fmla="*/ 15 w 38"/>
                  <a:gd name="T15" fmla="*/ 21 h 31"/>
                  <a:gd name="T16" fmla="*/ 18 w 38"/>
                  <a:gd name="T17" fmla="*/ 23 h 31"/>
                  <a:gd name="T18" fmla="*/ 21 w 38"/>
                  <a:gd name="T19" fmla="*/ 25 h 31"/>
                  <a:gd name="T20" fmla="*/ 24 w 38"/>
                  <a:gd name="T21" fmla="*/ 27 h 31"/>
                  <a:gd name="T22" fmla="*/ 26 w 38"/>
                  <a:gd name="T23" fmla="*/ 28 h 31"/>
                  <a:gd name="T24" fmla="*/ 29 w 38"/>
                  <a:gd name="T25" fmla="*/ 29 h 31"/>
                  <a:gd name="T26" fmla="*/ 33 w 38"/>
                  <a:gd name="T27" fmla="*/ 30 h 31"/>
                  <a:gd name="T28" fmla="*/ 36 w 38"/>
                  <a:gd name="T29" fmla="*/ 30 h 31"/>
                  <a:gd name="T30" fmla="*/ 37 w 38"/>
                  <a:gd name="T31" fmla="*/ 29 h 31"/>
                  <a:gd name="T32" fmla="*/ 35 w 38"/>
                  <a:gd name="T33" fmla="*/ 27 h 31"/>
                  <a:gd name="T34" fmla="*/ 33 w 38"/>
                  <a:gd name="T35" fmla="*/ 25 h 31"/>
                  <a:gd name="T36" fmla="*/ 31 w 38"/>
                  <a:gd name="T37" fmla="*/ 22 h 31"/>
                  <a:gd name="T38" fmla="*/ 29 w 38"/>
                  <a:gd name="T39" fmla="*/ 19 h 31"/>
                  <a:gd name="T40" fmla="*/ 27 w 38"/>
                  <a:gd name="T41" fmla="*/ 16 h 31"/>
                  <a:gd name="T42" fmla="*/ 26 w 38"/>
                  <a:gd name="T43" fmla="*/ 13 h 31"/>
                  <a:gd name="T44" fmla="*/ 25 w 38"/>
                  <a:gd name="T45" fmla="*/ 11 h 31"/>
                  <a:gd name="T46" fmla="*/ 24 w 38"/>
                  <a:gd name="T47" fmla="*/ 6 h 31"/>
                  <a:gd name="T48" fmla="*/ 24 w 38"/>
                  <a:gd name="T49" fmla="*/ 3 h 31"/>
                  <a:gd name="T50" fmla="*/ 24 w 38"/>
                  <a:gd name="T51" fmla="*/ 1 h 31"/>
                  <a:gd name="T52" fmla="*/ 0 w 38"/>
                  <a:gd name="T53" fmla="*/ 0 h 31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38" h="31">
                    <a:moveTo>
                      <a:pt x="0" y="0"/>
                    </a:moveTo>
                    <a:lnTo>
                      <a:pt x="1" y="3"/>
                    </a:lnTo>
                    <a:lnTo>
                      <a:pt x="3" y="6"/>
                    </a:lnTo>
                    <a:lnTo>
                      <a:pt x="5" y="9"/>
                    </a:lnTo>
                    <a:lnTo>
                      <a:pt x="7" y="12"/>
                    </a:lnTo>
                    <a:lnTo>
                      <a:pt x="10" y="15"/>
                    </a:lnTo>
                    <a:lnTo>
                      <a:pt x="13" y="19"/>
                    </a:lnTo>
                    <a:lnTo>
                      <a:pt x="15" y="21"/>
                    </a:lnTo>
                    <a:lnTo>
                      <a:pt x="18" y="23"/>
                    </a:lnTo>
                    <a:lnTo>
                      <a:pt x="21" y="25"/>
                    </a:lnTo>
                    <a:lnTo>
                      <a:pt x="24" y="27"/>
                    </a:lnTo>
                    <a:lnTo>
                      <a:pt x="26" y="28"/>
                    </a:lnTo>
                    <a:lnTo>
                      <a:pt x="29" y="29"/>
                    </a:lnTo>
                    <a:lnTo>
                      <a:pt x="33" y="30"/>
                    </a:lnTo>
                    <a:lnTo>
                      <a:pt x="36" y="30"/>
                    </a:lnTo>
                    <a:lnTo>
                      <a:pt x="37" y="29"/>
                    </a:lnTo>
                    <a:lnTo>
                      <a:pt x="35" y="27"/>
                    </a:lnTo>
                    <a:lnTo>
                      <a:pt x="33" y="25"/>
                    </a:lnTo>
                    <a:lnTo>
                      <a:pt x="31" y="22"/>
                    </a:lnTo>
                    <a:lnTo>
                      <a:pt x="29" y="19"/>
                    </a:lnTo>
                    <a:lnTo>
                      <a:pt x="27" y="16"/>
                    </a:lnTo>
                    <a:lnTo>
                      <a:pt x="26" y="13"/>
                    </a:lnTo>
                    <a:lnTo>
                      <a:pt x="25" y="11"/>
                    </a:lnTo>
                    <a:lnTo>
                      <a:pt x="24" y="6"/>
                    </a:lnTo>
                    <a:lnTo>
                      <a:pt x="24" y="3"/>
                    </a:lnTo>
                    <a:lnTo>
                      <a:pt x="24" y="1"/>
                    </a:lnTo>
                    <a:lnTo>
                      <a:pt x="0" y="0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00" name="Freeform 87" descr="50%"/>
              <p:cNvSpPr>
                <a:spLocks/>
              </p:cNvSpPr>
              <p:nvPr/>
            </p:nvSpPr>
            <p:spPr bwMode="auto">
              <a:xfrm>
                <a:off x="4729" y="2288"/>
                <a:ext cx="321" cy="98"/>
              </a:xfrm>
              <a:custGeom>
                <a:avLst/>
                <a:gdLst>
                  <a:gd name="T0" fmla="*/ 3 w 321"/>
                  <a:gd name="T1" fmla="*/ 58 h 98"/>
                  <a:gd name="T2" fmla="*/ 13 w 321"/>
                  <a:gd name="T3" fmla="*/ 54 h 98"/>
                  <a:gd name="T4" fmla="*/ 28 w 321"/>
                  <a:gd name="T5" fmla="*/ 49 h 98"/>
                  <a:gd name="T6" fmla="*/ 43 w 321"/>
                  <a:gd name="T7" fmla="*/ 46 h 98"/>
                  <a:gd name="T8" fmla="*/ 59 w 321"/>
                  <a:gd name="T9" fmla="*/ 43 h 98"/>
                  <a:gd name="T10" fmla="*/ 75 w 321"/>
                  <a:gd name="T11" fmla="*/ 40 h 98"/>
                  <a:gd name="T12" fmla="*/ 88 w 321"/>
                  <a:gd name="T13" fmla="*/ 37 h 98"/>
                  <a:gd name="T14" fmla="*/ 95 w 321"/>
                  <a:gd name="T15" fmla="*/ 33 h 98"/>
                  <a:gd name="T16" fmla="*/ 103 w 321"/>
                  <a:gd name="T17" fmla="*/ 25 h 98"/>
                  <a:gd name="T18" fmla="*/ 114 w 321"/>
                  <a:gd name="T19" fmla="*/ 14 h 98"/>
                  <a:gd name="T20" fmla="*/ 125 w 321"/>
                  <a:gd name="T21" fmla="*/ 4 h 98"/>
                  <a:gd name="T22" fmla="*/ 133 w 321"/>
                  <a:gd name="T23" fmla="*/ 12 h 98"/>
                  <a:gd name="T24" fmla="*/ 137 w 321"/>
                  <a:gd name="T25" fmla="*/ 29 h 98"/>
                  <a:gd name="T26" fmla="*/ 140 w 321"/>
                  <a:gd name="T27" fmla="*/ 36 h 98"/>
                  <a:gd name="T28" fmla="*/ 159 w 321"/>
                  <a:gd name="T29" fmla="*/ 39 h 98"/>
                  <a:gd name="T30" fmla="*/ 177 w 321"/>
                  <a:gd name="T31" fmla="*/ 43 h 98"/>
                  <a:gd name="T32" fmla="*/ 191 w 321"/>
                  <a:gd name="T33" fmla="*/ 43 h 98"/>
                  <a:gd name="T34" fmla="*/ 206 w 321"/>
                  <a:gd name="T35" fmla="*/ 39 h 98"/>
                  <a:gd name="T36" fmla="*/ 218 w 321"/>
                  <a:gd name="T37" fmla="*/ 48 h 98"/>
                  <a:gd name="T38" fmla="*/ 229 w 321"/>
                  <a:gd name="T39" fmla="*/ 51 h 98"/>
                  <a:gd name="T40" fmla="*/ 243 w 321"/>
                  <a:gd name="T41" fmla="*/ 51 h 98"/>
                  <a:gd name="T42" fmla="*/ 258 w 321"/>
                  <a:gd name="T43" fmla="*/ 45 h 98"/>
                  <a:gd name="T44" fmla="*/ 275 w 321"/>
                  <a:gd name="T45" fmla="*/ 31 h 98"/>
                  <a:gd name="T46" fmla="*/ 294 w 321"/>
                  <a:gd name="T47" fmla="*/ 14 h 98"/>
                  <a:gd name="T48" fmla="*/ 314 w 321"/>
                  <a:gd name="T49" fmla="*/ 8 h 98"/>
                  <a:gd name="T50" fmla="*/ 314 w 321"/>
                  <a:gd name="T51" fmla="*/ 13 h 98"/>
                  <a:gd name="T52" fmla="*/ 305 w 321"/>
                  <a:gd name="T53" fmla="*/ 25 h 98"/>
                  <a:gd name="T54" fmla="*/ 294 w 321"/>
                  <a:gd name="T55" fmla="*/ 37 h 98"/>
                  <a:gd name="T56" fmla="*/ 287 w 321"/>
                  <a:gd name="T57" fmla="*/ 48 h 98"/>
                  <a:gd name="T58" fmla="*/ 287 w 321"/>
                  <a:gd name="T59" fmla="*/ 60 h 98"/>
                  <a:gd name="T60" fmla="*/ 295 w 321"/>
                  <a:gd name="T61" fmla="*/ 73 h 98"/>
                  <a:gd name="T62" fmla="*/ 305 w 321"/>
                  <a:gd name="T63" fmla="*/ 82 h 98"/>
                  <a:gd name="T64" fmla="*/ 313 w 321"/>
                  <a:gd name="T65" fmla="*/ 89 h 98"/>
                  <a:gd name="T66" fmla="*/ 314 w 321"/>
                  <a:gd name="T67" fmla="*/ 93 h 98"/>
                  <a:gd name="T68" fmla="*/ 302 w 321"/>
                  <a:gd name="T69" fmla="*/ 93 h 98"/>
                  <a:gd name="T70" fmla="*/ 291 w 321"/>
                  <a:gd name="T71" fmla="*/ 90 h 98"/>
                  <a:gd name="T72" fmla="*/ 281 w 321"/>
                  <a:gd name="T73" fmla="*/ 85 h 98"/>
                  <a:gd name="T74" fmla="*/ 264 w 321"/>
                  <a:gd name="T75" fmla="*/ 74 h 98"/>
                  <a:gd name="T76" fmla="*/ 243 w 321"/>
                  <a:gd name="T77" fmla="*/ 72 h 98"/>
                  <a:gd name="T78" fmla="*/ 218 w 321"/>
                  <a:gd name="T79" fmla="*/ 75 h 98"/>
                  <a:gd name="T80" fmla="*/ 202 w 321"/>
                  <a:gd name="T81" fmla="*/ 82 h 98"/>
                  <a:gd name="T82" fmla="*/ 197 w 321"/>
                  <a:gd name="T83" fmla="*/ 89 h 98"/>
                  <a:gd name="T84" fmla="*/ 175 w 321"/>
                  <a:gd name="T85" fmla="*/ 88 h 98"/>
                  <a:gd name="T86" fmla="*/ 156 w 321"/>
                  <a:gd name="T87" fmla="*/ 94 h 98"/>
                  <a:gd name="T88" fmla="*/ 86 w 321"/>
                  <a:gd name="T89" fmla="*/ 97 h 98"/>
                  <a:gd name="T90" fmla="*/ 46 w 321"/>
                  <a:gd name="T91" fmla="*/ 93 h 98"/>
                  <a:gd name="T92" fmla="*/ 11 w 321"/>
                  <a:gd name="T93" fmla="*/ 81 h 98"/>
                  <a:gd name="T94" fmla="*/ 11 w 321"/>
                  <a:gd name="T95" fmla="*/ 74 h 98"/>
                  <a:gd name="T96" fmla="*/ 3 w 321"/>
                  <a:gd name="T97" fmla="*/ 67 h 98"/>
                  <a:gd name="T98" fmla="*/ 0 w 321"/>
                  <a:gd name="T99" fmla="*/ 62 h 98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321" h="98">
                    <a:moveTo>
                      <a:pt x="0" y="60"/>
                    </a:moveTo>
                    <a:lnTo>
                      <a:pt x="1" y="59"/>
                    </a:lnTo>
                    <a:lnTo>
                      <a:pt x="3" y="58"/>
                    </a:lnTo>
                    <a:lnTo>
                      <a:pt x="7" y="56"/>
                    </a:lnTo>
                    <a:lnTo>
                      <a:pt x="10" y="55"/>
                    </a:lnTo>
                    <a:lnTo>
                      <a:pt x="13" y="54"/>
                    </a:lnTo>
                    <a:lnTo>
                      <a:pt x="18" y="52"/>
                    </a:lnTo>
                    <a:lnTo>
                      <a:pt x="23" y="51"/>
                    </a:lnTo>
                    <a:lnTo>
                      <a:pt x="28" y="49"/>
                    </a:lnTo>
                    <a:lnTo>
                      <a:pt x="32" y="48"/>
                    </a:lnTo>
                    <a:lnTo>
                      <a:pt x="38" y="47"/>
                    </a:lnTo>
                    <a:lnTo>
                      <a:pt x="43" y="46"/>
                    </a:lnTo>
                    <a:lnTo>
                      <a:pt x="49" y="45"/>
                    </a:lnTo>
                    <a:lnTo>
                      <a:pt x="54" y="44"/>
                    </a:lnTo>
                    <a:lnTo>
                      <a:pt x="59" y="43"/>
                    </a:lnTo>
                    <a:lnTo>
                      <a:pt x="63" y="42"/>
                    </a:lnTo>
                    <a:lnTo>
                      <a:pt x="69" y="41"/>
                    </a:lnTo>
                    <a:lnTo>
                      <a:pt x="75" y="40"/>
                    </a:lnTo>
                    <a:lnTo>
                      <a:pt x="80" y="39"/>
                    </a:lnTo>
                    <a:lnTo>
                      <a:pt x="84" y="38"/>
                    </a:lnTo>
                    <a:lnTo>
                      <a:pt x="88" y="37"/>
                    </a:lnTo>
                    <a:lnTo>
                      <a:pt x="91" y="36"/>
                    </a:lnTo>
                    <a:lnTo>
                      <a:pt x="93" y="34"/>
                    </a:lnTo>
                    <a:lnTo>
                      <a:pt x="95" y="33"/>
                    </a:lnTo>
                    <a:lnTo>
                      <a:pt x="97" y="31"/>
                    </a:lnTo>
                    <a:lnTo>
                      <a:pt x="100" y="28"/>
                    </a:lnTo>
                    <a:lnTo>
                      <a:pt x="103" y="25"/>
                    </a:lnTo>
                    <a:lnTo>
                      <a:pt x="106" y="21"/>
                    </a:lnTo>
                    <a:lnTo>
                      <a:pt x="110" y="18"/>
                    </a:lnTo>
                    <a:lnTo>
                      <a:pt x="114" y="14"/>
                    </a:lnTo>
                    <a:lnTo>
                      <a:pt x="117" y="10"/>
                    </a:lnTo>
                    <a:lnTo>
                      <a:pt x="121" y="7"/>
                    </a:lnTo>
                    <a:lnTo>
                      <a:pt x="125" y="4"/>
                    </a:lnTo>
                    <a:lnTo>
                      <a:pt x="130" y="0"/>
                    </a:lnTo>
                    <a:lnTo>
                      <a:pt x="131" y="7"/>
                    </a:lnTo>
                    <a:lnTo>
                      <a:pt x="133" y="12"/>
                    </a:lnTo>
                    <a:lnTo>
                      <a:pt x="135" y="18"/>
                    </a:lnTo>
                    <a:lnTo>
                      <a:pt x="136" y="24"/>
                    </a:lnTo>
                    <a:lnTo>
                      <a:pt x="137" y="29"/>
                    </a:lnTo>
                    <a:lnTo>
                      <a:pt x="137" y="32"/>
                    </a:lnTo>
                    <a:lnTo>
                      <a:pt x="135" y="35"/>
                    </a:lnTo>
                    <a:lnTo>
                      <a:pt x="140" y="36"/>
                    </a:lnTo>
                    <a:lnTo>
                      <a:pt x="145" y="37"/>
                    </a:lnTo>
                    <a:lnTo>
                      <a:pt x="152" y="38"/>
                    </a:lnTo>
                    <a:lnTo>
                      <a:pt x="159" y="39"/>
                    </a:lnTo>
                    <a:lnTo>
                      <a:pt x="166" y="41"/>
                    </a:lnTo>
                    <a:lnTo>
                      <a:pt x="171" y="42"/>
                    </a:lnTo>
                    <a:lnTo>
                      <a:pt x="177" y="43"/>
                    </a:lnTo>
                    <a:lnTo>
                      <a:pt x="183" y="43"/>
                    </a:lnTo>
                    <a:lnTo>
                      <a:pt x="188" y="44"/>
                    </a:lnTo>
                    <a:lnTo>
                      <a:pt x="191" y="43"/>
                    </a:lnTo>
                    <a:lnTo>
                      <a:pt x="195" y="41"/>
                    </a:lnTo>
                    <a:lnTo>
                      <a:pt x="198" y="38"/>
                    </a:lnTo>
                    <a:lnTo>
                      <a:pt x="206" y="39"/>
                    </a:lnTo>
                    <a:lnTo>
                      <a:pt x="215" y="42"/>
                    </a:lnTo>
                    <a:lnTo>
                      <a:pt x="222" y="43"/>
                    </a:lnTo>
                    <a:lnTo>
                      <a:pt x="218" y="48"/>
                    </a:lnTo>
                    <a:lnTo>
                      <a:pt x="220" y="49"/>
                    </a:lnTo>
                    <a:lnTo>
                      <a:pt x="225" y="50"/>
                    </a:lnTo>
                    <a:lnTo>
                      <a:pt x="229" y="51"/>
                    </a:lnTo>
                    <a:lnTo>
                      <a:pt x="234" y="52"/>
                    </a:lnTo>
                    <a:lnTo>
                      <a:pt x="238" y="51"/>
                    </a:lnTo>
                    <a:lnTo>
                      <a:pt x="243" y="51"/>
                    </a:lnTo>
                    <a:lnTo>
                      <a:pt x="248" y="50"/>
                    </a:lnTo>
                    <a:lnTo>
                      <a:pt x="253" y="48"/>
                    </a:lnTo>
                    <a:lnTo>
                      <a:pt x="258" y="45"/>
                    </a:lnTo>
                    <a:lnTo>
                      <a:pt x="264" y="41"/>
                    </a:lnTo>
                    <a:lnTo>
                      <a:pt x="269" y="37"/>
                    </a:lnTo>
                    <a:lnTo>
                      <a:pt x="275" y="31"/>
                    </a:lnTo>
                    <a:lnTo>
                      <a:pt x="281" y="24"/>
                    </a:lnTo>
                    <a:lnTo>
                      <a:pt x="288" y="19"/>
                    </a:lnTo>
                    <a:lnTo>
                      <a:pt x="294" y="14"/>
                    </a:lnTo>
                    <a:lnTo>
                      <a:pt x="300" y="11"/>
                    </a:lnTo>
                    <a:lnTo>
                      <a:pt x="306" y="9"/>
                    </a:lnTo>
                    <a:lnTo>
                      <a:pt x="314" y="8"/>
                    </a:lnTo>
                    <a:lnTo>
                      <a:pt x="320" y="8"/>
                    </a:lnTo>
                    <a:lnTo>
                      <a:pt x="317" y="11"/>
                    </a:lnTo>
                    <a:lnTo>
                      <a:pt x="314" y="13"/>
                    </a:lnTo>
                    <a:lnTo>
                      <a:pt x="313" y="15"/>
                    </a:lnTo>
                    <a:lnTo>
                      <a:pt x="309" y="22"/>
                    </a:lnTo>
                    <a:lnTo>
                      <a:pt x="305" y="25"/>
                    </a:lnTo>
                    <a:lnTo>
                      <a:pt x="301" y="28"/>
                    </a:lnTo>
                    <a:lnTo>
                      <a:pt x="297" y="33"/>
                    </a:lnTo>
                    <a:lnTo>
                      <a:pt x="294" y="37"/>
                    </a:lnTo>
                    <a:lnTo>
                      <a:pt x="292" y="41"/>
                    </a:lnTo>
                    <a:lnTo>
                      <a:pt x="289" y="45"/>
                    </a:lnTo>
                    <a:lnTo>
                      <a:pt x="287" y="48"/>
                    </a:lnTo>
                    <a:lnTo>
                      <a:pt x="286" y="52"/>
                    </a:lnTo>
                    <a:lnTo>
                      <a:pt x="286" y="56"/>
                    </a:lnTo>
                    <a:lnTo>
                      <a:pt x="287" y="60"/>
                    </a:lnTo>
                    <a:lnTo>
                      <a:pt x="289" y="65"/>
                    </a:lnTo>
                    <a:lnTo>
                      <a:pt x="292" y="69"/>
                    </a:lnTo>
                    <a:lnTo>
                      <a:pt x="295" y="73"/>
                    </a:lnTo>
                    <a:lnTo>
                      <a:pt x="298" y="76"/>
                    </a:lnTo>
                    <a:lnTo>
                      <a:pt x="301" y="79"/>
                    </a:lnTo>
                    <a:lnTo>
                      <a:pt x="305" y="82"/>
                    </a:lnTo>
                    <a:lnTo>
                      <a:pt x="309" y="85"/>
                    </a:lnTo>
                    <a:lnTo>
                      <a:pt x="311" y="87"/>
                    </a:lnTo>
                    <a:lnTo>
                      <a:pt x="313" y="89"/>
                    </a:lnTo>
                    <a:lnTo>
                      <a:pt x="316" y="91"/>
                    </a:lnTo>
                    <a:lnTo>
                      <a:pt x="317" y="93"/>
                    </a:lnTo>
                    <a:lnTo>
                      <a:pt x="314" y="93"/>
                    </a:lnTo>
                    <a:lnTo>
                      <a:pt x="309" y="93"/>
                    </a:lnTo>
                    <a:lnTo>
                      <a:pt x="305" y="93"/>
                    </a:lnTo>
                    <a:lnTo>
                      <a:pt x="302" y="93"/>
                    </a:lnTo>
                    <a:lnTo>
                      <a:pt x="297" y="92"/>
                    </a:lnTo>
                    <a:lnTo>
                      <a:pt x="294" y="91"/>
                    </a:lnTo>
                    <a:lnTo>
                      <a:pt x="291" y="90"/>
                    </a:lnTo>
                    <a:lnTo>
                      <a:pt x="288" y="88"/>
                    </a:lnTo>
                    <a:lnTo>
                      <a:pt x="284" y="87"/>
                    </a:lnTo>
                    <a:lnTo>
                      <a:pt x="281" y="85"/>
                    </a:lnTo>
                    <a:lnTo>
                      <a:pt x="274" y="80"/>
                    </a:lnTo>
                    <a:lnTo>
                      <a:pt x="270" y="77"/>
                    </a:lnTo>
                    <a:lnTo>
                      <a:pt x="264" y="74"/>
                    </a:lnTo>
                    <a:lnTo>
                      <a:pt x="258" y="73"/>
                    </a:lnTo>
                    <a:lnTo>
                      <a:pt x="252" y="73"/>
                    </a:lnTo>
                    <a:lnTo>
                      <a:pt x="243" y="72"/>
                    </a:lnTo>
                    <a:lnTo>
                      <a:pt x="235" y="73"/>
                    </a:lnTo>
                    <a:lnTo>
                      <a:pt x="227" y="74"/>
                    </a:lnTo>
                    <a:lnTo>
                      <a:pt x="218" y="75"/>
                    </a:lnTo>
                    <a:lnTo>
                      <a:pt x="209" y="77"/>
                    </a:lnTo>
                    <a:lnTo>
                      <a:pt x="203" y="80"/>
                    </a:lnTo>
                    <a:lnTo>
                      <a:pt x="202" y="82"/>
                    </a:lnTo>
                    <a:lnTo>
                      <a:pt x="203" y="83"/>
                    </a:lnTo>
                    <a:lnTo>
                      <a:pt x="208" y="86"/>
                    </a:lnTo>
                    <a:lnTo>
                      <a:pt x="197" y="89"/>
                    </a:lnTo>
                    <a:lnTo>
                      <a:pt x="182" y="93"/>
                    </a:lnTo>
                    <a:lnTo>
                      <a:pt x="179" y="90"/>
                    </a:lnTo>
                    <a:lnTo>
                      <a:pt x="175" y="88"/>
                    </a:lnTo>
                    <a:lnTo>
                      <a:pt x="171" y="87"/>
                    </a:lnTo>
                    <a:lnTo>
                      <a:pt x="164" y="87"/>
                    </a:lnTo>
                    <a:lnTo>
                      <a:pt x="156" y="94"/>
                    </a:lnTo>
                    <a:lnTo>
                      <a:pt x="149" y="89"/>
                    </a:lnTo>
                    <a:lnTo>
                      <a:pt x="97" y="96"/>
                    </a:lnTo>
                    <a:lnTo>
                      <a:pt x="86" y="97"/>
                    </a:lnTo>
                    <a:lnTo>
                      <a:pt x="77" y="96"/>
                    </a:lnTo>
                    <a:lnTo>
                      <a:pt x="66" y="95"/>
                    </a:lnTo>
                    <a:lnTo>
                      <a:pt x="46" y="93"/>
                    </a:lnTo>
                    <a:lnTo>
                      <a:pt x="28" y="88"/>
                    </a:lnTo>
                    <a:lnTo>
                      <a:pt x="18" y="84"/>
                    </a:lnTo>
                    <a:lnTo>
                      <a:pt x="11" y="81"/>
                    </a:lnTo>
                    <a:lnTo>
                      <a:pt x="18" y="79"/>
                    </a:lnTo>
                    <a:lnTo>
                      <a:pt x="14" y="76"/>
                    </a:lnTo>
                    <a:lnTo>
                      <a:pt x="11" y="74"/>
                    </a:lnTo>
                    <a:lnTo>
                      <a:pt x="6" y="70"/>
                    </a:lnTo>
                    <a:lnTo>
                      <a:pt x="5" y="69"/>
                    </a:lnTo>
                    <a:lnTo>
                      <a:pt x="3" y="67"/>
                    </a:lnTo>
                    <a:lnTo>
                      <a:pt x="2" y="66"/>
                    </a:lnTo>
                    <a:lnTo>
                      <a:pt x="1" y="63"/>
                    </a:lnTo>
                    <a:lnTo>
                      <a:pt x="0" y="62"/>
                    </a:lnTo>
                    <a:lnTo>
                      <a:pt x="0" y="60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701" name="Group 88"/>
              <p:cNvGrpSpPr>
                <a:grpSpLocks/>
              </p:cNvGrpSpPr>
              <p:nvPr/>
            </p:nvGrpSpPr>
            <p:grpSpPr bwMode="auto">
              <a:xfrm>
                <a:off x="4756" y="2350"/>
                <a:ext cx="2" cy="3"/>
                <a:chOff x="4756" y="2350"/>
                <a:chExt cx="2" cy="3"/>
              </a:xfrm>
            </p:grpSpPr>
            <p:sp>
              <p:nvSpPr>
                <p:cNvPr id="7712" name="Oval 89" descr="50%"/>
                <p:cNvSpPr>
                  <a:spLocks noChangeArrowheads="1"/>
                </p:cNvSpPr>
                <p:nvPr/>
              </p:nvSpPr>
              <p:spPr bwMode="auto">
                <a:xfrm>
                  <a:off x="4756" y="2350"/>
                  <a:ext cx="2" cy="2"/>
                </a:xfrm>
                <a:prstGeom prst="ellipse">
                  <a:avLst/>
                </a:pr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713" name="Arc 90" descr="50%"/>
                <p:cNvSpPr>
                  <a:spLocks/>
                </p:cNvSpPr>
                <p:nvPr/>
              </p:nvSpPr>
              <p:spPr bwMode="auto">
                <a:xfrm>
                  <a:off x="4757" y="2351"/>
                  <a:ext cx="1" cy="2"/>
                </a:xfrm>
                <a:custGeom>
                  <a:avLst/>
                  <a:gdLst>
                    <a:gd name="T0" fmla="*/ 0 w 43200"/>
                    <a:gd name="T1" fmla="*/ 1 h 43200"/>
                    <a:gd name="T2" fmla="*/ 0 w 43200"/>
                    <a:gd name="T3" fmla="*/ 1 h 43200"/>
                    <a:gd name="T4" fmla="*/ 1 w 43200"/>
                    <a:gd name="T5" fmla="*/ 1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43200" fill="none" extrusionOk="0">
                      <a:moveTo>
                        <a:pt x="2280" y="11940"/>
                      </a:moveTo>
                    </a:path>
                    <a:path w="43200" h="43200" stroke="0" extrusionOk="0">
                      <a:moveTo>
                        <a:pt x="2280" y="11940"/>
                      </a:moveTo>
                      <a:lnTo>
                        <a:pt x="21600" y="21600"/>
                      </a:lnTo>
                      <a:lnTo>
                        <a:pt x="2280" y="11940"/>
                      </a:lnTo>
                      <a:close/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702" name="Group 91"/>
              <p:cNvGrpSpPr>
                <a:grpSpLocks/>
              </p:cNvGrpSpPr>
              <p:nvPr/>
            </p:nvGrpSpPr>
            <p:grpSpPr bwMode="auto">
              <a:xfrm>
                <a:off x="4773" y="2362"/>
                <a:ext cx="23" cy="4"/>
                <a:chOff x="4773" y="2362"/>
                <a:chExt cx="23" cy="4"/>
              </a:xfrm>
            </p:grpSpPr>
            <p:sp>
              <p:nvSpPr>
                <p:cNvPr id="7707" name="Arc 92" descr="50%"/>
                <p:cNvSpPr>
                  <a:spLocks/>
                </p:cNvSpPr>
                <p:nvPr/>
              </p:nvSpPr>
              <p:spPr bwMode="auto">
                <a:xfrm>
                  <a:off x="4777" y="2362"/>
                  <a:ext cx="0" cy="4"/>
                </a:xfrm>
                <a:custGeom>
                  <a:avLst/>
                  <a:gdLst>
                    <a:gd name="T0" fmla="*/ 1 w 43200"/>
                    <a:gd name="T1" fmla="*/ 2 h 43200"/>
                    <a:gd name="T2" fmla="*/ 1 w 43200"/>
                    <a:gd name="T3" fmla="*/ 2 h 43200"/>
                    <a:gd name="T4" fmla="*/ 1 w 43200"/>
                    <a:gd name="T5" fmla="*/ 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43200" fill="none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43200" stroke="0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lnTo>
                        <a:pt x="43200" y="21600"/>
                      </a:lnTo>
                      <a:close/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708" name="Arc 93" descr="50%"/>
                <p:cNvSpPr>
                  <a:spLocks/>
                </p:cNvSpPr>
                <p:nvPr/>
              </p:nvSpPr>
              <p:spPr bwMode="auto">
                <a:xfrm>
                  <a:off x="4773" y="2362"/>
                  <a:ext cx="0" cy="4"/>
                </a:xfrm>
                <a:custGeom>
                  <a:avLst/>
                  <a:gdLst>
                    <a:gd name="T0" fmla="*/ 1 w 43200"/>
                    <a:gd name="T1" fmla="*/ 2 h 43200"/>
                    <a:gd name="T2" fmla="*/ 1 w 43200"/>
                    <a:gd name="T3" fmla="*/ 2 h 43200"/>
                    <a:gd name="T4" fmla="*/ 1 w 43200"/>
                    <a:gd name="T5" fmla="*/ 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43200" fill="none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43200" stroke="0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lnTo>
                        <a:pt x="43200" y="21600"/>
                      </a:lnTo>
                      <a:close/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709" name="Arc 94" descr="50%"/>
                <p:cNvSpPr>
                  <a:spLocks/>
                </p:cNvSpPr>
                <p:nvPr/>
              </p:nvSpPr>
              <p:spPr bwMode="auto">
                <a:xfrm>
                  <a:off x="4780" y="2362"/>
                  <a:ext cx="7" cy="4"/>
                </a:xfrm>
                <a:custGeom>
                  <a:avLst/>
                  <a:gdLst>
                    <a:gd name="T0" fmla="*/ 2 w 35950"/>
                    <a:gd name="T1" fmla="*/ 0 h 43200"/>
                    <a:gd name="T2" fmla="*/ 0 w 35950"/>
                    <a:gd name="T3" fmla="*/ 3 h 43200"/>
                    <a:gd name="T4" fmla="*/ 3 w 35950"/>
                    <a:gd name="T5" fmla="*/ 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5950" h="43200" fill="none" extrusionOk="0">
                      <a:moveTo>
                        <a:pt x="9664" y="514"/>
                      </a:moveTo>
                      <a:cubicBezTo>
                        <a:pt x="11202" y="172"/>
                        <a:pt x="12773" y="-1"/>
                        <a:pt x="14350" y="0"/>
                      </a:cubicBezTo>
                      <a:cubicBezTo>
                        <a:pt x="26279" y="0"/>
                        <a:pt x="35950" y="9670"/>
                        <a:pt x="35950" y="21600"/>
                      </a:cubicBezTo>
                      <a:cubicBezTo>
                        <a:pt x="35950" y="33529"/>
                        <a:pt x="26279" y="43200"/>
                        <a:pt x="14350" y="43200"/>
                      </a:cubicBezTo>
                      <a:cubicBezTo>
                        <a:pt x="9059" y="43200"/>
                        <a:pt x="3953" y="41258"/>
                        <a:pt x="-1" y="37744"/>
                      </a:cubicBezTo>
                    </a:path>
                    <a:path w="35950" h="43200" stroke="0" extrusionOk="0">
                      <a:moveTo>
                        <a:pt x="9664" y="514"/>
                      </a:moveTo>
                      <a:cubicBezTo>
                        <a:pt x="11202" y="172"/>
                        <a:pt x="12773" y="-1"/>
                        <a:pt x="14350" y="0"/>
                      </a:cubicBezTo>
                      <a:cubicBezTo>
                        <a:pt x="26279" y="0"/>
                        <a:pt x="35950" y="9670"/>
                        <a:pt x="35950" y="21600"/>
                      </a:cubicBezTo>
                      <a:cubicBezTo>
                        <a:pt x="35950" y="33529"/>
                        <a:pt x="26279" y="43200"/>
                        <a:pt x="14350" y="43200"/>
                      </a:cubicBezTo>
                      <a:cubicBezTo>
                        <a:pt x="9059" y="43200"/>
                        <a:pt x="3953" y="41258"/>
                        <a:pt x="-1" y="37744"/>
                      </a:cubicBezTo>
                      <a:lnTo>
                        <a:pt x="14350" y="21600"/>
                      </a:lnTo>
                      <a:lnTo>
                        <a:pt x="9664" y="514"/>
                      </a:lnTo>
                      <a:close/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710" name="Arc 95" descr="50%"/>
                <p:cNvSpPr>
                  <a:spLocks/>
                </p:cNvSpPr>
                <p:nvPr/>
              </p:nvSpPr>
              <p:spPr bwMode="auto">
                <a:xfrm>
                  <a:off x="4784" y="2362"/>
                  <a:ext cx="7" cy="4"/>
                </a:xfrm>
                <a:custGeom>
                  <a:avLst/>
                  <a:gdLst>
                    <a:gd name="T0" fmla="*/ 2 w 35950"/>
                    <a:gd name="T1" fmla="*/ 0 h 43200"/>
                    <a:gd name="T2" fmla="*/ 0 w 35950"/>
                    <a:gd name="T3" fmla="*/ 3 h 43200"/>
                    <a:gd name="T4" fmla="*/ 3 w 35950"/>
                    <a:gd name="T5" fmla="*/ 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5950" h="43200" fill="none" extrusionOk="0">
                      <a:moveTo>
                        <a:pt x="9664" y="514"/>
                      </a:moveTo>
                      <a:cubicBezTo>
                        <a:pt x="11202" y="172"/>
                        <a:pt x="12773" y="-1"/>
                        <a:pt x="14350" y="0"/>
                      </a:cubicBezTo>
                      <a:cubicBezTo>
                        <a:pt x="26279" y="0"/>
                        <a:pt x="35950" y="9670"/>
                        <a:pt x="35950" y="21600"/>
                      </a:cubicBezTo>
                      <a:cubicBezTo>
                        <a:pt x="35950" y="33529"/>
                        <a:pt x="26279" y="43200"/>
                        <a:pt x="14350" y="43200"/>
                      </a:cubicBezTo>
                      <a:cubicBezTo>
                        <a:pt x="9059" y="43200"/>
                        <a:pt x="3953" y="41258"/>
                        <a:pt x="-1" y="37744"/>
                      </a:cubicBezTo>
                    </a:path>
                    <a:path w="35950" h="43200" stroke="0" extrusionOk="0">
                      <a:moveTo>
                        <a:pt x="9664" y="514"/>
                      </a:moveTo>
                      <a:cubicBezTo>
                        <a:pt x="11202" y="172"/>
                        <a:pt x="12773" y="-1"/>
                        <a:pt x="14350" y="0"/>
                      </a:cubicBezTo>
                      <a:cubicBezTo>
                        <a:pt x="26279" y="0"/>
                        <a:pt x="35950" y="9670"/>
                        <a:pt x="35950" y="21600"/>
                      </a:cubicBezTo>
                      <a:cubicBezTo>
                        <a:pt x="35950" y="33529"/>
                        <a:pt x="26279" y="43200"/>
                        <a:pt x="14350" y="43200"/>
                      </a:cubicBezTo>
                      <a:cubicBezTo>
                        <a:pt x="9059" y="43200"/>
                        <a:pt x="3953" y="41258"/>
                        <a:pt x="-1" y="37744"/>
                      </a:cubicBezTo>
                      <a:lnTo>
                        <a:pt x="14350" y="21600"/>
                      </a:lnTo>
                      <a:lnTo>
                        <a:pt x="9664" y="514"/>
                      </a:lnTo>
                      <a:close/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711" name="Arc 96" descr="50%"/>
                <p:cNvSpPr>
                  <a:spLocks/>
                </p:cNvSpPr>
                <p:nvPr/>
              </p:nvSpPr>
              <p:spPr bwMode="auto">
                <a:xfrm>
                  <a:off x="4790" y="2362"/>
                  <a:ext cx="6" cy="4"/>
                </a:xfrm>
                <a:custGeom>
                  <a:avLst/>
                  <a:gdLst>
                    <a:gd name="T0" fmla="*/ 1 w 30373"/>
                    <a:gd name="T1" fmla="*/ 0 h 43200"/>
                    <a:gd name="T2" fmla="*/ 0 w 30373"/>
                    <a:gd name="T3" fmla="*/ 4 h 43200"/>
                    <a:gd name="T4" fmla="*/ 2 w 30373"/>
                    <a:gd name="T5" fmla="*/ 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0373" h="43200" fill="none" extrusionOk="0">
                      <a:moveTo>
                        <a:pt x="4087" y="514"/>
                      </a:moveTo>
                      <a:cubicBezTo>
                        <a:pt x="5625" y="172"/>
                        <a:pt x="7196" y="-1"/>
                        <a:pt x="8773" y="0"/>
                      </a:cubicBezTo>
                      <a:cubicBezTo>
                        <a:pt x="20702" y="0"/>
                        <a:pt x="30373" y="9670"/>
                        <a:pt x="30373" y="21600"/>
                      </a:cubicBezTo>
                      <a:cubicBezTo>
                        <a:pt x="30373" y="33529"/>
                        <a:pt x="20702" y="43200"/>
                        <a:pt x="8773" y="43200"/>
                      </a:cubicBezTo>
                      <a:cubicBezTo>
                        <a:pt x="5750" y="43200"/>
                        <a:pt x="2761" y="42565"/>
                        <a:pt x="-1" y="41338"/>
                      </a:cubicBezTo>
                    </a:path>
                    <a:path w="30373" h="43200" stroke="0" extrusionOk="0">
                      <a:moveTo>
                        <a:pt x="4087" y="514"/>
                      </a:moveTo>
                      <a:cubicBezTo>
                        <a:pt x="5625" y="172"/>
                        <a:pt x="7196" y="-1"/>
                        <a:pt x="8773" y="0"/>
                      </a:cubicBezTo>
                      <a:cubicBezTo>
                        <a:pt x="20702" y="0"/>
                        <a:pt x="30373" y="9670"/>
                        <a:pt x="30373" y="21600"/>
                      </a:cubicBezTo>
                      <a:cubicBezTo>
                        <a:pt x="30373" y="33529"/>
                        <a:pt x="20702" y="43200"/>
                        <a:pt x="8773" y="43200"/>
                      </a:cubicBezTo>
                      <a:cubicBezTo>
                        <a:pt x="5750" y="43200"/>
                        <a:pt x="2761" y="42565"/>
                        <a:pt x="-1" y="41338"/>
                      </a:cubicBezTo>
                      <a:lnTo>
                        <a:pt x="8773" y="21600"/>
                      </a:lnTo>
                      <a:lnTo>
                        <a:pt x="4087" y="514"/>
                      </a:lnTo>
                      <a:close/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7703" name="Freeform 97" descr="50%"/>
              <p:cNvSpPr>
                <a:spLocks/>
              </p:cNvSpPr>
              <p:nvPr/>
            </p:nvSpPr>
            <p:spPr bwMode="auto">
              <a:xfrm>
                <a:off x="4729" y="2290"/>
                <a:ext cx="312" cy="58"/>
              </a:xfrm>
              <a:custGeom>
                <a:avLst/>
                <a:gdLst>
                  <a:gd name="T0" fmla="*/ 7 w 312"/>
                  <a:gd name="T1" fmla="*/ 48 h 58"/>
                  <a:gd name="T2" fmla="*/ 21 w 312"/>
                  <a:gd name="T3" fmla="*/ 44 h 58"/>
                  <a:gd name="T4" fmla="*/ 42 w 312"/>
                  <a:gd name="T5" fmla="*/ 39 h 58"/>
                  <a:gd name="T6" fmla="*/ 63 w 312"/>
                  <a:gd name="T7" fmla="*/ 36 h 58"/>
                  <a:gd name="T8" fmla="*/ 83 w 312"/>
                  <a:gd name="T9" fmla="*/ 32 h 58"/>
                  <a:gd name="T10" fmla="*/ 94 w 312"/>
                  <a:gd name="T11" fmla="*/ 27 h 58"/>
                  <a:gd name="T12" fmla="*/ 104 w 312"/>
                  <a:gd name="T13" fmla="*/ 18 h 58"/>
                  <a:gd name="T14" fmla="*/ 119 w 312"/>
                  <a:gd name="T15" fmla="*/ 5 h 58"/>
                  <a:gd name="T16" fmla="*/ 130 w 312"/>
                  <a:gd name="T17" fmla="*/ 10 h 58"/>
                  <a:gd name="T18" fmla="*/ 134 w 312"/>
                  <a:gd name="T19" fmla="*/ 25 h 58"/>
                  <a:gd name="T20" fmla="*/ 142 w 312"/>
                  <a:gd name="T21" fmla="*/ 31 h 58"/>
                  <a:gd name="T22" fmla="*/ 168 w 312"/>
                  <a:gd name="T23" fmla="*/ 35 h 58"/>
                  <a:gd name="T24" fmla="*/ 187 w 312"/>
                  <a:gd name="T25" fmla="*/ 36 h 58"/>
                  <a:gd name="T26" fmla="*/ 210 w 312"/>
                  <a:gd name="T27" fmla="*/ 35 h 58"/>
                  <a:gd name="T28" fmla="*/ 219 w 312"/>
                  <a:gd name="T29" fmla="*/ 43 h 58"/>
                  <a:gd name="T30" fmla="*/ 238 w 312"/>
                  <a:gd name="T31" fmla="*/ 44 h 58"/>
                  <a:gd name="T32" fmla="*/ 258 w 312"/>
                  <a:gd name="T33" fmla="*/ 34 h 58"/>
                  <a:gd name="T34" fmla="*/ 275 w 312"/>
                  <a:gd name="T35" fmla="*/ 20 h 58"/>
                  <a:gd name="T36" fmla="*/ 288 w 312"/>
                  <a:gd name="T37" fmla="*/ 11 h 58"/>
                  <a:gd name="T38" fmla="*/ 299 w 312"/>
                  <a:gd name="T39" fmla="*/ 6 h 58"/>
                  <a:gd name="T40" fmla="*/ 309 w 312"/>
                  <a:gd name="T41" fmla="*/ 8 h 58"/>
                  <a:gd name="T42" fmla="*/ 301 w 312"/>
                  <a:gd name="T43" fmla="*/ 18 h 58"/>
                  <a:gd name="T44" fmla="*/ 291 w 312"/>
                  <a:gd name="T45" fmla="*/ 26 h 58"/>
                  <a:gd name="T46" fmla="*/ 285 w 312"/>
                  <a:gd name="T47" fmla="*/ 34 h 58"/>
                  <a:gd name="T48" fmla="*/ 280 w 312"/>
                  <a:gd name="T49" fmla="*/ 40 h 58"/>
                  <a:gd name="T50" fmla="*/ 279 w 312"/>
                  <a:gd name="T51" fmla="*/ 48 h 58"/>
                  <a:gd name="T52" fmla="*/ 270 w 312"/>
                  <a:gd name="T53" fmla="*/ 46 h 58"/>
                  <a:gd name="T54" fmla="*/ 262 w 312"/>
                  <a:gd name="T55" fmla="*/ 49 h 58"/>
                  <a:gd name="T56" fmla="*/ 253 w 312"/>
                  <a:gd name="T57" fmla="*/ 48 h 58"/>
                  <a:gd name="T58" fmla="*/ 243 w 312"/>
                  <a:gd name="T59" fmla="*/ 48 h 58"/>
                  <a:gd name="T60" fmla="*/ 232 w 312"/>
                  <a:gd name="T61" fmla="*/ 47 h 58"/>
                  <a:gd name="T62" fmla="*/ 220 w 312"/>
                  <a:gd name="T63" fmla="*/ 48 h 58"/>
                  <a:gd name="T64" fmla="*/ 208 w 312"/>
                  <a:gd name="T65" fmla="*/ 50 h 58"/>
                  <a:gd name="T66" fmla="*/ 196 w 312"/>
                  <a:gd name="T67" fmla="*/ 50 h 58"/>
                  <a:gd name="T68" fmla="*/ 184 w 312"/>
                  <a:gd name="T69" fmla="*/ 50 h 58"/>
                  <a:gd name="T70" fmla="*/ 174 w 312"/>
                  <a:gd name="T71" fmla="*/ 52 h 58"/>
                  <a:gd name="T72" fmla="*/ 162 w 312"/>
                  <a:gd name="T73" fmla="*/ 54 h 58"/>
                  <a:gd name="T74" fmla="*/ 148 w 312"/>
                  <a:gd name="T75" fmla="*/ 54 h 58"/>
                  <a:gd name="T76" fmla="*/ 136 w 312"/>
                  <a:gd name="T77" fmla="*/ 54 h 58"/>
                  <a:gd name="T78" fmla="*/ 125 w 312"/>
                  <a:gd name="T79" fmla="*/ 53 h 58"/>
                  <a:gd name="T80" fmla="*/ 113 w 312"/>
                  <a:gd name="T81" fmla="*/ 54 h 58"/>
                  <a:gd name="T82" fmla="*/ 104 w 312"/>
                  <a:gd name="T83" fmla="*/ 53 h 58"/>
                  <a:gd name="T84" fmla="*/ 93 w 312"/>
                  <a:gd name="T85" fmla="*/ 54 h 58"/>
                  <a:gd name="T86" fmla="*/ 80 w 312"/>
                  <a:gd name="T87" fmla="*/ 54 h 58"/>
                  <a:gd name="T88" fmla="*/ 64 w 312"/>
                  <a:gd name="T89" fmla="*/ 57 h 58"/>
                  <a:gd name="T90" fmla="*/ 46 w 312"/>
                  <a:gd name="T91" fmla="*/ 57 h 58"/>
                  <a:gd name="T92" fmla="*/ 31 w 312"/>
                  <a:gd name="T93" fmla="*/ 55 h 58"/>
                  <a:gd name="T94" fmla="*/ 17 w 312"/>
                  <a:gd name="T95" fmla="*/ 55 h 58"/>
                  <a:gd name="T96" fmla="*/ 4 w 312"/>
                  <a:gd name="T97" fmla="*/ 53 h 5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312" h="58">
                    <a:moveTo>
                      <a:pt x="0" y="52"/>
                    </a:moveTo>
                    <a:lnTo>
                      <a:pt x="2" y="50"/>
                    </a:lnTo>
                    <a:lnTo>
                      <a:pt x="5" y="49"/>
                    </a:lnTo>
                    <a:lnTo>
                      <a:pt x="7" y="48"/>
                    </a:lnTo>
                    <a:lnTo>
                      <a:pt x="10" y="47"/>
                    </a:lnTo>
                    <a:lnTo>
                      <a:pt x="13" y="46"/>
                    </a:lnTo>
                    <a:lnTo>
                      <a:pt x="18" y="45"/>
                    </a:lnTo>
                    <a:lnTo>
                      <a:pt x="21" y="44"/>
                    </a:lnTo>
                    <a:lnTo>
                      <a:pt x="26" y="42"/>
                    </a:lnTo>
                    <a:lnTo>
                      <a:pt x="31" y="41"/>
                    </a:lnTo>
                    <a:lnTo>
                      <a:pt x="37" y="40"/>
                    </a:lnTo>
                    <a:lnTo>
                      <a:pt x="42" y="39"/>
                    </a:lnTo>
                    <a:lnTo>
                      <a:pt x="48" y="39"/>
                    </a:lnTo>
                    <a:lnTo>
                      <a:pt x="53" y="38"/>
                    </a:lnTo>
                    <a:lnTo>
                      <a:pt x="58" y="37"/>
                    </a:lnTo>
                    <a:lnTo>
                      <a:pt x="63" y="36"/>
                    </a:lnTo>
                    <a:lnTo>
                      <a:pt x="67" y="35"/>
                    </a:lnTo>
                    <a:lnTo>
                      <a:pt x="73" y="34"/>
                    </a:lnTo>
                    <a:lnTo>
                      <a:pt x="78" y="33"/>
                    </a:lnTo>
                    <a:lnTo>
                      <a:pt x="83" y="32"/>
                    </a:lnTo>
                    <a:lnTo>
                      <a:pt x="86" y="32"/>
                    </a:lnTo>
                    <a:lnTo>
                      <a:pt x="90" y="30"/>
                    </a:lnTo>
                    <a:lnTo>
                      <a:pt x="92" y="29"/>
                    </a:lnTo>
                    <a:lnTo>
                      <a:pt x="94" y="27"/>
                    </a:lnTo>
                    <a:lnTo>
                      <a:pt x="96" y="25"/>
                    </a:lnTo>
                    <a:lnTo>
                      <a:pt x="98" y="23"/>
                    </a:lnTo>
                    <a:lnTo>
                      <a:pt x="101" y="20"/>
                    </a:lnTo>
                    <a:lnTo>
                      <a:pt x="104" y="18"/>
                    </a:lnTo>
                    <a:lnTo>
                      <a:pt x="107" y="14"/>
                    </a:lnTo>
                    <a:lnTo>
                      <a:pt x="111" y="11"/>
                    </a:lnTo>
                    <a:lnTo>
                      <a:pt x="115" y="8"/>
                    </a:lnTo>
                    <a:lnTo>
                      <a:pt x="119" y="5"/>
                    </a:lnTo>
                    <a:lnTo>
                      <a:pt x="123" y="2"/>
                    </a:lnTo>
                    <a:lnTo>
                      <a:pt x="127" y="0"/>
                    </a:lnTo>
                    <a:lnTo>
                      <a:pt x="128" y="4"/>
                    </a:lnTo>
                    <a:lnTo>
                      <a:pt x="130" y="10"/>
                    </a:lnTo>
                    <a:lnTo>
                      <a:pt x="132" y="15"/>
                    </a:lnTo>
                    <a:lnTo>
                      <a:pt x="133" y="20"/>
                    </a:lnTo>
                    <a:lnTo>
                      <a:pt x="134" y="22"/>
                    </a:lnTo>
                    <a:lnTo>
                      <a:pt x="134" y="25"/>
                    </a:lnTo>
                    <a:lnTo>
                      <a:pt x="134" y="27"/>
                    </a:lnTo>
                    <a:lnTo>
                      <a:pt x="132" y="29"/>
                    </a:lnTo>
                    <a:lnTo>
                      <a:pt x="137" y="31"/>
                    </a:lnTo>
                    <a:lnTo>
                      <a:pt x="142" y="31"/>
                    </a:lnTo>
                    <a:lnTo>
                      <a:pt x="148" y="32"/>
                    </a:lnTo>
                    <a:lnTo>
                      <a:pt x="155" y="33"/>
                    </a:lnTo>
                    <a:lnTo>
                      <a:pt x="162" y="34"/>
                    </a:lnTo>
                    <a:lnTo>
                      <a:pt x="168" y="35"/>
                    </a:lnTo>
                    <a:lnTo>
                      <a:pt x="174" y="36"/>
                    </a:lnTo>
                    <a:lnTo>
                      <a:pt x="178" y="37"/>
                    </a:lnTo>
                    <a:lnTo>
                      <a:pt x="183" y="37"/>
                    </a:lnTo>
                    <a:lnTo>
                      <a:pt x="187" y="36"/>
                    </a:lnTo>
                    <a:lnTo>
                      <a:pt x="190" y="34"/>
                    </a:lnTo>
                    <a:lnTo>
                      <a:pt x="194" y="32"/>
                    </a:lnTo>
                    <a:lnTo>
                      <a:pt x="202" y="33"/>
                    </a:lnTo>
                    <a:lnTo>
                      <a:pt x="210" y="35"/>
                    </a:lnTo>
                    <a:lnTo>
                      <a:pt x="216" y="37"/>
                    </a:lnTo>
                    <a:lnTo>
                      <a:pt x="213" y="40"/>
                    </a:lnTo>
                    <a:lnTo>
                      <a:pt x="215" y="41"/>
                    </a:lnTo>
                    <a:lnTo>
                      <a:pt x="219" y="43"/>
                    </a:lnTo>
                    <a:lnTo>
                      <a:pt x="223" y="44"/>
                    </a:lnTo>
                    <a:lnTo>
                      <a:pt x="228" y="44"/>
                    </a:lnTo>
                    <a:lnTo>
                      <a:pt x="233" y="44"/>
                    </a:lnTo>
                    <a:lnTo>
                      <a:pt x="238" y="44"/>
                    </a:lnTo>
                    <a:lnTo>
                      <a:pt x="242" y="43"/>
                    </a:lnTo>
                    <a:lnTo>
                      <a:pt x="248" y="41"/>
                    </a:lnTo>
                    <a:lnTo>
                      <a:pt x="253" y="39"/>
                    </a:lnTo>
                    <a:lnTo>
                      <a:pt x="258" y="34"/>
                    </a:lnTo>
                    <a:lnTo>
                      <a:pt x="263" y="31"/>
                    </a:lnTo>
                    <a:lnTo>
                      <a:pt x="268" y="26"/>
                    </a:lnTo>
                    <a:lnTo>
                      <a:pt x="271" y="24"/>
                    </a:lnTo>
                    <a:lnTo>
                      <a:pt x="275" y="20"/>
                    </a:lnTo>
                    <a:lnTo>
                      <a:pt x="278" y="18"/>
                    </a:lnTo>
                    <a:lnTo>
                      <a:pt x="282" y="15"/>
                    </a:lnTo>
                    <a:lnTo>
                      <a:pt x="285" y="13"/>
                    </a:lnTo>
                    <a:lnTo>
                      <a:pt x="288" y="11"/>
                    </a:lnTo>
                    <a:lnTo>
                      <a:pt x="291" y="10"/>
                    </a:lnTo>
                    <a:lnTo>
                      <a:pt x="293" y="9"/>
                    </a:lnTo>
                    <a:lnTo>
                      <a:pt x="296" y="7"/>
                    </a:lnTo>
                    <a:lnTo>
                      <a:pt x="299" y="6"/>
                    </a:lnTo>
                    <a:lnTo>
                      <a:pt x="302" y="6"/>
                    </a:lnTo>
                    <a:lnTo>
                      <a:pt x="306" y="6"/>
                    </a:lnTo>
                    <a:lnTo>
                      <a:pt x="311" y="6"/>
                    </a:lnTo>
                    <a:lnTo>
                      <a:pt x="309" y="8"/>
                    </a:lnTo>
                    <a:lnTo>
                      <a:pt x="307" y="11"/>
                    </a:lnTo>
                    <a:lnTo>
                      <a:pt x="305" y="12"/>
                    </a:lnTo>
                    <a:lnTo>
                      <a:pt x="303" y="15"/>
                    </a:lnTo>
                    <a:lnTo>
                      <a:pt x="301" y="18"/>
                    </a:lnTo>
                    <a:lnTo>
                      <a:pt x="298" y="20"/>
                    </a:lnTo>
                    <a:lnTo>
                      <a:pt x="294" y="23"/>
                    </a:lnTo>
                    <a:lnTo>
                      <a:pt x="292" y="25"/>
                    </a:lnTo>
                    <a:lnTo>
                      <a:pt x="291" y="26"/>
                    </a:lnTo>
                    <a:lnTo>
                      <a:pt x="289" y="29"/>
                    </a:lnTo>
                    <a:lnTo>
                      <a:pt x="288" y="30"/>
                    </a:lnTo>
                    <a:lnTo>
                      <a:pt x="286" y="32"/>
                    </a:lnTo>
                    <a:lnTo>
                      <a:pt x="285" y="34"/>
                    </a:lnTo>
                    <a:lnTo>
                      <a:pt x="284" y="36"/>
                    </a:lnTo>
                    <a:lnTo>
                      <a:pt x="282" y="38"/>
                    </a:lnTo>
                    <a:lnTo>
                      <a:pt x="281" y="39"/>
                    </a:lnTo>
                    <a:lnTo>
                      <a:pt x="280" y="40"/>
                    </a:lnTo>
                    <a:lnTo>
                      <a:pt x="280" y="43"/>
                    </a:lnTo>
                    <a:lnTo>
                      <a:pt x="279" y="44"/>
                    </a:lnTo>
                    <a:lnTo>
                      <a:pt x="279" y="46"/>
                    </a:lnTo>
                    <a:lnTo>
                      <a:pt x="279" y="48"/>
                    </a:lnTo>
                    <a:lnTo>
                      <a:pt x="277" y="46"/>
                    </a:lnTo>
                    <a:lnTo>
                      <a:pt x="274" y="46"/>
                    </a:lnTo>
                    <a:lnTo>
                      <a:pt x="272" y="46"/>
                    </a:lnTo>
                    <a:lnTo>
                      <a:pt x="270" y="46"/>
                    </a:lnTo>
                    <a:lnTo>
                      <a:pt x="268" y="47"/>
                    </a:lnTo>
                    <a:lnTo>
                      <a:pt x="266" y="48"/>
                    </a:lnTo>
                    <a:lnTo>
                      <a:pt x="264" y="48"/>
                    </a:lnTo>
                    <a:lnTo>
                      <a:pt x="262" y="49"/>
                    </a:lnTo>
                    <a:lnTo>
                      <a:pt x="259" y="49"/>
                    </a:lnTo>
                    <a:lnTo>
                      <a:pt x="256" y="49"/>
                    </a:lnTo>
                    <a:lnTo>
                      <a:pt x="254" y="48"/>
                    </a:lnTo>
                    <a:lnTo>
                      <a:pt x="253" y="48"/>
                    </a:lnTo>
                    <a:lnTo>
                      <a:pt x="251" y="47"/>
                    </a:lnTo>
                    <a:lnTo>
                      <a:pt x="249" y="47"/>
                    </a:lnTo>
                    <a:lnTo>
                      <a:pt x="245" y="48"/>
                    </a:lnTo>
                    <a:lnTo>
                      <a:pt x="243" y="48"/>
                    </a:lnTo>
                    <a:lnTo>
                      <a:pt x="241" y="48"/>
                    </a:lnTo>
                    <a:lnTo>
                      <a:pt x="238" y="48"/>
                    </a:lnTo>
                    <a:lnTo>
                      <a:pt x="235" y="47"/>
                    </a:lnTo>
                    <a:lnTo>
                      <a:pt x="232" y="47"/>
                    </a:lnTo>
                    <a:lnTo>
                      <a:pt x="229" y="48"/>
                    </a:lnTo>
                    <a:lnTo>
                      <a:pt x="225" y="48"/>
                    </a:lnTo>
                    <a:lnTo>
                      <a:pt x="223" y="48"/>
                    </a:lnTo>
                    <a:lnTo>
                      <a:pt x="220" y="48"/>
                    </a:lnTo>
                    <a:lnTo>
                      <a:pt x="217" y="48"/>
                    </a:lnTo>
                    <a:lnTo>
                      <a:pt x="214" y="48"/>
                    </a:lnTo>
                    <a:lnTo>
                      <a:pt x="212" y="49"/>
                    </a:lnTo>
                    <a:lnTo>
                      <a:pt x="208" y="50"/>
                    </a:lnTo>
                    <a:lnTo>
                      <a:pt x="205" y="50"/>
                    </a:lnTo>
                    <a:lnTo>
                      <a:pt x="202" y="51"/>
                    </a:lnTo>
                    <a:lnTo>
                      <a:pt x="199" y="51"/>
                    </a:lnTo>
                    <a:lnTo>
                      <a:pt x="196" y="50"/>
                    </a:lnTo>
                    <a:lnTo>
                      <a:pt x="193" y="49"/>
                    </a:lnTo>
                    <a:lnTo>
                      <a:pt x="189" y="50"/>
                    </a:lnTo>
                    <a:lnTo>
                      <a:pt x="187" y="50"/>
                    </a:lnTo>
                    <a:lnTo>
                      <a:pt x="184" y="50"/>
                    </a:lnTo>
                    <a:lnTo>
                      <a:pt x="181" y="50"/>
                    </a:lnTo>
                    <a:lnTo>
                      <a:pt x="179" y="50"/>
                    </a:lnTo>
                    <a:lnTo>
                      <a:pt x="176" y="51"/>
                    </a:lnTo>
                    <a:lnTo>
                      <a:pt x="174" y="52"/>
                    </a:lnTo>
                    <a:lnTo>
                      <a:pt x="171" y="52"/>
                    </a:lnTo>
                    <a:lnTo>
                      <a:pt x="168" y="53"/>
                    </a:lnTo>
                    <a:lnTo>
                      <a:pt x="165" y="53"/>
                    </a:lnTo>
                    <a:lnTo>
                      <a:pt x="162" y="54"/>
                    </a:lnTo>
                    <a:lnTo>
                      <a:pt x="159" y="54"/>
                    </a:lnTo>
                    <a:lnTo>
                      <a:pt x="155" y="54"/>
                    </a:lnTo>
                    <a:lnTo>
                      <a:pt x="151" y="53"/>
                    </a:lnTo>
                    <a:lnTo>
                      <a:pt x="148" y="54"/>
                    </a:lnTo>
                    <a:lnTo>
                      <a:pt x="145" y="54"/>
                    </a:lnTo>
                    <a:lnTo>
                      <a:pt x="142" y="54"/>
                    </a:lnTo>
                    <a:lnTo>
                      <a:pt x="139" y="54"/>
                    </a:lnTo>
                    <a:lnTo>
                      <a:pt x="136" y="54"/>
                    </a:lnTo>
                    <a:lnTo>
                      <a:pt x="133" y="54"/>
                    </a:lnTo>
                    <a:lnTo>
                      <a:pt x="130" y="53"/>
                    </a:lnTo>
                    <a:lnTo>
                      <a:pt x="128" y="53"/>
                    </a:lnTo>
                    <a:lnTo>
                      <a:pt x="125" y="53"/>
                    </a:lnTo>
                    <a:lnTo>
                      <a:pt x="122" y="53"/>
                    </a:lnTo>
                    <a:lnTo>
                      <a:pt x="119" y="53"/>
                    </a:lnTo>
                    <a:lnTo>
                      <a:pt x="116" y="53"/>
                    </a:lnTo>
                    <a:lnTo>
                      <a:pt x="113" y="54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6" y="53"/>
                    </a:lnTo>
                    <a:lnTo>
                      <a:pt x="104" y="53"/>
                    </a:lnTo>
                    <a:lnTo>
                      <a:pt x="101" y="53"/>
                    </a:lnTo>
                    <a:lnTo>
                      <a:pt x="98" y="53"/>
                    </a:lnTo>
                    <a:lnTo>
                      <a:pt x="96" y="53"/>
                    </a:lnTo>
                    <a:lnTo>
                      <a:pt x="93" y="54"/>
                    </a:lnTo>
                    <a:lnTo>
                      <a:pt x="89" y="54"/>
                    </a:lnTo>
                    <a:lnTo>
                      <a:pt x="86" y="53"/>
                    </a:lnTo>
                    <a:lnTo>
                      <a:pt x="83" y="54"/>
                    </a:lnTo>
                    <a:lnTo>
                      <a:pt x="80" y="54"/>
                    </a:lnTo>
                    <a:lnTo>
                      <a:pt x="77" y="55"/>
                    </a:lnTo>
                    <a:lnTo>
                      <a:pt x="74" y="56"/>
                    </a:lnTo>
                    <a:lnTo>
                      <a:pt x="69" y="57"/>
                    </a:lnTo>
                    <a:lnTo>
                      <a:pt x="64" y="57"/>
                    </a:lnTo>
                    <a:lnTo>
                      <a:pt x="59" y="57"/>
                    </a:lnTo>
                    <a:lnTo>
                      <a:pt x="55" y="57"/>
                    </a:lnTo>
                    <a:lnTo>
                      <a:pt x="49" y="57"/>
                    </a:lnTo>
                    <a:lnTo>
                      <a:pt x="46" y="57"/>
                    </a:lnTo>
                    <a:lnTo>
                      <a:pt x="43" y="57"/>
                    </a:lnTo>
                    <a:lnTo>
                      <a:pt x="40" y="57"/>
                    </a:lnTo>
                    <a:lnTo>
                      <a:pt x="36" y="57"/>
                    </a:lnTo>
                    <a:lnTo>
                      <a:pt x="31" y="55"/>
                    </a:lnTo>
                    <a:lnTo>
                      <a:pt x="27" y="55"/>
                    </a:lnTo>
                    <a:lnTo>
                      <a:pt x="23" y="55"/>
                    </a:lnTo>
                    <a:lnTo>
                      <a:pt x="20" y="55"/>
                    </a:lnTo>
                    <a:lnTo>
                      <a:pt x="17" y="55"/>
                    </a:lnTo>
                    <a:lnTo>
                      <a:pt x="13" y="55"/>
                    </a:lnTo>
                    <a:lnTo>
                      <a:pt x="10" y="54"/>
                    </a:lnTo>
                    <a:lnTo>
                      <a:pt x="7" y="53"/>
                    </a:lnTo>
                    <a:lnTo>
                      <a:pt x="4" y="53"/>
                    </a:lnTo>
                    <a:lnTo>
                      <a:pt x="1" y="52"/>
                    </a:lnTo>
                    <a:lnTo>
                      <a:pt x="0" y="52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704" name="Group 98"/>
              <p:cNvGrpSpPr>
                <a:grpSpLocks/>
              </p:cNvGrpSpPr>
              <p:nvPr/>
            </p:nvGrpSpPr>
            <p:grpSpPr bwMode="auto">
              <a:xfrm>
                <a:off x="4793" y="2364"/>
                <a:ext cx="47" cy="37"/>
                <a:chOff x="4793" y="2364"/>
                <a:chExt cx="47" cy="37"/>
              </a:xfrm>
            </p:grpSpPr>
            <p:sp>
              <p:nvSpPr>
                <p:cNvPr id="7705" name="Freeform 99" descr="50%"/>
                <p:cNvSpPr>
                  <a:spLocks/>
                </p:cNvSpPr>
                <p:nvPr/>
              </p:nvSpPr>
              <p:spPr bwMode="auto">
                <a:xfrm>
                  <a:off x="4793" y="2370"/>
                  <a:ext cx="47" cy="31"/>
                </a:xfrm>
                <a:custGeom>
                  <a:avLst/>
                  <a:gdLst>
                    <a:gd name="T0" fmla="*/ 43 w 47"/>
                    <a:gd name="T1" fmla="*/ 27 h 31"/>
                    <a:gd name="T2" fmla="*/ 40 w 47"/>
                    <a:gd name="T3" fmla="*/ 24 h 31"/>
                    <a:gd name="T4" fmla="*/ 39 w 47"/>
                    <a:gd name="T5" fmla="*/ 22 h 31"/>
                    <a:gd name="T6" fmla="*/ 37 w 47"/>
                    <a:gd name="T7" fmla="*/ 21 h 31"/>
                    <a:gd name="T8" fmla="*/ 36 w 47"/>
                    <a:gd name="T9" fmla="*/ 19 h 31"/>
                    <a:gd name="T10" fmla="*/ 35 w 47"/>
                    <a:gd name="T11" fmla="*/ 17 h 31"/>
                    <a:gd name="T12" fmla="*/ 34 w 47"/>
                    <a:gd name="T13" fmla="*/ 16 h 31"/>
                    <a:gd name="T14" fmla="*/ 33 w 47"/>
                    <a:gd name="T15" fmla="*/ 14 h 31"/>
                    <a:gd name="T16" fmla="*/ 32 w 47"/>
                    <a:gd name="T17" fmla="*/ 12 h 31"/>
                    <a:gd name="T18" fmla="*/ 31 w 47"/>
                    <a:gd name="T19" fmla="*/ 10 h 31"/>
                    <a:gd name="T20" fmla="*/ 30 w 47"/>
                    <a:gd name="T21" fmla="*/ 7 h 31"/>
                    <a:gd name="T22" fmla="*/ 30 w 47"/>
                    <a:gd name="T23" fmla="*/ 5 h 31"/>
                    <a:gd name="T24" fmla="*/ 30 w 47"/>
                    <a:gd name="T25" fmla="*/ 3 h 31"/>
                    <a:gd name="T26" fmla="*/ 30 w 47"/>
                    <a:gd name="T27" fmla="*/ 0 h 31"/>
                    <a:gd name="T28" fmla="*/ 0 w 47"/>
                    <a:gd name="T29" fmla="*/ 0 h 31"/>
                    <a:gd name="T30" fmla="*/ 1 w 47"/>
                    <a:gd name="T31" fmla="*/ 2 h 31"/>
                    <a:gd name="T32" fmla="*/ 2 w 47"/>
                    <a:gd name="T33" fmla="*/ 4 h 31"/>
                    <a:gd name="T34" fmla="*/ 4 w 47"/>
                    <a:gd name="T35" fmla="*/ 6 h 31"/>
                    <a:gd name="T36" fmla="*/ 6 w 47"/>
                    <a:gd name="T37" fmla="*/ 9 h 31"/>
                    <a:gd name="T38" fmla="*/ 8 w 47"/>
                    <a:gd name="T39" fmla="*/ 11 h 31"/>
                    <a:gd name="T40" fmla="*/ 10 w 47"/>
                    <a:gd name="T41" fmla="*/ 13 h 31"/>
                    <a:gd name="T42" fmla="*/ 12 w 47"/>
                    <a:gd name="T43" fmla="*/ 15 h 31"/>
                    <a:gd name="T44" fmla="*/ 14 w 47"/>
                    <a:gd name="T45" fmla="*/ 17 h 31"/>
                    <a:gd name="T46" fmla="*/ 17 w 47"/>
                    <a:gd name="T47" fmla="*/ 19 h 31"/>
                    <a:gd name="T48" fmla="*/ 20 w 47"/>
                    <a:gd name="T49" fmla="*/ 22 h 31"/>
                    <a:gd name="T50" fmla="*/ 23 w 47"/>
                    <a:gd name="T51" fmla="*/ 23 h 31"/>
                    <a:gd name="T52" fmla="*/ 25 w 47"/>
                    <a:gd name="T53" fmla="*/ 24 h 31"/>
                    <a:gd name="T54" fmla="*/ 28 w 47"/>
                    <a:gd name="T55" fmla="*/ 26 h 31"/>
                    <a:gd name="T56" fmla="*/ 30 w 47"/>
                    <a:gd name="T57" fmla="*/ 27 h 31"/>
                    <a:gd name="T58" fmla="*/ 33 w 47"/>
                    <a:gd name="T59" fmla="*/ 28 h 31"/>
                    <a:gd name="T60" fmla="*/ 36 w 47"/>
                    <a:gd name="T61" fmla="*/ 28 h 31"/>
                    <a:gd name="T62" fmla="*/ 39 w 47"/>
                    <a:gd name="T63" fmla="*/ 29 h 31"/>
                    <a:gd name="T64" fmla="*/ 41 w 47"/>
                    <a:gd name="T65" fmla="*/ 29 h 31"/>
                    <a:gd name="T66" fmla="*/ 44 w 47"/>
                    <a:gd name="T67" fmla="*/ 29 h 31"/>
                    <a:gd name="T68" fmla="*/ 46 w 47"/>
                    <a:gd name="T69" fmla="*/ 30 h 31"/>
                    <a:gd name="T70" fmla="*/ 43 w 47"/>
                    <a:gd name="T71" fmla="*/ 27 h 31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47" h="31">
                      <a:moveTo>
                        <a:pt x="43" y="27"/>
                      </a:moveTo>
                      <a:lnTo>
                        <a:pt x="40" y="24"/>
                      </a:lnTo>
                      <a:lnTo>
                        <a:pt x="39" y="22"/>
                      </a:lnTo>
                      <a:lnTo>
                        <a:pt x="37" y="21"/>
                      </a:lnTo>
                      <a:lnTo>
                        <a:pt x="36" y="19"/>
                      </a:lnTo>
                      <a:lnTo>
                        <a:pt x="35" y="17"/>
                      </a:lnTo>
                      <a:lnTo>
                        <a:pt x="34" y="16"/>
                      </a:lnTo>
                      <a:lnTo>
                        <a:pt x="33" y="14"/>
                      </a:lnTo>
                      <a:lnTo>
                        <a:pt x="32" y="12"/>
                      </a:lnTo>
                      <a:lnTo>
                        <a:pt x="31" y="10"/>
                      </a:lnTo>
                      <a:lnTo>
                        <a:pt x="30" y="7"/>
                      </a:lnTo>
                      <a:lnTo>
                        <a:pt x="30" y="5"/>
                      </a:lnTo>
                      <a:lnTo>
                        <a:pt x="30" y="3"/>
                      </a:lnTo>
                      <a:lnTo>
                        <a:pt x="30" y="0"/>
                      </a:lnTo>
                      <a:lnTo>
                        <a:pt x="0" y="0"/>
                      </a:lnTo>
                      <a:lnTo>
                        <a:pt x="1" y="2"/>
                      </a:lnTo>
                      <a:lnTo>
                        <a:pt x="2" y="4"/>
                      </a:lnTo>
                      <a:lnTo>
                        <a:pt x="4" y="6"/>
                      </a:lnTo>
                      <a:lnTo>
                        <a:pt x="6" y="9"/>
                      </a:lnTo>
                      <a:lnTo>
                        <a:pt x="8" y="11"/>
                      </a:lnTo>
                      <a:lnTo>
                        <a:pt x="10" y="13"/>
                      </a:lnTo>
                      <a:lnTo>
                        <a:pt x="12" y="15"/>
                      </a:lnTo>
                      <a:lnTo>
                        <a:pt x="14" y="17"/>
                      </a:lnTo>
                      <a:lnTo>
                        <a:pt x="17" y="19"/>
                      </a:lnTo>
                      <a:lnTo>
                        <a:pt x="20" y="22"/>
                      </a:lnTo>
                      <a:lnTo>
                        <a:pt x="23" y="23"/>
                      </a:lnTo>
                      <a:lnTo>
                        <a:pt x="25" y="24"/>
                      </a:lnTo>
                      <a:lnTo>
                        <a:pt x="28" y="26"/>
                      </a:lnTo>
                      <a:lnTo>
                        <a:pt x="30" y="27"/>
                      </a:lnTo>
                      <a:lnTo>
                        <a:pt x="33" y="28"/>
                      </a:lnTo>
                      <a:lnTo>
                        <a:pt x="36" y="28"/>
                      </a:lnTo>
                      <a:lnTo>
                        <a:pt x="39" y="29"/>
                      </a:lnTo>
                      <a:lnTo>
                        <a:pt x="41" y="29"/>
                      </a:lnTo>
                      <a:lnTo>
                        <a:pt x="44" y="29"/>
                      </a:lnTo>
                      <a:lnTo>
                        <a:pt x="46" y="30"/>
                      </a:lnTo>
                      <a:lnTo>
                        <a:pt x="43" y="27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06" name="Freeform 100" descr="50%"/>
                <p:cNvSpPr>
                  <a:spLocks/>
                </p:cNvSpPr>
                <p:nvPr/>
              </p:nvSpPr>
              <p:spPr bwMode="auto">
                <a:xfrm>
                  <a:off x="4794" y="2364"/>
                  <a:ext cx="21" cy="7"/>
                </a:xfrm>
                <a:custGeom>
                  <a:avLst/>
                  <a:gdLst>
                    <a:gd name="T0" fmla="*/ 0 w 21"/>
                    <a:gd name="T1" fmla="*/ 6 h 7"/>
                    <a:gd name="T2" fmla="*/ 0 w 21"/>
                    <a:gd name="T3" fmla="*/ 6 h 7"/>
                    <a:gd name="T4" fmla="*/ 1 w 21"/>
                    <a:gd name="T5" fmla="*/ 0 h 7"/>
                    <a:gd name="T6" fmla="*/ 20 w 21"/>
                    <a:gd name="T7" fmla="*/ 0 h 7"/>
                    <a:gd name="T8" fmla="*/ 20 w 21"/>
                    <a:gd name="T9" fmla="*/ 6 h 7"/>
                    <a:gd name="T10" fmla="*/ 0 w 21"/>
                    <a:gd name="T11" fmla="*/ 6 h 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21" h="7">
                      <a:moveTo>
                        <a:pt x="0" y="6"/>
                      </a:moveTo>
                      <a:lnTo>
                        <a:pt x="0" y="6"/>
                      </a:lnTo>
                      <a:lnTo>
                        <a:pt x="1" y="0"/>
                      </a:lnTo>
                      <a:lnTo>
                        <a:pt x="20" y="0"/>
                      </a:lnTo>
                      <a:lnTo>
                        <a:pt x="20" y="6"/>
                      </a:lnTo>
                      <a:lnTo>
                        <a:pt x="0" y="6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7211" name="Rectangle 101"/>
            <p:cNvSpPr>
              <a:spLocks noChangeArrowheads="1"/>
            </p:cNvSpPr>
            <p:nvPr/>
          </p:nvSpPr>
          <p:spPr bwMode="auto">
            <a:xfrm>
              <a:off x="2671489" y="3845719"/>
              <a:ext cx="1614026" cy="897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/>
            <a:p>
              <a:pPr eaLnBrk="0" hangingPunct="0"/>
              <a:r>
                <a:rPr kumimoji="1" lang="en-US" altLang="zh-CN" dirty="0">
                  <a:latin typeface="Comic Sans MS" pitchFamily="66" charset="0"/>
                </a:rPr>
                <a:t>Massively Parallel Processors</a:t>
              </a:r>
            </a:p>
          </p:txBody>
        </p:sp>
        <p:grpSp>
          <p:nvGrpSpPr>
            <p:cNvPr id="7212" name="Group 102"/>
            <p:cNvGrpSpPr>
              <a:grpSpLocks/>
            </p:cNvGrpSpPr>
            <p:nvPr/>
          </p:nvGrpSpPr>
          <p:grpSpPr bwMode="auto">
            <a:xfrm>
              <a:off x="2290126" y="3205163"/>
              <a:ext cx="2609260" cy="591741"/>
              <a:chOff x="1093" y="2864"/>
              <a:chExt cx="2121" cy="497"/>
            </a:xfrm>
          </p:grpSpPr>
          <p:grpSp>
            <p:nvGrpSpPr>
              <p:cNvPr id="7213" name="Group 103"/>
              <p:cNvGrpSpPr>
                <a:grpSpLocks/>
              </p:cNvGrpSpPr>
              <p:nvPr/>
            </p:nvGrpSpPr>
            <p:grpSpPr bwMode="auto">
              <a:xfrm>
                <a:off x="1093" y="2864"/>
                <a:ext cx="321" cy="497"/>
                <a:chOff x="1093" y="2864"/>
                <a:chExt cx="321" cy="497"/>
              </a:xfrm>
            </p:grpSpPr>
            <p:grpSp>
              <p:nvGrpSpPr>
                <p:cNvPr id="7619" name="Group 104"/>
                <p:cNvGrpSpPr>
                  <a:grpSpLocks/>
                </p:cNvGrpSpPr>
                <p:nvPr/>
              </p:nvGrpSpPr>
              <p:grpSpPr bwMode="auto">
                <a:xfrm>
                  <a:off x="1093" y="2864"/>
                  <a:ext cx="321" cy="113"/>
                  <a:chOff x="1093" y="2864"/>
                  <a:chExt cx="321" cy="113"/>
                </a:xfrm>
              </p:grpSpPr>
              <p:sp>
                <p:nvSpPr>
                  <p:cNvPr id="7684" name="Freeform 105" descr="50%"/>
                  <p:cNvSpPr>
                    <a:spLocks/>
                  </p:cNvSpPr>
                  <p:nvPr/>
                </p:nvSpPr>
                <p:spPr bwMode="auto">
                  <a:xfrm>
                    <a:off x="1174" y="2937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685" name="Freeform 106" descr="50%"/>
                  <p:cNvSpPr>
                    <a:spLocks/>
                  </p:cNvSpPr>
                  <p:nvPr/>
                </p:nvSpPr>
                <p:spPr bwMode="auto">
                  <a:xfrm>
                    <a:off x="1093" y="2864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686" name="Group 107"/>
                  <p:cNvGrpSpPr>
                    <a:grpSpLocks/>
                  </p:cNvGrpSpPr>
                  <p:nvPr/>
                </p:nvGrpSpPr>
                <p:grpSpPr bwMode="auto">
                  <a:xfrm>
                    <a:off x="1120" y="2926"/>
                    <a:ext cx="2" cy="3"/>
                    <a:chOff x="1120" y="2926"/>
                    <a:chExt cx="2" cy="3"/>
                  </a:xfrm>
                </p:grpSpPr>
                <p:sp>
                  <p:nvSpPr>
                    <p:cNvPr id="7697" name="Oval 108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20" y="2926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98" name="Arc 109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21" y="2927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687" name="Group 110"/>
                  <p:cNvGrpSpPr>
                    <a:grpSpLocks/>
                  </p:cNvGrpSpPr>
                  <p:nvPr/>
                </p:nvGrpSpPr>
                <p:grpSpPr bwMode="auto">
                  <a:xfrm>
                    <a:off x="1137" y="2938"/>
                    <a:ext cx="23" cy="4"/>
                    <a:chOff x="1137" y="2938"/>
                    <a:chExt cx="23" cy="4"/>
                  </a:xfrm>
                </p:grpSpPr>
                <p:sp>
                  <p:nvSpPr>
                    <p:cNvPr id="7692" name="Arc 111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41" y="2938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93" name="Arc 112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37" y="2938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94" name="Arc 113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44" y="2938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95" name="Arc 114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48" y="2938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96" name="Arc 115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54" y="2938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688" name="Freeform 116" descr="50%"/>
                  <p:cNvSpPr>
                    <a:spLocks/>
                  </p:cNvSpPr>
                  <p:nvPr/>
                </p:nvSpPr>
                <p:spPr bwMode="auto">
                  <a:xfrm>
                    <a:off x="1093" y="2866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689" name="Group 117"/>
                  <p:cNvGrpSpPr>
                    <a:grpSpLocks/>
                  </p:cNvGrpSpPr>
                  <p:nvPr/>
                </p:nvGrpSpPr>
                <p:grpSpPr bwMode="auto">
                  <a:xfrm>
                    <a:off x="1157" y="2940"/>
                    <a:ext cx="47" cy="37"/>
                    <a:chOff x="1157" y="2940"/>
                    <a:chExt cx="47" cy="37"/>
                  </a:xfrm>
                </p:grpSpPr>
                <p:sp>
                  <p:nvSpPr>
                    <p:cNvPr id="7690" name="Freeform 118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57" y="2946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91" name="Freeform 119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58" y="2940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620" name="Group 120"/>
                <p:cNvGrpSpPr>
                  <a:grpSpLocks/>
                </p:cNvGrpSpPr>
                <p:nvPr/>
              </p:nvGrpSpPr>
              <p:grpSpPr bwMode="auto">
                <a:xfrm>
                  <a:off x="1093" y="2960"/>
                  <a:ext cx="321" cy="113"/>
                  <a:chOff x="1093" y="2960"/>
                  <a:chExt cx="321" cy="113"/>
                </a:xfrm>
              </p:grpSpPr>
              <p:sp>
                <p:nvSpPr>
                  <p:cNvPr id="7669" name="Freeform 121" descr="50%"/>
                  <p:cNvSpPr>
                    <a:spLocks/>
                  </p:cNvSpPr>
                  <p:nvPr/>
                </p:nvSpPr>
                <p:spPr bwMode="auto">
                  <a:xfrm>
                    <a:off x="1174" y="3033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670" name="Freeform 122" descr="50%"/>
                  <p:cNvSpPr>
                    <a:spLocks/>
                  </p:cNvSpPr>
                  <p:nvPr/>
                </p:nvSpPr>
                <p:spPr bwMode="auto">
                  <a:xfrm>
                    <a:off x="1093" y="2960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671" name="Group 123"/>
                  <p:cNvGrpSpPr>
                    <a:grpSpLocks/>
                  </p:cNvGrpSpPr>
                  <p:nvPr/>
                </p:nvGrpSpPr>
                <p:grpSpPr bwMode="auto">
                  <a:xfrm>
                    <a:off x="1120" y="3022"/>
                    <a:ext cx="2" cy="3"/>
                    <a:chOff x="1120" y="3022"/>
                    <a:chExt cx="2" cy="3"/>
                  </a:xfrm>
                </p:grpSpPr>
                <p:sp>
                  <p:nvSpPr>
                    <p:cNvPr id="7682" name="Oval 124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20" y="3022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83" name="Arc 125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21" y="3023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672" name="Group 126"/>
                  <p:cNvGrpSpPr>
                    <a:grpSpLocks/>
                  </p:cNvGrpSpPr>
                  <p:nvPr/>
                </p:nvGrpSpPr>
                <p:grpSpPr bwMode="auto">
                  <a:xfrm>
                    <a:off x="1137" y="3034"/>
                    <a:ext cx="23" cy="4"/>
                    <a:chOff x="1137" y="3034"/>
                    <a:chExt cx="23" cy="4"/>
                  </a:xfrm>
                </p:grpSpPr>
                <p:sp>
                  <p:nvSpPr>
                    <p:cNvPr id="7677" name="Arc 127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41" y="3034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78" name="Arc 128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37" y="3034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79" name="Arc 129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44" y="3034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80" name="Arc 130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48" y="3034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81" name="Arc 131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54" y="3034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673" name="Freeform 132" descr="50%"/>
                  <p:cNvSpPr>
                    <a:spLocks/>
                  </p:cNvSpPr>
                  <p:nvPr/>
                </p:nvSpPr>
                <p:spPr bwMode="auto">
                  <a:xfrm>
                    <a:off x="1093" y="2962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674" name="Group 133"/>
                  <p:cNvGrpSpPr>
                    <a:grpSpLocks/>
                  </p:cNvGrpSpPr>
                  <p:nvPr/>
                </p:nvGrpSpPr>
                <p:grpSpPr bwMode="auto">
                  <a:xfrm>
                    <a:off x="1157" y="3036"/>
                    <a:ext cx="47" cy="37"/>
                    <a:chOff x="1157" y="3036"/>
                    <a:chExt cx="47" cy="37"/>
                  </a:xfrm>
                </p:grpSpPr>
                <p:sp>
                  <p:nvSpPr>
                    <p:cNvPr id="7675" name="Freeform 134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57" y="3042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76" name="Freeform 135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58" y="3036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621" name="Group 136"/>
                <p:cNvGrpSpPr>
                  <a:grpSpLocks/>
                </p:cNvGrpSpPr>
                <p:nvPr/>
              </p:nvGrpSpPr>
              <p:grpSpPr bwMode="auto">
                <a:xfrm>
                  <a:off x="1093" y="3056"/>
                  <a:ext cx="321" cy="113"/>
                  <a:chOff x="1093" y="3056"/>
                  <a:chExt cx="321" cy="113"/>
                </a:xfrm>
              </p:grpSpPr>
              <p:sp>
                <p:nvSpPr>
                  <p:cNvPr id="7654" name="Freeform 137" descr="50%"/>
                  <p:cNvSpPr>
                    <a:spLocks/>
                  </p:cNvSpPr>
                  <p:nvPr/>
                </p:nvSpPr>
                <p:spPr bwMode="auto">
                  <a:xfrm>
                    <a:off x="1174" y="3129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655" name="Freeform 138" descr="50%"/>
                  <p:cNvSpPr>
                    <a:spLocks/>
                  </p:cNvSpPr>
                  <p:nvPr/>
                </p:nvSpPr>
                <p:spPr bwMode="auto">
                  <a:xfrm>
                    <a:off x="1093" y="3056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656" name="Group 139"/>
                  <p:cNvGrpSpPr>
                    <a:grpSpLocks/>
                  </p:cNvGrpSpPr>
                  <p:nvPr/>
                </p:nvGrpSpPr>
                <p:grpSpPr bwMode="auto">
                  <a:xfrm>
                    <a:off x="1120" y="3118"/>
                    <a:ext cx="2" cy="3"/>
                    <a:chOff x="1120" y="3118"/>
                    <a:chExt cx="2" cy="3"/>
                  </a:xfrm>
                </p:grpSpPr>
                <p:sp>
                  <p:nvSpPr>
                    <p:cNvPr id="7667" name="Oval 140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20" y="3118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68" name="Arc 141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21" y="3119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657" name="Group 142"/>
                  <p:cNvGrpSpPr>
                    <a:grpSpLocks/>
                  </p:cNvGrpSpPr>
                  <p:nvPr/>
                </p:nvGrpSpPr>
                <p:grpSpPr bwMode="auto">
                  <a:xfrm>
                    <a:off x="1137" y="3130"/>
                    <a:ext cx="23" cy="4"/>
                    <a:chOff x="1137" y="3130"/>
                    <a:chExt cx="23" cy="4"/>
                  </a:xfrm>
                </p:grpSpPr>
                <p:sp>
                  <p:nvSpPr>
                    <p:cNvPr id="7662" name="Arc 143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41" y="3130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63" name="Arc 144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37" y="3130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64" name="Arc 145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44" y="3130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65" name="Arc 146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48" y="3130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66" name="Arc 147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54" y="3130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658" name="Freeform 148" descr="50%"/>
                  <p:cNvSpPr>
                    <a:spLocks/>
                  </p:cNvSpPr>
                  <p:nvPr/>
                </p:nvSpPr>
                <p:spPr bwMode="auto">
                  <a:xfrm>
                    <a:off x="1093" y="3058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659" name="Group 149"/>
                  <p:cNvGrpSpPr>
                    <a:grpSpLocks/>
                  </p:cNvGrpSpPr>
                  <p:nvPr/>
                </p:nvGrpSpPr>
                <p:grpSpPr bwMode="auto">
                  <a:xfrm>
                    <a:off x="1157" y="3132"/>
                    <a:ext cx="47" cy="37"/>
                    <a:chOff x="1157" y="3132"/>
                    <a:chExt cx="47" cy="37"/>
                  </a:xfrm>
                </p:grpSpPr>
                <p:sp>
                  <p:nvSpPr>
                    <p:cNvPr id="7660" name="Freeform 150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57" y="3138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61" name="Freeform 151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58" y="3132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622" name="Group 152"/>
                <p:cNvGrpSpPr>
                  <a:grpSpLocks/>
                </p:cNvGrpSpPr>
                <p:nvPr/>
              </p:nvGrpSpPr>
              <p:grpSpPr bwMode="auto">
                <a:xfrm>
                  <a:off x="1093" y="3152"/>
                  <a:ext cx="321" cy="113"/>
                  <a:chOff x="1093" y="3152"/>
                  <a:chExt cx="321" cy="113"/>
                </a:xfrm>
              </p:grpSpPr>
              <p:sp>
                <p:nvSpPr>
                  <p:cNvPr id="7639" name="Freeform 153" descr="50%"/>
                  <p:cNvSpPr>
                    <a:spLocks/>
                  </p:cNvSpPr>
                  <p:nvPr/>
                </p:nvSpPr>
                <p:spPr bwMode="auto">
                  <a:xfrm>
                    <a:off x="1174" y="3225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640" name="Freeform 154" descr="50%"/>
                  <p:cNvSpPr>
                    <a:spLocks/>
                  </p:cNvSpPr>
                  <p:nvPr/>
                </p:nvSpPr>
                <p:spPr bwMode="auto">
                  <a:xfrm>
                    <a:off x="1093" y="3152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641" name="Group 155"/>
                  <p:cNvGrpSpPr>
                    <a:grpSpLocks/>
                  </p:cNvGrpSpPr>
                  <p:nvPr/>
                </p:nvGrpSpPr>
                <p:grpSpPr bwMode="auto">
                  <a:xfrm>
                    <a:off x="1120" y="3214"/>
                    <a:ext cx="2" cy="3"/>
                    <a:chOff x="1120" y="3214"/>
                    <a:chExt cx="2" cy="3"/>
                  </a:xfrm>
                </p:grpSpPr>
                <p:sp>
                  <p:nvSpPr>
                    <p:cNvPr id="7652" name="Oval 156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20" y="3214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53" name="Arc 157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21" y="3215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642" name="Group 158"/>
                  <p:cNvGrpSpPr>
                    <a:grpSpLocks/>
                  </p:cNvGrpSpPr>
                  <p:nvPr/>
                </p:nvGrpSpPr>
                <p:grpSpPr bwMode="auto">
                  <a:xfrm>
                    <a:off x="1137" y="3226"/>
                    <a:ext cx="23" cy="4"/>
                    <a:chOff x="1137" y="3226"/>
                    <a:chExt cx="23" cy="4"/>
                  </a:xfrm>
                </p:grpSpPr>
                <p:sp>
                  <p:nvSpPr>
                    <p:cNvPr id="7647" name="Arc 159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41" y="3226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48" name="Arc 160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37" y="3226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49" name="Arc 161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44" y="3226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50" name="Arc 162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48" y="3226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51" name="Arc 163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54" y="3226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643" name="Freeform 164" descr="50%"/>
                  <p:cNvSpPr>
                    <a:spLocks/>
                  </p:cNvSpPr>
                  <p:nvPr/>
                </p:nvSpPr>
                <p:spPr bwMode="auto">
                  <a:xfrm>
                    <a:off x="1093" y="3154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644" name="Group 165"/>
                  <p:cNvGrpSpPr>
                    <a:grpSpLocks/>
                  </p:cNvGrpSpPr>
                  <p:nvPr/>
                </p:nvGrpSpPr>
                <p:grpSpPr bwMode="auto">
                  <a:xfrm>
                    <a:off x="1157" y="3228"/>
                    <a:ext cx="47" cy="37"/>
                    <a:chOff x="1157" y="3228"/>
                    <a:chExt cx="47" cy="37"/>
                  </a:xfrm>
                </p:grpSpPr>
                <p:sp>
                  <p:nvSpPr>
                    <p:cNvPr id="7645" name="Freeform 166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57" y="3234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46" name="Freeform 167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58" y="3228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623" name="Group 168"/>
                <p:cNvGrpSpPr>
                  <a:grpSpLocks/>
                </p:cNvGrpSpPr>
                <p:nvPr/>
              </p:nvGrpSpPr>
              <p:grpSpPr bwMode="auto">
                <a:xfrm>
                  <a:off x="1093" y="3248"/>
                  <a:ext cx="321" cy="113"/>
                  <a:chOff x="1093" y="3248"/>
                  <a:chExt cx="321" cy="113"/>
                </a:xfrm>
              </p:grpSpPr>
              <p:sp>
                <p:nvSpPr>
                  <p:cNvPr id="7624" name="Freeform 169" descr="50%"/>
                  <p:cNvSpPr>
                    <a:spLocks/>
                  </p:cNvSpPr>
                  <p:nvPr/>
                </p:nvSpPr>
                <p:spPr bwMode="auto">
                  <a:xfrm>
                    <a:off x="1174" y="3321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625" name="Freeform 170" descr="50%"/>
                  <p:cNvSpPr>
                    <a:spLocks/>
                  </p:cNvSpPr>
                  <p:nvPr/>
                </p:nvSpPr>
                <p:spPr bwMode="auto">
                  <a:xfrm>
                    <a:off x="1093" y="3248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626" name="Group 171"/>
                  <p:cNvGrpSpPr>
                    <a:grpSpLocks/>
                  </p:cNvGrpSpPr>
                  <p:nvPr/>
                </p:nvGrpSpPr>
                <p:grpSpPr bwMode="auto">
                  <a:xfrm>
                    <a:off x="1120" y="3310"/>
                    <a:ext cx="2" cy="3"/>
                    <a:chOff x="1120" y="3310"/>
                    <a:chExt cx="2" cy="3"/>
                  </a:xfrm>
                </p:grpSpPr>
                <p:sp>
                  <p:nvSpPr>
                    <p:cNvPr id="7637" name="Oval 172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20" y="3310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38" name="Arc 173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21" y="3311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627" name="Group 174"/>
                  <p:cNvGrpSpPr>
                    <a:grpSpLocks/>
                  </p:cNvGrpSpPr>
                  <p:nvPr/>
                </p:nvGrpSpPr>
                <p:grpSpPr bwMode="auto">
                  <a:xfrm>
                    <a:off x="1137" y="3322"/>
                    <a:ext cx="23" cy="4"/>
                    <a:chOff x="1137" y="3322"/>
                    <a:chExt cx="23" cy="4"/>
                  </a:xfrm>
                </p:grpSpPr>
                <p:sp>
                  <p:nvSpPr>
                    <p:cNvPr id="7632" name="Arc 175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41" y="3322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33" name="Arc 176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37" y="3322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34" name="Arc 177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44" y="3322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35" name="Arc 178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48" y="3322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36" name="Arc 179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54" y="3322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628" name="Freeform 180" descr="50%"/>
                  <p:cNvSpPr>
                    <a:spLocks/>
                  </p:cNvSpPr>
                  <p:nvPr/>
                </p:nvSpPr>
                <p:spPr bwMode="auto">
                  <a:xfrm>
                    <a:off x="1093" y="3250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629" name="Group 181"/>
                  <p:cNvGrpSpPr>
                    <a:grpSpLocks/>
                  </p:cNvGrpSpPr>
                  <p:nvPr/>
                </p:nvGrpSpPr>
                <p:grpSpPr bwMode="auto">
                  <a:xfrm>
                    <a:off x="1157" y="3324"/>
                    <a:ext cx="47" cy="37"/>
                    <a:chOff x="1157" y="3324"/>
                    <a:chExt cx="47" cy="37"/>
                  </a:xfrm>
                </p:grpSpPr>
                <p:sp>
                  <p:nvSpPr>
                    <p:cNvPr id="7630" name="Freeform 182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57" y="3330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31" name="Freeform 183" descr="50%"/>
                    <p:cNvSpPr>
                      <a:spLocks/>
                    </p:cNvSpPr>
                    <p:nvPr/>
                  </p:nvSpPr>
                  <p:spPr bwMode="auto">
                    <a:xfrm>
                      <a:off x="1158" y="3324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7214" name="Group 184"/>
              <p:cNvGrpSpPr>
                <a:grpSpLocks/>
              </p:cNvGrpSpPr>
              <p:nvPr/>
            </p:nvGrpSpPr>
            <p:grpSpPr bwMode="auto">
              <a:xfrm>
                <a:off x="1441" y="2864"/>
                <a:ext cx="321" cy="497"/>
                <a:chOff x="1441" y="2864"/>
                <a:chExt cx="321" cy="497"/>
              </a:xfrm>
            </p:grpSpPr>
            <p:grpSp>
              <p:nvGrpSpPr>
                <p:cNvPr id="7539" name="Group 185"/>
                <p:cNvGrpSpPr>
                  <a:grpSpLocks/>
                </p:cNvGrpSpPr>
                <p:nvPr/>
              </p:nvGrpSpPr>
              <p:grpSpPr bwMode="auto">
                <a:xfrm>
                  <a:off x="1441" y="2864"/>
                  <a:ext cx="321" cy="113"/>
                  <a:chOff x="1441" y="2864"/>
                  <a:chExt cx="321" cy="113"/>
                </a:xfrm>
              </p:grpSpPr>
              <p:sp>
                <p:nvSpPr>
                  <p:cNvPr id="7604" name="Freeform 186" descr="50%"/>
                  <p:cNvSpPr>
                    <a:spLocks/>
                  </p:cNvSpPr>
                  <p:nvPr/>
                </p:nvSpPr>
                <p:spPr bwMode="auto">
                  <a:xfrm>
                    <a:off x="1522" y="2937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605" name="Freeform 187" descr="50%"/>
                  <p:cNvSpPr>
                    <a:spLocks/>
                  </p:cNvSpPr>
                  <p:nvPr/>
                </p:nvSpPr>
                <p:spPr bwMode="auto">
                  <a:xfrm>
                    <a:off x="1441" y="2864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606" name="Group 188"/>
                  <p:cNvGrpSpPr>
                    <a:grpSpLocks/>
                  </p:cNvGrpSpPr>
                  <p:nvPr/>
                </p:nvGrpSpPr>
                <p:grpSpPr bwMode="auto">
                  <a:xfrm>
                    <a:off x="1468" y="2926"/>
                    <a:ext cx="2" cy="3"/>
                    <a:chOff x="1468" y="2926"/>
                    <a:chExt cx="2" cy="3"/>
                  </a:xfrm>
                </p:grpSpPr>
                <p:sp>
                  <p:nvSpPr>
                    <p:cNvPr id="7617" name="Oval 189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468" y="2926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18" name="Arc 190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69" y="2927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607" name="Group 191"/>
                  <p:cNvGrpSpPr>
                    <a:grpSpLocks/>
                  </p:cNvGrpSpPr>
                  <p:nvPr/>
                </p:nvGrpSpPr>
                <p:grpSpPr bwMode="auto">
                  <a:xfrm>
                    <a:off x="1485" y="2938"/>
                    <a:ext cx="23" cy="4"/>
                    <a:chOff x="1485" y="2938"/>
                    <a:chExt cx="23" cy="4"/>
                  </a:xfrm>
                </p:grpSpPr>
                <p:sp>
                  <p:nvSpPr>
                    <p:cNvPr id="7612" name="Arc 192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89" y="2938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13" name="Arc 193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85" y="2938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14" name="Arc 194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92" y="2938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15" name="Arc 195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96" y="2938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16" name="Arc 196" descr="50%"/>
                    <p:cNvSpPr>
                      <a:spLocks/>
                    </p:cNvSpPr>
                    <p:nvPr/>
                  </p:nvSpPr>
                  <p:spPr bwMode="auto">
                    <a:xfrm>
                      <a:off x="1502" y="2938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608" name="Freeform 197" descr="50%"/>
                  <p:cNvSpPr>
                    <a:spLocks/>
                  </p:cNvSpPr>
                  <p:nvPr/>
                </p:nvSpPr>
                <p:spPr bwMode="auto">
                  <a:xfrm>
                    <a:off x="1441" y="2866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609" name="Group 198"/>
                  <p:cNvGrpSpPr>
                    <a:grpSpLocks/>
                  </p:cNvGrpSpPr>
                  <p:nvPr/>
                </p:nvGrpSpPr>
                <p:grpSpPr bwMode="auto">
                  <a:xfrm>
                    <a:off x="1505" y="2940"/>
                    <a:ext cx="47" cy="37"/>
                    <a:chOff x="1505" y="2940"/>
                    <a:chExt cx="47" cy="37"/>
                  </a:xfrm>
                </p:grpSpPr>
                <p:sp>
                  <p:nvSpPr>
                    <p:cNvPr id="7610" name="Freeform 199" descr="50%"/>
                    <p:cNvSpPr>
                      <a:spLocks/>
                    </p:cNvSpPr>
                    <p:nvPr/>
                  </p:nvSpPr>
                  <p:spPr bwMode="auto">
                    <a:xfrm>
                      <a:off x="1505" y="2946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11" name="Freeform 200" descr="50%"/>
                    <p:cNvSpPr>
                      <a:spLocks/>
                    </p:cNvSpPr>
                    <p:nvPr/>
                  </p:nvSpPr>
                  <p:spPr bwMode="auto">
                    <a:xfrm>
                      <a:off x="1506" y="2940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540" name="Group 201"/>
                <p:cNvGrpSpPr>
                  <a:grpSpLocks/>
                </p:cNvGrpSpPr>
                <p:nvPr/>
              </p:nvGrpSpPr>
              <p:grpSpPr bwMode="auto">
                <a:xfrm>
                  <a:off x="1441" y="2960"/>
                  <a:ext cx="321" cy="113"/>
                  <a:chOff x="1441" y="2960"/>
                  <a:chExt cx="321" cy="113"/>
                </a:xfrm>
              </p:grpSpPr>
              <p:sp>
                <p:nvSpPr>
                  <p:cNvPr id="7589" name="Freeform 202" descr="50%"/>
                  <p:cNvSpPr>
                    <a:spLocks/>
                  </p:cNvSpPr>
                  <p:nvPr/>
                </p:nvSpPr>
                <p:spPr bwMode="auto">
                  <a:xfrm>
                    <a:off x="1522" y="3033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590" name="Freeform 203" descr="50%"/>
                  <p:cNvSpPr>
                    <a:spLocks/>
                  </p:cNvSpPr>
                  <p:nvPr/>
                </p:nvSpPr>
                <p:spPr bwMode="auto">
                  <a:xfrm>
                    <a:off x="1441" y="2960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591" name="Group 204"/>
                  <p:cNvGrpSpPr>
                    <a:grpSpLocks/>
                  </p:cNvGrpSpPr>
                  <p:nvPr/>
                </p:nvGrpSpPr>
                <p:grpSpPr bwMode="auto">
                  <a:xfrm>
                    <a:off x="1468" y="3022"/>
                    <a:ext cx="2" cy="3"/>
                    <a:chOff x="1468" y="3022"/>
                    <a:chExt cx="2" cy="3"/>
                  </a:xfrm>
                </p:grpSpPr>
                <p:sp>
                  <p:nvSpPr>
                    <p:cNvPr id="7602" name="Oval 205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468" y="3022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03" name="Arc 206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69" y="3023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592" name="Group 207"/>
                  <p:cNvGrpSpPr>
                    <a:grpSpLocks/>
                  </p:cNvGrpSpPr>
                  <p:nvPr/>
                </p:nvGrpSpPr>
                <p:grpSpPr bwMode="auto">
                  <a:xfrm>
                    <a:off x="1485" y="3034"/>
                    <a:ext cx="23" cy="4"/>
                    <a:chOff x="1485" y="3034"/>
                    <a:chExt cx="23" cy="4"/>
                  </a:xfrm>
                </p:grpSpPr>
                <p:sp>
                  <p:nvSpPr>
                    <p:cNvPr id="7597" name="Arc 208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89" y="3034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98" name="Arc 209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85" y="3034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99" name="Arc 210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92" y="3034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00" name="Arc 211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96" y="3034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601" name="Arc 212" descr="50%"/>
                    <p:cNvSpPr>
                      <a:spLocks/>
                    </p:cNvSpPr>
                    <p:nvPr/>
                  </p:nvSpPr>
                  <p:spPr bwMode="auto">
                    <a:xfrm>
                      <a:off x="1502" y="3034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593" name="Freeform 213" descr="50%"/>
                  <p:cNvSpPr>
                    <a:spLocks/>
                  </p:cNvSpPr>
                  <p:nvPr/>
                </p:nvSpPr>
                <p:spPr bwMode="auto">
                  <a:xfrm>
                    <a:off x="1441" y="2962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594" name="Group 214"/>
                  <p:cNvGrpSpPr>
                    <a:grpSpLocks/>
                  </p:cNvGrpSpPr>
                  <p:nvPr/>
                </p:nvGrpSpPr>
                <p:grpSpPr bwMode="auto">
                  <a:xfrm>
                    <a:off x="1505" y="3036"/>
                    <a:ext cx="47" cy="37"/>
                    <a:chOff x="1505" y="3036"/>
                    <a:chExt cx="47" cy="37"/>
                  </a:xfrm>
                </p:grpSpPr>
                <p:sp>
                  <p:nvSpPr>
                    <p:cNvPr id="7595" name="Freeform 215" descr="50%"/>
                    <p:cNvSpPr>
                      <a:spLocks/>
                    </p:cNvSpPr>
                    <p:nvPr/>
                  </p:nvSpPr>
                  <p:spPr bwMode="auto">
                    <a:xfrm>
                      <a:off x="1505" y="3042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96" name="Freeform 216" descr="50%"/>
                    <p:cNvSpPr>
                      <a:spLocks/>
                    </p:cNvSpPr>
                    <p:nvPr/>
                  </p:nvSpPr>
                  <p:spPr bwMode="auto">
                    <a:xfrm>
                      <a:off x="1506" y="3036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541" name="Group 217"/>
                <p:cNvGrpSpPr>
                  <a:grpSpLocks/>
                </p:cNvGrpSpPr>
                <p:nvPr/>
              </p:nvGrpSpPr>
              <p:grpSpPr bwMode="auto">
                <a:xfrm>
                  <a:off x="1441" y="3056"/>
                  <a:ext cx="321" cy="113"/>
                  <a:chOff x="1441" y="3056"/>
                  <a:chExt cx="321" cy="113"/>
                </a:xfrm>
              </p:grpSpPr>
              <p:sp>
                <p:nvSpPr>
                  <p:cNvPr id="7574" name="Freeform 218" descr="50%"/>
                  <p:cNvSpPr>
                    <a:spLocks/>
                  </p:cNvSpPr>
                  <p:nvPr/>
                </p:nvSpPr>
                <p:spPr bwMode="auto">
                  <a:xfrm>
                    <a:off x="1522" y="3129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575" name="Freeform 219" descr="50%"/>
                  <p:cNvSpPr>
                    <a:spLocks/>
                  </p:cNvSpPr>
                  <p:nvPr/>
                </p:nvSpPr>
                <p:spPr bwMode="auto">
                  <a:xfrm>
                    <a:off x="1441" y="3056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576" name="Group 220"/>
                  <p:cNvGrpSpPr>
                    <a:grpSpLocks/>
                  </p:cNvGrpSpPr>
                  <p:nvPr/>
                </p:nvGrpSpPr>
                <p:grpSpPr bwMode="auto">
                  <a:xfrm>
                    <a:off x="1468" y="3118"/>
                    <a:ext cx="2" cy="3"/>
                    <a:chOff x="1468" y="3118"/>
                    <a:chExt cx="2" cy="3"/>
                  </a:xfrm>
                </p:grpSpPr>
                <p:sp>
                  <p:nvSpPr>
                    <p:cNvPr id="7587" name="Oval 221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468" y="3118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88" name="Arc 222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69" y="3119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577" name="Group 223"/>
                  <p:cNvGrpSpPr>
                    <a:grpSpLocks/>
                  </p:cNvGrpSpPr>
                  <p:nvPr/>
                </p:nvGrpSpPr>
                <p:grpSpPr bwMode="auto">
                  <a:xfrm>
                    <a:off x="1485" y="3130"/>
                    <a:ext cx="23" cy="4"/>
                    <a:chOff x="1485" y="3130"/>
                    <a:chExt cx="23" cy="4"/>
                  </a:xfrm>
                </p:grpSpPr>
                <p:sp>
                  <p:nvSpPr>
                    <p:cNvPr id="7582" name="Arc 224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89" y="3130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83" name="Arc 225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85" y="3130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84" name="Arc 226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92" y="3130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85" name="Arc 227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96" y="3130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86" name="Arc 228" descr="50%"/>
                    <p:cNvSpPr>
                      <a:spLocks/>
                    </p:cNvSpPr>
                    <p:nvPr/>
                  </p:nvSpPr>
                  <p:spPr bwMode="auto">
                    <a:xfrm>
                      <a:off x="1502" y="3130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578" name="Freeform 229" descr="50%"/>
                  <p:cNvSpPr>
                    <a:spLocks/>
                  </p:cNvSpPr>
                  <p:nvPr/>
                </p:nvSpPr>
                <p:spPr bwMode="auto">
                  <a:xfrm>
                    <a:off x="1441" y="3058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579" name="Group 230"/>
                  <p:cNvGrpSpPr>
                    <a:grpSpLocks/>
                  </p:cNvGrpSpPr>
                  <p:nvPr/>
                </p:nvGrpSpPr>
                <p:grpSpPr bwMode="auto">
                  <a:xfrm>
                    <a:off x="1505" y="3132"/>
                    <a:ext cx="47" cy="37"/>
                    <a:chOff x="1505" y="3132"/>
                    <a:chExt cx="47" cy="37"/>
                  </a:xfrm>
                </p:grpSpPr>
                <p:sp>
                  <p:nvSpPr>
                    <p:cNvPr id="7580" name="Freeform 231" descr="50%"/>
                    <p:cNvSpPr>
                      <a:spLocks/>
                    </p:cNvSpPr>
                    <p:nvPr/>
                  </p:nvSpPr>
                  <p:spPr bwMode="auto">
                    <a:xfrm>
                      <a:off x="1505" y="3138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81" name="Freeform 232" descr="50%"/>
                    <p:cNvSpPr>
                      <a:spLocks/>
                    </p:cNvSpPr>
                    <p:nvPr/>
                  </p:nvSpPr>
                  <p:spPr bwMode="auto">
                    <a:xfrm>
                      <a:off x="1506" y="3132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542" name="Group 233"/>
                <p:cNvGrpSpPr>
                  <a:grpSpLocks/>
                </p:cNvGrpSpPr>
                <p:nvPr/>
              </p:nvGrpSpPr>
              <p:grpSpPr bwMode="auto">
                <a:xfrm>
                  <a:off x="1441" y="3152"/>
                  <a:ext cx="321" cy="113"/>
                  <a:chOff x="1441" y="3152"/>
                  <a:chExt cx="321" cy="113"/>
                </a:xfrm>
              </p:grpSpPr>
              <p:sp>
                <p:nvSpPr>
                  <p:cNvPr id="7559" name="Freeform 234" descr="50%"/>
                  <p:cNvSpPr>
                    <a:spLocks/>
                  </p:cNvSpPr>
                  <p:nvPr/>
                </p:nvSpPr>
                <p:spPr bwMode="auto">
                  <a:xfrm>
                    <a:off x="1522" y="3225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560" name="Freeform 235" descr="50%"/>
                  <p:cNvSpPr>
                    <a:spLocks/>
                  </p:cNvSpPr>
                  <p:nvPr/>
                </p:nvSpPr>
                <p:spPr bwMode="auto">
                  <a:xfrm>
                    <a:off x="1441" y="3152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561" name="Group 236"/>
                  <p:cNvGrpSpPr>
                    <a:grpSpLocks/>
                  </p:cNvGrpSpPr>
                  <p:nvPr/>
                </p:nvGrpSpPr>
                <p:grpSpPr bwMode="auto">
                  <a:xfrm>
                    <a:off x="1468" y="3214"/>
                    <a:ext cx="2" cy="3"/>
                    <a:chOff x="1468" y="3214"/>
                    <a:chExt cx="2" cy="3"/>
                  </a:xfrm>
                </p:grpSpPr>
                <p:sp>
                  <p:nvSpPr>
                    <p:cNvPr id="7572" name="Oval 237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468" y="3214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73" name="Arc 238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69" y="3215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562" name="Group 239"/>
                  <p:cNvGrpSpPr>
                    <a:grpSpLocks/>
                  </p:cNvGrpSpPr>
                  <p:nvPr/>
                </p:nvGrpSpPr>
                <p:grpSpPr bwMode="auto">
                  <a:xfrm>
                    <a:off x="1485" y="3226"/>
                    <a:ext cx="23" cy="4"/>
                    <a:chOff x="1485" y="3226"/>
                    <a:chExt cx="23" cy="4"/>
                  </a:xfrm>
                </p:grpSpPr>
                <p:sp>
                  <p:nvSpPr>
                    <p:cNvPr id="7567" name="Arc 240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89" y="3226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68" name="Arc 241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85" y="3226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69" name="Arc 242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92" y="3226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70" name="Arc 243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96" y="3226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71" name="Arc 244" descr="50%"/>
                    <p:cNvSpPr>
                      <a:spLocks/>
                    </p:cNvSpPr>
                    <p:nvPr/>
                  </p:nvSpPr>
                  <p:spPr bwMode="auto">
                    <a:xfrm>
                      <a:off x="1502" y="3226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563" name="Freeform 245" descr="50%"/>
                  <p:cNvSpPr>
                    <a:spLocks/>
                  </p:cNvSpPr>
                  <p:nvPr/>
                </p:nvSpPr>
                <p:spPr bwMode="auto">
                  <a:xfrm>
                    <a:off x="1441" y="3154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564" name="Group 246"/>
                  <p:cNvGrpSpPr>
                    <a:grpSpLocks/>
                  </p:cNvGrpSpPr>
                  <p:nvPr/>
                </p:nvGrpSpPr>
                <p:grpSpPr bwMode="auto">
                  <a:xfrm>
                    <a:off x="1505" y="3228"/>
                    <a:ext cx="47" cy="37"/>
                    <a:chOff x="1505" y="3228"/>
                    <a:chExt cx="47" cy="37"/>
                  </a:xfrm>
                </p:grpSpPr>
                <p:sp>
                  <p:nvSpPr>
                    <p:cNvPr id="7565" name="Freeform 247" descr="50%"/>
                    <p:cNvSpPr>
                      <a:spLocks/>
                    </p:cNvSpPr>
                    <p:nvPr/>
                  </p:nvSpPr>
                  <p:spPr bwMode="auto">
                    <a:xfrm>
                      <a:off x="1505" y="3234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66" name="Freeform 248" descr="50%"/>
                    <p:cNvSpPr>
                      <a:spLocks/>
                    </p:cNvSpPr>
                    <p:nvPr/>
                  </p:nvSpPr>
                  <p:spPr bwMode="auto">
                    <a:xfrm>
                      <a:off x="1506" y="3228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543" name="Group 249"/>
                <p:cNvGrpSpPr>
                  <a:grpSpLocks/>
                </p:cNvGrpSpPr>
                <p:nvPr/>
              </p:nvGrpSpPr>
              <p:grpSpPr bwMode="auto">
                <a:xfrm>
                  <a:off x="1441" y="3248"/>
                  <a:ext cx="321" cy="113"/>
                  <a:chOff x="1441" y="3248"/>
                  <a:chExt cx="321" cy="113"/>
                </a:xfrm>
              </p:grpSpPr>
              <p:sp>
                <p:nvSpPr>
                  <p:cNvPr id="7544" name="Freeform 250" descr="50%"/>
                  <p:cNvSpPr>
                    <a:spLocks/>
                  </p:cNvSpPr>
                  <p:nvPr/>
                </p:nvSpPr>
                <p:spPr bwMode="auto">
                  <a:xfrm>
                    <a:off x="1522" y="3321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545" name="Freeform 251" descr="50%"/>
                  <p:cNvSpPr>
                    <a:spLocks/>
                  </p:cNvSpPr>
                  <p:nvPr/>
                </p:nvSpPr>
                <p:spPr bwMode="auto">
                  <a:xfrm>
                    <a:off x="1441" y="3248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546" name="Group 252"/>
                  <p:cNvGrpSpPr>
                    <a:grpSpLocks/>
                  </p:cNvGrpSpPr>
                  <p:nvPr/>
                </p:nvGrpSpPr>
                <p:grpSpPr bwMode="auto">
                  <a:xfrm>
                    <a:off x="1468" y="3310"/>
                    <a:ext cx="2" cy="3"/>
                    <a:chOff x="1468" y="3310"/>
                    <a:chExt cx="2" cy="3"/>
                  </a:xfrm>
                </p:grpSpPr>
                <p:sp>
                  <p:nvSpPr>
                    <p:cNvPr id="7557" name="Oval 253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468" y="3310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58" name="Arc 254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69" y="3311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547" name="Group 255"/>
                  <p:cNvGrpSpPr>
                    <a:grpSpLocks/>
                  </p:cNvGrpSpPr>
                  <p:nvPr/>
                </p:nvGrpSpPr>
                <p:grpSpPr bwMode="auto">
                  <a:xfrm>
                    <a:off x="1485" y="3322"/>
                    <a:ext cx="23" cy="4"/>
                    <a:chOff x="1485" y="3322"/>
                    <a:chExt cx="23" cy="4"/>
                  </a:xfrm>
                </p:grpSpPr>
                <p:sp>
                  <p:nvSpPr>
                    <p:cNvPr id="7552" name="Arc 256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89" y="3322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53" name="Arc 257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85" y="3322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54" name="Arc 258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92" y="3322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55" name="Arc 259" descr="50%"/>
                    <p:cNvSpPr>
                      <a:spLocks/>
                    </p:cNvSpPr>
                    <p:nvPr/>
                  </p:nvSpPr>
                  <p:spPr bwMode="auto">
                    <a:xfrm>
                      <a:off x="1496" y="3322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56" name="Arc 260" descr="50%"/>
                    <p:cNvSpPr>
                      <a:spLocks/>
                    </p:cNvSpPr>
                    <p:nvPr/>
                  </p:nvSpPr>
                  <p:spPr bwMode="auto">
                    <a:xfrm>
                      <a:off x="1502" y="3322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548" name="Freeform 261" descr="50%"/>
                  <p:cNvSpPr>
                    <a:spLocks/>
                  </p:cNvSpPr>
                  <p:nvPr/>
                </p:nvSpPr>
                <p:spPr bwMode="auto">
                  <a:xfrm>
                    <a:off x="1441" y="3250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549" name="Group 262"/>
                  <p:cNvGrpSpPr>
                    <a:grpSpLocks/>
                  </p:cNvGrpSpPr>
                  <p:nvPr/>
                </p:nvGrpSpPr>
                <p:grpSpPr bwMode="auto">
                  <a:xfrm>
                    <a:off x="1505" y="3324"/>
                    <a:ext cx="47" cy="37"/>
                    <a:chOff x="1505" y="3324"/>
                    <a:chExt cx="47" cy="37"/>
                  </a:xfrm>
                </p:grpSpPr>
                <p:sp>
                  <p:nvSpPr>
                    <p:cNvPr id="7550" name="Freeform 263" descr="50%"/>
                    <p:cNvSpPr>
                      <a:spLocks/>
                    </p:cNvSpPr>
                    <p:nvPr/>
                  </p:nvSpPr>
                  <p:spPr bwMode="auto">
                    <a:xfrm>
                      <a:off x="1505" y="3330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51" name="Freeform 264" descr="50%"/>
                    <p:cNvSpPr>
                      <a:spLocks/>
                    </p:cNvSpPr>
                    <p:nvPr/>
                  </p:nvSpPr>
                  <p:spPr bwMode="auto">
                    <a:xfrm>
                      <a:off x="1506" y="3324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7215" name="Group 265"/>
              <p:cNvGrpSpPr>
                <a:grpSpLocks/>
              </p:cNvGrpSpPr>
              <p:nvPr/>
            </p:nvGrpSpPr>
            <p:grpSpPr bwMode="auto">
              <a:xfrm>
                <a:off x="1789" y="2864"/>
                <a:ext cx="321" cy="497"/>
                <a:chOff x="1789" y="2864"/>
                <a:chExt cx="321" cy="497"/>
              </a:xfrm>
            </p:grpSpPr>
            <p:grpSp>
              <p:nvGrpSpPr>
                <p:cNvPr id="7459" name="Group 266"/>
                <p:cNvGrpSpPr>
                  <a:grpSpLocks/>
                </p:cNvGrpSpPr>
                <p:nvPr/>
              </p:nvGrpSpPr>
              <p:grpSpPr bwMode="auto">
                <a:xfrm>
                  <a:off x="1789" y="2864"/>
                  <a:ext cx="321" cy="113"/>
                  <a:chOff x="1789" y="2864"/>
                  <a:chExt cx="321" cy="113"/>
                </a:xfrm>
              </p:grpSpPr>
              <p:sp>
                <p:nvSpPr>
                  <p:cNvPr id="7524" name="Freeform 267" descr="50%"/>
                  <p:cNvSpPr>
                    <a:spLocks/>
                  </p:cNvSpPr>
                  <p:nvPr/>
                </p:nvSpPr>
                <p:spPr bwMode="auto">
                  <a:xfrm>
                    <a:off x="1870" y="2937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525" name="Freeform 268" descr="50%"/>
                  <p:cNvSpPr>
                    <a:spLocks/>
                  </p:cNvSpPr>
                  <p:nvPr/>
                </p:nvSpPr>
                <p:spPr bwMode="auto">
                  <a:xfrm>
                    <a:off x="1789" y="2864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526" name="Group 269"/>
                  <p:cNvGrpSpPr>
                    <a:grpSpLocks/>
                  </p:cNvGrpSpPr>
                  <p:nvPr/>
                </p:nvGrpSpPr>
                <p:grpSpPr bwMode="auto">
                  <a:xfrm>
                    <a:off x="1816" y="2926"/>
                    <a:ext cx="2" cy="3"/>
                    <a:chOff x="1816" y="2926"/>
                    <a:chExt cx="2" cy="3"/>
                  </a:xfrm>
                </p:grpSpPr>
                <p:sp>
                  <p:nvSpPr>
                    <p:cNvPr id="7537" name="Oval 270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16" y="2926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38" name="Arc 271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17" y="2927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527" name="Group 272"/>
                  <p:cNvGrpSpPr>
                    <a:grpSpLocks/>
                  </p:cNvGrpSpPr>
                  <p:nvPr/>
                </p:nvGrpSpPr>
                <p:grpSpPr bwMode="auto">
                  <a:xfrm>
                    <a:off x="1833" y="2938"/>
                    <a:ext cx="23" cy="4"/>
                    <a:chOff x="1833" y="2938"/>
                    <a:chExt cx="23" cy="4"/>
                  </a:xfrm>
                </p:grpSpPr>
                <p:sp>
                  <p:nvSpPr>
                    <p:cNvPr id="7532" name="Arc 273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37" y="2938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33" name="Arc 274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33" y="2938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34" name="Arc 275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40" y="2938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35" name="Arc 276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44" y="2938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36" name="Arc 277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50" y="2938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528" name="Freeform 278" descr="50%"/>
                  <p:cNvSpPr>
                    <a:spLocks/>
                  </p:cNvSpPr>
                  <p:nvPr/>
                </p:nvSpPr>
                <p:spPr bwMode="auto">
                  <a:xfrm>
                    <a:off x="1789" y="2866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529" name="Group 279"/>
                  <p:cNvGrpSpPr>
                    <a:grpSpLocks/>
                  </p:cNvGrpSpPr>
                  <p:nvPr/>
                </p:nvGrpSpPr>
                <p:grpSpPr bwMode="auto">
                  <a:xfrm>
                    <a:off x="1853" y="2940"/>
                    <a:ext cx="47" cy="37"/>
                    <a:chOff x="1853" y="2940"/>
                    <a:chExt cx="47" cy="37"/>
                  </a:xfrm>
                </p:grpSpPr>
                <p:sp>
                  <p:nvSpPr>
                    <p:cNvPr id="7530" name="Freeform 280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53" y="2946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31" name="Freeform 281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54" y="2940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460" name="Group 282"/>
                <p:cNvGrpSpPr>
                  <a:grpSpLocks/>
                </p:cNvGrpSpPr>
                <p:nvPr/>
              </p:nvGrpSpPr>
              <p:grpSpPr bwMode="auto">
                <a:xfrm>
                  <a:off x="1789" y="2960"/>
                  <a:ext cx="321" cy="113"/>
                  <a:chOff x="1789" y="2960"/>
                  <a:chExt cx="321" cy="113"/>
                </a:xfrm>
              </p:grpSpPr>
              <p:sp>
                <p:nvSpPr>
                  <p:cNvPr id="7509" name="Freeform 283" descr="50%"/>
                  <p:cNvSpPr>
                    <a:spLocks/>
                  </p:cNvSpPr>
                  <p:nvPr/>
                </p:nvSpPr>
                <p:spPr bwMode="auto">
                  <a:xfrm>
                    <a:off x="1870" y="3033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510" name="Freeform 284" descr="50%"/>
                  <p:cNvSpPr>
                    <a:spLocks/>
                  </p:cNvSpPr>
                  <p:nvPr/>
                </p:nvSpPr>
                <p:spPr bwMode="auto">
                  <a:xfrm>
                    <a:off x="1789" y="2960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511" name="Group 285"/>
                  <p:cNvGrpSpPr>
                    <a:grpSpLocks/>
                  </p:cNvGrpSpPr>
                  <p:nvPr/>
                </p:nvGrpSpPr>
                <p:grpSpPr bwMode="auto">
                  <a:xfrm>
                    <a:off x="1816" y="3022"/>
                    <a:ext cx="2" cy="3"/>
                    <a:chOff x="1816" y="3022"/>
                    <a:chExt cx="2" cy="3"/>
                  </a:xfrm>
                </p:grpSpPr>
                <p:sp>
                  <p:nvSpPr>
                    <p:cNvPr id="7522" name="Oval 286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16" y="3022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23" name="Arc 287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17" y="3023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512" name="Group 288"/>
                  <p:cNvGrpSpPr>
                    <a:grpSpLocks/>
                  </p:cNvGrpSpPr>
                  <p:nvPr/>
                </p:nvGrpSpPr>
                <p:grpSpPr bwMode="auto">
                  <a:xfrm>
                    <a:off x="1833" y="3034"/>
                    <a:ext cx="23" cy="4"/>
                    <a:chOff x="1833" y="3034"/>
                    <a:chExt cx="23" cy="4"/>
                  </a:xfrm>
                </p:grpSpPr>
                <p:sp>
                  <p:nvSpPr>
                    <p:cNvPr id="7517" name="Arc 289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37" y="3034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18" name="Arc 290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33" y="3034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19" name="Arc 291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40" y="3034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20" name="Arc 292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44" y="3034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21" name="Arc 293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50" y="3034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513" name="Freeform 294" descr="50%"/>
                  <p:cNvSpPr>
                    <a:spLocks/>
                  </p:cNvSpPr>
                  <p:nvPr/>
                </p:nvSpPr>
                <p:spPr bwMode="auto">
                  <a:xfrm>
                    <a:off x="1789" y="2962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514" name="Group 295"/>
                  <p:cNvGrpSpPr>
                    <a:grpSpLocks/>
                  </p:cNvGrpSpPr>
                  <p:nvPr/>
                </p:nvGrpSpPr>
                <p:grpSpPr bwMode="auto">
                  <a:xfrm>
                    <a:off x="1853" y="3036"/>
                    <a:ext cx="47" cy="37"/>
                    <a:chOff x="1853" y="3036"/>
                    <a:chExt cx="47" cy="37"/>
                  </a:xfrm>
                </p:grpSpPr>
                <p:sp>
                  <p:nvSpPr>
                    <p:cNvPr id="7515" name="Freeform 296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53" y="3042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16" name="Freeform 297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54" y="3036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461" name="Group 298"/>
                <p:cNvGrpSpPr>
                  <a:grpSpLocks/>
                </p:cNvGrpSpPr>
                <p:nvPr/>
              </p:nvGrpSpPr>
              <p:grpSpPr bwMode="auto">
                <a:xfrm>
                  <a:off x="1789" y="3056"/>
                  <a:ext cx="321" cy="113"/>
                  <a:chOff x="1789" y="3056"/>
                  <a:chExt cx="321" cy="113"/>
                </a:xfrm>
              </p:grpSpPr>
              <p:sp>
                <p:nvSpPr>
                  <p:cNvPr id="7494" name="Freeform 299" descr="50%"/>
                  <p:cNvSpPr>
                    <a:spLocks/>
                  </p:cNvSpPr>
                  <p:nvPr/>
                </p:nvSpPr>
                <p:spPr bwMode="auto">
                  <a:xfrm>
                    <a:off x="1870" y="3129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495" name="Freeform 300" descr="50%"/>
                  <p:cNvSpPr>
                    <a:spLocks/>
                  </p:cNvSpPr>
                  <p:nvPr/>
                </p:nvSpPr>
                <p:spPr bwMode="auto">
                  <a:xfrm>
                    <a:off x="1789" y="3056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496" name="Group 301"/>
                  <p:cNvGrpSpPr>
                    <a:grpSpLocks/>
                  </p:cNvGrpSpPr>
                  <p:nvPr/>
                </p:nvGrpSpPr>
                <p:grpSpPr bwMode="auto">
                  <a:xfrm>
                    <a:off x="1816" y="3118"/>
                    <a:ext cx="2" cy="3"/>
                    <a:chOff x="1816" y="3118"/>
                    <a:chExt cx="2" cy="3"/>
                  </a:xfrm>
                </p:grpSpPr>
                <p:sp>
                  <p:nvSpPr>
                    <p:cNvPr id="7507" name="Oval 302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16" y="3118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08" name="Arc 303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17" y="3119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497" name="Group 304"/>
                  <p:cNvGrpSpPr>
                    <a:grpSpLocks/>
                  </p:cNvGrpSpPr>
                  <p:nvPr/>
                </p:nvGrpSpPr>
                <p:grpSpPr bwMode="auto">
                  <a:xfrm>
                    <a:off x="1833" y="3130"/>
                    <a:ext cx="23" cy="4"/>
                    <a:chOff x="1833" y="3130"/>
                    <a:chExt cx="23" cy="4"/>
                  </a:xfrm>
                </p:grpSpPr>
                <p:sp>
                  <p:nvSpPr>
                    <p:cNvPr id="7502" name="Arc 305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37" y="3130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03" name="Arc 306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33" y="3130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04" name="Arc 307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40" y="3130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05" name="Arc 308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44" y="3130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06" name="Arc 309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50" y="3130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498" name="Freeform 310" descr="50%"/>
                  <p:cNvSpPr>
                    <a:spLocks/>
                  </p:cNvSpPr>
                  <p:nvPr/>
                </p:nvSpPr>
                <p:spPr bwMode="auto">
                  <a:xfrm>
                    <a:off x="1789" y="3058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499" name="Group 311"/>
                  <p:cNvGrpSpPr>
                    <a:grpSpLocks/>
                  </p:cNvGrpSpPr>
                  <p:nvPr/>
                </p:nvGrpSpPr>
                <p:grpSpPr bwMode="auto">
                  <a:xfrm>
                    <a:off x="1853" y="3132"/>
                    <a:ext cx="47" cy="37"/>
                    <a:chOff x="1853" y="3132"/>
                    <a:chExt cx="47" cy="37"/>
                  </a:xfrm>
                </p:grpSpPr>
                <p:sp>
                  <p:nvSpPr>
                    <p:cNvPr id="7500" name="Freeform 312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53" y="3138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501" name="Freeform 313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54" y="3132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462" name="Group 314"/>
                <p:cNvGrpSpPr>
                  <a:grpSpLocks/>
                </p:cNvGrpSpPr>
                <p:nvPr/>
              </p:nvGrpSpPr>
              <p:grpSpPr bwMode="auto">
                <a:xfrm>
                  <a:off x="1789" y="3152"/>
                  <a:ext cx="321" cy="113"/>
                  <a:chOff x="1789" y="3152"/>
                  <a:chExt cx="321" cy="113"/>
                </a:xfrm>
              </p:grpSpPr>
              <p:sp>
                <p:nvSpPr>
                  <p:cNvPr id="7479" name="Freeform 315" descr="50%"/>
                  <p:cNvSpPr>
                    <a:spLocks/>
                  </p:cNvSpPr>
                  <p:nvPr/>
                </p:nvSpPr>
                <p:spPr bwMode="auto">
                  <a:xfrm>
                    <a:off x="1870" y="3225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480" name="Freeform 316" descr="50%"/>
                  <p:cNvSpPr>
                    <a:spLocks/>
                  </p:cNvSpPr>
                  <p:nvPr/>
                </p:nvSpPr>
                <p:spPr bwMode="auto">
                  <a:xfrm>
                    <a:off x="1789" y="3152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481" name="Group 317"/>
                  <p:cNvGrpSpPr>
                    <a:grpSpLocks/>
                  </p:cNvGrpSpPr>
                  <p:nvPr/>
                </p:nvGrpSpPr>
                <p:grpSpPr bwMode="auto">
                  <a:xfrm>
                    <a:off x="1816" y="3214"/>
                    <a:ext cx="2" cy="3"/>
                    <a:chOff x="1816" y="3214"/>
                    <a:chExt cx="2" cy="3"/>
                  </a:xfrm>
                </p:grpSpPr>
                <p:sp>
                  <p:nvSpPr>
                    <p:cNvPr id="7492" name="Oval 318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16" y="3214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93" name="Arc 319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17" y="3215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482" name="Group 320"/>
                  <p:cNvGrpSpPr>
                    <a:grpSpLocks/>
                  </p:cNvGrpSpPr>
                  <p:nvPr/>
                </p:nvGrpSpPr>
                <p:grpSpPr bwMode="auto">
                  <a:xfrm>
                    <a:off x="1833" y="3226"/>
                    <a:ext cx="23" cy="4"/>
                    <a:chOff x="1833" y="3226"/>
                    <a:chExt cx="23" cy="4"/>
                  </a:xfrm>
                </p:grpSpPr>
                <p:sp>
                  <p:nvSpPr>
                    <p:cNvPr id="7487" name="Arc 321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37" y="3226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88" name="Arc 322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33" y="3226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89" name="Arc 323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40" y="3226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90" name="Arc 324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44" y="3226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91" name="Arc 325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50" y="3226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483" name="Freeform 326" descr="50%"/>
                  <p:cNvSpPr>
                    <a:spLocks/>
                  </p:cNvSpPr>
                  <p:nvPr/>
                </p:nvSpPr>
                <p:spPr bwMode="auto">
                  <a:xfrm>
                    <a:off x="1789" y="3154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484" name="Group 327"/>
                  <p:cNvGrpSpPr>
                    <a:grpSpLocks/>
                  </p:cNvGrpSpPr>
                  <p:nvPr/>
                </p:nvGrpSpPr>
                <p:grpSpPr bwMode="auto">
                  <a:xfrm>
                    <a:off x="1853" y="3228"/>
                    <a:ext cx="47" cy="37"/>
                    <a:chOff x="1853" y="3228"/>
                    <a:chExt cx="47" cy="37"/>
                  </a:xfrm>
                </p:grpSpPr>
                <p:sp>
                  <p:nvSpPr>
                    <p:cNvPr id="7485" name="Freeform 328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53" y="3234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86" name="Freeform 329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54" y="3228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463" name="Group 330"/>
                <p:cNvGrpSpPr>
                  <a:grpSpLocks/>
                </p:cNvGrpSpPr>
                <p:nvPr/>
              </p:nvGrpSpPr>
              <p:grpSpPr bwMode="auto">
                <a:xfrm>
                  <a:off x="1789" y="3248"/>
                  <a:ext cx="321" cy="113"/>
                  <a:chOff x="1789" y="3248"/>
                  <a:chExt cx="321" cy="113"/>
                </a:xfrm>
              </p:grpSpPr>
              <p:sp>
                <p:nvSpPr>
                  <p:cNvPr id="7464" name="Freeform 331" descr="50%"/>
                  <p:cNvSpPr>
                    <a:spLocks/>
                  </p:cNvSpPr>
                  <p:nvPr/>
                </p:nvSpPr>
                <p:spPr bwMode="auto">
                  <a:xfrm>
                    <a:off x="1870" y="3321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465" name="Freeform 332" descr="50%"/>
                  <p:cNvSpPr>
                    <a:spLocks/>
                  </p:cNvSpPr>
                  <p:nvPr/>
                </p:nvSpPr>
                <p:spPr bwMode="auto">
                  <a:xfrm>
                    <a:off x="1789" y="3248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466" name="Group 333"/>
                  <p:cNvGrpSpPr>
                    <a:grpSpLocks/>
                  </p:cNvGrpSpPr>
                  <p:nvPr/>
                </p:nvGrpSpPr>
                <p:grpSpPr bwMode="auto">
                  <a:xfrm>
                    <a:off x="1816" y="3310"/>
                    <a:ext cx="2" cy="3"/>
                    <a:chOff x="1816" y="3310"/>
                    <a:chExt cx="2" cy="3"/>
                  </a:xfrm>
                </p:grpSpPr>
                <p:sp>
                  <p:nvSpPr>
                    <p:cNvPr id="7477" name="Oval 334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16" y="3310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78" name="Arc 335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17" y="3311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467" name="Group 336"/>
                  <p:cNvGrpSpPr>
                    <a:grpSpLocks/>
                  </p:cNvGrpSpPr>
                  <p:nvPr/>
                </p:nvGrpSpPr>
                <p:grpSpPr bwMode="auto">
                  <a:xfrm>
                    <a:off x="1833" y="3322"/>
                    <a:ext cx="23" cy="4"/>
                    <a:chOff x="1833" y="3322"/>
                    <a:chExt cx="23" cy="4"/>
                  </a:xfrm>
                </p:grpSpPr>
                <p:sp>
                  <p:nvSpPr>
                    <p:cNvPr id="7472" name="Arc 337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37" y="3322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73" name="Arc 338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33" y="3322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74" name="Arc 339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40" y="3322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75" name="Arc 340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44" y="3322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76" name="Arc 341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50" y="3322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468" name="Freeform 342" descr="50%"/>
                  <p:cNvSpPr>
                    <a:spLocks/>
                  </p:cNvSpPr>
                  <p:nvPr/>
                </p:nvSpPr>
                <p:spPr bwMode="auto">
                  <a:xfrm>
                    <a:off x="1789" y="3250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469" name="Group 343"/>
                  <p:cNvGrpSpPr>
                    <a:grpSpLocks/>
                  </p:cNvGrpSpPr>
                  <p:nvPr/>
                </p:nvGrpSpPr>
                <p:grpSpPr bwMode="auto">
                  <a:xfrm>
                    <a:off x="1853" y="3324"/>
                    <a:ext cx="47" cy="37"/>
                    <a:chOff x="1853" y="3324"/>
                    <a:chExt cx="47" cy="37"/>
                  </a:xfrm>
                </p:grpSpPr>
                <p:sp>
                  <p:nvSpPr>
                    <p:cNvPr id="7470" name="Freeform 344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53" y="3330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71" name="Freeform 345" descr="50%"/>
                    <p:cNvSpPr>
                      <a:spLocks/>
                    </p:cNvSpPr>
                    <p:nvPr/>
                  </p:nvSpPr>
                  <p:spPr bwMode="auto">
                    <a:xfrm>
                      <a:off x="1854" y="3324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7216" name="Group 346"/>
              <p:cNvGrpSpPr>
                <a:grpSpLocks/>
              </p:cNvGrpSpPr>
              <p:nvPr/>
            </p:nvGrpSpPr>
            <p:grpSpPr bwMode="auto">
              <a:xfrm>
                <a:off x="2137" y="2864"/>
                <a:ext cx="321" cy="497"/>
                <a:chOff x="2137" y="2864"/>
                <a:chExt cx="321" cy="497"/>
              </a:xfrm>
            </p:grpSpPr>
            <p:grpSp>
              <p:nvGrpSpPr>
                <p:cNvPr id="7379" name="Group 347"/>
                <p:cNvGrpSpPr>
                  <a:grpSpLocks/>
                </p:cNvGrpSpPr>
                <p:nvPr/>
              </p:nvGrpSpPr>
              <p:grpSpPr bwMode="auto">
                <a:xfrm>
                  <a:off x="2137" y="2864"/>
                  <a:ext cx="321" cy="113"/>
                  <a:chOff x="2137" y="2864"/>
                  <a:chExt cx="321" cy="113"/>
                </a:xfrm>
              </p:grpSpPr>
              <p:sp>
                <p:nvSpPr>
                  <p:cNvPr id="7444" name="Freeform 348" descr="50%"/>
                  <p:cNvSpPr>
                    <a:spLocks/>
                  </p:cNvSpPr>
                  <p:nvPr/>
                </p:nvSpPr>
                <p:spPr bwMode="auto">
                  <a:xfrm>
                    <a:off x="2218" y="2937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445" name="Freeform 349" descr="50%"/>
                  <p:cNvSpPr>
                    <a:spLocks/>
                  </p:cNvSpPr>
                  <p:nvPr/>
                </p:nvSpPr>
                <p:spPr bwMode="auto">
                  <a:xfrm>
                    <a:off x="2137" y="2864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446" name="Group 350"/>
                  <p:cNvGrpSpPr>
                    <a:grpSpLocks/>
                  </p:cNvGrpSpPr>
                  <p:nvPr/>
                </p:nvGrpSpPr>
                <p:grpSpPr bwMode="auto">
                  <a:xfrm>
                    <a:off x="2164" y="2926"/>
                    <a:ext cx="2" cy="3"/>
                    <a:chOff x="2164" y="2926"/>
                    <a:chExt cx="2" cy="3"/>
                  </a:xfrm>
                </p:grpSpPr>
                <p:sp>
                  <p:nvSpPr>
                    <p:cNvPr id="7457" name="Oval 351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64" y="2926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58" name="Arc 352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65" y="2927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447" name="Group 353"/>
                  <p:cNvGrpSpPr>
                    <a:grpSpLocks/>
                  </p:cNvGrpSpPr>
                  <p:nvPr/>
                </p:nvGrpSpPr>
                <p:grpSpPr bwMode="auto">
                  <a:xfrm>
                    <a:off x="2181" y="2938"/>
                    <a:ext cx="23" cy="4"/>
                    <a:chOff x="2181" y="2938"/>
                    <a:chExt cx="23" cy="4"/>
                  </a:xfrm>
                </p:grpSpPr>
                <p:sp>
                  <p:nvSpPr>
                    <p:cNvPr id="7452" name="Arc 354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85" y="2938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53" name="Arc 355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81" y="2938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54" name="Arc 356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88" y="2938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55" name="Arc 357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92" y="2938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56" name="Arc 358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98" y="2938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448" name="Freeform 359" descr="50%"/>
                  <p:cNvSpPr>
                    <a:spLocks/>
                  </p:cNvSpPr>
                  <p:nvPr/>
                </p:nvSpPr>
                <p:spPr bwMode="auto">
                  <a:xfrm>
                    <a:off x="2137" y="2866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449" name="Group 360"/>
                  <p:cNvGrpSpPr>
                    <a:grpSpLocks/>
                  </p:cNvGrpSpPr>
                  <p:nvPr/>
                </p:nvGrpSpPr>
                <p:grpSpPr bwMode="auto">
                  <a:xfrm>
                    <a:off x="2201" y="2940"/>
                    <a:ext cx="47" cy="37"/>
                    <a:chOff x="2201" y="2940"/>
                    <a:chExt cx="47" cy="37"/>
                  </a:xfrm>
                </p:grpSpPr>
                <p:sp>
                  <p:nvSpPr>
                    <p:cNvPr id="7450" name="Freeform 361" descr="50%"/>
                    <p:cNvSpPr>
                      <a:spLocks/>
                    </p:cNvSpPr>
                    <p:nvPr/>
                  </p:nvSpPr>
                  <p:spPr bwMode="auto">
                    <a:xfrm>
                      <a:off x="2201" y="2946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51" name="Freeform 362" descr="50%"/>
                    <p:cNvSpPr>
                      <a:spLocks/>
                    </p:cNvSpPr>
                    <p:nvPr/>
                  </p:nvSpPr>
                  <p:spPr bwMode="auto">
                    <a:xfrm>
                      <a:off x="2202" y="2940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380" name="Group 363"/>
                <p:cNvGrpSpPr>
                  <a:grpSpLocks/>
                </p:cNvGrpSpPr>
                <p:nvPr/>
              </p:nvGrpSpPr>
              <p:grpSpPr bwMode="auto">
                <a:xfrm>
                  <a:off x="2137" y="2960"/>
                  <a:ext cx="321" cy="113"/>
                  <a:chOff x="2137" y="2960"/>
                  <a:chExt cx="321" cy="113"/>
                </a:xfrm>
              </p:grpSpPr>
              <p:sp>
                <p:nvSpPr>
                  <p:cNvPr id="7429" name="Freeform 364" descr="50%"/>
                  <p:cNvSpPr>
                    <a:spLocks/>
                  </p:cNvSpPr>
                  <p:nvPr/>
                </p:nvSpPr>
                <p:spPr bwMode="auto">
                  <a:xfrm>
                    <a:off x="2218" y="3033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430" name="Freeform 365" descr="50%"/>
                  <p:cNvSpPr>
                    <a:spLocks/>
                  </p:cNvSpPr>
                  <p:nvPr/>
                </p:nvSpPr>
                <p:spPr bwMode="auto">
                  <a:xfrm>
                    <a:off x="2137" y="2960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431" name="Group 366"/>
                  <p:cNvGrpSpPr>
                    <a:grpSpLocks/>
                  </p:cNvGrpSpPr>
                  <p:nvPr/>
                </p:nvGrpSpPr>
                <p:grpSpPr bwMode="auto">
                  <a:xfrm>
                    <a:off x="2164" y="3022"/>
                    <a:ext cx="2" cy="3"/>
                    <a:chOff x="2164" y="3022"/>
                    <a:chExt cx="2" cy="3"/>
                  </a:xfrm>
                </p:grpSpPr>
                <p:sp>
                  <p:nvSpPr>
                    <p:cNvPr id="7442" name="Oval 367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64" y="3022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43" name="Arc 368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65" y="3023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432" name="Group 369"/>
                  <p:cNvGrpSpPr>
                    <a:grpSpLocks/>
                  </p:cNvGrpSpPr>
                  <p:nvPr/>
                </p:nvGrpSpPr>
                <p:grpSpPr bwMode="auto">
                  <a:xfrm>
                    <a:off x="2181" y="3034"/>
                    <a:ext cx="23" cy="4"/>
                    <a:chOff x="2181" y="3034"/>
                    <a:chExt cx="23" cy="4"/>
                  </a:xfrm>
                </p:grpSpPr>
                <p:sp>
                  <p:nvSpPr>
                    <p:cNvPr id="7437" name="Arc 370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85" y="3034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38" name="Arc 371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81" y="3034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39" name="Arc 372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88" y="3034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40" name="Arc 373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92" y="3034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41" name="Arc 374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98" y="3034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433" name="Freeform 375" descr="50%"/>
                  <p:cNvSpPr>
                    <a:spLocks/>
                  </p:cNvSpPr>
                  <p:nvPr/>
                </p:nvSpPr>
                <p:spPr bwMode="auto">
                  <a:xfrm>
                    <a:off x="2137" y="2962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434" name="Group 376"/>
                  <p:cNvGrpSpPr>
                    <a:grpSpLocks/>
                  </p:cNvGrpSpPr>
                  <p:nvPr/>
                </p:nvGrpSpPr>
                <p:grpSpPr bwMode="auto">
                  <a:xfrm>
                    <a:off x="2201" y="3036"/>
                    <a:ext cx="47" cy="37"/>
                    <a:chOff x="2201" y="3036"/>
                    <a:chExt cx="47" cy="37"/>
                  </a:xfrm>
                </p:grpSpPr>
                <p:sp>
                  <p:nvSpPr>
                    <p:cNvPr id="7435" name="Freeform 377" descr="50%"/>
                    <p:cNvSpPr>
                      <a:spLocks/>
                    </p:cNvSpPr>
                    <p:nvPr/>
                  </p:nvSpPr>
                  <p:spPr bwMode="auto">
                    <a:xfrm>
                      <a:off x="2201" y="3042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36" name="Freeform 378" descr="50%"/>
                    <p:cNvSpPr>
                      <a:spLocks/>
                    </p:cNvSpPr>
                    <p:nvPr/>
                  </p:nvSpPr>
                  <p:spPr bwMode="auto">
                    <a:xfrm>
                      <a:off x="2202" y="3036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381" name="Group 379"/>
                <p:cNvGrpSpPr>
                  <a:grpSpLocks/>
                </p:cNvGrpSpPr>
                <p:nvPr/>
              </p:nvGrpSpPr>
              <p:grpSpPr bwMode="auto">
                <a:xfrm>
                  <a:off x="2137" y="3056"/>
                  <a:ext cx="321" cy="113"/>
                  <a:chOff x="2137" y="3056"/>
                  <a:chExt cx="321" cy="113"/>
                </a:xfrm>
              </p:grpSpPr>
              <p:sp>
                <p:nvSpPr>
                  <p:cNvPr id="7414" name="Freeform 380" descr="50%"/>
                  <p:cNvSpPr>
                    <a:spLocks/>
                  </p:cNvSpPr>
                  <p:nvPr/>
                </p:nvSpPr>
                <p:spPr bwMode="auto">
                  <a:xfrm>
                    <a:off x="2218" y="3129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415" name="Freeform 381" descr="50%"/>
                  <p:cNvSpPr>
                    <a:spLocks/>
                  </p:cNvSpPr>
                  <p:nvPr/>
                </p:nvSpPr>
                <p:spPr bwMode="auto">
                  <a:xfrm>
                    <a:off x="2137" y="3056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416" name="Group 382"/>
                  <p:cNvGrpSpPr>
                    <a:grpSpLocks/>
                  </p:cNvGrpSpPr>
                  <p:nvPr/>
                </p:nvGrpSpPr>
                <p:grpSpPr bwMode="auto">
                  <a:xfrm>
                    <a:off x="2164" y="3118"/>
                    <a:ext cx="2" cy="3"/>
                    <a:chOff x="2164" y="3118"/>
                    <a:chExt cx="2" cy="3"/>
                  </a:xfrm>
                </p:grpSpPr>
                <p:sp>
                  <p:nvSpPr>
                    <p:cNvPr id="7427" name="Oval 383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64" y="3118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28" name="Arc 384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65" y="3119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417" name="Group 385"/>
                  <p:cNvGrpSpPr>
                    <a:grpSpLocks/>
                  </p:cNvGrpSpPr>
                  <p:nvPr/>
                </p:nvGrpSpPr>
                <p:grpSpPr bwMode="auto">
                  <a:xfrm>
                    <a:off x="2181" y="3130"/>
                    <a:ext cx="23" cy="4"/>
                    <a:chOff x="2181" y="3130"/>
                    <a:chExt cx="23" cy="4"/>
                  </a:xfrm>
                </p:grpSpPr>
                <p:sp>
                  <p:nvSpPr>
                    <p:cNvPr id="7422" name="Arc 386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85" y="3130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23" name="Arc 387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81" y="3130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24" name="Arc 388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88" y="3130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25" name="Arc 389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92" y="3130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26" name="Arc 390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98" y="3130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418" name="Freeform 391" descr="50%"/>
                  <p:cNvSpPr>
                    <a:spLocks/>
                  </p:cNvSpPr>
                  <p:nvPr/>
                </p:nvSpPr>
                <p:spPr bwMode="auto">
                  <a:xfrm>
                    <a:off x="2137" y="3058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419" name="Group 392"/>
                  <p:cNvGrpSpPr>
                    <a:grpSpLocks/>
                  </p:cNvGrpSpPr>
                  <p:nvPr/>
                </p:nvGrpSpPr>
                <p:grpSpPr bwMode="auto">
                  <a:xfrm>
                    <a:off x="2201" y="3132"/>
                    <a:ext cx="47" cy="37"/>
                    <a:chOff x="2201" y="3132"/>
                    <a:chExt cx="47" cy="37"/>
                  </a:xfrm>
                </p:grpSpPr>
                <p:sp>
                  <p:nvSpPr>
                    <p:cNvPr id="7420" name="Freeform 393" descr="50%"/>
                    <p:cNvSpPr>
                      <a:spLocks/>
                    </p:cNvSpPr>
                    <p:nvPr/>
                  </p:nvSpPr>
                  <p:spPr bwMode="auto">
                    <a:xfrm>
                      <a:off x="2201" y="3138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21" name="Freeform 394" descr="50%"/>
                    <p:cNvSpPr>
                      <a:spLocks/>
                    </p:cNvSpPr>
                    <p:nvPr/>
                  </p:nvSpPr>
                  <p:spPr bwMode="auto">
                    <a:xfrm>
                      <a:off x="2202" y="3132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382" name="Group 395"/>
                <p:cNvGrpSpPr>
                  <a:grpSpLocks/>
                </p:cNvGrpSpPr>
                <p:nvPr/>
              </p:nvGrpSpPr>
              <p:grpSpPr bwMode="auto">
                <a:xfrm>
                  <a:off x="2137" y="3152"/>
                  <a:ext cx="321" cy="113"/>
                  <a:chOff x="2137" y="3152"/>
                  <a:chExt cx="321" cy="113"/>
                </a:xfrm>
              </p:grpSpPr>
              <p:sp>
                <p:nvSpPr>
                  <p:cNvPr id="7399" name="Freeform 396" descr="50%"/>
                  <p:cNvSpPr>
                    <a:spLocks/>
                  </p:cNvSpPr>
                  <p:nvPr/>
                </p:nvSpPr>
                <p:spPr bwMode="auto">
                  <a:xfrm>
                    <a:off x="2218" y="3225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400" name="Freeform 397" descr="50%"/>
                  <p:cNvSpPr>
                    <a:spLocks/>
                  </p:cNvSpPr>
                  <p:nvPr/>
                </p:nvSpPr>
                <p:spPr bwMode="auto">
                  <a:xfrm>
                    <a:off x="2137" y="3152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401" name="Group 398"/>
                  <p:cNvGrpSpPr>
                    <a:grpSpLocks/>
                  </p:cNvGrpSpPr>
                  <p:nvPr/>
                </p:nvGrpSpPr>
                <p:grpSpPr bwMode="auto">
                  <a:xfrm>
                    <a:off x="2164" y="3214"/>
                    <a:ext cx="2" cy="3"/>
                    <a:chOff x="2164" y="3214"/>
                    <a:chExt cx="2" cy="3"/>
                  </a:xfrm>
                </p:grpSpPr>
                <p:sp>
                  <p:nvSpPr>
                    <p:cNvPr id="7412" name="Oval 399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64" y="3214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13" name="Arc 400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65" y="3215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402" name="Group 401"/>
                  <p:cNvGrpSpPr>
                    <a:grpSpLocks/>
                  </p:cNvGrpSpPr>
                  <p:nvPr/>
                </p:nvGrpSpPr>
                <p:grpSpPr bwMode="auto">
                  <a:xfrm>
                    <a:off x="2181" y="3226"/>
                    <a:ext cx="23" cy="4"/>
                    <a:chOff x="2181" y="3226"/>
                    <a:chExt cx="23" cy="4"/>
                  </a:xfrm>
                </p:grpSpPr>
                <p:sp>
                  <p:nvSpPr>
                    <p:cNvPr id="7407" name="Arc 402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85" y="3226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08" name="Arc 403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81" y="3226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09" name="Arc 404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88" y="3226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10" name="Arc 405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92" y="3226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11" name="Arc 406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98" y="3226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403" name="Freeform 407" descr="50%"/>
                  <p:cNvSpPr>
                    <a:spLocks/>
                  </p:cNvSpPr>
                  <p:nvPr/>
                </p:nvSpPr>
                <p:spPr bwMode="auto">
                  <a:xfrm>
                    <a:off x="2137" y="3154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404" name="Group 408"/>
                  <p:cNvGrpSpPr>
                    <a:grpSpLocks/>
                  </p:cNvGrpSpPr>
                  <p:nvPr/>
                </p:nvGrpSpPr>
                <p:grpSpPr bwMode="auto">
                  <a:xfrm>
                    <a:off x="2201" y="3228"/>
                    <a:ext cx="47" cy="37"/>
                    <a:chOff x="2201" y="3228"/>
                    <a:chExt cx="47" cy="37"/>
                  </a:xfrm>
                </p:grpSpPr>
                <p:sp>
                  <p:nvSpPr>
                    <p:cNvPr id="7405" name="Freeform 409" descr="50%"/>
                    <p:cNvSpPr>
                      <a:spLocks/>
                    </p:cNvSpPr>
                    <p:nvPr/>
                  </p:nvSpPr>
                  <p:spPr bwMode="auto">
                    <a:xfrm>
                      <a:off x="2201" y="3234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406" name="Freeform 410" descr="50%"/>
                    <p:cNvSpPr>
                      <a:spLocks/>
                    </p:cNvSpPr>
                    <p:nvPr/>
                  </p:nvSpPr>
                  <p:spPr bwMode="auto">
                    <a:xfrm>
                      <a:off x="2202" y="3228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383" name="Group 411"/>
                <p:cNvGrpSpPr>
                  <a:grpSpLocks/>
                </p:cNvGrpSpPr>
                <p:nvPr/>
              </p:nvGrpSpPr>
              <p:grpSpPr bwMode="auto">
                <a:xfrm>
                  <a:off x="2137" y="3248"/>
                  <a:ext cx="321" cy="113"/>
                  <a:chOff x="2137" y="3248"/>
                  <a:chExt cx="321" cy="113"/>
                </a:xfrm>
              </p:grpSpPr>
              <p:sp>
                <p:nvSpPr>
                  <p:cNvPr id="7384" name="Freeform 412" descr="50%"/>
                  <p:cNvSpPr>
                    <a:spLocks/>
                  </p:cNvSpPr>
                  <p:nvPr/>
                </p:nvSpPr>
                <p:spPr bwMode="auto">
                  <a:xfrm>
                    <a:off x="2218" y="3321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385" name="Freeform 413" descr="50%"/>
                  <p:cNvSpPr>
                    <a:spLocks/>
                  </p:cNvSpPr>
                  <p:nvPr/>
                </p:nvSpPr>
                <p:spPr bwMode="auto">
                  <a:xfrm>
                    <a:off x="2137" y="3248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386" name="Group 414"/>
                  <p:cNvGrpSpPr>
                    <a:grpSpLocks/>
                  </p:cNvGrpSpPr>
                  <p:nvPr/>
                </p:nvGrpSpPr>
                <p:grpSpPr bwMode="auto">
                  <a:xfrm>
                    <a:off x="2164" y="3310"/>
                    <a:ext cx="2" cy="3"/>
                    <a:chOff x="2164" y="3310"/>
                    <a:chExt cx="2" cy="3"/>
                  </a:xfrm>
                </p:grpSpPr>
                <p:sp>
                  <p:nvSpPr>
                    <p:cNvPr id="7397" name="Oval 415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64" y="3310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98" name="Arc 416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65" y="3311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387" name="Group 417"/>
                  <p:cNvGrpSpPr>
                    <a:grpSpLocks/>
                  </p:cNvGrpSpPr>
                  <p:nvPr/>
                </p:nvGrpSpPr>
                <p:grpSpPr bwMode="auto">
                  <a:xfrm>
                    <a:off x="2181" y="3322"/>
                    <a:ext cx="23" cy="4"/>
                    <a:chOff x="2181" y="3322"/>
                    <a:chExt cx="23" cy="4"/>
                  </a:xfrm>
                </p:grpSpPr>
                <p:sp>
                  <p:nvSpPr>
                    <p:cNvPr id="7392" name="Arc 418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85" y="3322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93" name="Arc 419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81" y="3322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94" name="Arc 420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88" y="3322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95" name="Arc 421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92" y="3322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96" name="Arc 422" descr="50%"/>
                    <p:cNvSpPr>
                      <a:spLocks/>
                    </p:cNvSpPr>
                    <p:nvPr/>
                  </p:nvSpPr>
                  <p:spPr bwMode="auto">
                    <a:xfrm>
                      <a:off x="2198" y="3322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388" name="Freeform 423" descr="50%"/>
                  <p:cNvSpPr>
                    <a:spLocks/>
                  </p:cNvSpPr>
                  <p:nvPr/>
                </p:nvSpPr>
                <p:spPr bwMode="auto">
                  <a:xfrm>
                    <a:off x="2137" y="3250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389" name="Group 424"/>
                  <p:cNvGrpSpPr>
                    <a:grpSpLocks/>
                  </p:cNvGrpSpPr>
                  <p:nvPr/>
                </p:nvGrpSpPr>
                <p:grpSpPr bwMode="auto">
                  <a:xfrm>
                    <a:off x="2201" y="3324"/>
                    <a:ext cx="47" cy="37"/>
                    <a:chOff x="2201" y="3324"/>
                    <a:chExt cx="47" cy="37"/>
                  </a:xfrm>
                </p:grpSpPr>
                <p:sp>
                  <p:nvSpPr>
                    <p:cNvPr id="7390" name="Freeform 425" descr="50%"/>
                    <p:cNvSpPr>
                      <a:spLocks/>
                    </p:cNvSpPr>
                    <p:nvPr/>
                  </p:nvSpPr>
                  <p:spPr bwMode="auto">
                    <a:xfrm>
                      <a:off x="2201" y="3330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91" name="Freeform 426" descr="50%"/>
                    <p:cNvSpPr>
                      <a:spLocks/>
                    </p:cNvSpPr>
                    <p:nvPr/>
                  </p:nvSpPr>
                  <p:spPr bwMode="auto">
                    <a:xfrm>
                      <a:off x="2202" y="3324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7217" name="Group 427"/>
              <p:cNvGrpSpPr>
                <a:grpSpLocks/>
              </p:cNvGrpSpPr>
              <p:nvPr/>
            </p:nvGrpSpPr>
            <p:grpSpPr bwMode="auto">
              <a:xfrm>
                <a:off x="2509" y="2864"/>
                <a:ext cx="321" cy="497"/>
                <a:chOff x="2509" y="2864"/>
                <a:chExt cx="321" cy="497"/>
              </a:xfrm>
            </p:grpSpPr>
            <p:grpSp>
              <p:nvGrpSpPr>
                <p:cNvPr id="7299" name="Group 428"/>
                <p:cNvGrpSpPr>
                  <a:grpSpLocks/>
                </p:cNvGrpSpPr>
                <p:nvPr/>
              </p:nvGrpSpPr>
              <p:grpSpPr bwMode="auto">
                <a:xfrm>
                  <a:off x="2509" y="2864"/>
                  <a:ext cx="321" cy="113"/>
                  <a:chOff x="2509" y="2864"/>
                  <a:chExt cx="321" cy="113"/>
                </a:xfrm>
              </p:grpSpPr>
              <p:sp>
                <p:nvSpPr>
                  <p:cNvPr id="7364" name="Freeform 429" descr="50%"/>
                  <p:cNvSpPr>
                    <a:spLocks/>
                  </p:cNvSpPr>
                  <p:nvPr/>
                </p:nvSpPr>
                <p:spPr bwMode="auto">
                  <a:xfrm>
                    <a:off x="2590" y="2937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365" name="Freeform 430" descr="50%"/>
                  <p:cNvSpPr>
                    <a:spLocks/>
                  </p:cNvSpPr>
                  <p:nvPr/>
                </p:nvSpPr>
                <p:spPr bwMode="auto">
                  <a:xfrm>
                    <a:off x="2509" y="2864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366" name="Group 431"/>
                  <p:cNvGrpSpPr>
                    <a:grpSpLocks/>
                  </p:cNvGrpSpPr>
                  <p:nvPr/>
                </p:nvGrpSpPr>
                <p:grpSpPr bwMode="auto">
                  <a:xfrm>
                    <a:off x="2536" y="2926"/>
                    <a:ext cx="2" cy="3"/>
                    <a:chOff x="2536" y="2926"/>
                    <a:chExt cx="2" cy="3"/>
                  </a:xfrm>
                </p:grpSpPr>
                <p:sp>
                  <p:nvSpPr>
                    <p:cNvPr id="7377" name="Oval 432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36" y="2926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78" name="Arc 433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37" y="2927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367" name="Group 434"/>
                  <p:cNvGrpSpPr>
                    <a:grpSpLocks/>
                  </p:cNvGrpSpPr>
                  <p:nvPr/>
                </p:nvGrpSpPr>
                <p:grpSpPr bwMode="auto">
                  <a:xfrm>
                    <a:off x="2553" y="2938"/>
                    <a:ext cx="23" cy="4"/>
                    <a:chOff x="2553" y="2938"/>
                    <a:chExt cx="23" cy="4"/>
                  </a:xfrm>
                </p:grpSpPr>
                <p:sp>
                  <p:nvSpPr>
                    <p:cNvPr id="7372" name="Arc 435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57" y="2938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73" name="Arc 436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53" y="2938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74" name="Arc 437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60" y="2938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75" name="Arc 438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64" y="2938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76" name="Arc 439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70" y="2938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368" name="Freeform 440" descr="50%"/>
                  <p:cNvSpPr>
                    <a:spLocks/>
                  </p:cNvSpPr>
                  <p:nvPr/>
                </p:nvSpPr>
                <p:spPr bwMode="auto">
                  <a:xfrm>
                    <a:off x="2509" y="2866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369" name="Group 441"/>
                  <p:cNvGrpSpPr>
                    <a:grpSpLocks/>
                  </p:cNvGrpSpPr>
                  <p:nvPr/>
                </p:nvGrpSpPr>
                <p:grpSpPr bwMode="auto">
                  <a:xfrm>
                    <a:off x="2573" y="2940"/>
                    <a:ext cx="47" cy="37"/>
                    <a:chOff x="2573" y="2940"/>
                    <a:chExt cx="47" cy="37"/>
                  </a:xfrm>
                </p:grpSpPr>
                <p:sp>
                  <p:nvSpPr>
                    <p:cNvPr id="7370" name="Freeform 442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73" y="2946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71" name="Freeform 443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74" y="2940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300" name="Group 444"/>
                <p:cNvGrpSpPr>
                  <a:grpSpLocks/>
                </p:cNvGrpSpPr>
                <p:nvPr/>
              </p:nvGrpSpPr>
              <p:grpSpPr bwMode="auto">
                <a:xfrm>
                  <a:off x="2509" y="2960"/>
                  <a:ext cx="321" cy="113"/>
                  <a:chOff x="2509" y="2960"/>
                  <a:chExt cx="321" cy="113"/>
                </a:xfrm>
              </p:grpSpPr>
              <p:sp>
                <p:nvSpPr>
                  <p:cNvPr id="7349" name="Freeform 445" descr="50%"/>
                  <p:cNvSpPr>
                    <a:spLocks/>
                  </p:cNvSpPr>
                  <p:nvPr/>
                </p:nvSpPr>
                <p:spPr bwMode="auto">
                  <a:xfrm>
                    <a:off x="2590" y="3033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350" name="Freeform 446" descr="50%"/>
                  <p:cNvSpPr>
                    <a:spLocks/>
                  </p:cNvSpPr>
                  <p:nvPr/>
                </p:nvSpPr>
                <p:spPr bwMode="auto">
                  <a:xfrm>
                    <a:off x="2509" y="2960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351" name="Group 447"/>
                  <p:cNvGrpSpPr>
                    <a:grpSpLocks/>
                  </p:cNvGrpSpPr>
                  <p:nvPr/>
                </p:nvGrpSpPr>
                <p:grpSpPr bwMode="auto">
                  <a:xfrm>
                    <a:off x="2536" y="3022"/>
                    <a:ext cx="2" cy="3"/>
                    <a:chOff x="2536" y="3022"/>
                    <a:chExt cx="2" cy="3"/>
                  </a:xfrm>
                </p:grpSpPr>
                <p:sp>
                  <p:nvSpPr>
                    <p:cNvPr id="7362" name="Oval 448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36" y="3022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63" name="Arc 449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37" y="3023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352" name="Group 450"/>
                  <p:cNvGrpSpPr>
                    <a:grpSpLocks/>
                  </p:cNvGrpSpPr>
                  <p:nvPr/>
                </p:nvGrpSpPr>
                <p:grpSpPr bwMode="auto">
                  <a:xfrm>
                    <a:off x="2553" y="3034"/>
                    <a:ext cx="23" cy="4"/>
                    <a:chOff x="2553" y="3034"/>
                    <a:chExt cx="23" cy="4"/>
                  </a:xfrm>
                </p:grpSpPr>
                <p:sp>
                  <p:nvSpPr>
                    <p:cNvPr id="7357" name="Arc 451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57" y="3034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58" name="Arc 452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53" y="3034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59" name="Arc 453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60" y="3034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60" name="Arc 454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64" y="3034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61" name="Arc 455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70" y="3034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353" name="Freeform 456" descr="50%"/>
                  <p:cNvSpPr>
                    <a:spLocks/>
                  </p:cNvSpPr>
                  <p:nvPr/>
                </p:nvSpPr>
                <p:spPr bwMode="auto">
                  <a:xfrm>
                    <a:off x="2509" y="2962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354" name="Group 457"/>
                  <p:cNvGrpSpPr>
                    <a:grpSpLocks/>
                  </p:cNvGrpSpPr>
                  <p:nvPr/>
                </p:nvGrpSpPr>
                <p:grpSpPr bwMode="auto">
                  <a:xfrm>
                    <a:off x="2573" y="3036"/>
                    <a:ext cx="47" cy="37"/>
                    <a:chOff x="2573" y="3036"/>
                    <a:chExt cx="47" cy="37"/>
                  </a:xfrm>
                </p:grpSpPr>
                <p:sp>
                  <p:nvSpPr>
                    <p:cNvPr id="7355" name="Freeform 458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73" y="3042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56" name="Freeform 459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74" y="3036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301" name="Group 460"/>
                <p:cNvGrpSpPr>
                  <a:grpSpLocks/>
                </p:cNvGrpSpPr>
                <p:nvPr/>
              </p:nvGrpSpPr>
              <p:grpSpPr bwMode="auto">
                <a:xfrm>
                  <a:off x="2509" y="3056"/>
                  <a:ext cx="321" cy="113"/>
                  <a:chOff x="2509" y="3056"/>
                  <a:chExt cx="321" cy="113"/>
                </a:xfrm>
              </p:grpSpPr>
              <p:sp>
                <p:nvSpPr>
                  <p:cNvPr id="7334" name="Freeform 461" descr="50%"/>
                  <p:cNvSpPr>
                    <a:spLocks/>
                  </p:cNvSpPr>
                  <p:nvPr/>
                </p:nvSpPr>
                <p:spPr bwMode="auto">
                  <a:xfrm>
                    <a:off x="2590" y="3129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335" name="Freeform 462" descr="50%"/>
                  <p:cNvSpPr>
                    <a:spLocks/>
                  </p:cNvSpPr>
                  <p:nvPr/>
                </p:nvSpPr>
                <p:spPr bwMode="auto">
                  <a:xfrm>
                    <a:off x="2509" y="3056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336" name="Group 463"/>
                  <p:cNvGrpSpPr>
                    <a:grpSpLocks/>
                  </p:cNvGrpSpPr>
                  <p:nvPr/>
                </p:nvGrpSpPr>
                <p:grpSpPr bwMode="auto">
                  <a:xfrm>
                    <a:off x="2536" y="3118"/>
                    <a:ext cx="2" cy="3"/>
                    <a:chOff x="2536" y="3118"/>
                    <a:chExt cx="2" cy="3"/>
                  </a:xfrm>
                </p:grpSpPr>
                <p:sp>
                  <p:nvSpPr>
                    <p:cNvPr id="7347" name="Oval 464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36" y="3118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48" name="Arc 465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37" y="3119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337" name="Group 466"/>
                  <p:cNvGrpSpPr>
                    <a:grpSpLocks/>
                  </p:cNvGrpSpPr>
                  <p:nvPr/>
                </p:nvGrpSpPr>
                <p:grpSpPr bwMode="auto">
                  <a:xfrm>
                    <a:off x="2553" y="3130"/>
                    <a:ext cx="23" cy="4"/>
                    <a:chOff x="2553" y="3130"/>
                    <a:chExt cx="23" cy="4"/>
                  </a:xfrm>
                </p:grpSpPr>
                <p:sp>
                  <p:nvSpPr>
                    <p:cNvPr id="7342" name="Arc 467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57" y="3130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43" name="Arc 468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53" y="3130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44" name="Arc 469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60" y="3130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45" name="Arc 470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64" y="3130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46" name="Arc 471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70" y="3130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338" name="Freeform 472" descr="50%"/>
                  <p:cNvSpPr>
                    <a:spLocks/>
                  </p:cNvSpPr>
                  <p:nvPr/>
                </p:nvSpPr>
                <p:spPr bwMode="auto">
                  <a:xfrm>
                    <a:off x="2509" y="3058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339" name="Group 473"/>
                  <p:cNvGrpSpPr>
                    <a:grpSpLocks/>
                  </p:cNvGrpSpPr>
                  <p:nvPr/>
                </p:nvGrpSpPr>
                <p:grpSpPr bwMode="auto">
                  <a:xfrm>
                    <a:off x="2573" y="3132"/>
                    <a:ext cx="47" cy="37"/>
                    <a:chOff x="2573" y="3132"/>
                    <a:chExt cx="47" cy="37"/>
                  </a:xfrm>
                </p:grpSpPr>
                <p:sp>
                  <p:nvSpPr>
                    <p:cNvPr id="7340" name="Freeform 474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73" y="3138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41" name="Freeform 475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74" y="3132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302" name="Group 476"/>
                <p:cNvGrpSpPr>
                  <a:grpSpLocks/>
                </p:cNvGrpSpPr>
                <p:nvPr/>
              </p:nvGrpSpPr>
              <p:grpSpPr bwMode="auto">
                <a:xfrm>
                  <a:off x="2509" y="3152"/>
                  <a:ext cx="321" cy="113"/>
                  <a:chOff x="2509" y="3152"/>
                  <a:chExt cx="321" cy="113"/>
                </a:xfrm>
              </p:grpSpPr>
              <p:sp>
                <p:nvSpPr>
                  <p:cNvPr id="7319" name="Freeform 477" descr="50%"/>
                  <p:cNvSpPr>
                    <a:spLocks/>
                  </p:cNvSpPr>
                  <p:nvPr/>
                </p:nvSpPr>
                <p:spPr bwMode="auto">
                  <a:xfrm>
                    <a:off x="2590" y="3225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320" name="Freeform 478" descr="50%"/>
                  <p:cNvSpPr>
                    <a:spLocks/>
                  </p:cNvSpPr>
                  <p:nvPr/>
                </p:nvSpPr>
                <p:spPr bwMode="auto">
                  <a:xfrm>
                    <a:off x="2509" y="3152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321" name="Group 479"/>
                  <p:cNvGrpSpPr>
                    <a:grpSpLocks/>
                  </p:cNvGrpSpPr>
                  <p:nvPr/>
                </p:nvGrpSpPr>
                <p:grpSpPr bwMode="auto">
                  <a:xfrm>
                    <a:off x="2536" y="3214"/>
                    <a:ext cx="2" cy="3"/>
                    <a:chOff x="2536" y="3214"/>
                    <a:chExt cx="2" cy="3"/>
                  </a:xfrm>
                </p:grpSpPr>
                <p:sp>
                  <p:nvSpPr>
                    <p:cNvPr id="7332" name="Oval 480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36" y="3214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33" name="Arc 481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37" y="3215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322" name="Group 482"/>
                  <p:cNvGrpSpPr>
                    <a:grpSpLocks/>
                  </p:cNvGrpSpPr>
                  <p:nvPr/>
                </p:nvGrpSpPr>
                <p:grpSpPr bwMode="auto">
                  <a:xfrm>
                    <a:off x="2553" y="3226"/>
                    <a:ext cx="23" cy="4"/>
                    <a:chOff x="2553" y="3226"/>
                    <a:chExt cx="23" cy="4"/>
                  </a:xfrm>
                </p:grpSpPr>
                <p:sp>
                  <p:nvSpPr>
                    <p:cNvPr id="7327" name="Arc 483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57" y="3226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28" name="Arc 484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53" y="3226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29" name="Arc 485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60" y="3226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30" name="Arc 486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64" y="3226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31" name="Arc 487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70" y="3226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323" name="Freeform 488" descr="50%"/>
                  <p:cNvSpPr>
                    <a:spLocks/>
                  </p:cNvSpPr>
                  <p:nvPr/>
                </p:nvSpPr>
                <p:spPr bwMode="auto">
                  <a:xfrm>
                    <a:off x="2509" y="3154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324" name="Group 489"/>
                  <p:cNvGrpSpPr>
                    <a:grpSpLocks/>
                  </p:cNvGrpSpPr>
                  <p:nvPr/>
                </p:nvGrpSpPr>
                <p:grpSpPr bwMode="auto">
                  <a:xfrm>
                    <a:off x="2573" y="3228"/>
                    <a:ext cx="47" cy="37"/>
                    <a:chOff x="2573" y="3228"/>
                    <a:chExt cx="47" cy="37"/>
                  </a:xfrm>
                </p:grpSpPr>
                <p:sp>
                  <p:nvSpPr>
                    <p:cNvPr id="7325" name="Freeform 490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73" y="3234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26" name="Freeform 491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74" y="3228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303" name="Group 492"/>
                <p:cNvGrpSpPr>
                  <a:grpSpLocks/>
                </p:cNvGrpSpPr>
                <p:nvPr/>
              </p:nvGrpSpPr>
              <p:grpSpPr bwMode="auto">
                <a:xfrm>
                  <a:off x="2509" y="3248"/>
                  <a:ext cx="321" cy="113"/>
                  <a:chOff x="2509" y="3248"/>
                  <a:chExt cx="321" cy="113"/>
                </a:xfrm>
              </p:grpSpPr>
              <p:sp>
                <p:nvSpPr>
                  <p:cNvPr id="7304" name="Freeform 493" descr="50%"/>
                  <p:cNvSpPr>
                    <a:spLocks/>
                  </p:cNvSpPr>
                  <p:nvPr/>
                </p:nvSpPr>
                <p:spPr bwMode="auto">
                  <a:xfrm>
                    <a:off x="2590" y="3321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305" name="Freeform 494" descr="50%"/>
                  <p:cNvSpPr>
                    <a:spLocks/>
                  </p:cNvSpPr>
                  <p:nvPr/>
                </p:nvSpPr>
                <p:spPr bwMode="auto">
                  <a:xfrm>
                    <a:off x="2509" y="3248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306" name="Group 495"/>
                  <p:cNvGrpSpPr>
                    <a:grpSpLocks/>
                  </p:cNvGrpSpPr>
                  <p:nvPr/>
                </p:nvGrpSpPr>
                <p:grpSpPr bwMode="auto">
                  <a:xfrm>
                    <a:off x="2536" y="3310"/>
                    <a:ext cx="2" cy="3"/>
                    <a:chOff x="2536" y="3310"/>
                    <a:chExt cx="2" cy="3"/>
                  </a:xfrm>
                </p:grpSpPr>
                <p:sp>
                  <p:nvSpPr>
                    <p:cNvPr id="7317" name="Oval 496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36" y="3310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18" name="Arc 497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37" y="3311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307" name="Group 498"/>
                  <p:cNvGrpSpPr>
                    <a:grpSpLocks/>
                  </p:cNvGrpSpPr>
                  <p:nvPr/>
                </p:nvGrpSpPr>
                <p:grpSpPr bwMode="auto">
                  <a:xfrm>
                    <a:off x="2553" y="3322"/>
                    <a:ext cx="23" cy="4"/>
                    <a:chOff x="2553" y="3322"/>
                    <a:chExt cx="23" cy="4"/>
                  </a:xfrm>
                </p:grpSpPr>
                <p:sp>
                  <p:nvSpPr>
                    <p:cNvPr id="7312" name="Arc 499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57" y="3322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13" name="Arc 500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53" y="3322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14" name="Arc 501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60" y="3322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15" name="Arc 502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64" y="3322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16" name="Arc 503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70" y="3322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308" name="Freeform 504" descr="50%"/>
                  <p:cNvSpPr>
                    <a:spLocks/>
                  </p:cNvSpPr>
                  <p:nvPr/>
                </p:nvSpPr>
                <p:spPr bwMode="auto">
                  <a:xfrm>
                    <a:off x="2509" y="3250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309" name="Group 505"/>
                  <p:cNvGrpSpPr>
                    <a:grpSpLocks/>
                  </p:cNvGrpSpPr>
                  <p:nvPr/>
                </p:nvGrpSpPr>
                <p:grpSpPr bwMode="auto">
                  <a:xfrm>
                    <a:off x="2573" y="3324"/>
                    <a:ext cx="47" cy="37"/>
                    <a:chOff x="2573" y="3324"/>
                    <a:chExt cx="47" cy="37"/>
                  </a:xfrm>
                </p:grpSpPr>
                <p:sp>
                  <p:nvSpPr>
                    <p:cNvPr id="7310" name="Freeform 506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73" y="3330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311" name="Freeform 507" descr="50%"/>
                    <p:cNvSpPr>
                      <a:spLocks/>
                    </p:cNvSpPr>
                    <p:nvPr/>
                  </p:nvSpPr>
                  <p:spPr bwMode="auto">
                    <a:xfrm>
                      <a:off x="2574" y="3324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7218" name="Group 508"/>
              <p:cNvGrpSpPr>
                <a:grpSpLocks/>
              </p:cNvGrpSpPr>
              <p:nvPr/>
            </p:nvGrpSpPr>
            <p:grpSpPr bwMode="auto">
              <a:xfrm>
                <a:off x="2893" y="2864"/>
                <a:ext cx="321" cy="497"/>
                <a:chOff x="2893" y="2864"/>
                <a:chExt cx="321" cy="497"/>
              </a:xfrm>
            </p:grpSpPr>
            <p:grpSp>
              <p:nvGrpSpPr>
                <p:cNvPr id="7219" name="Group 509"/>
                <p:cNvGrpSpPr>
                  <a:grpSpLocks/>
                </p:cNvGrpSpPr>
                <p:nvPr/>
              </p:nvGrpSpPr>
              <p:grpSpPr bwMode="auto">
                <a:xfrm>
                  <a:off x="2893" y="2864"/>
                  <a:ext cx="321" cy="113"/>
                  <a:chOff x="2893" y="2864"/>
                  <a:chExt cx="321" cy="113"/>
                </a:xfrm>
              </p:grpSpPr>
              <p:sp>
                <p:nvSpPr>
                  <p:cNvPr id="7284" name="Freeform 510" descr="50%"/>
                  <p:cNvSpPr>
                    <a:spLocks/>
                  </p:cNvSpPr>
                  <p:nvPr/>
                </p:nvSpPr>
                <p:spPr bwMode="auto">
                  <a:xfrm>
                    <a:off x="2974" y="2937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85" name="Freeform 511" descr="50%"/>
                  <p:cNvSpPr>
                    <a:spLocks/>
                  </p:cNvSpPr>
                  <p:nvPr/>
                </p:nvSpPr>
                <p:spPr bwMode="auto">
                  <a:xfrm>
                    <a:off x="2893" y="2864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286" name="Group 512"/>
                  <p:cNvGrpSpPr>
                    <a:grpSpLocks/>
                  </p:cNvGrpSpPr>
                  <p:nvPr/>
                </p:nvGrpSpPr>
                <p:grpSpPr bwMode="auto">
                  <a:xfrm>
                    <a:off x="2920" y="2926"/>
                    <a:ext cx="2" cy="3"/>
                    <a:chOff x="2920" y="2926"/>
                    <a:chExt cx="2" cy="3"/>
                  </a:xfrm>
                </p:grpSpPr>
                <p:sp>
                  <p:nvSpPr>
                    <p:cNvPr id="7297" name="Oval 513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0" y="2926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98" name="Arc 514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21" y="2927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287" name="Group 515"/>
                  <p:cNvGrpSpPr>
                    <a:grpSpLocks/>
                  </p:cNvGrpSpPr>
                  <p:nvPr/>
                </p:nvGrpSpPr>
                <p:grpSpPr bwMode="auto">
                  <a:xfrm>
                    <a:off x="2937" y="2938"/>
                    <a:ext cx="23" cy="4"/>
                    <a:chOff x="2937" y="2938"/>
                    <a:chExt cx="23" cy="4"/>
                  </a:xfrm>
                </p:grpSpPr>
                <p:sp>
                  <p:nvSpPr>
                    <p:cNvPr id="7292" name="Arc 516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41" y="2938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93" name="Arc 517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37" y="2938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94" name="Arc 518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44" y="2938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95" name="Arc 519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48" y="2938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96" name="Arc 520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54" y="2938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288" name="Freeform 521" descr="50%"/>
                  <p:cNvSpPr>
                    <a:spLocks/>
                  </p:cNvSpPr>
                  <p:nvPr/>
                </p:nvSpPr>
                <p:spPr bwMode="auto">
                  <a:xfrm>
                    <a:off x="2893" y="2866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289" name="Group 522"/>
                  <p:cNvGrpSpPr>
                    <a:grpSpLocks/>
                  </p:cNvGrpSpPr>
                  <p:nvPr/>
                </p:nvGrpSpPr>
                <p:grpSpPr bwMode="auto">
                  <a:xfrm>
                    <a:off x="2957" y="2940"/>
                    <a:ext cx="47" cy="37"/>
                    <a:chOff x="2957" y="2940"/>
                    <a:chExt cx="47" cy="37"/>
                  </a:xfrm>
                </p:grpSpPr>
                <p:sp>
                  <p:nvSpPr>
                    <p:cNvPr id="7290" name="Freeform 523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57" y="2946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91" name="Freeform 524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58" y="2940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220" name="Group 525"/>
                <p:cNvGrpSpPr>
                  <a:grpSpLocks/>
                </p:cNvGrpSpPr>
                <p:nvPr/>
              </p:nvGrpSpPr>
              <p:grpSpPr bwMode="auto">
                <a:xfrm>
                  <a:off x="2893" y="2960"/>
                  <a:ext cx="321" cy="113"/>
                  <a:chOff x="2893" y="2960"/>
                  <a:chExt cx="321" cy="113"/>
                </a:xfrm>
              </p:grpSpPr>
              <p:sp>
                <p:nvSpPr>
                  <p:cNvPr id="7269" name="Freeform 526" descr="50%"/>
                  <p:cNvSpPr>
                    <a:spLocks/>
                  </p:cNvSpPr>
                  <p:nvPr/>
                </p:nvSpPr>
                <p:spPr bwMode="auto">
                  <a:xfrm>
                    <a:off x="2974" y="3033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70" name="Freeform 527" descr="50%"/>
                  <p:cNvSpPr>
                    <a:spLocks/>
                  </p:cNvSpPr>
                  <p:nvPr/>
                </p:nvSpPr>
                <p:spPr bwMode="auto">
                  <a:xfrm>
                    <a:off x="2893" y="2960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271" name="Group 528"/>
                  <p:cNvGrpSpPr>
                    <a:grpSpLocks/>
                  </p:cNvGrpSpPr>
                  <p:nvPr/>
                </p:nvGrpSpPr>
                <p:grpSpPr bwMode="auto">
                  <a:xfrm>
                    <a:off x="2920" y="3022"/>
                    <a:ext cx="2" cy="3"/>
                    <a:chOff x="2920" y="3022"/>
                    <a:chExt cx="2" cy="3"/>
                  </a:xfrm>
                </p:grpSpPr>
                <p:sp>
                  <p:nvSpPr>
                    <p:cNvPr id="7282" name="Oval 529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0" y="3022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83" name="Arc 530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21" y="3023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272" name="Group 531"/>
                  <p:cNvGrpSpPr>
                    <a:grpSpLocks/>
                  </p:cNvGrpSpPr>
                  <p:nvPr/>
                </p:nvGrpSpPr>
                <p:grpSpPr bwMode="auto">
                  <a:xfrm>
                    <a:off x="2937" y="3034"/>
                    <a:ext cx="23" cy="4"/>
                    <a:chOff x="2937" y="3034"/>
                    <a:chExt cx="23" cy="4"/>
                  </a:xfrm>
                </p:grpSpPr>
                <p:sp>
                  <p:nvSpPr>
                    <p:cNvPr id="7277" name="Arc 532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41" y="3034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78" name="Arc 533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37" y="3034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79" name="Arc 534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44" y="3034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80" name="Arc 535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48" y="3034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81" name="Arc 536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54" y="3034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273" name="Freeform 537" descr="50%"/>
                  <p:cNvSpPr>
                    <a:spLocks/>
                  </p:cNvSpPr>
                  <p:nvPr/>
                </p:nvSpPr>
                <p:spPr bwMode="auto">
                  <a:xfrm>
                    <a:off x="2893" y="2962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274" name="Group 538"/>
                  <p:cNvGrpSpPr>
                    <a:grpSpLocks/>
                  </p:cNvGrpSpPr>
                  <p:nvPr/>
                </p:nvGrpSpPr>
                <p:grpSpPr bwMode="auto">
                  <a:xfrm>
                    <a:off x="2957" y="3036"/>
                    <a:ext cx="47" cy="37"/>
                    <a:chOff x="2957" y="3036"/>
                    <a:chExt cx="47" cy="37"/>
                  </a:xfrm>
                </p:grpSpPr>
                <p:sp>
                  <p:nvSpPr>
                    <p:cNvPr id="7275" name="Freeform 539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57" y="3042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76" name="Freeform 540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58" y="3036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221" name="Group 541"/>
                <p:cNvGrpSpPr>
                  <a:grpSpLocks/>
                </p:cNvGrpSpPr>
                <p:nvPr/>
              </p:nvGrpSpPr>
              <p:grpSpPr bwMode="auto">
                <a:xfrm>
                  <a:off x="2893" y="3056"/>
                  <a:ext cx="321" cy="113"/>
                  <a:chOff x="2893" y="3056"/>
                  <a:chExt cx="321" cy="113"/>
                </a:xfrm>
              </p:grpSpPr>
              <p:sp>
                <p:nvSpPr>
                  <p:cNvPr id="7254" name="Freeform 542" descr="50%"/>
                  <p:cNvSpPr>
                    <a:spLocks/>
                  </p:cNvSpPr>
                  <p:nvPr/>
                </p:nvSpPr>
                <p:spPr bwMode="auto">
                  <a:xfrm>
                    <a:off x="2974" y="3129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55" name="Freeform 543" descr="50%"/>
                  <p:cNvSpPr>
                    <a:spLocks/>
                  </p:cNvSpPr>
                  <p:nvPr/>
                </p:nvSpPr>
                <p:spPr bwMode="auto">
                  <a:xfrm>
                    <a:off x="2893" y="3056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256" name="Group 544"/>
                  <p:cNvGrpSpPr>
                    <a:grpSpLocks/>
                  </p:cNvGrpSpPr>
                  <p:nvPr/>
                </p:nvGrpSpPr>
                <p:grpSpPr bwMode="auto">
                  <a:xfrm>
                    <a:off x="2920" y="3118"/>
                    <a:ext cx="2" cy="3"/>
                    <a:chOff x="2920" y="3118"/>
                    <a:chExt cx="2" cy="3"/>
                  </a:xfrm>
                </p:grpSpPr>
                <p:sp>
                  <p:nvSpPr>
                    <p:cNvPr id="7267" name="Oval 545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0" y="3118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68" name="Arc 546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21" y="3119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257" name="Group 547"/>
                  <p:cNvGrpSpPr>
                    <a:grpSpLocks/>
                  </p:cNvGrpSpPr>
                  <p:nvPr/>
                </p:nvGrpSpPr>
                <p:grpSpPr bwMode="auto">
                  <a:xfrm>
                    <a:off x="2937" y="3130"/>
                    <a:ext cx="23" cy="4"/>
                    <a:chOff x="2937" y="3130"/>
                    <a:chExt cx="23" cy="4"/>
                  </a:xfrm>
                </p:grpSpPr>
                <p:sp>
                  <p:nvSpPr>
                    <p:cNvPr id="7262" name="Arc 548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41" y="3130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63" name="Arc 549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37" y="3130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64" name="Arc 550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44" y="3130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65" name="Arc 551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48" y="3130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66" name="Arc 552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54" y="3130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258" name="Freeform 553" descr="50%"/>
                  <p:cNvSpPr>
                    <a:spLocks/>
                  </p:cNvSpPr>
                  <p:nvPr/>
                </p:nvSpPr>
                <p:spPr bwMode="auto">
                  <a:xfrm>
                    <a:off x="2893" y="3058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259" name="Group 554"/>
                  <p:cNvGrpSpPr>
                    <a:grpSpLocks/>
                  </p:cNvGrpSpPr>
                  <p:nvPr/>
                </p:nvGrpSpPr>
                <p:grpSpPr bwMode="auto">
                  <a:xfrm>
                    <a:off x="2957" y="3132"/>
                    <a:ext cx="47" cy="37"/>
                    <a:chOff x="2957" y="3132"/>
                    <a:chExt cx="47" cy="37"/>
                  </a:xfrm>
                </p:grpSpPr>
                <p:sp>
                  <p:nvSpPr>
                    <p:cNvPr id="7260" name="Freeform 555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57" y="3138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61" name="Freeform 556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58" y="3132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222" name="Group 557"/>
                <p:cNvGrpSpPr>
                  <a:grpSpLocks/>
                </p:cNvGrpSpPr>
                <p:nvPr/>
              </p:nvGrpSpPr>
              <p:grpSpPr bwMode="auto">
                <a:xfrm>
                  <a:off x="2893" y="3152"/>
                  <a:ext cx="321" cy="113"/>
                  <a:chOff x="2893" y="3152"/>
                  <a:chExt cx="321" cy="113"/>
                </a:xfrm>
              </p:grpSpPr>
              <p:sp>
                <p:nvSpPr>
                  <p:cNvPr id="7239" name="Freeform 558" descr="50%"/>
                  <p:cNvSpPr>
                    <a:spLocks/>
                  </p:cNvSpPr>
                  <p:nvPr/>
                </p:nvSpPr>
                <p:spPr bwMode="auto">
                  <a:xfrm>
                    <a:off x="2974" y="3225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40" name="Freeform 559" descr="50%"/>
                  <p:cNvSpPr>
                    <a:spLocks/>
                  </p:cNvSpPr>
                  <p:nvPr/>
                </p:nvSpPr>
                <p:spPr bwMode="auto">
                  <a:xfrm>
                    <a:off x="2893" y="3152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241" name="Group 560"/>
                  <p:cNvGrpSpPr>
                    <a:grpSpLocks/>
                  </p:cNvGrpSpPr>
                  <p:nvPr/>
                </p:nvGrpSpPr>
                <p:grpSpPr bwMode="auto">
                  <a:xfrm>
                    <a:off x="2920" y="3214"/>
                    <a:ext cx="2" cy="3"/>
                    <a:chOff x="2920" y="3214"/>
                    <a:chExt cx="2" cy="3"/>
                  </a:xfrm>
                </p:grpSpPr>
                <p:sp>
                  <p:nvSpPr>
                    <p:cNvPr id="7252" name="Oval 561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0" y="3214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53" name="Arc 562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21" y="3215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242" name="Group 563"/>
                  <p:cNvGrpSpPr>
                    <a:grpSpLocks/>
                  </p:cNvGrpSpPr>
                  <p:nvPr/>
                </p:nvGrpSpPr>
                <p:grpSpPr bwMode="auto">
                  <a:xfrm>
                    <a:off x="2937" y="3226"/>
                    <a:ext cx="23" cy="4"/>
                    <a:chOff x="2937" y="3226"/>
                    <a:chExt cx="23" cy="4"/>
                  </a:xfrm>
                </p:grpSpPr>
                <p:sp>
                  <p:nvSpPr>
                    <p:cNvPr id="7247" name="Arc 564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41" y="3226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48" name="Arc 565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37" y="3226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49" name="Arc 566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44" y="3226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50" name="Arc 567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48" y="3226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51" name="Arc 568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54" y="3226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243" name="Freeform 569" descr="50%"/>
                  <p:cNvSpPr>
                    <a:spLocks/>
                  </p:cNvSpPr>
                  <p:nvPr/>
                </p:nvSpPr>
                <p:spPr bwMode="auto">
                  <a:xfrm>
                    <a:off x="2893" y="3154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244" name="Group 570"/>
                  <p:cNvGrpSpPr>
                    <a:grpSpLocks/>
                  </p:cNvGrpSpPr>
                  <p:nvPr/>
                </p:nvGrpSpPr>
                <p:grpSpPr bwMode="auto">
                  <a:xfrm>
                    <a:off x="2957" y="3228"/>
                    <a:ext cx="47" cy="37"/>
                    <a:chOff x="2957" y="3228"/>
                    <a:chExt cx="47" cy="37"/>
                  </a:xfrm>
                </p:grpSpPr>
                <p:sp>
                  <p:nvSpPr>
                    <p:cNvPr id="7245" name="Freeform 571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57" y="3234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46" name="Freeform 572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58" y="3228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7223" name="Group 573"/>
                <p:cNvGrpSpPr>
                  <a:grpSpLocks/>
                </p:cNvGrpSpPr>
                <p:nvPr/>
              </p:nvGrpSpPr>
              <p:grpSpPr bwMode="auto">
                <a:xfrm>
                  <a:off x="2893" y="3248"/>
                  <a:ext cx="321" cy="113"/>
                  <a:chOff x="2893" y="3248"/>
                  <a:chExt cx="321" cy="113"/>
                </a:xfrm>
              </p:grpSpPr>
              <p:sp>
                <p:nvSpPr>
                  <p:cNvPr id="7224" name="Freeform 574" descr="50%"/>
                  <p:cNvSpPr>
                    <a:spLocks/>
                  </p:cNvSpPr>
                  <p:nvPr/>
                </p:nvSpPr>
                <p:spPr bwMode="auto">
                  <a:xfrm>
                    <a:off x="2974" y="3321"/>
                    <a:ext cx="38" cy="31"/>
                  </a:xfrm>
                  <a:custGeom>
                    <a:avLst/>
                    <a:gdLst>
                      <a:gd name="T0" fmla="*/ 0 w 38"/>
                      <a:gd name="T1" fmla="*/ 0 h 31"/>
                      <a:gd name="T2" fmla="*/ 1 w 38"/>
                      <a:gd name="T3" fmla="*/ 3 h 31"/>
                      <a:gd name="T4" fmla="*/ 3 w 38"/>
                      <a:gd name="T5" fmla="*/ 6 h 31"/>
                      <a:gd name="T6" fmla="*/ 5 w 38"/>
                      <a:gd name="T7" fmla="*/ 9 h 31"/>
                      <a:gd name="T8" fmla="*/ 7 w 38"/>
                      <a:gd name="T9" fmla="*/ 12 h 31"/>
                      <a:gd name="T10" fmla="*/ 10 w 38"/>
                      <a:gd name="T11" fmla="*/ 15 h 31"/>
                      <a:gd name="T12" fmla="*/ 13 w 38"/>
                      <a:gd name="T13" fmla="*/ 19 h 31"/>
                      <a:gd name="T14" fmla="*/ 15 w 38"/>
                      <a:gd name="T15" fmla="*/ 21 h 31"/>
                      <a:gd name="T16" fmla="*/ 18 w 38"/>
                      <a:gd name="T17" fmla="*/ 23 h 31"/>
                      <a:gd name="T18" fmla="*/ 21 w 38"/>
                      <a:gd name="T19" fmla="*/ 25 h 31"/>
                      <a:gd name="T20" fmla="*/ 24 w 38"/>
                      <a:gd name="T21" fmla="*/ 27 h 31"/>
                      <a:gd name="T22" fmla="*/ 26 w 38"/>
                      <a:gd name="T23" fmla="*/ 28 h 31"/>
                      <a:gd name="T24" fmla="*/ 29 w 38"/>
                      <a:gd name="T25" fmla="*/ 29 h 31"/>
                      <a:gd name="T26" fmla="*/ 33 w 38"/>
                      <a:gd name="T27" fmla="*/ 30 h 31"/>
                      <a:gd name="T28" fmla="*/ 36 w 38"/>
                      <a:gd name="T29" fmla="*/ 30 h 31"/>
                      <a:gd name="T30" fmla="*/ 37 w 38"/>
                      <a:gd name="T31" fmla="*/ 29 h 31"/>
                      <a:gd name="T32" fmla="*/ 35 w 38"/>
                      <a:gd name="T33" fmla="*/ 27 h 31"/>
                      <a:gd name="T34" fmla="*/ 33 w 38"/>
                      <a:gd name="T35" fmla="*/ 25 h 31"/>
                      <a:gd name="T36" fmla="*/ 31 w 38"/>
                      <a:gd name="T37" fmla="*/ 22 h 31"/>
                      <a:gd name="T38" fmla="*/ 29 w 38"/>
                      <a:gd name="T39" fmla="*/ 19 h 31"/>
                      <a:gd name="T40" fmla="*/ 27 w 38"/>
                      <a:gd name="T41" fmla="*/ 16 h 31"/>
                      <a:gd name="T42" fmla="*/ 26 w 38"/>
                      <a:gd name="T43" fmla="*/ 13 h 31"/>
                      <a:gd name="T44" fmla="*/ 25 w 38"/>
                      <a:gd name="T45" fmla="*/ 11 h 31"/>
                      <a:gd name="T46" fmla="*/ 24 w 38"/>
                      <a:gd name="T47" fmla="*/ 6 h 31"/>
                      <a:gd name="T48" fmla="*/ 24 w 38"/>
                      <a:gd name="T49" fmla="*/ 3 h 31"/>
                      <a:gd name="T50" fmla="*/ 24 w 38"/>
                      <a:gd name="T51" fmla="*/ 1 h 31"/>
                      <a:gd name="T52" fmla="*/ 0 w 38"/>
                      <a:gd name="T53" fmla="*/ 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0"/>
                        </a:moveTo>
                        <a:lnTo>
                          <a:pt x="1" y="3"/>
                        </a:lnTo>
                        <a:lnTo>
                          <a:pt x="3" y="6"/>
                        </a:lnTo>
                        <a:lnTo>
                          <a:pt x="5" y="9"/>
                        </a:lnTo>
                        <a:lnTo>
                          <a:pt x="7" y="12"/>
                        </a:lnTo>
                        <a:lnTo>
                          <a:pt x="10" y="15"/>
                        </a:lnTo>
                        <a:lnTo>
                          <a:pt x="13" y="19"/>
                        </a:lnTo>
                        <a:lnTo>
                          <a:pt x="15" y="21"/>
                        </a:lnTo>
                        <a:lnTo>
                          <a:pt x="18" y="23"/>
                        </a:lnTo>
                        <a:lnTo>
                          <a:pt x="21" y="25"/>
                        </a:lnTo>
                        <a:lnTo>
                          <a:pt x="24" y="27"/>
                        </a:lnTo>
                        <a:lnTo>
                          <a:pt x="26" y="28"/>
                        </a:lnTo>
                        <a:lnTo>
                          <a:pt x="29" y="29"/>
                        </a:lnTo>
                        <a:lnTo>
                          <a:pt x="33" y="30"/>
                        </a:lnTo>
                        <a:lnTo>
                          <a:pt x="36" y="30"/>
                        </a:lnTo>
                        <a:lnTo>
                          <a:pt x="37" y="29"/>
                        </a:lnTo>
                        <a:lnTo>
                          <a:pt x="35" y="27"/>
                        </a:lnTo>
                        <a:lnTo>
                          <a:pt x="33" y="25"/>
                        </a:lnTo>
                        <a:lnTo>
                          <a:pt x="31" y="22"/>
                        </a:lnTo>
                        <a:lnTo>
                          <a:pt x="29" y="19"/>
                        </a:lnTo>
                        <a:lnTo>
                          <a:pt x="27" y="16"/>
                        </a:lnTo>
                        <a:lnTo>
                          <a:pt x="26" y="13"/>
                        </a:lnTo>
                        <a:lnTo>
                          <a:pt x="25" y="11"/>
                        </a:lnTo>
                        <a:lnTo>
                          <a:pt x="24" y="6"/>
                        </a:lnTo>
                        <a:lnTo>
                          <a:pt x="24" y="3"/>
                        </a:lnTo>
                        <a:lnTo>
                          <a:pt x="24" y="1"/>
                        </a:lnTo>
                        <a:lnTo>
                          <a:pt x="0" y="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25" name="Freeform 575" descr="50%"/>
                  <p:cNvSpPr>
                    <a:spLocks/>
                  </p:cNvSpPr>
                  <p:nvPr/>
                </p:nvSpPr>
                <p:spPr bwMode="auto">
                  <a:xfrm>
                    <a:off x="2893" y="3248"/>
                    <a:ext cx="321" cy="98"/>
                  </a:xfrm>
                  <a:custGeom>
                    <a:avLst/>
                    <a:gdLst>
                      <a:gd name="T0" fmla="*/ 3 w 321"/>
                      <a:gd name="T1" fmla="*/ 58 h 98"/>
                      <a:gd name="T2" fmla="*/ 13 w 321"/>
                      <a:gd name="T3" fmla="*/ 54 h 98"/>
                      <a:gd name="T4" fmla="*/ 28 w 321"/>
                      <a:gd name="T5" fmla="*/ 49 h 98"/>
                      <a:gd name="T6" fmla="*/ 43 w 321"/>
                      <a:gd name="T7" fmla="*/ 46 h 98"/>
                      <a:gd name="T8" fmla="*/ 59 w 321"/>
                      <a:gd name="T9" fmla="*/ 43 h 98"/>
                      <a:gd name="T10" fmla="*/ 75 w 321"/>
                      <a:gd name="T11" fmla="*/ 40 h 98"/>
                      <a:gd name="T12" fmla="*/ 88 w 321"/>
                      <a:gd name="T13" fmla="*/ 37 h 98"/>
                      <a:gd name="T14" fmla="*/ 95 w 321"/>
                      <a:gd name="T15" fmla="*/ 33 h 98"/>
                      <a:gd name="T16" fmla="*/ 103 w 321"/>
                      <a:gd name="T17" fmla="*/ 25 h 98"/>
                      <a:gd name="T18" fmla="*/ 114 w 321"/>
                      <a:gd name="T19" fmla="*/ 14 h 98"/>
                      <a:gd name="T20" fmla="*/ 125 w 321"/>
                      <a:gd name="T21" fmla="*/ 4 h 98"/>
                      <a:gd name="T22" fmla="*/ 133 w 321"/>
                      <a:gd name="T23" fmla="*/ 12 h 98"/>
                      <a:gd name="T24" fmla="*/ 137 w 321"/>
                      <a:gd name="T25" fmla="*/ 29 h 98"/>
                      <a:gd name="T26" fmla="*/ 140 w 321"/>
                      <a:gd name="T27" fmla="*/ 36 h 98"/>
                      <a:gd name="T28" fmla="*/ 159 w 321"/>
                      <a:gd name="T29" fmla="*/ 39 h 98"/>
                      <a:gd name="T30" fmla="*/ 177 w 321"/>
                      <a:gd name="T31" fmla="*/ 43 h 98"/>
                      <a:gd name="T32" fmla="*/ 191 w 321"/>
                      <a:gd name="T33" fmla="*/ 43 h 98"/>
                      <a:gd name="T34" fmla="*/ 206 w 321"/>
                      <a:gd name="T35" fmla="*/ 39 h 98"/>
                      <a:gd name="T36" fmla="*/ 218 w 321"/>
                      <a:gd name="T37" fmla="*/ 48 h 98"/>
                      <a:gd name="T38" fmla="*/ 229 w 321"/>
                      <a:gd name="T39" fmla="*/ 51 h 98"/>
                      <a:gd name="T40" fmla="*/ 243 w 321"/>
                      <a:gd name="T41" fmla="*/ 51 h 98"/>
                      <a:gd name="T42" fmla="*/ 258 w 321"/>
                      <a:gd name="T43" fmla="*/ 45 h 98"/>
                      <a:gd name="T44" fmla="*/ 275 w 321"/>
                      <a:gd name="T45" fmla="*/ 31 h 98"/>
                      <a:gd name="T46" fmla="*/ 294 w 321"/>
                      <a:gd name="T47" fmla="*/ 14 h 98"/>
                      <a:gd name="T48" fmla="*/ 314 w 321"/>
                      <a:gd name="T49" fmla="*/ 8 h 98"/>
                      <a:gd name="T50" fmla="*/ 314 w 321"/>
                      <a:gd name="T51" fmla="*/ 13 h 98"/>
                      <a:gd name="T52" fmla="*/ 305 w 321"/>
                      <a:gd name="T53" fmla="*/ 25 h 98"/>
                      <a:gd name="T54" fmla="*/ 294 w 321"/>
                      <a:gd name="T55" fmla="*/ 37 h 98"/>
                      <a:gd name="T56" fmla="*/ 287 w 321"/>
                      <a:gd name="T57" fmla="*/ 48 h 98"/>
                      <a:gd name="T58" fmla="*/ 287 w 321"/>
                      <a:gd name="T59" fmla="*/ 60 h 98"/>
                      <a:gd name="T60" fmla="*/ 295 w 321"/>
                      <a:gd name="T61" fmla="*/ 73 h 98"/>
                      <a:gd name="T62" fmla="*/ 305 w 321"/>
                      <a:gd name="T63" fmla="*/ 82 h 98"/>
                      <a:gd name="T64" fmla="*/ 313 w 321"/>
                      <a:gd name="T65" fmla="*/ 89 h 98"/>
                      <a:gd name="T66" fmla="*/ 314 w 321"/>
                      <a:gd name="T67" fmla="*/ 93 h 98"/>
                      <a:gd name="T68" fmla="*/ 302 w 321"/>
                      <a:gd name="T69" fmla="*/ 93 h 98"/>
                      <a:gd name="T70" fmla="*/ 291 w 321"/>
                      <a:gd name="T71" fmla="*/ 90 h 98"/>
                      <a:gd name="T72" fmla="*/ 281 w 321"/>
                      <a:gd name="T73" fmla="*/ 85 h 98"/>
                      <a:gd name="T74" fmla="*/ 264 w 321"/>
                      <a:gd name="T75" fmla="*/ 74 h 98"/>
                      <a:gd name="T76" fmla="*/ 243 w 321"/>
                      <a:gd name="T77" fmla="*/ 72 h 98"/>
                      <a:gd name="T78" fmla="*/ 218 w 321"/>
                      <a:gd name="T79" fmla="*/ 75 h 98"/>
                      <a:gd name="T80" fmla="*/ 202 w 321"/>
                      <a:gd name="T81" fmla="*/ 82 h 98"/>
                      <a:gd name="T82" fmla="*/ 197 w 321"/>
                      <a:gd name="T83" fmla="*/ 89 h 98"/>
                      <a:gd name="T84" fmla="*/ 175 w 321"/>
                      <a:gd name="T85" fmla="*/ 88 h 98"/>
                      <a:gd name="T86" fmla="*/ 156 w 321"/>
                      <a:gd name="T87" fmla="*/ 94 h 98"/>
                      <a:gd name="T88" fmla="*/ 86 w 321"/>
                      <a:gd name="T89" fmla="*/ 97 h 98"/>
                      <a:gd name="T90" fmla="*/ 46 w 321"/>
                      <a:gd name="T91" fmla="*/ 93 h 98"/>
                      <a:gd name="T92" fmla="*/ 11 w 321"/>
                      <a:gd name="T93" fmla="*/ 81 h 98"/>
                      <a:gd name="T94" fmla="*/ 11 w 321"/>
                      <a:gd name="T95" fmla="*/ 74 h 98"/>
                      <a:gd name="T96" fmla="*/ 3 w 321"/>
                      <a:gd name="T97" fmla="*/ 67 h 98"/>
                      <a:gd name="T98" fmla="*/ 0 w 321"/>
                      <a:gd name="T99" fmla="*/ 62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60"/>
                        </a:moveTo>
                        <a:lnTo>
                          <a:pt x="1" y="59"/>
                        </a:lnTo>
                        <a:lnTo>
                          <a:pt x="3" y="58"/>
                        </a:lnTo>
                        <a:lnTo>
                          <a:pt x="7" y="56"/>
                        </a:lnTo>
                        <a:lnTo>
                          <a:pt x="10" y="55"/>
                        </a:lnTo>
                        <a:lnTo>
                          <a:pt x="13" y="54"/>
                        </a:lnTo>
                        <a:lnTo>
                          <a:pt x="18" y="52"/>
                        </a:lnTo>
                        <a:lnTo>
                          <a:pt x="23" y="51"/>
                        </a:lnTo>
                        <a:lnTo>
                          <a:pt x="28" y="49"/>
                        </a:lnTo>
                        <a:lnTo>
                          <a:pt x="32" y="48"/>
                        </a:lnTo>
                        <a:lnTo>
                          <a:pt x="38" y="47"/>
                        </a:lnTo>
                        <a:lnTo>
                          <a:pt x="43" y="46"/>
                        </a:lnTo>
                        <a:lnTo>
                          <a:pt x="49" y="45"/>
                        </a:lnTo>
                        <a:lnTo>
                          <a:pt x="54" y="44"/>
                        </a:lnTo>
                        <a:lnTo>
                          <a:pt x="59" y="43"/>
                        </a:lnTo>
                        <a:lnTo>
                          <a:pt x="63" y="42"/>
                        </a:lnTo>
                        <a:lnTo>
                          <a:pt x="69" y="41"/>
                        </a:lnTo>
                        <a:lnTo>
                          <a:pt x="75" y="40"/>
                        </a:lnTo>
                        <a:lnTo>
                          <a:pt x="80" y="39"/>
                        </a:lnTo>
                        <a:lnTo>
                          <a:pt x="84" y="38"/>
                        </a:lnTo>
                        <a:lnTo>
                          <a:pt x="88" y="37"/>
                        </a:lnTo>
                        <a:lnTo>
                          <a:pt x="91" y="36"/>
                        </a:lnTo>
                        <a:lnTo>
                          <a:pt x="93" y="34"/>
                        </a:lnTo>
                        <a:lnTo>
                          <a:pt x="95" y="33"/>
                        </a:lnTo>
                        <a:lnTo>
                          <a:pt x="97" y="31"/>
                        </a:lnTo>
                        <a:lnTo>
                          <a:pt x="100" y="28"/>
                        </a:lnTo>
                        <a:lnTo>
                          <a:pt x="103" y="25"/>
                        </a:lnTo>
                        <a:lnTo>
                          <a:pt x="106" y="21"/>
                        </a:lnTo>
                        <a:lnTo>
                          <a:pt x="110" y="18"/>
                        </a:lnTo>
                        <a:lnTo>
                          <a:pt x="114" y="14"/>
                        </a:lnTo>
                        <a:lnTo>
                          <a:pt x="117" y="10"/>
                        </a:lnTo>
                        <a:lnTo>
                          <a:pt x="121" y="7"/>
                        </a:lnTo>
                        <a:lnTo>
                          <a:pt x="125" y="4"/>
                        </a:lnTo>
                        <a:lnTo>
                          <a:pt x="130" y="0"/>
                        </a:lnTo>
                        <a:lnTo>
                          <a:pt x="131" y="7"/>
                        </a:lnTo>
                        <a:lnTo>
                          <a:pt x="133" y="12"/>
                        </a:lnTo>
                        <a:lnTo>
                          <a:pt x="135" y="18"/>
                        </a:lnTo>
                        <a:lnTo>
                          <a:pt x="136" y="24"/>
                        </a:lnTo>
                        <a:lnTo>
                          <a:pt x="137" y="29"/>
                        </a:lnTo>
                        <a:lnTo>
                          <a:pt x="137" y="32"/>
                        </a:lnTo>
                        <a:lnTo>
                          <a:pt x="135" y="35"/>
                        </a:lnTo>
                        <a:lnTo>
                          <a:pt x="140" y="36"/>
                        </a:lnTo>
                        <a:lnTo>
                          <a:pt x="145" y="37"/>
                        </a:lnTo>
                        <a:lnTo>
                          <a:pt x="152" y="38"/>
                        </a:lnTo>
                        <a:lnTo>
                          <a:pt x="159" y="39"/>
                        </a:lnTo>
                        <a:lnTo>
                          <a:pt x="166" y="41"/>
                        </a:lnTo>
                        <a:lnTo>
                          <a:pt x="171" y="42"/>
                        </a:lnTo>
                        <a:lnTo>
                          <a:pt x="177" y="43"/>
                        </a:lnTo>
                        <a:lnTo>
                          <a:pt x="183" y="43"/>
                        </a:lnTo>
                        <a:lnTo>
                          <a:pt x="188" y="44"/>
                        </a:lnTo>
                        <a:lnTo>
                          <a:pt x="191" y="43"/>
                        </a:lnTo>
                        <a:lnTo>
                          <a:pt x="195" y="41"/>
                        </a:lnTo>
                        <a:lnTo>
                          <a:pt x="198" y="38"/>
                        </a:lnTo>
                        <a:lnTo>
                          <a:pt x="206" y="39"/>
                        </a:lnTo>
                        <a:lnTo>
                          <a:pt x="215" y="42"/>
                        </a:lnTo>
                        <a:lnTo>
                          <a:pt x="222" y="43"/>
                        </a:lnTo>
                        <a:lnTo>
                          <a:pt x="218" y="48"/>
                        </a:lnTo>
                        <a:lnTo>
                          <a:pt x="220" y="49"/>
                        </a:lnTo>
                        <a:lnTo>
                          <a:pt x="225" y="50"/>
                        </a:lnTo>
                        <a:lnTo>
                          <a:pt x="229" y="51"/>
                        </a:lnTo>
                        <a:lnTo>
                          <a:pt x="234" y="52"/>
                        </a:lnTo>
                        <a:lnTo>
                          <a:pt x="238" y="51"/>
                        </a:lnTo>
                        <a:lnTo>
                          <a:pt x="243" y="51"/>
                        </a:lnTo>
                        <a:lnTo>
                          <a:pt x="248" y="50"/>
                        </a:lnTo>
                        <a:lnTo>
                          <a:pt x="253" y="48"/>
                        </a:lnTo>
                        <a:lnTo>
                          <a:pt x="258" y="45"/>
                        </a:lnTo>
                        <a:lnTo>
                          <a:pt x="264" y="41"/>
                        </a:lnTo>
                        <a:lnTo>
                          <a:pt x="269" y="37"/>
                        </a:lnTo>
                        <a:lnTo>
                          <a:pt x="275" y="31"/>
                        </a:lnTo>
                        <a:lnTo>
                          <a:pt x="281" y="24"/>
                        </a:lnTo>
                        <a:lnTo>
                          <a:pt x="288" y="19"/>
                        </a:lnTo>
                        <a:lnTo>
                          <a:pt x="294" y="14"/>
                        </a:lnTo>
                        <a:lnTo>
                          <a:pt x="300" y="11"/>
                        </a:lnTo>
                        <a:lnTo>
                          <a:pt x="306" y="9"/>
                        </a:lnTo>
                        <a:lnTo>
                          <a:pt x="314" y="8"/>
                        </a:lnTo>
                        <a:lnTo>
                          <a:pt x="320" y="8"/>
                        </a:lnTo>
                        <a:lnTo>
                          <a:pt x="317" y="11"/>
                        </a:lnTo>
                        <a:lnTo>
                          <a:pt x="314" y="13"/>
                        </a:lnTo>
                        <a:lnTo>
                          <a:pt x="313" y="15"/>
                        </a:lnTo>
                        <a:lnTo>
                          <a:pt x="309" y="22"/>
                        </a:lnTo>
                        <a:lnTo>
                          <a:pt x="305" y="25"/>
                        </a:lnTo>
                        <a:lnTo>
                          <a:pt x="301" y="28"/>
                        </a:lnTo>
                        <a:lnTo>
                          <a:pt x="297" y="33"/>
                        </a:lnTo>
                        <a:lnTo>
                          <a:pt x="294" y="37"/>
                        </a:lnTo>
                        <a:lnTo>
                          <a:pt x="292" y="41"/>
                        </a:lnTo>
                        <a:lnTo>
                          <a:pt x="289" y="45"/>
                        </a:lnTo>
                        <a:lnTo>
                          <a:pt x="287" y="48"/>
                        </a:lnTo>
                        <a:lnTo>
                          <a:pt x="286" y="52"/>
                        </a:lnTo>
                        <a:lnTo>
                          <a:pt x="286" y="56"/>
                        </a:lnTo>
                        <a:lnTo>
                          <a:pt x="287" y="60"/>
                        </a:lnTo>
                        <a:lnTo>
                          <a:pt x="289" y="65"/>
                        </a:lnTo>
                        <a:lnTo>
                          <a:pt x="292" y="69"/>
                        </a:lnTo>
                        <a:lnTo>
                          <a:pt x="295" y="73"/>
                        </a:lnTo>
                        <a:lnTo>
                          <a:pt x="298" y="76"/>
                        </a:lnTo>
                        <a:lnTo>
                          <a:pt x="301" y="79"/>
                        </a:lnTo>
                        <a:lnTo>
                          <a:pt x="305" y="82"/>
                        </a:lnTo>
                        <a:lnTo>
                          <a:pt x="309" y="85"/>
                        </a:lnTo>
                        <a:lnTo>
                          <a:pt x="311" y="87"/>
                        </a:lnTo>
                        <a:lnTo>
                          <a:pt x="313" y="89"/>
                        </a:lnTo>
                        <a:lnTo>
                          <a:pt x="316" y="91"/>
                        </a:lnTo>
                        <a:lnTo>
                          <a:pt x="317" y="93"/>
                        </a:lnTo>
                        <a:lnTo>
                          <a:pt x="314" y="93"/>
                        </a:lnTo>
                        <a:lnTo>
                          <a:pt x="309" y="93"/>
                        </a:lnTo>
                        <a:lnTo>
                          <a:pt x="305" y="93"/>
                        </a:lnTo>
                        <a:lnTo>
                          <a:pt x="302" y="93"/>
                        </a:lnTo>
                        <a:lnTo>
                          <a:pt x="297" y="92"/>
                        </a:lnTo>
                        <a:lnTo>
                          <a:pt x="294" y="91"/>
                        </a:lnTo>
                        <a:lnTo>
                          <a:pt x="291" y="90"/>
                        </a:lnTo>
                        <a:lnTo>
                          <a:pt x="288" y="88"/>
                        </a:lnTo>
                        <a:lnTo>
                          <a:pt x="284" y="87"/>
                        </a:lnTo>
                        <a:lnTo>
                          <a:pt x="281" y="85"/>
                        </a:lnTo>
                        <a:lnTo>
                          <a:pt x="274" y="80"/>
                        </a:lnTo>
                        <a:lnTo>
                          <a:pt x="270" y="77"/>
                        </a:lnTo>
                        <a:lnTo>
                          <a:pt x="264" y="74"/>
                        </a:lnTo>
                        <a:lnTo>
                          <a:pt x="258" y="73"/>
                        </a:lnTo>
                        <a:lnTo>
                          <a:pt x="252" y="73"/>
                        </a:lnTo>
                        <a:lnTo>
                          <a:pt x="243" y="72"/>
                        </a:lnTo>
                        <a:lnTo>
                          <a:pt x="235" y="73"/>
                        </a:lnTo>
                        <a:lnTo>
                          <a:pt x="227" y="74"/>
                        </a:lnTo>
                        <a:lnTo>
                          <a:pt x="218" y="75"/>
                        </a:lnTo>
                        <a:lnTo>
                          <a:pt x="209" y="77"/>
                        </a:lnTo>
                        <a:lnTo>
                          <a:pt x="203" y="80"/>
                        </a:lnTo>
                        <a:lnTo>
                          <a:pt x="202" y="82"/>
                        </a:lnTo>
                        <a:lnTo>
                          <a:pt x="203" y="83"/>
                        </a:lnTo>
                        <a:lnTo>
                          <a:pt x="208" y="86"/>
                        </a:lnTo>
                        <a:lnTo>
                          <a:pt x="197" y="89"/>
                        </a:lnTo>
                        <a:lnTo>
                          <a:pt x="182" y="93"/>
                        </a:lnTo>
                        <a:lnTo>
                          <a:pt x="179" y="90"/>
                        </a:lnTo>
                        <a:lnTo>
                          <a:pt x="175" y="88"/>
                        </a:lnTo>
                        <a:lnTo>
                          <a:pt x="171" y="87"/>
                        </a:lnTo>
                        <a:lnTo>
                          <a:pt x="164" y="87"/>
                        </a:lnTo>
                        <a:lnTo>
                          <a:pt x="156" y="94"/>
                        </a:lnTo>
                        <a:lnTo>
                          <a:pt x="149" y="89"/>
                        </a:lnTo>
                        <a:lnTo>
                          <a:pt x="97" y="96"/>
                        </a:lnTo>
                        <a:lnTo>
                          <a:pt x="86" y="97"/>
                        </a:lnTo>
                        <a:lnTo>
                          <a:pt x="77" y="96"/>
                        </a:lnTo>
                        <a:lnTo>
                          <a:pt x="66" y="95"/>
                        </a:lnTo>
                        <a:lnTo>
                          <a:pt x="46" y="93"/>
                        </a:lnTo>
                        <a:lnTo>
                          <a:pt x="28" y="88"/>
                        </a:lnTo>
                        <a:lnTo>
                          <a:pt x="18" y="84"/>
                        </a:lnTo>
                        <a:lnTo>
                          <a:pt x="11" y="81"/>
                        </a:lnTo>
                        <a:lnTo>
                          <a:pt x="18" y="79"/>
                        </a:lnTo>
                        <a:lnTo>
                          <a:pt x="14" y="76"/>
                        </a:lnTo>
                        <a:lnTo>
                          <a:pt x="11" y="74"/>
                        </a:lnTo>
                        <a:lnTo>
                          <a:pt x="6" y="70"/>
                        </a:lnTo>
                        <a:lnTo>
                          <a:pt x="5" y="69"/>
                        </a:lnTo>
                        <a:lnTo>
                          <a:pt x="3" y="67"/>
                        </a:lnTo>
                        <a:lnTo>
                          <a:pt x="2" y="66"/>
                        </a:lnTo>
                        <a:lnTo>
                          <a:pt x="1" y="63"/>
                        </a:lnTo>
                        <a:lnTo>
                          <a:pt x="0" y="62"/>
                        </a:lnTo>
                        <a:lnTo>
                          <a:pt x="0" y="60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226" name="Group 576"/>
                  <p:cNvGrpSpPr>
                    <a:grpSpLocks/>
                  </p:cNvGrpSpPr>
                  <p:nvPr/>
                </p:nvGrpSpPr>
                <p:grpSpPr bwMode="auto">
                  <a:xfrm>
                    <a:off x="2920" y="3310"/>
                    <a:ext cx="2" cy="3"/>
                    <a:chOff x="2920" y="3310"/>
                    <a:chExt cx="2" cy="3"/>
                  </a:xfrm>
                </p:grpSpPr>
                <p:sp>
                  <p:nvSpPr>
                    <p:cNvPr id="7237" name="Oval 577" descr="50%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920" y="3310"/>
                      <a:ext cx="2" cy="2"/>
                    </a:xfrm>
                    <a:prstGeom prst="ellipse">
                      <a:avLst/>
                    </a:pr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38" name="Arc 578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21" y="3311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7227" name="Group 579"/>
                  <p:cNvGrpSpPr>
                    <a:grpSpLocks/>
                  </p:cNvGrpSpPr>
                  <p:nvPr/>
                </p:nvGrpSpPr>
                <p:grpSpPr bwMode="auto">
                  <a:xfrm>
                    <a:off x="2937" y="3322"/>
                    <a:ext cx="23" cy="4"/>
                    <a:chOff x="2937" y="3322"/>
                    <a:chExt cx="23" cy="4"/>
                  </a:xfrm>
                </p:grpSpPr>
                <p:sp>
                  <p:nvSpPr>
                    <p:cNvPr id="7232" name="Arc 580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41" y="3322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33" name="Arc 581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37" y="3322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34" name="Arc 582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44" y="3322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35" name="Arc 583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48" y="3322"/>
                      <a:ext cx="7" cy="4"/>
                    </a:xfrm>
                    <a:custGeom>
                      <a:avLst/>
                      <a:gdLst>
                        <a:gd name="T0" fmla="*/ 2 w 35950"/>
                        <a:gd name="T1" fmla="*/ 0 h 43200"/>
                        <a:gd name="T2" fmla="*/ 0 w 35950"/>
                        <a:gd name="T3" fmla="*/ 3 h 43200"/>
                        <a:gd name="T4" fmla="*/ 3 w 3595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5950" h="43200" fill="none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</a:path>
                        <a:path w="35950" h="43200" stroke="0" extrusionOk="0">
                          <a:moveTo>
                            <a:pt x="9664" y="514"/>
                          </a:moveTo>
                          <a:cubicBezTo>
                            <a:pt x="11202" y="172"/>
                            <a:pt x="12773" y="-1"/>
                            <a:pt x="14350" y="0"/>
                          </a:cubicBezTo>
                          <a:cubicBezTo>
                            <a:pt x="26279" y="0"/>
                            <a:pt x="35950" y="9670"/>
                            <a:pt x="35950" y="21600"/>
                          </a:cubicBezTo>
                          <a:cubicBezTo>
                            <a:pt x="35950" y="33529"/>
                            <a:pt x="26279" y="43200"/>
                            <a:pt x="14350" y="43200"/>
                          </a:cubicBezTo>
                          <a:cubicBezTo>
                            <a:pt x="9059" y="43200"/>
                            <a:pt x="3953" y="41258"/>
                            <a:pt x="-1" y="37744"/>
                          </a:cubicBezTo>
                          <a:lnTo>
                            <a:pt x="14350" y="21600"/>
                          </a:lnTo>
                          <a:lnTo>
                            <a:pt x="9664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36" name="Arc 584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54" y="3322"/>
                      <a:ext cx="6" cy="4"/>
                    </a:xfrm>
                    <a:custGeom>
                      <a:avLst/>
                      <a:gdLst>
                        <a:gd name="T0" fmla="*/ 1 w 30373"/>
                        <a:gd name="T1" fmla="*/ 0 h 43200"/>
                        <a:gd name="T2" fmla="*/ 0 w 30373"/>
                        <a:gd name="T3" fmla="*/ 4 h 43200"/>
                        <a:gd name="T4" fmla="*/ 2 w 30373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30373" h="43200" fill="none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</a:path>
                        <a:path w="30373" h="43200" stroke="0" extrusionOk="0">
                          <a:moveTo>
                            <a:pt x="4087" y="514"/>
                          </a:moveTo>
                          <a:cubicBezTo>
                            <a:pt x="5625" y="172"/>
                            <a:pt x="7196" y="-1"/>
                            <a:pt x="8773" y="0"/>
                          </a:cubicBezTo>
                          <a:cubicBezTo>
                            <a:pt x="20702" y="0"/>
                            <a:pt x="30373" y="9670"/>
                            <a:pt x="30373" y="21600"/>
                          </a:cubicBezTo>
                          <a:cubicBezTo>
                            <a:pt x="30373" y="33529"/>
                            <a:pt x="20702" y="43200"/>
                            <a:pt x="8773" y="43200"/>
                          </a:cubicBezTo>
                          <a:cubicBezTo>
                            <a:pt x="5750" y="43200"/>
                            <a:pt x="2761" y="42565"/>
                            <a:pt x="-1" y="41338"/>
                          </a:cubicBezTo>
                          <a:lnTo>
                            <a:pt x="8773" y="21600"/>
                          </a:lnTo>
                          <a:lnTo>
                            <a:pt x="4087" y="514"/>
                          </a:lnTo>
                          <a:close/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7228" name="Freeform 585" descr="50%"/>
                  <p:cNvSpPr>
                    <a:spLocks/>
                  </p:cNvSpPr>
                  <p:nvPr/>
                </p:nvSpPr>
                <p:spPr bwMode="auto">
                  <a:xfrm>
                    <a:off x="2893" y="3250"/>
                    <a:ext cx="312" cy="58"/>
                  </a:xfrm>
                  <a:custGeom>
                    <a:avLst/>
                    <a:gdLst>
                      <a:gd name="T0" fmla="*/ 7 w 312"/>
                      <a:gd name="T1" fmla="*/ 48 h 58"/>
                      <a:gd name="T2" fmla="*/ 21 w 312"/>
                      <a:gd name="T3" fmla="*/ 44 h 58"/>
                      <a:gd name="T4" fmla="*/ 42 w 312"/>
                      <a:gd name="T5" fmla="*/ 39 h 58"/>
                      <a:gd name="T6" fmla="*/ 63 w 312"/>
                      <a:gd name="T7" fmla="*/ 36 h 58"/>
                      <a:gd name="T8" fmla="*/ 83 w 312"/>
                      <a:gd name="T9" fmla="*/ 32 h 58"/>
                      <a:gd name="T10" fmla="*/ 94 w 312"/>
                      <a:gd name="T11" fmla="*/ 27 h 58"/>
                      <a:gd name="T12" fmla="*/ 104 w 312"/>
                      <a:gd name="T13" fmla="*/ 18 h 58"/>
                      <a:gd name="T14" fmla="*/ 119 w 312"/>
                      <a:gd name="T15" fmla="*/ 5 h 58"/>
                      <a:gd name="T16" fmla="*/ 130 w 312"/>
                      <a:gd name="T17" fmla="*/ 10 h 58"/>
                      <a:gd name="T18" fmla="*/ 134 w 312"/>
                      <a:gd name="T19" fmla="*/ 25 h 58"/>
                      <a:gd name="T20" fmla="*/ 142 w 312"/>
                      <a:gd name="T21" fmla="*/ 31 h 58"/>
                      <a:gd name="T22" fmla="*/ 168 w 312"/>
                      <a:gd name="T23" fmla="*/ 35 h 58"/>
                      <a:gd name="T24" fmla="*/ 187 w 312"/>
                      <a:gd name="T25" fmla="*/ 36 h 58"/>
                      <a:gd name="T26" fmla="*/ 210 w 312"/>
                      <a:gd name="T27" fmla="*/ 35 h 58"/>
                      <a:gd name="T28" fmla="*/ 219 w 312"/>
                      <a:gd name="T29" fmla="*/ 43 h 58"/>
                      <a:gd name="T30" fmla="*/ 238 w 312"/>
                      <a:gd name="T31" fmla="*/ 44 h 58"/>
                      <a:gd name="T32" fmla="*/ 258 w 312"/>
                      <a:gd name="T33" fmla="*/ 34 h 58"/>
                      <a:gd name="T34" fmla="*/ 275 w 312"/>
                      <a:gd name="T35" fmla="*/ 20 h 58"/>
                      <a:gd name="T36" fmla="*/ 288 w 312"/>
                      <a:gd name="T37" fmla="*/ 11 h 58"/>
                      <a:gd name="T38" fmla="*/ 299 w 312"/>
                      <a:gd name="T39" fmla="*/ 6 h 58"/>
                      <a:gd name="T40" fmla="*/ 309 w 312"/>
                      <a:gd name="T41" fmla="*/ 8 h 58"/>
                      <a:gd name="T42" fmla="*/ 301 w 312"/>
                      <a:gd name="T43" fmla="*/ 18 h 58"/>
                      <a:gd name="T44" fmla="*/ 291 w 312"/>
                      <a:gd name="T45" fmla="*/ 26 h 58"/>
                      <a:gd name="T46" fmla="*/ 285 w 312"/>
                      <a:gd name="T47" fmla="*/ 34 h 58"/>
                      <a:gd name="T48" fmla="*/ 280 w 312"/>
                      <a:gd name="T49" fmla="*/ 40 h 58"/>
                      <a:gd name="T50" fmla="*/ 279 w 312"/>
                      <a:gd name="T51" fmla="*/ 48 h 58"/>
                      <a:gd name="T52" fmla="*/ 270 w 312"/>
                      <a:gd name="T53" fmla="*/ 46 h 58"/>
                      <a:gd name="T54" fmla="*/ 262 w 312"/>
                      <a:gd name="T55" fmla="*/ 49 h 58"/>
                      <a:gd name="T56" fmla="*/ 253 w 312"/>
                      <a:gd name="T57" fmla="*/ 48 h 58"/>
                      <a:gd name="T58" fmla="*/ 243 w 312"/>
                      <a:gd name="T59" fmla="*/ 48 h 58"/>
                      <a:gd name="T60" fmla="*/ 232 w 312"/>
                      <a:gd name="T61" fmla="*/ 47 h 58"/>
                      <a:gd name="T62" fmla="*/ 220 w 312"/>
                      <a:gd name="T63" fmla="*/ 48 h 58"/>
                      <a:gd name="T64" fmla="*/ 208 w 312"/>
                      <a:gd name="T65" fmla="*/ 50 h 58"/>
                      <a:gd name="T66" fmla="*/ 196 w 312"/>
                      <a:gd name="T67" fmla="*/ 50 h 58"/>
                      <a:gd name="T68" fmla="*/ 184 w 312"/>
                      <a:gd name="T69" fmla="*/ 50 h 58"/>
                      <a:gd name="T70" fmla="*/ 174 w 312"/>
                      <a:gd name="T71" fmla="*/ 52 h 58"/>
                      <a:gd name="T72" fmla="*/ 162 w 312"/>
                      <a:gd name="T73" fmla="*/ 54 h 58"/>
                      <a:gd name="T74" fmla="*/ 148 w 312"/>
                      <a:gd name="T75" fmla="*/ 54 h 58"/>
                      <a:gd name="T76" fmla="*/ 136 w 312"/>
                      <a:gd name="T77" fmla="*/ 54 h 58"/>
                      <a:gd name="T78" fmla="*/ 125 w 312"/>
                      <a:gd name="T79" fmla="*/ 53 h 58"/>
                      <a:gd name="T80" fmla="*/ 113 w 312"/>
                      <a:gd name="T81" fmla="*/ 54 h 58"/>
                      <a:gd name="T82" fmla="*/ 104 w 312"/>
                      <a:gd name="T83" fmla="*/ 53 h 58"/>
                      <a:gd name="T84" fmla="*/ 93 w 312"/>
                      <a:gd name="T85" fmla="*/ 54 h 58"/>
                      <a:gd name="T86" fmla="*/ 80 w 312"/>
                      <a:gd name="T87" fmla="*/ 54 h 58"/>
                      <a:gd name="T88" fmla="*/ 64 w 312"/>
                      <a:gd name="T89" fmla="*/ 57 h 58"/>
                      <a:gd name="T90" fmla="*/ 46 w 312"/>
                      <a:gd name="T91" fmla="*/ 57 h 58"/>
                      <a:gd name="T92" fmla="*/ 31 w 312"/>
                      <a:gd name="T93" fmla="*/ 55 h 58"/>
                      <a:gd name="T94" fmla="*/ 17 w 312"/>
                      <a:gd name="T95" fmla="*/ 55 h 58"/>
                      <a:gd name="T96" fmla="*/ 4 w 312"/>
                      <a:gd name="T97" fmla="*/ 53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2"/>
                        </a:moveTo>
                        <a:lnTo>
                          <a:pt x="2" y="50"/>
                        </a:lnTo>
                        <a:lnTo>
                          <a:pt x="5" y="49"/>
                        </a:lnTo>
                        <a:lnTo>
                          <a:pt x="7" y="48"/>
                        </a:lnTo>
                        <a:lnTo>
                          <a:pt x="10" y="47"/>
                        </a:lnTo>
                        <a:lnTo>
                          <a:pt x="13" y="46"/>
                        </a:lnTo>
                        <a:lnTo>
                          <a:pt x="18" y="45"/>
                        </a:lnTo>
                        <a:lnTo>
                          <a:pt x="21" y="44"/>
                        </a:lnTo>
                        <a:lnTo>
                          <a:pt x="26" y="42"/>
                        </a:lnTo>
                        <a:lnTo>
                          <a:pt x="31" y="41"/>
                        </a:lnTo>
                        <a:lnTo>
                          <a:pt x="37" y="40"/>
                        </a:lnTo>
                        <a:lnTo>
                          <a:pt x="42" y="39"/>
                        </a:lnTo>
                        <a:lnTo>
                          <a:pt x="48" y="39"/>
                        </a:lnTo>
                        <a:lnTo>
                          <a:pt x="53" y="38"/>
                        </a:lnTo>
                        <a:lnTo>
                          <a:pt x="58" y="37"/>
                        </a:lnTo>
                        <a:lnTo>
                          <a:pt x="63" y="36"/>
                        </a:lnTo>
                        <a:lnTo>
                          <a:pt x="67" y="35"/>
                        </a:lnTo>
                        <a:lnTo>
                          <a:pt x="73" y="34"/>
                        </a:lnTo>
                        <a:lnTo>
                          <a:pt x="78" y="33"/>
                        </a:lnTo>
                        <a:lnTo>
                          <a:pt x="83" y="32"/>
                        </a:lnTo>
                        <a:lnTo>
                          <a:pt x="86" y="32"/>
                        </a:lnTo>
                        <a:lnTo>
                          <a:pt x="90" y="30"/>
                        </a:lnTo>
                        <a:lnTo>
                          <a:pt x="92" y="29"/>
                        </a:lnTo>
                        <a:lnTo>
                          <a:pt x="94" y="27"/>
                        </a:lnTo>
                        <a:lnTo>
                          <a:pt x="96" y="25"/>
                        </a:lnTo>
                        <a:lnTo>
                          <a:pt x="98" y="23"/>
                        </a:lnTo>
                        <a:lnTo>
                          <a:pt x="101" y="20"/>
                        </a:lnTo>
                        <a:lnTo>
                          <a:pt x="104" y="18"/>
                        </a:lnTo>
                        <a:lnTo>
                          <a:pt x="107" y="14"/>
                        </a:lnTo>
                        <a:lnTo>
                          <a:pt x="111" y="11"/>
                        </a:lnTo>
                        <a:lnTo>
                          <a:pt x="115" y="8"/>
                        </a:lnTo>
                        <a:lnTo>
                          <a:pt x="119" y="5"/>
                        </a:lnTo>
                        <a:lnTo>
                          <a:pt x="123" y="2"/>
                        </a:lnTo>
                        <a:lnTo>
                          <a:pt x="127" y="0"/>
                        </a:lnTo>
                        <a:lnTo>
                          <a:pt x="128" y="4"/>
                        </a:lnTo>
                        <a:lnTo>
                          <a:pt x="130" y="10"/>
                        </a:lnTo>
                        <a:lnTo>
                          <a:pt x="132" y="15"/>
                        </a:lnTo>
                        <a:lnTo>
                          <a:pt x="133" y="20"/>
                        </a:lnTo>
                        <a:lnTo>
                          <a:pt x="134" y="22"/>
                        </a:lnTo>
                        <a:lnTo>
                          <a:pt x="134" y="25"/>
                        </a:lnTo>
                        <a:lnTo>
                          <a:pt x="134" y="27"/>
                        </a:lnTo>
                        <a:lnTo>
                          <a:pt x="132" y="29"/>
                        </a:lnTo>
                        <a:lnTo>
                          <a:pt x="137" y="31"/>
                        </a:lnTo>
                        <a:lnTo>
                          <a:pt x="142" y="31"/>
                        </a:lnTo>
                        <a:lnTo>
                          <a:pt x="148" y="32"/>
                        </a:lnTo>
                        <a:lnTo>
                          <a:pt x="155" y="33"/>
                        </a:lnTo>
                        <a:lnTo>
                          <a:pt x="162" y="34"/>
                        </a:lnTo>
                        <a:lnTo>
                          <a:pt x="168" y="35"/>
                        </a:lnTo>
                        <a:lnTo>
                          <a:pt x="174" y="36"/>
                        </a:lnTo>
                        <a:lnTo>
                          <a:pt x="178" y="37"/>
                        </a:lnTo>
                        <a:lnTo>
                          <a:pt x="183" y="37"/>
                        </a:lnTo>
                        <a:lnTo>
                          <a:pt x="187" y="36"/>
                        </a:lnTo>
                        <a:lnTo>
                          <a:pt x="190" y="34"/>
                        </a:lnTo>
                        <a:lnTo>
                          <a:pt x="194" y="32"/>
                        </a:lnTo>
                        <a:lnTo>
                          <a:pt x="202" y="33"/>
                        </a:lnTo>
                        <a:lnTo>
                          <a:pt x="210" y="35"/>
                        </a:lnTo>
                        <a:lnTo>
                          <a:pt x="216" y="37"/>
                        </a:lnTo>
                        <a:lnTo>
                          <a:pt x="213" y="40"/>
                        </a:lnTo>
                        <a:lnTo>
                          <a:pt x="215" y="41"/>
                        </a:lnTo>
                        <a:lnTo>
                          <a:pt x="219" y="43"/>
                        </a:lnTo>
                        <a:lnTo>
                          <a:pt x="223" y="44"/>
                        </a:lnTo>
                        <a:lnTo>
                          <a:pt x="228" y="44"/>
                        </a:lnTo>
                        <a:lnTo>
                          <a:pt x="233" y="44"/>
                        </a:lnTo>
                        <a:lnTo>
                          <a:pt x="238" y="44"/>
                        </a:lnTo>
                        <a:lnTo>
                          <a:pt x="242" y="43"/>
                        </a:lnTo>
                        <a:lnTo>
                          <a:pt x="248" y="41"/>
                        </a:lnTo>
                        <a:lnTo>
                          <a:pt x="253" y="39"/>
                        </a:lnTo>
                        <a:lnTo>
                          <a:pt x="258" y="34"/>
                        </a:lnTo>
                        <a:lnTo>
                          <a:pt x="263" y="31"/>
                        </a:lnTo>
                        <a:lnTo>
                          <a:pt x="268" y="26"/>
                        </a:lnTo>
                        <a:lnTo>
                          <a:pt x="271" y="24"/>
                        </a:lnTo>
                        <a:lnTo>
                          <a:pt x="275" y="20"/>
                        </a:lnTo>
                        <a:lnTo>
                          <a:pt x="278" y="18"/>
                        </a:lnTo>
                        <a:lnTo>
                          <a:pt x="282" y="15"/>
                        </a:lnTo>
                        <a:lnTo>
                          <a:pt x="285" y="13"/>
                        </a:lnTo>
                        <a:lnTo>
                          <a:pt x="288" y="11"/>
                        </a:lnTo>
                        <a:lnTo>
                          <a:pt x="291" y="10"/>
                        </a:lnTo>
                        <a:lnTo>
                          <a:pt x="293" y="9"/>
                        </a:lnTo>
                        <a:lnTo>
                          <a:pt x="296" y="7"/>
                        </a:lnTo>
                        <a:lnTo>
                          <a:pt x="299" y="6"/>
                        </a:lnTo>
                        <a:lnTo>
                          <a:pt x="302" y="6"/>
                        </a:lnTo>
                        <a:lnTo>
                          <a:pt x="306" y="6"/>
                        </a:lnTo>
                        <a:lnTo>
                          <a:pt x="311" y="6"/>
                        </a:lnTo>
                        <a:lnTo>
                          <a:pt x="309" y="8"/>
                        </a:lnTo>
                        <a:lnTo>
                          <a:pt x="307" y="11"/>
                        </a:lnTo>
                        <a:lnTo>
                          <a:pt x="305" y="12"/>
                        </a:lnTo>
                        <a:lnTo>
                          <a:pt x="303" y="15"/>
                        </a:lnTo>
                        <a:lnTo>
                          <a:pt x="301" y="18"/>
                        </a:lnTo>
                        <a:lnTo>
                          <a:pt x="298" y="20"/>
                        </a:lnTo>
                        <a:lnTo>
                          <a:pt x="294" y="23"/>
                        </a:lnTo>
                        <a:lnTo>
                          <a:pt x="292" y="25"/>
                        </a:lnTo>
                        <a:lnTo>
                          <a:pt x="291" y="26"/>
                        </a:lnTo>
                        <a:lnTo>
                          <a:pt x="289" y="29"/>
                        </a:lnTo>
                        <a:lnTo>
                          <a:pt x="288" y="30"/>
                        </a:lnTo>
                        <a:lnTo>
                          <a:pt x="286" y="32"/>
                        </a:lnTo>
                        <a:lnTo>
                          <a:pt x="285" y="34"/>
                        </a:lnTo>
                        <a:lnTo>
                          <a:pt x="284" y="36"/>
                        </a:lnTo>
                        <a:lnTo>
                          <a:pt x="282" y="38"/>
                        </a:lnTo>
                        <a:lnTo>
                          <a:pt x="281" y="39"/>
                        </a:lnTo>
                        <a:lnTo>
                          <a:pt x="280" y="40"/>
                        </a:lnTo>
                        <a:lnTo>
                          <a:pt x="280" y="43"/>
                        </a:lnTo>
                        <a:lnTo>
                          <a:pt x="279" y="44"/>
                        </a:lnTo>
                        <a:lnTo>
                          <a:pt x="279" y="46"/>
                        </a:lnTo>
                        <a:lnTo>
                          <a:pt x="279" y="48"/>
                        </a:lnTo>
                        <a:lnTo>
                          <a:pt x="277" y="46"/>
                        </a:lnTo>
                        <a:lnTo>
                          <a:pt x="274" y="46"/>
                        </a:lnTo>
                        <a:lnTo>
                          <a:pt x="272" y="46"/>
                        </a:lnTo>
                        <a:lnTo>
                          <a:pt x="270" y="46"/>
                        </a:lnTo>
                        <a:lnTo>
                          <a:pt x="268" y="47"/>
                        </a:lnTo>
                        <a:lnTo>
                          <a:pt x="266" y="48"/>
                        </a:lnTo>
                        <a:lnTo>
                          <a:pt x="264" y="48"/>
                        </a:lnTo>
                        <a:lnTo>
                          <a:pt x="262" y="49"/>
                        </a:lnTo>
                        <a:lnTo>
                          <a:pt x="259" y="49"/>
                        </a:lnTo>
                        <a:lnTo>
                          <a:pt x="256" y="49"/>
                        </a:lnTo>
                        <a:lnTo>
                          <a:pt x="254" y="48"/>
                        </a:lnTo>
                        <a:lnTo>
                          <a:pt x="253" y="48"/>
                        </a:lnTo>
                        <a:lnTo>
                          <a:pt x="251" y="47"/>
                        </a:lnTo>
                        <a:lnTo>
                          <a:pt x="249" y="47"/>
                        </a:lnTo>
                        <a:lnTo>
                          <a:pt x="245" y="48"/>
                        </a:lnTo>
                        <a:lnTo>
                          <a:pt x="243" y="48"/>
                        </a:lnTo>
                        <a:lnTo>
                          <a:pt x="241" y="48"/>
                        </a:lnTo>
                        <a:lnTo>
                          <a:pt x="238" y="48"/>
                        </a:lnTo>
                        <a:lnTo>
                          <a:pt x="235" y="47"/>
                        </a:lnTo>
                        <a:lnTo>
                          <a:pt x="232" y="47"/>
                        </a:lnTo>
                        <a:lnTo>
                          <a:pt x="229" y="48"/>
                        </a:lnTo>
                        <a:lnTo>
                          <a:pt x="225" y="48"/>
                        </a:lnTo>
                        <a:lnTo>
                          <a:pt x="223" y="48"/>
                        </a:lnTo>
                        <a:lnTo>
                          <a:pt x="220" y="48"/>
                        </a:lnTo>
                        <a:lnTo>
                          <a:pt x="217" y="48"/>
                        </a:lnTo>
                        <a:lnTo>
                          <a:pt x="214" y="48"/>
                        </a:lnTo>
                        <a:lnTo>
                          <a:pt x="212" y="49"/>
                        </a:lnTo>
                        <a:lnTo>
                          <a:pt x="208" y="50"/>
                        </a:lnTo>
                        <a:lnTo>
                          <a:pt x="205" y="50"/>
                        </a:lnTo>
                        <a:lnTo>
                          <a:pt x="202" y="51"/>
                        </a:lnTo>
                        <a:lnTo>
                          <a:pt x="199" y="51"/>
                        </a:lnTo>
                        <a:lnTo>
                          <a:pt x="196" y="50"/>
                        </a:lnTo>
                        <a:lnTo>
                          <a:pt x="193" y="49"/>
                        </a:lnTo>
                        <a:lnTo>
                          <a:pt x="189" y="50"/>
                        </a:lnTo>
                        <a:lnTo>
                          <a:pt x="187" y="50"/>
                        </a:lnTo>
                        <a:lnTo>
                          <a:pt x="184" y="50"/>
                        </a:lnTo>
                        <a:lnTo>
                          <a:pt x="181" y="50"/>
                        </a:lnTo>
                        <a:lnTo>
                          <a:pt x="179" y="50"/>
                        </a:lnTo>
                        <a:lnTo>
                          <a:pt x="176" y="51"/>
                        </a:lnTo>
                        <a:lnTo>
                          <a:pt x="174" y="52"/>
                        </a:lnTo>
                        <a:lnTo>
                          <a:pt x="171" y="52"/>
                        </a:lnTo>
                        <a:lnTo>
                          <a:pt x="168" y="53"/>
                        </a:lnTo>
                        <a:lnTo>
                          <a:pt x="165" y="53"/>
                        </a:lnTo>
                        <a:lnTo>
                          <a:pt x="162" y="54"/>
                        </a:lnTo>
                        <a:lnTo>
                          <a:pt x="159" y="54"/>
                        </a:lnTo>
                        <a:lnTo>
                          <a:pt x="155" y="54"/>
                        </a:lnTo>
                        <a:lnTo>
                          <a:pt x="151" y="53"/>
                        </a:lnTo>
                        <a:lnTo>
                          <a:pt x="148" y="54"/>
                        </a:lnTo>
                        <a:lnTo>
                          <a:pt x="145" y="54"/>
                        </a:lnTo>
                        <a:lnTo>
                          <a:pt x="142" y="54"/>
                        </a:lnTo>
                        <a:lnTo>
                          <a:pt x="139" y="54"/>
                        </a:lnTo>
                        <a:lnTo>
                          <a:pt x="136" y="54"/>
                        </a:lnTo>
                        <a:lnTo>
                          <a:pt x="133" y="54"/>
                        </a:lnTo>
                        <a:lnTo>
                          <a:pt x="130" y="53"/>
                        </a:lnTo>
                        <a:lnTo>
                          <a:pt x="128" y="53"/>
                        </a:lnTo>
                        <a:lnTo>
                          <a:pt x="125" y="53"/>
                        </a:lnTo>
                        <a:lnTo>
                          <a:pt x="122" y="53"/>
                        </a:lnTo>
                        <a:lnTo>
                          <a:pt x="119" y="53"/>
                        </a:lnTo>
                        <a:lnTo>
                          <a:pt x="116" y="53"/>
                        </a:lnTo>
                        <a:lnTo>
                          <a:pt x="113" y="54"/>
                        </a:lnTo>
                        <a:lnTo>
                          <a:pt x="111" y="54"/>
                        </a:lnTo>
                        <a:lnTo>
                          <a:pt x="109" y="53"/>
                        </a:lnTo>
                        <a:lnTo>
                          <a:pt x="106" y="53"/>
                        </a:lnTo>
                        <a:lnTo>
                          <a:pt x="104" y="53"/>
                        </a:lnTo>
                        <a:lnTo>
                          <a:pt x="101" y="53"/>
                        </a:lnTo>
                        <a:lnTo>
                          <a:pt x="98" y="53"/>
                        </a:lnTo>
                        <a:lnTo>
                          <a:pt x="96" y="53"/>
                        </a:lnTo>
                        <a:lnTo>
                          <a:pt x="93" y="54"/>
                        </a:lnTo>
                        <a:lnTo>
                          <a:pt x="89" y="54"/>
                        </a:lnTo>
                        <a:lnTo>
                          <a:pt x="86" y="53"/>
                        </a:lnTo>
                        <a:lnTo>
                          <a:pt x="83" y="54"/>
                        </a:lnTo>
                        <a:lnTo>
                          <a:pt x="80" y="54"/>
                        </a:lnTo>
                        <a:lnTo>
                          <a:pt x="77" y="55"/>
                        </a:lnTo>
                        <a:lnTo>
                          <a:pt x="74" y="56"/>
                        </a:lnTo>
                        <a:lnTo>
                          <a:pt x="69" y="57"/>
                        </a:lnTo>
                        <a:lnTo>
                          <a:pt x="64" y="57"/>
                        </a:lnTo>
                        <a:lnTo>
                          <a:pt x="59" y="57"/>
                        </a:lnTo>
                        <a:lnTo>
                          <a:pt x="55" y="57"/>
                        </a:lnTo>
                        <a:lnTo>
                          <a:pt x="49" y="57"/>
                        </a:lnTo>
                        <a:lnTo>
                          <a:pt x="46" y="57"/>
                        </a:lnTo>
                        <a:lnTo>
                          <a:pt x="43" y="57"/>
                        </a:lnTo>
                        <a:lnTo>
                          <a:pt x="40" y="57"/>
                        </a:lnTo>
                        <a:lnTo>
                          <a:pt x="36" y="57"/>
                        </a:lnTo>
                        <a:lnTo>
                          <a:pt x="31" y="55"/>
                        </a:lnTo>
                        <a:lnTo>
                          <a:pt x="27" y="55"/>
                        </a:lnTo>
                        <a:lnTo>
                          <a:pt x="23" y="55"/>
                        </a:lnTo>
                        <a:lnTo>
                          <a:pt x="20" y="55"/>
                        </a:lnTo>
                        <a:lnTo>
                          <a:pt x="17" y="55"/>
                        </a:lnTo>
                        <a:lnTo>
                          <a:pt x="13" y="55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1" y="52"/>
                        </a:lnTo>
                        <a:lnTo>
                          <a:pt x="0" y="52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7229" name="Group 586"/>
                  <p:cNvGrpSpPr>
                    <a:grpSpLocks/>
                  </p:cNvGrpSpPr>
                  <p:nvPr/>
                </p:nvGrpSpPr>
                <p:grpSpPr bwMode="auto">
                  <a:xfrm>
                    <a:off x="2957" y="3324"/>
                    <a:ext cx="47" cy="37"/>
                    <a:chOff x="2957" y="3324"/>
                    <a:chExt cx="47" cy="37"/>
                  </a:xfrm>
                </p:grpSpPr>
                <p:sp>
                  <p:nvSpPr>
                    <p:cNvPr id="7230" name="Freeform 587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57" y="3330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27 h 31"/>
                        <a:gd name="T2" fmla="*/ 40 w 47"/>
                        <a:gd name="T3" fmla="*/ 24 h 31"/>
                        <a:gd name="T4" fmla="*/ 39 w 47"/>
                        <a:gd name="T5" fmla="*/ 22 h 31"/>
                        <a:gd name="T6" fmla="*/ 37 w 47"/>
                        <a:gd name="T7" fmla="*/ 21 h 31"/>
                        <a:gd name="T8" fmla="*/ 36 w 47"/>
                        <a:gd name="T9" fmla="*/ 19 h 31"/>
                        <a:gd name="T10" fmla="*/ 35 w 47"/>
                        <a:gd name="T11" fmla="*/ 17 h 31"/>
                        <a:gd name="T12" fmla="*/ 34 w 47"/>
                        <a:gd name="T13" fmla="*/ 16 h 31"/>
                        <a:gd name="T14" fmla="*/ 33 w 47"/>
                        <a:gd name="T15" fmla="*/ 14 h 31"/>
                        <a:gd name="T16" fmla="*/ 32 w 47"/>
                        <a:gd name="T17" fmla="*/ 12 h 31"/>
                        <a:gd name="T18" fmla="*/ 31 w 47"/>
                        <a:gd name="T19" fmla="*/ 10 h 31"/>
                        <a:gd name="T20" fmla="*/ 30 w 47"/>
                        <a:gd name="T21" fmla="*/ 7 h 31"/>
                        <a:gd name="T22" fmla="*/ 30 w 47"/>
                        <a:gd name="T23" fmla="*/ 5 h 31"/>
                        <a:gd name="T24" fmla="*/ 30 w 47"/>
                        <a:gd name="T25" fmla="*/ 3 h 31"/>
                        <a:gd name="T26" fmla="*/ 30 w 47"/>
                        <a:gd name="T27" fmla="*/ 0 h 31"/>
                        <a:gd name="T28" fmla="*/ 0 w 47"/>
                        <a:gd name="T29" fmla="*/ 0 h 31"/>
                        <a:gd name="T30" fmla="*/ 1 w 47"/>
                        <a:gd name="T31" fmla="*/ 2 h 31"/>
                        <a:gd name="T32" fmla="*/ 2 w 47"/>
                        <a:gd name="T33" fmla="*/ 4 h 31"/>
                        <a:gd name="T34" fmla="*/ 4 w 47"/>
                        <a:gd name="T35" fmla="*/ 6 h 31"/>
                        <a:gd name="T36" fmla="*/ 6 w 47"/>
                        <a:gd name="T37" fmla="*/ 9 h 31"/>
                        <a:gd name="T38" fmla="*/ 8 w 47"/>
                        <a:gd name="T39" fmla="*/ 11 h 31"/>
                        <a:gd name="T40" fmla="*/ 10 w 47"/>
                        <a:gd name="T41" fmla="*/ 13 h 31"/>
                        <a:gd name="T42" fmla="*/ 12 w 47"/>
                        <a:gd name="T43" fmla="*/ 15 h 31"/>
                        <a:gd name="T44" fmla="*/ 14 w 47"/>
                        <a:gd name="T45" fmla="*/ 17 h 31"/>
                        <a:gd name="T46" fmla="*/ 17 w 47"/>
                        <a:gd name="T47" fmla="*/ 19 h 31"/>
                        <a:gd name="T48" fmla="*/ 20 w 47"/>
                        <a:gd name="T49" fmla="*/ 22 h 31"/>
                        <a:gd name="T50" fmla="*/ 23 w 47"/>
                        <a:gd name="T51" fmla="*/ 23 h 31"/>
                        <a:gd name="T52" fmla="*/ 25 w 47"/>
                        <a:gd name="T53" fmla="*/ 24 h 31"/>
                        <a:gd name="T54" fmla="*/ 28 w 47"/>
                        <a:gd name="T55" fmla="*/ 26 h 31"/>
                        <a:gd name="T56" fmla="*/ 30 w 47"/>
                        <a:gd name="T57" fmla="*/ 27 h 31"/>
                        <a:gd name="T58" fmla="*/ 33 w 47"/>
                        <a:gd name="T59" fmla="*/ 28 h 31"/>
                        <a:gd name="T60" fmla="*/ 36 w 47"/>
                        <a:gd name="T61" fmla="*/ 28 h 31"/>
                        <a:gd name="T62" fmla="*/ 39 w 47"/>
                        <a:gd name="T63" fmla="*/ 29 h 31"/>
                        <a:gd name="T64" fmla="*/ 41 w 47"/>
                        <a:gd name="T65" fmla="*/ 29 h 31"/>
                        <a:gd name="T66" fmla="*/ 44 w 47"/>
                        <a:gd name="T67" fmla="*/ 29 h 31"/>
                        <a:gd name="T68" fmla="*/ 46 w 47"/>
                        <a:gd name="T69" fmla="*/ 30 h 31"/>
                        <a:gd name="T70" fmla="*/ 43 w 47"/>
                        <a:gd name="T71" fmla="*/ 27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27"/>
                          </a:moveTo>
                          <a:lnTo>
                            <a:pt x="40" y="24"/>
                          </a:lnTo>
                          <a:lnTo>
                            <a:pt x="39" y="22"/>
                          </a:lnTo>
                          <a:lnTo>
                            <a:pt x="37" y="21"/>
                          </a:lnTo>
                          <a:lnTo>
                            <a:pt x="36" y="19"/>
                          </a:lnTo>
                          <a:lnTo>
                            <a:pt x="35" y="17"/>
                          </a:lnTo>
                          <a:lnTo>
                            <a:pt x="34" y="16"/>
                          </a:lnTo>
                          <a:lnTo>
                            <a:pt x="33" y="14"/>
                          </a:lnTo>
                          <a:lnTo>
                            <a:pt x="32" y="12"/>
                          </a:lnTo>
                          <a:lnTo>
                            <a:pt x="31" y="10"/>
                          </a:lnTo>
                          <a:lnTo>
                            <a:pt x="30" y="7"/>
                          </a:lnTo>
                          <a:lnTo>
                            <a:pt x="30" y="5"/>
                          </a:lnTo>
                          <a:lnTo>
                            <a:pt x="30" y="3"/>
                          </a:lnTo>
                          <a:lnTo>
                            <a:pt x="30" y="0"/>
                          </a:lnTo>
                          <a:lnTo>
                            <a:pt x="0" y="0"/>
                          </a:lnTo>
                          <a:lnTo>
                            <a:pt x="1" y="2"/>
                          </a:lnTo>
                          <a:lnTo>
                            <a:pt x="2" y="4"/>
                          </a:lnTo>
                          <a:lnTo>
                            <a:pt x="4" y="6"/>
                          </a:lnTo>
                          <a:lnTo>
                            <a:pt x="6" y="9"/>
                          </a:lnTo>
                          <a:lnTo>
                            <a:pt x="8" y="11"/>
                          </a:lnTo>
                          <a:lnTo>
                            <a:pt x="10" y="13"/>
                          </a:lnTo>
                          <a:lnTo>
                            <a:pt x="12" y="15"/>
                          </a:lnTo>
                          <a:lnTo>
                            <a:pt x="14" y="17"/>
                          </a:lnTo>
                          <a:lnTo>
                            <a:pt x="17" y="19"/>
                          </a:lnTo>
                          <a:lnTo>
                            <a:pt x="20" y="22"/>
                          </a:lnTo>
                          <a:lnTo>
                            <a:pt x="23" y="23"/>
                          </a:lnTo>
                          <a:lnTo>
                            <a:pt x="25" y="24"/>
                          </a:lnTo>
                          <a:lnTo>
                            <a:pt x="28" y="26"/>
                          </a:lnTo>
                          <a:lnTo>
                            <a:pt x="30" y="27"/>
                          </a:lnTo>
                          <a:lnTo>
                            <a:pt x="33" y="28"/>
                          </a:lnTo>
                          <a:lnTo>
                            <a:pt x="36" y="28"/>
                          </a:lnTo>
                          <a:lnTo>
                            <a:pt x="39" y="29"/>
                          </a:lnTo>
                          <a:lnTo>
                            <a:pt x="41" y="29"/>
                          </a:lnTo>
                          <a:lnTo>
                            <a:pt x="44" y="29"/>
                          </a:lnTo>
                          <a:lnTo>
                            <a:pt x="46" y="30"/>
                          </a:lnTo>
                          <a:lnTo>
                            <a:pt x="43" y="27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7231" name="Freeform 588" descr="50%"/>
                    <p:cNvSpPr>
                      <a:spLocks/>
                    </p:cNvSpPr>
                    <p:nvPr/>
                  </p:nvSpPr>
                  <p:spPr bwMode="auto">
                    <a:xfrm>
                      <a:off x="2958" y="3324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</p:grp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Computer Food Chain</a:t>
            </a:r>
          </a:p>
        </p:txBody>
      </p:sp>
      <p:grpSp>
        <p:nvGrpSpPr>
          <p:cNvPr id="8197" name="Group 3"/>
          <p:cNvGrpSpPr>
            <a:grpSpLocks/>
          </p:cNvGrpSpPr>
          <p:nvPr/>
        </p:nvGrpSpPr>
        <p:grpSpPr bwMode="auto">
          <a:xfrm>
            <a:off x="1615604" y="1142405"/>
            <a:ext cx="5653235" cy="1300164"/>
            <a:chOff x="517" y="276"/>
            <a:chExt cx="4424" cy="1092"/>
          </a:xfrm>
        </p:grpSpPr>
        <p:sp>
          <p:nvSpPr>
            <p:cNvPr id="8342" name="Rectangle 4"/>
            <p:cNvSpPr>
              <a:spLocks noChangeArrowheads="1"/>
            </p:cNvSpPr>
            <p:nvPr/>
          </p:nvSpPr>
          <p:spPr bwMode="auto">
            <a:xfrm>
              <a:off x="2673" y="594"/>
              <a:ext cx="1461" cy="5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eaLnBrk="0" hangingPunct="0"/>
              <a:r>
                <a:rPr kumimoji="1" lang="en-US" altLang="zh-CN" dirty="0">
                  <a:latin typeface="Comic Sans MS" pitchFamily="66" charset="0"/>
                </a:rPr>
                <a:t>Mini-</a:t>
              </a:r>
            </a:p>
            <a:p>
              <a:pPr eaLnBrk="0" hangingPunct="0"/>
              <a:r>
                <a:rPr kumimoji="1" lang="en-US" altLang="zh-CN" dirty="0">
                  <a:latin typeface="Comic Sans MS" pitchFamily="66" charset="0"/>
                </a:rPr>
                <a:t>supercomputer</a:t>
              </a:r>
            </a:p>
          </p:txBody>
        </p:sp>
        <p:grpSp>
          <p:nvGrpSpPr>
            <p:cNvPr id="8343" name="Group 5"/>
            <p:cNvGrpSpPr>
              <a:grpSpLocks/>
            </p:cNvGrpSpPr>
            <p:nvPr/>
          </p:nvGrpSpPr>
          <p:grpSpPr bwMode="auto">
            <a:xfrm>
              <a:off x="2935" y="276"/>
              <a:ext cx="1053" cy="345"/>
              <a:chOff x="2935" y="276"/>
              <a:chExt cx="1053" cy="345"/>
            </a:xfrm>
          </p:grpSpPr>
          <p:sp>
            <p:nvSpPr>
              <p:cNvPr id="8849" name="Freeform 6"/>
              <p:cNvSpPr>
                <a:spLocks/>
              </p:cNvSpPr>
              <p:nvPr/>
            </p:nvSpPr>
            <p:spPr bwMode="auto">
              <a:xfrm>
                <a:off x="3201" y="303"/>
                <a:ext cx="124" cy="93"/>
              </a:xfrm>
              <a:custGeom>
                <a:avLst/>
                <a:gdLst>
                  <a:gd name="T0" fmla="*/ 0 w 124"/>
                  <a:gd name="T1" fmla="*/ 92 h 93"/>
                  <a:gd name="T2" fmla="*/ 5 w 124"/>
                  <a:gd name="T3" fmla="*/ 83 h 93"/>
                  <a:gd name="T4" fmla="*/ 11 w 124"/>
                  <a:gd name="T5" fmla="*/ 73 h 93"/>
                  <a:gd name="T6" fmla="*/ 18 w 124"/>
                  <a:gd name="T7" fmla="*/ 63 h 93"/>
                  <a:gd name="T8" fmla="*/ 25 w 124"/>
                  <a:gd name="T9" fmla="*/ 54 h 93"/>
                  <a:gd name="T10" fmla="*/ 35 w 124"/>
                  <a:gd name="T11" fmla="*/ 44 h 93"/>
                  <a:gd name="T12" fmla="*/ 44 w 124"/>
                  <a:gd name="T13" fmla="*/ 34 h 93"/>
                  <a:gd name="T14" fmla="*/ 52 w 124"/>
                  <a:gd name="T15" fmla="*/ 27 h 93"/>
                  <a:gd name="T16" fmla="*/ 60 w 124"/>
                  <a:gd name="T17" fmla="*/ 20 h 93"/>
                  <a:gd name="T18" fmla="*/ 69 w 124"/>
                  <a:gd name="T19" fmla="*/ 14 h 93"/>
                  <a:gd name="T20" fmla="*/ 79 w 124"/>
                  <a:gd name="T21" fmla="*/ 9 h 93"/>
                  <a:gd name="T22" fmla="*/ 88 w 124"/>
                  <a:gd name="T23" fmla="*/ 5 h 93"/>
                  <a:gd name="T24" fmla="*/ 98 w 124"/>
                  <a:gd name="T25" fmla="*/ 2 h 93"/>
                  <a:gd name="T26" fmla="*/ 109 w 124"/>
                  <a:gd name="T27" fmla="*/ 0 h 93"/>
                  <a:gd name="T28" fmla="*/ 118 w 124"/>
                  <a:gd name="T29" fmla="*/ 0 h 93"/>
                  <a:gd name="T30" fmla="*/ 123 w 124"/>
                  <a:gd name="T31" fmla="*/ 1 h 93"/>
                  <a:gd name="T32" fmla="*/ 117 w 124"/>
                  <a:gd name="T33" fmla="*/ 7 h 93"/>
                  <a:gd name="T34" fmla="*/ 110 w 124"/>
                  <a:gd name="T35" fmla="*/ 15 h 93"/>
                  <a:gd name="T36" fmla="*/ 104 w 124"/>
                  <a:gd name="T37" fmla="*/ 23 h 93"/>
                  <a:gd name="T38" fmla="*/ 97 w 124"/>
                  <a:gd name="T39" fmla="*/ 33 h 93"/>
                  <a:gd name="T40" fmla="*/ 91 w 124"/>
                  <a:gd name="T41" fmla="*/ 42 h 93"/>
                  <a:gd name="T42" fmla="*/ 86 w 124"/>
                  <a:gd name="T43" fmla="*/ 51 h 93"/>
                  <a:gd name="T44" fmla="*/ 83 w 124"/>
                  <a:gd name="T45" fmla="*/ 60 h 93"/>
                  <a:gd name="T46" fmla="*/ 80 w 124"/>
                  <a:gd name="T47" fmla="*/ 73 h 93"/>
                  <a:gd name="T48" fmla="*/ 80 w 124"/>
                  <a:gd name="T49" fmla="*/ 83 h 93"/>
                  <a:gd name="T50" fmla="*/ 80 w 124"/>
                  <a:gd name="T51" fmla="*/ 91 h 93"/>
                  <a:gd name="T52" fmla="*/ 0 w 124"/>
                  <a:gd name="T53" fmla="*/ 92 h 93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24" h="93">
                    <a:moveTo>
                      <a:pt x="0" y="92"/>
                    </a:moveTo>
                    <a:lnTo>
                      <a:pt x="5" y="83"/>
                    </a:lnTo>
                    <a:lnTo>
                      <a:pt x="11" y="73"/>
                    </a:lnTo>
                    <a:lnTo>
                      <a:pt x="18" y="63"/>
                    </a:lnTo>
                    <a:lnTo>
                      <a:pt x="25" y="54"/>
                    </a:lnTo>
                    <a:lnTo>
                      <a:pt x="35" y="44"/>
                    </a:lnTo>
                    <a:lnTo>
                      <a:pt x="44" y="34"/>
                    </a:lnTo>
                    <a:lnTo>
                      <a:pt x="52" y="27"/>
                    </a:lnTo>
                    <a:lnTo>
                      <a:pt x="60" y="20"/>
                    </a:lnTo>
                    <a:lnTo>
                      <a:pt x="69" y="14"/>
                    </a:lnTo>
                    <a:lnTo>
                      <a:pt x="79" y="9"/>
                    </a:lnTo>
                    <a:lnTo>
                      <a:pt x="88" y="5"/>
                    </a:lnTo>
                    <a:lnTo>
                      <a:pt x="98" y="2"/>
                    </a:lnTo>
                    <a:lnTo>
                      <a:pt x="109" y="0"/>
                    </a:lnTo>
                    <a:lnTo>
                      <a:pt x="118" y="0"/>
                    </a:lnTo>
                    <a:lnTo>
                      <a:pt x="123" y="1"/>
                    </a:lnTo>
                    <a:lnTo>
                      <a:pt x="117" y="7"/>
                    </a:lnTo>
                    <a:lnTo>
                      <a:pt x="110" y="15"/>
                    </a:lnTo>
                    <a:lnTo>
                      <a:pt x="104" y="23"/>
                    </a:lnTo>
                    <a:lnTo>
                      <a:pt x="97" y="33"/>
                    </a:lnTo>
                    <a:lnTo>
                      <a:pt x="91" y="42"/>
                    </a:lnTo>
                    <a:lnTo>
                      <a:pt x="86" y="51"/>
                    </a:lnTo>
                    <a:lnTo>
                      <a:pt x="83" y="60"/>
                    </a:lnTo>
                    <a:lnTo>
                      <a:pt x="80" y="73"/>
                    </a:lnTo>
                    <a:lnTo>
                      <a:pt x="80" y="83"/>
                    </a:lnTo>
                    <a:lnTo>
                      <a:pt x="80" y="91"/>
                    </a:lnTo>
                    <a:lnTo>
                      <a:pt x="0" y="92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50" name="Freeform 7"/>
              <p:cNvSpPr>
                <a:spLocks/>
              </p:cNvSpPr>
              <p:nvPr/>
            </p:nvSpPr>
            <p:spPr bwMode="auto">
              <a:xfrm>
                <a:off x="2935" y="321"/>
                <a:ext cx="1053" cy="300"/>
              </a:xfrm>
              <a:custGeom>
                <a:avLst/>
                <a:gdLst>
                  <a:gd name="T0" fmla="*/ 11 w 1053"/>
                  <a:gd name="T1" fmla="*/ 121 h 300"/>
                  <a:gd name="T2" fmla="*/ 43 w 1053"/>
                  <a:gd name="T3" fmla="*/ 134 h 300"/>
                  <a:gd name="T4" fmla="*/ 92 w 1053"/>
                  <a:gd name="T5" fmla="*/ 148 h 300"/>
                  <a:gd name="T6" fmla="*/ 143 w 1053"/>
                  <a:gd name="T7" fmla="*/ 159 h 300"/>
                  <a:gd name="T8" fmla="*/ 194 w 1053"/>
                  <a:gd name="T9" fmla="*/ 168 h 300"/>
                  <a:gd name="T10" fmla="*/ 246 w 1053"/>
                  <a:gd name="T11" fmla="*/ 177 h 300"/>
                  <a:gd name="T12" fmla="*/ 289 w 1053"/>
                  <a:gd name="T13" fmla="*/ 186 h 300"/>
                  <a:gd name="T14" fmla="*/ 314 w 1053"/>
                  <a:gd name="T15" fmla="*/ 199 h 300"/>
                  <a:gd name="T16" fmla="*/ 339 w 1053"/>
                  <a:gd name="T17" fmla="*/ 223 h 300"/>
                  <a:gd name="T18" fmla="*/ 375 w 1053"/>
                  <a:gd name="T19" fmla="*/ 258 h 300"/>
                  <a:gd name="T20" fmla="*/ 412 w 1053"/>
                  <a:gd name="T21" fmla="*/ 289 h 300"/>
                  <a:gd name="T22" fmla="*/ 438 w 1053"/>
                  <a:gd name="T23" fmla="*/ 263 h 300"/>
                  <a:gd name="T24" fmla="*/ 453 w 1053"/>
                  <a:gd name="T25" fmla="*/ 211 h 300"/>
                  <a:gd name="T26" fmla="*/ 462 w 1053"/>
                  <a:gd name="T27" fmla="*/ 190 h 300"/>
                  <a:gd name="T28" fmla="*/ 523 w 1053"/>
                  <a:gd name="T29" fmla="*/ 180 h 300"/>
                  <a:gd name="T30" fmla="*/ 584 w 1053"/>
                  <a:gd name="T31" fmla="*/ 169 h 300"/>
                  <a:gd name="T32" fmla="*/ 630 w 1053"/>
                  <a:gd name="T33" fmla="*/ 169 h 300"/>
                  <a:gd name="T34" fmla="*/ 679 w 1053"/>
                  <a:gd name="T35" fmla="*/ 178 h 300"/>
                  <a:gd name="T36" fmla="*/ 717 w 1053"/>
                  <a:gd name="T37" fmla="*/ 153 h 300"/>
                  <a:gd name="T38" fmla="*/ 754 w 1053"/>
                  <a:gd name="T39" fmla="*/ 143 h 300"/>
                  <a:gd name="T40" fmla="*/ 800 w 1053"/>
                  <a:gd name="T41" fmla="*/ 143 h 300"/>
                  <a:gd name="T42" fmla="*/ 849 w 1053"/>
                  <a:gd name="T43" fmla="*/ 161 h 300"/>
                  <a:gd name="T44" fmla="*/ 904 w 1053"/>
                  <a:gd name="T45" fmla="*/ 205 h 300"/>
                  <a:gd name="T46" fmla="*/ 968 w 1053"/>
                  <a:gd name="T47" fmla="*/ 256 h 300"/>
                  <a:gd name="T48" fmla="*/ 1032 w 1053"/>
                  <a:gd name="T49" fmla="*/ 277 h 300"/>
                  <a:gd name="T50" fmla="*/ 1034 w 1053"/>
                  <a:gd name="T51" fmla="*/ 260 h 300"/>
                  <a:gd name="T52" fmla="*/ 1004 w 1053"/>
                  <a:gd name="T53" fmla="*/ 223 h 300"/>
                  <a:gd name="T54" fmla="*/ 968 w 1053"/>
                  <a:gd name="T55" fmla="*/ 187 h 300"/>
                  <a:gd name="T56" fmla="*/ 945 w 1053"/>
                  <a:gd name="T57" fmla="*/ 151 h 300"/>
                  <a:gd name="T58" fmla="*/ 945 w 1053"/>
                  <a:gd name="T59" fmla="*/ 114 h 300"/>
                  <a:gd name="T60" fmla="*/ 970 w 1053"/>
                  <a:gd name="T61" fmla="*/ 75 h 300"/>
                  <a:gd name="T62" fmla="*/ 1002 w 1053"/>
                  <a:gd name="T63" fmla="*/ 47 h 300"/>
                  <a:gd name="T64" fmla="*/ 1031 w 1053"/>
                  <a:gd name="T65" fmla="*/ 23 h 300"/>
                  <a:gd name="T66" fmla="*/ 1032 w 1053"/>
                  <a:gd name="T67" fmla="*/ 12 h 300"/>
                  <a:gd name="T68" fmla="*/ 992 w 1053"/>
                  <a:gd name="T69" fmla="*/ 13 h 300"/>
                  <a:gd name="T70" fmla="*/ 957 w 1053"/>
                  <a:gd name="T71" fmla="*/ 21 h 300"/>
                  <a:gd name="T72" fmla="*/ 923 w 1053"/>
                  <a:gd name="T73" fmla="*/ 38 h 300"/>
                  <a:gd name="T74" fmla="*/ 868 w 1053"/>
                  <a:gd name="T75" fmla="*/ 72 h 300"/>
                  <a:gd name="T76" fmla="*/ 800 w 1053"/>
                  <a:gd name="T77" fmla="*/ 77 h 300"/>
                  <a:gd name="T78" fmla="*/ 718 w 1053"/>
                  <a:gd name="T79" fmla="*/ 68 h 300"/>
                  <a:gd name="T80" fmla="*/ 666 w 1053"/>
                  <a:gd name="T81" fmla="*/ 48 h 300"/>
                  <a:gd name="T82" fmla="*/ 649 w 1053"/>
                  <a:gd name="T83" fmla="*/ 25 h 300"/>
                  <a:gd name="T84" fmla="*/ 576 w 1053"/>
                  <a:gd name="T85" fmla="*/ 27 h 300"/>
                  <a:gd name="T86" fmla="*/ 514 w 1053"/>
                  <a:gd name="T87" fmla="*/ 8 h 300"/>
                  <a:gd name="T88" fmla="*/ 285 w 1053"/>
                  <a:gd name="T89" fmla="*/ 0 h 300"/>
                  <a:gd name="T90" fmla="*/ 153 w 1053"/>
                  <a:gd name="T91" fmla="*/ 13 h 300"/>
                  <a:gd name="T92" fmla="*/ 38 w 1053"/>
                  <a:gd name="T93" fmla="*/ 51 h 300"/>
                  <a:gd name="T94" fmla="*/ 38 w 1053"/>
                  <a:gd name="T95" fmla="*/ 70 h 300"/>
                  <a:gd name="T96" fmla="*/ 12 w 1053"/>
                  <a:gd name="T97" fmla="*/ 93 h 300"/>
                  <a:gd name="T98" fmla="*/ 2 w 1053"/>
                  <a:gd name="T99" fmla="*/ 109 h 300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1053" h="300">
                    <a:moveTo>
                      <a:pt x="0" y="114"/>
                    </a:moveTo>
                    <a:lnTo>
                      <a:pt x="4" y="117"/>
                    </a:lnTo>
                    <a:lnTo>
                      <a:pt x="11" y="121"/>
                    </a:lnTo>
                    <a:lnTo>
                      <a:pt x="24" y="126"/>
                    </a:lnTo>
                    <a:lnTo>
                      <a:pt x="33" y="130"/>
                    </a:lnTo>
                    <a:lnTo>
                      <a:pt x="43" y="134"/>
                    </a:lnTo>
                    <a:lnTo>
                      <a:pt x="60" y="139"/>
                    </a:lnTo>
                    <a:lnTo>
                      <a:pt x="76" y="144"/>
                    </a:lnTo>
                    <a:lnTo>
                      <a:pt x="92" y="148"/>
                    </a:lnTo>
                    <a:lnTo>
                      <a:pt x="108" y="152"/>
                    </a:lnTo>
                    <a:lnTo>
                      <a:pt x="125" y="155"/>
                    </a:lnTo>
                    <a:lnTo>
                      <a:pt x="143" y="159"/>
                    </a:lnTo>
                    <a:lnTo>
                      <a:pt x="162" y="162"/>
                    </a:lnTo>
                    <a:lnTo>
                      <a:pt x="178" y="165"/>
                    </a:lnTo>
                    <a:lnTo>
                      <a:pt x="194" y="168"/>
                    </a:lnTo>
                    <a:lnTo>
                      <a:pt x="209" y="171"/>
                    </a:lnTo>
                    <a:lnTo>
                      <a:pt x="229" y="175"/>
                    </a:lnTo>
                    <a:lnTo>
                      <a:pt x="246" y="177"/>
                    </a:lnTo>
                    <a:lnTo>
                      <a:pt x="263" y="180"/>
                    </a:lnTo>
                    <a:lnTo>
                      <a:pt x="277" y="182"/>
                    </a:lnTo>
                    <a:lnTo>
                      <a:pt x="289" y="186"/>
                    </a:lnTo>
                    <a:lnTo>
                      <a:pt x="300" y="190"/>
                    </a:lnTo>
                    <a:lnTo>
                      <a:pt x="307" y="194"/>
                    </a:lnTo>
                    <a:lnTo>
                      <a:pt x="314" y="199"/>
                    </a:lnTo>
                    <a:lnTo>
                      <a:pt x="321" y="206"/>
                    </a:lnTo>
                    <a:lnTo>
                      <a:pt x="329" y="214"/>
                    </a:lnTo>
                    <a:lnTo>
                      <a:pt x="339" y="223"/>
                    </a:lnTo>
                    <a:lnTo>
                      <a:pt x="350" y="235"/>
                    </a:lnTo>
                    <a:lnTo>
                      <a:pt x="362" y="246"/>
                    </a:lnTo>
                    <a:lnTo>
                      <a:pt x="375" y="258"/>
                    </a:lnTo>
                    <a:lnTo>
                      <a:pt x="386" y="269"/>
                    </a:lnTo>
                    <a:lnTo>
                      <a:pt x="399" y="278"/>
                    </a:lnTo>
                    <a:lnTo>
                      <a:pt x="412" y="289"/>
                    </a:lnTo>
                    <a:lnTo>
                      <a:pt x="427" y="299"/>
                    </a:lnTo>
                    <a:lnTo>
                      <a:pt x="432" y="280"/>
                    </a:lnTo>
                    <a:lnTo>
                      <a:pt x="438" y="263"/>
                    </a:lnTo>
                    <a:lnTo>
                      <a:pt x="444" y="245"/>
                    </a:lnTo>
                    <a:lnTo>
                      <a:pt x="450" y="226"/>
                    </a:lnTo>
                    <a:lnTo>
                      <a:pt x="453" y="211"/>
                    </a:lnTo>
                    <a:lnTo>
                      <a:pt x="452" y="201"/>
                    </a:lnTo>
                    <a:lnTo>
                      <a:pt x="446" y="192"/>
                    </a:lnTo>
                    <a:lnTo>
                      <a:pt x="462" y="190"/>
                    </a:lnTo>
                    <a:lnTo>
                      <a:pt x="479" y="187"/>
                    </a:lnTo>
                    <a:lnTo>
                      <a:pt x="500" y="183"/>
                    </a:lnTo>
                    <a:lnTo>
                      <a:pt x="523" y="180"/>
                    </a:lnTo>
                    <a:lnTo>
                      <a:pt x="546" y="175"/>
                    </a:lnTo>
                    <a:lnTo>
                      <a:pt x="565" y="172"/>
                    </a:lnTo>
                    <a:lnTo>
                      <a:pt x="584" y="169"/>
                    </a:lnTo>
                    <a:lnTo>
                      <a:pt x="602" y="167"/>
                    </a:lnTo>
                    <a:lnTo>
                      <a:pt x="618" y="165"/>
                    </a:lnTo>
                    <a:lnTo>
                      <a:pt x="630" y="169"/>
                    </a:lnTo>
                    <a:lnTo>
                      <a:pt x="642" y="175"/>
                    </a:lnTo>
                    <a:lnTo>
                      <a:pt x="653" y="182"/>
                    </a:lnTo>
                    <a:lnTo>
                      <a:pt x="679" y="178"/>
                    </a:lnTo>
                    <a:lnTo>
                      <a:pt x="707" y="172"/>
                    </a:lnTo>
                    <a:lnTo>
                      <a:pt x="731" y="167"/>
                    </a:lnTo>
                    <a:lnTo>
                      <a:pt x="717" y="153"/>
                    </a:lnTo>
                    <a:lnTo>
                      <a:pt x="726" y="150"/>
                    </a:lnTo>
                    <a:lnTo>
                      <a:pt x="739" y="146"/>
                    </a:lnTo>
                    <a:lnTo>
                      <a:pt x="754" y="143"/>
                    </a:lnTo>
                    <a:lnTo>
                      <a:pt x="770" y="140"/>
                    </a:lnTo>
                    <a:lnTo>
                      <a:pt x="784" y="142"/>
                    </a:lnTo>
                    <a:lnTo>
                      <a:pt x="800" y="143"/>
                    </a:lnTo>
                    <a:lnTo>
                      <a:pt x="817" y="147"/>
                    </a:lnTo>
                    <a:lnTo>
                      <a:pt x="834" y="152"/>
                    </a:lnTo>
                    <a:lnTo>
                      <a:pt x="849" y="161"/>
                    </a:lnTo>
                    <a:lnTo>
                      <a:pt x="870" y="175"/>
                    </a:lnTo>
                    <a:lnTo>
                      <a:pt x="885" y="187"/>
                    </a:lnTo>
                    <a:lnTo>
                      <a:pt x="904" y="205"/>
                    </a:lnTo>
                    <a:lnTo>
                      <a:pt x="924" y="226"/>
                    </a:lnTo>
                    <a:lnTo>
                      <a:pt x="948" y="243"/>
                    </a:lnTo>
                    <a:lnTo>
                      <a:pt x="968" y="256"/>
                    </a:lnTo>
                    <a:lnTo>
                      <a:pt x="988" y="267"/>
                    </a:lnTo>
                    <a:lnTo>
                      <a:pt x="1008" y="274"/>
                    </a:lnTo>
                    <a:lnTo>
                      <a:pt x="1032" y="277"/>
                    </a:lnTo>
                    <a:lnTo>
                      <a:pt x="1052" y="276"/>
                    </a:lnTo>
                    <a:lnTo>
                      <a:pt x="1042" y="267"/>
                    </a:lnTo>
                    <a:lnTo>
                      <a:pt x="1034" y="260"/>
                    </a:lnTo>
                    <a:lnTo>
                      <a:pt x="1031" y="253"/>
                    </a:lnTo>
                    <a:lnTo>
                      <a:pt x="1015" y="233"/>
                    </a:lnTo>
                    <a:lnTo>
                      <a:pt x="1004" y="223"/>
                    </a:lnTo>
                    <a:lnTo>
                      <a:pt x="990" y="212"/>
                    </a:lnTo>
                    <a:lnTo>
                      <a:pt x="978" y="199"/>
                    </a:lnTo>
                    <a:lnTo>
                      <a:pt x="968" y="187"/>
                    </a:lnTo>
                    <a:lnTo>
                      <a:pt x="959" y="175"/>
                    </a:lnTo>
                    <a:lnTo>
                      <a:pt x="951" y="162"/>
                    </a:lnTo>
                    <a:lnTo>
                      <a:pt x="945" y="151"/>
                    </a:lnTo>
                    <a:lnTo>
                      <a:pt x="941" y="140"/>
                    </a:lnTo>
                    <a:lnTo>
                      <a:pt x="940" y="127"/>
                    </a:lnTo>
                    <a:lnTo>
                      <a:pt x="945" y="114"/>
                    </a:lnTo>
                    <a:lnTo>
                      <a:pt x="951" y="99"/>
                    </a:lnTo>
                    <a:lnTo>
                      <a:pt x="960" y="87"/>
                    </a:lnTo>
                    <a:lnTo>
                      <a:pt x="970" y="75"/>
                    </a:lnTo>
                    <a:lnTo>
                      <a:pt x="980" y="66"/>
                    </a:lnTo>
                    <a:lnTo>
                      <a:pt x="991" y="57"/>
                    </a:lnTo>
                    <a:lnTo>
                      <a:pt x="1002" y="47"/>
                    </a:lnTo>
                    <a:lnTo>
                      <a:pt x="1015" y="36"/>
                    </a:lnTo>
                    <a:lnTo>
                      <a:pt x="1023" y="29"/>
                    </a:lnTo>
                    <a:lnTo>
                      <a:pt x="1031" y="23"/>
                    </a:lnTo>
                    <a:lnTo>
                      <a:pt x="1039" y="18"/>
                    </a:lnTo>
                    <a:lnTo>
                      <a:pt x="1044" y="12"/>
                    </a:lnTo>
                    <a:lnTo>
                      <a:pt x="1032" y="12"/>
                    </a:lnTo>
                    <a:lnTo>
                      <a:pt x="1017" y="12"/>
                    </a:lnTo>
                    <a:lnTo>
                      <a:pt x="1004" y="11"/>
                    </a:lnTo>
                    <a:lnTo>
                      <a:pt x="992" y="13"/>
                    </a:lnTo>
                    <a:lnTo>
                      <a:pt x="978" y="14"/>
                    </a:lnTo>
                    <a:lnTo>
                      <a:pt x="967" y="18"/>
                    </a:lnTo>
                    <a:lnTo>
                      <a:pt x="957" y="21"/>
                    </a:lnTo>
                    <a:lnTo>
                      <a:pt x="946" y="26"/>
                    </a:lnTo>
                    <a:lnTo>
                      <a:pt x="934" y="32"/>
                    </a:lnTo>
                    <a:lnTo>
                      <a:pt x="923" y="38"/>
                    </a:lnTo>
                    <a:lnTo>
                      <a:pt x="903" y="52"/>
                    </a:lnTo>
                    <a:lnTo>
                      <a:pt x="888" y="61"/>
                    </a:lnTo>
                    <a:lnTo>
                      <a:pt x="868" y="72"/>
                    </a:lnTo>
                    <a:lnTo>
                      <a:pt x="848" y="74"/>
                    </a:lnTo>
                    <a:lnTo>
                      <a:pt x="828" y="74"/>
                    </a:lnTo>
                    <a:lnTo>
                      <a:pt x="800" y="77"/>
                    </a:lnTo>
                    <a:lnTo>
                      <a:pt x="775" y="74"/>
                    </a:lnTo>
                    <a:lnTo>
                      <a:pt x="747" y="73"/>
                    </a:lnTo>
                    <a:lnTo>
                      <a:pt x="718" y="68"/>
                    </a:lnTo>
                    <a:lnTo>
                      <a:pt x="688" y="61"/>
                    </a:lnTo>
                    <a:lnTo>
                      <a:pt x="670" y="54"/>
                    </a:lnTo>
                    <a:lnTo>
                      <a:pt x="666" y="48"/>
                    </a:lnTo>
                    <a:lnTo>
                      <a:pt x="670" y="42"/>
                    </a:lnTo>
                    <a:lnTo>
                      <a:pt x="684" y="33"/>
                    </a:lnTo>
                    <a:lnTo>
                      <a:pt x="649" y="25"/>
                    </a:lnTo>
                    <a:lnTo>
                      <a:pt x="600" y="12"/>
                    </a:lnTo>
                    <a:lnTo>
                      <a:pt x="589" y="21"/>
                    </a:lnTo>
                    <a:lnTo>
                      <a:pt x="576" y="27"/>
                    </a:lnTo>
                    <a:lnTo>
                      <a:pt x="562" y="30"/>
                    </a:lnTo>
                    <a:lnTo>
                      <a:pt x="542" y="31"/>
                    </a:lnTo>
                    <a:lnTo>
                      <a:pt x="514" y="8"/>
                    </a:lnTo>
                    <a:lnTo>
                      <a:pt x="491" y="25"/>
                    </a:lnTo>
                    <a:lnTo>
                      <a:pt x="319" y="2"/>
                    </a:lnTo>
                    <a:lnTo>
                      <a:pt x="285" y="0"/>
                    </a:lnTo>
                    <a:lnTo>
                      <a:pt x="253" y="3"/>
                    </a:lnTo>
                    <a:lnTo>
                      <a:pt x="220" y="5"/>
                    </a:lnTo>
                    <a:lnTo>
                      <a:pt x="153" y="13"/>
                    </a:lnTo>
                    <a:lnTo>
                      <a:pt x="93" y="28"/>
                    </a:lnTo>
                    <a:lnTo>
                      <a:pt x="60" y="39"/>
                    </a:lnTo>
                    <a:lnTo>
                      <a:pt x="38" y="51"/>
                    </a:lnTo>
                    <a:lnTo>
                      <a:pt x="62" y="55"/>
                    </a:lnTo>
                    <a:lnTo>
                      <a:pt x="47" y="64"/>
                    </a:lnTo>
                    <a:lnTo>
                      <a:pt x="38" y="70"/>
                    </a:lnTo>
                    <a:lnTo>
                      <a:pt x="21" y="84"/>
                    </a:lnTo>
                    <a:lnTo>
                      <a:pt x="17" y="87"/>
                    </a:lnTo>
                    <a:lnTo>
                      <a:pt x="12" y="93"/>
                    </a:lnTo>
                    <a:lnTo>
                      <a:pt x="9" y="97"/>
                    </a:lnTo>
                    <a:lnTo>
                      <a:pt x="6" y="104"/>
                    </a:lnTo>
                    <a:lnTo>
                      <a:pt x="2" y="109"/>
                    </a:lnTo>
                    <a:lnTo>
                      <a:pt x="0" y="114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8851" name="Group 8"/>
              <p:cNvGrpSpPr>
                <a:grpSpLocks/>
              </p:cNvGrpSpPr>
              <p:nvPr/>
            </p:nvGrpSpPr>
            <p:grpSpPr bwMode="auto">
              <a:xfrm>
                <a:off x="3028" y="410"/>
                <a:ext cx="17" cy="15"/>
                <a:chOff x="3028" y="410"/>
                <a:chExt cx="17" cy="15"/>
              </a:xfrm>
            </p:grpSpPr>
            <p:sp>
              <p:nvSpPr>
                <p:cNvPr id="8862" name="Oval 9"/>
                <p:cNvSpPr>
                  <a:spLocks noChangeArrowheads="1"/>
                </p:cNvSpPr>
                <p:nvPr/>
              </p:nvSpPr>
              <p:spPr bwMode="auto">
                <a:xfrm>
                  <a:off x="3028" y="410"/>
                  <a:ext cx="16" cy="15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863" name="Arc 10"/>
                <p:cNvSpPr>
                  <a:spLocks/>
                </p:cNvSpPr>
                <p:nvPr/>
              </p:nvSpPr>
              <p:spPr bwMode="auto">
                <a:xfrm>
                  <a:off x="3031" y="411"/>
                  <a:ext cx="14" cy="14"/>
                </a:xfrm>
                <a:custGeom>
                  <a:avLst/>
                  <a:gdLst>
                    <a:gd name="T0" fmla="*/ 5 w 43200"/>
                    <a:gd name="T1" fmla="*/ 14 h 42092"/>
                    <a:gd name="T2" fmla="*/ 11 w 43200"/>
                    <a:gd name="T3" fmla="*/ 13 h 42092"/>
                    <a:gd name="T4" fmla="*/ 7 w 43200"/>
                    <a:gd name="T5" fmla="*/ 7 h 4209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42092" fill="none" extrusionOk="0">
                      <a:moveTo>
                        <a:pt x="14769" y="42091"/>
                      </a:moveTo>
                      <a:cubicBezTo>
                        <a:pt x="5949" y="39151"/>
                        <a:pt x="0" y="3089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8161"/>
                        <a:pt x="40217" y="34367"/>
                        <a:pt x="35093" y="38467"/>
                      </a:cubicBezTo>
                    </a:path>
                    <a:path w="43200" h="42092" stroke="0" extrusionOk="0">
                      <a:moveTo>
                        <a:pt x="14769" y="42091"/>
                      </a:moveTo>
                      <a:cubicBezTo>
                        <a:pt x="5949" y="39151"/>
                        <a:pt x="0" y="3089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8161"/>
                        <a:pt x="40217" y="34367"/>
                        <a:pt x="35093" y="38467"/>
                      </a:cubicBezTo>
                      <a:lnTo>
                        <a:pt x="21600" y="21600"/>
                      </a:lnTo>
                      <a:lnTo>
                        <a:pt x="14769" y="42091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52" name="Group 11"/>
              <p:cNvGrpSpPr>
                <a:grpSpLocks/>
              </p:cNvGrpSpPr>
              <p:nvPr/>
            </p:nvGrpSpPr>
            <p:grpSpPr bwMode="auto">
              <a:xfrm>
                <a:off x="3089" y="359"/>
                <a:ext cx="64" cy="44"/>
                <a:chOff x="3089" y="359"/>
                <a:chExt cx="64" cy="44"/>
              </a:xfrm>
            </p:grpSpPr>
            <p:sp>
              <p:nvSpPr>
                <p:cNvPr id="8857" name="Arc 12"/>
                <p:cNvSpPr>
                  <a:spLocks/>
                </p:cNvSpPr>
                <p:nvPr/>
              </p:nvSpPr>
              <p:spPr bwMode="auto">
                <a:xfrm>
                  <a:off x="3103" y="359"/>
                  <a:ext cx="6" cy="44"/>
                </a:xfrm>
                <a:custGeom>
                  <a:avLst/>
                  <a:gdLst>
                    <a:gd name="T0" fmla="*/ 0 w 30373"/>
                    <a:gd name="T1" fmla="*/ 2 h 43200"/>
                    <a:gd name="T2" fmla="*/ 1 w 30373"/>
                    <a:gd name="T3" fmla="*/ 43 h 43200"/>
                    <a:gd name="T4" fmla="*/ 2 w 30373"/>
                    <a:gd name="T5" fmla="*/ 2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0373" h="43200" fill="none" extrusionOk="0">
                      <a:moveTo>
                        <a:pt x="-1" y="1861"/>
                      </a:moveTo>
                      <a:cubicBezTo>
                        <a:pt x="2761" y="634"/>
                        <a:pt x="5750" y="-1"/>
                        <a:pt x="8773" y="0"/>
                      </a:cubicBezTo>
                      <a:cubicBezTo>
                        <a:pt x="20702" y="0"/>
                        <a:pt x="30373" y="9670"/>
                        <a:pt x="30373" y="21600"/>
                      </a:cubicBezTo>
                      <a:cubicBezTo>
                        <a:pt x="30373" y="33529"/>
                        <a:pt x="20702" y="43200"/>
                        <a:pt x="8773" y="43200"/>
                      </a:cubicBezTo>
                      <a:cubicBezTo>
                        <a:pt x="7196" y="43200"/>
                        <a:pt x="5625" y="43027"/>
                        <a:pt x="4087" y="42685"/>
                      </a:cubicBezTo>
                    </a:path>
                    <a:path w="30373" h="43200" stroke="0" extrusionOk="0">
                      <a:moveTo>
                        <a:pt x="-1" y="1861"/>
                      </a:moveTo>
                      <a:cubicBezTo>
                        <a:pt x="2761" y="634"/>
                        <a:pt x="5750" y="-1"/>
                        <a:pt x="8773" y="0"/>
                      </a:cubicBezTo>
                      <a:cubicBezTo>
                        <a:pt x="20702" y="0"/>
                        <a:pt x="30373" y="9670"/>
                        <a:pt x="30373" y="21600"/>
                      </a:cubicBezTo>
                      <a:cubicBezTo>
                        <a:pt x="30373" y="33529"/>
                        <a:pt x="20702" y="43200"/>
                        <a:pt x="8773" y="43200"/>
                      </a:cubicBezTo>
                      <a:cubicBezTo>
                        <a:pt x="7196" y="43200"/>
                        <a:pt x="5625" y="43027"/>
                        <a:pt x="4087" y="42685"/>
                      </a:cubicBezTo>
                      <a:lnTo>
                        <a:pt x="8773" y="21600"/>
                      </a:lnTo>
                      <a:lnTo>
                        <a:pt x="-1" y="1861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858" name="Arc 13"/>
                <p:cNvSpPr>
                  <a:spLocks/>
                </p:cNvSpPr>
                <p:nvPr/>
              </p:nvSpPr>
              <p:spPr bwMode="auto">
                <a:xfrm>
                  <a:off x="3089" y="359"/>
                  <a:ext cx="6" cy="44"/>
                </a:xfrm>
                <a:custGeom>
                  <a:avLst/>
                  <a:gdLst>
                    <a:gd name="T0" fmla="*/ 0 w 30373"/>
                    <a:gd name="T1" fmla="*/ 2 h 43200"/>
                    <a:gd name="T2" fmla="*/ 1 w 30373"/>
                    <a:gd name="T3" fmla="*/ 43 h 43200"/>
                    <a:gd name="T4" fmla="*/ 2 w 30373"/>
                    <a:gd name="T5" fmla="*/ 2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0373" h="43200" fill="none" extrusionOk="0">
                      <a:moveTo>
                        <a:pt x="-1" y="1861"/>
                      </a:moveTo>
                      <a:cubicBezTo>
                        <a:pt x="2761" y="634"/>
                        <a:pt x="5750" y="-1"/>
                        <a:pt x="8773" y="0"/>
                      </a:cubicBezTo>
                      <a:cubicBezTo>
                        <a:pt x="20702" y="0"/>
                        <a:pt x="30373" y="9670"/>
                        <a:pt x="30373" y="21600"/>
                      </a:cubicBezTo>
                      <a:cubicBezTo>
                        <a:pt x="30373" y="33529"/>
                        <a:pt x="20702" y="43200"/>
                        <a:pt x="8773" y="43200"/>
                      </a:cubicBezTo>
                      <a:cubicBezTo>
                        <a:pt x="7196" y="43200"/>
                        <a:pt x="5625" y="43027"/>
                        <a:pt x="4087" y="42685"/>
                      </a:cubicBezTo>
                    </a:path>
                    <a:path w="30373" h="43200" stroke="0" extrusionOk="0">
                      <a:moveTo>
                        <a:pt x="-1" y="1861"/>
                      </a:moveTo>
                      <a:cubicBezTo>
                        <a:pt x="2761" y="634"/>
                        <a:pt x="5750" y="-1"/>
                        <a:pt x="8773" y="0"/>
                      </a:cubicBezTo>
                      <a:cubicBezTo>
                        <a:pt x="20702" y="0"/>
                        <a:pt x="30373" y="9670"/>
                        <a:pt x="30373" y="21600"/>
                      </a:cubicBezTo>
                      <a:cubicBezTo>
                        <a:pt x="30373" y="33529"/>
                        <a:pt x="20702" y="43200"/>
                        <a:pt x="8773" y="43200"/>
                      </a:cubicBezTo>
                      <a:cubicBezTo>
                        <a:pt x="7196" y="43200"/>
                        <a:pt x="5625" y="43027"/>
                        <a:pt x="4087" y="42685"/>
                      </a:cubicBezTo>
                      <a:lnTo>
                        <a:pt x="8773" y="21600"/>
                      </a:lnTo>
                      <a:lnTo>
                        <a:pt x="-1" y="1861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859" name="Arc 14"/>
                <p:cNvSpPr>
                  <a:spLocks/>
                </p:cNvSpPr>
                <p:nvPr/>
              </p:nvSpPr>
              <p:spPr bwMode="auto">
                <a:xfrm>
                  <a:off x="3117" y="359"/>
                  <a:ext cx="6" cy="44"/>
                </a:xfrm>
                <a:custGeom>
                  <a:avLst/>
                  <a:gdLst>
                    <a:gd name="T0" fmla="*/ 0 w 30373"/>
                    <a:gd name="T1" fmla="*/ 2 h 43200"/>
                    <a:gd name="T2" fmla="*/ 1 w 30373"/>
                    <a:gd name="T3" fmla="*/ 43 h 43200"/>
                    <a:gd name="T4" fmla="*/ 2 w 30373"/>
                    <a:gd name="T5" fmla="*/ 2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0373" h="43200" fill="none" extrusionOk="0">
                      <a:moveTo>
                        <a:pt x="-1" y="1861"/>
                      </a:moveTo>
                      <a:cubicBezTo>
                        <a:pt x="2761" y="634"/>
                        <a:pt x="5750" y="-1"/>
                        <a:pt x="8773" y="0"/>
                      </a:cubicBezTo>
                      <a:cubicBezTo>
                        <a:pt x="20702" y="0"/>
                        <a:pt x="30373" y="9670"/>
                        <a:pt x="30373" y="21600"/>
                      </a:cubicBezTo>
                      <a:cubicBezTo>
                        <a:pt x="30373" y="33529"/>
                        <a:pt x="20702" y="43200"/>
                        <a:pt x="8773" y="43200"/>
                      </a:cubicBezTo>
                      <a:cubicBezTo>
                        <a:pt x="7196" y="43200"/>
                        <a:pt x="5625" y="43027"/>
                        <a:pt x="4087" y="42685"/>
                      </a:cubicBezTo>
                    </a:path>
                    <a:path w="30373" h="43200" stroke="0" extrusionOk="0">
                      <a:moveTo>
                        <a:pt x="-1" y="1861"/>
                      </a:moveTo>
                      <a:cubicBezTo>
                        <a:pt x="2761" y="634"/>
                        <a:pt x="5750" y="-1"/>
                        <a:pt x="8773" y="0"/>
                      </a:cubicBezTo>
                      <a:cubicBezTo>
                        <a:pt x="20702" y="0"/>
                        <a:pt x="30373" y="9670"/>
                        <a:pt x="30373" y="21600"/>
                      </a:cubicBezTo>
                      <a:cubicBezTo>
                        <a:pt x="30373" y="33529"/>
                        <a:pt x="20702" y="43200"/>
                        <a:pt x="8773" y="43200"/>
                      </a:cubicBezTo>
                      <a:cubicBezTo>
                        <a:pt x="7196" y="43200"/>
                        <a:pt x="5625" y="43027"/>
                        <a:pt x="4087" y="42685"/>
                      </a:cubicBezTo>
                      <a:lnTo>
                        <a:pt x="8773" y="21600"/>
                      </a:lnTo>
                      <a:lnTo>
                        <a:pt x="-1" y="1861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860" name="Arc 15"/>
                <p:cNvSpPr>
                  <a:spLocks/>
                </p:cNvSpPr>
                <p:nvPr/>
              </p:nvSpPr>
              <p:spPr bwMode="auto">
                <a:xfrm>
                  <a:off x="3131" y="359"/>
                  <a:ext cx="6" cy="44"/>
                </a:xfrm>
                <a:custGeom>
                  <a:avLst/>
                  <a:gdLst>
                    <a:gd name="T0" fmla="*/ 0 w 30373"/>
                    <a:gd name="T1" fmla="*/ 2 h 43200"/>
                    <a:gd name="T2" fmla="*/ 1 w 30373"/>
                    <a:gd name="T3" fmla="*/ 43 h 43200"/>
                    <a:gd name="T4" fmla="*/ 2 w 30373"/>
                    <a:gd name="T5" fmla="*/ 2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0373" h="43200" fill="none" extrusionOk="0">
                      <a:moveTo>
                        <a:pt x="-1" y="1861"/>
                      </a:moveTo>
                      <a:cubicBezTo>
                        <a:pt x="2761" y="634"/>
                        <a:pt x="5750" y="-1"/>
                        <a:pt x="8773" y="0"/>
                      </a:cubicBezTo>
                      <a:cubicBezTo>
                        <a:pt x="20702" y="0"/>
                        <a:pt x="30373" y="9670"/>
                        <a:pt x="30373" y="21600"/>
                      </a:cubicBezTo>
                      <a:cubicBezTo>
                        <a:pt x="30373" y="33529"/>
                        <a:pt x="20702" y="43200"/>
                        <a:pt x="8773" y="43200"/>
                      </a:cubicBezTo>
                      <a:cubicBezTo>
                        <a:pt x="7196" y="43200"/>
                        <a:pt x="5625" y="43027"/>
                        <a:pt x="4087" y="42685"/>
                      </a:cubicBezTo>
                    </a:path>
                    <a:path w="30373" h="43200" stroke="0" extrusionOk="0">
                      <a:moveTo>
                        <a:pt x="-1" y="1861"/>
                      </a:moveTo>
                      <a:cubicBezTo>
                        <a:pt x="2761" y="634"/>
                        <a:pt x="5750" y="-1"/>
                        <a:pt x="8773" y="0"/>
                      </a:cubicBezTo>
                      <a:cubicBezTo>
                        <a:pt x="20702" y="0"/>
                        <a:pt x="30373" y="9670"/>
                        <a:pt x="30373" y="21600"/>
                      </a:cubicBezTo>
                      <a:cubicBezTo>
                        <a:pt x="30373" y="33529"/>
                        <a:pt x="20702" y="43200"/>
                        <a:pt x="8773" y="43200"/>
                      </a:cubicBezTo>
                      <a:cubicBezTo>
                        <a:pt x="7196" y="43200"/>
                        <a:pt x="5625" y="43027"/>
                        <a:pt x="4087" y="42685"/>
                      </a:cubicBezTo>
                      <a:lnTo>
                        <a:pt x="8773" y="21600"/>
                      </a:lnTo>
                      <a:lnTo>
                        <a:pt x="-1" y="1861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861" name="Arc 16"/>
                <p:cNvSpPr>
                  <a:spLocks/>
                </p:cNvSpPr>
                <p:nvPr/>
              </p:nvSpPr>
              <p:spPr bwMode="auto">
                <a:xfrm>
                  <a:off x="3148" y="359"/>
                  <a:ext cx="5" cy="44"/>
                </a:xfrm>
                <a:custGeom>
                  <a:avLst/>
                  <a:gdLst>
                    <a:gd name="T0" fmla="*/ 0 w 26286"/>
                    <a:gd name="T1" fmla="*/ 1 h 43200"/>
                    <a:gd name="T2" fmla="*/ 0 w 26286"/>
                    <a:gd name="T3" fmla="*/ 43 h 43200"/>
                    <a:gd name="T4" fmla="*/ 1 w 26286"/>
                    <a:gd name="T5" fmla="*/ 2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6286" h="43200" fill="none" extrusionOk="0">
                      <a:moveTo>
                        <a:pt x="0" y="514"/>
                      </a:moveTo>
                      <a:cubicBezTo>
                        <a:pt x="1538" y="172"/>
                        <a:pt x="3109" y="-1"/>
                        <a:pt x="4686" y="0"/>
                      </a:cubicBezTo>
                      <a:cubicBezTo>
                        <a:pt x="16615" y="0"/>
                        <a:pt x="26286" y="9670"/>
                        <a:pt x="26286" y="21600"/>
                      </a:cubicBezTo>
                      <a:cubicBezTo>
                        <a:pt x="26286" y="33529"/>
                        <a:pt x="16615" y="43200"/>
                        <a:pt x="4686" y="43200"/>
                      </a:cubicBezTo>
                      <a:cubicBezTo>
                        <a:pt x="3109" y="43200"/>
                        <a:pt x="1538" y="43027"/>
                        <a:pt x="0" y="42685"/>
                      </a:cubicBezTo>
                    </a:path>
                    <a:path w="26286" h="43200" stroke="0" extrusionOk="0">
                      <a:moveTo>
                        <a:pt x="0" y="514"/>
                      </a:moveTo>
                      <a:cubicBezTo>
                        <a:pt x="1538" y="172"/>
                        <a:pt x="3109" y="-1"/>
                        <a:pt x="4686" y="0"/>
                      </a:cubicBezTo>
                      <a:cubicBezTo>
                        <a:pt x="16615" y="0"/>
                        <a:pt x="26286" y="9670"/>
                        <a:pt x="26286" y="21600"/>
                      </a:cubicBezTo>
                      <a:cubicBezTo>
                        <a:pt x="26286" y="33529"/>
                        <a:pt x="16615" y="43200"/>
                        <a:pt x="4686" y="43200"/>
                      </a:cubicBezTo>
                      <a:cubicBezTo>
                        <a:pt x="3109" y="43200"/>
                        <a:pt x="1538" y="43027"/>
                        <a:pt x="0" y="42685"/>
                      </a:cubicBezTo>
                      <a:lnTo>
                        <a:pt x="4686" y="21600"/>
                      </a:lnTo>
                      <a:lnTo>
                        <a:pt x="0" y="514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8853" name="Freeform 17"/>
              <p:cNvSpPr>
                <a:spLocks/>
              </p:cNvSpPr>
              <p:nvPr/>
            </p:nvSpPr>
            <p:spPr bwMode="auto">
              <a:xfrm>
                <a:off x="2938" y="421"/>
                <a:ext cx="1040" cy="197"/>
              </a:xfrm>
              <a:custGeom>
                <a:avLst/>
                <a:gdLst>
                  <a:gd name="T0" fmla="*/ 22 w 1040"/>
                  <a:gd name="T1" fmla="*/ 31 h 197"/>
                  <a:gd name="T2" fmla="*/ 70 w 1040"/>
                  <a:gd name="T3" fmla="*/ 46 h 197"/>
                  <a:gd name="T4" fmla="*/ 139 w 1040"/>
                  <a:gd name="T5" fmla="*/ 61 h 197"/>
                  <a:gd name="T6" fmla="*/ 208 w 1040"/>
                  <a:gd name="T7" fmla="*/ 74 h 197"/>
                  <a:gd name="T8" fmla="*/ 275 w 1040"/>
                  <a:gd name="T9" fmla="*/ 86 h 197"/>
                  <a:gd name="T10" fmla="*/ 313 w 1040"/>
                  <a:gd name="T11" fmla="*/ 102 h 197"/>
                  <a:gd name="T12" fmla="*/ 347 w 1040"/>
                  <a:gd name="T13" fmla="*/ 135 h 197"/>
                  <a:gd name="T14" fmla="*/ 397 w 1040"/>
                  <a:gd name="T15" fmla="*/ 178 h 197"/>
                  <a:gd name="T16" fmla="*/ 432 w 1040"/>
                  <a:gd name="T17" fmla="*/ 161 h 197"/>
                  <a:gd name="T18" fmla="*/ 447 w 1040"/>
                  <a:gd name="T19" fmla="*/ 111 h 197"/>
                  <a:gd name="T20" fmla="*/ 473 w 1040"/>
                  <a:gd name="T21" fmla="*/ 89 h 197"/>
                  <a:gd name="T22" fmla="*/ 559 w 1040"/>
                  <a:gd name="T23" fmla="*/ 74 h 197"/>
                  <a:gd name="T24" fmla="*/ 623 w 1040"/>
                  <a:gd name="T25" fmla="*/ 72 h 197"/>
                  <a:gd name="T26" fmla="*/ 701 w 1040"/>
                  <a:gd name="T27" fmla="*/ 74 h 197"/>
                  <a:gd name="T28" fmla="*/ 731 w 1040"/>
                  <a:gd name="T29" fmla="*/ 50 h 197"/>
                  <a:gd name="T30" fmla="*/ 793 w 1040"/>
                  <a:gd name="T31" fmla="*/ 47 h 197"/>
                  <a:gd name="T32" fmla="*/ 862 w 1040"/>
                  <a:gd name="T33" fmla="*/ 78 h 197"/>
                  <a:gd name="T34" fmla="*/ 917 w 1040"/>
                  <a:gd name="T35" fmla="*/ 127 h 197"/>
                  <a:gd name="T36" fmla="*/ 961 w 1040"/>
                  <a:gd name="T37" fmla="*/ 157 h 197"/>
                  <a:gd name="T38" fmla="*/ 998 w 1040"/>
                  <a:gd name="T39" fmla="*/ 173 h 197"/>
                  <a:gd name="T40" fmla="*/ 1032 w 1040"/>
                  <a:gd name="T41" fmla="*/ 169 h 197"/>
                  <a:gd name="T42" fmla="*/ 1005 w 1040"/>
                  <a:gd name="T43" fmla="*/ 135 h 197"/>
                  <a:gd name="T44" fmla="*/ 970 w 1040"/>
                  <a:gd name="T45" fmla="*/ 105 h 197"/>
                  <a:gd name="T46" fmla="*/ 950 w 1040"/>
                  <a:gd name="T47" fmla="*/ 79 h 197"/>
                  <a:gd name="T48" fmla="*/ 935 w 1040"/>
                  <a:gd name="T49" fmla="*/ 57 h 197"/>
                  <a:gd name="T50" fmla="*/ 930 w 1040"/>
                  <a:gd name="T51" fmla="*/ 32 h 197"/>
                  <a:gd name="T52" fmla="*/ 901 w 1040"/>
                  <a:gd name="T53" fmla="*/ 37 h 197"/>
                  <a:gd name="T54" fmla="*/ 874 w 1040"/>
                  <a:gd name="T55" fmla="*/ 29 h 197"/>
                  <a:gd name="T56" fmla="*/ 843 w 1040"/>
                  <a:gd name="T57" fmla="*/ 32 h 197"/>
                  <a:gd name="T58" fmla="*/ 809 w 1040"/>
                  <a:gd name="T59" fmla="*/ 30 h 197"/>
                  <a:gd name="T60" fmla="*/ 774 w 1040"/>
                  <a:gd name="T61" fmla="*/ 33 h 197"/>
                  <a:gd name="T62" fmla="*/ 734 w 1040"/>
                  <a:gd name="T63" fmla="*/ 32 h 197"/>
                  <a:gd name="T64" fmla="*/ 693 w 1040"/>
                  <a:gd name="T65" fmla="*/ 25 h 197"/>
                  <a:gd name="T66" fmla="*/ 654 w 1040"/>
                  <a:gd name="T67" fmla="*/ 24 h 197"/>
                  <a:gd name="T68" fmla="*/ 615 w 1040"/>
                  <a:gd name="T69" fmla="*/ 23 h 197"/>
                  <a:gd name="T70" fmla="*/ 579 w 1040"/>
                  <a:gd name="T71" fmla="*/ 19 h 197"/>
                  <a:gd name="T72" fmla="*/ 540 w 1040"/>
                  <a:gd name="T73" fmla="*/ 11 h 197"/>
                  <a:gd name="T74" fmla="*/ 494 w 1040"/>
                  <a:gd name="T75" fmla="*/ 12 h 197"/>
                  <a:gd name="T76" fmla="*/ 455 w 1040"/>
                  <a:gd name="T77" fmla="*/ 9 h 197"/>
                  <a:gd name="T78" fmla="*/ 415 w 1040"/>
                  <a:gd name="T79" fmla="*/ 15 h 197"/>
                  <a:gd name="T80" fmla="*/ 377 w 1040"/>
                  <a:gd name="T81" fmla="*/ 12 h 197"/>
                  <a:gd name="T82" fmla="*/ 345 w 1040"/>
                  <a:gd name="T83" fmla="*/ 15 h 197"/>
                  <a:gd name="T84" fmla="*/ 307 w 1040"/>
                  <a:gd name="T85" fmla="*/ 12 h 197"/>
                  <a:gd name="T86" fmla="*/ 266 w 1040"/>
                  <a:gd name="T87" fmla="*/ 9 h 197"/>
                  <a:gd name="T88" fmla="*/ 213 w 1040"/>
                  <a:gd name="T89" fmla="*/ 0 h 197"/>
                  <a:gd name="T90" fmla="*/ 152 w 1040"/>
                  <a:gd name="T91" fmla="*/ 0 h 197"/>
                  <a:gd name="T92" fmla="*/ 101 w 1040"/>
                  <a:gd name="T93" fmla="*/ 8 h 197"/>
                  <a:gd name="T94" fmla="*/ 55 w 1040"/>
                  <a:gd name="T95" fmla="*/ 6 h 197"/>
                  <a:gd name="T96" fmla="*/ 10 w 1040"/>
                  <a:gd name="T97" fmla="*/ 15 h 197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1040" h="197">
                    <a:moveTo>
                      <a:pt x="0" y="20"/>
                    </a:moveTo>
                    <a:lnTo>
                      <a:pt x="6" y="24"/>
                    </a:lnTo>
                    <a:lnTo>
                      <a:pt x="13" y="27"/>
                    </a:lnTo>
                    <a:lnTo>
                      <a:pt x="22" y="31"/>
                    </a:lnTo>
                    <a:lnTo>
                      <a:pt x="31" y="34"/>
                    </a:lnTo>
                    <a:lnTo>
                      <a:pt x="42" y="37"/>
                    </a:lnTo>
                    <a:lnTo>
                      <a:pt x="58" y="42"/>
                    </a:lnTo>
                    <a:lnTo>
                      <a:pt x="70" y="46"/>
                    </a:lnTo>
                    <a:lnTo>
                      <a:pt x="86" y="51"/>
                    </a:lnTo>
                    <a:lnTo>
                      <a:pt x="104" y="55"/>
                    </a:lnTo>
                    <a:lnTo>
                      <a:pt x="121" y="59"/>
                    </a:lnTo>
                    <a:lnTo>
                      <a:pt x="139" y="61"/>
                    </a:lnTo>
                    <a:lnTo>
                      <a:pt x="157" y="64"/>
                    </a:lnTo>
                    <a:lnTo>
                      <a:pt x="175" y="67"/>
                    </a:lnTo>
                    <a:lnTo>
                      <a:pt x="191" y="70"/>
                    </a:lnTo>
                    <a:lnTo>
                      <a:pt x="208" y="74"/>
                    </a:lnTo>
                    <a:lnTo>
                      <a:pt x="222" y="76"/>
                    </a:lnTo>
                    <a:lnTo>
                      <a:pt x="242" y="80"/>
                    </a:lnTo>
                    <a:lnTo>
                      <a:pt x="259" y="83"/>
                    </a:lnTo>
                    <a:lnTo>
                      <a:pt x="275" y="86"/>
                    </a:lnTo>
                    <a:lnTo>
                      <a:pt x="286" y="88"/>
                    </a:lnTo>
                    <a:lnTo>
                      <a:pt x="297" y="92"/>
                    </a:lnTo>
                    <a:lnTo>
                      <a:pt x="307" y="97"/>
                    </a:lnTo>
                    <a:lnTo>
                      <a:pt x="313" y="102"/>
                    </a:lnTo>
                    <a:lnTo>
                      <a:pt x="320" y="109"/>
                    </a:lnTo>
                    <a:lnTo>
                      <a:pt x="326" y="115"/>
                    </a:lnTo>
                    <a:lnTo>
                      <a:pt x="336" y="126"/>
                    </a:lnTo>
                    <a:lnTo>
                      <a:pt x="347" y="135"/>
                    </a:lnTo>
                    <a:lnTo>
                      <a:pt x="358" y="146"/>
                    </a:lnTo>
                    <a:lnTo>
                      <a:pt x="370" y="157"/>
                    </a:lnTo>
                    <a:lnTo>
                      <a:pt x="382" y="168"/>
                    </a:lnTo>
                    <a:lnTo>
                      <a:pt x="397" y="178"/>
                    </a:lnTo>
                    <a:lnTo>
                      <a:pt x="410" y="188"/>
                    </a:lnTo>
                    <a:lnTo>
                      <a:pt x="422" y="196"/>
                    </a:lnTo>
                    <a:lnTo>
                      <a:pt x="426" y="180"/>
                    </a:lnTo>
                    <a:lnTo>
                      <a:pt x="432" y="161"/>
                    </a:lnTo>
                    <a:lnTo>
                      <a:pt x="438" y="144"/>
                    </a:lnTo>
                    <a:lnTo>
                      <a:pt x="444" y="128"/>
                    </a:lnTo>
                    <a:lnTo>
                      <a:pt x="445" y="119"/>
                    </a:lnTo>
                    <a:lnTo>
                      <a:pt x="447" y="111"/>
                    </a:lnTo>
                    <a:lnTo>
                      <a:pt x="445" y="104"/>
                    </a:lnTo>
                    <a:lnTo>
                      <a:pt x="439" y="95"/>
                    </a:lnTo>
                    <a:lnTo>
                      <a:pt x="456" y="91"/>
                    </a:lnTo>
                    <a:lnTo>
                      <a:pt x="473" y="89"/>
                    </a:lnTo>
                    <a:lnTo>
                      <a:pt x="494" y="86"/>
                    </a:lnTo>
                    <a:lnTo>
                      <a:pt x="517" y="82"/>
                    </a:lnTo>
                    <a:lnTo>
                      <a:pt x="541" y="77"/>
                    </a:lnTo>
                    <a:lnTo>
                      <a:pt x="559" y="74"/>
                    </a:lnTo>
                    <a:lnTo>
                      <a:pt x="578" y="72"/>
                    </a:lnTo>
                    <a:lnTo>
                      <a:pt x="596" y="69"/>
                    </a:lnTo>
                    <a:lnTo>
                      <a:pt x="611" y="68"/>
                    </a:lnTo>
                    <a:lnTo>
                      <a:pt x="623" y="72"/>
                    </a:lnTo>
                    <a:lnTo>
                      <a:pt x="635" y="77"/>
                    </a:lnTo>
                    <a:lnTo>
                      <a:pt x="646" y="85"/>
                    </a:lnTo>
                    <a:lnTo>
                      <a:pt x="672" y="81"/>
                    </a:lnTo>
                    <a:lnTo>
                      <a:pt x="701" y="74"/>
                    </a:lnTo>
                    <a:lnTo>
                      <a:pt x="721" y="70"/>
                    </a:lnTo>
                    <a:lnTo>
                      <a:pt x="708" y="58"/>
                    </a:lnTo>
                    <a:lnTo>
                      <a:pt x="718" y="54"/>
                    </a:lnTo>
                    <a:lnTo>
                      <a:pt x="731" y="50"/>
                    </a:lnTo>
                    <a:lnTo>
                      <a:pt x="746" y="46"/>
                    </a:lnTo>
                    <a:lnTo>
                      <a:pt x="762" y="44"/>
                    </a:lnTo>
                    <a:lnTo>
                      <a:pt x="777" y="46"/>
                    </a:lnTo>
                    <a:lnTo>
                      <a:pt x="793" y="47"/>
                    </a:lnTo>
                    <a:lnTo>
                      <a:pt x="809" y="50"/>
                    </a:lnTo>
                    <a:lnTo>
                      <a:pt x="826" y="55"/>
                    </a:lnTo>
                    <a:lnTo>
                      <a:pt x="843" y="64"/>
                    </a:lnTo>
                    <a:lnTo>
                      <a:pt x="862" y="78"/>
                    </a:lnTo>
                    <a:lnTo>
                      <a:pt x="877" y="90"/>
                    </a:lnTo>
                    <a:lnTo>
                      <a:pt x="896" y="107"/>
                    </a:lnTo>
                    <a:lnTo>
                      <a:pt x="903" y="114"/>
                    </a:lnTo>
                    <a:lnTo>
                      <a:pt x="917" y="127"/>
                    </a:lnTo>
                    <a:lnTo>
                      <a:pt x="928" y="135"/>
                    </a:lnTo>
                    <a:lnTo>
                      <a:pt x="939" y="143"/>
                    </a:lnTo>
                    <a:lnTo>
                      <a:pt x="950" y="150"/>
                    </a:lnTo>
                    <a:lnTo>
                      <a:pt x="961" y="157"/>
                    </a:lnTo>
                    <a:lnTo>
                      <a:pt x="971" y="161"/>
                    </a:lnTo>
                    <a:lnTo>
                      <a:pt x="980" y="166"/>
                    </a:lnTo>
                    <a:lnTo>
                      <a:pt x="989" y="169"/>
                    </a:lnTo>
                    <a:lnTo>
                      <a:pt x="998" y="173"/>
                    </a:lnTo>
                    <a:lnTo>
                      <a:pt x="1009" y="174"/>
                    </a:lnTo>
                    <a:lnTo>
                      <a:pt x="1021" y="175"/>
                    </a:lnTo>
                    <a:lnTo>
                      <a:pt x="1039" y="175"/>
                    </a:lnTo>
                    <a:lnTo>
                      <a:pt x="1032" y="169"/>
                    </a:lnTo>
                    <a:lnTo>
                      <a:pt x="1024" y="160"/>
                    </a:lnTo>
                    <a:lnTo>
                      <a:pt x="1019" y="154"/>
                    </a:lnTo>
                    <a:lnTo>
                      <a:pt x="1012" y="144"/>
                    </a:lnTo>
                    <a:lnTo>
                      <a:pt x="1005" y="135"/>
                    </a:lnTo>
                    <a:lnTo>
                      <a:pt x="995" y="126"/>
                    </a:lnTo>
                    <a:lnTo>
                      <a:pt x="982" y="117"/>
                    </a:lnTo>
                    <a:lnTo>
                      <a:pt x="975" y="111"/>
                    </a:lnTo>
                    <a:lnTo>
                      <a:pt x="970" y="105"/>
                    </a:lnTo>
                    <a:lnTo>
                      <a:pt x="964" y="97"/>
                    </a:lnTo>
                    <a:lnTo>
                      <a:pt x="959" y="92"/>
                    </a:lnTo>
                    <a:lnTo>
                      <a:pt x="954" y="86"/>
                    </a:lnTo>
                    <a:lnTo>
                      <a:pt x="950" y="79"/>
                    </a:lnTo>
                    <a:lnTo>
                      <a:pt x="946" y="73"/>
                    </a:lnTo>
                    <a:lnTo>
                      <a:pt x="942" y="67"/>
                    </a:lnTo>
                    <a:lnTo>
                      <a:pt x="938" y="61"/>
                    </a:lnTo>
                    <a:lnTo>
                      <a:pt x="935" y="57"/>
                    </a:lnTo>
                    <a:lnTo>
                      <a:pt x="933" y="50"/>
                    </a:lnTo>
                    <a:lnTo>
                      <a:pt x="931" y="44"/>
                    </a:lnTo>
                    <a:lnTo>
                      <a:pt x="931" y="38"/>
                    </a:lnTo>
                    <a:lnTo>
                      <a:pt x="930" y="32"/>
                    </a:lnTo>
                    <a:lnTo>
                      <a:pt x="924" y="36"/>
                    </a:lnTo>
                    <a:lnTo>
                      <a:pt x="915" y="37"/>
                    </a:lnTo>
                    <a:lnTo>
                      <a:pt x="908" y="37"/>
                    </a:lnTo>
                    <a:lnTo>
                      <a:pt x="901" y="37"/>
                    </a:lnTo>
                    <a:lnTo>
                      <a:pt x="893" y="35"/>
                    </a:lnTo>
                    <a:lnTo>
                      <a:pt x="887" y="32"/>
                    </a:lnTo>
                    <a:lnTo>
                      <a:pt x="881" y="31"/>
                    </a:lnTo>
                    <a:lnTo>
                      <a:pt x="874" y="29"/>
                    </a:lnTo>
                    <a:lnTo>
                      <a:pt x="867" y="28"/>
                    </a:lnTo>
                    <a:lnTo>
                      <a:pt x="857" y="29"/>
                    </a:lnTo>
                    <a:lnTo>
                      <a:pt x="849" y="30"/>
                    </a:lnTo>
                    <a:lnTo>
                      <a:pt x="843" y="32"/>
                    </a:lnTo>
                    <a:lnTo>
                      <a:pt x="836" y="34"/>
                    </a:lnTo>
                    <a:lnTo>
                      <a:pt x="829" y="33"/>
                    </a:lnTo>
                    <a:lnTo>
                      <a:pt x="818" y="32"/>
                    </a:lnTo>
                    <a:lnTo>
                      <a:pt x="809" y="30"/>
                    </a:lnTo>
                    <a:lnTo>
                      <a:pt x="802" y="31"/>
                    </a:lnTo>
                    <a:lnTo>
                      <a:pt x="793" y="32"/>
                    </a:lnTo>
                    <a:lnTo>
                      <a:pt x="783" y="33"/>
                    </a:lnTo>
                    <a:lnTo>
                      <a:pt x="774" y="33"/>
                    </a:lnTo>
                    <a:lnTo>
                      <a:pt x="766" y="32"/>
                    </a:lnTo>
                    <a:lnTo>
                      <a:pt x="753" y="30"/>
                    </a:lnTo>
                    <a:lnTo>
                      <a:pt x="745" y="30"/>
                    </a:lnTo>
                    <a:lnTo>
                      <a:pt x="734" y="32"/>
                    </a:lnTo>
                    <a:lnTo>
                      <a:pt x="725" y="32"/>
                    </a:lnTo>
                    <a:lnTo>
                      <a:pt x="714" y="30"/>
                    </a:lnTo>
                    <a:lnTo>
                      <a:pt x="706" y="27"/>
                    </a:lnTo>
                    <a:lnTo>
                      <a:pt x="693" y="25"/>
                    </a:lnTo>
                    <a:lnTo>
                      <a:pt x="684" y="24"/>
                    </a:lnTo>
                    <a:lnTo>
                      <a:pt x="673" y="23"/>
                    </a:lnTo>
                    <a:lnTo>
                      <a:pt x="664" y="22"/>
                    </a:lnTo>
                    <a:lnTo>
                      <a:pt x="654" y="24"/>
                    </a:lnTo>
                    <a:lnTo>
                      <a:pt x="643" y="27"/>
                    </a:lnTo>
                    <a:lnTo>
                      <a:pt x="632" y="24"/>
                    </a:lnTo>
                    <a:lnTo>
                      <a:pt x="624" y="24"/>
                    </a:lnTo>
                    <a:lnTo>
                      <a:pt x="615" y="23"/>
                    </a:lnTo>
                    <a:lnTo>
                      <a:pt x="606" y="24"/>
                    </a:lnTo>
                    <a:lnTo>
                      <a:pt x="597" y="24"/>
                    </a:lnTo>
                    <a:lnTo>
                      <a:pt x="587" y="23"/>
                    </a:lnTo>
                    <a:lnTo>
                      <a:pt x="579" y="19"/>
                    </a:lnTo>
                    <a:lnTo>
                      <a:pt x="571" y="17"/>
                    </a:lnTo>
                    <a:lnTo>
                      <a:pt x="561" y="14"/>
                    </a:lnTo>
                    <a:lnTo>
                      <a:pt x="551" y="12"/>
                    </a:lnTo>
                    <a:lnTo>
                      <a:pt x="540" y="11"/>
                    </a:lnTo>
                    <a:lnTo>
                      <a:pt x="530" y="10"/>
                    </a:lnTo>
                    <a:lnTo>
                      <a:pt x="516" y="12"/>
                    </a:lnTo>
                    <a:lnTo>
                      <a:pt x="503" y="12"/>
                    </a:lnTo>
                    <a:lnTo>
                      <a:pt x="494" y="12"/>
                    </a:lnTo>
                    <a:lnTo>
                      <a:pt x="482" y="10"/>
                    </a:lnTo>
                    <a:lnTo>
                      <a:pt x="473" y="10"/>
                    </a:lnTo>
                    <a:lnTo>
                      <a:pt x="463" y="9"/>
                    </a:lnTo>
                    <a:lnTo>
                      <a:pt x="455" y="9"/>
                    </a:lnTo>
                    <a:lnTo>
                      <a:pt x="442" y="10"/>
                    </a:lnTo>
                    <a:lnTo>
                      <a:pt x="431" y="12"/>
                    </a:lnTo>
                    <a:lnTo>
                      <a:pt x="424" y="15"/>
                    </a:lnTo>
                    <a:lnTo>
                      <a:pt x="415" y="15"/>
                    </a:lnTo>
                    <a:lnTo>
                      <a:pt x="406" y="15"/>
                    </a:lnTo>
                    <a:lnTo>
                      <a:pt x="397" y="14"/>
                    </a:lnTo>
                    <a:lnTo>
                      <a:pt x="386" y="12"/>
                    </a:lnTo>
                    <a:lnTo>
                      <a:pt x="377" y="12"/>
                    </a:lnTo>
                    <a:lnTo>
                      <a:pt x="369" y="12"/>
                    </a:lnTo>
                    <a:lnTo>
                      <a:pt x="363" y="13"/>
                    </a:lnTo>
                    <a:lnTo>
                      <a:pt x="354" y="15"/>
                    </a:lnTo>
                    <a:lnTo>
                      <a:pt x="345" y="15"/>
                    </a:lnTo>
                    <a:lnTo>
                      <a:pt x="336" y="15"/>
                    </a:lnTo>
                    <a:lnTo>
                      <a:pt x="328" y="14"/>
                    </a:lnTo>
                    <a:lnTo>
                      <a:pt x="319" y="13"/>
                    </a:lnTo>
                    <a:lnTo>
                      <a:pt x="307" y="12"/>
                    </a:lnTo>
                    <a:lnTo>
                      <a:pt x="296" y="12"/>
                    </a:lnTo>
                    <a:lnTo>
                      <a:pt x="286" y="12"/>
                    </a:lnTo>
                    <a:lnTo>
                      <a:pt x="276" y="11"/>
                    </a:lnTo>
                    <a:lnTo>
                      <a:pt x="266" y="9"/>
                    </a:lnTo>
                    <a:lnTo>
                      <a:pt x="255" y="6"/>
                    </a:lnTo>
                    <a:lnTo>
                      <a:pt x="245" y="4"/>
                    </a:lnTo>
                    <a:lnTo>
                      <a:pt x="230" y="1"/>
                    </a:lnTo>
                    <a:lnTo>
                      <a:pt x="213" y="0"/>
                    </a:lnTo>
                    <a:lnTo>
                      <a:pt x="196" y="0"/>
                    </a:lnTo>
                    <a:lnTo>
                      <a:pt x="181" y="1"/>
                    </a:lnTo>
                    <a:lnTo>
                      <a:pt x="162" y="0"/>
                    </a:lnTo>
                    <a:lnTo>
                      <a:pt x="152" y="0"/>
                    </a:lnTo>
                    <a:lnTo>
                      <a:pt x="142" y="2"/>
                    </a:lnTo>
                    <a:lnTo>
                      <a:pt x="132" y="0"/>
                    </a:lnTo>
                    <a:lnTo>
                      <a:pt x="120" y="1"/>
                    </a:lnTo>
                    <a:lnTo>
                      <a:pt x="101" y="8"/>
                    </a:lnTo>
                    <a:lnTo>
                      <a:pt x="89" y="7"/>
                    </a:lnTo>
                    <a:lnTo>
                      <a:pt x="77" y="6"/>
                    </a:lnTo>
                    <a:lnTo>
                      <a:pt x="65" y="6"/>
                    </a:lnTo>
                    <a:lnTo>
                      <a:pt x="55" y="6"/>
                    </a:lnTo>
                    <a:lnTo>
                      <a:pt x="43" y="7"/>
                    </a:lnTo>
                    <a:lnTo>
                      <a:pt x="31" y="9"/>
                    </a:lnTo>
                    <a:lnTo>
                      <a:pt x="20" y="12"/>
                    </a:lnTo>
                    <a:lnTo>
                      <a:pt x="10" y="15"/>
                    </a:lnTo>
                    <a:lnTo>
                      <a:pt x="0" y="17"/>
                    </a:lnTo>
                    <a:lnTo>
                      <a:pt x="0" y="20"/>
                    </a:lnTo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8854" name="Group 18"/>
              <p:cNvGrpSpPr>
                <a:grpSpLocks/>
              </p:cNvGrpSpPr>
              <p:nvPr/>
            </p:nvGrpSpPr>
            <p:grpSpPr bwMode="auto">
              <a:xfrm>
                <a:off x="3147" y="276"/>
                <a:ext cx="151" cy="95"/>
                <a:chOff x="3147" y="276"/>
                <a:chExt cx="151" cy="95"/>
              </a:xfrm>
            </p:grpSpPr>
            <p:sp>
              <p:nvSpPr>
                <p:cNvPr id="8855" name="Freeform 19"/>
                <p:cNvSpPr>
                  <a:spLocks/>
                </p:cNvSpPr>
                <p:nvPr/>
              </p:nvSpPr>
              <p:spPr bwMode="auto">
                <a:xfrm>
                  <a:off x="3147" y="276"/>
                  <a:ext cx="151" cy="92"/>
                </a:xfrm>
                <a:custGeom>
                  <a:avLst/>
                  <a:gdLst>
                    <a:gd name="T0" fmla="*/ 140 w 151"/>
                    <a:gd name="T1" fmla="*/ 9 h 92"/>
                    <a:gd name="T2" fmla="*/ 132 w 151"/>
                    <a:gd name="T3" fmla="*/ 17 h 92"/>
                    <a:gd name="T4" fmla="*/ 127 w 151"/>
                    <a:gd name="T5" fmla="*/ 22 h 92"/>
                    <a:gd name="T6" fmla="*/ 123 w 151"/>
                    <a:gd name="T7" fmla="*/ 27 h 92"/>
                    <a:gd name="T8" fmla="*/ 118 w 151"/>
                    <a:gd name="T9" fmla="*/ 32 h 92"/>
                    <a:gd name="T10" fmla="*/ 114 w 151"/>
                    <a:gd name="T11" fmla="*/ 37 h 92"/>
                    <a:gd name="T12" fmla="*/ 111 w 151"/>
                    <a:gd name="T13" fmla="*/ 42 h 92"/>
                    <a:gd name="T14" fmla="*/ 107 w 151"/>
                    <a:gd name="T15" fmla="*/ 48 h 92"/>
                    <a:gd name="T16" fmla="*/ 104 w 151"/>
                    <a:gd name="T17" fmla="*/ 54 h 92"/>
                    <a:gd name="T18" fmla="*/ 101 w 151"/>
                    <a:gd name="T19" fmla="*/ 61 h 92"/>
                    <a:gd name="T20" fmla="*/ 99 w 151"/>
                    <a:gd name="T21" fmla="*/ 68 h 92"/>
                    <a:gd name="T22" fmla="*/ 97 w 151"/>
                    <a:gd name="T23" fmla="*/ 75 h 92"/>
                    <a:gd name="T24" fmla="*/ 97 w 151"/>
                    <a:gd name="T25" fmla="*/ 82 h 92"/>
                    <a:gd name="T26" fmla="*/ 97 w 151"/>
                    <a:gd name="T27" fmla="*/ 91 h 92"/>
                    <a:gd name="T28" fmla="*/ 0 w 151"/>
                    <a:gd name="T29" fmla="*/ 90 h 92"/>
                    <a:gd name="T30" fmla="*/ 3 w 151"/>
                    <a:gd name="T31" fmla="*/ 85 h 92"/>
                    <a:gd name="T32" fmla="*/ 8 w 151"/>
                    <a:gd name="T33" fmla="*/ 78 h 92"/>
                    <a:gd name="T34" fmla="*/ 13 w 151"/>
                    <a:gd name="T35" fmla="*/ 71 h 92"/>
                    <a:gd name="T36" fmla="*/ 18 w 151"/>
                    <a:gd name="T37" fmla="*/ 65 h 92"/>
                    <a:gd name="T38" fmla="*/ 25 w 151"/>
                    <a:gd name="T39" fmla="*/ 58 h 92"/>
                    <a:gd name="T40" fmla="*/ 32 w 151"/>
                    <a:gd name="T41" fmla="*/ 51 h 92"/>
                    <a:gd name="T42" fmla="*/ 39 w 151"/>
                    <a:gd name="T43" fmla="*/ 45 h 92"/>
                    <a:gd name="T44" fmla="*/ 47 w 151"/>
                    <a:gd name="T45" fmla="*/ 39 h 92"/>
                    <a:gd name="T46" fmla="*/ 56 w 151"/>
                    <a:gd name="T47" fmla="*/ 32 h 92"/>
                    <a:gd name="T48" fmla="*/ 66 w 151"/>
                    <a:gd name="T49" fmla="*/ 24 h 92"/>
                    <a:gd name="T50" fmla="*/ 75 w 151"/>
                    <a:gd name="T51" fmla="*/ 19 h 92"/>
                    <a:gd name="T52" fmla="*/ 83 w 151"/>
                    <a:gd name="T53" fmla="*/ 15 h 92"/>
                    <a:gd name="T54" fmla="*/ 91 w 151"/>
                    <a:gd name="T55" fmla="*/ 12 h 92"/>
                    <a:gd name="T56" fmla="*/ 99 w 151"/>
                    <a:gd name="T57" fmla="*/ 9 h 92"/>
                    <a:gd name="T58" fmla="*/ 107 w 151"/>
                    <a:gd name="T59" fmla="*/ 6 h 92"/>
                    <a:gd name="T60" fmla="*/ 117 w 151"/>
                    <a:gd name="T61" fmla="*/ 4 h 92"/>
                    <a:gd name="T62" fmla="*/ 127 w 151"/>
                    <a:gd name="T63" fmla="*/ 2 h 92"/>
                    <a:gd name="T64" fmla="*/ 135 w 151"/>
                    <a:gd name="T65" fmla="*/ 1 h 92"/>
                    <a:gd name="T66" fmla="*/ 143 w 151"/>
                    <a:gd name="T67" fmla="*/ 0 h 92"/>
                    <a:gd name="T68" fmla="*/ 150 w 151"/>
                    <a:gd name="T69" fmla="*/ 0 h 92"/>
                    <a:gd name="T70" fmla="*/ 140 w 151"/>
                    <a:gd name="T71" fmla="*/ 9 h 92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51" h="92">
                      <a:moveTo>
                        <a:pt x="140" y="9"/>
                      </a:moveTo>
                      <a:lnTo>
                        <a:pt x="132" y="17"/>
                      </a:lnTo>
                      <a:lnTo>
                        <a:pt x="127" y="22"/>
                      </a:lnTo>
                      <a:lnTo>
                        <a:pt x="123" y="27"/>
                      </a:lnTo>
                      <a:lnTo>
                        <a:pt x="118" y="32"/>
                      </a:lnTo>
                      <a:lnTo>
                        <a:pt x="114" y="37"/>
                      </a:lnTo>
                      <a:lnTo>
                        <a:pt x="111" y="42"/>
                      </a:lnTo>
                      <a:lnTo>
                        <a:pt x="107" y="48"/>
                      </a:lnTo>
                      <a:lnTo>
                        <a:pt x="104" y="54"/>
                      </a:lnTo>
                      <a:lnTo>
                        <a:pt x="101" y="61"/>
                      </a:lnTo>
                      <a:lnTo>
                        <a:pt x="99" y="68"/>
                      </a:lnTo>
                      <a:lnTo>
                        <a:pt x="97" y="75"/>
                      </a:lnTo>
                      <a:lnTo>
                        <a:pt x="97" y="82"/>
                      </a:lnTo>
                      <a:lnTo>
                        <a:pt x="97" y="91"/>
                      </a:lnTo>
                      <a:lnTo>
                        <a:pt x="0" y="90"/>
                      </a:lnTo>
                      <a:lnTo>
                        <a:pt x="3" y="85"/>
                      </a:lnTo>
                      <a:lnTo>
                        <a:pt x="8" y="78"/>
                      </a:lnTo>
                      <a:lnTo>
                        <a:pt x="13" y="71"/>
                      </a:lnTo>
                      <a:lnTo>
                        <a:pt x="18" y="65"/>
                      </a:lnTo>
                      <a:lnTo>
                        <a:pt x="25" y="58"/>
                      </a:lnTo>
                      <a:lnTo>
                        <a:pt x="32" y="51"/>
                      </a:lnTo>
                      <a:lnTo>
                        <a:pt x="39" y="45"/>
                      </a:lnTo>
                      <a:lnTo>
                        <a:pt x="47" y="39"/>
                      </a:lnTo>
                      <a:lnTo>
                        <a:pt x="56" y="32"/>
                      </a:lnTo>
                      <a:lnTo>
                        <a:pt x="66" y="24"/>
                      </a:lnTo>
                      <a:lnTo>
                        <a:pt x="75" y="19"/>
                      </a:lnTo>
                      <a:lnTo>
                        <a:pt x="83" y="15"/>
                      </a:lnTo>
                      <a:lnTo>
                        <a:pt x="91" y="12"/>
                      </a:lnTo>
                      <a:lnTo>
                        <a:pt x="99" y="9"/>
                      </a:lnTo>
                      <a:lnTo>
                        <a:pt x="107" y="6"/>
                      </a:lnTo>
                      <a:lnTo>
                        <a:pt x="117" y="4"/>
                      </a:lnTo>
                      <a:lnTo>
                        <a:pt x="127" y="2"/>
                      </a:lnTo>
                      <a:lnTo>
                        <a:pt x="135" y="1"/>
                      </a:lnTo>
                      <a:lnTo>
                        <a:pt x="143" y="0"/>
                      </a:lnTo>
                      <a:lnTo>
                        <a:pt x="150" y="0"/>
                      </a:lnTo>
                      <a:lnTo>
                        <a:pt x="140" y="9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56" name="Freeform 20"/>
                <p:cNvSpPr>
                  <a:spLocks/>
                </p:cNvSpPr>
                <p:nvPr/>
              </p:nvSpPr>
              <p:spPr bwMode="auto">
                <a:xfrm>
                  <a:off x="3150" y="368"/>
                  <a:ext cx="86" cy="3"/>
                </a:xfrm>
                <a:custGeom>
                  <a:avLst/>
                  <a:gdLst>
                    <a:gd name="T0" fmla="*/ 0 w 86"/>
                    <a:gd name="T1" fmla="*/ 2 h 3"/>
                    <a:gd name="T2" fmla="*/ 0 w 86"/>
                    <a:gd name="T3" fmla="*/ 1 h 3"/>
                    <a:gd name="T4" fmla="*/ 2 w 86"/>
                    <a:gd name="T5" fmla="*/ 0 h 3"/>
                    <a:gd name="T6" fmla="*/ 85 w 86"/>
                    <a:gd name="T7" fmla="*/ 0 h 3"/>
                    <a:gd name="T8" fmla="*/ 85 w 86"/>
                    <a:gd name="T9" fmla="*/ 2 h 3"/>
                    <a:gd name="T10" fmla="*/ 0 w 86"/>
                    <a:gd name="T11" fmla="*/ 2 h 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86" h="3">
                      <a:moveTo>
                        <a:pt x="0" y="2"/>
                      </a:moveTo>
                      <a:lnTo>
                        <a:pt x="0" y="1"/>
                      </a:lnTo>
                      <a:lnTo>
                        <a:pt x="2" y="0"/>
                      </a:lnTo>
                      <a:lnTo>
                        <a:pt x="85" y="0"/>
                      </a:lnTo>
                      <a:lnTo>
                        <a:pt x="85" y="2"/>
                      </a:lnTo>
                      <a:lnTo>
                        <a:pt x="0" y="2"/>
                      </a:lnTo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8344" name="Rectangle 21"/>
            <p:cNvSpPr>
              <a:spLocks noChangeArrowheads="1"/>
            </p:cNvSpPr>
            <p:nvPr/>
          </p:nvSpPr>
          <p:spPr bwMode="auto">
            <a:xfrm>
              <a:off x="611" y="846"/>
              <a:ext cx="2116" cy="5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/>
            <a:p>
              <a:pPr eaLnBrk="0" hangingPunct="0"/>
              <a:r>
                <a:rPr kumimoji="1" lang="en-US" altLang="zh-CN" dirty="0">
                  <a:latin typeface="Comic Sans MS" pitchFamily="66" charset="0"/>
                </a:rPr>
                <a:t>Massively Parallel Processors</a:t>
              </a:r>
            </a:p>
          </p:txBody>
        </p:sp>
        <p:sp>
          <p:nvSpPr>
            <p:cNvPr id="8345" name="Rectangle 22"/>
            <p:cNvSpPr>
              <a:spLocks noChangeArrowheads="1"/>
            </p:cNvSpPr>
            <p:nvPr/>
          </p:nvSpPr>
          <p:spPr bwMode="auto">
            <a:xfrm>
              <a:off x="3978" y="594"/>
              <a:ext cx="963" cy="5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eaLnBrk="0" hangingPunct="0"/>
              <a:r>
                <a:rPr kumimoji="1" lang="en-US" altLang="zh-CN" dirty="0">
                  <a:latin typeface="Comic Sans MS" pitchFamily="66" charset="0"/>
                </a:rPr>
                <a:t>Mini-</a:t>
              </a:r>
            </a:p>
            <a:p>
              <a:pPr eaLnBrk="0" hangingPunct="0"/>
              <a:r>
                <a:rPr kumimoji="1" lang="en-US" altLang="zh-CN" dirty="0">
                  <a:latin typeface="Comic Sans MS" pitchFamily="66" charset="0"/>
                </a:rPr>
                <a:t>computer</a:t>
              </a:r>
            </a:p>
          </p:txBody>
        </p:sp>
        <p:grpSp>
          <p:nvGrpSpPr>
            <p:cNvPr id="8346" name="Group 23"/>
            <p:cNvGrpSpPr>
              <a:grpSpLocks/>
            </p:cNvGrpSpPr>
            <p:nvPr/>
          </p:nvGrpSpPr>
          <p:grpSpPr bwMode="auto">
            <a:xfrm>
              <a:off x="4070" y="333"/>
              <a:ext cx="710" cy="239"/>
              <a:chOff x="4070" y="333"/>
              <a:chExt cx="710" cy="239"/>
            </a:xfrm>
          </p:grpSpPr>
          <p:sp>
            <p:nvSpPr>
              <p:cNvPr id="8834" name="Freeform 24"/>
              <p:cNvSpPr>
                <a:spLocks/>
              </p:cNvSpPr>
              <p:nvPr/>
            </p:nvSpPr>
            <p:spPr bwMode="auto">
              <a:xfrm>
                <a:off x="4250" y="352"/>
                <a:ext cx="84" cy="64"/>
              </a:xfrm>
              <a:custGeom>
                <a:avLst/>
                <a:gdLst>
                  <a:gd name="T0" fmla="*/ 0 w 84"/>
                  <a:gd name="T1" fmla="*/ 63 h 64"/>
                  <a:gd name="T2" fmla="*/ 3 w 84"/>
                  <a:gd name="T3" fmla="*/ 57 h 64"/>
                  <a:gd name="T4" fmla="*/ 7 w 84"/>
                  <a:gd name="T5" fmla="*/ 50 h 64"/>
                  <a:gd name="T6" fmla="*/ 12 w 84"/>
                  <a:gd name="T7" fmla="*/ 44 h 64"/>
                  <a:gd name="T8" fmla="*/ 17 w 84"/>
                  <a:gd name="T9" fmla="*/ 38 h 64"/>
                  <a:gd name="T10" fmla="*/ 23 w 84"/>
                  <a:gd name="T11" fmla="*/ 31 h 64"/>
                  <a:gd name="T12" fmla="*/ 29 w 84"/>
                  <a:gd name="T13" fmla="*/ 24 h 64"/>
                  <a:gd name="T14" fmla="*/ 35 w 84"/>
                  <a:gd name="T15" fmla="*/ 19 h 64"/>
                  <a:gd name="T16" fmla="*/ 40 w 84"/>
                  <a:gd name="T17" fmla="*/ 14 h 64"/>
                  <a:gd name="T18" fmla="*/ 46 w 84"/>
                  <a:gd name="T19" fmla="*/ 10 h 64"/>
                  <a:gd name="T20" fmla="*/ 53 w 84"/>
                  <a:gd name="T21" fmla="*/ 7 h 64"/>
                  <a:gd name="T22" fmla="*/ 59 w 84"/>
                  <a:gd name="T23" fmla="*/ 4 h 64"/>
                  <a:gd name="T24" fmla="*/ 66 w 84"/>
                  <a:gd name="T25" fmla="*/ 1 h 64"/>
                  <a:gd name="T26" fmla="*/ 73 w 84"/>
                  <a:gd name="T27" fmla="*/ 0 h 64"/>
                  <a:gd name="T28" fmla="*/ 79 w 84"/>
                  <a:gd name="T29" fmla="*/ 0 h 64"/>
                  <a:gd name="T30" fmla="*/ 83 w 84"/>
                  <a:gd name="T31" fmla="*/ 1 h 64"/>
                  <a:gd name="T32" fmla="*/ 79 w 84"/>
                  <a:gd name="T33" fmla="*/ 5 h 64"/>
                  <a:gd name="T34" fmla="*/ 74 w 84"/>
                  <a:gd name="T35" fmla="*/ 11 h 64"/>
                  <a:gd name="T36" fmla="*/ 70 w 84"/>
                  <a:gd name="T37" fmla="*/ 16 h 64"/>
                  <a:gd name="T38" fmla="*/ 65 w 84"/>
                  <a:gd name="T39" fmla="*/ 23 h 64"/>
                  <a:gd name="T40" fmla="*/ 61 w 84"/>
                  <a:gd name="T41" fmla="*/ 29 h 64"/>
                  <a:gd name="T42" fmla="*/ 58 w 84"/>
                  <a:gd name="T43" fmla="*/ 35 h 64"/>
                  <a:gd name="T44" fmla="*/ 56 w 84"/>
                  <a:gd name="T45" fmla="*/ 41 h 64"/>
                  <a:gd name="T46" fmla="*/ 53 w 84"/>
                  <a:gd name="T47" fmla="*/ 50 h 64"/>
                  <a:gd name="T48" fmla="*/ 53 w 84"/>
                  <a:gd name="T49" fmla="*/ 57 h 64"/>
                  <a:gd name="T50" fmla="*/ 53 w 84"/>
                  <a:gd name="T51" fmla="*/ 63 h 64"/>
                  <a:gd name="T52" fmla="*/ 0 w 84"/>
                  <a:gd name="T53" fmla="*/ 63 h 64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84" h="64">
                    <a:moveTo>
                      <a:pt x="0" y="63"/>
                    </a:moveTo>
                    <a:lnTo>
                      <a:pt x="3" y="57"/>
                    </a:lnTo>
                    <a:lnTo>
                      <a:pt x="7" y="50"/>
                    </a:lnTo>
                    <a:lnTo>
                      <a:pt x="12" y="44"/>
                    </a:lnTo>
                    <a:lnTo>
                      <a:pt x="17" y="38"/>
                    </a:lnTo>
                    <a:lnTo>
                      <a:pt x="23" y="31"/>
                    </a:lnTo>
                    <a:lnTo>
                      <a:pt x="29" y="24"/>
                    </a:lnTo>
                    <a:lnTo>
                      <a:pt x="35" y="19"/>
                    </a:lnTo>
                    <a:lnTo>
                      <a:pt x="40" y="14"/>
                    </a:lnTo>
                    <a:lnTo>
                      <a:pt x="46" y="10"/>
                    </a:lnTo>
                    <a:lnTo>
                      <a:pt x="53" y="7"/>
                    </a:lnTo>
                    <a:lnTo>
                      <a:pt x="59" y="4"/>
                    </a:lnTo>
                    <a:lnTo>
                      <a:pt x="66" y="1"/>
                    </a:lnTo>
                    <a:lnTo>
                      <a:pt x="73" y="0"/>
                    </a:lnTo>
                    <a:lnTo>
                      <a:pt x="79" y="0"/>
                    </a:lnTo>
                    <a:lnTo>
                      <a:pt x="83" y="1"/>
                    </a:lnTo>
                    <a:lnTo>
                      <a:pt x="79" y="5"/>
                    </a:lnTo>
                    <a:lnTo>
                      <a:pt x="74" y="11"/>
                    </a:lnTo>
                    <a:lnTo>
                      <a:pt x="70" y="16"/>
                    </a:lnTo>
                    <a:lnTo>
                      <a:pt x="65" y="23"/>
                    </a:lnTo>
                    <a:lnTo>
                      <a:pt x="61" y="29"/>
                    </a:lnTo>
                    <a:lnTo>
                      <a:pt x="58" y="35"/>
                    </a:lnTo>
                    <a:lnTo>
                      <a:pt x="56" y="41"/>
                    </a:lnTo>
                    <a:lnTo>
                      <a:pt x="53" y="50"/>
                    </a:lnTo>
                    <a:lnTo>
                      <a:pt x="53" y="57"/>
                    </a:lnTo>
                    <a:lnTo>
                      <a:pt x="53" y="63"/>
                    </a:lnTo>
                    <a:lnTo>
                      <a:pt x="0" y="63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35" name="Freeform 25"/>
              <p:cNvSpPr>
                <a:spLocks/>
              </p:cNvSpPr>
              <p:nvPr/>
            </p:nvSpPr>
            <p:spPr bwMode="auto">
              <a:xfrm>
                <a:off x="4070" y="365"/>
                <a:ext cx="710" cy="207"/>
              </a:xfrm>
              <a:custGeom>
                <a:avLst/>
                <a:gdLst>
                  <a:gd name="T0" fmla="*/ 8 w 710"/>
                  <a:gd name="T1" fmla="*/ 83 h 207"/>
                  <a:gd name="T2" fmla="*/ 30 w 710"/>
                  <a:gd name="T3" fmla="*/ 92 h 207"/>
                  <a:gd name="T4" fmla="*/ 62 w 710"/>
                  <a:gd name="T5" fmla="*/ 102 h 207"/>
                  <a:gd name="T6" fmla="*/ 97 w 710"/>
                  <a:gd name="T7" fmla="*/ 109 h 207"/>
                  <a:gd name="T8" fmla="*/ 131 w 710"/>
                  <a:gd name="T9" fmla="*/ 115 h 207"/>
                  <a:gd name="T10" fmla="*/ 166 w 710"/>
                  <a:gd name="T11" fmla="*/ 122 h 207"/>
                  <a:gd name="T12" fmla="*/ 195 w 710"/>
                  <a:gd name="T13" fmla="*/ 128 h 207"/>
                  <a:gd name="T14" fmla="*/ 212 w 710"/>
                  <a:gd name="T15" fmla="*/ 137 h 207"/>
                  <a:gd name="T16" fmla="*/ 229 w 710"/>
                  <a:gd name="T17" fmla="*/ 153 h 207"/>
                  <a:gd name="T18" fmla="*/ 253 w 710"/>
                  <a:gd name="T19" fmla="*/ 177 h 207"/>
                  <a:gd name="T20" fmla="*/ 278 w 710"/>
                  <a:gd name="T21" fmla="*/ 198 h 207"/>
                  <a:gd name="T22" fmla="*/ 295 w 710"/>
                  <a:gd name="T23" fmla="*/ 181 h 207"/>
                  <a:gd name="T24" fmla="*/ 305 w 710"/>
                  <a:gd name="T25" fmla="*/ 145 h 207"/>
                  <a:gd name="T26" fmla="*/ 312 w 710"/>
                  <a:gd name="T27" fmla="*/ 130 h 207"/>
                  <a:gd name="T28" fmla="*/ 353 w 710"/>
                  <a:gd name="T29" fmla="*/ 123 h 207"/>
                  <a:gd name="T30" fmla="*/ 394 w 710"/>
                  <a:gd name="T31" fmla="*/ 116 h 207"/>
                  <a:gd name="T32" fmla="*/ 425 w 710"/>
                  <a:gd name="T33" fmla="*/ 116 h 207"/>
                  <a:gd name="T34" fmla="*/ 458 w 710"/>
                  <a:gd name="T35" fmla="*/ 122 h 207"/>
                  <a:gd name="T36" fmla="*/ 483 w 710"/>
                  <a:gd name="T37" fmla="*/ 105 h 207"/>
                  <a:gd name="T38" fmla="*/ 508 w 710"/>
                  <a:gd name="T39" fmla="*/ 98 h 207"/>
                  <a:gd name="T40" fmla="*/ 540 w 710"/>
                  <a:gd name="T41" fmla="*/ 98 h 207"/>
                  <a:gd name="T42" fmla="*/ 573 w 710"/>
                  <a:gd name="T43" fmla="*/ 111 h 207"/>
                  <a:gd name="T44" fmla="*/ 610 w 710"/>
                  <a:gd name="T45" fmla="*/ 141 h 207"/>
                  <a:gd name="T46" fmla="*/ 653 w 710"/>
                  <a:gd name="T47" fmla="*/ 176 h 207"/>
                  <a:gd name="T48" fmla="*/ 696 w 710"/>
                  <a:gd name="T49" fmla="*/ 190 h 207"/>
                  <a:gd name="T50" fmla="*/ 697 w 710"/>
                  <a:gd name="T51" fmla="*/ 178 h 207"/>
                  <a:gd name="T52" fmla="*/ 677 w 710"/>
                  <a:gd name="T53" fmla="*/ 153 h 207"/>
                  <a:gd name="T54" fmla="*/ 653 w 710"/>
                  <a:gd name="T55" fmla="*/ 128 h 207"/>
                  <a:gd name="T56" fmla="*/ 637 w 710"/>
                  <a:gd name="T57" fmla="*/ 104 h 207"/>
                  <a:gd name="T58" fmla="*/ 637 w 710"/>
                  <a:gd name="T59" fmla="*/ 78 h 207"/>
                  <a:gd name="T60" fmla="*/ 654 w 710"/>
                  <a:gd name="T61" fmla="*/ 51 h 207"/>
                  <a:gd name="T62" fmla="*/ 676 w 710"/>
                  <a:gd name="T63" fmla="*/ 32 h 207"/>
                  <a:gd name="T64" fmla="*/ 695 w 710"/>
                  <a:gd name="T65" fmla="*/ 16 h 207"/>
                  <a:gd name="T66" fmla="*/ 696 w 710"/>
                  <a:gd name="T67" fmla="*/ 7 h 207"/>
                  <a:gd name="T68" fmla="*/ 669 w 710"/>
                  <a:gd name="T69" fmla="*/ 8 h 207"/>
                  <a:gd name="T70" fmla="*/ 645 w 710"/>
                  <a:gd name="T71" fmla="*/ 14 h 207"/>
                  <a:gd name="T72" fmla="*/ 623 w 710"/>
                  <a:gd name="T73" fmla="*/ 26 h 207"/>
                  <a:gd name="T74" fmla="*/ 585 w 710"/>
                  <a:gd name="T75" fmla="*/ 49 h 207"/>
                  <a:gd name="T76" fmla="*/ 540 w 710"/>
                  <a:gd name="T77" fmla="*/ 52 h 207"/>
                  <a:gd name="T78" fmla="*/ 484 w 710"/>
                  <a:gd name="T79" fmla="*/ 46 h 207"/>
                  <a:gd name="T80" fmla="*/ 449 w 710"/>
                  <a:gd name="T81" fmla="*/ 32 h 207"/>
                  <a:gd name="T82" fmla="*/ 438 w 710"/>
                  <a:gd name="T83" fmla="*/ 16 h 207"/>
                  <a:gd name="T84" fmla="*/ 388 w 710"/>
                  <a:gd name="T85" fmla="*/ 18 h 207"/>
                  <a:gd name="T86" fmla="*/ 347 w 710"/>
                  <a:gd name="T87" fmla="*/ 5 h 207"/>
                  <a:gd name="T88" fmla="*/ 192 w 710"/>
                  <a:gd name="T89" fmla="*/ 0 h 207"/>
                  <a:gd name="T90" fmla="*/ 104 w 710"/>
                  <a:gd name="T91" fmla="*/ 9 h 207"/>
                  <a:gd name="T92" fmla="*/ 26 w 710"/>
                  <a:gd name="T93" fmla="*/ 34 h 207"/>
                  <a:gd name="T94" fmla="*/ 26 w 710"/>
                  <a:gd name="T95" fmla="*/ 48 h 207"/>
                  <a:gd name="T96" fmla="*/ 8 w 710"/>
                  <a:gd name="T97" fmla="*/ 64 h 207"/>
                  <a:gd name="T98" fmla="*/ 2 w 710"/>
                  <a:gd name="T99" fmla="*/ 74 h 207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710" h="207">
                    <a:moveTo>
                      <a:pt x="0" y="78"/>
                    </a:moveTo>
                    <a:lnTo>
                      <a:pt x="3" y="80"/>
                    </a:lnTo>
                    <a:lnTo>
                      <a:pt x="8" y="83"/>
                    </a:lnTo>
                    <a:lnTo>
                      <a:pt x="16" y="87"/>
                    </a:lnTo>
                    <a:lnTo>
                      <a:pt x="22" y="89"/>
                    </a:lnTo>
                    <a:lnTo>
                      <a:pt x="30" y="92"/>
                    </a:lnTo>
                    <a:lnTo>
                      <a:pt x="41" y="95"/>
                    </a:lnTo>
                    <a:lnTo>
                      <a:pt x="52" y="99"/>
                    </a:lnTo>
                    <a:lnTo>
                      <a:pt x="62" y="102"/>
                    </a:lnTo>
                    <a:lnTo>
                      <a:pt x="73" y="104"/>
                    </a:lnTo>
                    <a:lnTo>
                      <a:pt x="84" y="106"/>
                    </a:lnTo>
                    <a:lnTo>
                      <a:pt x="97" y="109"/>
                    </a:lnTo>
                    <a:lnTo>
                      <a:pt x="109" y="111"/>
                    </a:lnTo>
                    <a:lnTo>
                      <a:pt x="120" y="113"/>
                    </a:lnTo>
                    <a:lnTo>
                      <a:pt x="131" y="115"/>
                    </a:lnTo>
                    <a:lnTo>
                      <a:pt x="141" y="117"/>
                    </a:lnTo>
                    <a:lnTo>
                      <a:pt x="155" y="120"/>
                    </a:lnTo>
                    <a:lnTo>
                      <a:pt x="166" y="122"/>
                    </a:lnTo>
                    <a:lnTo>
                      <a:pt x="177" y="124"/>
                    </a:lnTo>
                    <a:lnTo>
                      <a:pt x="187" y="125"/>
                    </a:lnTo>
                    <a:lnTo>
                      <a:pt x="195" y="128"/>
                    </a:lnTo>
                    <a:lnTo>
                      <a:pt x="202" y="131"/>
                    </a:lnTo>
                    <a:lnTo>
                      <a:pt x="207" y="133"/>
                    </a:lnTo>
                    <a:lnTo>
                      <a:pt x="212" y="137"/>
                    </a:lnTo>
                    <a:lnTo>
                      <a:pt x="217" y="141"/>
                    </a:lnTo>
                    <a:lnTo>
                      <a:pt x="222" y="147"/>
                    </a:lnTo>
                    <a:lnTo>
                      <a:pt x="229" y="153"/>
                    </a:lnTo>
                    <a:lnTo>
                      <a:pt x="236" y="162"/>
                    </a:lnTo>
                    <a:lnTo>
                      <a:pt x="244" y="169"/>
                    </a:lnTo>
                    <a:lnTo>
                      <a:pt x="253" y="177"/>
                    </a:lnTo>
                    <a:lnTo>
                      <a:pt x="260" y="185"/>
                    </a:lnTo>
                    <a:lnTo>
                      <a:pt x="269" y="191"/>
                    </a:lnTo>
                    <a:lnTo>
                      <a:pt x="278" y="198"/>
                    </a:lnTo>
                    <a:lnTo>
                      <a:pt x="288" y="206"/>
                    </a:lnTo>
                    <a:lnTo>
                      <a:pt x="292" y="193"/>
                    </a:lnTo>
                    <a:lnTo>
                      <a:pt x="295" y="181"/>
                    </a:lnTo>
                    <a:lnTo>
                      <a:pt x="300" y="169"/>
                    </a:lnTo>
                    <a:lnTo>
                      <a:pt x="303" y="155"/>
                    </a:lnTo>
                    <a:lnTo>
                      <a:pt x="305" y="145"/>
                    </a:lnTo>
                    <a:lnTo>
                      <a:pt x="305" y="138"/>
                    </a:lnTo>
                    <a:lnTo>
                      <a:pt x="301" y="132"/>
                    </a:lnTo>
                    <a:lnTo>
                      <a:pt x="312" y="130"/>
                    </a:lnTo>
                    <a:lnTo>
                      <a:pt x="323" y="128"/>
                    </a:lnTo>
                    <a:lnTo>
                      <a:pt x="337" y="126"/>
                    </a:lnTo>
                    <a:lnTo>
                      <a:pt x="353" y="123"/>
                    </a:lnTo>
                    <a:lnTo>
                      <a:pt x="369" y="120"/>
                    </a:lnTo>
                    <a:lnTo>
                      <a:pt x="381" y="118"/>
                    </a:lnTo>
                    <a:lnTo>
                      <a:pt x="394" y="116"/>
                    </a:lnTo>
                    <a:lnTo>
                      <a:pt x="406" y="115"/>
                    </a:lnTo>
                    <a:lnTo>
                      <a:pt x="417" y="114"/>
                    </a:lnTo>
                    <a:lnTo>
                      <a:pt x="425" y="116"/>
                    </a:lnTo>
                    <a:lnTo>
                      <a:pt x="433" y="120"/>
                    </a:lnTo>
                    <a:lnTo>
                      <a:pt x="440" y="125"/>
                    </a:lnTo>
                    <a:lnTo>
                      <a:pt x="458" y="122"/>
                    </a:lnTo>
                    <a:lnTo>
                      <a:pt x="477" y="118"/>
                    </a:lnTo>
                    <a:lnTo>
                      <a:pt x="493" y="115"/>
                    </a:lnTo>
                    <a:lnTo>
                      <a:pt x="483" y="105"/>
                    </a:lnTo>
                    <a:lnTo>
                      <a:pt x="489" y="103"/>
                    </a:lnTo>
                    <a:lnTo>
                      <a:pt x="498" y="100"/>
                    </a:lnTo>
                    <a:lnTo>
                      <a:pt x="508" y="98"/>
                    </a:lnTo>
                    <a:lnTo>
                      <a:pt x="519" y="96"/>
                    </a:lnTo>
                    <a:lnTo>
                      <a:pt x="529" y="97"/>
                    </a:lnTo>
                    <a:lnTo>
                      <a:pt x="540" y="98"/>
                    </a:lnTo>
                    <a:lnTo>
                      <a:pt x="551" y="101"/>
                    </a:lnTo>
                    <a:lnTo>
                      <a:pt x="562" y="104"/>
                    </a:lnTo>
                    <a:lnTo>
                      <a:pt x="573" y="111"/>
                    </a:lnTo>
                    <a:lnTo>
                      <a:pt x="587" y="120"/>
                    </a:lnTo>
                    <a:lnTo>
                      <a:pt x="596" y="129"/>
                    </a:lnTo>
                    <a:lnTo>
                      <a:pt x="610" y="141"/>
                    </a:lnTo>
                    <a:lnTo>
                      <a:pt x="623" y="155"/>
                    </a:lnTo>
                    <a:lnTo>
                      <a:pt x="639" y="167"/>
                    </a:lnTo>
                    <a:lnTo>
                      <a:pt x="653" y="176"/>
                    </a:lnTo>
                    <a:lnTo>
                      <a:pt x="666" y="184"/>
                    </a:lnTo>
                    <a:lnTo>
                      <a:pt x="679" y="188"/>
                    </a:lnTo>
                    <a:lnTo>
                      <a:pt x="696" y="190"/>
                    </a:lnTo>
                    <a:lnTo>
                      <a:pt x="709" y="190"/>
                    </a:lnTo>
                    <a:lnTo>
                      <a:pt x="702" y="184"/>
                    </a:lnTo>
                    <a:lnTo>
                      <a:pt x="697" y="178"/>
                    </a:lnTo>
                    <a:lnTo>
                      <a:pt x="695" y="174"/>
                    </a:lnTo>
                    <a:lnTo>
                      <a:pt x="685" y="160"/>
                    </a:lnTo>
                    <a:lnTo>
                      <a:pt x="677" y="153"/>
                    </a:lnTo>
                    <a:lnTo>
                      <a:pt x="668" y="146"/>
                    </a:lnTo>
                    <a:lnTo>
                      <a:pt x="659" y="137"/>
                    </a:lnTo>
                    <a:lnTo>
                      <a:pt x="653" y="128"/>
                    </a:lnTo>
                    <a:lnTo>
                      <a:pt x="647" y="120"/>
                    </a:lnTo>
                    <a:lnTo>
                      <a:pt x="641" y="111"/>
                    </a:lnTo>
                    <a:lnTo>
                      <a:pt x="637" y="104"/>
                    </a:lnTo>
                    <a:lnTo>
                      <a:pt x="635" y="96"/>
                    </a:lnTo>
                    <a:lnTo>
                      <a:pt x="634" y="87"/>
                    </a:lnTo>
                    <a:lnTo>
                      <a:pt x="637" y="78"/>
                    </a:lnTo>
                    <a:lnTo>
                      <a:pt x="641" y="68"/>
                    </a:lnTo>
                    <a:lnTo>
                      <a:pt x="647" y="60"/>
                    </a:lnTo>
                    <a:lnTo>
                      <a:pt x="654" y="51"/>
                    </a:lnTo>
                    <a:lnTo>
                      <a:pt x="661" y="45"/>
                    </a:lnTo>
                    <a:lnTo>
                      <a:pt x="668" y="39"/>
                    </a:lnTo>
                    <a:lnTo>
                      <a:pt x="676" y="32"/>
                    </a:lnTo>
                    <a:lnTo>
                      <a:pt x="684" y="24"/>
                    </a:lnTo>
                    <a:lnTo>
                      <a:pt x="689" y="20"/>
                    </a:lnTo>
                    <a:lnTo>
                      <a:pt x="695" y="16"/>
                    </a:lnTo>
                    <a:lnTo>
                      <a:pt x="700" y="12"/>
                    </a:lnTo>
                    <a:lnTo>
                      <a:pt x="704" y="8"/>
                    </a:lnTo>
                    <a:lnTo>
                      <a:pt x="696" y="7"/>
                    </a:lnTo>
                    <a:lnTo>
                      <a:pt x="686" y="7"/>
                    </a:lnTo>
                    <a:lnTo>
                      <a:pt x="677" y="7"/>
                    </a:lnTo>
                    <a:lnTo>
                      <a:pt x="669" y="8"/>
                    </a:lnTo>
                    <a:lnTo>
                      <a:pt x="659" y="9"/>
                    </a:lnTo>
                    <a:lnTo>
                      <a:pt x="652" y="12"/>
                    </a:lnTo>
                    <a:lnTo>
                      <a:pt x="645" y="14"/>
                    </a:lnTo>
                    <a:lnTo>
                      <a:pt x="638" y="17"/>
                    </a:lnTo>
                    <a:lnTo>
                      <a:pt x="630" y="21"/>
                    </a:lnTo>
                    <a:lnTo>
                      <a:pt x="623" y="26"/>
                    </a:lnTo>
                    <a:lnTo>
                      <a:pt x="609" y="35"/>
                    </a:lnTo>
                    <a:lnTo>
                      <a:pt x="599" y="41"/>
                    </a:lnTo>
                    <a:lnTo>
                      <a:pt x="585" y="49"/>
                    </a:lnTo>
                    <a:lnTo>
                      <a:pt x="572" y="51"/>
                    </a:lnTo>
                    <a:lnTo>
                      <a:pt x="558" y="50"/>
                    </a:lnTo>
                    <a:lnTo>
                      <a:pt x="540" y="52"/>
                    </a:lnTo>
                    <a:lnTo>
                      <a:pt x="523" y="50"/>
                    </a:lnTo>
                    <a:lnTo>
                      <a:pt x="504" y="50"/>
                    </a:lnTo>
                    <a:lnTo>
                      <a:pt x="484" y="46"/>
                    </a:lnTo>
                    <a:lnTo>
                      <a:pt x="464" y="41"/>
                    </a:lnTo>
                    <a:lnTo>
                      <a:pt x="452" y="37"/>
                    </a:lnTo>
                    <a:lnTo>
                      <a:pt x="449" y="32"/>
                    </a:lnTo>
                    <a:lnTo>
                      <a:pt x="452" y="28"/>
                    </a:lnTo>
                    <a:lnTo>
                      <a:pt x="461" y="22"/>
                    </a:lnTo>
                    <a:lnTo>
                      <a:pt x="438" y="16"/>
                    </a:lnTo>
                    <a:lnTo>
                      <a:pt x="405" y="8"/>
                    </a:lnTo>
                    <a:lnTo>
                      <a:pt x="397" y="14"/>
                    </a:lnTo>
                    <a:lnTo>
                      <a:pt x="388" y="18"/>
                    </a:lnTo>
                    <a:lnTo>
                      <a:pt x="379" y="20"/>
                    </a:lnTo>
                    <a:lnTo>
                      <a:pt x="365" y="21"/>
                    </a:lnTo>
                    <a:lnTo>
                      <a:pt x="347" y="5"/>
                    </a:lnTo>
                    <a:lnTo>
                      <a:pt x="331" y="17"/>
                    </a:lnTo>
                    <a:lnTo>
                      <a:pt x="215" y="1"/>
                    </a:lnTo>
                    <a:lnTo>
                      <a:pt x="192" y="0"/>
                    </a:lnTo>
                    <a:lnTo>
                      <a:pt x="171" y="1"/>
                    </a:lnTo>
                    <a:lnTo>
                      <a:pt x="148" y="3"/>
                    </a:lnTo>
                    <a:lnTo>
                      <a:pt x="104" y="9"/>
                    </a:lnTo>
                    <a:lnTo>
                      <a:pt x="63" y="19"/>
                    </a:lnTo>
                    <a:lnTo>
                      <a:pt x="41" y="27"/>
                    </a:lnTo>
                    <a:lnTo>
                      <a:pt x="26" y="34"/>
                    </a:lnTo>
                    <a:lnTo>
                      <a:pt x="42" y="38"/>
                    </a:lnTo>
                    <a:lnTo>
                      <a:pt x="32" y="43"/>
                    </a:lnTo>
                    <a:lnTo>
                      <a:pt x="26" y="48"/>
                    </a:lnTo>
                    <a:lnTo>
                      <a:pt x="14" y="57"/>
                    </a:lnTo>
                    <a:lnTo>
                      <a:pt x="12" y="60"/>
                    </a:lnTo>
                    <a:lnTo>
                      <a:pt x="8" y="64"/>
                    </a:lnTo>
                    <a:lnTo>
                      <a:pt x="6" y="66"/>
                    </a:lnTo>
                    <a:lnTo>
                      <a:pt x="4" y="71"/>
                    </a:lnTo>
                    <a:lnTo>
                      <a:pt x="2" y="74"/>
                    </a:lnTo>
                    <a:lnTo>
                      <a:pt x="0" y="78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8836" name="Group 26"/>
              <p:cNvGrpSpPr>
                <a:grpSpLocks/>
              </p:cNvGrpSpPr>
              <p:nvPr/>
            </p:nvGrpSpPr>
            <p:grpSpPr bwMode="auto">
              <a:xfrm>
                <a:off x="4134" y="429"/>
                <a:ext cx="8" cy="8"/>
                <a:chOff x="4134" y="429"/>
                <a:chExt cx="8" cy="8"/>
              </a:xfrm>
            </p:grpSpPr>
            <p:sp>
              <p:nvSpPr>
                <p:cNvPr id="8847" name="Oval 27"/>
                <p:cNvSpPr>
                  <a:spLocks noChangeArrowheads="1"/>
                </p:cNvSpPr>
                <p:nvPr/>
              </p:nvSpPr>
              <p:spPr bwMode="auto">
                <a:xfrm>
                  <a:off x="4134" y="429"/>
                  <a:ext cx="6" cy="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848" name="Arc 28"/>
                <p:cNvSpPr>
                  <a:spLocks/>
                </p:cNvSpPr>
                <p:nvPr/>
              </p:nvSpPr>
              <p:spPr bwMode="auto">
                <a:xfrm>
                  <a:off x="4135" y="430"/>
                  <a:ext cx="7" cy="7"/>
                </a:xfrm>
                <a:custGeom>
                  <a:avLst/>
                  <a:gdLst>
                    <a:gd name="T0" fmla="*/ 1 w 43200"/>
                    <a:gd name="T1" fmla="*/ 6 h 40920"/>
                    <a:gd name="T2" fmla="*/ 5 w 43200"/>
                    <a:gd name="T3" fmla="*/ 7 h 40920"/>
                    <a:gd name="T4" fmla="*/ 4 w 43200"/>
                    <a:gd name="T5" fmla="*/ 4 h 4092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40920" fill="none" extrusionOk="0">
                      <a:moveTo>
                        <a:pt x="6326" y="36873"/>
                      </a:moveTo>
                      <a:cubicBezTo>
                        <a:pt x="2275" y="32822"/>
                        <a:pt x="0" y="273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9781"/>
                        <a:pt x="38577" y="37260"/>
                        <a:pt x="31259" y="40919"/>
                      </a:cubicBezTo>
                    </a:path>
                    <a:path w="43200" h="40920" stroke="0" extrusionOk="0">
                      <a:moveTo>
                        <a:pt x="6326" y="36873"/>
                      </a:moveTo>
                      <a:cubicBezTo>
                        <a:pt x="2275" y="32822"/>
                        <a:pt x="0" y="273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9781"/>
                        <a:pt x="38577" y="37260"/>
                        <a:pt x="31259" y="40919"/>
                      </a:cubicBezTo>
                      <a:lnTo>
                        <a:pt x="21600" y="21600"/>
                      </a:lnTo>
                      <a:lnTo>
                        <a:pt x="6326" y="36873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37" name="Group 29"/>
              <p:cNvGrpSpPr>
                <a:grpSpLocks/>
              </p:cNvGrpSpPr>
              <p:nvPr/>
            </p:nvGrpSpPr>
            <p:grpSpPr bwMode="auto">
              <a:xfrm>
                <a:off x="4174" y="395"/>
                <a:ext cx="38" cy="25"/>
                <a:chOff x="4174" y="395"/>
                <a:chExt cx="38" cy="25"/>
              </a:xfrm>
            </p:grpSpPr>
            <p:sp>
              <p:nvSpPr>
                <p:cNvPr id="8842" name="Arc 30"/>
                <p:cNvSpPr>
                  <a:spLocks/>
                </p:cNvSpPr>
                <p:nvPr/>
              </p:nvSpPr>
              <p:spPr bwMode="auto">
                <a:xfrm>
                  <a:off x="4183" y="395"/>
                  <a:ext cx="1" cy="25"/>
                </a:xfrm>
                <a:custGeom>
                  <a:avLst/>
                  <a:gdLst>
                    <a:gd name="T0" fmla="*/ 0 w 41073"/>
                    <a:gd name="T1" fmla="*/ 7 h 43200"/>
                    <a:gd name="T2" fmla="*/ 0 w 41073"/>
                    <a:gd name="T3" fmla="*/ 18 h 43200"/>
                    <a:gd name="T4" fmla="*/ 0 w 41073"/>
                    <a:gd name="T5" fmla="*/ 13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073" h="43200" fill="none" extrusionOk="0">
                      <a:moveTo>
                        <a:pt x="309" y="11635"/>
                      </a:moveTo>
                      <a:cubicBezTo>
                        <a:pt x="4026" y="4485"/>
                        <a:pt x="11414" y="-1"/>
                        <a:pt x="19473" y="0"/>
                      </a:cubicBezTo>
                      <a:cubicBezTo>
                        <a:pt x="31402" y="0"/>
                        <a:pt x="41073" y="9670"/>
                        <a:pt x="41073" y="21600"/>
                      </a:cubicBezTo>
                      <a:cubicBezTo>
                        <a:pt x="41073" y="33529"/>
                        <a:pt x="31402" y="43200"/>
                        <a:pt x="19473" y="43200"/>
                      </a:cubicBezTo>
                      <a:cubicBezTo>
                        <a:pt x="11165" y="43200"/>
                        <a:pt x="3594" y="38436"/>
                        <a:pt x="0" y="30946"/>
                      </a:cubicBezTo>
                    </a:path>
                    <a:path w="41073" h="43200" stroke="0" extrusionOk="0">
                      <a:moveTo>
                        <a:pt x="309" y="11635"/>
                      </a:moveTo>
                      <a:cubicBezTo>
                        <a:pt x="4026" y="4485"/>
                        <a:pt x="11414" y="-1"/>
                        <a:pt x="19473" y="0"/>
                      </a:cubicBezTo>
                      <a:cubicBezTo>
                        <a:pt x="31402" y="0"/>
                        <a:pt x="41073" y="9670"/>
                        <a:pt x="41073" y="21600"/>
                      </a:cubicBezTo>
                      <a:cubicBezTo>
                        <a:pt x="41073" y="33529"/>
                        <a:pt x="31402" y="43200"/>
                        <a:pt x="19473" y="43200"/>
                      </a:cubicBezTo>
                      <a:cubicBezTo>
                        <a:pt x="11165" y="43200"/>
                        <a:pt x="3594" y="38436"/>
                        <a:pt x="0" y="30946"/>
                      </a:cubicBezTo>
                      <a:lnTo>
                        <a:pt x="19473" y="21600"/>
                      </a:lnTo>
                      <a:lnTo>
                        <a:pt x="309" y="11635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843" name="Arc 31"/>
                <p:cNvSpPr>
                  <a:spLocks/>
                </p:cNvSpPr>
                <p:nvPr/>
              </p:nvSpPr>
              <p:spPr bwMode="auto">
                <a:xfrm>
                  <a:off x="4174" y="395"/>
                  <a:ext cx="1" cy="25"/>
                </a:xfrm>
                <a:custGeom>
                  <a:avLst/>
                  <a:gdLst>
                    <a:gd name="T0" fmla="*/ 0 w 41073"/>
                    <a:gd name="T1" fmla="*/ 7 h 43200"/>
                    <a:gd name="T2" fmla="*/ 0 w 41073"/>
                    <a:gd name="T3" fmla="*/ 18 h 43200"/>
                    <a:gd name="T4" fmla="*/ 0 w 41073"/>
                    <a:gd name="T5" fmla="*/ 13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073" h="43200" fill="none" extrusionOk="0">
                      <a:moveTo>
                        <a:pt x="309" y="11635"/>
                      </a:moveTo>
                      <a:cubicBezTo>
                        <a:pt x="4026" y="4485"/>
                        <a:pt x="11414" y="-1"/>
                        <a:pt x="19473" y="0"/>
                      </a:cubicBezTo>
                      <a:cubicBezTo>
                        <a:pt x="31402" y="0"/>
                        <a:pt x="41073" y="9670"/>
                        <a:pt x="41073" y="21600"/>
                      </a:cubicBezTo>
                      <a:cubicBezTo>
                        <a:pt x="41073" y="33529"/>
                        <a:pt x="31402" y="43200"/>
                        <a:pt x="19473" y="43200"/>
                      </a:cubicBezTo>
                      <a:cubicBezTo>
                        <a:pt x="11165" y="43200"/>
                        <a:pt x="3594" y="38436"/>
                        <a:pt x="0" y="30946"/>
                      </a:cubicBezTo>
                    </a:path>
                    <a:path w="41073" h="43200" stroke="0" extrusionOk="0">
                      <a:moveTo>
                        <a:pt x="309" y="11635"/>
                      </a:moveTo>
                      <a:cubicBezTo>
                        <a:pt x="4026" y="4485"/>
                        <a:pt x="11414" y="-1"/>
                        <a:pt x="19473" y="0"/>
                      </a:cubicBezTo>
                      <a:cubicBezTo>
                        <a:pt x="31402" y="0"/>
                        <a:pt x="41073" y="9670"/>
                        <a:pt x="41073" y="21600"/>
                      </a:cubicBezTo>
                      <a:cubicBezTo>
                        <a:pt x="41073" y="33529"/>
                        <a:pt x="31402" y="43200"/>
                        <a:pt x="19473" y="43200"/>
                      </a:cubicBezTo>
                      <a:cubicBezTo>
                        <a:pt x="11165" y="43200"/>
                        <a:pt x="3594" y="38436"/>
                        <a:pt x="0" y="30946"/>
                      </a:cubicBezTo>
                      <a:lnTo>
                        <a:pt x="19473" y="21600"/>
                      </a:lnTo>
                      <a:lnTo>
                        <a:pt x="309" y="11635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844" name="Arc 32"/>
                <p:cNvSpPr>
                  <a:spLocks/>
                </p:cNvSpPr>
                <p:nvPr/>
              </p:nvSpPr>
              <p:spPr bwMode="auto">
                <a:xfrm>
                  <a:off x="4192" y="395"/>
                  <a:ext cx="0" cy="25"/>
                </a:xfrm>
                <a:custGeom>
                  <a:avLst/>
                  <a:gdLst>
                    <a:gd name="T0" fmla="*/ 1 w 43200"/>
                    <a:gd name="T1" fmla="*/ 13 h 43200"/>
                    <a:gd name="T2" fmla="*/ 1 w 43200"/>
                    <a:gd name="T3" fmla="*/ 13 h 43200"/>
                    <a:gd name="T4" fmla="*/ 1 w 43200"/>
                    <a:gd name="T5" fmla="*/ 13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43200" fill="none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43200" stroke="0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lnTo>
                        <a:pt x="432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845" name="Arc 33"/>
                <p:cNvSpPr>
                  <a:spLocks/>
                </p:cNvSpPr>
                <p:nvPr/>
              </p:nvSpPr>
              <p:spPr bwMode="auto">
                <a:xfrm>
                  <a:off x="4202" y="395"/>
                  <a:ext cx="1" cy="25"/>
                </a:xfrm>
                <a:custGeom>
                  <a:avLst/>
                  <a:gdLst>
                    <a:gd name="T0" fmla="*/ 0 w 41073"/>
                    <a:gd name="T1" fmla="*/ 7 h 43200"/>
                    <a:gd name="T2" fmla="*/ 0 w 41073"/>
                    <a:gd name="T3" fmla="*/ 18 h 43200"/>
                    <a:gd name="T4" fmla="*/ 0 w 41073"/>
                    <a:gd name="T5" fmla="*/ 13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073" h="43200" fill="none" extrusionOk="0">
                      <a:moveTo>
                        <a:pt x="309" y="11635"/>
                      </a:moveTo>
                      <a:cubicBezTo>
                        <a:pt x="4026" y="4485"/>
                        <a:pt x="11414" y="-1"/>
                        <a:pt x="19473" y="0"/>
                      </a:cubicBezTo>
                      <a:cubicBezTo>
                        <a:pt x="31402" y="0"/>
                        <a:pt x="41073" y="9670"/>
                        <a:pt x="41073" y="21600"/>
                      </a:cubicBezTo>
                      <a:cubicBezTo>
                        <a:pt x="41073" y="33529"/>
                        <a:pt x="31402" y="43200"/>
                        <a:pt x="19473" y="43200"/>
                      </a:cubicBezTo>
                      <a:cubicBezTo>
                        <a:pt x="11165" y="43200"/>
                        <a:pt x="3594" y="38436"/>
                        <a:pt x="0" y="30946"/>
                      </a:cubicBezTo>
                    </a:path>
                    <a:path w="41073" h="43200" stroke="0" extrusionOk="0">
                      <a:moveTo>
                        <a:pt x="309" y="11635"/>
                      </a:moveTo>
                      <a:cubicBezTo>
                        <a:pt x="4026" y="4485"/>
                        <a:pt x="11414" y="-1"/>
                        <a:pt x="19473" y="0"/>
                      </a:cubicBezTo>
                      <a:cubicBezTo>
                        <a:pt x="31402" y="0"/>
                        <a:pt x="41073" y="9670"/>
                        <a:pt x="41073" y="21600"/>
                      </a:cubicBezTo>
                      <a:cubicBezTo>
                        <a:pt x="41073" y="33529"/>
                        <a:pt x="31402" y="43200"/>
                        <a:pt x="19473" y="43200"/>
                      </a:cubicBezTo>
                      <a:cubicBezTo>
                        <a:pt x="11165" y="43200"/>
                        <a:pt x="3594" y="38436"/>
                        <a:pt x="0" y="30946"/>
                      </a:cubicBezTo>
                      <a:lnTo>
                        <a:pt x="19473" y="21600"/>
                      </a:lnTo>
                      <a:lnTo>
                        <a:pt x="309" y="11635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846" name="Arc 34"/>
                <p:cNvSpPr>
                  <a:spLocks/>
                </p:cNvSpPr>
                <p:nvPr/>
              </p:nvSpPr>
              <p:spPr bwMode="auto">
                <a:xfrm>
                  <a:off x="4212" y="395"/>
                  <a:ext cx="0" cy="25"/>
                </a:xfrm>
                <a:custGeom>
                  <a:avLst/>
                  <a:gdLst>
                    <a:gd name="T0" fmla="*/ 1 w 43200"/>
                    <a:gd name="T1" fmla="*/ 13 h 43200"/>
                    <a:gd name="T2" fmla="*/ 1 w 43200"/>
                    <a:gd name="T3" fmla="*/ 13 h 43200"/>
                    <a:gd name="T4" fmla="*/ 1 w 43200"/>
                    <a:gd name="T5" fmla="*/ 13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43200" fill="none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43200" stroke="0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lnTo>
                        <a:pt x="4320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8838" name="Freeform 35"/>
              <p:cNvSpPr>
                <a:spLocks/>
              </p:cNvSpPr>
              <p:nvPr/>
            </p:nvSpPr>
            <p:spPr bwMode="auto">
              <a:xfrm>
                <a:off x="4072" y="436"/>
                <a:ext cx="699" cy="134"/>
              </a:xfrm>
              <a:custGeom>
                <a:avLst/>
                <a:gdLst>
                  <a:gd name="T0" fmla="*/ 15 w 699"/>
                  <a:gd name="T1" fmla="*/ 21 h 134"/>
                  <a:gd name="T2" fmla="*/ 47 w 699"/>
                  <a:gd name="T3" fmla="*/ 31 h 134"/>
                  <a:gd name="T4" fmla="*/ 94 w 699"/>
                  <a:gd name="T5" fmla="*/ 42 h 134"/>
                  <a:gd name="T6" fmla="*/ 140 w 699"/>
                  <a:gd name="T7" fmla="*/ 50 h 134"/>
                  <a:gd name="T8" fmla="*/ 185 w 699"/>
                  <a:gd name="T9" fmla="*/ 58 h 134"/>
                  <a:gd name="T10" fmla="*/ 211 w 699"/>
                  <a:gd name="T11" fmla="*/ 69 h 134"/>
                  <a:gd name="T12" fmla="*/ 233 w 699"/>
                  <a:gd name="T13" fmla="*/ 91 h 134"/>
                  <a:gd name="T14" fmla="*/ 267 w 699"/>
                  <a:gd name="T15" fmla="*/ 121 h 134"/>
                  <a:gd name="T16" fmla="*/ 291 w 699"/>
                  <a:gd name="T17" fmla="*/ 109 h 134"/>
                  <a:gd name="T18" fmla="*/ 300 w 699"/>
                  <a:gd name="T19" fmla="*/ 75 h 134"/>
                  <a:gd name="T20" fmla="*/ 318 w 699"/>
                  <a:gd name="T21" fmla="*/ 60 h 134"/>
                  <a:gd name="T22" fmla="*/ 376 w 699"/>
                  <a:gd name="T23" fmla="*/ 50 h 134"/>
                  <a:gd name="T24" fmla="*/ 419 w 699"/>
                  <a:gd name="T25" fmla="*/ 48 h 134"/>
                  <a:gd name="T26" fmla="*/ 471 w 699"/>
                  <a:gd name="T27" fmla="*/ 50 h 134"/>
                  <a:gd name="T28" fmla="*/ 491 w 699"/>
                  <a:gd name="T29" fmla="*/ 34 h 134"/>
                  <a:gd name="T30" fmla="*/ 532 w 699"/>
                  <a:gd name="T31" fmla="*/ 31 h 134"/>
                  <a:gd name="T32" fmla="*/ 579 w 699"/>
                  <a:gd name="T33" fmla="*/ 53 h 134"/>
                  <a:gd name="T34" fmla="*/ 616 w 699"/>
                  <a:gd name="T35" fmla="*/ 86 h 134"/>
                  <a:gd name="T36" fmla="*/ 645 w 699"/>
                  <a:gd name="T37" fmla="*/ 106 h 134"/>
                  <a:gd name="T38" fmla="*/ 671 w 699"/>
                  <a:gd name="T39" fmla="*/ 117 h 134"/>
                  <a:gd name="T40" fmla="*/ 693 w 699"/>
                  <a:gd name="T41" fmla="*/ 114 h 134"/>
                  <a:gd name="T42" fmla="*/ 675 w 699"/>
                  <a:gd name="T43" fmla="*/ 91 h 134"/>
                  <a:gd name="T44" fmla="*/ 652 w 699"/>
                  <a:gd name="T45" fmla="*/ 71 h 134"/>
                  <a:gd name="T46" fmla="*/ 638 w 699"/>
                  <a:gd name="T47" fmla="*/ 54 h 134"/>
                  <a:gd name="T48" fmla="*/ 628 w 699"/>
                  <a:gd name="T49" fmla="*/ 38 h 134"/>
                  <a:gd name="T50" fmla="*/ 625 w 699"/>
                  <a:gd name="T51" fmla="*/ 22 h 134"/>
                  <a:gd name="T52" fmla="*/ 605 w 699"/>
                  <a:gd name="T53" fmla="*/ 25 h 134"/>
                  <a:gd name="T54" fmla="*/ 587 w 699"/>
                  <a:gd name="T55" fmla="*/ 19 h 134"/>
                  <a:gd name="T56" fmla="*/ 567 w 699"/>
                  <a:gd name="T57" fmla="*/ 22 h 134"/>
                  <a:gd name="T58" fmla="*/ 544 w 699"/>
                  <a:gd name="T59" fmla="*/ 21 h 134"/>
                  <a:gd name="T60" fmla="*/ 520 w 699"/>
                  <a:gd name="T61" fmla="*/ 23 h 134"/>
                  <a:gd name="T62" fmla="*/ 493 w 699"/>
                  <a:gd name="T63" fmla="*/ 21 h 134"/>
                  <a:gd name="T64" fmla="*/ 466 w 699"/>
                  <a:gd name="T65" fmla="*/ 17 h 134"/>
                  <a:gd name="T66" fmla="*/ 439 w 699"/>
                  <a:gd name="T67" fmla="*/ 16 h 134"/>
                  <a:gd name="T68" fmla="*/ 413 w 699"/>
                  <a:gd name="T69" fmla="*/ 16 h 134"/>
                  <a:gd name="T70" fmla="*/ 389 w 699"/>
                  <a:gd name="T71" fmla="*/ 13 h 134"/>
                  <a:gd name="T72" fmla="*/ 363 w 699"/>
                  <a:gd name="T73" fmla="*/ 8 h 134"/>
                  <a:gd name="T74" fmla="*/ 332 w 699"/>
                  <a:gd name="T75" fmla="*/ 8 h 134"/>
                  <a:gd name="T76" fmla="*/ 305 w 699"/>
                  <a:gd name="T77" fmla="*/ 6 h 134"/>
                  <a:gd name="T78" fmla="*/ 279 w 699"/>
                  <a:gd name="T79" fmla="*/ 10 h 134"/>
                  <a:gd name="T80" fmla="*/ 253 w 699"/>
                  <a:gd name="T81" fmla="*/ 8 h 134"/>
                  <a:gd name="T82" fmla="*/ 232 w 699"/>
                  <a:gd name="T83" fmla="*/ 10 h 134"/>
                  <a:gd name="T84" fmla="*/ 207 w 699"/>
                  <a:gd name="T85" fmla="*/ 8 h 134"/>
                  <a:gd name="T86" fmla="*/ 179 w 699"/>
                  <a:gd name="T87" fmla="*/ 6 h 134"/>
                  <a:gd name="T88" fmla="*/ 143 w 699"/>
                  <a:gd name="T89" fmla="*/ 0 h 134"/>
                  <a:gd name="T90" fmla="*/ 102 w 699"/>
                  <a:gd name="T91" fmla="*/ 0 h 134"/>
                  <a:gd name="T92" fmla="*/ 68 w 699"/>
                  <a:gd name="T93" fmla="*/ 6 h 134"/>
                  <a:gd name="T94" fmla="*/ 37 w 699"/>
                  <a:gd name="T95" fmla="*/ 4 h 134"/>
                  <a:gd name="T96" fmla="*/ 7 w 699"/>
                  <a:gd name="T97" fmla="*/ 10 h 13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699" h="134">
                    <a:moveTo>
                      <a:pt x="0" y="13"/>
                    </a:moveTo>
                    <a:lnTo>
                      <a:pt x="4" y="16"/>
                    </a:lnTo>
                    <a:lnTo>
                      <a:pt x="9" y="18"/>
                    </a:lnTo>
                    <a:lnTo>
                      <a:pt x="15" y="21"/>
                    </a:lnTo>
                    <a:lnTo>
                      <a:pt x="21" y="23"/>
                    </a:lnTo>
                    <a:lnTo>
                      <a:pt x="29" y="25"/>
                    </a:lnTo>
                    <a:lnTo>
                      <a:pt x="39" y="28"/>
                    </a:lnTo>
                    <a:lnTo>
                      <a:pt x="47" y="31"/>
                    </a:lnTo>
                    <a:lnTo>
                      <a:pt x="58" y="34"/>
                    </a:lnTo>
                    <a:lnTo>
                      <a:pt x="70" y="37"/>
                    </a:lnTo>
                    <a:lnTo>
                      <a:pt x="82" y="40"/>
                    </a:lnTo>
                    <a:lnTo>
                      <a:pt x="94" y="42"/>
                    </a:lnTo>
                    <a:lnTo>
                      <a:pt x="106" y="43"/>
                    </a:lnTo>
                    <a:lnTo>
                      <a:pt x="118" y="45"/>
                    </a:lnTo>
                    <a:lnTo>
                      <a:pt x="129" y="48"/>
                    </a:lnTo>
                    <a:lnTo>
                      <a:pt x="140" y="50"/>
                    </a:lnTo>
                    <a:lnTo>
                      <a:pt x="149" y="52"/>
                    </a:lnTo>
                    <a:lnTo>
                      <a:pt x="163" y="54"/>
                    </a:lnTo>
                    <a:lnTo>
                      <a:pt x="174" y="56"/>
                    </a:lnTo>
                    <a:lnTo>
                      <a:pt x="185" y="58"/>
                    </a:lnTo>
                    <a:lnTo>
                      <a:pt x="193" y="59"/>
                    </a:lnTo>
                    <a:lnTo>
                      <a:pt x="200" y="62"/>
                    </a:lnTo>
                    <a:lnTo>
                      <a:pt x="206" y="66"/>
                    </a:lnTo>
                    <a:lnTo>
                      <a:pt x="211" y="69"/>
                    </a:lnTo>
                    <a:lnTo>
                      <a:pt x="215" y="74"/>
                    </a:lnTo>
                    <a:lnTo>
                      <a:pt x="219" y="78"/>
                    </a:lnTo>
                    <a:lnTo>
                      <a:pt x="226" y="85"/>
                    </a:lnTo>
                    <a:lnTo>
                      <a:pt x="233" y="91"/>
                    </a:lnTo>
                    <a:lnTo>
                      <a:pt x="241" y="99"/>
                    </a:lnTo>
                    <a:lnTo>
                      <a:pt x="249" y="106"/>
                    </a:lnTo>
                    <a:lnTo>
                      <a:pt x="257" y="114"/>
                    </a:lnTo>
                    <a:lnTo>
                      <a:pt x="267" y="121"/>
                    </a:lnTo>
                    <a:lnTo>
                      <a:pt x="276" y="127"/>
                    </a:lnTo>
                    <a:lnTo>
                      <a:pt x="283" y="133"/>
                    </a:lnTo>
                    <a:lnTo>
                      <a:pt x="286" y="122"/>
                    </a:lnTo>
                    <a:lnTo>
                      <a:pt x="291" y="109"/>
                    </a:lnTo>
                    <a:lnTo>
                      <a:pt x="295" y="97"/>
                    </a:lnTo>
                    <a:lnTo>
                      <a:pt x="298" y="86"/>
                    </a:lnTo>
                    <a:lnTo>
                      <a:pt x="300" y="81"/>
                    </a:lnTo>
                    <a:lnTo>
                      <a:pt x="300" y="75"/>
                    </a:lnTo>
                    <a:lnTo>
                      <a:pt x="300" y="70"/>
                    </a:lnTo>
                    <a:lnTo>
                      <a:pt x="295" y="64"/>
                    </a:lnTo>
                    <a:lnTo>
                      <a:pt x="306" y="61"/>
                    </a:lnTo>
                    <a:lnTo>
                      <a:pt x="318" y="60"/>
                    </a:lnTo>
                    <a:lnTo>
                      <a:pt x="332" y="58"/>
                    </a:lnTo>
                    <a:lnTo>
                      <a:pt x="348" y="55"/>
                    </a:lnTo>
                    <a:lnTo>
                      <a:pt x="364" y="52"/>
                    </a:lnTo>
                    <a:lnTo>
                      <a:pt x="376" y="50"/>
                    </a:lnTo>
                    <a:lnTo>
                      <a:pt x="389" y="48"/>
                    </a:lnTo>
                    <a:lnTo>
                      <a:pt x="400" y="47"/>
                    </a:lnTo>
                    <a:lnTo>
                      <a:pt x="410" y="46"/>
                    </a:lnTo>
                    <a:lnTo>
                      <a:pt x="419" y="48"/>
                    </a:lnTo>
                    <a:lnTo>
                      <a:pt x="427" y="52"/>
                    </a:lnTo>
                    <a:lnTo>
                      <a:pt x="434" y="58"/>
                    </a:lnTo>
                    <a:lnTo>
                      <a:pt x="452" y="55"/>
                    </a:lnTo>
                    <a:lnTo>
                      <a:pt x="471" y="50"/>
                    </a:lnTo>
                    <a:lnTo>
                      <a:pt x="484" y="47"/>
                    </a:lnTo>
                    <a:lnTo>
                      <a:pt x="476" y="39"/>
                    </a:lnTo>
                    <a:lnTo>
                      <a:pt x="482" y="37"/>
                    </a:lnTo>
                    <a:lnTo>
                      <a:pt x="491" y="34"/>
                    </a:lnTo>
                    <a:lnTo>
                      <a:pt x="501" y="31"/>
                    </a:lnTo>
                    <a:lnTo>
                      <a:pt x="512" y="30"/>
                    </a:lnTo>
                    <a:lnTo>
                      <a:pt x="522" y="31"/>
                    </a:lnTo>
                    <a:lnTo>
                      <a:pt x="532" y="31"/>
                    </a:lnTo>
                    <a:lnTo>
                      <a:pt x="543" y="34"/>
                    </a:lnTo>
                    <a:lnTo>
                      <a:pt x="555" y="37"/>
                    </a:lnTo>
                    <a:lnTo>
                      <a:pt x="566" y="43"/>
                    </a:lnTo>
                    <a:lnTo>
                      <a:pt x="579" y="53"/>
                    </a:lnTo>
                    <a:lnTo>
                      <a:pt x="589" y="61"/>
                    </a:lnTo>
                    <a:lnTo>
                      <a:pt x="602" y="72"/>
                    </a:lnTo>
                    <a:lnTo>
                      <a:pt x="607" y="77"/>
                    </a:lnTo>
                    <a:lnTo>
                      <a:pt x="616" y="86"/>
                    </a:lnTo>
                    <a:lnTo>
                      <a:pt x="624" y="91"/>
                    </a:lnTo>
                    <a:lnTo>
                      <a:pt x="631" y="97"/>
                    </a:lnTo>
                    <a:lnTo>
                      <a:pt x="639" y="102"/>
                    </a:lnTo>
                    <a:lnTo>
                      <a:pt x="645" y="106"/>
                    </a:lnTo>
                    <a:lnTo>
                      <a:pt x="652" y="109"/>
                    </a:lnTo>
                    <a:lnTo>
                      <a:pt x="658" y="112"/>
                    </a:lnTo>
                    <a:lnTo>
                      <a:pt x="664" y="115"/>
                    </a:lnTo>
                    <a:lnTo>
                      <a:pt x="671" y="117"/>
                    </a:lnTo>
                    <a:lnTo>
                      <a:pt x="677" y="118"/>
                    </a:lnTo>
                    <a:lnTo>
                      <a:pt x="686" y="118"/>
                    </a:lnTo>
                    <a:lnTo>
                      <a:pt x="698" y="118"/>
                    </a:lnTo>
                    <a:lnTo>
                      <a:pt x="693" y="114"/>
                    </a:lnTo>
                    <a:lnTo>
                      <a:pt x="688" y="108"/>
                    </a:lnTo>
                    <a:lnTo>
                      <a:pt x="685" y="104"/>
                    </a:lnTo>
                    <a:lnTo>
                      <a:pt x="680" y="97"/>
                    </a:lnTo>
                    <a:lnTo>
                      <a:pt x="675" y="91"/>
                    </a:lnTo>
                    <a:lnTo>
                      <a:pt x="668" y="85"/>
                    </a:lnTo>
                    <a:lnTo>
                      <a:pt x="659" y="79"/>
                    </a:lnTo>
                    <a:lnTo>
                      <a:pt x="655" y="75"/>
                    </a:lnTo>
                    <a:lnTo>
                      <a:pt x="652" y="71"/>
                    </a:lnTo>
                    <a:lnTo>
                      <a:pt x="647" y="66"/>
                    </a:lnTo>
                    <a:lnTo>
                      <a:pt x="645" y="62"/>
                    </a:lnTo>
                    <a:lnTo>
                      <a:pt x="641" y="58"/>
                    </a:lnTo>
                    <a:lnTo>
                      <a:pt x="638" y="54"/>
                    </a:lnTo>
                    <a:lnTo>
                      <a:pt x="636" y="49"/>
                    </a:lnTo>
                    <a:lnTo>
                      <a:pt x="633" y="45"/>
                    </a:lnTo>
                    <a:lnTo>
                      <a:pt x="630" y="42"/>
                    </a:lnTo>
                    <a:lnTo>
                      <a:pt x="628" y="38"/>
                    </a:lnTo>
                    <a:lnTo>
                      <a:pt x="627" y="34"/>
                    </a:lnTo>
                    <a:lnTo>
                      <a:pt x="626" y="30"/>
                    </a:lnTo>
                    <a:lnTo>
                      <a:pt x="625" y="25"/>
                    </a:lnTo>
                    <a:lnTo>
                      <a:pt x="625" y="22"/>
                    </a:lnTo>
                    <a:lnTo>
                      <a:pt x="621" y="24"/>
                    </a:lnTo>
                    <a:lnTo>
                      <a:pt x="615" y="25"/>
                    </a:lnTo>
                    <a:lnTo>
                      <a:pt x="610" y="25"/>
                    </a:lnTo>
                    <a:lnTo>
                      <a:pt x="605" y="25"/>
                    </a:lnTo>
                    <a:lnTo>
                      <a:pt x="600" y="23"/>
                    </a:lnTo>
                    <a:lnTo>
                      <a:pt x="596" y="22"/>
                    </a:lnTo>
                    <a:lnTo>
                      <a:pt x="592" y="21"/>
                    </a:lnTo>
                    <a:lnTo>
                      <a:pt x="587" y="19"/>
                    </a:lnTo>
                    <a:lnTo>
                      <a:pt x="582" y="19"/>
                    </a:lnTo>
                    <a:lnTo>
                      <a:pt x="576" y="20"/>
                    </a:lnTo>
                    <a:lnTo>
                      <a:pt x="570" y="21"/>
                    </a:lnTo>
                    <a:lnTo>
                      <a:pt x="567" y="22"/>
                    </a:lnTo>
                    <a:lnTo>
                      <a:pt x="562" y="23"/>
                    </a:lnTo>
                    <a:lnTo>
                      <a:pt x="557" y="23"/>
                    </a:lnTo>
                    <a:lnTo>
                      <a:pt x="550" y="22"/>
                    </a:lnTo>
                    <a:lnTo>
                      <a:pt x="544" y="21"/>
                    </a:lnTo>
                    <a:lnTo>
                      <a:pt x="539" y="21"/>
                    </a:lnTo>
                    <a:lnTo>
                      <a:pt x="532" y="21"/>
                    </a:lnTo>
                    <a:lnTo>
                      <a:pt x="526" y="23"/>
                    </a:lnTo>
                    <a:lnTo>
                      <a:pt x="520" y="23"/>
                    </a:lnTo>
                    <a:lnTo>
                      <a:pt x="514" y="21"/>
                    </a:lnTo>
                    <a:lnTo>
                      <a:pt x="506" y="20"/>
                    </a:lnTo>
                    <a:lnTo>
                      <a:pt x="500" y="20"/>
                    </a:lnTo>
                    <a:lnTo>
                      <a:pt x="493" y="21"/>
                    </a:lnTo>
                    <a:lnTo>
                      <a:pt x="487" y="22"/>
                    </a:lnTo>
                    <a:lnTo>
                      <a:pt x="480" y="21"/>
                    </a:lnTo>
                    <a:lnTo>
                      <a:pt x="474" y="18"/>
                    </a:lnTo>
                    <a:lnTo>
                      <a:pt x="466" y="17"/>
                    </a:lnTo>
                    <a:lnTo>
                      <a:pt x="460" y="16"/>
                    </a:lnTo>
                    <a:lnTo>
                      <a:pt x="453" y="15"/>
                    </a:lnTo>
                    <a:lnTo>
                      <a:pt x="447" y="15"/>
                    </a:lnTo>
                    <a:lnTo>
                      <a:pt x="439" y="16"/>
                    </a:lnTo>
                    <a:lnTo>
                      <a:pt x="432" y="18"/>
                    </a:lnTo>
                    <a:lnTo>
                      <a:pt x="424" y="16"/>
                    </a:lnTo>
                    <a:lnTo>
                      <a:pt x="419" y="16"/>
                    </a:lnTo>
                    <a:lnTo>
                      <a:pt x="413" y="16"/>
                    </a:lnTo>
                    <a:lnTo>
                      <a:pt x="407" y="16"/>
                    </a:lnTo>
                    <a:lnTo>
                      <a:pt x="401" y="16"/>
                    </a:lnTo>
                    <a:lnTo>
                      <a:pt x="394" y="15"/>
                    </a:lnTo>
                    <a:lnTo>
                      <a:pt x="389" y="13"/>
                    </a:lnTo>
                    <a:lnTo>
                      <a:pt x="384" y="11"/>
                    </a:lnTo>
                    <a:lnTo>
                      <a:pt x="377" y="9"/>
                    </a:lnTo>
                    <a:lnTo>
                      <a:pt x="371" y="8"/>
                    </a:lnTo>
                    <a:lnTo>
                      <a:pt x="363" y="8"/>
                    </a:lnTo>
                    <a:lnTo>
                      <a:pt x="356" y="7"/>
                    </a:lnTo>
                    <a:lnTo>
                      <a:pt x="347" y="8"/>
                    </a:lnTo>
                    <a:lnTo>
                      <a:pt x="338" y="8"/>
                    </a:lnTo>
                    <a:lnTo>
                      <a:pt x="332" y="8"/>
                    </a:lnTo>
                    <a:lnTo>
                      <a:pt x="324" y="7"/>
                    </a:lnTo>
                    <a:lnTo>
                      <a:pt x="318" y="7"/>
                    </a:lnTo>
                    <a:lnTo>
                      <a:pt x="311" y="6"/>
                    </a:lnTo>
                    <a:lnTo>
                      <a:pt x="305" y="6"/>
                    </a:lnTo>
                    <a:lnTo>
                      <a:pt x="297" y="7"/>
                    </a:lnTo>
                    <a:lnTo>
                      <a:pt x="290" y="8"/>
                    </a:lnTo>
                    <a:lnTo>
                      <a:pt x="285" y="10"/>
                    </a:lnTo>
                    <a:lnTo>
                      <a:pt x="279" y="10"/>
                    </a:lnTo>
                    <a:lnTo>
                      <a:pt x="273" y="10"/>
                    </a:lnTo>
                    <a:lnTo>
                      <a:pt x="267" y="9"/>
                    </a:lnTo>
                    <a:lnTo>
                      <a:pt x="259" y="8"/>
                    </a:lnTo>
                    <a:lnTo>
                      <a:pt x="253" y="8"/>
                    </a:lnTo>
                    <a:lnTo>
                      <a:pt x="248" y="8"/>
                    </a:lnTo>
                    <a:lnTo>
                      <a:pt x="244" y="8"/>
                    </a:lnTo>
                    <a:lnTo>
                      <a:pt x="238" y="10"/>
                    </a:lnTo>
                    <a:lnTo>
                      <a:pt x="232" y="10"/>
                    </a:lnTo>
                    <a:lnTo>
                      <a:pt x="226" y="10"/>
                    </a:lnTo>
                    <a:lnTo>
                      <a:pt x="221" y="9"/>
                    </a:lnTo>
                    <a:lnTo>
                      <a:pt x="215" y="8"/>
                    </a:lnTo>
                    <a:lnTo>
                      <a:pt x="207" y="8"/>
                    </a:lnTo>
                    <a:lnTo>
                      <a:pt x="199" y="8"/>
                    </a:lnTo>
                    <a:lnTo>
                      <a:pt x="193" y="8"/>
                    </a:lnTo>
                    <a:lnTo>
                      <a:pt x="186" y="7"/>
                    </a:lnTo>
                    <a:lnTo>
                      <a:pt x="179" y="6"/>
                    </a:lnTo>
                    <a:lnTo>
                      <a:pt x="172" y="4"/>
                    </a:lnTo>
                    <a:lnTo>
                      <a:pt x="165" y="3"/>
                    </a:lnTo>
                    <a:lnTo>
                      <a:pt x="155" y="1"/>
                    </a:lnTo>
                    <a:lnTo>
                      <a:pt x="143" y="0"/>
                    </a:lnTo>
                    <a:lnTo>
                      <a:pt x="132" y="0"/>
                    </a:lnTo>
                    <a:lnTo>
                      <a:pt x="122" y="1"/>
                    </a:lnTo>
                    <a:lnTo>
                      <a:pt x="109" y="0"/>
                    </a:lnTo>
                    <a:lnTo>
                      <a:pt x="102" y="0"/>
                    </a:lnTo>
                    <a:lnTo>
                      <a:pt x="96" y="1"/>
                    </a:lnTo>
                    <a:lnTo>
                      <a:pt x="89" y="0"/>
                    </a:lnTo>
                    <a:lnTo>
                      <a:pt x="81" y="1"/>
                    </a:lnTo>
                    <a:lnTo>
                      <a:pt x="68" y="6"/>
                    </a:lnTo>
                    <a:lnTo>
                      <a:pt x="60" y="5"/>
                    </a:lnTo>
                    <a:lnTo>
                      <a:pt x="52" y="4"/>
                    </a:lnTo>
                    <a:lnTo>
                      <a:pt x="44" y="4"/>
                    </a:lnTo>
                    <a:lnTo>
                      <a:pt x="37" y="4"/>
                    </a:lnTo>
                    <a:lnTo>
                      <a:pt x="29" y="5"/>
                    </a:lnTo>
                    <a:lnTo>
                      <a:pt x="22" y="6"/>
                    </a:lnTo>
                    <a:lnTo>
                      <a:pt x="14" y="8"/>
                    </a:lnTo>
                    <a:lnTo>
                      <a:pt x="7" y="10"/>
                    </a:lnTo>
                    <a:lnTo>
                      <a:pt x="1" y="11"/>
                    </a:lnTo>
                    <a:lnTo>
                      <a:pt x="0" y="13"/>
                    </a:lnTo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8839" name="Group 36"/>
              <p:cNvGrpSpPr>
                <a:grpSpLocks/>
              </p:cNvGrpSpPr>
              <p:nvPr/>
            </p:nvGrpSpPr>
            <p:grpSpPr bwMode="auto">
              <a:xfrm>
                <a:off x="4213" y="333"/>
                <a:ext cx="102" cy="69"/>
                <a:chOff x="4213" y="333"/>
                <a:chExt cx="102" cy="69"/>
              </a:xfrm>
            </p:grpSpPr>
            <p:sp>
              <p:nvSpPr>
                <p:cNvPr id="8840" name="Freeform 37"/>
                <p:cNvSpPr>
                  <a:spLocks/>
                </p:cNvSpPr>
                <p:nvPr/>
              </p:nvSpPr>
              <p:spPr bwMode="auto">
                <a:xfrm>
                  <a:off x="4213" y="333"/>
                  <a:ext cx="102" cy="64"/>
                </a:xfrm>
                <a:custGeom>
                  <a:avLst/>
                  <a:gdLst>
                    <a:gd name="T0" fmla="*/ 95 w 102"/>
                    <a:gd name="T1" fmla="*/ 6 h 64"/>
                    <a:gd name="T2" fmla="*/ 89 w 102"/>
                    <a:gd name="T3" fmla="*/ 12 h 64"/>
                    <a:gd name="T4" fmla="*/ 86 w 102"/>
                    <a:gd name="T5" fmla="*/ 16 h 64"/>
                    <a:gd name="T6" fmla="*/ 83 w 102"/>
                    <a:gd name="T7" fmla="*/ 19 h 64"/>
                    <a:gd name="T8" fmla="*/ 80 w 102"/>
                    <a:gd name="T9" fmla="*/ 22 h 64"/>
                    <a:gd name="T10" fmla="*/ 77 w 102"/>
                    <a:gd name="T11" fmla="*/ 26 h 64"/>
                    <a:gd name="T12" fmla="*/ 75 w 102"/>
                    <a:gd name="T13" fmla="*/ 29 h 64"/>
                    <a:gd name="T14" fmla="*/ 72 w 102"/>
                    <a:gd name="T15" fmla="*/ 33 h 64"/>
                    <a:gd name="T16" fmla="*/ 70 w 102"/>
                    <a:gd name="T17" fmla="*/ 38 h 64"/>
                    <a:gd name="T18" fmla="*/ 68 w 102"/>
                    <a:gd name="T19" fmla="*/ 42 h 64"/>
                    <a:gd name="T20" fmla="*/ 67 w 102"/>
                    <a:gd name="T21" fmla="*/ 47 h 64"/>
                    <a:gd name="T22" fmla="*/ 66 w 102"/>
                    <a:gd name="T23" fmla="*/ 52 h 64"/>
                    <a:gd name="T24" fmla="*/ 66 w 102"/>
                    <a:gd name="T25" fmla="*/ 57 h 64"/>
                    <a:gd name="T26" fmla="*/ 65 w 102"/>
                    <a:gd name="T27" fmla="*/ 63 h 64"/>
                    <a:gd name="T28" fmla="*/ 0 w 102"/>
                    <a:gd name="T29" fmla="*/ 63 h 64"/>
                    <a:gd name="T30" fmla="*/ 2 w 102"/>
                    <a:gd name="T31" fmla="*/ 59 h 64"/>
                    <a:gd name="T32" fmla="*/ 5 w 102"/>
                    <a:gd name="T33" fmla="*/ 54 h 64"/>
                    <a:gd name="T34" fmla="*/ 9 w 102"/>
                    <a:gd name="T35" fmla="*/ 49 h 64"/>
                    <a:gd name="T36" fmla="*/ 12 w 102"/>
                    <a:gd name="T37" fmla="*/ 45 h 64"/>
                    <a:gd name="T38" fmla="*/ 17 w 102"/>
                    <a:gd name="T39" fmla="*/ 40 h 64"/>
                    <a:gd name="T40" fmla="*/ 22 w 102"/>
                    <a:gd name="T41" fmla="*/ 35 h 64"/>
                    <a:gd name="T42" fmla="*/ 27 w 102"/>
                    <a:gd name="T43" fmla="*/ 31 h 64"/>
                    <a:gd name="T44" fmla="*/ 32 w 102"/>
                    <a:gd name="T45" fmla="*/ 27 h 64"/>
                    <a:gd name="T46" fmla="*/ 38 w 102"/>
                    <a:gd name="T47" fmla="*/ 22 h 64"/>
                    <a:gd name="T48" fmla="*/ 45 w 102"/>
                    <a:gd name="T49" fmla="*/ 17 h 64"/>
                    <a:gd name="T50" fmla="*/ 51 w 102"/>
                    <a:gd name="T51" fmla="*/ 14 h 64"/>
                    <a:gd name="T52" fmla="*/ 56 w 102"/>
                    <a:gd name="T53" fmla="*/ 11 h 64"/>
                    <a:gd name="T54" fmla="*/ 61 w 102"/>
                    <a:gd name="T55" fmla="*/ 9 h 64"/>
                    <a:gd name="T56" fmla="*/ 67 w 102"/>
                    <a:gd name="T57" fmla="*/ 6 h 64"/>
                    <a:gd name="T58" fmla="*/ 72 w 102"/>
                    <a:gd name="T59" fmla="*/ 4 h 64"/>
                    <a:gd name="T60" fmla="*/ 79 w 102"/>
                    <a:gd name="T61" fmla="*/ 3 h 64"/>
                    <a:gd name="T62" fmla="*/ 86 w 102"/>
                    <a:gd name="T63" fmla="*/ 2 h 64"/>
                    <a:gd name="T64" fmla="*/ 91 w 102"/>
                    <a:gd name="T65" fmla="*/ 1 h 64"/>
                    <a:gd name="T66" fmla="*/ 97 w 102"/>
                    <a:gd name="T67" fmla="*/ 1 h 64"/>
                    <a:gd name="T68" fmla="*/ 101 w 102"/>
                    <a:gd name="T69" fmla="*/ 0 h 64"/>
                    <a:gd name="T70" fmla="*/ 95 w 102"/>
                    <a:gd name="T71" fmla="*/ 6 h 64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102" h="64">
                      <a:moveTo>
                        <a:pt x="95" y="6"/>
                      </a:moveTo>
                      <a:lnTo>
                        <a:pt x="89" y="12"/>
                      </a:lnTo>
                      <a:lnTo>
                        <a:pt x="86" y="16"/>
                      </a:lnTo>
                      <a:lnTo>
                        <a:pt x="83" y="19"/>
                      </a:lnTo>
                      <a:lnTo>
                        <a:pt x="80" y="22"/>
                      </a:lnTo>
                      <a:lnTo>
                        <a:pt x="77" y="26"/>
                      </a:lnTo>
                      <a:lnTo>
                        <a:pt x="75" y="29"/>
                      </a:lnTo>
                      <a:lnTo>
                        <a:pt x="72" y="33"/>
                      </a:lnTo>
                      <a:lnTo>
                        <a:pt x="70" y="38"/>
                      </a:lnTo>
                      <a:lnTo>
                        <a:pt x="68" y="42"/>
                      </a:lnTo>
                      <a:lnTo>
                        <a:pt x="67" y="47"/>
                      </a:lnTo>
                      <a:lnTo>
                        <a:pt x="66" y="52"/>
                      </a:lnTo>
                      <a:lnTo>
                        <a:pt x="66" y="57"/>
                      </a:lnTo>
                      <a:lnTo>
                        <a:pt x="65" y="63"/>
                      </a:lnTo>
                      <a:lnTo>
                        <a:pt x="0" y="63"/>
                      </a:lnTo>
                      <a:lnTo>
                        <a:pt x="2" y="59"/>
                      </a:lnTo>
                      <a:lnTo>
                        <a:pt x="5" y="54"/>
                      </a:lnTo>
                      <a:lnTo>
                        <a:pt x="9" y="49"/>
                      </a:lnTo>
                      <a:lnTo>
                        <a:pt x="12" y="45"/>
                      </a:lnTo>
                      <a:lnTo>
                        <a:pt x="17" y="40"/>
                      </a:lnTo>
                      <a:lnTo>
                        <a:pt x="22" y="35"/>
                      </a:lnTo>
                      <a:lnTo>
                        <a:pt x="27" y="31"/>
                      </a:lnTo>
                      <a:lnTo>
                        <a:pt x="32" y="27"/>
                      </a:lnTo>
                      <a:lnTo>
                        <a:pt x="38" y="22"/>
                      </a:lnTo>
                      <a:lnTo>
                        <a:pt x="45" y="17"/>
                      </a:lnTo>
                      <a:lnTo>
                        <a:pt x="51" y="14"/>
                      </a:lnTo>
                      <a:lnTo>
                        <a:pt x="56" y="11"/>
                      </a:lnTo>
                      <a:lnTo>
                        <a:pt x="61" y="9"/>
                      </a:lnTo>
                      <a:lnTo>
                        <a:pt x="67" y="6"/>
                      </a:lnTo>
                      <a:lnTo>
                        <a:pt x="72" y="4"/>
                      </a:lnTo>
                      <a:lnTo>
                        <a:pt x="79" y="3"/>
                      </a:lnTo>
                      <a:lnTo>
                        <a:pt x="86" y="2"/>
                      </a:lnTo>
                      <a:lnTo>
                        <a:pt x="91" y="1"/>
                      </a:lnTo>
                      <a:lnTo>
                        <a:pt x="97" y="1"/>
                      </a:lnTo>
                      <a:lnTo>
                        <a:pt x="101" y="0"/>
                      </a:lnTo>
                      <a:lnTo>
                        <a:pt x="95" y="6"/>
                      </a:lnTo>
                    </a:path>
                  </a:pathLst>
                </a:custGeom>
                <a:noFill/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841" name="Freeform 38"/>
                <p:cNvSpPr>
                  <a:spLocks/>
                </p:cNvSpPr>
                <p:nvPr/>
              </p:nvSpPr>
              <p:spPr bwMode="auto">
                <a:xfrm>
                  <a:off x="4215" y="397"/>
                  <a:ext cx="56" cy="5"/>
                </a:xfrm>
                <a:custGeom>
                  <a:avLst/>
                  <a:gdLst>
                    <a:gd name="T0" fmla="*/ 0 w 56"/>
                    <a:gd name="T1" fmla="*/ 4 h 5"/>
                    <a:gd name="T2" fmla="*/ 0 w 56"/>
                    <a:gd name="T3" fmla="*/ 3 h 5"/>
                    <a:gd name="T4" fmla="*/ 1 w 56"/>
                    <a:gd name="T5" fmla="*/ 0 h 5"/>
                    <a:gd name="T6" fmla="*/ 55 w 56"/>
                    <a:gd name="T7" fmla="*/ 0 h 5"/>
                    <a:gd name="T8" fmla="*/ 55 w 56"/>
                    <a:gd name="T9" fmla="*/ 4 h 5"/>
                    <a:gd name="T10" fmla="*/ 0 w 56"/>
                    <a:gd name="T11" fmla="*/ 4 h 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6" h="5">
                      <a:moveTo>
                        <a:pt x="0" y="4"/>
                      </a:moveTo>
                      <a:lnTo>
                        <a:pt x="0" y="3"/>
                      </a:lnTo>
                      <a:lnTo>
                        <a:pt x="1" y="0"/>
                      </a:lnTo>
                      <a:lnTo>
                        <a:pt x="55" y="0"/>
                      </a:lnTo>
                      <a:lnTo>
                        <a:pt x="55" y="4"/>
                      </a:lnTo>
                      <a:lnTo>
                        <a:pt x="0" y="4"/>
                      </a:lnTo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347" name="Group 39"/>
            <p:cNvGrpSpPr>
              <a:grpSpLocks/>
            </p:cNvGrpSpPr>
            <p:nvPr/>
          </p:nvGrpSpPr>
          <p:grpSpPr bwMode="auto">
            <a:xfrm>
              <a:off x="517" y="284"/>
              <a:ext cx="2121" cy="497"/>
              <a:chOff x="517" y="284"/>
              <a:chExt cx="2121" cy="497"/>
            </a:xfrm>
          </p:grpSpPr>
          <p:grpSp>
            <p:nvGrpSpPr>
              <p:cNvPr id="8348" name="Group 40"/>
              <p:cNvGrpSpPr>
                <a:grpSpLocks/>
              </p:cNvGrpSpPr>
              <p:nvPr/>
            </p:nvGrpSpPr>
            <p:grpSpPr bwMode="auto">
              <a:xfrm>
                <a:off x="517" y="284"/>
                <a:ext cx="321" cy="497"/>
                <a:chOff x="517" y="284"/>
                <a:chExt cx="321" cy="497"/>
              </a:xfrm>
            </p:grpSpPr>
            <p:grpSp>
              <p:nvGrpSpPr>
                <p:cNvPr id="8754" name="Group 41"/>
                <p:cNvGrpSpPr>
                  <a:grpSpLocks/>
                </p:cNvGrpSpPr>
                <p:nvPr/>
              </p:nvGrpSpPr>
              <p:grpSpPr bwMode="auto">
                <a:xfrm>
                  <a:off x="517" y="668"/>
                  <a:ext cx="321" cy="113"/>
                  <a:chOff x="517" y="668"/>
                  <a:chExt cx="321" cy="113"/>
                </a:xfrm>
              </p:grpSpPr>
              <p:sp>
                <p:nvSpPr>
                  <p:cNvPr id="8819" name="Freeform 42"/>
                  <p:cNvSpPr>
                    <a:spLocks/>
                  </p:cNvSpPr>
                  <p:nvPr/>
                </p:nvSpPr>
                <p:spPr bwMode="auto">
                  <a:xfrm>
                    <a:off x="598" y="677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820" name="Freeform 43"/>
                  <p:cNvSpPr>
                    <a:spLocks/>
                  </p:cNvSpPr>
                  <p:nvPr/>
                </p:nvSpPr>
                <p:spPr bwMode="auto">
                  <a:xfrm>
                    <a:off x="517" y="683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821" name="Group 44"/>
                  <p:cNvGrpSpPr>
                    <a:grpSpLocks/>
                  </p:cNvGrpSpPr>
                  <p:nvPr/>
                </p:nvGrpSpPr>
                <p:grpSpPr bwMode="auto">
                  <a:xfrm>
                    <a:off x="544" y="716"/>
                    <a:ext cx="2" cy="5"/>
                    <a:chOff x="544" y="716"/>
                    <a:chExt cx="2" cy="5"/>
                  </a:xfrm>
                </p:grpSpPr>
                <p:sp>
                  <p:nvSpPr>
                    <p:cNvPr id="8832" name="Oval 4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4" y="716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833" name="Arc 46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45" y="719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822" name="Group 47"/>
                  <p:cNvGrpSpPr>
                    <a:grpSpLocks/>
                  </p:cNvGrpSpPr>
                  <p:nvPr/>
                </p:nvGrpSpPr>
                <p:grpSpPr bwMode="auto">
                  <a:xfrm>
                    <a:off x="561" y="703"/>
                    <a:ext cx="19" cy="5"/>
                    <a:chOff x="561" y="703"/>
                    <a:chExt cx="19" cy="5"/>
                  </a:xfrm>
                </p:grpSpPr>
                <p:sp>
                  <p:nvSpPr>
                    <p:cNvPr id="8827" name="Arc 48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65" y="704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828" name="Arc 49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61" y="704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829" name="Arc 50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66" y="704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830" name="Arc 51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70" y="704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831" name="Arc 52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75" y="703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823" name="Freeform 53"/>
                  <p:cNvSpPr>
                    <a:spLocks/>
                  </p:cNvSpPr>
                  <p:nvPr/>
                </p:nvSpPr>
                <p:spPr bwMode="auto">
                  <a:xfrm>
                    <a:off x="517" y="721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824" name="Group 54"/>
                  <p:cNvGrpSpPr>
                    <a:grpSpLocks/>
                  </p:cNvGrpSpPr>
                  <p:nvPr/>
                </p:nvGrpSpPr>
                <p:grpSpPr bwMode="auto">
                  <a:xfrm>
                    <a:off x="581" y="668"/>
                    <a:ext cx="47" cy="37"/>
                    <a:chOff x="581" y="668"/>
                    <a:chExt cx="47" cy="37"/>
                  </a:xfrm>
                </p:grpSpPr>
                <p:sp>
                  <p:nvSpPr>
                    <p:cNvPr id="8825" name="Freeform 55"/>
                    <p:cNvSpPr>
                      <a:spLocks/>
                    </p:cNvSpPr>
                    <p:nvPr/>
                  </p:nvSpPr>
                  <p:spPr bwMode="auto">
                    <a:xfrm>
                      <a:off x="581" y="668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826" name="Freeform 56"/>
                    <p:cNvSpPr>
                      <a:spLocks/>
                    </p:cNvSpPr>
                    <p:nvPr/>
                  </p:nvSpPr>
                  <p:spPr bwMode="auto">
                    <a:xfrm>
                      <a:off x="582" y="698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755" name="Group 57"/>
                <p:cNvGrpSpPr>
                  <a:grpSpLocks/>
                </p:cNvGrpSpPr>
                <p:nvPr/>
              </p:nvGrpSpPr>
              <p:grpSpPr bwMode="auto">
                <a:xfrm>
                  <a:off x="517" y="572"/>
                  <a:ext cx="321" cy="113"/>
                  <a:chOff x="517" y="572"/>
                  <a:chExt cx="321" cy="113"/>
                </a:xfrm>
              </p:grpSpPr>
              <p:sp>
                <p:nvSpPr>
                  <p:cNvPr id="8804" name="Freeform 58"/>
                  <p:cNvSpPr>
                    <a:spLocks/>
                  </p:cNvSpPr>
                  <p:nvPr/>
                </p:nvSpPr>
                <p:spPr bwMode="auto">
                  <a:xfrm>
                    <a:off x="598" y="581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805" name="Freeform 59"/>
                  <p:cNvSpPr>
                    <a:spLocks/>
                  </p:cNvSpPr>
                  <p:nvPr/>
                </p:nvSpPr>
                <p:spPr bwMode="auto">
                  <a:xfrm>
                    <a:off x="517" y="587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806" name="Group 60"/>
                  <p:cNvGrpSpPr>
                    <a:grpSpLocks/>
                  </p:cNvGrpSpPr>
                  <p:nvPr/>
                </p:nvGrpSpPr>
                <p:grpSpPr bwMode="auto">
                  <a:xfrm>
                    <a:off x="544" y="620"/>
                    <a:ext cx="2" cy="5"/>
                    <a:chOff x="544" y="620"/>
                    <a:chExt cx="2" cy="5"/>
                  </a:xfrm>
                </p:grpSpPr>
                <p:sp>
                  <p:nvSpPr>
                    <p:cNvPr id="8817" name="Oval 6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4" y="620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818" name="Arc 62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45" y="623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807" name="Group 63"/>
                  <p:cNvGrpSpPr>
                    <a:grpSpLocks/>
                  </p:cNvGrpSpPr>
                  <p:nvPr/>
                </p:nvGrpSpPr>
                <p:grpSpPr bwMode="auto">
                  <a:xfrm>
                    <a:off x="561" y="607"/>
                    <a:ext cx="19" cy="5"/>
                    <a:chOff x="561" y="607"/>
                    <a:chExt cx="19" cy="5"/>
                  </a:xfrm>
                </p:grpSpPr>
                <p:sp>
                  <p:nvSpPr>
                    <p:cNvPr id="8812" name="Arc 64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65" y="608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813" name="Arc 65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61" y="608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814" name="Arc 66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66" y="608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815" name="Arc 67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70" y="608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816" name="Arc 68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75" y="607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808" name="Freeform 69"/>
                  <p:cNvSpPr>
                    <a:spLocks/>
                  </p:cNvSpPr>
                  <p:nvPr/>
                </p:nvSpPr>
                <p:spPr bwMode="auto">
                  <a:xfrm>
                    <a:off x="517" y="625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809" name="Group 70"/>
                  <p:cNvGrpSpPr>
                    <a:grpSpLocks/>
                  </p:cNvGrpSpPr>
                  <p:nvPr/>
                </p:nvGrpSpPr>
                <p:grpSpPr bwMode="auto">
                  <a:xfrm>
                    <a:off x="581" y="572"/>
                    <a:ext cx="47" cy="37"/>
                    <a:chOff x="581" y="572"/>
                    <a:chExt cx="47" cy="37"/>
                  </a:xfrm>
                </p:grpSpPr>
                <p:sp>
                  <p:nvSpPr>
                    <p:cNvPr id="8810" name="Freeform 71"/>
                    <p:cNvSpPr>
                      <a:spLocks/>
                    </p:cNvSpPr>
                    <p:nvPr/>
                  </p:nvSpPr>
                  <p:spPr bwMode="auto">
                    <a:xfrm>
                      <a:off x="581" y="572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811" name="Freeform 72"/>
                    <p:cNvSpPr>
                      <a:spLocks/>
                    </p:cNvSpPr>
                    <p:nvPr/>
                  </p:nvSpPr>
                  <p:spPr bwMode="auto">
                    <a:xfrm>
                      <a:off x="582" y="602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756" name="Group 73"/>
                <p:cNvGrpSpPr>
                  <a:grpSpLocks/>
                </p:cNvGrpSpPr>
                <p:nvPr/>
              </p:nvGrpSpPr>
              <p:grpSpPr bwMode="auto">
                <a:xfrm>
                  <a:off x="517" y="476"/>
                  <a:ext cx="321" cy="113"/>
                  <a:chOff x="517" y="476"/>
                  <a:chExt cx="321" cy="113"/>
                </a:xfrm>
              </p:grpSpPr>
              <p:sp>
                <p:nvSpPr>
                  <p:cNvPr id="8789" name="Freeform 74"/>
                  <p:cNvSpPr>
                    <a:spLocks/>
                  </p:cNvSpPr>
                  <p:nvPr/>
                </p:nvSpPr>
                <p:spPr bwMode="auto">
                  <a:xfrm>
                    <a:off x="598" y="485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790" name="Freeform 75"/>
                  <p:cNvSpPr>
                    <a:spLocks/>
                  </p:cNvSpPr>
                  <p:nvPr/>
                </p:nvSpPr>
                <p:spPr bwMode="auto">
                  <a:xfrm>
                    <a:off x="517" y="491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791" name="Group 76"/>
                  <p:cNvGrpSpPr>
                    <a:grpSpLocks/>
                  </p:cNvGrpSpPr>
                  <p:nvPr/>
                </p:nvGrpSpPr>
                <p:grpSpPr bwMode="auto">
                  <a:xfrm>
                    <a:off x="544" y="524"/>
                    <a:ext cx="2" cy="5"/>
                    <a:chOff x="544" y="524"/>
                    <a:chExt cx="2" cy="5"/>
                  </a:xfrm>
                </p:grpSpPr>
                <p:sp>
                  <p:nvSpPr>
                    <p:cNvPr id="8802" name="Oval 7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4" y="524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803" name="Arc 78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45" y="527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792" name="Group 79"/>
                  <p:cNvGrpSpPr>
                    <a:grpSpLocks/>
                  </p:cNvGrpSpPr>
                  <p:nvPr/>
                </p:nvGrpSpPr>
                <p:grpSpPr bwMode="auto">
                  <a:xfrm>
                    <a:off x="561" y="511"/>
                    <a:ext cx="19" cy="5"/>
                    <a:chOff x="561" y="511"/>
                    <a:chExt cx="19" cy="5"/>
                  </a:xfrm>
                </p:grpSpPr>
                <p:sp>
                  <p:nvSpPr>
                    <p:cNvPr id="8797" name="Arc 80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65" y="512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98" name="Arc 81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61" y="512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99" name="Arc 82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66" y="512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800" name="Arc 83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70" y="512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801" name="Arc 84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75" y="511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793" name="Freeform 85"/>
                  <p:cNvSpPr>
                    <a:spLocks/>
                  </p:cNvSpPr>
                  <p:nvPr/>
                </p:nvSpPr>
                <p:spPr bwMode="auto">
                  <a:xfrm>
                    <a:off x="517" y="529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794" name="Group 86"/>
                  <p:cNvGrpSpPr>
                    <a:grpSpLocks/>
                  </p:cNvGrpSpPr>
                  <p:nvPr/>
                </p:nvGrpSpPr>
                <p:grpSpPr bwMode="auto">
                  <a:xfrm>
                    <a:off x="581" y="476"/>
                    <a:ext cx="47" cy="37"/>
                    <a:chOff x="581" y="476"/>
                    <a:chExt cx="47" cy="37"/>
                  </a:xfrm>
                </p:grpSpPr>
                <p:sp>
                  <p:nvSpPr>
                    <p:cNvPr id="8795" name="Freeform 87"/>
                    <p:cNvSpPr>
                      <a:spLocks/>
                    </p:cNvSpPr>
                    <p:nvPr/>
                  </p:nvSpPr>
                  <p:spPr bwMode="auto">
                    <a:xfrm>
                      <a:off x="581" y="476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96" name="Freeform 88"/>
                    <p:cNvSpPr>
                      <a:spLocks/>
                    </p:cNvSpPr>
                    <p:nvPr/>
                  </p:nvSpPr>
                  <p:spPr bwMode="auto">
                    <a:xfrm>
                      <a:off x="582" y="506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757" name="Group 89"/>
                <p:cNvGrpSpPr>
                  <a:grpSpLocks/>
                </p:cNvGrpSpPr>
                <p:nvPr/>
              </p:nvGrpSpPr>
              <p:grpSpPr bwMode="auto">
                <a:xfrm>
                  <a:off x="517" y="380"/>
                  <a:ext cx="321" cy="113"/>
                  <a:chOff x="517" y="380"/>
                  <a:chExt cx="321" cy="113"/>
                </a:xfrm>
              </p:grpSpPr>
              <p:sp>
                <p:nvSpPr>
                  <p:cNvPr id="8774" name="Freeform 90"/>
                  <p:cNvSpPr>
                    <a:spLocks/>
                  </p:cNvSpPr>
                  <p:nvPr/>
                </p:nvSpPr>
                <p:spPr bwMode="auto">
                  <a:xfrm>
                    <a:off x="598" y="389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775" name="Freeform 91"/>
                  <p:cNvSpPr>
                    <a:spLocks/>
                  </p:cNvSpPr>
                  <p:nvPr/>
                </p:nvSpPr>
                <p:spPr bwMode="auto">
                  <a:xfrm>
                    <a:off x="517" y="395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776" name="Group 92"/>
                  <p:cNvGrpSpPr>
                    <a:grpSpLocks/>
                  </p:cNvGrpSpPr>
                  <p:nvPr/>
                </p:nvGrpSpPr>
                <p:grpSpPr bwMode="auto">
                  <a:xfrm>
                    <a:off x="544" y="428"/>
                    <a:ext cx="2" cy="5"/>
                    <a:chOff x="544" y="428"/>
                    <a:chExt cx="2" cy="5"/>
                  </a:xfrm>
                </p:grpSpPr>
                <p:sp>
                  <p:nvSpPr>
                    <p:cNvPr id="8787" name="Oval 9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4" y="428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88" name="Arc 94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45" y="431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777" name="Group 95"/>
                  <p:cNvGrpSpPr>
                    <a:grpSpLocks/>
                  </p:cNvGrpSpPr>
                  <p:nvPr/>
                </p:nvGrpSpPr>
                <p:grpSpPr bwMode="auto">
                  <a:xfrm>
                    <a:off x="561" y="415"/>
                    <a:ext cx="19" cy="5"/>
                    <a:chOff x="561" y="415"/>
                    <a:chExt cx="19" cy="5"/>
                  </a:xfrm>
                </p:grpSpPr>
                <p:sp>
                  <p:nvSpPr>
                    <p:cNvPr id="8782" name="Arc 96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65" y="416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83" name="Arc 97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61" y="416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84" name="Arc 98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66" y="416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85" name="Arc 99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70" y="416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86" name="Arc 100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75" y="415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778" name="Freeform 101"/>
                  <p:cNvSpPr>
                    <a:spLocks/>
                  </p:cNvSpPr>
                  <p:nvPr/>
                </p:nvSpPr>
                <p:spPr bwMode="auto">
                  <a:xfrm>
                    <a:off x="517" y="433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779" name="Group 102"/>
                  <p:cNvGrpSpPr>
                    <a:grpSpLocks/>
                  </p:cNvGrpSpPr>
                  <p:nvPr/>
                </p:nvGrpSpPr>
                <p:grpSpPr bwMode="auto">
                  <a:xfrm>
                    <a:off x="581" y="380"/>
                    <a:ext cx="47" cy="37"/>
                    <a:chOff x="581" y="380"/>
                    <a:chExt cx="47" cy="37"/>
                  </a:xfrm>
                </p:grpSpPr>
                <p:sp>
                  <p:nvSpPr>
                    <p:cNvPr id="8780" name="Freeform 103"/>
                    <p:cNvSpPr>
                      <a:spLocks/>
                    </p:cNvSpPr>
                    <p:nvPr/>
                  </p:nvSpPr>
                  <p:spPr bwMode="auto">
                    <a:xfrm>
                      <a:off x="581" y="380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81" name="Freeform 104"/>
                    <p:cNvSpPr>
                      <a:spLocks/>
                    </p:cNvSpPr>
                    <p:nvPr/>
                  </p:nvSpPr>
                  <p:spPr bwMode="auto">
                    <a:xfrm>
                      <a:off x="582" y="410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758" name="Group 105"/>
                <p:cNvGrpSpPr>
                  <a:grpSpLocks/>
                </p:cNvGrpSpPr>
                <p:nvPr/>
              </p:nvGrpSpPr>
              <p:grpSpPr bwMode="auto">
                <a:xfrm>
                  <a:off x="517" y="284"/>
                  <a:ext cx="321" cy="113"/>
                  <a:chOff x="517" y="284"/>
                  <a:chExt cx="321" cy="113"/>
                </a:xfrm>
              </p:grpSpPr>
              <p:sp>
                <p:nvSpPr>
                  <p:cNvPr id="8759" name="Freeform 106"/>
                  <p:cNvSpPr>
                    <a:spLocks/>
                  </p:cNvSpPr>
                  <p:nvPr/>
                </p:nvSpPr>
                <p:spPr bwMode="auto">
                  <a:xfrm>
                    <a:off x="598" y="293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760" name="Freeform 107"/>
                  <p:cNvSpPr>
                    <a:spLocks/>
                  </p:cNvSpPr>
                  <p:nvPr/>
                </p:nvSpPr>
                <p:spPr bwMode="auto">
                  <a:xfrm>
                    <a:off x="517" y="299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761" name="Group 108"/>
                  <p:cNvGrpSpPr>
                    <a:grpSpLocks/>
                  </p:cNvGrpSpPr>
                  <p:nvPr/>
                </p:nvGrpSpPr>
                <p:grpSpPr bwMode="auto">
                  <a:xfrm>
                    <a:off x="544" y="332"/>
                    <a:ext cx="2" cy="5"/>
                    <a:chOff x="544" y="332"/>
                    <a:chExt cx="2" cy="5"/>
                  </a:xfrm>
                </p:grpSpPr>
                <p:sp>
                  <p:nvSpPr>
                    <p:cNvPr id="8772" name="Oval 10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44" y="332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73" name="Arc 110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45" y="335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762" name="Group 111"/>
                  <p:cNvGrpSpPr>
                    <a:grpSpLocks/>
                  </p:cNvGrpSpPr>
                  <p:nvPr/>
                </p:nvGrpSpPr>
                <p:grpSpPr bwMode="auto">
                  <a:xfrm>
                    <a:off x="561" y="319"/>
                    <a:ext cx="19" cy="5"/>
                    <a:chOff x="561" y="319"/>
                    <a:chExt cx="19" cy="5"/>
                  </a:xfrm>
                </p:grpSpPr>
                <p:sp>
                  <p:nvSpPr>
                    <p:cNvPr id="8767" name="Arc 112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65" y="320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68" name="Arc 113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61" y="320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69" name="Arc 114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66" y="320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70" name="Arc 115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70" y="320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71" name="Arc 116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575" y="319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763" name="Freeform 117"/>
                  <p:cNvSpPr>
                    <a:spLocks/>
                  </p:cNvSpPr>
                  <p:nvPr/>
                </p:nvSpPr>
                <p:spPr bwMode="auto">
                  <a:xfrm>
                    <a:off x="517" y="337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764" name="Group 118"/>
                  <p:cNvGrpSpPr>
                    <a:grpSpLocks/>
                  </p:cNvGrpSpPr>
                  <p:nvPr/>
                </p:nvGrpSpPr>
                <p:grpSpPr bwMode="auto">
                  <a:xfrm>
                    <a:off x="581" y="284"/>
                    <a:ext cx="47" cy="37"/>
                    <a:chOff x="581" y="284"/>
                    <a:chExt cx="47" cy="37"/>
                  </a:xfrm>
                </p:grpSpPr>
                <p:sp>
                  <p:nvSpPr>
                    <p:cNvPr id="8765" name="Freeform 119"/>
                    <p:cNvSpPr>
                      <a:spLocks/>
                    </p:cNvSpPr>
                    <p:nvPr/>
                  </p:nvSpPr>
                  <p:spPr bwMode="auto">
                    <a:xfrm>
                      <a:off x="581" y="284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66" name="Freeform 120"/>
                    <p:cNvSpPr>
                      <a:spLocks/>
                    </p:cNvSpPr>
                    <p:nvPr/>
                  </p:nvSpPr>
                  <p:spPr bwMode="auto">
                    <a:xfrm>
                      <a:off x="582" y="314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8349" name="Group 121"/>
              <p:cNvGrpSpPr>
                <a:grpSpLocks/>
              </p:cNvGrpSpPr>
              <p:nvPr/>
            </p:nvGrpSpPr>
            <p:grpSpPr bwMode="auto">
              <a:xfrm>
                <a:off x="865" y="284"/>
                <a:ext cx="321" cy="497"/>
                <a:chOff x="865" y="284"/>
                <a:chExt cx="321" cy="497"/>
              </a:xfrm>
            </p:grpSpPr>
            <p:grpSp>
              <p:nvGrpSpPr>
                <p:cNvPr id="8674" name="Group 122"/>
                <p:cNvGrpSpPr>
                  <a:grpSpLocks/>
                </p:cNvGrpSpPr>
                <p:nvPr/>
              </p:nvGrpSpPr>
              <p:grpSpPr bwMode="auto">
                <a:xfrm>
                  <a:off x="865" y="668"/>
                  <a:ext cx="321" cy="113"/>
                  <a:chOff x="865" y="668"/>
                  <a:chExt cx="321" cy="113"/>
                </a:xfrm>
              </p:grpSpPr>
              <p:sp>
                <p:nvSpPr>
                  <p:cNvPr id="8739" name="Freeform 123"/>
                  <p:cNvSpPr>
                    <a:spLocks/>
                  </p:cNvSpPr>
                  <p:nvPr/>
                </p:nvSpPr>
                <p:spPr bwMode="auto">
                  <a:xfrm>
                    <a:off x="946" y="677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740" name="Freeform 124"/>
                  <p:cNvSpPr>
                    <a:spLocks/>
                  </p:cNvSpPr>
                  <p:nvPr/>
                </p:nvSpPr>
                <p:spPr bwMode="auto">
                  <a:xfrm>
                    <a:off x="865" y="683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741" name="Group 125"/>
                  <p:cNvGrpSpPr>
                    <a:grpSpLocks/>
                  </p:cNvGrpSpPr>
                  <p:nvPr/>
                </p:nvGrpSpPr>
                <p:grpSpPr bwMode="auto">
                  <a:xfrm>
                    <a:off x="892" y="716"/>
                    <a:ext cx="2" cy="5"/>
                    <a:chOff x="892" y="716"/>
                    <a:chExt cx="2" cy="5"/>
                  </a:xfrm>
                </p:grpSpPr>
                <p:sp>
                  <p:nvSpPr>
                    <p:cNvPr id="8752" name="Oval 12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92" y="716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53" name="Arc 127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893" y="719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742" name="Group 128"/>
                  <p:cNvGrpSpPr>
                    <a:grpSpLocks/>
                  </p:cNvGrpSpPr>
                  <p:nvPr/>
                </p:nvGrpSpPr>
                <p:grpSpPr bwMode="auto">
                  <a:xfrm>
                    <a:off x="909" y="703"/>
                    <a:ext cx="19" cy="5"/>
                    <a:chOff x="909" y="703"/>
                    <a:chExt cx="19" cy="5"/>
                  </a:xfrm>
                </p:grpSpPr>
                <p:sp>
                  <p:nvSpPr>
                    <p:cNvPr id="8747" name="Arc 129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13" y="704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48" name="Arc 130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09" y="704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49" name="Arc 131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14" y="704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50" name="Arc 132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18" y="704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51" name="Arc 133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23" y="703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743" name="Freeform 134"/>
                  <p:cNvSpPr>
                    <a:spLocks/>
                  </p:cNvSpPr>
                  <p:nvPr/>
                </p:nvSpPr>
                <p:spPr bwMode="auto">
                  <a:xfrm>
                    <a:off x="865" y="721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744" name="Group 135"/>
                  <p:cNvGrpSpPr>
                    <a:grpSpLocks/>
                  </p:cNvGrpSpPr>
                  <p:nvPr/>
                </p:nvGrpSpPr>
                <p:grpSpPr bwMode="auto">
                  <a:xfrm>
                    <a:off x="929" y="668"/>
                    <a:ext cx="47" cy="37"/>
                    <a:chOff x="929" y="668"/>
                    <a:chExt cx="47" cy="37"/>
                  </a:xfrm>
                </p:grpSpPr>
                <p:sp>
                  <p:nvSpPr>
                    <p:cNvPr id="8745" name="Freeform 136"/>
                    <p:cNvSpPr>
                      <a:spLocks/>
                    </p:cNvSpPr>
                    <p:nvPr/>
                  </p:nvSpPr>
                  <p:spPr bwMode="auto">
                    <a:xfrm>
                      <a:off x="929" y="668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46" name="Freeform 137"/>
                    <p:cNvSpPr>
                      <a:spLocks/>
                    </p:cNvSpPr>
                    <p:nvPr/>
                  </p:nvSpPr>
                  <p:spPr bwMode="auto">
                    <a:xfrm>
                      <a:off x="930" y="698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675" name="Group 138"/>
                <p:cNvGrpSpPr>
                  <a:grpSpLocks/>
                </p:cNvGrpSpPr>
                <p:nvPr/>
              </p:nvGrpSpPr>
              <p:grpSpPr bwMode="auto">
                <a:xfrm>
                  <a:off x="865" y="572"/>
                  <a:ext cx="321" cy="113"/>
                  <a:chOff x="865" y="572"/>
                  <a:chExt cx="321" cy="113"/>
                </a:xfrm>
              </p:grpSpPr>
              <p:sp>
                <p:nvSpPr>
                  <p:cNvPr id="8724" name="Freeform 139"/>
                  <p:cNvSpPr>
                    <a:spLocks/>
                  </p:cNvSpPr>
                  <p:nvPr/>
                </p:nvSpPr>
                <p:spPr bwMode="auto">
                  <a:xfrm>
                    <a:off x="946" y="581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725" name="Freeform 140"/>
                  <p:cNvSpPr>
                    <a:spLocks/>
                  </p:cNvSpPr>
                  <p:nvPr/>
                </p:nvSpPr>
                <p:spPr bwMode="auto">
                  <a:xfrm>
                    <a:off x="865" y="587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726" name="Group 141"/>
                  <p:cNvGrpSpPr>
                    <a:grpSpLocks/>
                  </p:cNvGrpSpPr>
                  <p:nvPr/>
                </p:nvGrpSpPr>
                <p:grpSpPr bwMode="auto">
                  <a:xfrm>
                    <a:off x="892" y="620"/>
                    <a:ext cx="2" cy="5"/>
                    <a:chOff x="892" y="620"/>
                    <a:chExt cx="2" cy="5"/>
                  </a:xfrm>
                </p:grpSpPr>
                <p:sp>
                  <p:nvSpPr>
                    <p:cNvPr id="8737" name="Oval 14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92" y="620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38" name="Arc 143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893" y="623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727" name="Group 144"/>
                  <p:cNvGrpSpPr>
                    <a:grpSpLocks/>
                  </p:cNvGrpSpPr>
                  <p:nvPr/>
                </p:nvGrpSpPr>
                <p:grpSpPr bwMode="auto">
                  <a:xfrm>
                    <a:off x="909" y="607"/>
                    <a:ext cx="19" cy="5"/>
                    <a:chOff x="909" y="607"/>
                    <a:chExt cx="19" cy="5"/>
                  </a:xfrm>
                </p:grpSpPr>
                <p:sp>
                  <p:nvSpPr>
                    <p:cNvPr id="8732" name="Arc 145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13" y="608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33" name="Arc 146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09" y="608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34" name="Arc 147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14" y="608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35" name="Arc 148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18" y="608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36" name="Arc 149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23" y="607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728" name="Freeform 150"/>
                  <p:cNvSpPr>
                    <a:spLocks/>
                  </p:cNvSpPr>
                  <p:nvPr/>
                </p:nvSpPr>
                <p:spPr bwMode="auto">
                  <a:xfrm>
                    <a:off x="865" y="625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729" name="Group 151"/>
                  <p:cNvGrpSpPr>
                    <a:grpSpLocks/>
                  </p:cNvGrpSpPr>
                  <p:nvPr/>
                </p:nvGrpSpPr>
                <p:grpSpPr bwMode="auto">
                  <a:xfrm>
                    <a:off x="929" y="572"/>
                    <a:ext cx="47" cy="37"/>
                    <a:chOff x="929" y="572"/>
                    <a:chExt cx="47" cy="37"/>
                  </a:xfrm>
                </p:grpSpPr>
                <p:sp>
                  <p:nvSpPr>
                    <p:cNvPr id="8730" name="Freeform 152"/>
                    <p:cNvSpPr>
                      <a:spLocks/>
                    </p:cNvSpPr>
                    <p:nvPr/>
                  </p:nvSpPr>
                  <p:spPr bwMode="auto">
                    <a:xfrm>
                      <a:off x="929" y="572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31" name="Freeform 153"/>
                    <p:cNvSpPr>
                      <a:spLocks/>
                    </p:cNvSpPr>
                    <p:nvPr/>
                  </p:nvSpPr>
                  <p:spPr bwMode="auto">
                    <a:xfrm>
                      <a:off x="930" y="602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676" name="Group 154"/>
                <p:cNvGrpSpPr>
                  <a:grpSpLocks/>
                </p:cNvGrpSpPr>
                <p:nvPr/>
              </p:nvGrpSpPr>
              <p:grpSpPr bwMode="auto">
                <a:xfrm>
                  <a:off x="865" y="476"/>
                  <a:ext cx="321" cy="113"/>
                  <a:chOff x="865" y="476"/>
                  <a:chExt cx="321" cy="113"/>
                </a:xfrm>
              </p:grpSpPr>
              <p:sp>
                <p:nvSpPr>
                  <p:cNvPr id="8709" name="Freeform 155"/>
                  <p:cNvSpPr>
                    <a:spLocks/>
                  </p:cNvSpPr>
                  <p:nvPr/>
                </p:nvSpPr>
                <p:spPr bwMode="auto">
                  <a:xfrm>
                    <a:off x="946" y="485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710" name="Freeform 156"/>
                  <p:cNvSpPr>
                    <a:spLocks/>
                  </p:cNvSpPr>
                  <p:nvPr/>
                </p:nvSpPr>
                <p:spPr bwMode="auto">
                  <a:xfrm>
                    <a:off x="865" y="491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711" name="Group 157"/>
                  <p:cNvGrpSpPr>
                    <a:grpSpLocks/>
                  </p:cNvGrpSpPr>
                  <p:nvPr/>
                </p:nvGrpSpPr>
                <p:grpSpPr bwMode="auto">
                  <a:xfrm>
                    <a:off x="892" y="524"/>
                    <a:ext cx="2" cy="5"/>
                    <a:chOff x="892" y="524"/>
                    <a:chExt cx="2" cy="5"/>
                  </a:xfrm>
                </p:grpSpPr>
                <p:sp>
                  <p:nvSpPr>
                    <p:cNvPr id="8722" name="Oval 15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92" y="524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23" name="Arc 159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893" y="527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712" name="Group 160"/>
                  <p:cNvGrpSpPr>
                    <a:grpSpLocks/>
                  </p:cNvGrpSpPr>
                  <p:nvPr/>
                </p:nvGrpSpPr>
                <p:grpSpPr bwMode="auto">
                  <a:xfrm>
                    <a:off x="909" y="511"/>
                    <a:ext cx="19" cy="5"/>
                    <a:chOff x="909" y="511"/>
                    <a:chExt cx="19" cy="5"/>
                  </a:xfrm>
                </p:grpSpPr>
                <p:sp>
                  <p:nvSpPr>
                    <p:cNvPr id="8717" name="Arc 161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13" y="512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18" name="Arc 162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09" y="512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19" name="Arc 163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14" y="512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20" name="Arc 164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18" y="512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21" name="Arc 165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23" y="511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713" name="Freeform 166"/>
                  <p:cNvSpPr>
                    <a:spLocks/>
                  </p:cNvSpPr>
                  <p:nvPr/>
                </p:nvSpPr>
                <p:spPr bwMode="auto">
                  <a:xfrm>
                    <a:off x="865" y="529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714" name="Group 167"/>
                  <p:cNvGrpSpPr>
                    <a:grpSpLocks/>
                  </p:cNvGrpSpPr>
                  <p:nvPr/>
                </p:nvGrpSpPr>
                <p:grpSpPr bwMode="auto">
                  <a:xfrm>
                    <a:off x="929" y="476"/>
                    <a:ext cx="47" cy="37"/>
                    <a:chOff x="929" y="476"/>
                    <a:chExt cx="47" cy="37"/>
                  </a:xfrm>
                </p:grpSpPr>
                <p:sp>
                  <p:nvSpPr>
                    <p:cNvPr id="8715" name="Freeform 168"/>
                    <p:cNvSpPr>
                      <a:spLocks/>
                    </p:cNvSpPr>
                    <p:nvPr/>
                  </p:nvSpPr>
                  <p:spPr bwMode="auto">
                    <a:xfrm>
                      <a:off x="929" y="476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16" name="Freeform 169"/>
                    <p:cNvSpPr>
                      <a:spLocks/>
                    </p:cNvSpPr>
                    <p:nvPr/>
                  </p:nvSpPr>
                  <p:spPr bwMode="auto">
                    <a:xfrm>
                      <a:off x="930" y="506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677" name="Group 170"/>
                <p:cNvGrpSpPr>
                  <a:grpSpLocks/>
                </p:cNvGrpSpPr>
                <p:nvPr/>
              </p:nvGrpSpPr>
              <p:grpSpPr bwMode="auto">
                <a:xfrm>
                  <a:off x="865" y="380"/>
                  <a:ext cx="321" cy="113"/>
                  <a:chOff x="865" y="380"/>
                  <a:chExt cx="321" cy="113"/>
                </a:xfrm>
              </p:grpSpPr>
              <p:sp>
                <p:nvSpPr>
                  <p:cNvPr id="8694" name="Freeform 171"/>
                  <p:cNvSpPr>
                    <a:spLocks/>
                  </p:cNvSpPr>
                  <p:nvPr/>
                </p:nvSpPr>
                <p:spPr bwMode="auto">
                  <a:xfrm>
                    <a:off x="946" y="389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695" name="Freeform 172"/>
                  <p:cNvSpPr>
                    <a:spLocks/>
                  </p:cNvSpPr>
                  <p:nvPr/>
                </p:nvSpPr>
                <p:spPr bwMode="auto">
                  <a:xfrm>
                    <a:off x="865" y="395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696" name="Group 173"/>
                  <p:cNvGrpSpPr>
                    <a:grpSpLocks/>
                  </p:cNvGrpSpPr>
                  <p:nvPr/>
                </p:nvGrpSpPr>
                <p:grpSpPr bwMode="auto">
                  <a:xfrm>
                    <a:off x="892" y="428"/>
                    <a:ext cx="2" cy="5"/>
                    <a:chOff x="892" y="428"/>
                    <a:chExt cx="2" cy="5"/>
                  </a:xfrm>
                </p:grpSpPr>
                <p:sp>
                  <p:nvSpPr>
                    <p:cNvPr id="8707" name="Oval 17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92" y="428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08" name="Arc 175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893" y="431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697" name="Group 176"/>
                  <p:cNvGrpSpPr>
                    <a:grpSpLocks/>
                  </p:cNvGrpSpPr>
                  <p:nvPr/>
                </p:nvGrpSpPr>
                <p:grpSpPr bwMode="auto">
                  <a:xfrm>
                    <a:off x="909" y="415"/>
                    <a:ext cx="19" cy="5"/>
                    <a:chOff x="909" y="415"/>
                    <a:chExt cx="19" cy="5"/>
                  </a:xfrm>
                </p:grpSpPr>
                <p:sp>
                  <p:nvSpPr>
                    <p:cNvPr id="8702" name="Arc 177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13" y="416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03" name="Arc 178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09" y="416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04" name="Arc 179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14" y="416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05" name="Arc 180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18" y="416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06" name="Arc 181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23" y="415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698" name="Freeform 182"/>
                  <p:cNvSpPr>
                    <a:spLocks/>
                  </p:cNvSpPr>
                  <p:nvPr/>
                </p:nvSpPr>
                <p:spPr bwMode="auto">
                  <a:xfrm>
                    <a:off x="865" y="433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699" name="Group 183"/>
                  <p:cNvGrpSpPr>
                    <a:grpSpLocks/>
                  </p:cNvGrpSpPr>
                  <p:nvPr/>
                </p:nvGrpSpPr>
                <p:grpSpPr bwMode="auto">
                  <a:xfrm>
                    <a:off x="929" y="380"/>
                    <a:ext cx="47" cy="37"/>
                    <a:chOff x="929" y="380"/>
                    <a:chExt cx="47" cy="37"/>
                  </a:xfrm>
                </p:grpSpPr>
                <p:sp>
                  <p:nvSpPr>
                    <p:cNvPr id="8700" name="Freeform 184"/>
                    <p:cNvSpPr>
                      <a:spLocks/>
                    </p:cNvSpPr>
                    <p:nvPr/>
                  </p:nvSpPr>
                  <p:spPr bwMode="auto">
                    <a:xfrm>
                      <a:off x="929" y="380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701" name="Freeform 185"/>
                    <p:cNvSpPr>
                      <a:spLocks/>
                    </p:cNvSpPr>
                    <p:nvPr/>
                  </p:nvSpPr>
                  <p:spPr bwMode="auto">
                    <a:xfrm>
                      <a:off x="930" y="410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678" name="Group 186"/>
                <p:cNvGrpSpPr>
                  <a:grpSpLocks/>
                </p:cNvGrpSpPr>
                <p:nvPr/>
              </p:nvGrpSpPr>
              <p:grpSpPr bwMode="auto">
                <a:xfrm>
                  <a:off x="865" y="284"/>
                  <a:ext cx="321" cy="113"/>
                  <a:chOff x="865" y="284"/>
                  <a:chExt cx="321" cy="113"/>
                </a:xfrm>
              </p:grpSpPr>
              <p:sp>
                <p:nvSpPr>
                  <p:cNvPr id="8679" name="Freeform 187"/>
                  <p:cNvSpPr>
                    <a:spLocks/>
                  </p:cNvSpPr>
                  <p:nvPr/>
                </p:nvSpPr>
                <p:spPr bwMode="auto">
                  <a:xfrm>
                    <a:off x="946" y="293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680" name="Freeform 188"/>
                  <p:cNvSpPr>
                    <a:spLocks/>
                  </p:cNvSpPr>
                  <p:nvPr/>
                </p:nvSpPr>
                <p:spPr bwMode="auto">
                  <a:xfrm>
                    <a:off x="865" y="299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681" name="Group 189"/>
                  <p:cNvGrpSpPr>
                    <a:grpSpLocks/>
                  </p:cNvGrpSpPr>
                  <p:nvPr/>
                </p:nvGrpSpPr>
                <p:grpSpPr bwMode="auto">
                  <a:xfrm>
                    <a:off x="892" y="332"/>
                    <a:ext cx="2" cy="5"/>
                    <a:chOff x="892" y="332"/>
                    <a:chExt cx="2" cy="5"/>
                  </a:xfrm>
                </p:grpSpPr>
                <p:sp>
                  <p:nvSpPr>
                    <p:cNvPr id="8692" name="Oval 19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92" y="332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93" name="Arc 191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893" y="335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682" name="Group 192"/>
                  <p:cNvGrpSpPr>
                    <a:grpSpLocks/>
                  </p:cNvGrpSpPr>
                  <p:nvPr/>
                </p:nvGrpSpPr>
                <p:grpSpPr bwMode="auto">
                  <a:xfrm>
                    <a:off x="909" y="319"/>
                    <a:ext cx="19" cy="5"/>
                    <a:chOff x="909" y="319"/>
                    <a:chExt cx="19" cy="5"/>
                  </a:xfrm>
                </p:grpSpPr>
                <p:sp>
                  <p:nvSpPr>
                    <p:cNvPr id="8687" name="Arc 193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13" y="320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88" name="Arc 194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09" y="320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89" name="Arc 195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14" y="320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90" name="Arc 196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18" y="320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91" name="Arc 197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923" y="319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683" name="Freeform 198"/>
                  <p:cNvSpPr>
                    <a:spLocks/>
                  </p:cNvSpPr>
                  <p:nvPr/>
                </p:nvSpPr>
                <p:spPr bwMode="auto">
                  <a:xfrm>
                    <a:off x="865" y="337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684" name="Group 199"/>
                  <p:cNvGrpSpPr>
                    <a:grpSpLocks/>
                  </p:cNvGrpSpPr>
                  <p:nvPr/>
                </p:nvGrpSpPr>
                <p:grpSpPr bwMode="auto">
                  <a:xfrm>
                    <a:off x="929" y="284"/>
                    <a:ext cx="47" cy="37"/>
                    <a:chOff x="929" y="284"/>
                    <a:chExt cx="47" cy="37"/>
                  </a:xfrm>
                </p:grpSpPr>
                <p:sp>
                  <p:nvSpPr>
                    <p:cNvPr id="8685" name="Freeform 200"/>
                    <p:cNvSpPr>
                      <a:spLocks/>
                    </p:cNvSpPr>
                    <p:nvPr/>
                  </p:nvSpPr>
                  <p:spPr bwMode="auto">
                    <a:xfrm>
                      <a:off x="929" y="284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86" name="Freeform 201"/>
                    <p:cNvSpPr>
                      <a:spLocks/>
                    </p:cNvSpPr>
                    <p:nvPr/>
                  </p:nvSpPr>
                  <p:spPr bwMode="auto">
                    <a:xfrm>
                      <a:off x="930" y="314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8350" name="Group 202"/>
              <p:cNvGrpSpPr>
                <a:grpSpLocks/>
              </p:cNvGrpSpPr>
              <p:nvPr/>
            </p:nvGrpSpPr>
            <p:grpSpPr bwMode="auto">
              <a:xfrm>
                <a:off x="1213" y="284"/>
                <a:ext cx="321" cy="497"/>
                <a:chOff x="1213" y="284"/>
                <a:chExt cx="321" cy="497"/>
              </a:xfrm>
            </p:grpSpPr>
            <p:grpSp>
              <p:nvGrpSpPr>
                <p:cNvPr id="8594" name="Group 203"/>
                <p:cNvGrpSpPr>
                  <a:grpSpLocks/>
                </p:cNvGrpSpPr>
                <p:nvPr/>
              </p:nvGrpSpPr>
              <p:grpSpPr bwMode="auto">
                <a:xfrm>
                  <a:off x="1213" y="668"/>
                  <a:ext cx="321" cy="113"/>
                  <a:chOff x="1213" y="668"/>
                  <a:chExt cx="321" cy="113"/>
                </a:xfrm>
              </p:grpSpPr>
              <p:sp>
                <p:nvSpPr>
                  <p:cNvPr id="8659" name="Freeform 204"/>
                  <p:cNvSpPr>
                    <a:spLocks/>
                  </p:cNvSpPr>
                  <p:nvPr/>
                </p:nvSpPr>
                <p:spPr bwMode="auto">
                  <a:xfrm>
                    <a:off x="1294" y="677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660" name="Freeform 205"/>
                  <p:cNvSpPr>
                    <a:spLocks/>
                  </p:cNvSpPr>
                  <p:nvPr/>
                </p:nvSpPr>
                <p:spPr bwMode="auto">
                  <a:xfrm>
                    <a:off x="1213" y="683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661" name="Group 206"/>
                  <p:cNvGrpSpPr>
                    <a:grpSpLocks/>
                  </p:cNvGrpSpPr>
                  <p:nvPr/>
                </p:nvGrpSpPr>
                <p:grpSpPr bwMode="auto">
                  <a:xfrm>
                    <a:off x="1240" y="716"/>
                    <a:ext cx="2" cy="5"/>
                    <a:chOff x="1240" y="716"/>
                    <a:chExt cx="2" cy="5"/>
                  </a:xfrm>
                </p:grpSpPr>
                <p:sp>
                  <p:nvSpPr>
                    <p:cNvPr id="8672" name="Oval 20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40" y="716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73" name="Arc 208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41" y="719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662" name="Group 209"/>
                  <p:cNvGrpSpPr>
                    <a:grpSpLocks/>
                  </p:cNvGrpSpPr>
                  <p:nvPr/>
                </p:nvGrpSpPr>
                <p:grpSpPr bwMode="auto">
                  <a:xfrm>
                    <a:off x="1257" y="703"/>
                    <a:ext cx="19" cy="5"/>
                    <a:chOff x="1257" y="703"/>
                    <a:chExt cx="19" cy="5"/>
                  </a:xfrm>
                </p:grpSpPr>
                <p:sp>
                  <p:nvSpPr>
                    <p:cNvPr id="8667" name="Arc 210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61" y="704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68" name="Arc 211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57" y="704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69" name="Arc 212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62" y="704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70" name="Arc 213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66" y="704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71" name="Arc 214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71" y="703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663" name="Freeform 215"/>
                  <p:cNvSpPr>
                    <a:spLocks/>
                  </p:cNvSpPr>
                  <p:nvPr/>
                </p:nvSpPr>
                <p:spPr bwMode="auto">
                  <a:xfrm>
                    <a:off x="1213" y="721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664" name="Group 216"/>
                  <p:cNvGrpSpPr>
                    <a:grpSpLocks/>
                  </p:cNvGrpSpPr>
                  <p:nvPr/>
                </p:nvGrpSpPr>
                <p:grpSpPr bwMode="auto">
                  <a:xfrm>
                    <a:off x="1277" y="668"/>
                    <a:ext cx="47" cy="37"/>
                    <a:chOff x="1277" y="668"/>
                    <a:chExt cx="47" cy="37"/>
                  </a:xfrm>
                </p:grpSpPr>
                <p:sp>
                  <p:nvSpPr>
                    <p:cNvPr id="8665" name="Freeform 217"/>
                    <p:cNvSpPr>
                      <a:spLocks/>
                    </p:cNvSpPr>
                    <p:nvPr/>
                  </p:nvSpPr>
                  <p:spPr bwMode="auto">
                    <a:xfrm>
                      <a:off x="1277" y="668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66" name="Freeform 218"/>
                    <p:cNvSpPr>
                      <a:spLocks/>
                    </p:cNvSpPr>
                    <p:nvPr/>
                  </p:nvSpPr>
                  <p:spPr bwMode="auto">
                    <a:xfrm>
                      <a:off x="1278" y="698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595" name="Group 219"/>
                <p:cNvGrpSpPr>
                  <a:grpSpLocks/>
                </p:cNvGrpSpPr>
                <p:nvPr/>
              </p:nvGrpSpPr>
              <p:grpSpPr bwMode="auto">
                <a:xfrm>
                  <a:off x="1213" y="572"/>
                  <a:ext cx="321" cy="113"/>
                  <a:chOff x="1213" y="572"/>
                  <a:chExt cx="321" cy="113"/>
                </a:xfrm>
              </p:grpSpPr>
              <p:sp>
                <p:nvSpPr>
                  <p:cNvPr id="8644" name="Freeform 220"/>
                  <p:cNvSpPr>
                    <a:spLocks/>
                  </p:cNvSpPr>
                  <p:nvPr/>
                </p:nvSpPr>
                <p:spPr bwMode="auto">
                  <a:xfrm>
                    <a:off x="1294" y="581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645" name="Freeform 221"/>
                  <p:cNvSpPr>
                    <a:spLocks/>
                  </p:cNvSpPr>
                  <p:nvPr/>
                </p:nvSpPr>
                <p:spPr bwMode="auto">
                  <a:xfrm>
                    <a:off x="1213" y="587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646" name="Group 222"/>
                  <p:cNvGrpSpPr>
                    <a:grpSpLocks/>
                  </p:cNvGrpSpPr>
                  <p:nvPr/>
                </p:nvGrpSpPr>
                <p:grpSpPr bwMode="auto">
                  <a:xfrm>
                    <a:off x="1240" y="620"/>
                    <a:ext cx="2" cy="5"/>
                    <a:chOff x="1240" y="620"/>
                    <a:chExt cx="2" cy="5"/>
                  </a:xfrm>
                </p:grpSpPr>
                <p:sp>
                  <p:nvSpPr>
                    <p:cNvPr id="8657" name="Oval 2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40" y="620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58" name="Arc 224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41" y="623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647" name="Group 225"/>
                  <p:cNvGrpSpPr>
                    <a:grpSpLocks/>
                  </p:cNvGrpSpPr>
                  <p:nvPr/>
                </p:nvGrpSpPr>
                <p:grpSpPr bwMode="auto">
                  <a:xfrm>
                    <a:off x="1257" y="607"/>
                    <a:ext cx="19" cy="5"/>
                    <a:chOff x="1257" y="607"/>
                    <a:chExt cx="19" cy="5"/>
                  </a:xfrm>
                </p:grpSpPr>
                <p:sp>
                  <p:nvSpPr>
                    <p:cNvPr id="8652" name="Arc 226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61" y="608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53" name="Arc 227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57" y="608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54" name="Arc 228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62" y="608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55" name="Arc 229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66" y="608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56" name="Arc 230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71" y="607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648" name="Freeform 231"/>
                  <p:cNvSpPr>
                    <a:spLocks/>
                  </p:cNvSpPr>
                  <p:nvPr/>
                </p:nvSpPr>
                <p:spPr bwMode="auto">
                  <a:xfrm>
                    <a:off x="1213" y="625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649" name="Group 232"/>
                  <p:cNvGrpSpPr>
                    <a:grpSpLocks/>
                  </p:cNvGrpSpPr>
                  <p:nvPr/>
                </p:nvGrpSpPr>
                <p:grpSpPr bwMode="auto">
                  <a:xfrm>
                    <a:off x="1277" y="572"/>
                    <a:ext cx="47" cy="37"/>
                    <a:chOff x="1277" y="572"/>
                    <a:chExt cx="47" cy="37"/>
                  </a:xfrm>
                </p:grpSpPr>
                <p:sp>
                  <p:nvSpPr>
                    <p:cNvPr id="8650" name="Freeform 233"/>
                    <p:cNvSpPr>
                      <a:spLocks/>
                    </p:cNvSpPr>
                    <p:nvPr/>
                  </p:nvSpPr>
                  <p:spPr bwMode="auto">
                    <a:xfrm>
                      <a:off x="1277" y="572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51" name="Freeform 234"/>
                    <p:cNvSpPr>
                      <a:spLocks/>
                    </p:cNvSpPr>
                    <p:nvPr/>
                  </p:nvSpPr>
                  <p:spPr bwMode="auto">
                    <a:xfrm>
                      <a:off x="1278" y="602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596" name="Group 235"/>
                <p:cNvGrpSpPr>
                  <a:grpSpLocks/>
                </p:cNvGrpSpPr>
                <p:nvPr/>
              </p:nvGrpSpPr>
              <p:grpSpPr bwMode="auto">
                <a:xfrm>
                  <a:off x="1213" y="476"/>
                  <a:ext cx="321" cy="113"/>
                  <a:chOff x="1213" y="476"/>
                  <a:chExt cx="321" cy="113"/>
                </a:xfrm>
              </p:grpSpPr>
              <p:sp>
                <p:nvSpPr>
                  <p:cNvPr id="8629" name="Freeform 236"/>
                  <p:cNvSpPr>
                    <a:spLocks/>
                  </p:cNvSpPr>
                  <p:nvPr/>
                </p:nvSpPr>
                <p:spPr bwMode="auto">
                  <a:xfrm>
                    <a:off x="1294" y="485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630" name="Freeform 237"/>
                  <p:cNvSpPr>
                    <a:spLocks/>
                  </p:cNvSpPr>
                  <p:nvPr/>
                </p:nvSpPr>
                <p:spPr bwMode="auto">
                  <a:xfrm>
                    <a:off x="1213" y="491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631" name="Group 238"/>
                  <p:cNvGrpSpPr>
                    <a:grpSpLocks/>
                  </p:cNvGrpSpPr>
                  <p:nvPr/>
                </p:nvGrpSpPr>
                <p:grpSpPr bwMode="auto">
                  <a:xfrm>
                    <a:off x="1240" y="524"/>
                    <a:ext cx="2" cy="5"/>
                    <a:chOff x="1240" y="524"/>
                    <a:chExt cx="2" cy="5"/>
                  </a:xfrm>
                </p:grpSpPr>
                <p:sp>
                  <p:nvSpPr>
                    <p:cNvPr id="8642" name="Oval 2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40" y="524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43" name="Arc 240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41" y="527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632" name="Group 241"/>
                  <p:cNvGrpSpPr>
                    <a:grpSpLocks/>
                  </p:cNvGrpSpPr>
                  <p:nvPr/>
                </p:nvGrpSpPr>
                <p:grpSpPr bwMode="auto">
                  <a:xfrm>
                    <a:off x="1257" y="511"/>
                    <a:ext cx="19" cy="5"/>
                    <a:chOff x="1257" y="511"/>
                    <a:chExt cx="19" cy="5"/>
                  </a:xfrm>
                </p:grpSpPr>
                <p:sp>
                  <p:nvSpPr>
                    <p:cNvPr id="8637" name="Arc 242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61" y="512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38" name="Arc 243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57" y="512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39" name="Arc 244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62" y="512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40" name="Arc 245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66" y="512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41" name="Arc 246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71" y="511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633" name="Freeform 247"/>
                  <p:cNvSpPr>
                    <a:spLocks/>
                  </p:cNvSpPr>
                  <p:nvPr/>
                </p:nvSpPr>
                <p:spPr bwMode="auto">
                  <a:xfrm>
                    <a:off x="1213" y="529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634" name="Group 248"/>
                  <p:cNvGrpSpPr>
                    <a:grpSpLocks/>
                  </p:cNvGrpSpPr>
                  <p:nvPr/>
                </p:nvGrpSpPr>
                <p:grpSpPr bwMode="auto">
                  <a:xfrm>
                    <a:off x="1277" y="476"/>
                    <a:ext cx="47" cy="37"/>
                    <a:chOff x="1277" y="476"/>
                    <a:chExt cx="47" cy="37"/>
                  </a:xfrm>
                </p:grpSpPr>
                <p:sp>
                  <p:nvSpPr>
                    <p:cNvPr id="8635" name="Freeform 249"/>
                    <p:cNvSpPr>
                      <a:spLocks/>
                    </p:cNvSpPr>
                    <p:nvPr/>
                  </p:nvSpPr>
                  <p:spPr bwMode="auto">
                    <a:xfrm>
                      <a:off x="1277" y="476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36" name="Freeform 250"/>
                    <p:cNvSpPr>
                      <a:spLocks/>
                    </p:cNvSpPr>
                    <p:nvPr/>
                  </p:nvSpPr>
                  <p:spPr bwMode="auto">
                    <a:xfrm>
                      <a:off x="1278" y="506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597" name="Group 251"/>
                <p:cNvGrpSpPr>
                  <a:grpSpLocks/>
                </p:cNvGrpSpPr>
                <p:nvPr/>
              </p:nvGrpSpPr>
              <p:grpSpPr bwMode="auto">
                <a:xfrm>
                  <a:off x="1213" y="380"/>
                  <a:ext cx="321" cy="113"/>
                  <a:chOff x="1213" y="380"/>
                  <a:chExt cx="321" cy="113"/>
                </a:xfrm>
              </p:grpSpPr>
              <p:sp>
                <p:nvSpPr>
                  <p:cNvPr id="8614" name="Freeform 252"/>
                  <p:cNvSpPr>
                    <a:spLocks/>
                  </p:cNvSpPr>
                  <p:nvPr/>
                </p:nvSpPr>
                <p:spPr bwMode="auto">
                  <a:xfrm>
                    <a:off x="1294" y="389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615" name="Freeform 253"/>
                  <p:cNvSpPr>
                    <a:spLocks/>
                  </p:cNvSpPr>
                  <p:nvPr/>
                </p:nvSpPr>
                <p:spPr bwMode="auto">
                  <a:xfrm>
                    <a:off x="1213" y="395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616" name="Group 254"/>
                  <p:cNvGrpSpPr>
                    <a:grpSpLocks/>
                  </p:cNvGrpSpPr>
                  <p:nvPr/>
                </p:nvGrpSpPr>
                <p:grpSpPr bwMode="auto">
                  <a:xfrm>
                    <a:off x="1240" y="428"/>
                    <a:ext cx="2" cy="5"/>
                    <a:chOff x="1240" y="428"/>
                    <a:chExt cx="2" cy="5"/>
                  </a:xfrm>
                </p:grpSpPr>
                <p:sp>
                  <p:nvSpPr>
                    <p:cNvPr id="8627" name="Oval 25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40" y="428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28" name="Arc 256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41" y="431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617" name="Group 257"/>
                  <p:cNvGrpSpPr>
                    <a:grpSpLocks/>
                  </p:cNvGrpSpPr>
                  <p:nvPr/>
                </p:nvGrpSpPr>
                <p:grpSpPr bwMode="auto">
                  <a:xfrm>
                    <a:off x="1257" y="415"/>
                    <a:ext cx="19" cy="5"/>
                    <a:chOff x="1257" y="415"/>
                    <a:chExt cx="19" cy="5"/>
                  </a:xfrm>
                </p:grpSpPr>
                <p:sp>
                  <p:nvSpPr>
                    <p:cNvPr id="8622" name="Arc 258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61" y="416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23" name="Arc 259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57" y="416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24" name="Arc 260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62" y="416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25" name="Arc 261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66" y="416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26" name="Arc 262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71" y="415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618" name="Freeform 263"/>
                  <p:cNvSpPr>
                    <a:spLocks/>
                  </p:cNvSpPr>
                  <p:nvPr/>
                </p:nvSpPr>
                <p:spPr bwMode="auto">
                  <a:xfrm>
                    <a:off x="1213" y="433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619" name="Group 264"/>
                  <p:cNvGrpSpPr>
                    <a:grpSpLocks/>
                  </p:cNvGrpSpPr>
                  <p:nvPr/>
                </p:nvGrpSpPr>
                <p:grpSpPr bwMode="auto">
                  <a:xfrm>
                    <a:off x="1277" y="380"/>
                    <a:ext cx="47" cy="37"/>
                    <a:chOff x="1277" y="380"/>
                    <a:chExt cx="47" cy="37"/>
                  </a:xfrm>
                </p:grpSpPr>
                <p:sp>
                  <p:nvSpPr>
                    <p:cNvPr id="8620" name="Freeform 265"/>
                    <p:cNvSpPr>
                      <a:spLocks/>
                    </p:cNvSpPr>
                    <p:nvPr/>
                  </p:nvSpPr>
                  <p:spPr bwMode="auto">
                    <a:xfrm>
                      <a:off x="1277" y="380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21" name="Freeform 266"/>
                    <p:cNvSpPr>
                      <a:spLocks/>
                    </p:cNvSpPr>
                    <p:nvPr/>
                  </p:nvSpPr>
                  <p:spPr bwMode="auto">
                    <a:xfrm>
                      <a:off x="1278" y="410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598" name="Group 267"/>
                <p:cNvGrpSpPr>
                  <a:grpSpLocks/>
                </p:cNvGrpSpPr>
                <p:nvPr/>
              </p:nvGrpSpPr>
              <p:grpSpPr bwMode="auto">
                <a:xfrm>
                  <a:off x="1213" y="284"/>
                  <a:ext cx="321" cy="113"/>
                  <a:chOff x="1213" y="284"/>
                  <a:chExt cx="321" cy="113"/>
                </a:xfrm>
              </p:grpSpPr>
              <p:sp>
                <p:nvSpPr>
                  <p:cNvPr id="8599" name="Freeform 268"/>
                  <p:cNvSpPr>
                    <a:spLocks/>
                  </p:cNvSpPr>
                  <p:nvPr/>
                </p:nvSpPr>
                <p:spPr bwMode="auto">
                  <a:xfrm>
                    <a:off x="1294" y="293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600" name="Freeform 269"/>
                  <p:cNvSpPr>
                    <a:spLocks/>
                  </p:cNvSpPr>
                  <p:nvPr/>
                </p:nvSpPr>
                <p:spPr bwMode="auto">
                  <a:xfrm>
                    <a:off x="1213" y="299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601" name="Group 270"/>
                  <p:cNvGrpSpPr>
                    <a:grpSpLocks/>
                  </p:cNvGrpSpPr>
                  <p:nvPr/>
                </p:nvGrpSpPr>
                <p:grpSpPr bwMode="auto">
                  <a:xfrm>
                    <a:off x="1240" y="332"/>
                    <a:ext cx="2" cy="5"/>
                    <a:chOff x="1240" y="332"/>
                    <a:chExt cx="2" cy="5"/>
                  </a:xfrm>
                </p:grpSpPr>
                <p:sp>
                  <p:nvSpPr>
                    <p:cNvPr id="8612" name="Oval 27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40" y="332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13" name="Arc 272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41" y="335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602" name="Group 273"/>
                  <p:cNvGrpSpPr>
                    <a:grpSpLocks/>
                  </p:cNvGrpSpPr>
                  <p:nvPr/>
                </p:nvGrpSpPr>
                <p:grpSpPr bwMode="auto">
                  <a:xfrm>
                    <a:off x="1257" y="319"/>
                    <a:ext cx="19" cy="5"/>
                    <a:chOff x="1257" y="319"/>
                    <a:chExt cx="19" cy="5"/>
                  </a:xfrm>
                </p:grpSpPr>
                <p:sp>
                  <p:nvSpPr>
                    <p:cNvPr id="8607" name="Arc 274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61" y="320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08" name="Arc 275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57" y="320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09" name="Arc 276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62" y="320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10" name="Arc 277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66" y="320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11" name="Arc 278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271" y="319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603" name="Freeform 279"/>
                  <p:cNvSpPr>
                    <a:spLocks/>
                  </p:cNvSpPr>
                  <p:nvPr/>
                </p:nvSpPr>
                <p:spPr bwMode="auto">
                  <a:xfrm>
                    <a:off x="1213" y="337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604" name="Group 280"/>
                  <p:cNvGrpSpPr>
                    <a:grpSpLocks/>
                  </p:cNvGrpSpPr>
                  <p:nvPr/>
                </p:nvGrpSpPr>
                <p:grpSpPr bwMode="auto">
                  <a:xfrm>
                    <a:off x="1277" y="284"/>
                    <a:ext cx="47" cy="37"/>
                    <a:chOff x="1277" y="284"/>
                    <a:chExt cx="47" cy="37"/>
                  </a:xfrm>
                </p:grpSpPr>
                <p:sp>
                  <p:nvSpPr>
                    <p:cNvPr id="8605" name="Freeform 281"/>
                    <p:cNvSpPr>
                      <a:spLocks/>
                    </p:cNvSpPr>
                    <p:nvPr/>
                  </p:nvSpPr>
                  <p:spPr bwMode="auto">
                    <a:xfrm>
                      <a:off x="1277" y="284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606" name="Freeform 282"/>
                    <p:cNvSpPr>
                      <a:spLocks/>
                    </p:cNvSpPr>
                    <p:nvPr/>
                  </p:nvSpPr>
                  <p:spPr bwMode="auto">
                    <a:xfrm>
                      <a:off x="1278" y="314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8351" name="Group 283"/>
              <p:cNvGrpSpPr>
                <a:grpSpLocks/>
              </p:cNvGrpSpPr>
              <p:nvPr/>
            </p:nvGrpSpPr>
            <p:grpSpPr bwMode="auto">
              <a:xfrm>
                <a:off x="1561" y="284"/>
                <a:ext cx="321" cy="497"/>
                <a:chOff x="1561" y="284"/>
                <a:chExt cx="321" cy="497"/>
              </a:xfrm>
            </p:grpSpPr>
            <p:grpSp>
              <p:nvGrpSpPr>
                <p:cNvPr id="8514" name="Group 284"/>
                <p:cNvGrpSpPr>
                  <a:grpSpLocks/>
                </p:cNvGrpSpPr>
                <p:nvPr/>
              </p:nvGrpSpPr>
              <p:grpSpPr bwMode="auto">
                <a:xfrm>
                  <a:off x="1561" y="668"/>
                  <a:ext cx="321" cy="113"/>
                  <a:chOff x="1561" y="668"/>
                  <a:chExt cx="321" cy="113"/>
                </a:xfrm>
              </p:grpSpPr>
              <p:sp>
                <p:nvSpPr>
                  <p:cNvPr id="8579" name="Freeform 285"/>
                  <p:cNvSpPr>
                    <a:spLocks/>
                  </p:cNvSpPr>
                  <p:nvPr/>
                </p:nvSpPr>
                <p:spPr bwMode="auto">
                  <a:xfrm>
                    <a:off x="1642" y="677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580" name="Freeform 286"/>
                  <p:cNvSpPr>
                    <a:spLocks/>
                  </p:cNvSpPr>
                  <p:nvPr/>
                </p:nvSpPr>
                <p:spPr bwMode="auto">
                  <a:xfrm>
                    <a:off x="1561" y="683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581" name="Group 287"/>
                  <p:cNvGrpSpPr>
                    <a:grpSpLocks/>
                  </p:cNvGrpSpPr>
                  <p:nvPr/>
                </p:nvGrpSpPr>
                <p:grpSpPr bwMode="auto">
                  <a:xfrm>
                    <a:off x="1588" y="716"/>
                    <a:ext cx="2" cy="5"/>
                    <a:chOff x="1588" y="716"/>
                    <a:chExt cx="2" cy="5"/>
                  </a:xfrm>
                </p:grpSpPr>
                <p:sp>
                  <p:nvSpPr>
                    <p:cNvPr id="8592" name="Oval 2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88" y="716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93" name="Arc 289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589" y="719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582" name="Group 290"/>
                  <p:cNvGrpSpPr>
                    <a:grpSpLocks/>
                  </p:cNvGrpSpPr>
                  <p:nvPr/>
                </p:nvGrpSpPr>
                <p:grpSpPr bwMode="auto">
                  <a:xfrm>
                    <a:off x="1605" y="703"/>
                    <a:ext cx="19" cy="5"/>
                    <a:chOff x="1605" y="703"/>
                    <a:chExt cx="19" cy="5"/>
                  </a:xfrm>
                </p:grpSpPr>
                <p:sp>
                  <p:nvSpPr>
                    <p:cNvPr id="8587" name="Arc 291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09" y="704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88" name="Arc 292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05" y="704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89" name="Arc 293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10" y="704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90" name="Arc 294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14" y="704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91" name="Arc 295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19" y="703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583" name="Freeform 296"/>
                  <p:cNvSpPr>
                    <a:spLocks/>
                  </p:cNvSpPr>
                  <p:nvPr/>
                </p:nvSpPr>
                <p:spPr bwMode="auto">
                  <a:xfrm>
                    <a:off x="1561" y="721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584" name="Group 297"/>
                  <p:cNvGrpSpPr>
                    <a:grpSpLocks/>
                  </p:cNvGrpSpPr>
                  <p:nvPr/>
                </p:nvGrpSpPr>
                <p:grpSpPr bwMode="auto">
                  <a:xfrm>
                    <a:off x="1625" y="668"/>
                    <a:ext cx="47" cy="37"/>
                    <a:chOff x="1625" y="668"/>
                    <a:chExt cx="47" cy="37"/>
                  </a:xfrm>
                </p:grpSpPr>
                <p:sp>
                  <p:nvSpPr>
                    <p:cNvPr id="8585" name="Freeform 298"/>
                    <p:cNvSpPr>
                      <a:spLocks/>
                    </p:cNvSpPr>
                    <p:nvPr/>
                  </p:nvSpPr>
                  <p:spPr bwMode="auto">
                    <a:xfrm>
                      <a:off x="1625" y="668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86" name="Freeform 299"/>
                    <p:cNvSpPr>
                      <a:spLocks/>
                    </p:cNvSpPr>
                    <p:nvPr/>
                  </p:nvSpPr>
                  <p:spPr bwMode="auto">
                    <a:xfrm>
                      <a:off x="1626" y="698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515" name="Group 300"/>
                <p:cNvGrpSpPr>
                  <a:grpSpLocks/>
                </p:cNvGrpSpPr>
                <p:nvPr/>
              </p:nvGrpSpPr>
              <p:grpSpPr bwMode="auto">
                <a:xfrm>
                  <a:off x="1561" y="572"/>
                  <a:ext cx="321" cy="113"/>
                  <a:chOff x="1561" y="572"/>
                  <a:chExt cx="321" cy="113"/>
                </a:xfrm>
              </p:grpSpPr>
              <p:sp>
                <p:nvSpPr>
                  <p:cNvPr id="8564" name="Freeform 301"/>
                  <p:cNvSpPr>
                    <a:spLocks/>
                  </p:cNvSpPr>
                  <p:nvPr/>
                </p:nvSpPr>
                <p:spPr bwMode="auto">
                  <a:xfrm>
                    <a:off x="1642" y="581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565" name="Freeform 302"/>
                  <p:cNvSpPr>
                    <a:spLocks/>
                  </p:cNvSpPr>
                  <p:nvPr/>
                </p:nvSpPr>
                <p:spPr bwMode="auto">
                  <a:xfrm>
                    <a:off x="1561" y="587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566" name="Group 303"/>
                  <p:cNvGrpSpPr>
                    <a:grpSpLocks/>
                  </p:cNvGrpSpPr>
                  <p:nvPr/>
                </p:nvGrpSpPr>
                <p:grpSpPr bwMode="auto">
                  <a:xfrm>
                    <a:off x="1588" y="620"/>
                    <a:ext cx="2" cy="5"/>
                    <a:chOff x="1588" y="620"/>
                    <a:chExt cx="2" cy="5"/>
                  </a:xfrm>
                </p:grpSpPr>
                <p:sp>
                  <p:nvSpPr>
                    <p:cNvPr id="8577" name="Oval 30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88" y="620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78" name="Arc 305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589" y="623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567" name="Group 306"/>
                  <p:cNvGrpSpPr>
                    <a:grpSpLocks/>
                  </p:cNvGrpSpPr>
                  <p:nvPr/>
                </p:nvGrpSpPr>
                <p:grpSpPr bwMode="auto">
                  <a:xfrm>
                    <a:off x="1605" y="607"/>
                    <a:ext cx="19" cy="5"/>
                    <a:chOff x="1605" y="607"/>
                    <a:chExt cx="19" cy="5"/>
                  </a:xfrm>
                </p:grpSpPr>
                <p:sp>
                  <p:nvSpPr>
                    <p:cNvPr id="8572" name="Arc 307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09" y="608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73" name="Arc 308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05" y="608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74" name="Arc 309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10" y="608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75" name="Arc 310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14" y="608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76" name="Arc 311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19" y="607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568" name="Freeform 312"/>
                  <p:cNvSpPr>
                    <a:spLocks/>
                  </p:cNvSpPr>
                  <p:nvPr/>
                </p:nvSpPr>
                <p:spPr bwMode="auto">
                  <a:xfrm>
                    <a:off x="1561" y="625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569" name="Group 313"/>
                  <p:cNvGrpSpPr>
                    <a:grpSpLocks/>
                  </p:cNvGrpSpPr>
                  <p:nvPr/>
                </p:nvGrpSpPr>
                <p:grpSpPr bwMode="auto">
                  <a:xfrm>
                    <a:off x="1625" y="572"/>
                    <a:ext cx="47" cy="37"/>
                    <a:chOff x="1625" y="572"/>
                    <a:chExt cx="47" cy="37"/>
                  </a:xfrm>
                </p:grpSpPr>
                <p:sp>
                  <p:nvSpPr>
                    <p:cNvPr id="8570" name="Freeform 314"/>
                    <p:cNvSpPr>
                      <a:spLocks/>
                    </p:cNvSpPr>
                    <p:nvPr/>
                  </p:nvSpPr>
                  <p:spPr bwMode="auto">
                    <a:xfrm>
                      <a:off x="1625" y="572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71" name="Freeform 315"/>
                    <p:cNvSpPr>
                      <a:spLocks/>
                    </p:cNvSpPr>
                    <p:nvPr/>
                  </p:nvSpPr>
                  <p:spPr bwMode="auto">
                    <a:xfrm>
                      <a:off x="1626" y="602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516" name="Group 316"/>
                <p:cNvGrpSpPr>
                  <a:grpSpLocks/>
                </p:cNvGrpSpPr>
                <p:nvPr/>
              </p:nvGrpSpPr>
              <p:grpSpPr bwMode="auto">
                <a:xfrm>
                  <a:off x="1561" y="476"/>
                  <a:ext cx="321" cy="113"/>
                  <a:chOff x="1561" y="476"/>
                  <a:chExt cx="321" cy="113"/>
                </a:xfrm>
              </p:grpSpPr>
              <p:sp>
                <p:nvSpPr>
                  <p:cNvPr id="8549" name="Freeform 317"/>
                  <p:cNvSpPr>
                    <a:spLocks/>
                  </p:cNvSpPr>
                  <p:nvPr/>
                </p:nvSpPr>
                <p:spPr bwMode="auto">
                  <a:xfrm>
                    <a:off x="1642" y="485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550" name="Freeform 318"/>
                  <p:cNvSpPr>
                    <a:spLocks/>
                  </p:cNvSpPr>
                  <p:nvPr/>
                </p:nvSpPr>
                <p:spPr bwMode="auto">
                  <a:xfrm>
                    <a:off x="1561" y="491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551" name="Group 319"/>
                  <p:cNvGrpSpPr>
                    <a:grpSpLocks/>
                  </p:cNvGrpSpPr>
                  <p:nvPr/>
                </p:nvGrpSpPr>
                <p:grpSpPr bwMode="auto">
                  <a:xfrm>
                    <a:off x="1588" y="524"/>
                    <a:ext cx="2" cy="5"/>
                    <a:chOff x="1588" y="524"/>
                    <a:chExt cx="2" cy="5"/>
                  </a:xfrm>
                </p:grpSpPr>
                <p:sp>
                  <p:nvSpPr>
                    <p:cNvPr id="8562" name="Oval 32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88" y="524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63" name="Arc 321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589" y="527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552" name="Group 322"/>
                  <p:cNvGrpSpPr>
                    <a:grpSpLocks/>
                  </p:cNvGrpSpPr>
                  <p:nvPr/>
                </p:nvGrpSpPr>
                <p:grpSpPr bwMode="auto">
                  <a:xfrm>
                    <a:off x="1605" y="511"/>
                    <a:ext cx="19" cy="5"/>
                    <a:chOff x="1605" y="511"/>
                    <a:chExt cx="19" cy="5"/>
                  </a:xfrm>
                </p:grpSpPr>
                <p:sp>
                  <p:nvSpPr>
                    <p:cNvPr id="8557" name="Arc 323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09" y="512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58" name="Arc 324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05" y="512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59" name="Arc 325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10" y="512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60" name="Arc 326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14" y="512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61" name="Arc 327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19" y="511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553" name="Freeform 328"/>
                  <p:cNvSpPr>
                    <a:spLocks/>
                  </p:cNvSpPr>
                  <p:nvPr/>
                </p:nvSpPr>
                <p:spPr bwMode="auto">
                  <a:xfrm>
                    <a:off x="1561" y="529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554" name="Group 329"/>
                  <p:cNvGrpSpPr>
                    <a:grpSpLocks/>
                  </p:cNvGrpSpPr>
                  <p:nvPr/>
                </p:nvGrpSpPr>
                <p:grpSpPr bwMode="auto">
                  <a:xfrm>
                    <a:off x="1625" y="476"/>
                    <a:ext cx="47" cy="37"/>
                    <a:chOff x="1625" y="476"/>
                    <a:chExt cx="47" cy="37"/>
                  </a:xfrm>
                </p:grpSpPr>
                <p:sp>
                  <p:nvSpPr>
                    <p:cNvPr id="8555" name="Freeform 330"/>
                    <p:cNvSpPr>
                      <a:spLocks/>
                    </p:cNvSpPr>
                    <p:nvPr/>
                  </p:nvSpPr>
                  <p:spPr bwMode="auto">
                    <a:xfrm>
                      <a:off x="1625" y="476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56" name="Freeform 331"/>
                    <p:cNvSpPr>
                      <a:spLocks/>
                    </p:cNvSpPr>
                    <p:nvPr/>
                  </p:nvSpPr>
                  <p:spPr bwMode="auto">
                    <a:xfrm>
                      <a:off x="1626" y="506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517" name="Group 332"/>
                <p:cNvGrpSpPr>
                  <a:grpSpLocks/>
                </p:cNvGrpSpPr>
                <p:nvPr/>
              </p:nvGrpSpPr>
              <p:grpSpPr bwMode="auto">
                <a:xfrm>
                  <a:off x="1561" y="380"/>
                  <a:ext cx="321" cy="113"/>
                  <a:chOff x="1561" y="380"/>
                  <a:chExt cx="321" cy="113"/>
                </a:xfrm>
              </p:grpSpPr>
              <p:sp>
                <p:nvSpPr>
                  <p:cNvPr id="8534" name="Freeform 333"/>
                  <p:cNvSpPr>
                    <a:spLocks/>
                  </p:cNvSpPr>
                  <p:nvPr/>
                </p:nvSpPr>
                <p:spPr bwMode="auto">
                  <a:xfrm>
                    <a:off x="1642" y="389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535" name="Freeform 334"/>
                  <p:cNvSpPr>
                    <a:spLocks/>
                  </p:cNvSpPr>
                  <p:nvPr/>
                </p:nvSpPr>
                <p:spPr bwMode="auto">
                  <a:xfrm>
                    <a:off x="1561" y="395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536" name="Group 335"/>
                  <p:cNvGrpSpPr>
                    <a:grpSpLocks/>
                  </p:cNvGrpSpPr>
                  <p:nvPr/>
                </p:nvGrpSpPr>
                <p:grpSpPr bwMode="auto">
                  <a:xfrm>
                    <a:off x="1588" y="428"/>
                    <a:ext cx="2" cy="5"/>
                    <a:chOff x="1588" y="428"/>
                    <a:chExt cx="2" cy="5"/>
                  </a:xfrm>
                </p:grpSpPr>
                <p:sp>
                  <p:nvSpPr>
                    <p:cNvPr id="8547" name="Oval 33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88" y="428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48" name="Arc 337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589" y="431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537" name="Group 338"/>
                  <p:cNvGrpSpPr>
                    <a:grpSpLocks/>
                  </p:cNvGrpSpPr>
                  <p:nvPr/>
                </p:nvGrpSpPr>
                <p:grpSpPr bwMode="auto">
                  <a:xfrm>
                    <a:off x="1605" y="415"/>
                    <a:ext cx="19" cy="5"/>
                    <a:chOff x="1605" y="415"/>
                    <a:chExt cx="19" cy="5"/>
                  </a:xfrm>
                </p:grpSpPr>
                <p:sp>
                  <p:nvSpPr>
                    <p:cNvPr id="8542" name="Arc 339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09" y="416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43" name="Arc 340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05" y="416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44" name="Arc 341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10" y="416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45" name="Arc 342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14" y="416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46" name="Arc 343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19" y="415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538" name="Freeform 344"/>
                  <p:cNvSpPr>
                    <a:spLocks/>
                  </p:cNvSpPr>
                  <p:nvPr/>
                </p:nvSpPr>
                <p:spPr bwMode="auto">
                  <a:xfrm>
                    <a:off x="1561" y="433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539" name="Group 345"/>
                  <p:cNvGrpSpPr>
                    <a:grpSpLocks/>
                  </p:cNvGrpSpPr>
                  <p:nvPr/>
                </p:nvGrpSpPr>
                <p:grpSpPr bwMode="auto">
                  <a:xfrm>
                    <a:off x="1625" y="380"/>
                    <a:ext cx="47" cy="37"/>
                    <a:chOff x="1625" y="380"/>
                    <a:chExt cx="47" cy="37"/>
                  </a:xfrm>
                </p:grpSpPr>
                <p:sp>
                  <p:nvSpPr>
                    <p:cNvPr id="8540" name="Freeform 346"/>
                    <p:cNvSpPr>
                      <a:spLocks/>
                    </p:cNvSpPr>
                    <p:nvPr/>
                  </p:nvSpPr>
                  <p:spPr bwMode="auto">
                    <a:xfrm>
                      <a:off x="1625" y="380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41" name="Freeform 347"/>
                    <p:cNvSpPr>
                      <a:spLocks/>
                    </p:cNvSpPr>
                    <p:nvPr/>
                  </p:nvSpPr>
                  <p:spPr bwMode="auto">
                    <a:xfrm>
                      <a:off x="1626" y="410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518" name="Group 348"/>
                <p:cNvGrpSpPr>
                  <a:grpSpLocks/>
                </p:cNvGrpSpPr>
                <p:nvPr/>
              </p:nvGrpSpPr>
              <p:grpSpPr bwMode="auto">
                <a:xfrm>
                  <a:off x="1561" y="284"/>
                  <a:ext cx="321" cy="113"/>
                  <a:chOff x="1561" y="284"/>
                  <a:chExt cx="321" cy="113"/>
                </a:xfrm>
              </p:grpSpPr>
              <p:sp>
                <p:nvSpPr>
                  <p:cNvPr id="8519" name="Freeform 349"/>
                  <p:cNvSpPr>
                    <a:spLocks/>
                  </p:cNvSpPr>
                  <p:nvPr/>
                </p:nvSpPr>
                <p:spPr bwMode="auto">
                  <a:xfrm>
                    <a:off x="1642" y="293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520" name="Freeform 350"/>
                  <p:cNvSpPr>
                    <a:spLocks/>
                  </p:cNvSpPr>
                  <p:nvPr/>
                </p:nvSpPr>
                <p:spPr bwMode="auto">
                  <a:xfrm>
                    <a:off x="1561" y="299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521" name="Group 351"/>
                  <p:cNvGrpSpPr>
                    <a:grpSpLocks/>
                  </p:cNvGrpSpPr>
                  <p:nvPr/>
                </p:nvGrpSpPr>
                <p:grpSpPr bwMode="auto">
                  <a:xfrm>
                    <a:off x="1588" y="332"/>
                    <a:ext cx="2" cy="5"/>
                    <a:chOff x="1588" y="332"/>
                    <a:chExt cx="2" cy="5"/>
                  </a:xfrm>
                </p:grpSpPr>
                <p:sp>
                  <p:nvSpPr>
                    <p:cNvPr id="8532" name="Oval 35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88" y="332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33" name="Arc 353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589" y="335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522" name="Group 354"/>
                  <p:cNvGrpSpPr>
                    <a:grpSpLocks/>
                  </p:cNvGrpSpPr>
                  <p:nvPr/>
                </p:nvGrpSpPr>
                <p:grpSpPr bwMode="auto">
                  <a:xfrm>
                    <a:off x="1605" y="319"/>
                    <a:ext cx="19" cy="5"/>
                    <a:chOff x="1605" y="319"/>
                    <a:chExt cx="19" cy="5"/>
                  </a:xfrm>
                </p:grpSpPr>
                <p:sp>
                  <p:nvSpPr>
                    <p:cNvPr id="8527" name="Arc 355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09" y="320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28" name="Arc 356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05" y="320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29" name="Arc 357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10" y="320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30" name="Arc 358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14" y="320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31" name="Arc 359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619" y="319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523" name="Freeform 360"/>
                  <p:cNvSpPr>
                    <a:spLocks/>
                  </p:cNvSpPr>
                  <p:nvPr/>
                </p:nvSpPr>
                <p:spPr bwMode="auto">
                  <a:xfrm>
                    <a:off x="1561" y="337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524" name="Group 361"/>
                  <p:cNvGrpSpPr>
                    <a:grpSpLocks/>
                  </p:cNvGrpSpPr>
                  <p:nvPr/>
                </p:nvGrpSpPr>
                <p:grpSpPr bwMode="auto">
                  <a:xfrm>
                    <a:off x="1625" y="284"/>
                    <a:ext cx="47" cy="37"/>
                    <a:chOff x="1625" y="284"/>
                    <a:chExt cx="47" cy="37"/>
                  </a:xfrm>
                </p:grpSpPr>
                <p:sp>
                  <p:nvSpPr>
                    <p:cNvPr id="8525" name="Freeform 362"/>
                    <p:cNvSpPr>
                      <a:spLocks/>
                    </p:cNvSpPr>
                    <p:nvPr/>
                  </p:nvSpPr>
                  <p:spPr bwMode="auto">
                    <a:xfrm>
                      <a:off x="1625" y="284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26" name="Freeform 363"/>
                    <p:cNvSpPr>
                      <a:spLocks/>
                    </p:cNvSpPr>
                    <p:nvPr/>
                  </p:nvSpPr>
                  <p:spPr bwMode="auto">
                    <a:xfrm>
                      <a:off x="1626" y="314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8352" name="Group 364"/>
              <p:cNvGrpSpPr>
                <a:grpSpLocks/>
              </p:cNvGrpSpPr>
              <p:nvPr/>
            </p:nvGrpSpPr>
            <p:grpSpPr bwMode="auto">
              <a:xfrm>
                <a:off x="1933" y="284"/>
                <a:ext cx="321" cy="497"/>
                <a:chOff x="1933" y="284"/>
                <a:chExt cx="321" cy="497"/>
              </a:xfrm>
            </p:grpSpPr>
            <p:grpSp>
              <p:nvGrpSpPr>
                <p:cNvPr id="8434" name="Group 365"/>
                <p:cNvGrpSpPr>
                  <a:grpSpLocks/>
                </p:cNvGrpSpPr>
                <p:nvPr/>
              </p:nvGrpSpPr>
              <p:grpSpPr bwMode="auto">
                <a:xfrm>
                  <a:off x="1933" y="668"/>
                  <a:ext cx="321" cy="113"/>
                  <a:chOff x="1933" y="668"/>
                  <a:chExt cx="321" cy="113"/>
                </a:xfrm>
              </p:grpSpPr>
              <p:sp>
                <p:nvSpPr>
                  <p:cNvPr id="8499" name="Freeform 366"/>
                  <p:cNvSpPr>
                    <a:spLocks/>
                  </p:cNvSpPr>
                  <p:nvPr/>
                </p:nvSpPr>
                <p:spPr bwMode="auto">
                  <a:xfrm>
                    <a:off x="2014" y="677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500" name="Freeform 367"/>
                  <p:cNvSpPr>
                    <a:spLocks/>
                  </p:cNvSpPr>
                  <p:nvPr/>
                </p:nvSpPr>
                <p:spPr bwMode="auto">
                  <a:xfrm>
                    <a:off x="1933" y="683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501" name="Group 368"/>
                  <p:cNvGrpSpPr>
                    <a:grpSpLocks/>
                  </p:cNvGrpSpPr>
                  <p:nvPr/>
                </p:nvGrpSpPr>
                <p:grpSpPr bwMode="auto">
                  <a:xfrm>
                    <a:off x="1960" y="716"/>
                    <a:ext cx="2" cy="5"/>
                    <a:chOff x="1960" y="716"/>
                    <a:chExt cx="2" cy="5"/>
                  </a:xfrm>
                </p:grpSpPr>
                <p:sp>
                  <p:nvSpPr>
                    <p:cNvPr id="8512" name="Oval 3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60" y="716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13" name="Arc 370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61" y="719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502" name="Group 371"/>
                  <p:cNvGrpSpPr>
                    <a:grpSpLocks/>
                  </p:cNvGrpSpPr>
                  <p:nvPr/>
                </p:nvGrpSpPr>
                <p:grpSpPr bwMode="auto">
                  <a:xfrm>
                    <a:off x="1977" y="703"/>
                    <a:ext cx="19" cy="5"/>
                    <a:chOff x="1977" y="703"/>
                    <a:chExt cx="19" cy="5"/>
                  </a:xfrm>
                </p:grpSpPr>
                <p:sp>
                  <p:nvSpPr>
                    <p:cNvPr id="8507" name="Arc 372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81" y="704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08" name="Arc 373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77" y="704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09" name="Arc 374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82" y="704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10" name="Arc 375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86" y="704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11" name="Arc 376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91" y="703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503" name="Freeform 377"/>
                  <p:cNvSpPr>
                    <a:spLocks/>
                  </p:cNvSpPr>
                  <p:nvPr/>
                </p:nvSpPr>
                <p:spPr bwMode="auto">
                  <a:xfrm>
                    <a:off x="1933" y="721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504" name="Group 378"/>
                  <p:cNvGrpSpPr>
                    <a:grpSpLocks/>
                  </p:cNvGrpSpPr>
                  <p:nvPr/>
                </p:nvGrpSpPr>
                <p:grpSpPr bwMode="auto">
                  <a:xfrm>
                    <a:off x="1997" y="668"/>
                    <a:ext cx="47" cy="37"/>
                    <a:chOff x="1997" y="668"/>
                    <a:chExt cx="47" cy="37"/>
                  </a:xfrm>
                </p:grpSpPr>
                <p:sp>
                  <p:nvSpPr>
                    <p:cNvPr id="8505" name="Freeform 379"/>
                    <p:cNvSpPr>
                      <a:spLocks/>
                    </p:cNvSpPr>
                    <p:nvPr/>
                  </p:nvSpPr>
                  <p:spPr bwMode="auto">
                    <a:xfrm>
                      <a:off x="1997" y="668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506" name="Freeform 380"/>
                    <p:cNvSpPr>
                      <a:spLocks/>
                    </p:cNvSpPr>
                    <p:nvPr/>
                  </p:nvSpPr>
                  <p:spPr bwMode="auto">
                    <a:xfrm>
                      <a:off x="1998" y="698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435" name="Group 381"/>
                <p:cNvGrpSpPr>
                  <a:grpSpLocks/>
                </p:cNvGrpSpPr>
                <p:nvPr/>
              </p:nvGrpSpPr>
              <p:grpSpPr bwMode="auto">
                <a:xfrm>
                  <a:off x="1933" y="572"/>
                  <a:ext cx="321" cy="113"/>
                  <a:chOff x="1933" y="572"/>
                  <a:chExt cx="321" cy="113"/>
                </a:xfrm>
              </p:grpSpPr>
              <p:sp>
                <p:nvSpPr>
                  <p:cNvPr id="8484" name="Freeform 382"/>
                  <p:cNvSpPr>
                    <a:spLocks/>
                  </p:cNvSpPr>
                  <p:nvPr/>
                </p:nvSpPr>
                <p:spPr bwMode="auto">
                  <a:xfrm>
                    <a:off x="2014" y="581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85" name="Freeform 383"/>
                  <p:cNvSpPr>
                    <a:spLocks/>
                  </p:cNvSpPr>
                  <p:nvPr/>
                </p:nvSpPr>
                <p:spPr bwMode="auto">
                  <a:xfrm>
                    <a:off x="1933" y="587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486" name="Group 384"/>
                  <p:cNvGrpSpPr>
                    <a:grpSpLocks/>
                  </p:cNvGrpSpPr>
                  <p:nvPr/>
                </p:nvGrpSpPr>
                <p:grpSpPr bwMode="auto">
                  <a:xfrm>
                    <a:off x="1960" y="620"/>
                    <a:ext cx="2" cy="5"/>
                    <a:chOff x="1960" y="620"/>
                    <a:chExt cx="2" cy="5"/>
                  </a:xfrm>
                </p:grpSpPr>
                <p:sp>
                  <p:nvSpPr>
                    <p:cNvPr id="8497" name="Oval 3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60" y="620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98" name="Arc 386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61" y="623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487" name="Group 387"/>
                  <p:cNvGrpSpPr>
                    <a:grpSpLocks/>
                  </p:cNvGrpSpPr>
                  <p:nvPr/>
                </p:nvGrpSpPr>
                <p:grpSpPr bwMode="auto">
                  <a:xfrm>
                    <a:off x="1977" y="607"/>
                    <a:ext cx="19" cy="5"/>
                    <a:chOff x="1977" y="607"/>
                    <a:chExt cx="19" cy="5"/>
                  </a:xfrm>
                </p:grpSpPr>
                <p:sp>
                  <p:nvSpPr>
                    <p:cNvPr id="8492" name="Arc 388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81" y="608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93" name="Arc 389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77" y="608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94" name="Arc 390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82" y="608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95" name="Arc 391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86" y="608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96" name="Arc 392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91" y="607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488" name="Freeform 393"/>
                  <p:cNvSpPr>
                    <a:spLocks/>
                  </p:cNvSpPr>
                  <p:nvPr/>
                </p:nvSpPr>
                <p:spPr bwMode="auto">
                  <a:xfrm>
                    <a:off x="1933" y="625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489" name="Group 394"/>
                  <p:cNvGrpSpPr>
                    <a:grpSpLocks/>
                  </p:cNvGrpSpPr>
                  <p:nvPr/>
                </p:nvGrpSpPr>
                <p:grpSpPr bwMode="auto">
                  <a:xfrm>
                    <a:off x="1997" y="572"/>
                    <a:ext cx="47" cy="37"/>
                    <a:chOff x="1997" y="572"/>
                    <a:chExt cx="47" cy="37"/>
                  </a:xfrm>
                </p:grpSpPr>
                <p:sp>
                  <p:nvSpPr>
                    <p:cNvPr id="8490" name="Freeform 395"/>
                    <p:cNvSpPr>
                      <a:spLocks/>
                    </p:cNvSpPr>
                    <p:nvPr/>
                  </p:nvSpPr>
                  <p:spPr bwMode="auto">
                    <a:xfrm>
                      <a:off x="1997" y="572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91" name="Freeform 396"/>
                    <p:cNvSpPr>
                      <a:spLocks/>
                    </p:cNvSpPr>
                    <p:nvPr/>
                  </p:nvSpPr>
                  <p:spPr bwMode="auto">
                    <a:xfrm>
                      <a:off x="1998" y="602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436" name="Group 397"/>
                <p:cNvGrpSpPr>
                  <a:grpSpLocks/>
                </p:cNvGrpSpPr>
                <p:nvPr/>
              </p:nvGrpSpPr>
              <p:grpSpPr bwMode="auto">
                <a:xfrm>
                  <a:off x="1933" y="476"/>
                  <a:ext cx="321" cy="113"/>
                  <a:chOff x="1933" y="476"/>
                  <a:chExt cx="321" cy="113"/>
                </a:xfrm>
              </p:grpSpPr>
              <p:sp>
                <p:nvSpPr>
                  <p:cNvPr id="8469" name="Freeform 398"/>
                  <p:cNvSpPr>
                    <a:spLocks/>
                  </p:cNvSpPr>
                  <p:nvPr/>
                </p:nvSpPr>
                <p:spPr bwMode="auto">
                  <a:xfrm>
                    <a:off x="2014" y="485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70" name="Freeform 399"/>
                  <p:cNvSpPr>
                    <a:spLocks/>
                  </p:cNvSpPr>
                  <p:nvPr/>
                </p:nvSpPr>
                <p:spPr bwMode="auto">
                  <a:xfrm>
                    <a:off x="1933" y="491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471" name="Group 400"/>
                  <p:cNvGrpSpPr>
                    <a:grpSpLocks/>
                  </p:cNvGrpSpPr>
                  <p:nvPr/>
                </p:nvGrpSpPr>
                <p:grpSpPr bwMode="auto">
                  <a:xfrm>
                    <a:off x="1960" y="524"/>
                    <a:ext cx="2" cy="5"/>
                    <a:chOff x="1960" y="524"/>
                    <a:chExt cx="2" cy="5"/>
                  </a:xfrm>
                </p:grpSpPr>
                <p:sp>
                  <p:nvSpPr>
                    <p:cNvPr id="8482" name="Oval 4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60" y="524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83" name="Arc 402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61" y="527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472" name="Group 403"/>
                  <p:cNvGrpSpPr>
                    <a:grpSpLocks/>
                  </p:cNvGrpSpPr>
                  <p:nvPr/>
                </p:nvGrpSpPr>
                <p:grpSpPr bwMode="auto">
                  <a:xfrm>
                    <a:off x="1977" y="511"/>
                    <a:ext cx="19" cy="5"/>
                    <a:chOff x="1977" y="511"/>
                    <a:chExt cx="19" cy="5"/>
                  </a:xfrm>
                </p:grpSpPr>
                <p:sp>
                  <p:nvSpPr>
                    <p:cNvPr id="8477" name="Arc 404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81" y="512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78" name="Arc 405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77" y="512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79" name="Arc 406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82" y="512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80" name="Arc 407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86" y="512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81" name="Arc 408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91" y="511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473" name="Freeform 409"/>
                  <p:cNvSpPr>
                    <a:spLocks/>
                  </p:cNvSpPr>
                  <p:nvPr/>
                </p:nvSpPr>
                <p:spPr bwMode="auto">
                  <a:xfrm>
                    <a:off x="1933" y="529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474" name="Group 410"/>
                  <p:cNvGrpSpPr>
                    <a:grpSpLocks/>
                  </p:cNvGrpSpPr>
                  <p:nvPr/>
                </p:nvGrpSpPr>
                <p:grpSpPr bwMode="auto">
                  <a:xfrm>
                    <a:off x="1997" y="476"/>
                    <a:ext cx="47" cy="37"/>
                    <a:chOff x="1997" y="476"/>
                    <a:chExt cx="47" cy="37"/>
                  </a:xfrm>
                </p:grpSpPr>
                <p:sp>
                  <p:nvSpPr>
                    <p:cNvPr id="8475" name="Freeform 411"/>
                    <p:cNvSpPr>
                      <a:spLocks/>
                    </p:cNvSpPr>
                    <p:nvPr/>
                  </p:nvSpPr>
                  <p:spPr bwMode="auto">
                    <a:xfrm>
                      <a:off x="1997" y="476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76" name="Freeform 412"/>
                    <p:cNvSpPr>
                      <a:spLocks/>
                    </p:cNvSpPr>
                    <p:nvPr/>
                  </p:nvSpPr>
                  <p:spPr bwMode="auto">
                    <a:xfrm>
                      <a:off x="1998" y="506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437" name="Group 413"/>
                <p:cNvGrpSpPr>
                  <a:grpSpLocks/>
                </p:cNvGrpSpPr>
                <p:nvPr/>
              </p:nvGrpSpPr>
              <p:grpSpPr bwMode="auto">
                <a:xfrm>
                  <a:off x="1933" y="380"/>
                  <a:ext cx="321" cy="113"/>
                  <a:chOff x="1933" y="380"/>
                  <a:chExt cx="321" cy="113"/>
                </a:xfrm>
              </p:grpSpPr>
              <p:sp>
                <p:nvSpPr>
                  <p:cNvPr id="8454" name="Freeform 414"/>
                  <p:cNvSpPr>
                    <a:spLocks/>
                  </p:cNvSpPr>
                  <p:nvPr/>
                </p:nvSpPr>
                <p:spPr bwMode="auto">
                  <a:xfrm>
                    <a:off x="2014" y="389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55" name="Freeform 415"/>
                  <p:cNvSpPr>
                    <a:spLocks/>
                  </p:cNvSpPr>
                  <p:nvPr/>
                </p:nvSpPr>
                <p:spPr bwMode="auto">
                  <a:xfrm>
                    <a:off x="1933" y="395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456" name="Group 416"/>
                  <p:cNvGrpSpPr>
                    <a:grpSpLocks/>
                  </p:cNvGrpSpPr>
                  <p:nvPr/>
                </p:nvGrpSpPr>
                <p:grpSpPr bwMode="auto">
                  <a:xfrm>
                    <a:off x="1960" y="428"/>
                    <a:ext cx="2" cy="5"/>
                    <a:chOff x="1960" y="428"/>
                    <a:chExt cx="2" cy="5"/>
                  </a:xfrm>
                </p:grpSpPr>
                <p:sp>
                  <p:nvSpPr>
                    <p:cNvPr id="8467" name="Oval 4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60" y="428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68" name="Arc 418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61" y="431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457" name="Group 419"/>
                  <p:cNvGrpSpPr>
                    <a:grpSpLocks/>
                  </p:cNvGrpSpPr>
                  <p:nvPr/>
                </p:nvGrpSpPr>
                <p:grpSpPr bwMode="auto">
                  <a:xfrm>
                    <a:off x="1977" y="415"/>
                    <a:ext cx="19" cy="5"/>
                    <a:chOff x="1977" y="415"/>
                    <a:chExt cx="19" cy="5"/>
                  </a:xfrm>
                </p:grpSpPr>
                <p:sp>
                  <p:nvSpPr>
                    <p:cNvPr id="8462" name="Arc 420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81" y="416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63" name="Arc 421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77" y="416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64" name="Arc 422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82" y="416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65" name="Arc 423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86" y="416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66" name="Arc 424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91" y="415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458" name="Freeform 425"/>
                  <p:cNvSpPr>
                    <a:spLocks/>
                  </p:cNvSpPr>
                  <p:nvPr/>
                </p:nvSpPr>
                <p:spPr bwMode="auto">
                  <a:xfrm>
                    <a:off x="1933" y="433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459" name="Group 426"/>
                  <p:cNvGrpSpPr>
                    <a:grpSpLocks/>
                  </p:cNvGrpSpPr>
                  <p:nvPr/>
                </p:nvGrpSpPr>
                <p:grpSpPr bwMode="auto">
                  <a:xfrm>
                    <a:off x="1997" y="380"/>
                    <a:ext cx="47" cy="37"/>
                    <a:chOff x="1997" y="380"/>
                    <a:chExt cx="47" cy="37"/>
                  </a:xfrm>
                </p:grpSpPr>
                <p:sp>
                  <p:nvSpPr>
                    <p:cNvPr id="8460" name="Freeform 427"/>
                    <p:cNvSpPr>
                      <a:spLocks/>
                    </p:cNvSpPr>
                    <p:nvPr/>
                  </p:nvSpPr>
                  <p:spPr bwMode="auto">
                    <a:xfrm>
                      <a:off x="1997" y="380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61" name="Freeform 428"/>
                    <p:cNvSpPr>
                      <a:spLocks/>
                    </p:cNvSpPr>
                    <p:nvPr/>
                  </p:nvSpPr>
                  <p:spPr bwMode="auto">
                    <a:xfrm>
                      <a:off x="1998" y="410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438" name="Group 429"/>
                <p:cNvGrpSpPr>
                  <a:grpSpLocks/>
                </p:cNvGrpSpPr>
                <p:nvPr/>
              </p:nvGrpSpPr>
              <p:grpSpPr bwMode="auto">
                <a:xfrm>
                  <a:off x="1933" y="284"/>
                  <a:ext cx="321" cy="113"/>
                  <a:chOff x="1933" y="284"/>
                  <a:chExt cx="321" cy="113"/>
                </a:xfrm>
              </p:grpSpPr>
              <p:sp>
                <p:nvSpPr>
                  <p:cNvPr id="8439" name="Freeform 430"/>
                  <p:cNvSpPr>
                    <a:spLocks/>
                  </p:cNvSpPr>
                  <p:nvPr/>
                </p:nvSpPr>
                <p:spPr bwMode="auto">
                  <a:xfrm>
                    <a:off x="2014" y="293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40" name="Freeform 431"/>
                  <p:cNvSpPr>
                    <a:spLocks/>
                  </p:cNvSpPr>
                  <p:nvPr/>
                </p:nvSpPr>
                <p:spPr bwMode="auto">
                  <a:xfrm>
                    <a:off x="1933" y="299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441" name="Group 432"/>
                  <p:cNvGrpSpPr>
                    <a:grpSpLocks/>
                  </p:cNvGrpSpPr>
                  <p:nvPr/>
                </p:nvGrpSpPr>
                <p:grpSpPr bwMode="auto">
                  <a:xfrm>
                    <a:off x="1960" y="332"/>
                    <a:ext cx="2" cy="5"/>
                    <a:chOff x="1960" y="332"/>
                    <a:chExt cx="2" cy="5"/>
                  </a:xfrm>
                </p:grpSpPr>
                <p:sp>
                  <p:nvSpPr>
                    <p:cNvPr id="8452" name="Oval 43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60" y="332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53" name="Arc 434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61" y="335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442" name="Group 435"/>
                  <p:cNvGrpSpPr>
                    <a:grpSpLocks/>
                  </p:cNvGrpSpPr>
                  <p:nvPr/>
                </p:nvGrpSpPr>
                <p:grpSpPr bwMode="auto">
                  <a:xfrm>
                    <a:off x="1977" y="319"/>
                    <a:ext cx="19" cy="5"/>
                    <a:chOff x="1977" y="319"/>
                    <a:chExt cx="19" cy="5"/>
                  </a:xfrm>
                </p:grpSpPr>
                <p:sp>
                  <p:nvSpPr>
                    <p:cNvPr id="8447" name="Arc 436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81" y="320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48" name="Arc 437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77" y="320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49" name="Arc 438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82" y="320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50" name="Arc 439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86" y="320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51" name="Arc 440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1991" y="319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443" name="Freeform 441"/>
                  <p:cNvSpPr>
                    <a:spLocks/>
                  </p:cNvSpPr>
                  <p:nvPr/>
                </p:nvSpPr>
                <p:spPr bwMode="auto">
                  <a:xfrm>
                    <a:off x="1933" y="337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444" name="Group 442"/>
                  <p:cNvGrpSpPr>
                    <a:grpSpLocks/>
                  </p:cNvGrpSpPr>
                  <p:nvPr/>
                </p:nvGrpSpPr>
                <p:grpSpPr bwMode="auto">
                  <a:xfrm>
                    <a:off x="1997" y="284"/>
                    <a:ext cx="47" cy="37"/>
                    <a:chOff x="1997" y="284"/>
                    <a:chExt cx="47" cy="37"/>
                  </a:xfrm>
                </p:grpSpPr>
                <p:sp>
                  <p:nvSpPr>
                    <p:cNvPr id="8445" name="Freeform 443"/>
                    <p:cNvSpPr>
                      <a:spLocks/>
                    </p:cNvSpPr>
                    <p:nvPr/>
                  </p:nvSpPr>
                  <p:spPr bwMode="auto">
                    <a:xfrm>
                      <a:off x="1997" y="284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46" name="Freeform 444"/>
                    <p:cNvSpPr>
                      <a:spLocks/>
                    </p:cNvSpPr>
                    <p:nvPr/>
                  </p:nvSpPr>
                  <p:spPr bwMode="auto">
                    <a:xfrm>
                      <a:off x="1998" y="314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8353" name="Group 445"/>
              <p:cNvGrpSpPr>
                <a:grpSpLocks/>
              </p:cNvGrpSpPr>
              <p:nvPr/>
            </p:nvGrpSpPr>
            <p:grpSpPr bwMode="auto">
              <a:xfrm>
                <a:off x="2317" y="284"/>
                <a:ext cx="321" cy="497"/>
                <a:chOff x="2317" y="284"/>
                <a:chExt cx="321" cy="497"/>
              </a:xfrm>
            </p:grpSpPr>
            <p:grpSp>
              <p:nvGrpSpPr>
                <p:cNvPr id="8354" name="Group 446"/>
                <p:cNvGrpSpPr>
                  <a:grpSpLocks/>
                </p:cNvGrpSpPr>
                <p:nvPr/>
              </p:nvGrpSpPr>
              <p:grpSpPr bwMode="auto">
                <a:xfrm>
                  <a:off x="2317" y="668"/>
                  <a:ext cx="321" cy="113"/>
                  <a:chOff x="2317" y="668"/>
                  <a:chExt cx="321" cy="113"/>
                </a:xfrm>
              </p:grpSpPr>
              <p:sp>
                <p:nvSpPr>
                  <p:cNvPr id="8419" name="Freeform 447"/>
                  <p:cNvSpPr>
                    <a:spLocks/>
                  </p:cNvSpPr>
                  <p:nvPr/>
                </p:nvSpPr>
                <p:spPr bwMode="auto">
                  <a:xfrm>
                    <a:off x="2398" y="677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20" name="Freeform 448"/>
                  <p:cNvSpPr>
                    <a:spLocks/>
                  </p:cNvSpPr>
                  <p:nvPr/>
                </p:nvSpPr>
                <p:spPr bwMode="auto">
                  <a:xfrm>
                    <a:off x="2317" y="683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421" name="Group 449"/>
                  <p:cNvGrpSpPr>
                    <a:grpSpLocks/>
                  </p:cNvGrpSpPr>
                  <p:nvPr/>
                </p:nvGrpSpPr>
                <p:grpSpPr bwMode="auto">
                  <a:xfrm>
                    <a:off x="2344" y="716"/>
                    <a:ext cx="2" cy="5"/>
                    <a:chOff x="2344" y="716"/>
                    <a:chExt cx="2" cy="5"/>
                  </a:xfrm>
                </p:grpSpPr>
                <p:sp>
                  <p:nvSpPr>
                    <p:cNvPr id="8432" name="Oval 4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44" y="716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33" name="Arc 451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45" y="719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422" name="Group 452"/>
                  <p:cNvGrpSpPr>
                    <a:grpSpLocks/>
                  </p:cNvGrpSpPr>
                  <p:nvPr/>
                </p:nvGrpSpPr>
                <p:grpSpPr bwMode="auto">
                  <a:xfrm>
                    <a:off x="2361" y="703"/>
                    <a:ext cx="19" cy="5"/>
                    <a:chOff x="2361" y="703"/>
                    <a:chExt cx="19" cy="5"/>
                  </a:xfrm>
                </p:grpSpPr>
                <p:sp>
                  <p:nvSpPr>
                    <p:cNvPr id="8427" name="Arc 453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65" y="704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28" name="Arc 454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61" y="704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29" name="Arc 455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66" y="704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30" name="Arc 456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70" y="704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31" name="Arc 457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75" y="703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423" name="Freeform 458"/>
                  <p:cNvSpPr>
                    <a:spLocks/>
                  </p:cNvSpPr>
                  <p:nvPr/>
                </p:nvSpPr>
                <p:spPr bwMode="auto">
                  <a:xfrm>
                    <a:off x="2317" y="721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424" name="Group 459"/>
                  <p:cNvGrpSpPr>
                    <a:grpSpLocks/>
                  </p:cNvGrpSpPr>
                  <p:nvPr/>
                </p:nvGrpSpPr>
                <p:grpSpPr bwMode="auto">
                  <a:xfrm>
                    <a:off x="2381" y="668"/>
                    <a:ext cx="47" cy="37"/>
                    <a:chOff x="2381" y="668"/>
                    <a:chExt cx="47" cy="37"/>
                  </a:xfrm>
                </p:grpSpPr>
                <p:sp>
                  <p:nvSpPr>
                    <p:cNvPr id="8425" name="Freeform 460"/>
                    <p:cNvSpPr>
                      <a:spLocks/>
                    </p:cNvSpPr>
                    <p:nvPr/>
                  </p:nvSpPr>
                  <p:spPr bwMode="auto">
                    <a:xfrm>
                      <a:off x="2381" y="668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26" name="Freeform 461"/>
                    <p:cNvSpPr>
                      <a:spLocks/>
                    </p:cNvSpPr>
                    <p:nvPr/>
                  </p:nvSpPr>
                  <p:spPr bwMode="auto">
                    <a:xfrm>
                      <a:off x="2382" y="698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355" name="Group 462"/>
                <p:cNvGrpSpPr>
                  <a:grpSpLocks/>
                </p:cNvGrpSpPr>
                <p:nvPr/>
              </p:nvGrpSpPr>
              <p:grpSpPr bwMode="auto">
                <a:xfrm>
                  <a:off x="2317" y="572"/>
                  <a:ext cx="321" cy="113"/>
                  <a:chOff x="2317" y="572"/>
                  <a:chExt cx="321" cy="113"/>
                </a:xfrm>
              </p:grpSpPr>
              <p:sp>
                <p:nvSpPr>
                  <p:cNvPr id="8404" name="Freeform 463"/>
                  <p:cNvSpPr>
                    <a:spLocks/>
                  </p:cNvSpPr>
                  <p:nvPr/>
                </p:nvSpPr>
                <p:spPr bwMode="auto">
                  <a:xfrm>
                    <a:off x="2398" y="581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405" name="Freeform 464"/>
                  <p:cNvSpPr>
                    <a:spLocks/>
                  </p:cNvSpPr>
                  <p:nvPr/>
                </p:nvSpPr>
                <p:spPr bwMode="auto">
                  <a:xfrm>
                    <a:off x="2317" y="587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406" name="Group 465"/>
                  <p:cNvGrpSpPr>
                    <a:grpSpLocks/>
                  </p:cNvGrpSpPr>
                  <p:nvPr/>
                </p:nvGrpSpPr>
                <p:grpSpPr bwMode="auto">
                  <a:xfrm>
                    <a:off x="2344" y="620"/>
                    <a:ext cx="2" cy="5"/>
                    <a:chOff x="2344" y="620"/>
                    <a:chExt cx="2" cy="5"/>
                  </a:xfrm>
                </p:grpSpPr>
                <p:sp>
                  <p:nvSpPr>
                    <p:cNvPr id="8417" name="Oval 4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44" y="620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18" name="Arc 467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45" y="623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407" name="Group 468"/>
                  <p:cNvGrpSpPr>
                    <a:grpSpLocks/>
                  </p:cNvGrpSpPr>
                  <p:nvPr/>
                </p:nvGrpSpPr>
                <p:grpSpPr bwMode="auto">
                  <a:xfrm>
                    <a:off x="2361" y="607"/>
                    <a:ext cx="19" cy="5"/>
                    <a:chOff x="2361" y="607"/>
                    <a:chExt cx="19" cy="5"/>
                  </a:xfrm>
                </p:grpSpPr>
                <p:sp>
                  <p:nvSpPr>
                    <p:cNvPr id="8412" name="Arc 469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65" y="608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13" name="Arc 470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61" y="608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14" name="Arc 471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66" y="608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15" name="Arc 472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70" y="608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16" name="Arc 473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75" y="607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408" name="Freeform 474"/>
                  <p:cNvSpPr>
                    <a:spLocks/>
                  </p:cNvSpPr>
                  <p:nvPr/>
                </p:nvSpPr>
                <p:spPr bwMode="auto">
                  <a:xfrm>
                    <a:off x="2317" y="625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409" name="Group 475"/>
                  <p:cNvGrpSpPr>
                    <a:grpSpLocks/>
                  </p:cNvGrpSpPr>
                  <p:nvPr/>
                </p:nvGrpSpPr>
                <p:grpSpPr bwMode="auto">
                  <a:xfrm>
                    <a:off x="2381" y="572"/>
                    <a:ext cx="47" cy="37"/>
                    <a:chOff x="2381" y="572"/>
                    <a:chExt cx="47" cy="37"/>
                  </a:xfrm>
                </p:grpSpPr>
                <p:sp>
                  <p:nvSpPr>
                    <p:cNvPr id="8410" name="Freeform 476"/>
                    <p:cNvSpPr>
                      <a:spLocks/>
                    </p:cNvSpPr>
                    <p:nvPr/>
                  </p:nvSpPr>
                  <p:spPr bwMode="auto">
                    <a:xfrm>
                      <a:off x="2381" y="572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11" name="Freeform 477"/>
                    <p:cNvSpPr>
                      <a:spLocks/>
                    </p:cNvSpPr>
                    <p:nvPr/>
                  </p:nvSpPr>
                  <p:spPr bwMode="auto">
                    <a:xfrm>
                      <a:off x="2382" y="602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356" name="Group 478"/>
                <p:cNvGrpSpPr>
                  <a:grpSpLocks/>
                </p:cNvGrpSpPr>
                <p:nvPr/>
              </p:nvGrpSpPr>
              <p:grpSpPr bwMode="auto">
                <a:xfrm>
                  <a:off x="2317" y="476"/>
                  <a:ext cx="321" cy="113"/>
                  <a:chOff x="2317" y="476"/>
                  <a:chExt cx="321" cy="113"/>
                </a:xfrm>
              </p:grpSpPr>
              <p:sp>
                <p:nvSpPr>
                  <p:cNvPr id="8389" name="Freeform 479"/>
                  <p:cNvSpPr>
                    <a:spLocks/>
                  </p:cNvSpPr>
                  <p:nvPr/>
                </p:nvSpPr>
                <p:spPr bwMode="auto">
                  <a:xfrm>
                    <a:off x="2398" y="485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390" name="Freeform 480"/>
                  <p:cNvSpPr>
                    <a:spLocks/>
                  </p:cNvSpPr>
                  <p:nvPr/>
                </p:nvSpPr>
                <p:spPr bwMode="auto">
                  <a:xfrm>
                    <a:off x="2317" y="491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391" name="Group 481"/>
                  <p:cNvGrpSpPr>
                    <a:grpSpLocks/>
                  </p:cNvGrpSpPr>
                  <p:nvPr/>
                </p:nvGrpSpPr>
                <p:grpSpPr bwMode="auto">
                  <a:xfrm>
                    <a:off x="2344" y="524"/>
                    <a:ext cx="2" cy="5"/>
                    <a:chOff x="2344" y="524"/>
                    <a:chExt cx="2" cy="5"/>
                  </a:xfrm>
                </p:grpSpPr>
                <p:sp>
                  <p:nvSpPr>
                    <p:cNvPr id="8402" name="Oval 48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44" y="524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03" name="Arc 483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45" y="527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392" name="Group 484"/>
                  <p:cNvGrpSpPr>
                    <a:grpSpLocks/>
                  </p:cNvGrpSpPr>
                  <p:nvPr/>
                </p:nvGrpSpPr>
                <p:grpSpPr bwMode="auto">
                  <a:xfrm>
                    <a:off x="2361" y="511"/>
                    <a:ext cx="19" cy="5"/>
                    <a:chOff x="2361" y="511"/>
                    <a:chExt cx="19" cy="5"/>
                  </a:xfrm>
                </p:grpSpPr>
                <p:sp>
                  <p:nvSpPr>
                    <p:cNvPr id="8397" name="Arc 485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65" y="512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398" name="Arc 486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61" y="512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399" name="Arc 487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66" y="512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00" name="Arc 488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70" y="512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401" name="Arc 489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75" y="511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393" name="Freeform 490"/>
                  <p:cNvSpPr>
                    <a:spLocks/>
                  </p:cNvSpPr>
                  <p:nvPr/>
                </p:nvSpPr>
                <p:spPr bwMode="auto">
                  <a:xfrm>
                    <a:off x="2317" y="529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394" name="Group 491"/>
                  <p:cNvGrpSpPr>
                    <a:grpSpLocks/>
                  </p:cNvGrpSpPr>
                  <p:nvPr/>
                </p:nvGrpSpPr>
                <p:grpSpPr bwMode="auto">
                  <a:xfrm>
                    <a:off x="2381" y="476"/>
                    <a:ext cx="47" cy="37"/>
                    <a:chOff x="2381" y="476"/>
                    <a:chExt cx="47" cy="37"/>
                  </a:xfrm>
                </p:grpSpPr>
                <p:sp>
                  <p:nvSpPr>
                    <p:cNvPr id="8395" name="Freeform 492"/>
                    <p:cNvSpPr>
                      <a:spLocks/>
                    </p:cNvSpPr>
                    <p:nvPr/>
                  </p:nvSpPr>
                  <p:spPr bwMode="auto">
                    <a:xfrm>
                      <a:off x="2381" y="476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396" name="Freeform 493"/>
                    <p:cNvSpPr>
                      <a:spLocks/>
                    </p:cNvSpPr>
                    <p:nvPr/>
                  </p:nvSpPr>
                  <p:spPr bwMode="auto">
                    <a:xfrm>
                      <a:off x="2382" y="506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357" name="Group 494"/>
                <p:cNvGrpSpPr>
                  <a:grpSpLocks/>
                </p:cNvGrpSpPr>
                <p:nvPr/>
              </p:nvGrpSpPr>
              <p:grpSpPr bwMode="auto">
                <a:xfrm>
                  <a:off x="2317" y="380"/>
                  <a:ext cx="321" cy="113"/>
                  <a:chOff x="2317" y="380"/>
                  <a:chExt cx="321" cy="113"/>
                </a:xfrm>
              </p:grpSpPr>
              <p:sp>
                <p:nvSpPr>
                  <p:cNvPr id="8374" name="Freeform 495"/>
                  <p:cNvSpPr>
                    <a:spLocks/>
                  </p:cNvSpPr>
                  <p:nvPr/>
                </p:nvSpPr>
                <p:spPr bwMode="auto">
                  <a:xfrm>
                    <a:off x="2398" y="389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375" name="Freeform 496"/>
                  <p:cNvSpPr>
                    <a:spLocks/>
                  </p:cNvSpPr>
                  <p:nvPr/>
                </p:nvSpPr>
                <p:spPr bwMode="auto">
                  <a:xfrm>
                    <a:off x="2317" y="395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376" name="Group 497"/>
                  <p:cNvGrpSpPr>
                    <a:grpSpLocks/>
                  </p:cNvGrpSpPr>
                  <p:nvPr/>
                </p:nvGrpSpPr>
                <p:grpSpPr bwMode="auto">
                  <a:xfrm>
                    <a:off x="2344" y="428"/>
                    <a:ext cx="2" cy="5"/>
                    <a:chOff x="2344" y="428"/>
                    <a:chExt cx="2" cy="5"/>
                  </a:xfrm>
                </p:grpSpPr>
                <p:sp>
                  <p:nvSpPr>
                    <p:cNvPr id="8387" name="Oval 49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44" y="428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388" name="Arc 499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45" y="431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377" name="Group 500"/>
                  <p:cNvGrpSpPr>
                    <a:grpSpLocks/>
                  </p:cNvGrpSpPr>
                  <p:nvPr/>
                </p:nvGrpSpPr>
                <p:grpSpPr bwMode="auto">
                  <a:xfrm>
                    <a:off x="2361" y="415"/>
                    <a:ext cx="19" cy="5"/>
                    <a:chOff x="2361" y="415"/>
                    <a:chExt cx="19" cy="5"/>
                  </a:xfrm>
                </p:grpSpPr>
                <p:sp>
                  <p:nvSpPr>
                    <p:cNvPr id="8382" name="Arc 501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65" y="416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383" name="Arc 502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61" y="416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384" name="Arc 503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66" y="416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385" name="Arc 504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70" y="416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386" name="Arc 505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75" y="415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378" name="Freeform 506"/>
                  <p:cNvSpPr>
                    <a:spLocks/>
                  </p:cNvSpPr>
                  <p:nvPr/>
                </p:nvSpPr>
                <p:spPr bwMode="auto">
                  <a:xfrm>
                    <a:off x="2317" y="433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379" name="Group 507"/>
                  <p:cNvGrpSpPr>
                    <a:grpSpLocks/>
                  </p:cNvGrpSpPr>
                  <p:nvPr/>
                </p:nvGrpSpPr>
                <p:grpSpPr bwMode="auto">
                  <a:xfrm>
                    <a:off x="2381" y="380"/>
                    <a:ext cx="47" cy="37"/>
                    <a:chOff x="2381" y="380"/>
                    <a:chExt cx="47" cy="37"/>
                  </a:xfrm>
                </p:grpSpPr>
                <p:sp>
                  <p:nvSpPr>
                    <p:cNvPr id="8380" name="Freeform 508"/>
                    <p:cNvSpPr>
                      <a:spLocks/>
                    </p:cNvSpPr>
                    <p:nvPr/>
                  </p:nvSpPr>
                  <p:spPr bwMode="auto">
                    <a:xfrm>
                      <a:off x="2381" y="380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381" name="Freeform 509"/>
                    <p:cNvSpPr>
                      <a:spLocks/>
                    </p:cNvSpPr>
                    <p:nvPr/>
                  </p:nvSpPr>
                  <p:spPr bwMode="auto">
                    <a:xfrm>
                      <a:off x="2382" y="410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8358" name="Group 510"/>
                <p:cNvGrpSpPr>
                  <a:grpSpLocks/>
                </p:cNvGrpSpPr>
                <p:nvPr/>
              </p:nvGrpSpPr>
              <p:grpSpPr bwMode="auto">
                <a:xfrm>
                  <a:off x="2317" y="284"/>
                  <a:ext cx="321" cy="113"/>
                  <a:chOff x="2317" y="284"/>
                  <a:chExt cx="321" cy="113"/>
                </a:xfrm>
              </p:grpSpPr>
              <p:sp>
                <p:nvSpPr>
                  <p:cNvPr id="8359" name="Freeform 511"/>
                  <p:cNvSpPr>
                    <a:spLocks/>
                  </p:cNvSpPr>
                  <p:nvPr/>
                </p:nvSpPr>
                <p:spPr bwMode="auto">
                  <a:xfrm>
                    <a:off x="2398" y="293"/>
                    <a:ext cx="38" cy="31"/>
                  </a:xfrm>
                  <a:custGeom>
                    <a:avLst/>
                    <a:gdLst>
                      <a:gd name="T0" fmla="*/ 0 w 38"/>
                      <a:gd name="T1" fmla="*/ 30 h 31"/>
                      <a:gd name="T2" fmla="*/ 1 w 38"/>
                      <a:gd name="T3" fmla="*/ 27 h 31"/>
                      <a:gd name="T4" fmla="*/ 3 w 38"/>
                      <a:gd name="T5" fmla="*/ 24 h 31"/>
                      <a:gd name="T6" fmla="*/ 5 w 38"/>
                      <a:gd name="T7" fmla="*/ 21 h 31"/>
                      <a:gd name="T8" fmla="*/ 7 w 38"/>
                      <a:gd name="T9" fmla="*/ 18 h 31"/>
                      <a:gd name="T10" fmla="*/ 10 w 38"/>
                      <a:gd name="T11" fmla="*/ 15 h 31"/>
                      <a:gd name="T12" fmla="*/ 13 w 38"/>
                      <a:gd name="T13" fmla="*/ 11 h 31"/>
                      <a:gd name="T14" fmla="*/ 15 w 38"/>
                      <a:gd name="T15" fmla="*/ 9 h 31"/>
                      <a:gd name="T16" fmla="*/ 18 w 38"/>
                      <a:gd name="T17" fmla="*/ 7 h 31"/>
                      <a:gd name="T18" fmla="*/ 21 w 38"/>
                      <a:gd name="T19" fmla="*/ 5 h 31"/>
                      <a:gd name="T20" fmla="*/ 24 w 38"/>
                      <a:gd name="T21" fmla="*/ 3 h 31"/>
                      <a:gd name="T22" fmla="*/ 26 w 38"/>
                      <a:gd name="T23" fmla="*/ 2 h 31"/>
                      <a:gd name="T24" fmla="*/ 29 w 38"/>
                      <a:gd name="T25" fmla="*/ 1 h 31"/>
                      <a:gd name="T26" fmla="*/ 33 w 38"/>
                      <a:gd name="T27" fmla="*/ 0 h 31"/>
                      <a:gd name="T28" fmla="*/ 36 w 38"/>
                      <a:gd name="T29" fmla="*/ 0 h 31"/>
                      <a:gd name="T30" fmla="*/ 37 w 38"/>
                      <a:gd name="T31" fmla="*/ 1 h 31"/>
                      <a:gd name="T32" fmla="*/ 35 w 38"/>
                      <a:gd name="T33" fmla="*/ 3 h 31"/>
                      <a:gd name="T34" fmla="*/ 33 w 38"/>
                      <a:gd name="T35" fmla="*/ 5 h 31"/>
                      <a:gd name="T36" fmla="*/ 31 w 38"/>
                      <a:gd name="T37" fmla="*/ 8 h 31"/>
                      <a:gd name="T38" fmla="*/ 29 w 38"/>
                      <a:gd name="T39" fmla="*/ 11 h 31"/>
                      <a:gd name="T40" fmla="*/ 27 w 38"/>
                      <a:gd name="T41" fmla="*/ 14 h 31"/>
                      <a:gd name="T42" fmla="*/ 26 w 38"/>
                      <a:gd name="T43" fmla="*/ 17 h 31"/>
                      <a:gd name="T44" fmla="*/ 25 w 38"/>
                      <a:gd name="T45" fmla="*/ 19 h 31"/>
                      <a:gd name="T46" fmla="*/ 24 w 38"/>
                      <a:gd name="T47" fmla="*/ 24 h 31"/>
                      <a:gd name="T48" fmla="*/ 24 w 38"/>
                      <a:gd name="T49" fmla="*/ 27 h 31"/>
                      <a:gd name="T50" fmla="*/ 24 w 38"/>
                      <a:gd name="T51" fmla="*/ 29 h 31"/>
                      <a:gd name="T52" fmla="*/ 0 w 38"/>
                      <a:gd name="T53" fmla="*/ 30 h 31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0" t="0" r="r" b="b"/>
                    <a:pathLst>
                      <a:path w="38" h="31">
                        <a:moveTo>
                          <a:pt x="0" y="30"/>
                        </a:moveTo>
                        <a:lnTo>
                          <a:pt x="1" y="27"/>
                        </a:lnTo>
                        <a:lnTo>
                          <a:pt x="3" y="24"/>
                        </a:lnTo>
                        <a:lnTo>
                          <a:pt x="5" y="21"/>
                        </a:lnTo>
                        <a:lnTo>
                          <a:pt x="7" y="18"/>
                        </a:lnTo>
                        <a:lnTo>
                          <a:pt x="10" y="15"/>
                        </a:lnTo>
                        <a:lnTo>
                          <a:pt x="13" y="11"/>
                        </a:lnTo>
                        <a:lnTo>
                          <a:pt x="15" y="9"/>
                        </a:lnTo>
                        <a:lnTo>
                          <a:pt x="18" y="7"/>
                        </a:lnTo>
                        <a:lnTo>
                          <a:pt x="21" y="5"/>
                        </a:lnTo>
                        <a:lnTo>
                          <a:pt x="24" y="3"/>
                        </a:lnTo>
                        <a:lnTo>
                          <a:pt x="26" y="2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6" y="0"/>
                        </a:lnTo>
                        <a:lnTo>
                          <a:pt x="37" y="1"/>
                        </a:lnTo>
                        <a:lnTo>
                          <a:pt x="35" y="3"/>
                        </a:lnTo>
                        <a:lnTo>
                          <a:pt x="33" y="5"/>
                        </a:lnTo>
                        <a:lnTo>
                          <a:pt x="31" y="8"/>
                        </a:lnTo>
                        <a:lnTo>
                          <a:pt x="29" y="11"/>
                        </a:lnTo>
                        <a:lnTo>
                          <a:pt x="27" y="14"/>
                        </a:lnTo>
                        <a:lnTo>
                          <a:pt x="26" y="17"/>
                        </a:lnTo>
                        <a:lnTo>
                          <a:pt x="25" y="19"/>
                        </a:lnTo>
                        <a:lnTo>
                          <a:pt x="24" y="24"/>
                        </a:lnTo>
                        <a:lnTo>
                          <a:pt x="24" y="27"/>
                        </a:lnTo>
                        <a:lnTo>
                          <a:pt x="24" y="29"/>
                        </a:lnTo>
                        <a:lnTo>
                          <a:pt x="0" y="3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360" name="Freeform 512"/>
                  <p:cNvSpPr>
                    <a:spLocks/>
                  </p:cNvSpPr>
                  <p:nvPr/>
                </p:nvSpPr>
                <p:spPr bwMode="auto">
                  <a:xfrm>
                    <a:off x="2317" y="299"/>
                    <a:ext cx="321" cy="98"/>
                  </a:xfrm>
                  <a:custGeom>
                    <a:avLst/>
                    <a:gdLst>
                      <a:gd name="T0" fmla="*/ 3 w 321"/>
                      <a:gd name="T1" fmla="*/ 39 h 98"/>
                      <a:gd name="T2" fmla="*/ 13 w 321"/>
                      <a:gd name="T3" fmla="*/ 43 h 98"/>
                      <a:gd name="T4" fmla="*/ 28 w 321"/>
                      <a:gd name="T5" fmla="*/ 48 h 98"/>
                      <a:gd name="T6" fmla="*/ 43 w 321"/>
                      <a:gd name="T7" fmla="*/ 51 h 98"/>
                      <a:gd name="T8" fmla="*/ 59 w 321"/>
                      <a:gd name="T9" fmla="*/ 54 h 98"/>
                      <a:gd name="T10" fmla="*/ 75 w 321"/>
                      <a:gd name="T11" fmla="*/ 57 h 98"/>
                      <a:gd name="T12" fmla="*/ 88 w 321"/>
                      <a:gd name="T13" fmla="*/ 60 h 98"/>
                      <a:gd name="T14" fmla="*/ 95 w 321"/>
                      <a:gd name="T15" fmla="*/ 64 h 98"/>
                      <a:gd name="T16" fmla="*/ 103 w 321"/>
                      <a:gd name="T17" fmla="*/ 72 h 98"/>
                      <a:gd name="T18" fmla="*/ 114 w 321"/>
                      <a:gd name="T19" fmla="*/ 83 h 98"/>
                      <a:gd name="T20" fmla="*/ 125 w 321"/>
                      <a:gd name="T21" fmla="*/ 93 h 98"/>
                      <a:gd name="T22" fmla="*/ 133 w 321"/>
                      <a:gd name="T23" fmla="*/ 85 h 98"/>
                      <a:gd name="T24" fmla="*/ 137 w 321"/>
                      <a:gd name="T25" fmla="*/ 68 h 98"/>
                      <a:gd name="T26" fmla="*/ 140 w 321"/>
                      <a:gd name="T27" fmla="*/ 61 h 98"/>
                      <a:gd name="T28" fmla="*/ 159 w 321"/>
                      <a:gd name="T29" fmla="*/ 58 h 98"/>
                      <a:gd name="T30" fmla="*/ 177 w 321"/>
                      <a:gd name="T31" fmla="*/ 54 h 98"/>
                      <a:gd name="T32" fmla="*/ 191 w 321"/>
                      <a:gd name="T33" fmla="*/ 54 h 98"/>
                      <a:gd name="T34" fmla="*/ 206 w 321"/>
                      <a:gd name="T35" fmla="*/ 58 h 98"/>
                      <a:gd name="T36" fmla="*/ 218 w 321"/>
                      <a:gd name="T37" fmla="*/ 49 h 98"/>
                      <a:gd name="T38" fmla="*/ 229 w 321"/>
                      <a:gd name="T39" fmla="*/ 46 h 98"/>
                      <a:gd name="T40" fmla="*/ 243 w 321"/>
                      <a:gd name="T41" fmla="*/ 46 h 98"/>
                      <a:gd name="T42" fmla="*/ 258 w 321"/>
                      <a:gd name="T43" fmla="*/ 52 h 98"/>
                      <a:gd name="T44" fmla="*/ 275 w 321"/>
                      <a:gd name="T45" fmla="*/ 66 h 98"/>
                      <a:gd name="T46" fmla="*/ 294 w 321"/>
                      <a:gd name="T47" fmla="*/ 83 h 98"/>
                      <a:gd name="T48" fmla="*/ 314 w 321"/>
                      <a:gd name="T49" fmla="*/ 89 h 98"/>
                      <a:gd name="T50" fmla="*/ 314 w 321"/>
                      <a:gd name="T51" fmla="*/ 84 h 98"/>
                      <a:gd name="T52" fmla="*/ 305 w 321"/>
                      <a:gd name="T53" fmla="*/ 72 h 98"/>
                      <a:gd name="T54" fmla="*/ 294 w 321"/>
                      <a:gd name="T55" fmla="*/ 60 h 98"/>
                      <a:gd name="T56" fmla="*/ 287 w 321"/>
                      <a:gd name="T57" fmla="*/ 49 h 98"/>
                      <a:gd name="T58" fmla="*/ 287 w 321"/>
                      <a:gd name="T59" fmla="*/ 37 h 98"/>
                      <a:gd name="T60" fmla="*/ 295 w 321"/>
                      <a:gd name="T61" fmla="*/ 24 h 98"/>
                      <a:gd name="T62" fmla="*/ 305 w 321"/>
                      <a:gd name="T63" fmla="*/ 15 h 98"/>
                      <a:gd name="T64" fmla="*/ 313 w 321"/>
                      <a:gd name="T65" fmla="*/ 8 h 98"/>
                      <a:gd name="T66" fmla="*/ 314 w 321"/>
                      <a:gd name="T67" fmla="*/ 4 h 98"/>
                      <a:gd name="T68" fmla="*/ 302 w 321"/>
                      <a:gd name="T69" fmla="*/ 4 h 98"/>
                      <a:gd name="T70" fmla="*/ 291 w 321"/>
                      <a:gd name="T71" fmla="*/ 7 h 98"/>
                      <a:gd name="T72" fmla="*/ 281 w 321"/>
                      <a:gd name="T73" fmla="*/ 12 h 98"/>
                      <a:gd name="T74" fmla="*/ 264 w 321"/>
                      <a:gd name="T75" fmla="*/ 23 h 98"/>
                      <a:gd name="T76" fmla="*/ 243 w 321"/>
                      <a:gd name="T77" fmla="*/ 25 h 98"/>
                      <a:gd name="T78" fmla="*/ 218 w 321"/>
                      <a:gd name="T79" fmla="*/ 22 h 98"/>
                      <a:gd name="T80" fmla="*/ 202 w 321"/>
                      <a:gd name="T81" fmla="*/ 15 h 98"/>
                      <a:gd name="T82" fmla="*/ 197 w 321"/>
                      <a:gd name="T83" fmla="*/ 8 h 98"/>
                      <a:gd name="T84" fmla="*/ 175 w 321"/>
                      <a:gd name="T85" fmla="*/ 9 h 98"/>
                      <a:gd name="T86" fmla="*/ 156 w 321"/>
                      <a:gd name="T87" fmla="*/ 3 h 98"/>
                      <a:gd name="T88" fmla="*/ 86 w 321"/>
                      <a:gd name="T89" fmla="*/ 0 h 98"/>
                      <a:gd name="T90" fmla="*/ 46 w 321"/>
                      <a:gd name="T91" fmla="*/ 4 h 98"/>
                      <a:gd name="T92" fmla="*/ 11 w 321"/>
                      <a:gd name="T93" fmla="*/ 16 h 98"/>
                      <a:gd name="T94" fmla="*/ 11 w 321"/>
                      <a:gd name="T95" fmla="*/ 23 h 98"/>
                      <a:gd name="T96" fmla="*/ 3 w 321"/>
                      <a:gd name="T97" fmla="*/ 30 h 98"/>
                      <a:gd name="T98" fmla="*/ 0 w 321"/>
                      <a:gd name="T99" fmla="*/ 35 h 98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</a:gdLst>
                    <a:ahLst/>
                    <a:cxnLst>
                      <a:cxn ang="T100">
                        <a:pos x="T0" y="T1"/>
                      </a:cxn>
                      <a:cxn ang="T101">
                        <a:pos x="T2" y="T3"/>
                      </a:cxn>
                      <a:cxn ang="T102">
                        <a:pos x="T4" y="T5"/>
                      </a:cxn>
                      <a:cxn ang="T103">
                        <a:pos x="T6" y="T7"/>
                      </a:cxn>
                      <a:cxn ang="T104">
                        <a:pos x="T8" y="T9"/>
                      </a:cxn>
                      <a:cxn ang="T105">
                        <a:pos x="T10" y="T11"/>
                      </a:cxn>
                      <a:cxn ang="T106">
                        <a:pos x="T12" y="T13"/>
                      </a:cxn>
                      <a:cxn ang="T107">
                        <a:pos x="T14" y="T15"/>
                      </a:cxn>
                      <a:cxn ang="T108">
                        <a:pos x="T16" y="T17"/>
                      </a:cxn>
                      <a:cxn ang="T109">
                        <a:pos x="T18" y="T19"/>
                      </a:cxn>
                      <a:cxn ang="T110">
                        <a:pos x="T20" y="T21"/>
                      </a:cxn>
                      <a:cxn ang="T111">
                        <a:pos x="T22" y="T23"/>
                      </a:cxn>
                      <a:cxn ang="T112">
                        <a:pos x="T24" y="T25"/>
                      </a:cxn>
                      <a:cxn ang="T113">
                        <a:pos x="T26" y="T27"/>
                      </a:cxn>
                      <a:cxn ang="T114">
                        <a:pos x="T28" y="T29"/>
                      </a:cxn>
                      <a:cxn ang="T115">
                        <a:pos x="T30" y="T31"/>
                      </a:cxn>
                      <a:cxn ang="T116">
                        <a:pos x="T32" y="T33"/>
                      </a:cxn>
                      <a:cxn ang="T117">
                        <a:pos x="T34" y="T35"/>
                      </a:cxn>
                      <a:cxn ang="T118">
                        <a:pos x="T36" y="T37"/>
                      </a:cxn>
                      <a:cxn ang="T119">
                        <a:pos x="T38" y="T39"/>
                      </a:cxn>
                      <a:cxn ang="T120">
                        <a:pos x="T40" y="T41"/>
                      </a:cxn>
                      <a:cxn ang="T121">
                        <a:pos x="T42" y="T43"/>
                      </a:cxn>
                      <a:cxn ang="T122">
                        <a:pos x="T44" y="T45"/>
                      </a:cxn>
                      <a:cxn ang="T123">
                        <a:pos x="T46" y="T47"/>
                      </a:cxn>
                      <a:cxn ang="T124">
                        <a:pos x="T48" y="T49"/>
                      </a:cxn>
                      <a:cxn ang="T125">
                        <a:pos x="T50" y="T51"/>
                      </a:cxn>
                      <a:cxn ang="T126">
                        <a:pos x="T52" y="T53"/>
                      </a:cxn>
                      <a:cxn ang="T127">
                        <a:pos x="T54" y="T55"/>
                      </a:cxn>
                      <a:cxn ang="T128">
                        <a:pos x="T56" y="T57"/>
                      </a:cxn>
                      <a:cxn ang="T129">
                        <a:pos x="T58" y="T59"/>
                      </a:cxn>
                      <a:cxn ang="T130">
                        <a:pos x="T60" y="T61"/>
                      </a:cxn>
                      <a:cxn ang="T131">
                        <a:pos x="T62" y="T63"/>
                      </a:cxn>
                      <a:cxn ang="T132">
                        <a:pos x="T64" y="T65"/>
                      </a:cxn>
                      <a:cxn ang="T133">
                        <a:pos x="T66" y="T67"/>
                      </a:cxn>
                      <a:cxn ang="T134">
                        <a:pos x="T68" y="T69"/>
                      </a:cxn>
                      <a:cxn ang="T135">
                        <a:pos x="T70" y="T71"/>
                      </a:cxn>
                      <a:cxn ang="T136">
                        <a:pos x="T72" y="T73"/>
                      </a:cxn>
                      <a:cxn ang="T137">
                        <a:pos x="T74" y="T75"/>
                      </a:cxn>
                      <a:cxn ang="T138">
                        <a:pos x="T76" y="T77"/>
                      </a:cxn>
                      <a:cxn ang="T139">
                        <a:pos x="T78" y="T79"/>
                      </a:cxn>
                      <a:cxn ang="T140">
                        <a:pos x="T80" y="T81"/>
                      </a:cxn>
                      <a:cxn ang="T141">
                        <a:pos x="T82" y="T83"/>
                      </a:cxn>
                      <a:cxn ang="T142">
                        <a:pos x="T84" y="T85"/>
                      </a:cxn>
                      <a:cxn ang="T143">
                        <a:pos x="T86" y="T87"/>
                      </a:cxn>
                      <a:cxn ang="T144">
                        <a:pos x="T88" y="T89"/>
                      </a:cxn>
                      <a:cxn ang="T145">
                        <a:pos x="T90" y="T91"/>
                      </a:cxn>
                      <a:cxn ang="T146">
                        <a:pos x="T92" y="T93"/>
                      </a:cxn>
                      <a:cxn ang="T147">
                        <a:pos x="T94" y="T95"/>
                      </a:cxn>
                      <a:cxn ang="T148">
                        <a:pos x="T96" y="T97"/>
                      </a:cxn>
                      <a:cxn ang="T149">
                        <a:pos x="T98" y="T99"/>
                      </a:cxn>
                    </a:cxnLst>
                    <a:rect l="0" t="0" r="r" b="b"/>
                    <a:pathLst>
                      <a:path w="321" h="98">
                        <a:moveTo>
                          <a:pt x="0" y="37"/>
                        </a:moveTo>
                        <a:lnTo>
                          <a:pt x="1" y="38"/>
                        </a:lnTo>
                        <a:lnTo>
                          <a:pt x="3" y="39"/>
                        </a:lnTo>
                        <a:lnTo>
                          <a:pt x="7" y="41"/>
                        </a:lnTo>
                        <a:lnTo>
                          <a:pt x="10" y="42"/>
                        </a:lnTo>
                        <a:lnTo>
                          <a:pt x="13" y="43"/>
                        </a:lnTo>
                        <a:lnTo>
                          <a:pt x="18" y="45"/>
                        </a:lnTo>
                        <a:lnTo>
                          <a:pt x="23" y="46"/>
                        </a:lnTo>
                        <a:lnTo>
                          <a:pt x="28" y="48"/>
                        </a:lnTo>
                        <a:lnTo>
                          <a:pt x="32" y="49"/>
                        </a:lnTo>
                        <a:lnTo>
                          <a:pt x="38" y="50"/>
                        </a:lnTo>
                        <a:lnTo>
                          <a:pt x="43" y="51"/>
                        </a:lnTo>
                        <a:lnTo>
                          <a:pt x="49" y="52"/>
                        </a:lnTo>
                        <a:lnTo>
                          <a:pt x="54" y="53"/>
                        </a:lnTo>
                        <a:lnTo>
                          <a:pt x="59" y="54"/>
                        </a:lnTo>
                        <a:lnTo>
                          <a:pt x="63" y="55"/>
                        </a:lnTo>
                        <a:lnTo>
                          <a:pt x="69" y="56"/>
                        </a:lnTo>
                        <a:lnTo>
                          <a:pt x="75" y="57"/>
                        </a:lnTo>
                        <a:lnTo>
                          <a:pt x="80" y="58"/>
                        </a:lnTo>
                        <a:lnTo>
                          <a:pt x="84" y="59"/>
                        </a:lnTo>
                        <a:lnTo>
                          <a:pt x="88" y="60"/>
                        </a:lnTo>
                        <a:lnTo>
                          <a:pt x="91" y="61"/>
                        </a:lnTo>
                        <a:lnTo>
                          <a:pt x="93" y="63"/>
                        </a:lnTo>
                        <a:lnTo>
                          <a:pt x="95" y="64"/>
                        </a:lnTo>
                        <a:lnTo>
                          <a:pt x="97" y="66"/>
                        </a:lnTo>
                        <a:lnTo>
                          <a:pt x="100" y="69"/>
                        </a:lnTo>
                        <a:lnTo>
                          <a:pt x="103" y="72"/>
                        </a:lnTo>
                        <a:lnTo>
                          <a:pt x="106" y="76"/>
                        </a:lnTo>
                        <a:lnTo>
                          <a:pt x="110" y="79"/>
                        </a:lnTo>
                        <a:lnTo>
                          <a:pt x="114" y="83"/>
                        </a:lnTo>
                        <a:lnTo>
                          <a:pt x="117" y="87"/>
                        </a:lnTo>
                        <a:lnTo>
                          <a:pt x="121" y="90"/>
                        </a:lnTo>
                        <a:lnTo>
                          <a:pt x="125" y="93"/>
                        </a:lnTo>
                        <a:lnTo>
                          <a:pt x="130" y="97"/>
                        </a:lnTo>
                        <a:lnTo>
                          <a:pt x="131" y="90"/>
                        </a:lnTo>
                        <a:lnTo>
                          <a:pt x="133" y="85"/>
                        </a:lnTo>
                        <a:lnTo>
                          <a:pt x="135" y="79"/>
                        </a:lnTo>
                        <a:lnTo>
                          <a:pt x="136" y="73"/>
                        </a:lnTo>
                        <a:lnTo>
                          <a:pt x="137" y="68"/>
                        </a:lnTo>
                        <a:lnTo>
                          <a:pt x="137" y="65"/>
                        </a:lnTo>
                        <a:lnTo>
                          <a:pt x="135" y="62"/>
                        </a:lnTo>
                        <a:lnTo>
                          <a:pt x="140" y="61"/>
                        </a:lnTo>
                        <a:lnTo>
                          <a:pt x="145" y="60"/>
                        </a:lnTo>
                        <a:lnTo>
                          <a:pt x="152" y="59"/>
                        </a:lnTo>
                        <a:lnTo>
                          <a:pt x="159" y="58"/>
                        </a:lnTo>
                        <a:lnTo>
                          <a:pt x="166" y="56"/>
                        </a:lnTo>
                        <a:lnTo>
                          <a:pt x="171" y="55"/>
                        </a:lnTo>
                        <a:lnTo>
                          <a:pt x="177" y="54"/>
                        </a:lnTo>
                        <a:lnTo>
                          <a:pt x="183" y="54"/>
                        </a:lnTo>
                        <a:lnTo>
                          <a:pt x="188" y="53"/>
                        </a:lnTo>
                        <a:lnTo>
                          <a:pt x="191" y="54"/>
                        </a:lnTo>
                        <a:lnTo>
                          <a:pt x="195" y="56"/>
                        </a:lnTo>
                        <a:lnTo>
                          <a:pt x="198" y="59"/>
                        </a:lnTo>
                        <a:lnTo>
                          <a:pt x="206" y="58"/>
                        </a:lnTo>
                        <a:lnTo>
                          <a:pt x="215" y="55"/>
                        </a:lnTo>
                        <a:lnTo>
                          <a:pt x="222" y="54"/>
                        </a:lnTo>
                        <a:lnTo>
                          <a:pt x="218" y="49"/>
                        </a:lnTo>
                        <a:lnTo>
                          <a:pt x="220" y="48"/>
                        </a:lnTo>
                        <a:lnTo>
                          <a:pt x="225" y="47"/>
                        </a:lnTo>
                        <a:lnTo>
                          <a:pt x="229" y="46"/>
                        </a:lnTo>
                        <a:lnTo>
                          <a:pt x="234" y="45"/>
                        </a:lnTo>
                        <a:lnTo>
                          <a:pt x="238" y="46"/>
                        </a:lnTo>
                        <a:lnTo>
                          <a:pt x="243" y="46"/>
                        </a:lnTo>
                        <a:lnTo>
                          <a:pt x="248" y="47"/>
                        </a:lnTo>
                        <a:lnTo>
                          <a:pt x="253" y="49"/>
                        </a:lnTo>
                        <a:lnTo>
                          <a:pt x="258" y="52"/>
                        </a:lnTo>
                        <a:lnTo>
                          <a:pt x="264" y="56"/>
                        </a:lnTo>
                        <a:lnTo>
                          <a:pt x="269" y="60"/>
                        </a:lnTo>
                        <a:lnTo>
                          <a:pt x="275" y="66"/>
                        </a:lnTo>
                        <a:lnTo>
                          <a:pt x="281" y="73"/>
                        </a:lnTo>
                        <a:lnTo>
                          <a:pt x="288" y="78"/>
                        </a:lnTo>
                        <a:lnTo>
                          <a:pt x="294" y="83"/>
                        </a:lnTo>
                        <a:lnTo>
                          <a:pt x="300" y="86"/>
                        </a:lnTo>
                        <a:lnTo>
                          <a:pt x="306" y="88"/>
                        </a:lnTo>
                        <a:lnTo>
                          <a:pt x="314" y="89"/>
                        </a:lnTo>
                        <a:lnTo>
                          <a:pt x="320" y="89"/>
                        </a:lnTo>
                        <a:lnTo>
                          <a:pt x="317" y="86"/>
                        </a:lnTo>
                        <a:lnTo>
                          <a:pt x="314" y="84"/>
                        </a:lnTo>
                        <a:lnTo>
                          <a:pt x="313" y="82"/>
                        </a:lnTo>
                        <a:lnTo>
                          <a:pt x="309" y="75"/>
                        </a:lnTo>
                        <a:lnTo>
                          <a:pt x="305" y="72"/>
                        </a:lnTo>
                        <a:lnTo>
                          <a:pt x="301" y="69"/>
                        </a:lnTo>
                        <a:lnTo>
                          <a:pt x="297" y="64"/>
                        </a:lnTo>
                        <a:lnTo>
                          <a:pt x="294" y="60"/>
                        </a:lnTo>
                        <a:lnTo>
                          <a:pt x="292" y="56"/>
                        </a:lnTo>
                        <a:lnTo>
                          <a:pt x="289" y="52"/>
                        </a:lnTo>
                        <a:lnTo>
                          <a:pt x="287" y="49"/>
                        </a:lnTo>
                        <a:lnTo>
                          <a:pt x="286" y="45"/>
                        </a:lnTo>
                        <a:lnTo>
                          <a:pt x="286" y="41"/>
                        </a:lnTo>
                        <a:lnTo>
                          <a:pt x="287" y="37"/>
                        </a:lnTo>
                        <a:lnTo>
                          <a:pt x="289" y="32"/>
                        </a:lnTo>
                        <a:lnTo>
                          <a:pt x="292" y="28"/>
                        </a:lnTo>
                        <a:lnTo>
                          <a:pt x="295" y="24"/>
                        </a:lnTo>
                        <a:lnTo>
                          <a:pt x="298" y="21"/>
                        </a:lnTo>
                        <a:lnTo>
                          <a:pt x="301" y="18"/>
                        </a:lnTo>
                        <a:lnTo>
                          <a:pt x="305" y="15"/>
                        </a:lnTo>
                        <a:lnTo>
                          <a:pt x="309" y="12"/>
                        </a:lnTo>
                        <a:lnTo>
                          <a:pt x="311" y="10"/>
                        </a:lnTo>
                        <a:lnTo>
                          <a:pt x="313" y="8"/>
                        </a:lnTo>
                        <a:lnTo>
                          <a:pt x="316" y="6"/>
                        </a:lnTo>
                        <a:lnTo>
                          <a:pt x="317" y="4"/>
                        </a:lnTo>
                        <a:lnTo>
                          <a:pt x="314" y="4"/>
                        </a:lnTo>
                        <a:lnTo>
                          <a:pt x="309" y="4"/>
                        </a:lnTo>
                        <a:lnTo>
                          <a:pt x="305" y="4"/>
                        </a:lnTo>
                        <a:lnTo>
                          <a:pt x="302" y="4"/>
                        </a:lnTo>
                        <a:lnTo>
                          <a:pt x="297" y="5"/>
                        </a:lnTo>
                        <a:lnTo>
                          <a:pt x="294" y="6"/>
                        </a:lnTo>
                        <a:lnTo>
                          <a:pt x="291" y="7"/>
                        </a:lnTo>
                        <a:lnTo>
                          <a:pt x="288" y="9"/>
                        </a:lnTo>
                        <a:lnTo>
                          <a:pt x="284" y="10"/>
                        </a:lnTo>
                        <a:lnTo>
                          <a:pt x="281" y="12"/>
                        </a:lnTo>
                        <a:lnTo>
                          <a:pt x="274" y="17"/>
                        </a:lnTo>
                        <a:lnTo>
                          <a:pt x="270" y="20"/>
                        </a:lnTo>
                        <a:lnTo>
                          <a:pt x="264" y="23"/>
                        </a:lnTo>
                        <a:lnTo>
                          <a:pt x="258" y="24"/>
                        </a:lnTo>
                        <a:lnTo>
                          <a:pt x="252" y="24"/>
                        </a:lnTo>
                        <a:lnTo>
                          <a:pt x="243" y="25"/>
                        </a:lnTo>
                        <a:lnTo>
                          <a:pt x="235" y="24"/>
                        </a:lnTo>
                        <a:lnTo>
                          <a:pt x="227" y="23"/>
                        </a:lnTo>
                        <a:lnTo>
                          <a:pt x="218" y="22"/>
                        </a:lnTo>
                        <a:lnTo>
                          <a:pt x="209" y="20"/>
                        </a:lnTo>
                        <a:lnTo>
                          <a:pt x="203" y="17"/>
                        </a:lnTo>
                        <a:lnTo>
                          <a:pt x="202" y="15"/>
                        </a:lnTo>
                        <a:lnTo>
                          <a:pt x="203" y="14"/>
                        </a:lnTo>
                        <a:lnTo>
                          <a:pt x="208" y="11"/>
                        </a:lnTo>
                        <a:lnTo>
                          <a:pt x="197" y="8"/>
                        </a:lnTo>
                        <a:lnTo>
                          <a:pt x="182" y="4"/>
                        </a:lnTo>
                        <a:lnTo>
                          <a:pt x="179" y="7"/>
                        </a:lnTo>
                        <a:lnTo>
                          <a:pt x="175" y="9"/>
                        </a:lnTo>
                        <a:lnTo>
                          <a:pt x="171" y="10"/>
                        </a:lnTo>
                        <a:lnTo>
                          <a:pt x="164" y="10"/>
                        </a:lnTo>
                        <a:lnTo>
                          <a:pt x="156" y="3"/>
                        </a:lnTo>
                        <a:lnTo>
                          <a:pt x="149" y="8"/>
                        </a:lnTo>
                        <a:lnTo>
                          <a:pt x="97" y="1"/>
                        </a:lnTo>
                        <a:lnTo>
                          <a:pt x="86" y="0"/>
                        </a:lnTo>
                        <a:lnTo>
                          <a:pt x="77" y="1"/>
                        </a:lnTo>
                        <a:lnTo>
                          <a:pt x="66" y="2"/>
                        </a:lnTo>
                        <a:lnTo>
                          <a:pt x="46" y="4"/>
                        </a:lnTo>
                        <a:lnTo>
                          <a:pt x="28" y="9"/>
                        </a:lnTo>
                        <a:lnTo>
                          <a:pt x="18" y="13"/>
                        </a:lnTo>
                        <a:lnTo>
                          <a:pt x="11" y="16"/>
                        </a:lnTo>
                        <a:lnTo>
                          <a:pt x="18" y="18"/>
                        </a:lnTo>
                        <a:lnTo>
                          <a:pt x="14" y="21"/>
                        </a:lnTo>
                        <a:lnTo>
                          <a:pt x="11" y="23"/>
                        </a:lnTo>
                        <a:lnTo>
                          <a:pt x="6" y="27"/>
                        </a:lnTo>
                        <a:lnTo>
                          <a:pt x="5" y="28"/>
                        </a:lnTo>
                        <a:lnTo>
                          <a:pt x="3" y="30"/>
                        </a:lnTo>
                        <a:lnTo>
                          <a:pt x="2" y="31"/>
                        </a:lnTo>
                        <a:lnTo>
                          <a:pt x="1" y="34"/>
                        </a:lnTo>
                        <a:lnTo>
                          <a:pt x="0" y="35"/>
                        </a:lnTo>
                        <a:lnTo>
                          <a:pt x="0" y="37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361" name="Group 513"/>
                  <p:cNvGrpSpPr>
                    <a:grpSpLocks/>
                  </p:cNvGrpSpPr>
                  <p:nvPr/>
                </p:nvGrpSpPr>
                <p:grpSpPr bwMode="auto">
                  <a:xfrm>
                    <a:off x="2344" y="332"/>
                    <a:ext cx="2" cy="5"/>
                    <a:chOff x="2344" y="332"/>
                    <a:chExt cx="2" cy="5"/>
                  </a:xfrm>
                </p:grpSpPr>
                <p:sp>
                  <p:nvSpPr>
                    <p:cNvPr id="8372" name="Oval 5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44" y="332"/>
                      <a:ext cx="2" cy="2"/>
                    </a:xfrm>
                    <a:prstGeom prst="ellips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373" name="Arc 515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45" y="335"/>
                      <a:ext cx="1" cy="2"/>
                    </a:xfrm>
                    <a:custGeom>
                      <a:avLst/>
                      <a:gdLst>
                        <a:gd name="T0" fmla="*/ 0 w 43200"/>
                        <a:gd name="T1" fmla="*/ 1 h 43200"/>
                        <a:gd name="T2" fmla="*/ 0 w 43200"/>
                        <a:gd name="T3" fmla="*/ 1 h 43200"/>
                        <a:gd name="T4" fmla="*/ 1 w 43200"/>
                        <a:gd name="T5" fmla="*/ 1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2280" y="11940"/>
                          </a:moveTo>
                        </a:path>
                        <a:path w="43200" h="43200" stroke="0" extrusionOk="0">
                          <a:moveTo>
                            <a:pt x="2280" y="11940"/>
                          </a:moveTo>
                          <a:lnTo>
                            <a:pt x="21600" y="21600"/>
                          </a:lnTo>
                          <a:lnTo>
                            <a:pt x="2280" y="11940"/>
                          </a:lnTo>
                          <a:close/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8362" name="Group 516"/>
                  <p:cNvGrpSpPr>
                    <a:grpSpLocks/>
                  </p:cNvGrpSpPr>
                  <p:nvPr/>
                </p:nvGrpSpPr>
                <p:grpSpPr bwMode="auto">
                  <a:xfrm>
                    <a:off x="2361" y="319"/>
                    <a:ext cx="19" cy="5"/>
                    <a:chOff x="2361" y="319"/>
                    <a:chExt cx="19" cy="5"/>
                  </a:xfrm>
                </p:grpSpPr>
                <p:sp>
                  <p:nvSpPr>
                    <p:cNvPr id="8367" name="Arc 517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65" y="320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368" name="Arc 518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61" y="320"/>
                      <a:ext cx="0" cy="4"/>
                    </a:xfrm>
                    <a:custGeom>
                      <a:avLst/>
                      <a:gdLst>
                        <a:gd name="T0" fmla="*/ 1 w 43200"/>
                        <a:gd name="T1" fmla="*/ 2 h 43200"/>
                        <a:gd name="T2" fmla="*/ 1 w 43200"/>
                        <a:gd name="T3" fmla="*/ 2 h 43200"/>
                        <a:gd name="T4" fmla="*/ 1 w 43200"/>
                        <a:gd name="T5" fmla="*/ 2 h 432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43200" h="43200" fill="none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</a:path>
                        <a:path w="43200" h="43200" stroke="0" extrusionOk="0">
                          <a:moveTo>
                            <a:pt x="43200" y="21600"/>
                          </a:moveTo>
                          <a:cubicBezTo>
                            <a:pt x="43200" y="33529"/>
                            <a:pt x="33529" y="43200"/>
                            <a:pt x="21600" y="43200"/>
                          </a:cubicBezTo>
                          <a:cubicBezTo>
                            <a:pt x="9670" y="43200"/>
                            <a:pt x="0" y="33529"/>
                            <a:pt x="0" y="21600"/>
                          </a:cubicBezTo>
                          <a:cubicBezTo>
                            <a:pt x="0" y="9670"/>
                            <a:pt x="9670" y="0"/>
                            <a:pt x="21600" y="0"/>
                          </a:cubicBezTo>
                          <a:cubicBezTo>
                            <a:pt x="33529" y="-1"/>
                            <a:pt x="43199" y="9670"/>
                            <a:pt x="43200" y="21599"/>
                          </a:cubicBezTo>
                          <a:lnTo>
                            <a:pt x="21600" y="21600"/>
                          </a:lnTo>
                          <a:lnTo>
                            <a:pt x="43200" y="21600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369" name="Arc 519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66" y="320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370" name="Arc 520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70" y="320"/>
                      <a:ext cx="5" cy="4"/>
                    </a:xfrm>
                    <a:custGeom>
                      <a:avLst/>
                      <a:gdLst>
                        <a:gd name="T0" fmla="*/ 5 w 21600"/>
                        <a:gd name="T1" fmla="*/ 4 h 42686"/>
                        <a:gd name="T2" fmla="*/ 4 w 21600"/>
                        <a:gd name="T3" fmla="*/ 0 h 42686"/>
                        <a:gd name="T4" fmla="*/ 5 w 21600"/>
                        <a:gd name="T5" fmla="*/ 2 h 4268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2686" fill="none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2686" stroke="0" extrusionOk="0">
                          <a:moveTo>
                            <a:pt x="21600" y="42686"/>
                          </a:moveTo>
                          <a:cubicBezTo>
                            <a:pt x="9670" y="42686"/>
                            <a:pt x="0" y="33015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21600" y="42686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371" name="Arc 521"/>
                    <p:cNvSpPr>
                      <a:spLocks/>
                    </p:cNvSpPr>
                    <p:nvPr/>
                  </p:nvSpPr>
                  <p:spPr bwMode="auto">
                    <a:xfrm rot="10800000">
                      <a:off x="2375" y="319"/>
                      <a:ext cx="5" cy="4"/>
                    </a:xfrm>
                    <a:custGeom>
                      <a:avLst/>
                      <a:gdLst>
                        <a:gd name="T0" fmla="*/ 3 w 21600"/>
                        <a:gd name="T1" fmla="*/ 4 h 40824"/>
                        <a:gd name="T2" fmla="*/ 4 w 21600"/>
                        <a:gd name="T3" fmla="*/ 0 h 40824"/>
                        <a:gd name="T4" fmla="*/ 5 w 21600"/>
                        <a:gd name="T5" fmla="*/ 2 h 4082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40824" fill="none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</a:path>
                        <a:path w="21600" h="40824" stroke="0" extrusionOk="0">
                          <a:moveTo>
                            <a:pt x="12826" y="40824"/>
                          </a:moveTo>
                          <a:cubicBezTo>
                            <a:pt x="5026" y="37357"/>
                            <a:pt x="0" y="29621"/>
                            <a:pt x="0" y="21086"/>
                          </a:cubicBezTo>
                          <a:cubicBezTo>
                            <a:pt x="-1" y="10962"/>
                            <a:pt x="7031" y="2196"/>
                            <a:pt x="16914" y="0"/>
                          </a:cubicBezTo>
                          <a:lnTo>
                            <a:pt x="21600" y="21086"/>
                          </a:lnTo>
                          <a:lnTo>
                            <a:pt x="12826" y="40824"/>
                          </a:lnTo>
                          <a:close/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8363" name="Freeform 522"/>
                  <p:cNvSpPr>
                    <a:spLocks/>
                  </p:cNvSpPr>
                  <p:nvPr/>
                </p:nvSpPr>
                <p:spPr bwMode="auto">
                  <a:xfrm>
                    <a:off x="2317" y="337"/>
                    <a:ext cx="312" cy="58"/>
                  </a:xfrm>
                  <a:custGeom>
                    <a:avLst/>
                    <a:gdLst>
                      <a:gd name="T0" fmla="*/ 7 w 312"/>
                      <a:gd name="T1" fmla="*/ 9 h 58"/>
                      <a:gd name="T2" fmla="*/ 21 w 312"/>
                      <a:gd name="T3" fmla="*/ 13 h 58"/>
                      <a:gd name="T4" fmla="*/ 42 w 312"/>
                      <a:gd name="T5" fmla="*/ 18 h 58"/>
                      <a:gd name="T6" fmla="*/ 63 w 312"/>
                      <a:gd name="T7" fmla="*/ 21 h 58"/>
                      <a:gd name="T8" fmla="*/ 83 w 312"/>
                      <a:gd name="T9" fmla="*/ 25 h 58"/>
                      <a:gd name="T10" fmla="*/ 94 w 312"/>
                      <a:gd name="T11" fmla="*/ 30 h 58"/>
                      <a:gd name="T12" fmla="*/ 104 w 312"/>
                      <a:gd name="T13" fmla="*/ 39 h 58"/>
                      <a:gd name="T14" fmla="*/ 119 w 312"/>
                      <a:gd name="T15" fmla="*/ 52 h 58"/>
                      <a:gd name="T16" fmla="*/ 130 w 312"/>
                      <a:gd name="T17" fmla="*/ 47 h 58"/>
                      <a:gd name="T18" fmla="*/ 134 w 312"/>
                      <a:gd name="T19" fmla="*/ 32 h 58"/>
                      <a:gd name="T20" fmla="*/ 142 w 312"/>
                      <a:gd name="T21" fmla="*/ 26 h 58"/>
                      <a:gd name="T22" fmla="*/ 168 w 312"/>
                      <a:gd name="T23" fmla="*/ 22 h 58"/>
                      <a:gd name="T24" fmla="*/ 187 w 312"/>
                      <a:gd name="T25" fmla="*/ 21 h 58"/>
                      <a:gd name="T26" fmla="*/ 210 w 312"/>
                      <a:gd name="T27" fmla="*/ 22 h 58"/>
                      <a:gd name="T28" fmla="*/ 219 w 312"/>
                      <a:gd name="T29" fmla="*/ 14 h 58"/>
                      <a:gd name="T30" fmla="*/ 238 w 312"/>
                      <a:gd name="T31" fmla="*/ 13 h 58"/>
                      <a:gd name="T32" fmla="*/ 258 w 312"/>
                      <a:gd name="T33" fmla="*/ 23 h 58"/>
                      <a:gd name="T34" fmla="*/ 275 w 312"/>
                      <a:gd name="T35" fmla="*/ 37 h 58"/>
                      <a:gd name="T36" fmla="*/ 288 w 312"/>
                      <a:gd name="T37" fmla="*/ 46 h 58"/>
                      <a:gd name="T38" fmla="*/ 299 w 312"/>
                      <a:gd name="T39" fmla="*/ 51 h 58"/>
                      <a:gd name="T40" fmla="*/ 309 w 312"/>
                      <a:gd name="T41" fmla="*/ 49 h 58"/>
                      <a:gd name="T42" fmla="*/ 301 w 312"/>
                      <a:gd name="T43" fmla="*/ 39 h 58"/>
                      <a:gd name="T44" fmla="*/ 291 w 312"/>
                      <a:gd name="T45" fmla="*/ 31 h 58"/>
                      <a:gd name="T46" fmla="*/ 285 w 312"/>
                      <a:gd name="T47" fmla="*/ 23 h 58"/>
                      <a:gd name="T48" fmla="*/ 280 w 312"/>
                      <a:gd name="T49" fmla="*/ 17 h 58"/>
                      <a:gd name="T50" fmla="*/ 279 w 312"/>
                      <a:gd name="T51" fmla="*/ 9 h 58"/>
                      <a:gd name="T52" fmla="*/ 270 w 312"/>
                      <a:gd name="T53" fmla="*/ 11 h 58"/>
                      <a:gd name="T54" fmla="*/ 262 w 312"/>
                      <a:gd name="T55" fmla="*/ 8 h 58"/>
                      <a:gd name="T56" fmla="*/ 253 w 312"/>
                      <a:gd name="T57" fmla="*/ 9 h 58"/>
                      <a:gd name="T58" fmla="*/ 243 w 312"/>
                      <a:gd name="T59" fmla="*/ 9 h 58"/>
                      <a:gd name="T60" fmla="*/ 232 w 312"/>
                      <a:gd name="T61" fmla="*/ 10 h 58"/>
                      <a:gd name="T62" fmla="*/ 220 w 312"/>
                      <a:gd name="T63" fmla="*/ 9 h 58"/>
                      <a:gd name="T64" fmla="*/ 208 w 312"/>
                      <a:gd name="T65" fmla="*/ 7 h 58"/>
                      <a:gd name="T66" fmla="*/ 196 w 312"/>
                      <a:gd name="T67" fmla="*/ 7 h 58"/>
                      <a:gd name="T68" fmla="*/ 184 w 312"/>
                      <a:gd name="T69" fmla="*/ 7 h 58"/>
                      <a:gd name="T70" fmla="*/ 174 w 312"/>
                      <a:gd name="T71" fmla="*/ 5 h 58"/>
                      <a:gd name="T72" fmla="*/ 162 w 312"/>
                      <a:gd name="T73" fmla="*/ 3 h 58"/>
                      <a:gd name="T74" fmla="*/ 148 w 312"/>
                      <a:gd name="T75" fmla="*/ 3 h 58"/>
                      <a:gd name="T76" fmla="*/ 136 w 312"/>
                      <a:gd name="T77" fmla="*/ 3 h 58"/>
                      <a:gd name="T78" fmla="*/ 125 w 312"/>
                      <a:gd name="T79" fmla="*/ 4 h 58"/>
                      <a:gd name="T80" fmla="*/ 113 w 312"/>
                      <a:gd name="T81" fmla="*/ 3 h 58"/>
                      <a:gd name="T82" fmla="*/ 104 w 312"/>
                      <a:gd name="T83" fmla="*/ 4 h 58"/>
                      <a:gd name="T84" fmla="*/ 93 w 312"/>
                      <a:gd name="T85" fmla="*/ 3 h 58"/>
                      <a:gd name="T86" fmla="*/ 80 w 312"/>
                      <a:gd name="T87" fmla="*/ 3 h 58"/>
                      <a:gd name="T88" fmla="*/ 64 w 312"/>
                      <a:gd name="T89" fmla="*/ 0 h 58"/>
                      <a:gd name="T90" fmla="*/ 46 w 312"/>
                      <a:gd name="T91" fmla="*/ 0 h 58"/>
                      <a:gd name="T92" fmla="*/ 31 w 312"/>
                      <a:gd name="T93" fmla="*/ 2 h 58"/>
                      <a:gd name="T94" fmla="*/ 17 w 312"/>
                      <a:gd name="T95" fmla="*/ 2 h 58"/>
                      <a:gd name="T96" fmla="*/ 4 w 312"/>
                      <a:gd name="T97" fmla="*/ 4 h 58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0" t="0" r="r" b="b"/>
                    <a:pathLst>
                      <a:path w="312" h="58">
                        <a:moveTo>
                          <a:pt x="0" y="5"/>
                        </a:moveTo>
                        <a:lnTo>
                          <a:pt x="2" y="7"/>
                        </a:lnTo>
                        <a:lnTo>
                          <a:pt x="5" y="8"/>
                        </a:lnTo>
                        <a:lnTo>
                          <a:pt x="7" y="9"/>
                        </a:lnTo>
                        <a:lnTo>
                          <a:pt x="10" y="10"/>
                        </a:lnTo>
                        <a:lnTo>
                          <a:pt x="13" y="11"/>
                        </a:lnTo>
                        <a:lnTo>
                          <a:pt x="18" y="12"/>
                        </a:lnTo>
                        <a:lnTo>
                          <a:pt x="21" y="13"/>
                        </a:lnTo>
                        <a:lnTo>
                          <a:pt x="26" y="15"/>
                        </a:lnTo>
                        <a:lnTo>
                          <a:pt x="31" y="16"/>
                        </a:lnTo>
                        <a:lnTo>
                          <a:pt x="37" y="17"/>
                        </a:lnTo>
                        <a:lnTo>
                          <a:pt x="42" y="18"/>
                        </a:lnTo>
                        <a:lnTo>
                          <a:pt x="48" y="18"/>
                        </a:lnTo>
                        <a:lnTo>
                          <a:pt x="53" y="19"/>
                        </a:lnTo>
                        <a:lnTo>
                          <a:pt x="58" y="20"/>
                        </a:lnTo>
                        <a:lnTo>
                          <a:pt x="63" y="21"/>
                        </a:lnTo>
                        <a:lnTo>
                          <a:pt x="67" y="22"/>
                        </a:lnTo>
                        <a:lnTo>
                          <a:pt x="73" y="23"/>
                        </a:lnTo>
                        <a:lnTo>
                          <a:pt x="78" y="24"/>
                        </a:lnTo>
                        <a:lnTo>
                          <a:pt x="83" y="25"/>
                        </a:lnTo>
                        <a:lnTo>
                          <a:pt x="86" y="25"/>
                        </a:lnTo>
                        <a:lnTo>
                          <a:pt x="90" y="27"/>
                        </a:lnTo>
                        <a:lnTo>
                          <a:pt x="92" y="28"/>
                        </a:lnTo>
                        <a:lnTo>
                          <a:pt x="94" y="30"/>
                        </a:lnTo>
                        <a:lnTo>
                          <a:pt x="96" y="32"/>
                        </a:lnTo>
                        <a:lnTo>
                          <a:pt x="98" y="34"/>
                        </a:lnTo>
                        <a:lnTo>
                          <a:pt x="101" y="37"/>
                        </a:lnTo>
                        <a:lnTo>
                          <a:pt x="104" y="39"/>
                        </a:lnTo>
                        <a:lnTo>
                          <a:pt x="107" y="43"/>
                        </a:lnTo>
                        <a:lnTo>
                          <a:pt x="111" y="46"/>
                        </a:lnTo>
                        <a:lnTo>
                          <a:pt x="115" y="49"/>
                        </a:lnTo>
                        <a:lnTo>
                          <a:pt x="119" y="52"/>
                        </a:lnTo>
                        <a:lnTo>
                          <a:pt x="123" y="55"/>
                        </a:lnTo>
                        <a:lnTo>
                          <a:pt x="127" y="57"/>
                        </a:lnTo>
                        <a:lnTo>
                          <a:pt x="128" y="53"/>
                        </a:lnTo>
                        <a:lnTo>
                          <a:pt x="130" y="47"/>
                        </a:lnTo>
                        <a:lnTo>
                          <a:pt x="132" y="42"/>
                        </a:lnTo>
                        <a:lnTo>
                          <a:pt x="133" y="37"/>
                        </a:lnTo>
                        <a:lnTo>
                          <a:pt x="134" y="35"/>
                        </a:lnTo>
                        <a:lnTo>
                          <a:pt x="134" y="32"/>
                        </a:lnTo>
                        <a:lnTo>
                          <a:pt x="134" y="30"/>
                        </a:lnTo>
                        <a:lnTo>
                          <a:pt x="132" y="28"/>
                        </a:lnTo>
                        <a:lnTo>
                          <a:pt x="137" y="26"/>
                        </a:lnTo>
                        <a:lnTo>
                          <a:pt x="142" y="26"/>
                        </a:lnTo>
                        <a:lnTo>
                          <a:pt x="148" y="25"/>
                        </a:lnTo>
                        <a:lnTo>
                          <a:pt x="155" y="24"/>
                        </a:lnTo>
                        <a:lnTo>
                          <a:pt x="162" y="23"/>
                        </a:lnTo>
                        <a:lnTo>
                          <a:pt x="168" y="22"/>
                        </a:lnTo>
                        <a:lnTo>
                          <a:pt x="174" y="21"/>
                        </a:lnTo>
                        <a:lnTo>
                          <a:pt x="178" y="20"/>
                        </a:lnTo>
                        <a:lnTo>
                          <a:pt x="183" y="20"/>
                        </a:lnTo>
                        <a:lnTo>
                          <a:pt x="187" y="21"/>
                        </a:lnTo>
                        <a:lnTo>
                          <a:pt x="190" y="23"/>
                        </a:lnTo>
                        <a:lnTo>
                          <a:pt x="194" y="25"/>
                        </a:lnTo>
                        <a:lnTo>
                          <a:pt x="202" y="24"/>
                        </a:lnTo>
                        <a:lnTo>
                          <a:pt x="210" y="22"/>
                        </a:lnTo>
                        <a:lnTo>
                          <a:pt x="216" y="20"/>
                        </a:lnTo>
                        <a:lnTo>
                          <a:pt x="213" y="17"/>
                        </a:lnTo>
                        <a:lnTo>
                          <a:pt x="215" y="16"/>
                        </a:lnTo>
                        <a:lnTo>
                          <a:pt x="219" y="14"/>
                        </a:lnTo>
                        <a:lnTo>
                          <a:pt x="223" y="13"/>
                        </a:lnTo>
                        <a:lnTo>
                          <a:pt x="228" y="13"/>
                        </a:lnTo>
                        <a:lnTo>
                          <a:pt x="233" y="13"/>
                        </a:lnTo>
                        <a:lnTo>
                          <a:pt x="238" y="13"/>
                        </a:lnTo>
                        <a:lnTo>
                          <a:pt x="242" y="14"/>
                        </a:lnTo>
                        <a:lnTo>
                          <a:pt x="248" y="16"/>
                        </a:lnTo>
                        <a:lnTo>
                          <a:pt x="253" y="18"/>
                        </a:lnTo>
                        <a:lnTo>
                          <a:pt x="258" y="23"/>
                        </a:lnTo>
                        <a:lnTo>
                          <a:pt x="263" y="26"/>
                        </a:lnTo>
                        <a:lnTo>
                          <a:pt x="268" y="31"/>
                        </a:lnTo>
                        <a:lnTo>
                          <a:pt x="271" y="33"/>
                        </a:lnTo>
                        <a:lnTo>
                          <a:pt x="275" y="37"/>
                        </a:lnTo>
                        <a:lnTo>
                          <a:pt x="278" y="39"/>
                        </a:lnTo>
                        <a:lnTo>
                          <a:pt x="282" y="42"/>
                        </a:lnTo>
                        <a:lnTo>
                          <a:pt x="285" y="44"/>
                        </a:lnTo>
                        <a:lnTo>
                          <a:pt x="288" y="46"/>
                        </a:lnTo>
                        <a:lnTo>
                          <a:pt x="291" y="47"/>
                        </a:lnTo>
                        <a:lnTo>
                          <a:pt x="293" y="48"/>
                        </a:lnTo>
                        <a:lnTo>
                          <a:pt x="296" y="50"/>
                        </a:lnTo>
                        <a:lnTo>
                          <a:pt x="299" y="51"/>
                        </a:lnTo>
                        <a:lnTo>
                          <a:pt x="302" y="51"/>
                        </a:lnTo>
                        <a:lnTo>
                          <a:pt x="306" y="51"/>
                        </a:lnTo>
                        <a:lnTo>
                          <a:pt x="311" y="51"/>
                        </a:lnTo>
                        <a:lnTo>
                          <a:pt x="309" y="49"/>
                        </a:lnTo>
                        <a:lnTo>
                          <a:pt x="307" y="46"/>
                        </a:lnTo>
                        <a:lnTo>
                          <a:pt x="305" y="45"/>
                        </a:lnTo>
                        <a:lnTo>
                          <a:pt x="303" y="42"/>
                        </a:lnTo>
                        <a:lnTo>
                          <a:pt x="301" y="39"/>
                        </a:lnTo>
                        <a:lnTo>
                          <a:pt x="298" y="37"/>
                        </a:lnTo>
                        <a:lnTo>
                          <a:pt x="294" y="34"/>
                        </a:lnTo>
                        <a:lnTo>
                          <a:pt x="292" y="32"/>
                        </a:lnTo>
                        <a:lnTo>
                          <a:pt x="291" y="31"/>
                        </a:lnTo>
                        <a:lnTo>
                          <a:pt x="289" y="28"/>
                        </a:lnTo>
                        <a:lnTo>
                          <a:pt x="288" y="27"/>
                        </a:lnTo>
                        <a:lnTo>
                          <a:pt x="286" y="25"/>
                        </a:lnTo>
                        <a:lnTo>
                          <a:pt x="285" y="23"/>
                        </a:lnTo>
                        <a:lnTo>
                          <a:pt x="284" y="21"/>
                        </a:lnTo>
                        <a:lnTo>
                          <a:pt x="282" y="19"/>
                        </a:lnTo>
                        <a:lnTo>
                          <a:pt x="281" y="18"/>
                        </a:lnTo>
                        <a:lnTo>
                          <a:pt x="280" y="17"/>
                        </a:lnTo>
                        <a:lnTo>
                          <a:pt x="280" y="14"/>
                        </a:lnTo>
                        <a:lnTo>
                          <a:pt x="279" y="13"/>
                        </a:lnTo>
                        <a:lnTo>
                          <a:pt x="279" y="11"/>
                        </a:lnTo>
                        <a:lnTo>
                          <a:pt x="279" y="9"/>
                        </a:lnTo>
                        <a:lnTo>
                          <a:pt x="277" y="11"/>
                        </a:lnTo>
                        <a:lnTo>
                          <a:pt x="274" y="11"/>
                        </a:lnTo>
                        <a:lnTo>
                          <a:pt x="272" y="11"/>
                        </a:lnTo>
                        <a:lnTo>
                          <a:pt x="270" y="11"/>
                        </a:lnTo>
                        <a:lnTo>
                          <a:pt x="268" y="10"/>
                        </a:lnTo>
                        <a:lnTo>
                          <a:pt x="266" y="9"/>
                        </a:lnTo>
                        <a:lnTo>
                          <a:pt x="264" y="9"/>
                        </a:lnTo>
                        <a:lnTo>
                          <a:pt x="262" y="8"/>
                        </a:lnTo>
                        <a:lnTo>
                          <a:pt x="259" y="8"/>
                        </a:lnTo>
                        <a:lnTo>
                          <a:pt x="256" y="8"/>
                        </a:lnTo>
                        <a:lnTo>
                          <a:pt x="254" y="9"/>
                        </a:lnTo>
                        <a:lnTo>
                          <a:pt x="253" y="9"/>
                        </a:lnTo>
                        <a:lnTo>
                          <a:pt x="251" y="10"/>
                        </a:lnTo>
                        <a:lnTo>
                          <a:pt x="249" y="10"/>
                        </a:lnTo>
                        <a:lnTo>
                          <a:pt x="245" y="9"/>
                        </a:lnTo>
                        <a:lnTo>
                          <a:pt x="243" y="9"/>
                        </a:lnTo>
                        <a:lnTo>
                          <a:pt x="241" y="9"/>
                        </a:lnTo>
                        <a:lnTo>
                          <a:pt x="238" y="9"/>
                        </a:lnTo>
                        <a:lnTo>
                          <a:pt x="235" y="10"/>
                        </a:lnTo>
                        <a:lnTo>
                          <a:pt x="232" y="10"/>
                        </a:lnTo>
                        <a:lnTo>
                          <a:pt x="229" y="9"/>
                        </a:lnTo>
                        <a:lnTo>
                          <a:pt x="225" y="9"/>
                        </a:lnTo>
                        <a:lnTo>
                          <a:pt x="223" y="9"/>
                        </a:lnTo>
                        <a:lnTo>
                          <a:pt x="220" y="9"/>
                        </a:lnTo>
                        <a:lnTo>
                          <a:pt x="217" y="9"/>
                        </a:lnTo>
                        <a:lnTo>
                          <a:pt x="214" y="9"/>
                        </a:lnTo>
                        <a:lnTo>
                          <a:pt x="212" y="8"/>
                        </a:lnTo>
                        <a:lnTo>
                          <a:pt x="208" y="7"/>
                        </a:lnTo>
                        <a:lnTo>
                          <a:pt x="205" y="7"/>
                        </a:lnTo>
                        <a:lnTo>
                          <a:pt x="202" y="6"/>
                        </a:lnTo>
                        <a:lnTo>
                          <a:pt x="199" y="6"/>
                        </a:lnTo>
                        <a:lnTo>
                          <a:pt x="196" y="7"/>
                        </a:lnTo>
                        <a:lnTo>
                          <a:pt x="193" y="8"/>
                        </a:lnTo>
                        <a:lnTo>
                          <a:pt x="189" y="7"/>
                        </a:lnTo>
                        <a:lnTo>
                          <a:pt x="187" y="7"/>
                        </a:lnTo>
                        <a:lnTo>
                          <a:pt x="184" y="7"/>
                        </a:lnTo>
                        <a:lnTo>
                          <a:pt x="181" y="7"/>
                        </a:lnTo>
                        <a:lnTo>
                          <a:pt x="179" y="7"/>
                        </a:lnTo>
                        <a:lnTo>
                          <a:pt x="176" y="6"/>
                        </a:lnTo>
                        <a:lnTo>
                          <a:pt x="174" y="5"/>
                        </a:lnTo>
                        <a:lnTo>
                          <a:pt x="171" y="5"/>
                        </a:lnTo>
                        <a:lnTo>
                          <a:pt x="168" y="4"/>
                        </a:lnTo>
                        <a:lnTo>
                          <a:pt x="165" y="4"/>
                        </a:lnTo>
                        <a:lnTo>
                          <a:pt x="162" y="3"/>
                        </a:lnTo>
                        <a:lnTo>
                          <a:pt x="159" y="3"/>
                        </a:lnTo>
                        <a:lnTo>
                          <a:pt x="155" y="3"/>
                        </a:lnTo>
                        <a:lnTo>
                          <a:pt x="151" y="4"/>
                        </a:lnTo>
                        <a:lnTo>
                          <a:pt x="148" y="3"/>
                        </a:lnTo>
                        <a:lnTo>
                          <a:pt x="145" y="3"/>
                        </a:lnTo>
                        <a:lnTo>
                          <a:pt x="142" y="3"/>
                        </a:lnTo>
                        <a:lnTo>
                          <a:pt x="139" y="3"/>
                        </a:lnTo>
                        <a:lnTo>
                          <a:pt x="136" y="3"/>
                        </a:lnTo>
                        <a:lnTo>
                          <a:pt x="133" y="3"/>
                        </a:lnTo>
                        <a:lnTo>
                          <a:pt x="130" y="4"/>
                        </a:lnTo>
                        <a:lnTo>
                          <a:pt x="128" y="4"/>
                        </a:lnTo>
                        <a:lnTo>
                          <a:pt x="125" y="4"/>
                        </a:lnTo>
                        <a:lnTo>
                          <a:pt x="122" y="4"/>
                        </a:lnTo>
                        <a:lnTo>
                          <a:pt x="119" y="4"/>
                        </a:lnTo>
                        <a:lnTo>
                          <a:pt x="116" y="4"/>
                        </a:lnTo>
                        <a:lnTo>
                          <a:pt x="113" y="3"/>
                        </a:lnTo>
                        <a:lnTo>
                          <a:pt x="111" y="3"/>
                        </a:lnTo>
                        <a:lnTo>
                          <a:pt x="109" y="4"/>
                        </a:lnTo>
                        <a:lnTo>
                          <a:pt x="106" y="4"/>
                        </a:lnTo>
                        <a:lnTo>
                          <a:pt x="104" y="4"/>
                        </a:lnTo>
                        <a:lnTo>
                          <a:pt x="101" y="4"/>
                        </a:lnTo>
                        <a:lnTo>
                          <a:pt x="98" y="4"/>
                        </a:lnTo>
                        <a:lnTo>
                          <a:pt x="96" y="4"/>
                        </a:lnTo>
                        <a:lnTo>
                          <a:pt x="93" y="3"/>
                        </a:lnTo>
                        <a:lnTo>
                          <a:pt x="89" y="3"/>
                        </a:lnTo>
                        <a:lnTo>
                          <a:pt x="86" y="4"/>
                        </a:lnTo>
                        <a:lnTo>
                          <a:pt x="83" y="3"/>
                        </a:lnTo>
                        <a:lnTo>
                          <a:pt x="80" y="3"/>
                        </a:lnTo>
                        <a:lnTo>
                          <a:pt x="77" y="2"/>
                        </a:lnTo>
                        <a:lnTo>
                          <a:pt x="74" y="1"/>
                        </a:lnTo>
                        <a:lnTo>
                          <a:pt x="69" y="0"/>
                        </a:lnTo>
                        <a:lnTo>
                          <a:pt x="64" y="0"/>
                        </a:lnTo>
                        <a:lnTo>
                          <a:pt x="59" y="0"/>
                        </a:lnTo>
                        <a:lnTo>
                          <a:pt x="55" y="0"/>
                        </a:lnTo>
                        <a:lnTo>
                          <a:pt x="49" y="0"/>
                        </a:lnTo>
                        <a:lnTo>
                          <a:pt x="46" y="0"/>
                        </a:lnTo>
                        <a:lnTo>
                          <a:pt x="43" y="0"/>
                        </a:lnTo>
                        <a:lnTo>
                          <a:pt x="40" y="0"/>
                        </a:lnTo>
                        <a:lnTo>
                          <a:pt x="36" y="0"/>
                        </a:lnTo>
                        <a:lnTo>
                          <a:pt x="31" y="2"/>
                        </a:lnTo>
                        <a:lnTo>
                          <a:pt x="27" y="2"/>
                        </a:lnTo>
                        <a:lnTo>
                          <a:pt x="23" y="2"/>
                        </a:lnTo>
                        <a:lnTo>
                          <a:pt x="20" y="2"/>
                        </a:lnTo>
                        <a:lnTo>
                          <a:pt x="17" y="2"/>
                        </a:lnTo>
                        <a:lnTo>
                          <a:pt x="13" y="2"/>
                        </a:lnTo>
                        <a:lnTo>
                          <a:pt x="10" y="3"/>
                        </a:lnTo>
                        <a:lnTo>
                          <a:pt x="7" y="4"/>
                        </a:lnTo>
                        <a:lnTo>
                          <a:pt x="4" y="4"/>
                        </a:lnTo>
                        <a:lnTo>
                          <a:pt x="1" y="5"/>
                        </a:lnTo>
                        <a:lnTo>
                          <a:pt x="0" y="5"/>
                        </a:lnTo>
                      </a:path>
                    </a:pathLst>
                  </a:cu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8364" name="Group 523"/>
                  <p:cNvGrpSpPr>
                    <a:grpSpLocks/>
                  </p:cNvGrpSpPr>
                  <p:nvPr/>
                </p:nvGrpSpPr>
                <p:grpSpPr bwMode="auto">
                  <a:xfrm>
                    <a:off x="2381" y="284"/>
                    <a:ext cx="47" cy="37"/>
                    <a:chOff x="2381" y="284"/>
                    <a:chExt cx="47" cy="37"/>
                  </a:xfrm>
                </p:grpSpPr>
                <p:sp>
                  <p:nvSpPr>
                    <p:cNvPr id="8365" name="Freeform 524"/>
                    <p:cNvSpPr>
                      <a:spLocks/>
                    </p:cNvSpPr>
                    <p:nvPr/>
                  </p:nvSpPr>
                  <p:spPr bwMode="auto">
                    <a:xfrm>
                      <a:off x="2381" y="284"/>
                      <a:ext cx="47" cy="31"/>
                    </a:xfrm>
                    <a:custGeom>
                      <a:avLst/>
                      <a:gdLst>
                        <a:gd name="T0" fmla="*/ 43 w 47"/>
                        <a:gd name="T1" fmla="*/ 3 h 31"/>
                        <a:gd name="T2" fmla="*/ 40 w 47"/>
                        <a:gd name="T3" fmla="*/ 6 h 31"/>
                        <a:gd name="T4" fmla="*/ 39 w 47"/>
                        <a:gd name="T5" fmla="*/ 8 h 31"/>
                        <a:gd name="T6" fmla="*/ 37 w 47"/>
                        <a:gd name="T7" fmla="*/ 9 h 31"/>
                        <a:gd name="T8" fmla="*/ 36 w 47"/>
                        <a:gd name="T9" fmla="*/ 11 h 31"/>
                        <a:gd name="T10" fmla="*/ 35 w 47"/>
                        <a:gd name="T11" fmla="*/ 13 h 31"/>
                        <a:gd name="T12" fmla="*/ 34 w 47"/>
                        <a:gd name="T13" fmla="*/ 14 h 31"/>
                        <a:gd name="T14" fmla="*/ 33 w 47"/>
                        <a:gd name="T15" fmla="*/ 16 h 31"/>
                        <a:gd name="T16" fmla="*/ 32 w 47"/>
                        <a:gd name="T17" fmla="*/ 18 h 31"/>
                        <a:gd name="T18" fmla="*/ 31 w 47"/>
                        <a:gd name="T19" fmla="*/ 20 h 31"/>
                        <a:gd name="T20" fmla="*/ 30 w 47"/>
                        <a:gd name="T21" fmla="*/ 23 h 31"/>
                        <a:gd name="T22" fmla="*/ 30 w 47"/>
                        <a:gd name="T23" fmla="*/ 25 h 31"/>
                        <a:gd name="T24" fmla="*/ 30 w 47"/>
                        <a:gd name="T25" fmla="*/ 27 h 31"/>
                        <a:gd name="T26" fmla="*/ 30 w 47"/>
                        <a:gd name="T27" fmla="*/ 30 h 31"/>
                        <a:gd name="T28" fmla="*/ 0 w 47"/>
                        <a:gd name="T29" fmla="*/ 30 h 31"/>
                        <a:gd name="T30" fmla="*/ 1 w 47"/>
                        <a:gd name="T31" fmla="*/ 28 h 31"/>
                        <a:gd name="T32" fmla="*/ 2 w 47"/>
                        <a:gd name="T33" fmla="*/ 26 h 31"/>
                        <a:gd name="T34" fmla="*/ 4 w 47"/>
                        <a:gd name="T35" fmla="*/ 24 h 31"/>
                        <a:gd name="T36" fmla="*/ 6 w 47"/>
                        <a:gd name="T37" fmla="*/ 21 h 31"/>
                        <a:gd name="T38" fmla="*/ 8 w 47"/>
                        <a:gd name="T39" fmla="*/ 19 h 31"/>
                        <a:gd name="T40" fmla="*/ 10 w 47"/>
                        <a:gd name="T41" fmla="*/ 17 h 31"/>
                        <a:gd name="T42" fmla="*/ 12 w 47"/>
                        <a:gd name="T43" fmla="*/ 15 h 31"/>
                        <a:gd name="T44" fmla="*/ 14 w 47"/>
                        <a:gd name="T45" fmla="*/ 13 h 31"/>
                        <a:gd name="T46" fmla="*/ 17 w 47"/>
                        <a:gd name="T47" fmla="*/ 11 h 31"/>
                        <a:gd name="T48" fmla="*/ 20 w 47"/>
                        <a:gd name="T49" fmla="*/ 8 h 31"/>
                        <a:gd name="T50" fmla="*/ 23 w 47"/>
                        <a:gd name="T51" fmla="*/ 7 h 31"/>
                        <a:gd name="T52" fmla="*/ 25 w 47"/>
                        <a:gd name="T53" fmla="*/ 6 h 31"/>
                        <a:gd name="T54" fmla="*/ 28 w 47"/>
                        <a:gd name="T55" fmla="*/ 4 h 31"/>
                        <a:gd name="T56" fmla="*/ 30 w 47"/>
                        <a:gd name="T57" fmla="*/ 3 h 31"/>
                        <a:gd name="T58" fmla="*/ 33 w 47"/>
                        <a:gd name="T59" fmla="*/ 2 h 31"/>
                        <a:gd name="T60" fmla="*/ 36 w 47"/>
                        <a:gd name="T61" fmla="*/ 2 h 31"/>
                        <a:gd name="T62" fmla="*/ 39 w 47"/>
                        <a:gd name="T63" fmla="*/ 1 h 31"/>
                        <a:gd name="T64" fmla="*/ 41 w 47"/>
                        <a:gd name="T65" fmla="*/ 1 h 31"/>
                        <a:gd name="T66" fmla="*/ 44 w 47"/>
                        <a:gd name="T67" fmla="*/ 1 h 31"/>
                        <a:gd name="T68" fmla="*/ 46 w 47"/>
                        <a:gd name="T69" fmla="*/ 0 h 31"/>
                        <a:gd name="T70" fmla="*/ 43 w 47"/>
                        <a:gd name="T71" fmla="*/ 3 h 31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</a:gdLst>
                      <a:ahLst/>
                      <a:cxnLst>
                        <a:cxn ang="T72">
                          <a:pos x="T0" y="T1"/>
                        </a:cxn>
                        <a:cxn ang="T73">
                          <a:pos x="T2" y="T3"/>
                        </a:cxn>
                        <a:cxn ang="T74">
                          <a:pos x="T4" y="T5"/>
                        </a:cxn>
                        <a:cxn ang="T75">
                          <a:pos x="T6" y="T7"/>
                        </a:cxn>
                        <a:cxn ang="T76">
                          <a:pos x="T8" y="T9"/>
                        </a:cxn>
                        <a:cxn ang="T77">
                          <a:pos x="T10" y="T11"/>
                        </a:cxn>
                        <a:cxn ang="T78">
                          <a:pos x="T12" y="T13"/>
                        </a:cxn>
                        <a:cxn ang="T79">
                          <a:pos x="T14" y="T15"/>
                        </a:cxn>
                        <a:cxn ang="T80">
                          <a:pos x="T16" y="T17"/>
                        </a:cxn>
                        <a:cxn ang="T81">
                          <a:pos x="T18" y="T19"/>
                        </a:cxn>
                        <a:cxn ang="T82">
                          <a:pos x="T20" y="T21"/>
                        </a:cxn>
                        <a:cxn ang="T83">
                          <a:pos x="T22" y="T23"/>
                        </a:cxn>
                        <a:cxn ang="T84">
                          <a:pos x="T24" y="T25"/>
                        </a:cxn>
                        <a:cxn ang="T85">
                          <a:pos x="T26" y="T27"/>
                        </a:cxn>
                        <a:cxn ang="T86">
                          <a:pos x="T28" y="T29"/>
                        </a:cxn>
                        <a:cxn ang="T87">
                          <a:pos x="T30" y="T31"/>
                        </a:cxn>
                        <a:cxn ang="T88">
                          <a:pos x="T32" y="T33"/>
                        </a:cxn>
                        <a:cxn ang="T89">
                          <a:pos x="T34" y="T35"/>
                        </a:cxn>
                        <a:cxn ang="T90">
                          <a:pos x="T36" y="T37"/>
                        </a:cxn>
                        <a:cxn ang="T91">
                          <a:pos x="T38" y="T39"/>
                        </a:cxn>
                        <a:cxn ang="T92">
                          <a:pos x="T40" y="T41"/>
                        </a:cxn>
                        <a:cxn ang="T93">
                          <a:pos x="T42" y="T43"/>
                        </a:cxn>
                        <a:cxn ang="T94">
                          <a:pos x="T44" y="T45"/>
                        </a:cxn>
                        <a:cxn ang="T95">
                          <a:pos x="T46" y="T47"/>
                        </a:cxn>
                        <a:cxn ang="T96">
                          <a:pos x="T48" y="T49"/>
                        </a:cxn>
                        <a:cxn ang="T97">
                          <a:pos x="T50" y="T51"/>
                        </a:cxn>
                        <a:cxn ang="T98">
                          <a:pos x="T52" y="T53"/>
                        </a:cxn>
                        <a:cxn ang="T99">
                          <a:pos x="T54" y="T55"/>
                        </a:cxn>
                        <a:cxn ang="T100">
                          <a:pos x="T56" y="T57"/>
                        </a:cxn>
                        <a:cxn ang="T101">
                          <a:pos x="T58" y="T59"/>
                        </a:cxn>
                        <a:cxn ang="T102">
                          <a:pos x="T60" y="T61"/>
                        </a:cxn>
                        <a:cxn ang="T103">
                          <a:pos x="T62" y="T63"/>
                        </a:cxn>
                        <a:cxn ang="T104">
                          <a:pos x="T64" y="T65"/>
                        </a:cxn>
                        <a:cxn ang="T105">
                          <a:pos x="T66" y="T67"/>
                        </a:cxn>
                        <a:cxn ang="T106">
                          <a:pos x="T68" y="T69"/>
                        </a:cxn>
                        <a:cxn ang="T107">
                          <a:pos x="T70" y="T71"/>
                        </a:cxn>
                      </a:cxnLst>
                      <a:rect l="0" t="0" r="r" b="b"/>
                      <a:pathLst>
                        <a:path w="47" h="31">
                          <a:moveTo>
                            <a:pt x="43" y="3"/>
                          </a:moveTo>
                          <a:lnTo>
                            <a:pt x="40" y="6"/>
                          </a:lnTo>
                          <a:lnTo>
                            <a:pt x="39" y="8"/>
                          </a:lnTo>
                          <a:lnTo>
                            <a:pt x="37" y="9"/>
                          </a:lnTo>
                          <a:lnTo>
                            <a:pt x="36" y="11"/>
                          </a:lnTo>
                          <a:lnTo>
                            <a:pt x="35" y="13"/>
                          </a:lnTo>
                          <a:lnTo>
                            <a:pt x="34" y="14"/>
                          </a:lnTo>
                          <a:lnTo>
                            <a:pt x="33" y="16"/>
                          </a:lnTo>
                          <a:lnTo>
                            <a:pt x="32" y="18"/>
                          </a:lnTo>
                          <a:lnTo>
                            <a:pt x="31" y="20"/>
                          </a:lnTo>
                          <a:lnTo>
                            <a:pt x="30" y="23"/>
                          </a:lnTo>
                          <a:lnTo>
                            <a:pt x="30" y="25"/>
                          </a:lnTo>
                          <a:lnTo>
                            <a:pt x="30" y="27"/>
                          </a:lnTo>
                          <a:lnTo>
                            <a:pt x="30" y="30"/>
                          </a:lnTo>
                          <a:lnTo>
                            <a:pt x="0" y="30"/>
                          </a:lnTo>
                          <a:lnTo>
                            <a:pt x="1" y="28"/>
                          </a:lnTo>
                          <a:lnTo>
                            <a:pt x="2" y="26"/>
                          </a:lnTo>
                          <a:lnTo>
                            <a:pt x="4" y="24"/>
                          </a:lnTo>
                          <a:lnTo>
                            <a:pt x="6" y="21"/>
                          </a:lnTo>
                          <a:lnTo>
                            <a:pt x="8" y="19"/>
                          </a:lnTo>
                          <a:lnTo>
                            <a:pt x="10" y="17"/>
                          </a:lnTo>
                          <a:lnTo>
                            <a:pt x="12" y="15"/>
                          </a:lnTo>
                          <a:lnTo>
                            <a:pt x="14" y="13"/>
                          </a:lnTo>
                          <a:lnTo>
                            <a:pt x="17" y="11"/>
                          </a:lnTo>
                          <a:lnTo>
                            <a:pt x="20" y="8"/>
                          </a:lnTo>
                          <a:lnTo>
                            <a:pt x="23" y="7"/>
                          </a:lnTo>
                          <a:lnTo>
                            <a:pt x="25" y="6"/>
                          </a:lnTo>
                          <a:lnTo>
                            <a:pt x="28" y="4"/>
                          </a:lnTo>
                          <a:lnTo>
                            <a:pt x="30" y="3"/>
                          </a:lnTo>
                          <a:lnTo>
                            <a:pt x="33" y="2"/>
                          </a:lnTo>
                          <a:lnTo>
                            <a:pt x="36" y="2"/>
                          </a:lnTo>
                          <a:lnTo>
                            <a:pt x="39" y="1"/>
                          </a:lnTo>
                          <a:lnTo>
                            <a:pt x="41" y="1"/>
                          </a:lnTo>
                          <a:lnTo>
                            <a:pt x="44" y="1"/>
                          </a:lnTo>
                          <a:lnTo>
                            <a:pt x="46" y="0"/>
                          </a:lnTo>
                          <a:lnTo>
                            <a:pt x="43" y="3"/>
                          </a:lnTo>
                        </a:path>
                      </a:pathLst>
                    </a:custGeom>
                    <a:noFill/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8366" name="Freeform 525"/>
                    <p:cNvSpPr>
                      <a:spLocks/>
                    </p:cNvSpPr>
                    <p:nvPr/>
                  </p:nvSpPr>
                  <p:spPr bwMode="auto">
                    <a:xfrm>
                      <a:off x="2382" y="314"/>
                      <a:ext cx="21" cy="7"/>
                    </a:xfrm>
                    <a:custGeom>
                      <a:avLst/>
                      <a:gdLst>
                        <a:gd name="T0" fmla="*/ 0 w 21"/>
                        <a:gd name="T1" fmla="*/ 6 h 7"/>
                        <a:gd name="T2" fmla="*/ 0 w 21"/>
                        <a:gd name="T3" fmla="*/ 6 h 7"/>
                        <a:gd name="T4" fmla="*/ 1 w 21"/>
                        <a:gd name="T5" fmla="*/ 0 h 7"/>
                        <a:gd name="T6" fmla="*/ 20 w 21"/>
                        <a:gd name="T7" fmla="*/ 0 h 7"/>
                        <a:gd name="T8" fmla="*/ 20 w 21"/>
                        <a:gd name="T9" fmla="*/ 6 h 7"/>
                        <a:gd name="T10" fmla="*/ 0 w 21"/>
                        <a:gd name="T11" fmla="*/ 6 h 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0" t="0" r="r" b="b"/>
                      <a:pathLst>
                        <a:path w="21" h="7">
                          <a:moveTo>
                            <a:pt x="0" y="6"/>
                          </a:moveTo>
                          <a:lnTo>
                            <a:pt x="0" y="6"/>
                          </a:lnTo>
                          <a:lnTo>
                            <a:pt x="1" y="0"/>
                          </a:lnTo>
                          <a:lnTo>
                            <a:pt x="20" y="0"/>
                          </a:lnTo>
                          <a:lnTo>
                            <a:pt x="20" y="6"/>
                          </a:lnTo>
                          <a:lnTo>
                            <a:pt x="0" y="6"/>
                          </a:lnTo>
                        </a:path>
                      </a:pathLst>
                    </a:cu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2700" cap="rnd">
                          <a:pattFill prst="narHorz">
                            <a:fgClr>
                              <a:schemeClr val="tx1"/>
                            </a:fgClr>
                            <a:bgClr>
                              <a:schemeClr val="bg1"/>
                            </a:bgClr>
                          </a:pattFill>
                          <a:round/>
                          <a:headEnd type="none" w="med" len="med"/>
                          <a:tailEnd type="none" w="med" len="med"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</p:grpSp>
      </p:grpSp>
      <p:grpSp>
        <p:nvGrpSpPr>
          <p:cNvPr id="8198" name="Group 526"/>
          <p:cNvGrpSpPr>
            <a:grpSpLocks/>
          </p:cNvGrpSpPr>
          <p:nvPr/>
        </p:nvGrpSpPr>
        <p:grpSpPr bwMode="auto">
          <a:xfrm>
            <a:off x="1657350" y="2457451"/>
            <a:ext cx="6525816" cy="2003823"/>
            <a:chOff x="240" y="1776"/>
            <a:chExt cx="5481" cy="1683"/>
          </a:xfrm>
        </p:grpSpPr>
        <p:sp>
          <p:nvSpPr>
            <p:cNvPr id="8199" name="Rectangle 527"/>
            <p:cNvSpPr>
              <a:spLocks noChangeArrowheads="1"/>
            </p:cNvSpPr>
            <p:nvPr/>
          </p:nvSpPr>
          <p:spPr bwMode="auto">
            <a:xfrm>
              <a:off x="4274" y="2534"/>
              <a:ext cx="333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eaLnBrk="0" hangingPunct="0"/>
              <a:r>
                <a:rPr kumimoji="1" lang="en-US" altLang="zh-CN" dirty="0">
                  <a:solidFill>
                    <a:schemeClr val="tx2"/>
                  </a:solidFill>
                  <a:latin typeface="Comic Sans MS" pitchFamily="66" charset="0"/>
                </a:rPr>
                <a:t>PC</a:t>
              </a:r>
            </a:p>
          </p:txBody>
        </p:sp>
        <p:sp>
          <p:nvSpPr>
            <p:cNvPr id="8200" name="Rectangle 528"/>
            <p:cNvSpPr>
              <a:spLocks noChangeArrowheads="1"/>
            </p:cNvSpPr>
            <p:nvPr/>
          </p:nvSpPr>
          <p:spPr bwMode="auto">
            <a:xfrm>
              <a:off x="3651" y="2534"/>
              <a:ext cx="749" cy="5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eaLnBrk="0" hangingPunct="0"/>
              <a:r>
                <a:rPr kumimoji="1" lang="en-US" altLang="zh-CN" dirty="0">
                  <a:solidFill>
                    <a:schemeClr val="tx2"/>
                  </a:solidFill>
                  <a:latin typeface="Comic Sans MS" pitchFamily="66" charset="0"/>
                </a:rPr>
                <a:t>Work-</a:t>
              </a:r>
            </a:p>
            <a:p>
              <a:pPr eaLnBrk="0" hangingPunct="0"/>
              <a:r>
                <a:rPr kumimoji="1" lang="en-US" altLang="zh-CN" dirty="0">
                  <a:solidFill>
                    <a:schemeClr val="tx2"/>
                  </a:solidFill>
                  <a:latin typeface="Comic Sans MS" pitchFamily="66" charset="0"/>
                </a:rPr>
                <a:t>station</a:t>
              </a:r>
            </a:p>
          </p:txBody>
        </p:sp>
        <p:sp>
          <p:nvSpPr>
            <p:cNvPr id="8201" name="Rectangle 529"/>
            <p:cNvSpPr>
              <a:spLocks noChangeArrowheads="1"/>
            </p:cNvSpPr>
            <p:nvPr/>
          </p:nvSpPr>
          <p:spPr bwMode="auto">
            <a:xfrm>
              <a:off x="961" y="2402"/>
              <a:ext cx="1089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eaLnBrk="0" hangingPunct="0"/>
              <a:r>
                <a:rPr kumimoji="1" lang="en-US" altLang="zh-CN" dirty="0">
                  <a:latin typeface="Comic Sans MS" pitchFamily="66" charset="0"/>
                </a:rPr>
                <a:t>Mainframe</a:t>
              </a:r>
            </a:p>
          </p:txBody>
        </p:sp>
        <p:sp>
          <p:nvSpPr>
            <p:cNvPr id="8202" name="Rectangle 530"/>
            <p:cNvSpPr>
              <a:spLocks noChangeArrowheads="1"/>
            </p:cNvSpPr>
            <p:nvPr/>
          </p:nvSpPr>
          <p:spPr bwMode="auto">
            <a:xfrm>
              <a:off x="1042" y="3170"/>
              <a:ext cx="1502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eaLnBrk="0" hangingPunct="0"/>
              <a:r>
                <a:rPr kumimoji="1" lang="en-US" altLang="zh-CN" dirty="0">
                  <a:latin typeface="Comic Sans MS" pitchFamily="66" charset="0"/>
                </a:rPr>
                <a:t>Supercomputer</a:t>
              </a:r>
            </a:p>
          </p:txBody>
        </p:sp>
        <p:sp>
          <p:nvSpPr>
            <p:cNvPr id="8203" name="Freeform 531" descr="50%"/>
            <p:cNvSpPr>
              <a:spLocks/>
            </p:cNvSpPr>
            <p:nvPr/>
          </p:nvSpPr>
          <p:spPr bwMode="auto">
            <a:xfrm>
              <a:off x="3275" y="2457"/>
              <a:ext cx="58" cy="46"/>
            </a:xfrm>
            <a:custGeom>
              <a:avLst/>
              <a:gdLst>
                <a:gd name="T0" fmla="*/ 0 w 58"/>
                <a:gd name="T1" fmla="*/ 0 h 46"/>
                <a:gd name="T2" fmla="*/ 2 w 58"/>
                <a:gd name="T3" fmla="*/ 5 h 46"/>
                <a:gd name="T4" fmla="*/ 5 w 58"/>
                <a:gd name="T5" fmla="*/ 9 h 46"/>
                <a:gd name="T6" fmla="*/ 9 w 58"/>
                <a:gd name="T7" fmla="*/ 14 h 46"/>
                <a:gd name="T8" fmla="*/ 12 w 58"/>
                <a:gd name="T9" fmla="*/ 18 h 46"/>
                <a:gd name="T10" fmla="*/ 16 w 58"/>
                <a:gd name="T11" fmla="*/ 23 h 46"/>
                <a:gd name="T12" fmla="*/ 21 w 58"/>
                <a:gd name="T13" fmla="*/ 28 h 46"/>
                <a:gd name="T14" fmla="*/ 24 w 58"/>
                <a:gd name="T15" fmla="*/ 32 h 46"/>
                <a:gd name="T16" fmla="*/ 28 w 58"/>
                <a:gd name="T17" fmla="*/ 35 h 46"/>
                <a:gd name="T18" fmla="*/ 32 w 58"/>
                <a:gd name="T19" fmla="*/ 38 h 46"/>
                <a:gd name="T20" fmla="*/ 36 w 58"/>
                <a:gd name="T21" fmla="*/ 40 h 46"/>
                <a:gd name="T22" fmla="*/ 41 w 58"/>
                <a:gd name="T23" fmla="*/ 42 h 46"/>
                <a:gd name="T24" fmla="*/ 45 w 58"/>
                <a:gd name="T25" fmla="*/ 44 h 46"/>
                <a:gd name="T26" fmla="*/ 50 w 58"/>
                <a:gd name="T27" fmla="*/ 45 h 46"/>
                <a:gd name="T28" fmla="*/ 54 w 58"/>
                <a:gd name="T29" fmla="*/ 45 h 46"/>
                <a:gd name="T30" fmla="*/ 57 w 58"/>
                <a:gd name="T31" fmla="*/ 44 h 46"/>
                <a:gd name="T32" fmla="*/ 54 w 58"/>
                <a:gd name="T33" fmla="*/ 41 h 46"/>
                <a:gd name="T34" fmla="*/ 51 w 58"/>
                <a:gd name="T35" fmla="*/ 37 h 46"/>
                <a:gd name="T36" fmla="*/ 48 w 58"/>
                <a:gd name="T37" fmla="*/ 33 h 46"/>
                <a:gd name="T38" fmla="*/ 45 w 58"/>
                <a:gd name="T39" fmla="*/ 29 h 46"/>
                <a:gd name="T40" fmla="*/ 42 w 58"/>
                <a:gd name="T41" fmla="*/ 24 h 46"/>
                <a:gd name="T42" fmla="*/ 40 w 58"/>
                <a:gd name="T43" fmla="*/ 20 h 46"/>
                <a:gd name="T44" fmla="*/ 38 w 58"/>
                <a:gd name="T45" fmla="*/ 16 h 46"/>
                <a:gd name="T46" fmla="*/ 37 w 58"/>
                <a:gd name="T47" fmla="*/ 10 h 46"/>
                <a:gd name="T48" fmla="*/ 37 w 58"/>
                <a:gd name="T49" fmla="*/ 5 h 46"/>
                <a:gd name="T50" fmla="*/ 37 w 58"/>
                <a:gd name="T51" fmla="*/ 1 h 46"/>
                <a:gd name="T52" fmla="*/ 0 w 58"/>
                <a:gd name="T53" fmla="*/ 0 h 4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58" h="46">
                  <a:moveTo>
                    <a:pt x="0" y="0"/>
                  </a:moveTo>
                  <a:lnTo>
                    <a:pt x="2" y="5"/>
                  </a:lnTo>
                  <a:lnTo>
                    <a:pt x="5" y="9"/>
                  </a:lnTo>
                  <a:lnTo>
                    <a:pt x="9" y="14"/>
                  </a:lnTo>
                  <a:lnTo>
                    <a:pt x="12" y="18"/>
                  </a:lnTo>
                  <a:lnTo>
                    <a:pt x="16" y="23"/>
                  </a:lnTo>
                  <a:lnTo>
                    <a:pt x="21" y="28"/>
                  </a:lnTo>
                  <a:lnTo>
                    <a:pt x="24" y="32"/>
                  </a:lnTo>
                  <a:lnTo>
                    <a:pt x="28" y="35"/>
                  </a:lnTo>
                  <a:lnTo>
                    <a:pt x="32" y="38"/>
                  </a:lnTo>
                  <a:lnTo>
                    <a:pt x="36" y="40"/>
                  </a:lnTo>
                  <a:lnTo>
                    <a:pt x="41" y="42"/>
                  </a:lnTo>
                  <a:lnTo>
                    <a:pt x="45" y="44"/>
                  </a:lnTo>
                  <a:lnTo>
                    <a:pt x="50" y="45"/>
                  </a:lnTo>
                  <a:lnTo>
                    <a:pt x="54" y="45"/>
                  </a:lnTo>
                  <a:lnTo>
                    <a:pt x="57" y="44"/>
                  </a:lnTo>
                  <a:lnTo>
                    <a:pt x="54" y="41"/>
                  </a:lnTo>
                  <a:lnTo>
                    <a:pt x="51" y="37"/>
                  </a:lnTo>
                  <a:lnTo>
                    <a:pt x="48" y="33"/>
                  </a:lnTo>
                  <a:lnTo>
                    <a:pt x="45" y="29"/>
                  </a:lnTo>
                  <a:lnTo>
                    <a:pt x="42" y="24"/>
                  </a:lnTo>
                  <a:lnTo>
                    <a:pt x="40" y="20"/>
                  </a:lnTo>
                  <a:lnTo>
                    <a:pt x="38" y="16"/>
                  </a:lnTo>
                  <a:lnTo>
                    <a:pt x="37" y="10"/>
                  </a:lnTo>
                  <a:lnTo>
                    <a:pt x="37" y="5"/>
                  </a:lnTo>
                  <a:lnTo>
                    <a:pt x="37" y="1"/>
                  </a:lnTo>
                  <a:lnTo>
                    <a:pt x="0" y="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" name="Freeform 532" descr="50%"/>
            <p:cNvSpPr>
              <a:spLocks/>
            </p:cNvSpPr>
            <p:nvPr/>
          </p:nvSpPr>
          <p:spPr bwMode="auto">
            <a:xfrm>
              <a:off x="3154" y="2349"/>
              <a:ext cx="481" cy="145"/>
            </a:xfrm>
            <a:custGeom>
              <a:avLst/>
              <a:gdLst>
                <a:gd name="T0" fmla="*/ 5 w 481"/>
                <a:gd name="T1" fmla="*/ 85 h 145"/>
                <a:gd name="T2" fmla="*/ 20 w 481"/>
                <a:gd name="T3" fmla="*/ 80 h 145"/>
                <a:gd name="T4" fmla="*/ 42 w 481"/>
                <a:gd name="T5" fmla="*/ 73 h 145"/>
                <a:gd name="T6" fmla="*/ 65 w 481"/>
                <a:gd name="T7" fmla="*/ 68 h 145"/>
                <a:gd name="T8" fmla="*/ 89 w 481"/>
                <a:gd name="T9" fmla="*/ 63 h 145"/>
                <a:gd name="T10" fmla="*/ 112 w 481"/>
                <a:gd name="T11" fmla="*/ 58 h 145"/>
                <a:gd name="T12" fmla="*/ 132 w 481"/>
                <a:gd name="T13" fmla="*/ 54 h 145"/>
                <a:gd name="T14" fmla="*/ 143 w 481"/>
                <a:gd name="T15" fmla="*/ 48 h 145"/>
                <a:gd name="T16" fmla="*/ 155 w 481"/>
                <a:gd name="T17" fmla="*/ 37 h 145"/>
                <a:gd name="T18" fmla="*/ 171 w 481"/>
                <a:gd name="T19" fmla="*/ 20 h 145"/>
                <a:gd name="T20" fmla="*/ 188 w 481"/>
                <a:gd name="T21" fmla="*/ 5 h 145"/>
                <a:gd name="T22" fmla="*/ 200 w 481"/>
                <a:gd name="T23" fmla="*/ 17 h 145"/>
                <a:gd name="T24" fmla="*/ 207 w 481"/>
                <a:gd name="T25" fmla="*/ 43 h 145"/>
                <a:gd name="T26" fmla="*/ 211 w 481"/>
                <a:gd name="T27" fmla="*/ 53 h 145"/>
                <a:gd name="T28" fmla="*/ 239 w 481"/>
                <a:gd name="T29" fmla="*/ 57 h 145"/>
                <a:gd name="T30" fmla="*/ 267 w 481"/>
                <a:gd name="T31" fmla="*/ 63 h 145"/>
                <a:gd name="T32" fmla="*/ 288 w 481"/>
                <a:gd name="T33" fmla="*/ 63 h 145"/>
                <a:gd name="T34" fmla="*/ 310 w 481"/>
                <a:gd name="T35" fmla="*/ 58 h 145"/>
                <a:gd name="T36" fmla="*/ 327 w 481"/>
                <a:gd name="T37" fmla="*/ 70 h 145"/>
                <a:gd name="T38" fmla="*/ 344 w 481"/>
                <a:gd name="T39" fmla="*/ 75 h 145"/>
                <a:gd name="T40" fmla="*/ 365 w 481"/>
                <a:gd name="T41" fmla="*/ 75 h 145"/>
                <a:gd name="T42" fmla="*/ 388 w 481"/>
                <a:gd name="T43" fmla="*/ 66 h 145"/>
                <a:gd name="T44" fmla="*/ 413 w 481"/>
                <a:gd name="T45" fmla="*/ 45 h 145"/>
                <a:gd name="T46" fmla="*/ 442 w 481"/>
                <a:gd name="T47" fmla="*/ 20 h 145"/>
                <a:gd name="T48" fmla="*/ 471 w 481"/>
                <a:gd name="T49" fmla="*/ 11 h 145"/>
                <a:gd name="T50" fmla="*/ 472 w 481"/>
                <a:gd name="T51" fmla="*/ 19 h 145"/>
                <a:gd name="T52" fmla="*/ 458 w 481"/>
                <a:gd name="T53" fmla="*/ 37 h 145"/>
                <a:gd name="T54" fmla="*/ 442 w 481"/>
                <a:gd name="T55" fmla="*/ 54 h 145"/>
                <a:gd name="T56" fmla="*/ 431 w 481"/>
                <a:gd name="T57" fmla="*/ 71 h 145"/>
                <a:gd name="T58" fmla="*/ 431 w 481"/>
                <a:gd name="T59" fmla="*/ 89 h 145"/>
                <a:gd name="T60" fmla="*/ 443 w 481"/>
                <a:gd name="T61" fmla="*/ 108 h 145"/>
                <a:gd name="T62" fmla="*/ 457 w 481"/>
                <a:gd name="T63" fmla="*/ 122 h 145"/>
                <a:gd name="T64" fmla="*/ 470 w 481"/>
                <a:gd name="T65" fmla="*/ 133 h 145"/>
                <a:gd name="T66" fmla="*/ 471 w 481"/>
                <a:gd name="T67" fmla="*/ 138 h 145"/>
                <a:gd name="T68" fmla="*/ 453 w 481"/>
                <a:gd name="T69" fmla="*/ 138 h 145"/>
                <a:gd name="T70" fmla="*/ 437 w 481"/>
                <a:gd name="T71" fmla="*/ 134 h 145"/>
                <a:gd name="T72" fmla="*/ 421 w 481"/>
                <a:gd name="T73" fmla="*/ 126 h 145"/>
                <a:gd name="T74" fmla="*/ 396 w 481"/>
                <a:gd name="T75" fmla="*/ 109 h 145"/>
                <a:gd name="T76" fmla="*/ 365 w 481"/>
                <a:gd name="T77" fmla="*/ 107 h 145"/>
                <a:gd name="T78" fmla="*/ 328 w 481"/>
                <a:gd name="T79" fmla="*/ 111 h 145"/>
                <a:gd name="T80" fmla="*/ 304 w 481"/>
                <a:gd name="T81" fmla="*/ 121 h 145"/>
                <a:gd name="T82" fmla="*/ 296 w 481"/>
                <a:gd name="T83" fmla="*/ 132 h 145"/>
                <a:gd name="T84" fmla="*/ 263 w 481"/>
                <a:gd name="T85" fmla="*/ 131 h 145"/>
                <a:gd name="T86" fmla="*/ 235 w 481"/>
                <a:gd name="T87" fmla="*/ 140 h 145"/>
                <a:gd name="T88" fmla="*/ 130 w 481"/>
                <a:gd name="T89" fmla="*/ 144 h 145"/>
                <a:gd name="T90" fmla="*/ 70 w 481"/>
                <a:gd name="T91" fmla="*/ 138 h 145"/>
                <a:gd name="T92" fmla="*/ 17 w 481"/>
                <a:gd name="T93" fmla="*/ 120 h 145"/>
                <a:gd name="T94" fmla="*/ 17 w 481"/>
                <a:gd name="T95" fmla="*/ 110 h 145"/>
                <a:gd name="T96" fmla="*/ 5 w 481"/>
                <a:gd name="T97" fmla="*/ 99 h 145"/>
                <a:gd name="T98" fmla="*/ 1 w 481"/>
                <a:gd name="T99" fmla="*/ 92 h 14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481" h="145">
                  <a:moveTo>
                    <a:pt x="0" y="89"/>
                  </a:moveTo>
                  <a:lnTo>
                    <a:pt x="2" y="88"/>
                  </a:lnTo>
                  <a:lnTo>
                    <a:pt x="5" y="85"/>
                  </a:lnTo>
                  <a:lnTo>
                    <a:pt x="11" y="83"/>
                  </a:lnTo>
                  <a:lnTo>
                    <a:pt x="15" y="82"/>
                  </a:lnTo>
                  <a:lnTo>
                    <a:pt x="20" y="80"/>
                  </a:lnTo>
                  <a:lnTo>
                    <a:pt x="27" y="77"/>
                  </a:lnTo>
                  <a:lnTo>
                    <a:pt x="35" y="75"/>
                  </a:lnTo>
                  <a:lnTo>
                    <a:pt x="42" y="73"/>
                  </a:lnTo>
                  <a:lnTo>
                    <a:pt x="49" y="71"/>
                  </a:lnTo>
                  <a:lnTo>
                    <a:pt x="57" y="69"/>
                  </a:lnTo>
                  <a:lnTo>
                    <a:pt x="65" y="68"/>
                  </a:lnTo>
                  <a:lnTo>
                    <a:pt x="74" y="66"/>
                  </a:lnTo>
                  <a:lnTo>
                    <a:pt x="81" y="64"/>
                  </a:lnTo>
                  <a:lnTo>
                    <a:pt x="89" y="63"/>
                  </a:lnTo>
                  <a:lnTo>
                    <a:pt x="95" y="62"/>
                  </a:lnTo>
                  <a:lnTo>
                    <a:pt x="105" y="60"/>
                  </a:lnTo>
                  <a:lnTo>
                    <a:pt x="112" y="58"/>
                  </a:lnTo>
                  <a:lnTo>
                    <a:pt x="120" y="57"/>
                  </a:lnTo>
                  <a:lnTo>
                    <a:pt x="126" y="56"/>
                  </a:lnTo>
                  <a:lnTo>
                    <a:pt x="132" y="54"/>
                  </a:lnTo>
                  <a:lnTo>
                    <a:pt x="137" y="52"/>
                  </a:lnTo>
                  <a:lnTo>
                    <a:pt x="140" y="51"/>
                  </a:lnTo>
                  <a:lnTo>
                    <a:pt x="143" y="48"/>
                  </a:lnTo>
                  <a:lnTo>
                    <a:pt x="147" y="45"/>
                  </a:lnTo>
                  <a:lnTo>
                    <a:pt x="150" y="41"/>
                  </a:lnTo>
                  <a:lnTo>
                    <a:pt x="155" y="37"/>
                  </a:lnTo>
                  <a:lnTo>
                    <a:pt x="160" y="31"/>
                  </a:lnTo>
                  <a:lnTo>
                    <a:pt x="165" y="25"/>
                  </a:lnTo>
                  <a:lnTo>
                    <a:pt x="171" y="20"/>
                  </a:lnTo>
                  <a:lnTo>
                    <a:pt x="176" y="14"/>
                  </a:lnTo>
                  <a:lnTo>
                    <a:pt x="182" y="10"/>
                  </a:lnTo>
                  <a:lnTo>
                    <a:pt x="188" y="5"/>
                  </a:lnTo>
                  <a:lnTo>
                    <a:pt x="195" y="0"/>
                  </a:lnTo>
                  <a:lnTo>
                    <a:pt x="197" y="9"/>
                  </a:lnTo>
                  <a:lnTo>
                    <a:pt x="200" y="17"/>
                  </a:lnTo>
                  <a:lnTo>
                    <a:pt x="203" y="26"/>
                  </a:lnTo>
                  <a:lnTo>
                    <a:pt x="205" y="35"/>
                  </a:lnTo>
                  <a:lnTo>
                    <a:pt x="207" y="43"/>
                  </a:lnTo>
                  <a:lnTo>
                    <a:pt x="206" y="47"/>
                  </a:lnTo>
                  <a:lnTo>
                    <a:pt x="203" y="51"/>
                  </a:lnTo>
                  <a:lnTo>
                    <a:pt x="211" y="53"/>
                  </a:lnTo>
                  <a:lnTo>
                    <a:pt x="218" y="54"/>
                  </a:lnTo>
                  <a:lnTo>
                    <a:pt x="228" y="56"/>
                  </a:lnTo>
                  <a:lnTo>
                    <a:pt x="239" y="57"/>
                  </a:lnTo>
                  <a:lnTo>
                    <a:pt x="249" y="60"/>
                  </a:lnTo>
                  <a:lnTo>
                    <a:pt x="258" y="61"/>
                  </a:lnTo>
                  <a:lnTo>
                    <a:pt x="267" y="63"/>
                  </a:lnTo>
                  <a:lnTo>
                    <a:pt x="275" y="64"/>
                  </a:lnTo>
                  <a:lnTo>
                    <a:pt x="282" y="64"/>
                  </a:lnTo>
                  <a:lnTo>
                    <a:pt x="288" y="63"/>
                  </a:lnTo>
                  <a:lnTo>
                    <a:pt x="293" y="60"/>
                  </a:lnTo>
                  <a:lnTo>
                    <a:pt x="298" y="56"/>
                  </a:lnTo>
                  <a:lnTo>
                    <a:pt x="310" y="58"/>
                  </a:lnTo>
                  <a:lnTo>
                    <a:pt x="323" y="61"/>
                  </a:lnTo>
                  <a:lnTo>
                    <a:pt x="334" y="63"/>
                  </a:lnTo>
                  <a:lnTo>
                    <a:pt x="327" y="70"/>
                  </a:lnTo>
                  <a:lnTo>
                    <a:pt x="331" y="72"/>
                  </a:lnTo>
                  <a:lnTo>
                    <a:pt x="337" y="74"/>
                  </a:lnTo>
                  <a:lnTo>
                    <a:pt x="344" y="75"/>
                  </a:lnTo>
                  <a:lnTo>
                    <a:pt x="351" y="76"/>
                  </a:lnTo>
                  <a:lnTo>
                    <a:pt x="358" y="76"/>
                  </a:lnTo>
                  <a:lnTo>
                    <a:pt x="365" y="75"/>
                  </a:lnTo>
                  <a:lnTo>
                    <a:pt x="373" y="73"/>
                  </a:lnTo>
                  <a:lnTo>
                    <a:pt x="381" y="71"/>
                  </a:lnTo>
                  <a:lnTo>
                    <a:pt x="388" y="66"/>
                  </a:lnTo>
                  <a:lnTo>
                    <a:pt x="397" y="60"/>
                  </a:lnTo>
                  <a:lnTo>
                    <a:pt x="404" y="54"/>
                  </a:lnTo>
                  <a:lnTo>
                    <a:pt x="413" y="45"/>
                  </a:lnTo>
                  <a:lnTo>
                    <a:pt x="422" y="35"/>
                  </a:lnTo>
                  <a:lnTo>
                    <a:pt x="433" y="27"/>
                  </a:lnTo>
                  <a:lnTo>
                    <a:pt x="442" y="20"/>
                  </a:lnTo>
                  <a:lnTo>
                    <a:pt x="451" y="15"/>
                  </a:lnTo>
                  <a:lnTo>
                    <a:pt x="460" y="12"/>
                  </a:lnTo>
                  <a:lnTo>
                    <a:pt x="471" y="11"/>
                  </a:lnTo>
                  <a:lnTo>
                    <a:pt x="480" y="11"/>
                  </a:lnTo>
                  <a:lnTo>
                    <a:pt x="475" y="15"/>
                  </a:lnTo>
                  <a:lnTo>
                    <a:pt x="472" y="19"/>
                  </a:lnTo>
                  <a:lnTo>
                    <a:pt x="470" y="22"/>
                  </a:lnTo>
                  <a:lnTo>
                    <a:pt x="463" y="32"/>
                  </a:lnTo>
                  <a:lnTo>
                    <a:pt x="458" y="37"/>
                  </a:lnTo>
                  <a:lnTo>
                    <a:pt x="452" y="42"/>
                  </a:lnTo>
                  <a:lnTo>
                    <a:pt x="446" y="48"/>
                  </a:lnTo>
                  <a:lnTo>
                    <a:pt x="442" y="54"/>
                  </a:lnTo>
                  <a:lnTo>
                    <a:pt x="438" y="60"/>
                  </a:lnTo>
                  <a:lnTo>
                    <a:pt x="434" y="66"/>
                  </a:lnTo>
                  <a:lnTo>
                    <a:pt x="431" y="71"/>
                  </a:lnTo>
                  <a:lnTo>
                    <a:pt x="430" y="77"/>
                  </a:lnTo>
                  <a:lnTo>
                    <a:pt x="429" y="83"/>
                  </a:lnTo>
                  <a:lnTo>
                    <a:pt x="431" y="89"/>
                  </a:lnTo>
                  <a:lnTo>
                    <a:pt x="434" y="96"/>
                  </a:lnTo>
                  <a:lnTo>
                    <a:pt x="438" y="102"/>
                  </a:lnTo>
                  <a:lnTo>
                    <a:pt x="443" y="108"/>
                  </a:lnTo>
                  <a:lnTo>
                    <a:pt x="447" y="112"/>
                  </a:lnTo>
                  <a:lnTo>
                    <a:pt x="452" y="116"/>
                  </a:lnTo>
                  <a:lnTo>
                    <a:pt x="457" y="122"/>
                  </a:lnTo>
                  <a:lnTo>
                    <a:pt x="463" y="127"/>
                  </a:lnTo>
                  <a:lnTo>
                    <a:pt x="467" y="130"/>
                  </a:lnTo>
                  <a:lnTo>
                    <a:pt x="470" y="133"/>
                  </a:lnTo>
                  <a:lnTo>
                    <a:pt x="474" y="135"/>
                  </a:lnTo>
                  <a:lnTo>
                    <a:pt x="476" y="138"/>
                  </a:lnTo>
                  <a:lnTo>
                    <a:pt x="471" y="138"/>
                  </a:lnTo>
                  <a:lnTo>
                    <a:pt x="464" y="138"/>
                  </a:lnTo>
                  <a:lnTo>
                    <a:pt x="458" y="138"/>
                  </a:lnTo>
                  <a:lnTo>
                    <a:pt x="453" y="138"/>
                  </a:lnTo>
                  <a:lnTo>
                    <a:pt x="446" y="137"/>
                  </a:lnTo>
                  <a:lnTo>
                    <a:pt x="441" y="135"/>
                  </a:lnTo>
                  <a:lnTo>
                    <a:pt x="437" y="134"/>
                  </a:lnTo>
                  <a:lnTo>
                    <a:pt x="432" y="131"/>
                  </a:lnTo>
                  <a:lnTo>
                    <a:pt x="426" y="129"/>
                  </a:lnTo>
                  <a:lnTo>
                    <a:pt x="421" y="126"/>
                  </a:lnTo>
                  <a:lnTo>
                    <a:pt x="412" y="119"/>
                  </a:lnTo>
                  <a:lnTo>
                    <a:pt x="405" y="115"/>
                  </a:lnTo>
                  <a:lnTo>
                    <a:pt x="396" y="109"/>
                  </a:lnTo>
                  <a:lnTo>
                    <a:pt x="387" y="108"/>
                  </a:lnTo>
                  <a:lnTo>
                    <a:pt x="378" y="108"/>
                  </a:lnTo>
                  <a:lnTo>
                    <a:pt x="365" y="107"/>
                  </a:lnTo>
                  <a:lnTo>
                    <a:pt x="354" y="108"/>
                  </a:lnTo>
                  <a:lnTo>
                    <a:pt x="341" y="109"/>
                  </a:lnTo>
                  <a:lnTo>
                    <a:pt x="328" y="111"/>
                  </a:lnTo>
                  <a:lnTo>
                    <a:pt x="314" y="115"/>
                  </a:lnTo>
                  <a:lnTo>
                    <a:pt x="306" y="118"/>
                  </a:lnTo>
                  <a:lnTo>
                    <a:pt x="304" y="121"/>
                  </a:lnTo>
                  <a:lnTo>
                    <a:pt x="306" y="124"/>
                  </a:lnTo>
                  <a:lnTo>
                    <a:pt x="312" y="128"/>
                  </a:lnTo>
                  <a:lnTo>
                    <a:pt x="296" y="132"/>
                  </a:lnTo>
                  <a:lnTo>
                    <a:pt x="274" y="138"/>
                  </a:lnTo>
                  <a:lnTo>
                    <a:pt x="269" y="134"/>
                  </a:lnTo>
                  <a:lnTo>
                    <a:pt x="263" y="131"/>
                  </a:lnTo>
                  <a:lnTo>
                    <a:pt x="257" y="129"/>
                  </a:lnTo>
                  <a:lnTo>
                    <a:pt x="247" y="129"/>
                  </a:lnTo>
                  <a:lnTo>
                    <a:pt x="235" y="140"/>
                  </a:lnTo>
                  <a:lnTo>
                    <a:pt x="224" y="132"/>
                  </a:lnTo>
                  <a:lnTo>
                    <a:pt x="145" y="143"/>
                  </a:lnTo>
                  <a:lnTo>
                    <a:pt x="130" y="144"/>
                  </a:lnTo>
                  <a:lnTo>
                    <a:pt x="115" y="143"/>
                  </a:lnTo>
                  <a:lnTo>
                    <a:pt x="100" y="141"/>
                  </a:lnTo>
                  <a:lnTo>
                    <a:pt x="70" y="138"/>
                  </a:lnTo>
                  <a:lnTo>
                    <a:pt x="42" y="130"/>
                  </a:lnTo>
                  <a:lnTo>
                    <a:pt x="27" y="125"/>
                  </a:lnTo>
                  <a:lnTo>
                    <a:pt x="17" y="120"/>
                  </a:lnTo>
                  <a:lnTo>
                    <a:pt x="28" y="117"/>
                  </a:lnTo>
                  <a:lnTo>
                    <a:pt x="21" y="113"/>
                  </a:lnTo>
                  <a:lnTo>
                    <a:pt x="17" y="110"/>
                  </a:lnTo>
                  <a:lnTo>
                    <a:pt x="9" y="104"/>
                  </a:lnTo>
                  <a:lnTo>
                    <a:pt x="8" y="102"/>
                  </a:lnTo>
                  <a:lnTo>
                    <a:pt x="5" y="99"/>
                  </a:lnTo>
                  <a:lnTo>
                    <a:pt x="4" y="97"/>
                  </a:lnTo>
                  <a:lnTo>
                    <a:pt x="2" y="94"/>
                  </a:lnTo>
                  <a:lnTo>
                    <a:pt x="1" y="92"/>
                  </a:lnTo>
                  <a:lnTo>
                    <a:pt x="0" y="89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05" name="Group 533"/>
            <p:cNvGrpSpPr>
              <a:grpSpLocks/>
            </p:cNvGrpSpPr>
            <p:nvPr/>
          </p:nvGrpSpPr>
          <p:grpSpPr bwMode="auto">
            <a:xfrm>
              <a:off x="3194" y="2441"/>
              <a:ext cx="7" cy="7"/>
              <a:chOff x="3113" y="2625"/>
              <a:chExt cx="7" cy="7"/>
            </a:xfrm>
          </p:grpSpPr>
          <p:sp>
            <p:nvSpPr>
              <p:cNvPr id="8340" name="Oval 534" descr="50%"/>
              <p:cNvSpPr>
                <a:spLocks noChangeArrowheads="1"/>
              </p:cNvSpPr>
              <p:nvPr/>
            </p:nvSpPr>
            <p:spPr bwMode="auto">
              <a:xfrm>
                <a:off x="3113" y="2625"/>
                <a:ext cx="7" cy="7"/>
              </a:xfrm>
              <a:prstGeom prst="ellipse">
                <a:avLst/>
              </a:pr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41" name="Arc 535" descr="50%"/>
              <p:cNvSpPr>
                <a:spLocks/>
              </p:cNvSpPr>
              <p:nvPr/>
            </p:nvSpPr>
            <p:spPr bwMode="auto">
              <a:xfrm>
                <a:off x="3117" y="2628"/>
                <a:ext cx="2" cy="2"/>
              </a:xfrm>
              <a:custGeom>
                <a:avLst/>
                <a:gdLst>
                  <a:gd name="T0" fmla="*/ 1 w 43200"/>
                  <a:gd name="T1" fmla="*/ 0 h 43200"/>
                  <a:gd name="T2" fmla="*/ 0 w 43200"/>
                  <a:gd name="T3" fmla="*/ 0 h 43200"/>
                  <a:gd name="T4" fmla="*/ 1 w 43200"/>
                  <a:gd name="T5" fmla="*/ 1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5871"/>
                      <a:pt x="2275" y="10377"/>
                      <a:pt x="6326" y="6326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5871"/>
                      <a:pt x="2275" y="10377"/>
                      <a:pt x="6326" y="6326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206" name="Group 536"/>
            <p:cNvGrpSpPr>
              <a:grpSpLocks/>
            </p:cNvGrpSpPr>
            <p:nvPr/>
          </p:nvGrpSpPr>
          <p:grpSpPr bwMode="auto">
            <a:xfrm>
              <a:off x="3221" y="2457"/>
              <a:ext cx="30" cy="13"/>
              <a:chOff x="3140" y="2641"/>
              <a:chExt cx="30" cy="13"/>
            </a:xfrm>
          </p:grpSpPr>
          <p:sp>
            <p:nvSpPr>
              <p:cNvPr id="8335" name="Arc 537" descr="50%"/>
              <p:cNvSpPr>
                <a:spLocks/>
              </p:cNvSpPr>
              <p:nvPr/>
            </p:nvSpPr>
            <p:spPr bwMode="auto">
              <a:xfrm>
                <a:off x="3148" y="2641"/>
                <a:ext cx="2" cy="13"/>
              </a:xfrm>
              <a:custGeom>
                <a:avLst/>
                <a:gdLst>
                  <a:gd name="T0" fmla="*/ 0 w 35746"/>
                  <a:gd name="T1" fmla="*/ 1 h 43200"/>
                  <a:gd name="T2" fmla="*/ 0 w 35746"/>
                  <a:gd name="T3" fmla="*/ 11 h 43200"/>
                  <a:gd name="T4" fmla="*/ 1 w 35746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746" h="43200" fill="none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</a:path>
                  <a:path w="35746" h="43200" stroke="0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  <a:lnTo>
                      <a:pt x="14146" y="21600"/>
                    </a:lnTo>
                    <a:lnTo>
                      <a:pt x="2777" y="323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36" name="Arc 538" descr="50%"/>
              <p:cNvSpPr>
                <a:spLocks/>
              </p:cNvSpPr>
              <p:nvPr/>
            </p:nvSpPr>
            <p:spPr bwMode="auto">
              <a:xfrm>
                <a:off x="3140" y="2641"/>
                <a:ext cx="3" cy="13"/>
              </a:xfrm>
              <a:custGeom>
                <a:avLst/>
                <a:gdLst>
                  <a:gd name="T0" fmla="*/ 0 w 33372"/>
                  <a:gd name="T1" fmla="*/ 1 h 43200"/>
                  <a:gd name="T2" fmla="*/ 0 w 33372"/>
                  <a:gd name="T3" fmla="*/ 12 h 43200"/>
                  <a:gd name="T4" fmla="*/ 1 w 33372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372" h="43200" fill="none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</a:path>
                  <a:path w="33372" h="43200" stroke="0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  <a:lnTo>
                      <a:pt x="11772" y="21600"/>
                    </a:lnTo>
                    <a:lnTo>
                      <a:pt x="2675" y="200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37" name="Arc 539" descr="50%"/>
              <p:cNvSpPr>
                <a:spLocks/>
              </p:cNvSpPr>
              <p:nvPr/>
            </p:nvSpPr>
            <p:spPr bwMode="auto">
              <a:xfrm>
                <a:off x="3153" y="2641"/>
                <a:ext cx="3" cy="13"/>
              </a:xfrm>
              <a:custGeom>
                <a:avLst/>
                <a:gdLst>
                  <a:gd name="T0" fmla="*/ 0 w 33372"/>
                  <a:gd name="T1" fmla="*/ 1 h 43200"/>
                  <a:gd name="T2" fmla="*/ 0 w 33372"/>
                  <a:gd name="T3" fmla="*/ 12 h 43200"/>
                  <a:gd name="T4" fmla="*/ 1 w 33372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372" h="43200" fill="none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</a:path>
                  <a:path w="33372" h="43200" stroke="0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  <a:lnTo>
                      <a:pt x="11772" y="21600"/>
                    </a:lnTo>
                    <a:lnTo>
                      <a:pt x="2675" y="200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38" name="Arc 540" descr="50%"/>
              <p:cNvSpPr>
                <a:spLocks/>
              </p:cNvSpPr>
              <p:nvPr/>
            </p:nvSpPr>
            <p:spPr bwMode="auto">
              <a:xfrm>
                <a:off x="3161" y="2641"/>
                <a:ext cx="2" cy="13"/>
              </a:xfrm>
              <a:custGeom>
                <a:avLst/>
                <a:gdLst>
                  <a:gd name="T0" fmla="*/ 0 w 35746"/>
                  <a:gd name="T1" fmla="*/ 1 h 43200"/>
                  <a:gd name="T2" fmla="*/ 0 w 35746"/>
                  <a:gd name="T3" fmla="*/ 11 h 43200"/>
                  <a:gd name="T4" fmla="*/ 1 w 35746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746" h="43200" fill="none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</a:path>
                  <a:path w="35746" h="43200" stroke="0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  <a:lnTo>
                      <a:pt x="14146" y="21600"/>
                    </a:lnTo>
                    <a:lnTo>
                      <a:pt x="2777" y="323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39" name="Arc 541" descr="50%"/>
              <p:cNvSpPr>
                <a:spLocks/>
              </p:cNvSpPr>
              <p:nvPr/>
            </p:nvSpPr>
            <p:spPr bwMode="auto">
              <a:xfrm>
                <a:off x="3168" y="2641"/>
                <a:ext cx="2" cy="13"/>
              </a:xfrm>
              <a:custGeom>
                <a:avLst/>
                <a:gdLst>
                  <a:gd name="T0" fmla="*/ 0 w 35746"/>
                  <a:gd name="T1" fmla="*/ 1 h 43200"/>
                  <a:gd name="T2" fmla="*/ 0 w 35746"/>
                  <a:gd name="T3" fmla="*/ 11 h 43200"/>
                  <a:gd name="T4" fmla="*/ 1 w 35746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746" h="43200" fill="none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</a:path>
                  <a:path w="35746" h="43200" stroke="0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  <a:lnTo>
                      <a:pt x="14146" y="21600"/>
                    </a:lnTo>
                    <a:lnTo>
                      <a:pt x="2777" y="323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207" name="Freeform 542" descr="50%"/>
            <p:cNvSpPr>
              <a:spLocks/>
            </p:cNvSpPr>
            <p:nvPr/>
          </p:nvSpPr>
          <p:spPr bwMode="auto">
            <a:xfrm>
              <a:off x="3155" y="2350"/>
              <a:ext cx="471" cy="91"/>
            </a:xfrm>
            <a:custGeom>
              <a:avLst/>
              <a:gdLst>
                <a:gd name="T0" fmla="*/ 10 w 471"/>
                <a:gd name="T1" fmla="*/ 76 h 91"/>
                <a:gd name="T2" fmla="*/ 32 w 471"/>
                <a:gd name="T3" fmla="*/ 69 h 91"/>
                <a:gd name="T4" fmla="*/ 63 w 471"/>
                <a:gd name="T5" fmla="*/ 62 h 91"/>
                <a:gd name="T6" fmla="*/ 94 w 471"/>
                <a:gd name="T7" fmla="*/ 57 h 91"/>
                <a:gd name="T8" fmla="*/ 125 w 471"/>
                <a:gd name="T9" fmla="*/ 51 h 91"/>
                <a:gd name="T10" fmla="*/ 142 w 471"/>
                <a:gd name="T11" fmla="*/ 43 h 91"/>
                <a:gd name="T12" fmla="*/ 157 w 471"/>
                <a:gd name="T13" fmla="*/ 28 h 91"/>
                <a:gd name="T14" fmla="*/ 180 w 471"/>
                <a:gd name="T15" fmla="*/ 8 h 91"/>
                <a:gd name="T16" fmla="*/ 196 w 471"/>
                <a:gd name="T17" fmla="*/ 17 h 91"/>
                <a:gd name="T18" fmla="*/ 203 w 471"/>
                <a:gd name="T19" fmla="*/ 39 h 91"/>
                <a:gd name="T20" fmla="*/ 214 w 471"/>
                <a:gd name="T21" fmla="*/ 50 h 91"/>
                <a:gd name="T22" fmla="*/ 253 w 471"/>
                <a:gd name="T23" fmla="*/ 56 h 91"/>
                <a:gd name="T24" fmla="*/ 282 w 471"/>
                <a:gd name="T25" fmla="*/ 58 h 91"/>
                <a:gd name="T26" fmla="*/ 317 w 471"/>
                <a:gd name="T27" fmla="*/ 56 h 91"/>
                <a:gd name="T28" fmla="*/ 331 w 471"/>
                <a:gd name="T29" fmla="*/ 68 h 91"/>
                <a:gd name="T30" fmla="*/ 359 w 471"/>
                <a:gd name="T31" fmla="*/ 69 h 91"/>
                <a:gd name="T32" fmla="*/ 390 w 471"/>
                <a:gd name="T33" fmla="*/ 55 h 91"/>
                <a:gd name="T34" fmla="*/ 415 w 471"/>
                <a:gd name="T35" fmla="*/ 32 h 91"/>
                <a:gd name="T36" fmla="*/ 435 w 471"/>
                <a:gd name="T37" fmla="*/ 18 h 91"/>
                <a:gd name="T38" fmla="*/ 452 w 471"/>
                <a:gd name="T39" fmla="*/ 11 h 91"/>
                <a:gd name="T40" fmla="*/ 467 w 471"/>
                <a:gd name="T41" fmla="*/ 13 h 91"/>
                <a:gd name="T42" fmla="*/ 455 w 471"/>
                <a:gd name="T43" fmla="*/ 28 h 91"/>
                <a:gd name="T44" fmla="*/ 439 w 471"/>
                <a:gd name="T45" fmla="*/ 42 h 91"/>
                <a:gd name="T46" fmla="*/ 430 w 471"/>
                <a:gd name="T47" fmla="*/ 54 h 91"/>
                <a:gd name="T48" fmla="*/ 423 w 471"/>
                <a:gd name="T49" fmla="*/ 64 h 91"/>
                <a:gd name="T50" fmla="*/ 421 w 471"/>
                <a:gd name="T51" fmla="*/ 76 h 91"/>
                <a:gd name="T52" fmla="*/ 408 w 471"/>
                <a:gd name="T53" fmla="*/ 73 h 91"/>
                <a:gd name="T54" fmla="*/ 395 w 471"/>
                <a:gd name="T55" fmla="*/ 77 h 91"/>
                <a:gd name="T56" fmla="*/ 382 w 471"/>
                <a:gd name="T57" fmla="*/ 76 h 91"/>
                <a:gd name="T58" fmla="*/ 366 w 471"/>
                <a:gd name="T59" fmla="*/ 77 h 91"/>
                <a:gd name="T60" fmla="*/ 350 w 471"/>
                <a:gd name="T61" fmla="*/ 75 h 91"/>
                <a:gd name="T62" fmla="*/ 332 w 471"/>
                <a:gd name="T63" fmla="*/ 76 h 91"/>
                <a:gd name="T64" fmla="*/ 314 w 471"/>
                <a:gd name="T65" fmla="*/ 79 h 91"/>
                <a:gd name="T66" fmla="*/ 296 w 471"/>
                <a:gd name="T67" fmla="*/ 80 h 91"/>
                <a:gd name="T68" fmla="*/ 278 w 471"/>
                <a:gd name="T69" fmla="*/ 80 h 91"/>
                <a:gd name="T70" fmla="*/ 262 w 471"/>
                <a:gd name="T71" fmla="*/ 82 h 91"/>
                <a:gd name="T72" fmla="*/ 245 w 471"/>
                <a:gd name="T73" fmla="*/ 85 h 91"/>
                <a:gd name="T74" fmla="*/ 224 w 471"/>
                <a:gd name="T75" fmla="*/ 85 h 91"/>
                <a:gd name="T76" fmla="*/ 206 w 471"/>
                <a:gd name="T77" fmla="*/ 86 h 91"/>
                <a:gd name="T78" fmla="*/ 188 w 471"/>
                <a:gd name="T79" fmla="*/ 84 h 91"/>
                <a:gd name="T80" fmla="*/ 171 w 471"/>
                <a:gd name="T81" fmla="*/ 85 h 91"/>
                <a:gd name="T82" fmla="*/ 156 w 471"/>
                <a:gd name="T83" fmla="*/ 84 h 91"/>
                <a:gd name="T84" fmla="*/ 139 w 471"/>
                <a:gd name="T85" fmla="*/ 85 h 91"/>
                <a:gd name="T86" fmla="*/ 120 w 471"/>
                <a:gd name="T87" fmla="*/ 86 h 91"/>
                <a:gd name="T88" fmla="*/ 96 w 471"/>
                <a:gd name="T89" fmla="*/ 90 h 91"/>
                <a:gd name="T90" fmla="*/ 69 w 471"/>
                <a:gd name="T91" fmla="*/ 90 h 91"/>
                <a:gd name="T92" fmla="*/ 46 w 471"/>
                <a:gd name="T93" fmla="*/ 87 h 91"/>
                <a:gd name="T94" fmla="*/ 25 w 471"/>
                <a:gd name="T95" fmla="*/ 88 h 91"/>
                <a:gd name="T96" fmla="*/ 5 w 471"/>
                <a:gd name="T97" fmla="*/ 84 h 9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471" h="91">
                  <a:moveTo>
                    <a:pt x="0" y="82"/>
                  </a:moveTo>
                  <a:lnTo>
                    <a:pt x="3" y="80"/>
                  </a:lnTo>
                  <a:lnTo>
                    <a:pt x="6" y="78"/>
                  </a:lnTo>
                  <a:lnTo>
                    <a:pt x="10" y="76"/>
                  </a:lnTo>
                  <a:lnTo>
                    <a:pt x="14" y="75"/>
                  </a:lnTo>
                  <a:lnTo>
                    <a:pt x="19" y="73"/>
                  </a:lnTo>
                  <a:lnTo>
                    <a:pt x="27" y="72"/>
                  </a:lnTo>
                  <a:lnTo>
                    <a:pt x="32" y="69"/>
                  </a:lnTo>
                  <a:lnTo>
                    <a:pt x="39" y="67"/>
                  </a:lnTo>
                  <a:lnTo>
                    <a:pt x="47" y="65"/>
                  </a:lnTo>
                  <a:lnTo>
                    <a:pt x="55" y="63"/>
                  </a:lnTo>
                  <a:lnTo>
                    <a:pt x="63" y="62"/>
                  </a:lnTo>
                  <a:lnTo>
                    <a:pt x="71" y="61"/>
                  </a:lnTo>
                  <a:lnTo>
                    <a:pt x="79" y="60"/>
                  </a:lnTo>
                  <a:lnTo>
                    <a:pt x="87" y="58"/>
                  </a:lnTo>
                  <a:lnTo>
                    <a:pt x="94" y="57"/>
                  </a:lnTo>
                  <a:lnTo>
                    <a:pt x="101" y="55"/>
                  </a:lnTo>
                  <a:lnTo>
                    <a:pt x="110" y="54"/>
                  </a:lnTo>
                  <a:lnTo>
                    <a:pt x="117" y="52"/>
                  </a:lnTo>
                  <a:lnTo>
                    <a:pt x="125" y="51"/>
                  </a:lnTo>
                  <a:lnTo>
                    <a:pt x="130" y="50"/>
                  </a:lnTo>
                  <a:lnTo>
                    <a:pt x="135" y="49"/>
                  </a:lnTo>
                  <a:lnTo>
                    <a:pt x="139" y="46"/>
                  </a:lnTo>
                  <a:lnTo>
                    <a:pt x="142" y="43"/>
                  </a:lnTo>
                  <a:lnTo>
                    <a:pt x="145" y="40"/>
                  </a:lnTo>
                  <a:lnTo>
                    <a:pt x="147" y="38"/>
                  </a:lnTo>
                  <a:lnTo>
                    <a:pt x="152" y="33"/>
                  </a:lnTo>
                  <a:lnTo>
                    <a:pt x="157" y="28"/>
                  </a:lnTo>
                  <a:lnTo>
                    <a:pt x="162" y="23"/>
                  </a:lnTo>
                  <a:lnTo>
                    <a:pt x="168" y="18"/>
                  </a:lnTo>
                  <a:lnTo>
                    <a:pt x="173" y="13"/>
                  </a:lnTo>
                  <a:lnTo>
                    <a:pt x="180" y="8"/>
                  </a:lnTo>
                  <a:lnTo>
                    <a:pt x="186" y="4"/>
                  </a:lnTo>
                  <a:lnTo>
                    <a:pt x="191" y="0"/>
                  </a:lnTo>
                  <a:lnTo>
                    <a:pt x="193" y="8"/>
                  </a:lnTo>
                  <a:lnTo>
                    <a:pt x="196" y="17"/>
                  </a:lnTo>
                  <a:lnTo>
                    <a:pt x="199" y="24"/>
                  </a:lnTo>
                  <a:lnTo>
                    <a:pt x="201" y="32"/>
                  </a:lnTo>
                  <a:lnTo>
                    <a:pt x="202" y="36"/>
                  </a:lnTo>
                  <a:lnTo>
                    <a:pt x="203" y="39"/>
                  </a:lnTo>
                  <a:lnTo>
                    <a:pt x="202" y="43"/>
                  </a:lnTo>
                  <a:lnTo>
                    <a:pt x="199" y="47"/>
                  </a:lnTo>
                  <a:lnTo>
                    <a:pt x="206" y="49"/>
                  </a:lnTo>
                  <a:lnTo>
                    <a:pt x="214" y="50"/>
                  </a:lnTo>
                  <a:lnTo>
                    <a:pt x="224" y="51"/>
                  </a:lnTo>
                  <a:lnTo>
                    <a:pt x="234" y="53"/>
                  </a:lnTo>
                  <a:lnTo>
                    <a:pt x="245" y="55"/>
                  </a:lnTo>
                  <a:lnTo>
                    <a:pt x="253" y="56"/>
                  </a:lnTo>
                  <a:lnTo>
                    <a:pt x="262" y="58"/>
                  </a:lnTo>
                  <a:lnTo>
                    <a:pt x="269" y="59"/>
                  </a:lnTo>
                  <a:lnTo>
                    <a:pt x="276" y="59"/>
                  </a:lnTo>
                  <a:lnTo>
                    <a:pt x="282" y="58"/>
                  </a:lnTo>
                  <a:lnTo>
                    <a:pt x="288" y="55"/>
                  </a:lnTo>
                  <a:lnTo>
                    <a:pt x="293" y="51"/>
                  </a:lnTo>
                  <a:lnTo>
                    <a:pt x="305" y="53"/>
                  </a:lnTo>
                  <a:lnTo>
                    <a:pt x="317" y="56"/>
                  </a:lnTo>
                  <a:lnTo>
                    <a:pt x="326" y="58"/>
                  </a:lnTo>
                  <a:lnTo>
                    <a:pt x="321" y="64"/>
                  </a:lnTo>
                  <a:lnTo>
                    <a:pt x="325" y="66"/>
                  </a:lnTo>
                  <a:lnTo>
                    <a:pt x="331" y="68"/>
                  </a:lnTo>
                  <a:lnTo>
                    <a:pt x="338" y="69"/>
                  </a:lnTo>
                  <a:lnTo>
                    <a:pt x="345" y="70"/>
                  </a:lnTo>
                  <a:lnTo>
                    <a:pt x="352" y="70"/>
                  </a:lnTo>
                  <a:lnTo>
                    <a:pt x="359" y="69"/>
                  </a:lnTo>
                  <a:lnTo>
                    <a:pt x="366" y="68"/>
                  </a:lnTo>
                  <a:lnTo>
                    <a:pt x="374" y="65"/>
                  </a:lnTo>
                  <a:lnTo>
                    <a:pt x="382" y="61"/>
                  </a:lnTo>
                  <a:lnTo>
                    <a:pt x="390" y="55"/>
                  </a:lnTo>
                  <a:lnTo>
                    <a:pt x="397" y="49"/>
                  </a:lnTo>
                  <a:lnTo>
                    <a:pt x="405" y="41"/>
                  </a:lnTo>
                  <a:lnTo>
                    <a:pt x="409" y="38"/>
                  </a:lnTo>
                  <a:lnTo>
                    <a:pt x="415" y="32"/>
                  </a:lnTo>
                  <a:lnTo>
                    <a:pt x="420" y="28"/>
                  </a:lnTo>
                  <a:lnTo>
                    <a:pt x="425" y="25"/>
                  </a:lnTo>
                  <a:lnTo>
                    <a:pt x="430" y="21"/>
                  </a:lnTo>
                  <a:lnTo>
                    <a:pt x="435" y="18"/>
                  </a:lnTo>
                  <a:lnTo>
                    <a:pt x="440" y="17"/>
                  </a:lnTo>
                  <a:lnTo>
                    <a:pt x="443" y="14"/>
                  </a:lnTo>
                  <a:lnTo>
                    <a:pt x="447" y="13"/>
                  </a:lnTo>
                  <a:lnTo>
                    <a:pt x="452" y="11"/>
                  </a:lnTo>
                  <a:lnTo>
                    <a:pt x="456" y="11"/>
                  </a:lnTo>
                  <a:lnTo>
                    <a:pt x="462" y="10"/>
                  </a:lnTo>
                  <a:lnTo>
                    <a:pt x="470" y="10"/>
                  </a:lnTo>
                  <a:lnTo>
                    <a:pt x="467" y="13"/>
                  </a:lnTo>
                  <a:lnTo>
                    <a:pt x="463" y="17"/>
                  </a:lnTo>
                  <a:lnTo>
                    <a:pt x="461" y="19"/>
                  </a:lnTo>
                  <a:lnTo>
                    <a:pt x="458" y="24"/>
                  </a:lnTo>
                  <a:lnTo>
                    <a:pt x="455" y="28"/>
                  </a:lnTo>
                  <a:lnTo>
                    <a:pt x="450" y="32"/>
                  </a:lnTo>
                  <a:lnTo>
                    <a:pt x="444" y="37"/>
                  </a:lnTo>
                  <a:lnTo>
                    <a:pt x="441" y="39"/>
                  </a:lnTo>
                  <a:lnTo>
                    <a:pt x="439" y="42"/>
                  </a:lnTo>
                  <a:lnTo>
                    <a:pt x="436" y="46"/>
                  </a:lnTo>
                  <a:lnTo>
                    <a:pt x="434" y="49"/>
                  </a:lnTo>
                  <a:lnTo>
                    <a:pt x="432" y="51"/>
                  </a:lnTo>
                  <a:lnTo>
                    <a:pt x="430" y="54"/>
                  </a:lnTo>
                  <a:lnTo>
                    <a:pt x="428" y="57"/>
                  </a:lnTo>
                  <a:lnTo>
                    <a:pt x="426" y="60"/>
                  </a:lnTo>
                  <a:lnTo>
                    <a:pt x="425" y="62"/>
                  </a:lnTo>
                  <a:lnTo>
                    <a:pt x="423" y="64"/>
                  </a:lnTo>
                  <a:lnTo>
                    <a:pt x="422" y="68"/>
                  </a:lnTo>
                  <a:lnTo>
                    <a:pt x="422" y="70"/>
                  </a:lnTo>
                  <a:lnTo>
                    <a:pt x="421" y="73"/>
                  </a:lnTo>
                  <a:lnTo>
                    <a:pt x="421" y="76"/>
                  </a:lnTo>
                  <a:lnTo>
                    <a:pt x="418" y="74"/>
                  </a:lnTo>
                  <a:lnTo>
                    <a:pt x="414" y="73"/>
                  </a:lnTo>
                  <a:lnTo>
                    <a:pt x="411" y="73"/>
                  </a:lnTo>
                  <a:lnTo>
                    <a:pt x="408" y="73"/>
                  </a:lnTo>
                  <a:lnTo>
                    <a:pt x="404" y="74"/>
                  </a:lnTo>
                  <a:lnTo>
                    <a:pt x="402" y="76"/>
                  </a:lnTo>
                  <a:lnTo>
                    <a:pt x="399" y="76"/>
                  </a:lnTo>
                  <a:lnTo>
                    <a:pt x="395" y="77"/>
                  </a:lnTo>
                  <a:lnTo>
                    <a:pt x="392" y="78"/>
                  </a:lnTo>
                  <a:lnTo>
                    <a:pt x="388" y="77"/>
                  </a:lnTo>
                  <a:lnTo>
                    <a:pt x="384" y="77"/>
                  </a:lnTo>
                  <a:lnTo>
                    <a:pt x="382" y="76"/>
                  </a:lnTo>
                  <a:lnTo>
                    <a:pt x="379" y="75"/>
                  </a:lnTo>
                  <a:lnTo>
                    <a:pt x="375" y="75"/>
                  </a:lnTo>
                  <a:lnTo>
                    <a:pt x="371" y="76"/>
                  </a:lnTo>
                  <a:lnTo>
                    <a:pt x="366" y="77"/>
                  </a:lnTo>
                  <a:lnTo>
                    <a:pt x="363" y="76"/>
                  </a:lnTo>
                  <a:lnTo>
                    <a:pt x="359" y="76"/>
                  </a:lnTo>
                  <a:lnTo>
                    <a:pt x="355" y="75"/>
                  </a:lnTo>
                  <a:lnTo>
                    <a:pt x="350" y="75"/>
                  </a:lnTo>
                  <a:lnTo>
                    <a:pt x="347" y="76"/>
                  </a:lnTo>
                  <a:lnTo>
                    <a:pt x="341" y="77"/>
                  </a:lnTo>
                  <a:lnTo>
                    <a:pt x="337" y="77"/>
                  </a:lnTo>
                  <a:lnTo>
                    <a:pt x="332" y="76"/>
                  </a:lnTo>
                  <a:lnTo>
                    <a:pt x="328" y="76"/>
                  </a:lnTo>
                  <a:lnTo>
                    <a:pt x="323" y="77"/>
                  </a:lnTo>
                  <a:lnTo>
                    <a:pt x="320" y="78"/>
                  </a:lnTo>
                  <a:lnTo>
                    <a:pt x="314" y="79"/>
                  </a:lnTo>
                  <a:lnTo>
                    <a:pt x="310" y="80"/>
                  </a:lnTo>
                  <a:lnTo>
                    <a:pt x="305" y="80"/>
                  </a:lnTo>
                  <a:lnTo>
                    <a:pt x="301" y="80"/>
                  </a:lnTo>
                  <a:lnTo>
                    <a:pt x="296" y="80"/>
                  </a:lnTo>
                  <a:lnTo>
                    <a:pt x="291" y="78"/>
                  </a:lnTo>
                  <a:lnTo>
                    <a:pt x="286" y="80"/>
                  </a:lnTo>
                  <a:lnTo>
                    <a:pt x="282" y="80"/>
                  </a:lnTo>
                  <a:lnTo>
                    <a:pt x="278" y="80"/>
                  </a:lnTo>
                  <a:lnTo>
                    <a:pt x="274" y="80"/>
                  </a:lnTo>
                  <a:lnTo>
                    <a:pt x="270" y="80"/>
                  </a:lnTo>
                  <a:lnTo>
                    <a:pt x="266" y="80"/>
                  </a:lnTo>
                  <a:lnTo>
                    <a:pt x="262" y="82"/>
                  </a:lnTo>
                  <a:lnTo>
                    <a:pt x="259" y="83"/>
                  </a:lnTo>
                  <a:lnTo>
                    <a:pt x="254" y="84"/>
                  </a:lnTo>
                  <a:lnTo>
                    <a:pt x="250" y="84"/>
                  </a:lnTo>
                  <a:lnTo>
                    <a:pt x="245" y="85"/>
                  </a:lnTo>
                  <a:lnTo>
                    <a:pt x="240" y="86"/>
                  </a:lnTo>
                  <a:lnTo>
                    <a:pt x="234" y="85"/>
                  </a:lnTo>
                  <a:lnTo>
                    <a:pt x="228" y="85"/>
                  </a:lnTo>
                  <a:lnTo>
                    <a:pt x="224" y="85"/>
                  </a:lnTo>
                  <a:lnTo>
                    <a:pt x="218" y="86"/>
                  </a:lnTo>
                  <a:lnTo>
                    <a:pt x="214" y="86"/>
                  </a:lnTo>
                  <a:lnTo>
                    <a:pt x="210" y="86"/>
                  </a:lnTo>
                  <a:lnTo>
                    <a:pt x="206" y="86"/>
                  </a:lnTo>
                  <a:lnTo>
                    <a:pt x="201" y="86"/>
                  </a:lnTo>
                  <a:lnTo>
                    <a:pt x="196" y="84"/>
                  </a:lnTo>
                  <a:lnTo>
                    <a:pt x="192" y="84"/>
                  </a:lnTo>
                  <a:lnTo>
                    <a:pt x="188" y="84"/>
                  </a:lnTo>
                  <a:lnTo>
                    <a:pt x="184" y="84"/>
                  </a:lnTo>
                  <a:lnTo>
                    <a:pt x="180" y="84"/>
                  </a:lnTo>
                  <a:lnTo>
                    <a:pt x="175" y="84"/>
                  </a:lnTo>
                  <a:lnTo>
                    <a:pt x="171" y="85"/>
                  </a:lnTo>
                  <a:lnTo>
                    <a:pt x="167" y="85"/>
                  </a:lnTo>
                  <a:lnTo>
                    <a:pt x="164" y="84"/>
                  </a:lnTo>
                  <a:lnTo>
                    <a:pt x="160" y="84"/>
                  </a:lnTo>
                  <a:lnTo>
                    <a:pt x="156" y="84"/>
                  </a:lnTo>
                  <a:lnTo>
                    <a:pt x="152" y="84"/>
                  </a:lnTo>
                  <a:lnTo>
                    <a:pt x="149" y="84"/>
                  </a:lnTo>
                  <a:lnTo>
                    <a:pt x="145" y="84"/>
                  </a:lnTo>
                  <a:lnTo>
                    <a:pt x="139" y="85"/>
                  </a:lnTo>
                  <a:lnTo>
                    <a:pt x="135" y="85"/>
                  </a:lnTo>
                  <a:lnTo>
                    <a:pt x="130" y="84"/>
                  </a:lnTo>
                  <a:lnTo>
                    <a:pt x="125" y="85"/>
                  </a:lnTo>
                  <a:lnTo>
                    <a:pt x="120" y="86"/>
                  </a:lnTo>
                  <a:lnTo>
                    <a:pt x="116" y="88"/>
                  </a:lnTo>
                  <a:lnTo>
                    <a:pt x="111" y="89"/>
                  </a:lnTo>
                  <a:lnTo>
                    <a:pt x="104" y="90"/>
                  </a:lnTo>
                  <a:lnTo>
                    <a:pt x="96" y="90"/>
                  </a:lnTo>
                  <a:lnTo>
                    <a:pt x="89" y="90"/>
                  </a:lnTo>
                  <a:lnTo>
                    <a:pt x="82" y="90"/>
                  </a:lnTo>
                  <a:lnTo>
                    <a:pt x="74" y="90"/>
                  </a:lnTo>
                  <a:lnTo>
                    <a:pt x="69" y="90"/>
                  </a:lnTo>
                  <a:lnTo>
                    <a:pt x="65" y="90"/>
                  </a:lnTo>
                  <a:lnTo>
                    <a:pt x="60" y="90"/>
                  </a:lnTo>
                  <a:lnTo>
                    <a:pt x="54" y="90"/>
                  </a:lnTo>
                  <a:lnTo>
                    <a:pt x="46" y="87"/>
                  </a:lnTo>
                  <a:lnTo>
                    <a:pt x="40" y="87"/>
                  </a:lnTo>
                  <a:lnTo>
                    <a:pt x="35" y="88"/>
                  </a:lnTo>
                  <a:lnTo>
                    <a:pt x="29" y="88"/>
                  </a:lnTo>
                  <a:lnTo>
                    <a:pt x="25" y="88"/>
                  </a:lnTo>
                  <a:lnTo>
                    <a:pt x="20" y="87"/>
                  </a:lnTo>
                  <a:lnTo>
                    <a:pt x="15" y="86"/>
                  </a:lnTo>
                  <a:lnTo>
                    <a:pt x="10" y="85"/>
                  </a:lnTo>
                  <a:lnTo>
                    <a:pt x="5" y="84"/>
                  </a:lnTo>
                  <a:lnTo>
                    <a:pt x="0" y="83"/>
                  </a:lnTo>
                  <a:lnTo>
                    <a:pt x="0" y="82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08" name="Group 543"/>
            <p:cNvGrpSpPr>
              <a:grpSpLocks/>
            </p:cNvGrpSpPr>
            <p:nvPr/>
          </p:nvGrpSpPr>
          <p:grpSpPr bwMode="auto">
            <a:xfrm>
              <a:off x="3251" y="2465"/>
              <a:ext cx="69" cy="51"/>
              <a:chOff x="3170" y="2649"/>
              <a:chExt cx="69" cy="51"/>
            </a:xfrm>
          </p:grpSpPr>
          <p:sp>
            <p:nvSpPr>
              <p:cNvPr id="8333" name="Freeform 544" descr="50%"/>
              <p:cNvSpPr>
                <a:spLocks/>
              </p:cNvSpPr>
              <p:nvPr/>
            </p:nvSpPr>
            <p:spPr bwMode="auto">
              <a:xfrm>
                <a:off x="3170" y="2655"/>
                <a:ext cx="69" cy="45"/>
              </a:xfrm>
              <a:custGeom>
                <a:avLst/>
                <a:gdLst>
                  <a:gd name="T0" fmla="*/ 64 w 69"/>
                  <a:gd name="T1" fmla="*/ 39 h 45"/>
                  <a:gd name="T2" fmla="*/ 60 w 69"/>
                  <a:gd name="T3" fmla="*/ 35 h 45"/>
                  <a:gd name="T4" fmla="*/ 58 w 69"/>
                  <a:gd name="T5" fmla="*/ 33 h 45"/>
                  <a:gd name="T6" fmla="*/ 56 w 69"/>
                  <a:gd name="T7" fmla="*/ 31 h 45"/>
                  <a:gd name="T8" fmla="*/ 54 w 69"/>
                  <a:gd name="T9" fmla="*/ 28 h 45"/>
                  <a:gd name="T10" fmla="*/ 52 w 69"/>
                  <a:gd name="T11" fmla="*/ 26 h 45"/>
                  <a:gd name="T12" fmla="*/ 50 w 69"/>
                  <a:gd name="T13" fmla="*/ 23 h 45"/>
                  <a:gd name="T14" fmla="*/ 48 w 69"/>
                  <a:gd name="T15" fmla="*/ 21 h 45"/>
                  <a:gd name="T16" fmla="*/ 47 w 69"/>
                  <a:gd name="T17" fmla="*/ 17 h 45"/>
                  <a:gd name="T18" fmla="*/ 46 w 69"/>
                  <a:gd name="T19" fmla="*/ 14 h 45"/>
                  <a:gd name="T20" fmla="*/ 45 w 69"/>
                  <a:gd name="T21" fmla="*/ 11 h 45"/>
                  <a:gd name="T22" fmla="*/ 44 w 69"/>
                  <a:gd name="T23" fmla="*/ 8 h 45"/>
                  <a:gd name="T24" fmla="*/ 44 w 69"/>
                  <a:gd name="T25" fmla="*/ 4 h 45"/>
                  <a:gd name="T26" fmla="*/ 44 w 69"/>
                  <a:gd name="T27" fmla="*/ 0 h 45"/>
                  <a:gd name="T28" fmla="*/ 0 w 69"/>
                  <a:gd name="T29" fmla="*/ 0 h 45"/>
                  <a:gd name="T30" fmla="*/ 1 w 69"/>
                  <a:gd name="T31" fmla="*/ 3 h 45"/>
                  <a:gd name="T32" fmla="*/ 3 w 69"/>
                  <a:gd name="T33" fmla="*/ 6 h 45"/>
                  <a:gd name="T34" fmla="*/ 5 w 69"/>
                  <a:gd name="T35" fmla="*/ 9 h 45"/>
                  <a:gd name="T36" fmla="*/ 8 w 69"/>
                  <a:gd name="T37" fmla="*/ 12 h 45"/>
                  <a:gd name="T38" fmla="*/ 11 w 69"/>
                  <a:gd name="T39" fmla="*/ 16 h 45"/>
                  <a:gd name="T40" fmla="*/ 14 w 69"/>
                  <a:gd name="T41" fmla="*/ 19 h 45"/>
                  <a:gd name="T42" fmla="*/ 18 w 69"/>
                  <a:gd name="T43" fmla="*/ 22 h 45"/>
                  <a:gd name="T44" fmla="*/ 21 w 69"/>
                  <a:gd name="T45" fmla="*/ 25 h 45"/>
                  <a:gd name="T46" fmla="*/ 25 w 69"/>
                  <a:gd name="T47" fmla="*/ 28 h 45"/>
                  <a:gd name="T48" fmla="*/ 30 w 69"/>
                  <a:gd name="T49" fmla="*/ 32 h 45"/>
                  <a:gd name="T50" fmla="*/ 34 w 69"/>
                  <a:gd name="T51" fmla="*/ 34 h 45"/>
                  <a:gd name="T52" fmla="*/ 38 w 69"/>
                  <a:gd name="T53" fmla="*/ 36 h 45"/>
                  <a:gd name="T54" fmla="*/ 41 w 69"/>
                  <a:gd name="T55" fmla="*/ 38 h 45"/>
                  <a:gd name="T56" fmla="*/ 45 w 69"/>
                  <a:gd name="T57" fmla="*/ 39 h 45"/>
                  <a:gd name="T58" fmla="*/ 49 w 69"/>
                  <a:gd name="T59" fmla="*/ 41 h 45"/>
                  <a:gd name="T60" fmla="*/ 53 w 69"/>
                  <a:gd name="T61" fmla="*/ 42 h 45"/>
                  <a:gd name="T62" fmla="*/ 58 w 69"/>
                  <a:gd name="T63" fmla="*/ 43 h 45"/>
                  <a:gd name="T64" fmla="*/ 62 w 69"/>
                  <a:gd name="T65" fmla="*/ 43 h 45"/>
                  <a:gd name="T66" fmla="*/ 65 w 69"/>
                  <a:gd name="T67" fmla="*/ 43 h 45"/>
                  <a:gd name="T68" fmla="*/ 68 w 69"/>
                  <a:gd name="T69" fmla="*/ 44 h 45"/>
                  <a:gd name="T70" fmla="*/ 64 w 69"/>
                  <a:gd name="T71" fmla="*/ 39 h 4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69" h="45">
                    <a:moveTo>
                      <a:pt x="64" y="39"/>
                    </a:moveTo>
                    <a:lnTo>
                      <a:pt x="60" y="35"/>
                    </a:lnTo>
                    <a:lnTo>
                      <a:pt x="58" y="33"/>
                    </a:lnTo>
                    <a:lnTo>
                      <a:pt x="56" y="31"/>
                    </a:lnTo>
                    <a:lnTo>
                      <a:pt x="54" y="28"/>
                    </a:lnTo>
                    <a:lnTo>
                      <a:pt x="52" y="26"/>
                    </a:lnTo>
                    <a:lnTo>
                      <a:pt x="50" y="23"/>
                    </a:lnTo>
                    <a:lnTo>
                      <a:pt x="48" y="21"/>
                    </a:lnTo>
                    <a:lnTo>
                      <a:pt x="47" y="17"/>
                    </a:lnTo>
                    <a:lnTo>
                      <a:pt x="46" y="14"/>
                    </a:lnTo>
                    <a:lnTo>
                      <a:pt x="45" y="11"/>
                    </a:lnTo>
                    <a:lnTo>
                      <a:pt x="44" y="8"/>
                    </a:lnTo>
                    <a:lnTo>
                      <a:pt x="44" y="4"/>
                    </a:lnTo>
                    <a:lnTo>
                      <a:pt x="44" y="0"/>
                    </a:lnTo>
                    <a:lnTo>
                      <a:pt x="0" y="0"/>
                    </a:lnTo>
                    <a:lnTo>
                      <a:pt x="1" y="3"/>
                    </a:lnTo>
                    <a:lnTo>
                      <a:pt x="3" y="6"/>
                    </a:lnTo>
                    <a:lnTo>
                      <a:pt x="5" y="9"/>
                    </a:lnTo>
                    <a:lnTo>
                      <a:pt x="8" y="12"/>
                    </a:lnTo>
                    <a:lnTo>
                      <a:pt x="11" y="16"/>
                    </a:lnTo>
                    <a:lnTo>
                      <a:pt x="14" y="19"/>
                    </a:lnTo>
                    <a:lnTo>
                      <a:pt x="18" y="22"/>
                    </a:lnTo>
                    <a:lnTo>
                      <a:pt x="21" y="25"/>
                    </a:lnTo>
                    <a:lnTo>
                      <a:pt x="25" y="28"/>
                    </a:lnTo>
                    <a:lnTo>
                      <a:pt x="30" y="32"/>
                    </a:lnTo>
                    <a:lnTo>
                      <a:pt x="34" y="34"/>
                    </a:lnTo>
                    <a:lnTo>
                      <a:pt x="38" y="36"/>
                    </a:lnTo>
                    <a:lnTo>
                      <a:pt x="41" y="38"/>
                    </a:lnTo>
                    <a:lnTo>
                      <a:pt x="45" y="39"/>
                    </a:lnTo>
                    <a:lnTo>
                      <a:pt x="49" y="41"/>
                    </a:lnTo>
                    <a:lnTo>
                      <a:pt x="53" y="42"/>
                    </a:lnTo>
                    <a:lnTo>
                      <a:pt x="58" y="43"/>
                    </a:lnTo>
                    <a:lnTo>
                      <a:pt x="62" y="43"/>
                    </a:lnTo>
                    <a:lnTo>
                      <a:pt x="65" y="43"/>
                    </a:lnTo>
                    <a:lnTo>
                      <a:pt x="68" y="44"/>
                    </a:lnTo>
                    <a:lnTo>
                      <a:pt x="64" y="39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34" name="Freeform 545" descr="50%"/>
              <p:cNvSpPr>
                <a:spLocks/>
              </p:cNvSpPr>
              <p:nvPr/>
            </p:nvSpPr>
            <p:spPr bwMode="auto">
              <a:xfrm>
                <a:off x="3171" y="2649"/>
                <a:ext cx="36" cy="6"/>
              </a:xfrm>
              <a:custGeom>
                <a:avLst/>
                <a:gdLst>
                  <a:gd name="T0" fmla="*/ 0 w 36"/>
                  <a:gd name="T1" fmla="*/ 5 h 6"/>
                  <a:gd name="T2" fmla="*/ 0 w 36"/>
                  <a:gd name="T3" fmla="*/ 3 h 6"/>
                  <a:gd name="T4" fmla="*/ 1 w 36"/>
                  <a:gd name="T5" fmla="*/ 0 h 6"/>
                  <a:gd name="T6" fmla="*/ 35 w 36"/>
                  <a:gd name="T7" fmla="*/ 0 h 6"/>
                  <a:gd name="T8" fmla="*/ 35 w 36"/>
                  <a:gd name="T9" fmla="*/ 5 h 6"/>
                  <a:gd name="T10" fmla="*/ 0 w 36"/>
                  <a:gd name="T11" fmla="*/ 5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6" h="6">
                    <a:moveTo>
                      <a:pt x="0" y="5"/>
                    </a:moveTo>
                    <a:lnTo>
                      <a:pt x="0" y="3"/>
                    </a:lnTo>
                    <a:lnTo>
                      <a:pt x="1" y="0"/>
                    </a:lnTo>
                    <a:lnTo>
                      <a:pt x="35" y="0"/>
                    </a:lnTo>
                    <a:lnTo>
                      <a:pt x="35" y="5"/>
                    </a:lnTo>
                    <a:lnTo>
                      <a:pt x="0" y="5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209" name="Freeform 546" descr="50%"/>
            <p:cNvSpPr>
              <a:spLocks/>
            </p:cNvSpPr>
            <p:nvPr/>
          </p:nvSpPr>
          <p:spPr bwMode="auto">
            <a:xfrm>
              <a:off x="2747" y="2457"/>
              <a:ext cx="58" cy="46"/>
            </a:xfrm>
            <a:custGeom>
              <a:avLst/>
              <a:gdLst>
                <a:gd name="T0" fmla="*/ 0 w 58"/>
                <a:gd name="T1" fmla="*/ 0 h 46"/>
                <a:gd name="T2" fmla="*/ 2 w 58"/>
                <a:gd name="T3" fmla="*/ 5 h 46"/>
                <a:gd name="T4" fmla="*/ 5 w 58"/>
                <a:gd name="T5" fmla="*/ 9 h 46"/>
                <a:gd name="T6" fmla="*/ 9 w 58"/>
                <a:gd name="T7" fmla="*/ 14 h 46"/>
                <a:gd name="T8" fmla="*/ 12 w 58"/>
                <a:gd name="T9" fmla="*/ 18 h 46"/>
                <a:gd name="T10" fmla="*/ 16 w 58"/>
                <a:gd name="T11" fmla="*/ 23 h 46"/>
                <a:gd name="T12" fmla="*/ 21 w 58"/>
                <a:gd name="T13" fmla="*/ 28 h 46"/>
                <a:gd name="T14" fmla="*/ 24 w 58"/>
                <a:gd name="T15" fmla="*/ 32 h 46"/>
                <a:gd name="T16" fmla="*/ 28 w 58"/>
                <a:gd name="T17" fmla="*/ 35 h 46"/>
                <a:gd name="T18" fmla="*/ 32 w 58"/>
                <a:gd name="T19" fmla="*/ 38 h 46"/>
                <a:gd name="T20" fmla="*/ 36 w 58"/>
                <a:gd name="T21" fmla="*/ 40 h 46"/>
                <a:gd name="T22" fmla="*/ 41 w 58"/>
                <a:gd name="T23" fmla="*/ 42 h 46"/>
                <a:gd name="T24" fmla="*/ 45 w 58"/>
                <a:gd name="T25" fmla="*/ 44 h 46"/>
                <a:gd name="T26" fmla="*/ 50 w 58"/>
                <a:gd name="T27" fmla="*/ 45 h 46"/>
                <a:gd name="T28" fmla="*/ 54 w 58"/>
                <a:gd name="T29" fmla="*/ 45 h 46"/>
                <a:gd name="T30" fmla="*/ 57 w 58"/>
                <a:gd name="T31" fmla="*/ 44 h 46"/>
                <a:gd name="T32" fmla="*/ 54 w 58"/>
                <a:gd name="T33" fmla="*/ 41 h 46"/>
                <a:gd name="T34" fmla="*/ 51 w 58"/>
                <a:gd name="T35" fmla="*/ 37 h 46"/>
                <a:gd name="T36" fmla="*/ 48 w 58"/>
                <a:gd name="T37" fmla="*/ 33 h 46"/>
                <a:gd name="T38" fmla="*/ 45 w 58"/>
                <a:gd name="T39" fmla="*/ 29 h 46"/>
                <a:gd name="T40" fmla="*/ 42 w 58"/>
                <a:gd name="T41" fmla="*/ 24 h 46"/>
                <a:gd name="T42" fmla="*/ 40 w 58"/>
                <a:gd name="T43" fmla="*/ 20 h 46"/>
                <a:gd name="T44" fmla="*/ 38 w 58"/>
                <a:gd name="T45" fmla="*/ 16 h 46"/>
                <a:gd name="T46" fmla="*/ 37 w 58"/>
                <a:gd name="T47" fmla="*/ 10 h 46"/>
                <a:gd name="T48" fmla="*/ 37 w 58"/>
                <a:gd name="T49" fmla="*/ 5 h 46"/>
                <a:gd name="T50" fmla="*/ 37 w 58"/>
                <a:gd name="T51" fmla="*/ 1 h 46"/>
                <a:gd name="T52" fmla="*/ 0 w 58"/>
                <a:gd name="T53" fmla="*/ 0 h 4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58" h="46">
                  <a:moveTo>
                    <a:pt x="0" y="0"/>
                  </a:moveTo>
                  <a:lnTo>
                    <a:pt x="2" y="5"/>
                  </a:lnTo>
                  <a:lnTo>
                    <a:pt x="5" y="9"/>
                  </a:lnTo>
                  <a:lnTo>
                    <a:pt x="9" y="14"/>
                  </a:lnTo>
                  <a:lnTo>
                    <a:pt x="12" y="18"/>
                  </a:lnTo>
                  <a:lnTo>
                    <a:pt x="16" y="23"/>
                  </a:lnTo>
                  <a:lnTo>
                    <a:pt x="21" y="28"/>
                  </a:lnTo>
                  <a:lnTo>
                    <a:pt x="24" y="32"/>
                  </a:lnTo>
                  <a:lnTo>
                    <a:pt x="28" y="35"/>
                  </a:lnTo>
                  <a:lnTo>
                    <a:pt x="32" y="38"/>
                  </a:lnTo>
                  <a:lnTo>
                    <a:pt x="36" y="40"/>
                  </a:lnTo>
                  <a:lnTo>
                    <a:pt x="41" y="42"/>
                  </a:lnTo>
                  <a:lnTo>
                    <a:pt x="45" y="44"/>
                  </a:lnTo>
                  <a:lnTo>
                    <a:pt x="50" y="45"/>
                  </a:lnTo>
                  <a:lnTo>
                    <a:pt x="54" y="45"/>
                  </a:lnTo>
                  <a:lnTo>
                    <a:pt x="57" y="44"/>
                  </a:lnTo>
                  <a:lnTo>
                    <a:pt x="54" y="41"/>
                  </a:lnTo>
                  <a:lnTo>
                    <a:pt x="51" y="37"/>
                  </a:lnTo>
                  <a:lnTo>
                    <a:pt x="48" y="33"/>
                  </a:lnTo>
                  <a:lnTo>
                    <a:pt x="45" y="29"/>
                  </a:lnTo>
                  <a:lnTo>
                    <a:pt x="42" y="24"/>
                  </a:lnTo>
                  <a:lnTo>
                    <a:pt x="40" y="20"/>
                  </a:lnTo>
                  <a:lnTo>
                    <a:pt x="38" y="16"/>
                  </a:lnTo>
                  <a:lnTo>
                    <a:pt x="37" y="10"/>
                  </a:lnTo>
                  <a:lnTo>
                    <a:pt x="37" y="5"/>
                  </a:lnTo>
                  <a:lnTo>
                    <a:pt x="37" y="1"/>
                  </a:lnTo>
                  <a:lnTo>
                    <a:pt x="0" y="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0" name="Freeform 547" descr="50%"/>
            <p:cNvSpPr>
              <a:spLocks/>
            </p:cNvSpPr>
            <p:nvPr/>
          </p:nvSpPr>
          <p:spPr bwMode="auto">
            <a:xfrm>
              <a:off x="2626" y="2349"/>
              <a:ext cx="481" cy="145"/>
            </a:xfrm>
            <a:custGeom>
              <a:avLst/>
              <a:gdLst>
                <a:gd name="T0" fmla="*/ 5 w 481"/>
                <a:gd name="T1" fmla="*/ 85 h 145"/>
                <a:gd name="T2" fmla="*/ 20 w 481"/>
                <a:gd name="T3" fmla="*/ 80 h 145"/>
                <a:gd name="T4" fmla="*/ 42 w 481"/>
                <a:gd name="T5" fmla="*/ 73 h 145"/>
                <a:gd name="T6" fmla="*/ 65 w 481"/>
                <a:gd name="T7" fmla="*/ 68 h 145"/>
                <a:gd name="T8" fmla="*/ 89 w 481"/>
                <a:gd name="T9" fmla="*/ 63 h 145"/>
                <a:gd name="T10" fmla="*/ 112 w 481"/>
                <a:gd name="T11" fmla="*/ 58 h 145"/>
                <a:gd name="T12" fmla="*/ 132 w 481"/>
                <a:gd name="T13" fmla="*/ 54 h 145"/>
                <a:gd name="T14" fmla="*/ 143 w 481"/>
                <a:gd name="T15" fmla="*/ 48 h 145"/>
                <a:gd name="T16" fmla="*/ 155 w 481"/>
                <a:gd name="T17" fmla="*/ 37 h 145"/>
                <a:gd name="T18" fmla="*/ 171 w 481"/>
                <a:gd name="T19" fmla="*/ 20 h 145"/>
                <a:gd name="T20" fmla="*/ 188 w 481"/>
                <a:gd name="T21" fmla="*/ 5 h 145"/>
                <a:gd name="T22" fmla="*/ 200 w 481"/>
                <a:gd name="T23" fmla="*/ 17 h 145"/>
                <a:gd name="T24" fmla="*/ 207 w 481"/>
                <a:gd name="T25" fmla="*/ 43 h 145"/>
                <a:gd name="T26" fmla="*/ 211 w 481"/>
                <a:gd name="T27" fmla="*/ 53 h 145"/>
                <a:gd name="T28" fmla="*/ 239 w 481"/>
                <a:gd name="T29" fmla="*/ 57 h 145"/>
                <a:gd name="T30" fmla="*/ 267 w 481"/>
                <a:gd name="T31" fmla="*/ 63 h 145"/>
                <a:gd name="T32" fmla="*/ 288 w 481"/>
                <a:gd name="T33" fmla="*/ 63 h 145"/>
                <a:gd name="T34" fmla="*/ 310 w 481"/>
                <a:gd name="T35" fmla="*/ 58 h 145"/>
                <a:gd name="T36" fmla="*/ 327 w 481"/>
                <a:gd name="T37" fmla="*/ 70 h 145"/>
                <a:gd name="T38" fmla="*/ 344 w 481"/>
                <a:gd name="T39" fmla="*/ 75 h 145"/>
                <a:gd name="T40" fmla="*/ 365 w 481"/>
                <a:gd name="T41" fmla="*/ 75 h 145"/>
                <a:gd name="T42" fmla="*/ 388 w 481"/>
                <a:gd name="T43" fmla="*/ 66 h 145"/>
                <a:gd name="T44" fmla="*/ 413 w 481"/>
                <a:gd name="T45" fmla="*/ 45 h 145"/>
                <a:gd name="T46" fmla="*/ 442 w 481"/>
                <a:gd name="T47" fmla="*/ 20 h 145"/>
                <a:gd name="T48" fmla="*/ 471 w 481"/>
                <a:gd name="T49" fmla="*/ 11 h 145"/>
                <a:gd name="T50" fmla="*/ 472 w 481"/>
                <a:gd name="T51" fmla="*/ 19 h 145"/>
                <a:gd name="T52" fmla="*/ 458 w 481"/>
                <a:gd name="T53" fmla="*/ 37 h 145"/>
                <a:gd name="T54" fmla="*/ 442 w 481"/>
                <a:gd name="T55" fmla="*/ 54 h 145"/>
                <a:gd name="T56" fmla="*/ 431 w 481"/>
                <a:gd name="T57" fmla="*/ 71 h 145"/>
                <a:gd name="T58" fmla="*/ 431 w 481"/>
                <a:gd name="T59" fmla="*/ 89 h 145"/>
                <a:gd name="T60" fmla="*/ 443 w 481"/>
                <a:gd name="T61" fmla="*/ 108 h 145"/>
                <a:gd name="T62" fmla="*/ 457 w 481"/>
                <a:gd name="T63" fmla="*/ 122 h 145"/>
                <a:gd name="T64" fmla="*/ 470 w 481"/>
                <a:gd name="T65" fmla="*/ 133 h 145"/>
                <a:gd name="T66" fmla="*/ 471 w 481"/>
                <a:gd name="T67" fmla="*/ 138 h 145"/>
                <a:gd name="T68" fmla="*/ 453 w 481"/>
                <a:gd name="T69" fmla="*/ 138 h 145"/>
                <a:gd name="T70" fmla="*/ 437 w 481"/>
                <a:gd name="T71" fmla="*/ 134 h 145"/>
                <a:gd name="T72" fmla="*/ 421 w 481"/>
                <a:gd name="T73" fmla="*/ 126 h 145"/>
                <a:gd name="T74" fmla="*/ 396 w 481"/>
                <a:gd name="T75" fmla="*/ 109 h 145"/>
                <a:gd name="T76" fmla="*/ 365 w 481"/>
                <a:gd name="T77" fmla="*/ 107 h 145"/>
                <a:gd name="T78" fmla="*/ 328 w 481"/>
                <a:gd name="T79" fmla="*/ 111 h 145"/>
                <a:gd name="T80" fmla="*/ 304 w 481"/>
                <a:gd name="T81" fmla="*/ 121 h 145"/>
                <a:gd name="T82" fmla="*/ 296 w 481"/>
                <a:gd name="T83" fmla="*/ 132 h 145"/>
                <a:gd name="T84" fmla="*/ 263 w 481"/>
                <a:gd name="T85" fmla="*/ 131 h 145"/>
                <a:gd name="T86" fmla="*/ 235 w 481"/>
                <a:gd name="T87" fmla="*/ 140 h 145"/>
                <a:gd name="T88" fmla="*/ 130 w 481"/>
                <a:gd name="T89" fmla="*/ 144 h 145"/>
                <a:gd name="T90" fmla="*/ 70 w 481"/>
                <a:gd name="T91" fmla="*/ 138 h 145"/>
                <a:gd name="T92" fmla="*/ 17 w 481"/>
                <a:gd name="T93" fmla="*/ 120 h 145"/>
                <a:gd name="T94" fmla="*/ 17 w 481"/>
                <a:gd name="T95" fmla="*/ 110 h 145"/>
                <a:gd name="T96" fmla="*/ 5 w 481"/>
                <a:gd name="T97" fmla="*/ 99 h 145"/>
                <a:gd name="T98" fmla="*/ 1 w 481"/>
                <a:gd name="T99" fmla="*/ 92 h 14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481" h="145">
                  <a:moveTo>
                    <a:pt x="0" y="89"/>
                  </a:moveTo>
                  <a:lnTo>
                    <a:pt x="2" y="88"/>
                  </a:lnTo>
                  <a:lnTo>
                    <a:pt x="5" y="85"/>
                  </a:lnTo>
                  <a:lnTo>
                    <a:pt x="11" y="83"/>
                  </a:lnTo>
                  <a:lnTo>
                    <a:pt x="15" y="82"/>
                  </a:lnTo>
                  <a:lnTo>
                    <a:pt x="20" y="80"/>
                  </a:lnTo>
                  <a:lnTo>
                    <a:pt x="27" y="77"/>
                  </a:lnTo>
                  <a:lnTo>
                    <a:pt x="35" y="75"/>
                  </a:lnTo>
                  <a:lnTo>
                    <a:pt x="42" y="73"/>
                  </a:lnTo>
                  <a:lnTo>
                    <a:pt x="49" y="71"/>
                  </a:lnTo>
                  <a:lnTo>
                    <a:pt x="57" y="69"/>
                  </a:lnTo>
                  <a:lnTo>
                    <a:pt x="65" y="68"/>
                  </a:lnTo>
                  <a:lnTo>
                    <a:pt x="74" y="66"/>
                  </a:lnTo>
                  <a:lnTo>
                    <a:pt x="81" y="64"/>
                  </a:lnTo>
                  <a:lnTo>
                    <a:pt x="89" y="63"/>
                  </a:lnTo>
                  <a:lnTo>
                    <a:pt x="95" y="62"/>
                  </a:lnTo>
                  <a:lnTo>
                    <a:pt x="105" y="60"/>
                  </a:lnTo>
                  <a:lnTo>
                    <a:pt x="112" y="58"/>
                  </a:lnTo>
                  <a:lnTo>
                    <a:pt x="120" y="57"/>
                  </a:lnTo>
                  <a:lnTo>
                    <a:pt x="126" y="56"/>
                  </a:lnTo>
                  <a:lnTo>
                    <a:pt x="132" y="54"/>
                  </a:lnTo>
                  <a:lnTo>
                    <a:pt x="137" y="52"/>
                  </a:lnTo>
                  <a:lnTo>
                    <a:pt x="140" y="51"/>
                  </a:lnTo>
                  <a:lnTo>
                    <a:pt x="143" y="48"/>
                  </a:lnTo>
                  <a:lnTo>
                    <a:pt x="147" y="45"/>
                  </a:lnTo>
                  <a:lnTo>
                    <a:pt x="150" y="41"/>
                  </a:lnTo>
                  <a:lnTo>
                    <a:pt x="155" y="37"/>
                  </a:lnTo>
                  <a:lnTo>
                    <a:pt x="160" y="31"/>
                  </a:lnTo>
                  <a:lnTo>
                    <a:pt x="165" y="25"/>
                  </a:lnTo>
                  <a:lnTo>
                    <a:pt x="171" y="20"/>
                  </a:lnTo>
                  <a:lnTo>
                    <a:pt x="176" y="14"/>
                  </a:lnTo>
                  <a:lnTo>
                    <a:pt x="182" y="10"/>
                  </a:lnTo>
                  <a:lnTo>
                    <a:pt x="188" y="5"/>
                  </a:lnTo>
                  <a:lnTo>
                    <a:pt x="195" y="0"/>
                  </a:lnTo>
                  <a:lnTo>
                    <a:pt x="197" y="9"/>
                  </a:lnTo>
                  <a:lnTo>
                    <a:pt x="200" y="17"/>
                  </a:lnTo>
                  <a:lnTo>
                    <a:pt x="203" y="26"/>
                  </a:lnTo>
                  <a:lnTo>
                    <a:pt x="205" y="35"/>
                  </a:lnTo>
                  <a:lnTo>
                    <a:pt x="207" y="43"/>
                  </a:lnTo>
                  <a:lnTo>
                    <a:pt x="206" y="47"/>
                  </a:lnTo>
                  <a:lnTo>
                    <a:pt x="203" y="51"/>
                  </a:lnTo>
                  <a:lnTo>
                    <a:pt x="211" y="53"/>
                  </a:lnTo>
                  <a:lnTo>
                    <a:pt x="218" y="54"/>
                  </a:lnTo>
                  <a:lnTo>
                    <a:pt x="228" y="56"/>
                  </a:lnTo>
                  <a:lnTo>
                    <a:pt x="239" y="57"/>
                  </a:lnTo>
                  <a:lnTo>
                    <a:pt x="249" y="60"/>
                  </a:lnTo>
                  <a:lnTo>
                    <a:pt x="258" y="61"/>
                  </a:lnTo>
                  <a:lnTo>
                    <a:pt x="267" y="63"/>
                  </a:lnTo>
                  <a:lnTo>
                    <a:pt x="275" y="64"/>
                  </a:lnTo>
                  <a:lnTo>
                    <a:pt x="282" y="64"/>
                  </a:lnTo>
                  <a:lnTo>
                    <a:pt x="288" y="63"/>
                  </a:lnTo>
                  <a:lnTo>
                    <a:pt x="293" y="60"/>
                  </a:lnTo>
                  <a:lnTo>
                    <a:pt x="298" y="56"/>
                  </a:lnTo>
                  <a:lnTo>
                    <a:pt x="310" y="58"/>
                  </a:lnTo>
                  <a:lnTo>
                    <a:pt x="323" y="61"/>
                  </a:lnTo>
                  <a:lnTo>
                    <a:pt x="334" y="63"/>
                  </a:lnTo>
                  <a:lnTo>
                    <a:pt x="327" y="70"/>
                  </a:lnTo>
                  <a:lnTo>
                    <a:pt x="331" y="72"/>
                  </a:lnTo>
                  <a:lnTo>
                    <a:pt x="337" y="74"/>
                  </a:lnTo>
                  <a:lnTo>
                    <a:pt x="344" y="75"/>
                  </a:lnTo>
                  <a:lnTo>
                    <a:pt x="351" y="76"/>
                  </a:lnTo>
                  <a:lnTo>
                    <a:pt x="358" y="76"/>
                  </a:lnTo>
                  <a:lnTo>
                    <a:pt x="365" y="75"/>
                  </a:lnTo>
                  <a:lnTo>
                    <a:pt x="373" y="73"/>
                  </a:lnTo>
                  <a:lnTo>
                    <a:pt x="381" y="71"/>
                  </a:lnTo>
                  <a:lnTo>
                    <a:pt x="388" y="66"/>
                  </a:lnTo>
                  <a:lnTo>
                    <a:pt x="397" y="60"/>
                  </a:lnTo>
                  <a:lnTo>
                    <a:pt x="404" y="54"/>
                  </a:lnTo>
                  <a:lnTo>
                    <a:pt x="413" y="45"/>
                  </a:lnTo>
                  <a:lnTo>
                    <a:pt x="422" y="35"/>
                  </a:lnTo>
                  <a:lnTo>
                    <a:pt x="433" y="27"/>
                  </a:lnTo>
                  <a:lnTo>
                    <a:pt x="442" y="20"/>
                  </a:lnTo>
                  <a:lnTo>
                    <a:pt x="451" y="15"/>
                  </a:lnTo>
                  <a:lnTo>
                    <a:pt x="460" y="12"/>
                  </a:lnTo>
                  <a:lnTo>
                    <a:pt x="471" y="11"/>
                  </a:lnTo>
                  <a:lnTo>
                    <a:pt x="480" y="11"/>
                  </a:lnTo>
                  <a:lnTo>
                    <a:pt x="475" y="15"/>
                  </a:lnTo>
                  <a:lnTo>
                    <a:pt x="472" y="19"/>
                  </a:lnTo>
                  <a:lnTo>
                    <a:pt x="470" y="22"/>
                  </a:lnTo>
                  <a:lnTo>
                    <a:pt x="463" y="32"/>
                  </a:lnTo>
                  <a:lnTo>
                    <a:pt x="458" y="37"/>
                  </a:lnTo>
                  <a:lnTo>
                    <a:pt x="452" y="42"/>
                  </a:lnTo>
                  <a:lnTo>
                    <a:pt x="446" y="48"/>
                  </a:lnTo>
                  <a:lnTo>
                    <a:pt x="442" y="54"/>
                  </a:lnTo>
                  <a:lnTo>
                    <a:pt x="438" y="60"/>
                  </a:lnTo>
                  <a:lnTo>
                    <a:pt x="434" y="66"/>
                  </a:lnTo>
                  <a:lnTo>
                    <a:pt x="431" y="71"/>
                  </a:lnTo>
                  <a:lnTo>
                    <a:pt x="430" y="77"/>
                  </a:lnTo>
                  <a:lnTo>
                    <a:pt x="429" y="83"/>
                  </a:lnTo>
                  <a:lnTo>
                    <a:pt x="431" y="89"/>
                  </a:lnTo>
                  <a:lnTo>
                    <a:pt x="434" y="96"/>
                  </a:lnTo>
                  <a:lnTo>
                    <a:pt x="438" y="102"/>
                  </a:lnTo>
                  <a:lnTo>
                    <a:pt x="443" y="108"/>
                  </a:lnTo>
                  <a:lnTo>
                    <a:pt x="447" y="112"/>
                  </a:lnTo>
                  <a:lnTo>
                    <a:pt x="452" y="116"/>
                  </a:lnTo>
                  <a:lnTo>
                    <a:pt x="457" y="122"/>
                  </a:lnTo>
                  <a:lnTo>
                    <a:pt x="463" y="127"/>
                  </a:lnTo>
                  <a:lnTo>
                    <a:pt x="467" y="130"/>
                  </a:lnTo>
                  <a:lnTo>
                    <a:pt x="470" y="133"/>
                  </a:lnTo>
                  <a:lnTo>
                    <a:pt x="474" y="135"/>
                  </a:lnTo>
                  <a:lnTo>
                    <a:pt x="476" y="138"/>
                  </a:lnTo>
                  <a:lnTo>
                    <a:pt x="471" y="138"/>
                  </a:lnTo>
                  <a:lnTo>
                    <a:pt x="464" y="138"/>
                  </a:lnTo>
                  <a:lnTo>
                    <a:pt x="458" y="138"/>
                  </a:lnTo>
                  <a:lnTo>
                    <a:pt x="453" y="138"/>
                  </a:lnTo>
                  <a:lnTo>
                    <a:pt x="446" y="137"/>
                  </a:lnTo>
                  <a:lnTo>
                    <a:pt x="441" y="135"/>
                  </a:lnTo>
                  <a:lnTo>
                    <a:pt x="437" y="134"/>
                  </a:lnTo>
                  <a:lnTo>
                    <a:pt x="432" y="131"/>
                  </a:lnTo>
                  <a:lnTo>
                    <a:pt x="426" y="129"/>
                  </a:lnTo>
                  <a:lnTo>
                    <a:pt x="421" y="126"/>
                  </a:lnTo>
                  <a:lnTo>
                    <a:pt x="412" y="119"/>
                  </a:lnTo>
                  <a:lnTo>
                    <a:pt x="405" y="115"/>
                  </a:lnTo>
                  <a:lnTo>
                    <a:pt x="396" y="109"/>
                  </a:lnTo>
                  <a:lnTo>
                    <a:pt x="387" y="108"/>
                  </a:lnTo>
                  <a:lnTo>
                    <a:pt x="378" y="108"/>
                  </a:lnTo>
                  <a:lnTo>
                    <a:pt x="365" y="107"/>
                  </a:lnTo>
                  <a:lnTo>
                    <a:pt x="354" y="108"/>
                  </a:lnTo>
                  <a:lnTo>
                    <a:pt x="341" y="109"/>
                  </a:lnTo>
                  <a:lnTo>
                    <a:pt x="328" y="111"/>
                  </a:lnTo>
                  <a:lnTo>
                    <a:pt x="314" y="115"/>
                  </a:lnTo>
                  <a:lnTo>
                    <a:pt x="306" y="118"/>
                  </a:lnTo>
                  <a:lnTo>
                    <a:pt x="304" y="121"/>
                  </a:lnTo>
                  <a:lnTo>
                    <a:pt x="306" y="124"/>
                  </a:lnTo>
                  <a:lnTo>
                    <a:pt x="312" y="128"/>
                  </a:lnTo>
                  <a:lnTo>
                    <a:pt x="296" y="132"/>
                  </a:lnTo>
                  <a:lnTo>
                    <a:pt x="274" y="138"/>
                  </a:lnTo>
                  <a:lnTo>
                    <a:pt x="269" y="134"/>
                  </a:lnTo>
                  <a:lnTo>
                    <a:pt x="263" y="131"/>
                  </a:lnTo>
                  <a:lnTo>
                    <a:pt x="257" y="129"/>
                  </a:lnTo>
                  <a:lnTo>
                    <a:pt x="247" y="129"/>
                  </a:lnTo>
                  <a:lnTo>
                    <a:pt x="235" y="140"/>
                  </a:lnTo>
                  <a:lnTo>
                    <a:pt x="224" y="132"/>
                  </a:lnTo>
                  <a:lnTo>
                    <a:pt x="145" y="143"/>
                  </a:lnTo>
                  <a:lnTo>
                    <a:pt x="130" y="144"/>
                  </a:lnTo>
                  <a:lnTo>
                    <a:pt x="115" y="143"/>
                  </a:lnTo>
                  <a:lnTo>
                    <a:pt x="100" y="141"/>
                  </a:lnTo>
                  <a:lnTo>
                    <a:pt x="70" y="138"/>
                  </a:lnTo>
                  <a:lnTo>
                    <a:pt x="42" y="130"/>
                  </a:lnTo>
                  <a:lnTo>
                    <a:pt x="27" y="125"/>
                  </a:lnTo>
                  <a:lnTo>
                    <a:pt x="17" y="120"/>
                  </a:lnTo>
                  <a:lnTo>
                    <a:pt x="28" y="117"/>
                  </a:lnTo>
                  <a:lnTo>
                    <a:pt x="21" y="113"/>
                  </a:lnTo>
                  <a:lnTo>
                    <a:pt x="17" y="110"/>
                  </a:lnTo>
                  <a:lnTo>
                    <a:pt x="9" y="104"/>
                  </a:lnTo>
                  <a:lnTo>
                    <a:pt x="8" y="102"/>
                  </a:lnTo>
                  <a:lnTo>
                    <a:pt x="5" y="99"/>
                  </a:lnTo>
                  <a:lnTo>
                    <a:pt x="4" y="97"/>
                  </a:lnTo>
                  <a:lnTo>
                    <a:pt x="2" y="94"/>
                  </a:lnTo>
                  <a:lnTo>
                    <a:pt x="1" y="92"/>
                  </a:lnTo>
                  <a:lnTo>
                    <a:pt x="0" y="89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11" name="Group 548"/>
            <p:cNvGrpSpPr>
              <a:grpSpLocks/>
            </p:cNvGrpSpPr>
            <p:nvPr/>
          </p:nvGrpSpPr>
          <p:grpSpPr bwMode="auto">
            <a:xfrm>
              <a:off x="2666" y="2441"/>
              <a:ext cx="7" cy="7"/>
              <a:chOff x="2585" y="2625"/>
              <a:chExt cx="7" cy="7"/>
            </a:xfrm>
          </p:grpSpPr>
          <p:sp>
            <p:nvSpPr>
              <p:cNvPr id="8331" name="Oval 549" descr="50%"/>
              <p:cNvSpPr>
                <a:spLocks noChangeArrowheads="1"/>
              </p:cNvSpPr>
              <p:nvPr/>
            </p:nvSpPr>
            <p:spPr bwMode="auto">
              <a:xfrm>
                <a:off x="2585" y="2625"/>
                <a:ext cx="7" cy="7"/>
              </a:xfrm>
              <a:prstGeom prst="ellipse">
                <a:avLst/>
              </a:pr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32" name="Arc 550" descr="50%"/>
              <p:cNvSpPr>
                <a:spLocks/>
              </p:cNvSpPr>
              <p:nvPr/>
            </p:nvSpPr>
            <p:spPr bwMode="auto">
              <a:xfrm>
                <a:off x="2589" y="2628"/>
                <a:ext cx="2" cy="2"/>
              </a:xfrm>
              <a:custGeom>
                <a:avLst/>
                <a:gdLst>
                  <a:gd name="T0" fmla="*/ 1 w 43200"/>
                  <a:gd name="T1" fmla="*/ 0 h 43200"/>
                  <a:gd name="T2" fmla="*/ 0 w 43200"/>
                  <a:gd name="T3" fmla="*/ 0 h 43200"/>
                  <a:gd name="T4" fmla="*/ 1 w 43200"/>
                  <a:gd name="T5" fmla="*/ 1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5871"/>
                      <a:pt x="2275" y="10377"/>
                      <a:pt x="6326" y="6326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5871"/>
                      <a:pt x="2275" y="10377"/>
                      <a:pt x="6326" y="6326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212" name="Group 551"/>
            <p:cNvGrpSpPr>
              <a:grpSpLocks/>
            </p:cNvGrpSpPr>
            <p:nvPr/>
          </p:nvGrpSpPr>
          <p:grpSpPr bwMode="auto">
            <a:xfrm>
              <a:off x="2693" y="2457"/>
              <a:ext cx="30" cy="13"/>
              <a:chOff x="2612" y="2641"/>
              <a:chExt cx="30" cy="13"/>
            </a:xfrm>
          </p:grpSpPr>
          <p:sp>
            <p:nvSpPr>
              <p:cNvPr id="8326" name="Arc 552" descr="50%"/>
              <p:cNvSpPr>
                <a:spLocks/>
              </p:cNvSpPr>
              <p:nvPr/>
            </p:nvSpPr>
            <p:spPr bwMode="auto">
              <a:xfrm>
                <a:off x="2620" y="2641"/>
                <a:ext cx="2" cy="13"/>
              </a:xfrm>
              <a:custGeom>
                <a:avLst/>
                <a:gdLst>
                  <a:gd name="T0" fmla="*/ 0 w 35746"/>
                  <a:gd name="T1" fmla="*/ 1 h 43200"/>
                  <a:gd name="T2" fmla="*/ 0 w 35746"/>
                  <a:gd name="T3" fmla="*/ 11 h 43200"/>
                  <a:gd name="T4" fmla="*/ 1 w 35746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746" h="43200" fill="none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</a:path>
                  <a:path w="35746" h="43200" stroke="0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  <a:lnTo>
                      <a:pt x="14146" y="21600"/>
                    </a:lnTo>
                    <a:lnTo>
                      <a:pt x="2777" y="323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27" name="Arc 553" descr="50%"/>
              <p:cNvSpPr>
                <a:spLocks/>
              </p:cNvSpPr>
              <p:nvPr/>
            </p:nvSpPr>
            <p:spPr bwMode="auto">
              <a:xfrm>
                <a:off x="2612" y="2641"/>
                <a:ext cx="3" cy="13"/>
              </a:xfrm>
              <a:custGeom>
                <a:avLst/>
                <a:gdLst>
                  <a:gd name="T0" fmla="*/ 0 w 33372"/>
                  <a:gd name="T1" fmla="*/ 1 h 43200"/>
                  <a:gd name="T2" fmla="*/ 0 w 33372"/>
                  <a:gd name="T3" fmla="*/ 12 h 43200"/>
                  <a:gd name="T4" fmla="*/ 1 w 33372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372" h="43200" fill="none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</a:path>
                  <a:path w="33372" h="43200" stroke="0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  <a:lnTo>
                      <a:pt x="11772" y="21600"/>
                    </a:lnTo>
                    <a:lnTo>
                      <a:pt x="2675" y="200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28" name="Arc 554" descr="50%"/>
              <p:cNvSpPr>
                <a:spLocks/>
              </p:cNvSpPr>
              <p:nvPr/>
            </p:nvSpPr>
            <p:spPr bwMode="auto">
              <a:xfrm>
                <a:off x="2625" y="2641"/>
                <a:ext cx="3" cy="13"/>
              </a:xfrm>
              <a:custGeom>
                <a:avLst/>
                <a:gdLst>
                  <a:gd name="T0" fmla="*/ 0 w 33372"/>
                  <a:gd name="T1" fmla="*/ 1 h 43200"/>
                  <a:gd name="T2" fmla="*/ 0 w 33372"/>
                  <a:gd name="T3" fmla="*/ 12 h 43200"/>
                  <a:gd name="T4" fmla="*/ 1 w 33372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372" h="43200" fill="none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</a:path>
                  <a:path w="33372" h="43200" stroke="0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  <a:lnTo>
                      <a:pt x="11772" y="21600"/>
                    </a:lnTo>
                    <a:lnTo>
                      <a:pt x="2675" y="200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29" name="Arc 555" descr="50%"/>
              <p:cNvSpPr>
                <a:spLocks/>
              </p:cNvSpPr>
              <p:nvPr/>
            </p:nvSpPr>
            <p:spPr bwMode="auto">
              <a:xfrm>
                <a:off x="2633" y="2641"/>
                <a:ext cx="2" cy="13"/>
              </a:xfrm>
              <a:custGeom>
                <a:avLst/>
                <a:gdLst>
                  <a:gd name="T0" fmla="*/ 0 w 35746"/>
                  <a:gd name="T1" fmla="*/ 1 h 43200"/>
                  <a:gd name="T2" fmla="*/ 0 w 35746"/>
                  <a:gd name="T3" fmla="*/ 11 h 43200"/>
                  <a:gd name="T4" fmla="*/ 1 w 35746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746" h="43200" fill="none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</a:path>
                  <a:path w="35746" h="43200" stroke="0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  <a:lnTo>
                      <a:pt x="14146" y="21600"/>
                    </a:lnTo>
                    <a:lnTo>
                      <a:pt x="2777" y="323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30" name="Arc 556" descr="50%"/>
              <p:cNvSpPr>
                <a:spLocks/>
              </p:cNvSpPr>
              <p:nvPr/>
            </p:nvSpPr>
            <p:spPr bwMode="auto">
              <a:xfrm>
                <a:off x="2640" y="2641"/>
                <a:ext cx="2" cy="13"/>
              </a:xfrm>
              <a:custGeom>
                <a:avLst/>
                <a:gdLst>
                  <a:gd name="T0" fmla="*/ 0 w 35746"/>
                  <a:gd name="T1" fmla="*/ 1 h 43200"/>
                  <a:gd name="T2" fmla="*/ 0 w 35746"/>
                  <a:gd name="T3" fmla="*/ 11 h 43200"/>
                  <a:gd name="T4" fmla="*/ 1 w 35746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746" h="43200" fill="none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</a:path>
                  <a:path w="35746" h="43200" stroke="0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  <a:lnTo>
                      <a:pt x="14146" y="21600"/>
                    </a:lnTo>
                    <a:lnTo>
                      <a:pt x="2777" y="323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213" name="Freeform 557" descr="50%"/>
            <p:cNvSpPr>
              <a:spLocks/>
            </p:cNvSpPr>
            <p:nvPr/>
          </p:nvSpPr>
          <p:spPr bwMode="auto">
            <a:xfrm>
              <a:off x="2627" y="2350"/>
              <a:ext cx="471" cy="91"/>
            </a:xfrm>
            <a:custGeom>
              <a:avLst/>
              <a:gdLst>
                <a:gd name="T0" fmla="*/ 10 w 471"/>
                <a:gd name="T1" fmla="*/ 76 h 91"/>
                <a:gd name="T2" fmla="*/ 32 w 471"/>
                <a:gd name="T3" fmla="*/ 69 h 91"/>
                <a:gd name="T4" fmla="*/ 63 w 471"/>
                <a:gd name="T5" fmla="*/ 62 h 91"/>
                <a:gd name="T6" fmla="*/ 94 w 471"/>
                <a:gd name="T7" fmla="*/ 57 h 91"/>
                <a:gd name="T8" fmla="*/ 125 w 471"/>
                <a:gd name="T9" fmla="*/ 51 h 91"/>
                <a:gd name="T10" fmla="*/ 142 w 471"/>
                <a:gd name="T11" fmla="*/ 43 h 91"/>
                <a:gd name="T12" fmla="*/ 157 w 471"/>
                <a:gd name="T13" fmla="*/ 28 h 91"/>
                <a:gd name="T14" fmla="*/ 180 w 471"/>
                <a:gd name="T15" fmla="*/ 8 h 91"/>
                <a:gd name="T16" fmla="*/ 196 w 471"/>
                <a:gd name="T17" fmla="*/ 17 h 91"/>
                <a:gd name="T18" fmla="*/ 203 w 471"/>
                <a:gd name="T19" fmla="*/ 39 h 91"/>
                <a:gd name="T20" fmla="*/ 214 w 471"/>
                <a:gd name="T21" fmla="*/ 50 h 91"/>
                <a:gd name="T22" fmla="*/ 253 w 471"/>
                <a:gd name="T23" fmla="*/ 56 h 91"/>
                <a:gd name="T24" fmla="*/ 282 w 471"/>
                <a:gd name="T25" fmla="*/ 58 h 91"/>
                <a:gd name="T26" fmla="*/ 317 w 471"/>
                <a:gd name="T27" fmla="*/ 56 h 91"/>
                <a:gd name="T28" fmla="*/ 331 w 471"/>
                <a:gd name="T29" fmla="*/ 68 h 91"/>
                <a:gd name="T30" fmla="*/ 359 w 471"/>
                <a:gd name="T31" fmla="*/ 69 h 91"/>
                <a:gd name="T32" fmla="*/ 390 w 471"/>
                <a:gd name="T33" fmla="*/ 55 h 91"/>
                <a:gd name="T34" fmla="*/ 415 w 471"/>
                <a:gd name="T35" fmla="*/ 32 h 91"/>
                <a:gd name="T36" fmla="*/ 435 w 471"/>
                <a:gd name="T37" fmla="*/ 18 h 91"/>
                <a:gd name="T38" fmla="*/ 452 w 471"/>
                <a:gd name="T39" fmla="*/ 11 h 91"/>
                <a:gd name="T40" fmla="*/ 467 w 471"/>
                <a:gd name="T41" fmla="*/ 13 h 91"/>
                <a:gd name="T42" fmla="*/ 455 w 471"/>
                <a:gd name="T43" fmla="*/ 28 h 91"/>
                <a:gd name="T44" fmla="*/ 439 w 471"/>
                <a:gd name="T45" fmla="*/ 42 h 91"/>
                <a:gd name="T46" fmla="*/ 430 w 471"/>
                <a:gd name="T47" fmla="*/ 54 h 91"/>
                <a:gd name="T48" fmla="*/ 423 w 471"/>
                <a:gd name="T49" fmla="*/ 64 h 91"/>
                <a:gd name="T50" fmla="*/ 421 w 471"/>
                <a:gd name="T51" fmla="*/ 76 h 91"/>
                <a:gd name="T52" fmla="*/ 408 w 471"/>
                <a:gd name="T53" fmla="*/ 73 h 91"/>
                <a:gd name="T54" fmla="*/ 395 w 471"/>
                <a:gd name="T55" fmla="*/ 77 h 91"/>
                <a:gd name="T56" fmla="*/ 382 w 471"/>
                <a:gd name="T57" fmla="*/ 76 h 91"/>
                <a:gd name="T58" fmla="*/ 366 w 471"/>
                <a:gd name="T59" fmla="*/ 77 h 91"/>
                <a:gd name="T60" fmla="*/ 350 w 471"/>
                <a:gd name="T61" fmla="*/ 75 h 91"/>
                <a:gd name="T62" fmla="*/ 332 w 471"/>
                <a:gd name="T63" fmla="*/ 76 h 91"/>
                <a:gd name="T64" fmla="*/ 314 w 471"/>
                <a:gd name="T65" fmla="*/ 79 h 91"/>
                <a:gd name="T66" fmla="*/ 296 w 471"/>
                <a:gd name="T67" fmla="*/ 80 h 91"/>
                <a:gd name="T68" fmla="*/ 278 w 471"/>
                <a:gd name="T69" fmla="*/ 80 h 91"/>
                <a:gd name="T70" fmla="*/ 262 w 471"/>
                <a:gd name="T71" fmla="*/ 82 h 91"/>
                <a:gd name="T72" fmla="*/ 245 w 471"/>
                <a:gd name="T73" fmla="*/ 85 h 91"/>
                <a:gd name="T74" fmla="*/ 224 w 471"/>
                <a:gd name="T75" fmla="*/ 85 h 91"/>
                <a:gd name="T76" fmla="*/ 206 w 471"/>
                <a:gd name="T77" fmla="*/ 86 h 91"/>
                <a:gd name="T78" fmla="*/ 188 w 471"/>
                <a:gd name="T79" fmla="*/ 84 h 91"/>
                <a:gd name="T80" fmla="*/ 171 w 471"/>
                <a:gd name="T81" fmla="*/ 85 h 91"/>
                <a:gd name="T82" fmla="*/ 156 w 471"/>
                <a:gd name="T83" fmla="*/ 84 h 91"/>
                <a:gd name="T84" fmla="*/ 139 w 471"/>
                <a:gd name="T85" fmla="*/ 85 h 91"/>
                <a:gd name="T86" fmla="*/ 120 w 471"/>
                <a:gd name="T87" fmla="*/ 86 h 91"/>
                <a:gd name="T88" fmla="*/ 96 w 471"/>
                <a:gd name="T89" fmla="*/ 90 h 91"/>
                <a:gd name="T90" fmla="*/ 69 w 471"/>
                <a:gd name="T91" fmla="*/ 90 h 91"/>
                <a:gd name="T92" fmla="*/ 46 w 471"/>
                <a:gd name="T93" fmla="*/ 87 h 91"/>
                <a:gd name="T94" fmla="*/ 25 w 471"/>
                <a:gd name="T95" fmla="*/ 88 h 91"/>
                <a:gd name="T96" fmla="*/ 5 w 471"/>
                <a:gd name="T97" fmla="*/ 84 h 9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471" h="91">
                  <a:moveTo>
                    <a:pt x="0" y="82"/>
                  </a:moveTo>
                  <a:lnTo>
                    <a:pt x="3" y="80"/>
                  </a:lnTo>
                  <a:lnTo>
                    <a:pt x="6" y="78"/>
                  </a:lnTo>
                  <a:lnTo>
                    <a:pt x="10" y="76"/>
                  </a:lnTo>
                  <a:lnTo>
                    <a:pt x="14" y="75"/>
                  </a:lnTo>
                  <a:lnTo>
                    <a:pt x="19" y="73"/>
                  </a:lnTo>
                  <a:lnTo>
                    <a:pt x="27" y="72"/>
                  </a:lnTo>
                  <a:lnTo>
                    <a:pt x="32" y="69"/>
                  </a:lnTo>
                  <a:lnTo>
                    <a:pt x="39" y="67"/>
                  </a:lnTo>
                  <a:lnTo>
                    <a:pt x="47" y="65"/>
                  </a:lnTo>
                  <a:lnTo>
                    <a:pt x="55" y="63"/>
                  </a:lnTo>
                  <a:lnTo>
                    <a:pt x="63" y="62"/>
                  </a:lnTo>
                  <a:lnTo>
                    <a:pt x="71" y="61"/>
                  </a:lnTo>
                  <a:lnTo>
                    <a:pt x="79" y="60"/>
                  </a:lnTo>
                  <a:lnTo>
                    <a:pt x="87" y="58"/>
                  </a:lnTo>
                  <a:lnTo>
                    <a:pt x="94" y="57"/>
                  </a:lnTo>
                  <a:lnTo>
                    <a:pt x="101" y="55"/>
                  </a:lnTo>
                  <a:lnTo>
                    <a:pt x="110" y="54"/>
                  </a:lnTo>
                  <a:lnTo>
                    <a:pt x="117" y="52"/>
                  </a:lnTo>
                  <a:lnTo>
                    <a:pt x="125" y="51"/>
                  </a:lnTo>
                  <a:lnTo>
                    <a:pt x="130" y="50"/>
                  </a:lnTo>
                  <a:lnTo>
                    <a:pt x="135" y="49"/>
                  </a:lnTo>
                  <a:lnTo>
                    <a:pt x="139" y="46"/>
                  </a:lnTo>
                  <a:lnTo>
                    <a:pt x="142" y="43"/>
                  </a:lnTo>
                  <a:lnTo>
                    <a:pt x="145" y="40"/>
                  </a:lnTo>
                  <a:lnTo>
                    <a:pt x="147" y="38"/>
                  </a:lnTo>
                  <a:lnTo>
                    <a:pt x="152" y="33"/>
                  </a:lnTo>
                  <a:lnTo>
                    <a:pt x="157" y="28"/>
                  </a:lnTo>
                  <a:lnTo>
                    <a:pt x="162" y="23"/>
                  </a:lnTo>
                  <a:lnTo>
                    <a:pt x="168" y="18"/>
                  </a:lnTo>
                  <a:lnTo>
                    <a:pt x="173" y="13"/>
                  </a:lnTo>
                  <a:lnTo>
                    <a:pt x="180" y="8"/>
                  </a:lnTo>
                  <a:lnTo>
                    <a:pt x="186" y="4"/>
                  </a:lnTo>
                  <a:lnTo>
                    <a:pt x="191" y="0"/>
                  </a:lnTo>
                  <a:lnTo>
                    <a:pt x="193" y="8"/>
                  </a:lnTo>
                  <a:lnTo>
                    <a:pt x="196" y="17"/>
                  </a:lnTo>
                  <a:lnTo>
                    <a:pt x="199" y="24"/>
                  </a:lnTo>
                  <a:lnTo>
                    <a:pt x="201" y="32"/>
                  </a:lnTo>
                  <a:lnTo>
                    <a:pt x="202" y="36"/>
                  </a:lnTo>
                  <a:lnTo>
                    <a:pt x="203" y="39"/>
                  </a:lnTo>
                  <a:lnTo>
                    <a:pt x="202" y="43"/>
                  </a:lnTo>
                  <a:lnTo>
                    <a:pt x="199" y="47"/>
                  </a:lnTo>
                  <a:lnTo>
                    <a:pt x="206" y="49"/>
                  </a:lnTo>
                  <a:lnTo>
                    <a:pt x="214" y="50"/>
                  </a:lnTo>
                  <a:lnTo>
                    <a:pt x="224" y="51"/>
                  </a:lnTo>
                  <a:lnTo>
                    <a:pt x="234" y="53"/>
                  </a:lnTo>
                  <a:lnTo>
                    <a:pt x="245" y="55"/>
                  </a:lnTo>
                  <a:lnTo>
                    <a:pt x="253" y="56"/>
                  </a:lnTo>
                  <a:lnTo>
                    <a:pt x="262" y="58"/>
                  </a:lnTo>
                  <a:lnTo>
                    <a:pt x="269" y="59"/>
                  </a:lnTo>
                  <a:lnTo>
                    <a:pt x="276" y="59"/>
                  </a:lnTo>
                  <a:lnTo>
                    <a:pt x="282" y="58"/>
                  </a:lnTo>
                  <a:lnTo>
                    <a:pt x="288" y="55"/>
                  </a:lnTo>
                  <a:lnTo>
                    <a:pt x="293" y="51"/>
                  </a:lnTo>
                  <a:lnTo>
                    <a:pt x="305" y="53"/>
                  </a:lnTo>
                  <a:lnTo>
                    <a:pt x="317" y="56"/>
                  </a:lnTo>
                  <a:lnTo>
                    <a:pt x="326" y="58"/>
                  </a:lnTo>
                  <a:lnTo>
                    <a:pt x="321" y="64"/>
                  </a:lnTo>
                  <a:lnTo>
                    <a:pt x="325" y="66"/>
                  </a:lnTo>
                  <a:lnTo>
                    <a:pt x="331" y="68"/>
                  </a:lnTo>
                  <a:lnTo>
                    <a:pt x="338" y="69"/>
                  </a:lnTo>
                  <a:lnTo>
                    <a:pt x="345" y="70"/>
                  </a:lnTo>
                  <a:lnTo>
                    <a:pt x="352" y="70"/>
                  </a:lnTo>
                  <a:lnTo>
                    <a:pt x="359" y="69"/>
                  </a:lnTo>
                  <a:lnTo>
                    <a:pt x="366" y="68"/>
                  </a:lnTo>
                  <a:lnTo>
                    <a:pt x="374" y="65"/>
                  </a:lnTo>
                  <a:lnTo>
                    <a:pt x="382" y="61"/>
                  </a:lnTo>
                  <a:lnTo>
                    <a:pt x="390" y="55"/>
                  </a:lnTo>
                  <a:lnTo>
                    <a:pt x="397" y="49"/>
                  </a:lnTo>
                  <a:lnTo>
                    <a:pt x="405" y="41"/>
                  </a:lnTo>
                  <a:lnTo>
                    <a:pt x="409" y="38"/>
                  </a:lnTo>
                  <a:lnTo>
                    <a:pt x="415" y="32"/>
                  </a:lnTo>
                  <a:lnTo>
                    <a:pt x="420" y="28"/>
                  </a:lnTo>
                  <a:lnTo>
                    <a:pt x="425" y="25"/>
                  </a:lnTo>
                  <a:lnTo>
                    <a:pt x="430" y="21"/>
                  </a:lnTo>
                  <a:lnTo>
                    <a:pt x="435" y="18"/>
                  </a:lnTo>
                  <a:lnTo>
                    <a:pt x="440" y="17"/>
                  </a:lnTo>
                  <a:lnTo>
                    <a:pt x="443" y="14"/>
                  </a:lnTo>
                  <a:lnTo>
                    <a:pt x="447" y="13"/>
                  </a:lnTo>
                  <a:lnTo>
                    <a:pt x="452" y="11"/>
                  </a:lnTo>
                  <a:lnTo>
                    <a:pt x="456" y="11"/>
                  </a:lnTo>
                  <a:lnTo>
                    <a:pt x="462" y="10"/>
                  </a:lnTo>
                  <a:lnTo>
                    <a:pt x="470" y="10"/>
                  </a:lnTo>
                  <a:lnTo>
                    <a:pt x="467" y="13"/>
                  </a:lnTo>
                  <a:lnTo>
                    <a:pt x="463" y="17"/>
                  </a:lnTo>
                  <a:lnTo>
                    <a:pt x="461" y="19"/>
                  </a:lnTo>
                  <a:lnTo>
                    <a:pt x="458" y="24"/>
                  </a:lnTo>
                  <a:lnTo>
                    <a:pt x="455" y="28"/>
                  </a:lnTo>
                  <a:lnTo>
                    <a:pt x="450" y="32"/>
                  </a:lnTo>
                  <a:lnTo>
                    <a:pt x="444" y="37"/>
                  </a:lnTo>
                  <a:lnTo>
                    <a:pt x="441" y="39"/>
                  </a:lnTo>
                  <a:lnTo>
                    <a:pt x="439" y="42"/>
                  </a:lnTo>
                  <a:lnTo>
                    <a:pt x="436" y="46"/>
                  </a:lnTo>
                  <a:lnTo>
                    <a:pt x="434" y="49"/>
                  </a:lnTo>
                  <a:lnTo>
                    <a:pt x="432" y="51"/>
                  </a:lnTo>
                  <a:lnTo>
                    <a:pt x="430" y="54"/>
                  </a:lnTo>
                  <a:lnTo>
                    <a:pt x="428" y="57"/>
                  </a:lnTo>
                  <a:lnTo>
                    <a:pt x="426" y="60"/>
                  </a:lnTo>
                  <a:lnTo>
                    <a:pt x="425" y="62"/>
                  </a:lnTo>
                  <a:lnTo>
                    <a:pt x="423" y="64"/>
                  </a:lnTo>
                  <a:lnTo>
                    <a:pt x="422" y="68"/>
                  </a:lnTo>
                  <a:lnTo>
                    <a:pt x="422" y="70"/>
                  </a:lnTo>
                  <a:lnTo>
                    <a:pt x="421" y="73"/>
                  </a:lnTo>
                  <a:lnTo>
                    <a:pt x="421" y="76"/>
                  </a:lnTo>
                  <a:lnTo>
                    <a:pt x="418" y="74"/>
                  </a:lnTo>
                  <a:lnTo>
                    <a:pt x="414" y="73"/>
                  </a:lnTo>
                  <a:lnTo>
                    <a:pt x="411" y="73"/>
                  </a:lnTo>
                  <a:lnTo>
                    <a:pt x="408" y="73"/>
                  </a:lnTo>
                  <a:lnTo>
                    <a:pt x="404" y="74"/>
                  </a:lnTo>
                  <a:lnTo>
                    <a:pt x="402" y="76"/>
                  </a:lnTo>
                  <a:lnTo>
                    <a:pt x="399" y="76"/>
                  </a:lnTo>
                  <a:lnTo>
                    <a:pt x="395" y="77"/>
                  </a:lnTo>
                  <a:lnTo>
                    <a:pt x="392" y="78"/>
                  </a:lnTo>
                  <a:lnTo>
                    <a:pt x="388" y="77"/>
                  </a:lnTo>
                  <a:lnTo>
                    <a:pt x="384" y="77"/>
                  </a:lnTo>
                  <a:lnTo>
                    <a:pt x="382" y="76"/>
                  </a:lnTo>
                  <a:lnTo>
                    <a:pt x="379" y="75"/>
                  </a:lnTo>
                  <a:lnTo>
                    <a:pt x="375" y="75"/>
                  </a:lnTo>
                  <a:lnTo>
                    <a:pt x="371" y="76"/>
                  </a:lnTo>
                  <a:lnTo>
                    <a:pt x="366" y="77"/>
                  </a:lnTo>
                  <a:lnTo>
                    <a:pt x="363" y="76"/>
                  </a:lnTo>
                  <a:lnTo>
                    <a:pt x="359" y="76"/>
                  </a:lnTo>
                  <a:lnTo>
                    <a:pt x="355" y="75"/>
                  </a:lnTo>
                  <a:lnTo>
                    <a:pt x="350" y="75"/>
                  </a:lnTo>
                  <a:lnTo>
                    <a:pt x="347" y="76"/>
                  </a:lnTo>
                  <a:lnTo>
                    <a:pt x="341" y="77"/>
                  </a:lnTo>
                  <a:lnTo>
                    <a:pt x="337" y="77"/>
                  </a:lnTo>
                  <a:lnTo>
                    <a:pt x="332" y="76"/>
                  </a:lnTo>
                  <a:lnTo>
                    <a:pt x="328" y="76"/>
                  </a:lnTo>
                  <a:lnTo>
                    <a:pt x="323" y="77"/>
                  </a:lnTo>
                  <a:lnTo>
                    <a:pt x="320" y="78"/>
                  </a:lnTo>
                  <a:lnTo>
                    <a:pt x="314" y="79"/>
                  </a:lnTo>
                  <a:lnTo>
                    <a:pt x="310" y="80"/>
                  </a:lnTo>
                  <a:lnTo>
                    <a:pt x="305" y="80"/>
                  </a:lnTo>
                  <a:lnTo>
                    <a:pt x="301" y="80"/>
                  </a:lnTo>
                  <a:lnTo>
                    <a:pt x="296" y="80"/>
                  </a:lnTo>
                  <a:lnTo>
                    <a:pt x="291" y="78"/>
                  </a:lnTo>
                  <a:lnTo>
                    <a:pt x="286" y="80"/>
                  </a:lnTo>
                  <a:lnTo>
                    <a:pt x="282" y="80"/>
                  </a:lnTo>
                  <a:lnTo>
                    <a:pt x="278" y="80"/>
                  </a:lnTo>
                  <a:lnTo>
                    <a:pt x="274" y="80"/>
                  </a:lnTo>
                  <a:lnTo>
                    <a:pt x="270" y="80"/>
                  </a:lnTo>
                  <a:lnTo>
                    <a:pt x="266" y="80"/>
                  </a:lnTo>
                  <a:lnTo>
                    <a:pt x="262" y="82"/>
                  </a:lnTo>
                  <a:lnTo>
                    <a:pt x="259" y="83"/>
                  </a:lnTo>
                  <a:lnTo>
                    <a:pt x="254" y="84"/>
                  </a:lnTo>
                  <a:lnTo>
                    <a:pt x="250" y="84"/>
                  </a:lnTo>
                  <a:lnTo>
                    <a:pt x="245" y="85"/>
                  </a:lnTo>
                  <a:lnTo>
                    <a:pt x="240" y="86"/>
                  </a:lnTo>
                  <a:lnTo>
                    <a:pt x="234" y="85"/>
                  </a:lnTo>
                  <a:lnTo>
                    <a:pt x="228" y="85"/>
                  </a:lnTo>
                  <a:lnTo>
                    <a:pt x="224" y="85"/>
                  </a:lnTo>
                  <a:lnTo>
                    <a:pt x="218" y="86"/>
                  </a:lnTo>
                  <a:lnTo>
                    <a:pt x="214" y="86"/>
                  </a:lnTo>
                  <a:lnTo>
                    <a:pt x="210" y="86"/>
                  </a:lnTo>
                  <a:lnTo>
                    <a:pt x="206" y="86"/>
                  </a:lnTo>
                  <a:lnTo>
                    <a:pt x="201" y="86"/>
                  </a:lnTo>
                  <a:lnTo>
                    <a:pt x="196" y="84"/>
                  </a:lnTo>
                  <a:lnTo>
                    <a:pt x="192" y="84"/>
                  </a:lnTo>
                  <a:lnTo>
                    <a:pt x="188" y="84"/>
                  </a:lnTo>
                  <a:lnTo>
                    <a:pt x="184" y="84"/>
                  </a:lnTo>
                  <a:lnTo>
                    <a:pt x="180" y="84"/>
                  </a:lnTo>
                  <a:lnTo>
                    <a:pt x="175" y="84"/>
                  </a:lnTo>
                  <a:lnTo>
                    <a:pt x="171" y="85"/>
                  </a:lnTo>
                  <a:lnTo>
                    <a:pt x="167" y="85"/>
                  </a:lnTo>
                  <a:lnTo>
                    <a:pt x="164" y="84"/>
                  </a:lnTo>
                  <a:lnTo>
                    <a:pt x="160" y="84"/>
                  </a:lnTo>
                  <a:lnTo>
                    <a:pt x="156" y="84"/>
                  </a:lnTo>
                  <a:lnTo>
                    <a:pt x="152" y="84"/>
                  </a:lnTo>
                  <a:lnTo>
                    <a:pt x="149" y="84"/>
                  </a:lnTo>
                  <a:lnTo>
                    <a:pt x="145" y="84"/>
                  </a:lnTo>
                  <a:lnTo>
                    <a:pt x="139" y="85"/>
                  </a:lnTo>
                  <a:lnTo>
                    <a:pt x="135" y="85"/>
                  </a:lnTo>
                  <a:lnTo>
                    <a:pt x="130" y="84"/>
                  </a:lnTo>
                  <a:lnTo>
                    <a:pt x="125" y="85"/>
                  </a:lnTo>
                  <a:lnTo>
                    <a:pt x="120" y="86"/>
                  </a:lnTo>
                  <a:lnTo>
                    <a:pt x="116" y="88"/>
                  </a:lnTo>
                  <a:lnTo>
                    <a:pt x="111" y="89"/>
                  </a:lnTo>
                  <a:lnTo>
                    <a:pt x="104" y="90"/>
                  </a:lnTo>
                  <a:lnTo>
                    <a:pt x="96" y="90"/>
                  </a:lnTo>
                  <a:lnTo>
                    <a:pt x="89" y="90"/>
                  </a:lnTo>
                  <a:lnTo>
                    <a:pt x="82" y="90"/>
                  </a:lnTo>
                  <a:lnTo>
                    <a:pt x="74" y="90"/>
                  </a:lnTo>
                  <a:lnTo>
                    <a:pt x="69" y="90"/>
                  </a:lnTo>
                  <a:lnTo>
                    <a:pt x="65" y="90"/>
                  </a:lnTo>
                  <a:lnTo>
                    <a:pt x="60" y="90"/>
                  </a:lnTo>
                  <a:lnTo>
                    <a:pt x="54" y="90"/>
                  </a:lnTo>
                  <a:lnTo>
                    <a:pt x="46" y="87"/>
                  </a:lnTo>
                  <a:lnTo>
                    <a:pt x="40" y="87"/>
                  </a:lnTo>
                  <a:lnTo>
                    <a:pt x="35" y="88"/>
                  </a:lnTo>
                  <a:lnTo>
                    <a:pt x="29" y="88"/>
                  </a:lnTo>
                  <a:lnTo>
                    <a:pt x="25" y="88"/>
                  </a:lnTo>
                  <a:lnTo>
                    <a:pt x="20" y="87"/>
                  </a:lnTo>
                  <a:lnTo>
                    <a:pt x="15" y="86"/>
                  </a:lnTo>
                  <a:lnTo>
                    <a:pt x="10" y="85"/>
                  </a:lnTo>
                  <a:lnTo>
                    <a:pt x="5" y="84"/>
                  </a:lnTo>
                  <a:lnTo>
                    <a:pt x="0" y="83"/>
                  </a:lnTo>
                  <a:lnTo>
                    <a:pt x="0" y="82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14" name="Group 558"/>
            <p:cNvGrpSpPr>
              <a:grpSpLocks/>
            </p:cNvGrpSpPr>
            <p:nvPr/>
          </p:nvGrpSpPr>
          <p:grpSpPr bwMode="auto">
            <a:xfrm>
              <a:off x="2723" y="2465"/>
              <a:ext cx="69" cy="51"/>
              <a:chOff x="2642" y="2649"/>
              <a:chExt cx="69" cy="51"/>
            </a:xfrm>
          </p:grpSpPr>
          <p:sp>
            <p:nvSpPr>
              <p:cNvPr id="8324" name="Freeform 559" descr="50%"/>
              <p:cNvSpPr>
                <a:spLocks/>
              </p:cNvSpPr>
              <p:nvPr/>
            </p:nvSpPr>
            <p:spPr bwMode="auto">
              <a:xfrm>
                <a:off x="2642" y="2655"/>
                <a:ext cx="69" cy="45"/>
              </a:xfrm>
              <a:custGeom>
                <a:avLst/>
                <a:gdLst>
                  <a:gd name="T0" fmla="*/ 64 w 69"/>
                  <a:gd name="T1" fmla="*/ 39 h 45"/>
                  <a:gd name="T2" fmla="*/ 60 w 69"/>
                  <a:gd name="T3" fmla="*/ 35 h 45"/>
                  <a:gd name="T4" fmla="*/ 58 w 69"/>
                  <a:gd name="T5" fmla="*/ 33 h 45"/>
                  <a:gd name="T6" fmla="*/ 56 w 69"/>
                  <a:gd name="T7" fmla="*/ 31 h 45"/>
                  <a:gd name="T8" fmla="*/ 54 w 69"/>
                  <a:gd name="T9" fmla="*/ 28 h 45"/>
                  <a:gd name="T10" fmla="*/ 52 w 69"/>
                  <a:gd name="T11" fmla="*/ 26 h 45"/>
                  <a:gd name="T12" fmla="*/ 50 w 69"/>
                  <a:gd name="T13" fmla="*/ 23 h 45"/>
                  <a:gd name="T14" fmla="*/ 48 w 69"/>
                  <a:gd name="T15" fmla="*/ 21 h 45"/>
                  <a:gd name="T16" fmla="*/ 47 w 69"/>
                  <a:gd name="T17" fmla="*/ 17 h 45"/>
                  <a:gd name="T18" fmla="*/ 46 w 69"/>
                  <a:gd name="T19" fmla="*/ 14 h 45"/>
                  <a:gd name="T20" fmla="*/ 45 w 69"/>
                  <a:gd name="T21" fmla="*/ 11 h 45"/>
                  <a:gd name="T22" fmla="*/ 44 w 69"/>
                  <a:gd name="T23" fmla="*/ 8 h 45"/>
                  <a:gd name="T24" fmla="*/ 44 w 69"/>
                  <a:gd name="T25" fmla="*/ 4 h 45"/>
                  <a:gd name="T26" fmla="*/ 44 w 69"/>
                  <a:gd name="T27" fmla="*/ 0 h 45"/>
                  <a:gd name="T28" fmla="*/ 0 w 69"/>
                  <a:gd name="T29" fmla="*/ 0 h 45"/>
                  <a:gd name="T30" fmla="*/ 1 w 69"/>
                  <a:gd name="T31" fmla="*/ 3 h 45"/>
                  <a:gd name="T32" fmla="*/ 3 w 69"/>
                  <a:gd name="T33" fmla="*/ 6 h 45"/>
                  <a:gd name="T34" fmla="*/ 5 w 69"/>
                  <a:gd name="T35" fmla="*/ 9 h 45"/>
                  <a:gd name="T36" fmla="*/ 8 w 69"/>
                  <a:gd name="T37" fmla="*/ 12 h 45"/>
                  <a:gd name="T38" fmla="*/ 11 w 69"/>
                  <a:gd name="T39" fmla="*/ 16 h 45"/>
                  <a:gd name="T40" fmla="*/ 14 w 69"/>
                  <a:gd name="T41" fmla="*/ 19 h 45"/>
                  <a:gd name="T42" fmla="*/ 18 w 69"/>
                  <a:gd name="T43" fmla="*/ 22 h 45"/>
                  <a:gd name="T44" fmla="*/ 21 w 69"/>
                  <a:gd name="T45" fmla="*/ 25 h 45"/>
                  <a:gd name="T46" fmla="*/ 25 w 69"/>
                  <a:gd name="T47" fmla="*/ 28 h 45"/>
                  <a:gd name="T48" fmla="*/ 30 w 69"/>
                  <a:gd name="T49" fmla="*/ 32 h 45"/>
                  <a:gd name="T50" fmla="*/ 34 w 69"/>
                  <a:gd name="T51" fmla="*/ 34 h 45"/>
                  <a:gd name="T52" fmla="*/ 38 w 69"/>
                  <a:gd name="T53" fmla="*/ 36 h 45"/>
                  <a:gd name="T54" fmla="*/ 41 w 69"/>
                  <a:gd name="T55" fmla="*/ 38 h 45"/>
                  <a:gd name="T56" fmla="*/ 45 w 69"/>
                  <a:gd name="T57" fmla="*/ 39 h 45"/>
                  <a:gd name="T58" fmla="*/ 49 w 69"/>
                  <a:gd name="T59" fmla="*/ 41 h 45"/>
                  <a:gd name="T60" fmla="*/ 53 w 69"/>
                  <a:gd name="T61" fmla="*/ 42 h 45"/>
                  <a:gd name="T62" fmla="*/ 58 w 69"/>
                  <a:gd name="T63" fmla="*/ 43 h 45"/>
                  <a:gd name="T64" fmla="*/ 62 w 69"/>
                  <a:gd name="T65" fmla="*/ 43 h 45"/>
                  <a:gd name="T66" fmla="*/ 65 w 69"/>
                  <a:gd name="T67" fmla="*/ 43 h 45"/>
                  <a:gd name="T68" fmla="*/ 68 w 69"/>
                  <a:gd name="T69" fmla="*/ 44 h 45"/>
                  <a:gd name="T70" fmla="*/ 64 w 69"/>
                  <a:gd name="T71" fmla="*/ 39 h 4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69" h="45">
                    <a:moveTo>
                      <a:pt x="64" y="39"/>
                    </a:moveTo>
                    <a:lnTo>
                      <a:pt x="60" y="35"/>
                    </a:lnTo>
                    <a:lnTo>
                      <a:pt x="58" y="33"/>
                    </a:lnTo>
                    <a:lnTo>
                      <a:pt x="56" y="31"/>
                    </a:lnTo>
                    <a:lnTo>
                      <a:pt x="54" y="28"/>
                    </a:lnTo>
                    <a:lnTo>
                      <a:pt x="52" y="26"/>
                    </a:lnTo>
                    <a:lnTo>
                      <a:pt x="50" y="23"/>
                    </a:lnTo>
                    <a:lnTo>
                      <a:pt x="48" y="21"/>
                    </a:lnTo>
                    <a:lnTo>
                      <a:pt x="47" y="17"/>
                    </a:lnTo>
                    <a:lnTo>
                      <a:pt x="46" y="14"/>
                    </a:lnTo>
                    <a:lnTo>
                      <a:pt x="45" y="11"/>
                    </a:lnTo>
                    <a:lnTo>
                      <a:pt x="44" y="8"/>
                    </a:lnTo>
                    <a:lnTo>
                      <a:pt x="44" y="4"/>
                    </a:lnTo>
                    <a:lnTo>
                      <a:pt x="44" y="0"/>
                    </a:lnTo>
                    <a:lnTo>
                      <a:pt x="0" y="0"/>
                    </a:lnTo>
                    <a:lnTo>
                      <a:pt x="1" y="3"/>
                    </a:lnTo>
                    <a:lnTo>
                      <a:pt x="3" y="6"/>
                    </a:lnTo>
                    <a:lnTo>
                      <a:pt x="5" y="9"/>
                    </a:lnTo>
                    <a:lnTo>
                      <a:pt x="8" y="12"/>
                    </a:lnTo>
                    <a:lnTo>
                      <a:pt x="11" y="16"/>
                    </a:lnTo>
                    <a:lnTo>
                      <a:pt x="14" y="19"/>
                    </a:lnTo>
                    <a:lnTo>
                      <a:pt x="18" y="22"/>
                    </a:lnTo>
                    <a:lnTo>
                      <a:pt x="21" y="25"/>
                    </a:lnTo>
                    <a:lnTo>
                      <a:pt x="25" y="28"/>
                    </a:lnTo>
                    <a:lnTo>
                      <a:pt x="30" y="32"/>
                    </a:lnTo>
                    <a:lnTo>
                      <a:pt x="34" y="34"/>
                    </a:lnTo>
                    <a:lnTo>
                      <a:pt x="38" y="36"/>
                    </a:lnTo>
                    <a:lnTo>
                      <a:pt x="41" y="38"/>
                    </a:lnTo>
                    <a:lnTo>
                      <a:pt x="45" y="39"/>
                    </a:lnTo>
                    <a:lnTo>
                      <a:pt x="49" y="41"/>
                    </a:lnTo>
                    <a:lnTo>
                      <a:pt x="53" y="42"/>
                    </a:lnTo>
                    <a:lnTo>
                      <a:pt x="58" y="43"/>
                    </a:lnTo>
                    <a:lnTo>
                      <a:pt x="62" y="43"/>
                    </a:lnTo>
                    <a:lnTo>
                      <a:pt x="65" y="43"/>
                    </a:lnTo>
                    <a:lnTo>
                      <a:pt x="68" y="44"/>
                    </a:lnTo>
                    <a:lnTo>
                      <a:pt x="64" y="39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25" name="Freeform 560" descr="50%"/>
              <p:cNvSpPr>
                <a:spLocks/>
              </p:cNvSpPr>
              <p:nvPr/>
            </p:nvSpPr>
            <p:spPr bwMode="auto">
              <a:xfrm>
                <a:off x="2643" y="2649"/>
                <a:ext cx="36" cy="6"/>
              </a:xfrm>
              <a:custGeom>
                <a:avLst/>
                <a:gdLst>
                  <a:gd name="T0" fmla="*/ 0 w 36"/>
                  <a:gd name="T1" fmla="*/ 5 h 6"/>
                  <a:gd name="T2" fmla="*/ 0 w 36"/>
                  <a:gd name="T3" fmla="*/ 3 h 6"/>
                  <a:gd name="T4" fmla="*/ 1 w 36"/>
                  <a:gd name="T5" fmla="*/ 0 h 6"/>
                  <a:gd name="T6" fmla="*/ 35 w 36"/>
                  <a:gd name="T7" fmla="*/ 0 h 6"/>
                  <a:gd name="T8" fmla="*/ 35 w 36"/>
                  <a:gd name="T9" fmla="*/ 5 h 6"/>
                  <a:gd name="T10" fmla="*/ 0 w 36"/>
                  <a:gd name="T11" fmla="*/ 5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6" h="6">
                    <a:moveTo>
                      <a:pt x="0" y="5"/>
                    </a:moveTo>
                    <a:lnTo>
                      <a:pt x="0" y="3"/>
                    </a:lnTo>
                    <a:lnTo>
                      <a:pt x="1" y="0"/>
                    </a:lnTo>
                    <a:lnTo>
                      <a:pt x="35" y="0"/>
                    </a:lnTo>
                    <a:lnTo>
                      <a:pt x="35" y="5"/>
                    </a:lnTo>
                    <a:lnTo>
                      <a:pt x="0" y="5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215" name="Freeform 561" descr="50%"/>
            <p:cNvSpPr>
              <a:spLocks/>
            </p:cNvSpPr>
            <p:nvPr/>
          </p:nvSpPr>
          <p:spPr bwMode="auto">
            <a:xfrm>
              <a:off x="2747" y="2601"/>
              <a:ext cx="58" cy="46"/>
            </a:xfrm>
            <a:custGeom>
              <a:avLst/>
              <a:gdLst>
                <a:gd name="T0" fmla="*/ 0 w 58"/>
                <a:gd name="T1" fmla="*/ 0 h 46"/>
                <a:gd name="T2" fmla="*/ 2 w 58"/>
                <a:gd name="T3" fmla="*/ 5 h 46"/>
                <a:gd name="T4" fmla="*/ 5 w 58"/>
                <a:gd name="T5" fmla="*/ 9 h 46"/>
                <a:gd name="T6" fmla="*/ 9 w 58"/>
                <a:gd name="T7" fmla="*/ 14 h 46"/>
                <a:gd name="T8" fmla="*/ 12 w 58"/>
                <a:gd name="T9" fmla="*/ 18 h 46"/>
                <a:gd name="T10" fmla="*/ 16 w 58"/>
                <a:gd name="T11" fmla="*/ 23 h 46"/>
                <a:gd name="T12" fmla="*/ 21 w 58"/>
                <a:gd name="T13" fmla="*/ 28 h 46"/>
                <a:gd name="T14" fmla="*/ 24 w 58"/>
                <a:gd name="T15" fmla="*/ 32 h 46"/>
                <a:gd name="T16" fmla="*/ 28 w 58"/>
                <a:gd name="T17" fmla="*/ 35 h 46"/>
                <a:gd name="T18" fmla="*/ 32 w 58"/>
                <a:gd name="T19" fmla="*/ 38 h 46"/>
                <a:gd name="T20" fmla="*/ 36 w 58"/>
                <a:gd name="T21" fmla="*/ 40 h 46"/>
                <a:gd name="T22" fmla="*/ 41 w 58"/>
                <a:gd name="T23" fmla="*/ 42 h 46"/>
                <a:gd name="T24" fmla="*/ 45 w 58"/>
                <a:gd name="T25" fmla="*/ 44 h 46"/>
                <a:gd name="T26" fmla="*/ 50 w 58"/>
                <a:gd name="T27" fmla="*/ 45 h 46"/>
                <a:gd name="T28" fmla="*/ 54 w 58"/>
                <a:gd name="T29" fmla="*/ 45 h 46"/>
                <a:gd name="T30" fmla="*/ 57 w 58"/>
                <a:gd name="T31" fmla="*/ 44 h 46"/>
                <a:gd name="T32" fmla="*/ 54 w 58"/>
                <a:gd name="T33" fmla="*/ 41 h 46"/>
                <a:gd name="T34" fmla="*/ 51 w 58"/>
                <a:gd name="T35" fmla="*/ 37 h 46"/>
                <a:gd name="T36" fmla="*/ 48 w 58"/>
                <a:gd name="T37" fmla="*/ 33 h 46"/>
                <a:gd name="T38" fmla="*/ 45 w 58"/>
                <a:gd name="T39" fmla="*/ 29 h 46"/>
                <a:gd name="T40" fmla="*/ 42 w 58"/>
                <a:gd name="T41" fmla="*/ 24 h 46"/>
                <a:gd name="T42" fmla="*/ 40 w 58"/>
                <a:gd name="T43" fmla="*/ 20 h 46"/>
                <a:gd name="T44" fmla="*/ 38 w 58"/>
                <a:gd name="T45" fmla="*/ 16 h 46"/>
                <a:gd name="T46" fmla="*/ 37 w 58"/>
                <a:gd name="T47" fmla="*/ 10 h 46"/>
                <a:gd name="T48" fmla="*/ 37 w 58"/>
                <a:gd name="T49" fmla="*/ 5 h 46"/>
                <a:gd name="T50" fmla="*/ 37 w 58"/>
                <a:gd name="T51" fmla="*/ 1 h 46"/>
                <a:gd name="T52" fmla="*/ 0 w 58"/>
                <a:gd name="T53" fmla="*/ 0 h 4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58" h="46">
                  <a:moveTo>
                    <a:pt x="0" y="0"/>
                  </a:moveTo>
                  <a:lnTo>
                    <a:pt x="2" y="5"/>
                  </a:lnTo>
                  <a:lnTo>
                    <a:pt x="5" y="9"/>
                  </a:lnTo>
                  <a:lnTo>
                    <a:pt x="9" y="14"/>
                  </a:lnTo>
                  <a:lnTo>
                    <a:pt x="12" y="18"/>
                  </a:lnTo>
                  <a:lnTo>
                    <a:pt x="16" y="23"/>
                  </a:lnTo>
                  <a:lnTo>
                    <a:pt x="21" y="28"/>
                  </a:lnTo>
                  <a:lnTo>
                    <a:pt x="24" y="32"/>
                  </a:lnTo>
                  <a:lnTo>
                    <a:pt x="28" y="35"/>
                  </a:lnTo>
                  <a:lnTo>
                    <a:pt x="32" y="38"/>
                  </a:lnTo>
                  <a:lnTo>
                    <a:pt x="36" y="40"/>
                  </a:lnTo>
                  <a:lnTo>
                    <a:pt x="41" y="42"/>
                  </a:lnTo>
                  <a:lnTo>
                    <a:pt x="45" y="44"/>
                  </a:lnTo>
                  <a:lnTo>
                    <a:pt x="50" y="45"/>
                  </a:lnTo>
                  <a:lnTo>
                    <a:pt x="54" y="45"/>
                  </a:lnTo>
                  <a:lnTo>
                    <a:pt x="57" y="44"/>
                  </a:lnTo>
                  <a:lnTo>
                    <a:pt x="54" y="41"/>
                  </a:lnTo>
                  <a:lnTo>
                    <a:pt x="51" y="37"/>
                  </a:lnTo>
                  <a:lnTo>
                    <a:pt x="48" y="33"/>
                  </a:lnTo>
                  <a:lnTo>
                    <a:pt x="45" y="29"/>
                  </a:lnTo>
                  <a:lnTo>
                    <a:pt x="42" y="24"/>
                  </a:lnTo>
                  <a:lnTo>
                    <a:pt x="40" y="20"/>
                  </a:lnTo>
                  <a:lnTo>
                    <a:pt x="38" y="16"/>
                  </a:lnTo>
                  <a:lnTo>
                    <a:pt x="37" y="10"/>
                  </a:lnTo>
                  <a:lnTo>
                    <a:pt x="37" y="5"/>
                  </a:lnTo>
                  <a:lnTo>
                    <a:pt x="37" y="1"/>
                  </a:lnTo>
                  <a:lnTo>
                    <a:pt x="0" y="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6" name="Freeform 562" descr="50%"/>
            <p:cNvSpPr>
              <a:spLocks/>
            </p:cNvSpPr>
            <p:nvPr/>
          </p:nvSpPr>
          <p:spPr bwMode="auto">
            <a:xfrm>
              <a:off x="2626" y="2493"/>
              <a:ext cx="481" cy="145"/>
            </a:xfrm>
            <a:custGeom>
              <a:avLst/>
              <a:gdLst>
                <a:gd name="T0" fmla="*/ 5 w 481"/>
                <a:gd name="T1" fmla="*/ 85 h 145"/>
                <a:gd name="T2" fmla="*/ 20 w 481"/>
                <a:gd name="T3" fmla="*/ 80 h 145"/>
                <a:gd name="T4" fmla="*/ 42 w 481"/>
                <a:gd name="T5" fmla="*/ 73 h 145"/>
                <a:gd name="T6" fmla="*/ 65 w 481"/>
                <a:gd name="T7" fmla="*/ 68 h 145"/>
                <a:gd name="T8" fmla="*/ 89 w 481"/>
                <a:gd name="T9" fmla="*/ 63 h 145"/>
                <a:gd name="T10" fmla="*/ 112 w 481"/>
                <a:gd name="T11" fmla="*/ 58 h 145"/>
                <a:gd name="T12" fmla="*/ 132 w 481"/>
                <a:gd name="T13" fmla="*/ 54 h 145"/>
                <a:gd name="T14" fmla="*/ 143 w 481"/>
                <a:gd name="T15" fmla="*/ 48 h 145"/>
                <a:gd name="T16" fmla="*/ 155 w 481"/>
                <a:gd name="T17" fmla="*/ 37 h 145"/>
                <a:gd name="T18" fmla="*/ 171 w 481"/>
                <a:gd name="T19" fmla="*/ 20 h 145"/>
                <a:gd name="T20" fmla="*/ 188 w 481"/>
                <a:gd name="T21" fmla="*/ 5 h 145"/>
                <a:gd name="T22" fmla="*/ 200 w 481"/>
                <a:gd name="T23" fmla="*/ 17 h 145"/>
                <a:gd name="T24" fmla="*/ 207 w 481"/>
                <a:gd name="T25" fmla="*/ 43 h 145"/>
                <a:gd name="T26" fmla="*/ 211 w 481"/>
                <a:gd name="T27" fmla="*/ 53 h 145"/>
                <a:gd name="T28" fmla="*/ 239 w 481"/>
                <a:gd name="T29" fmla="*/ 57 h 145"/>
                <a:gd name="T30" fmla="*/ 267 w 481"/>
                <a:gd name="T31" fmla="*/ 63 h 145"/>
                <a:gd name="T32" fmla="*/ 288 w 481"/>
                <a:gd name="T33" fmla="*/ 63 h 145"/>
                <a:gd name="T34" fmla="*/ 310 w 481"/>
                <a:gd name="T35" fmla="*/ 58 h 145"/>
                <a:gd name="T36" fmla="*/ 327 w 481"/>
                <a:gd name="T37" fmla="*/ 70 h 145"/>
                <a:gd name="T38" fmla="*/ 344 w 481"/>
                <a:gd name="T39" fmla="*/ 75 h 145"/>
                <a:gd name="T40" fmla="*/ 365 w 481"/>
                <a:gd name="T41" fmla="*/ 75 h 145"/>
                <a:gd name="T42" fmla="*/ 388 w 481"/>
                <a:gd name="T43" fmla="*/ 66 h 145"/>
                <a:gd name="T44" fmla="*/ 413 w 481"/>
                <a:gd name="T45" fmla="*/ 45 h 145"/>
                <a:gd name="T46" fmla="*/ 442 w 481"/>
                <a:gd name="T47" fmla="*/ 20 h 145"/>
                <a:gd name="T48" fmla="*/ 471 w 481"/>
                <a:gd name="T49" fmla="*/ 11 h 145"/>
                <a:gd name="T50" fmla="*/ 472 w 481"/>
                <a:gd name="T51" fmla="*/ 19 h 145"/>
                <a:gd name="T52" fmla="*/ 458 w 481"/>
                <a:gd name="T53" fmla="*/ 37 h 145"/>
                <a:gd name="T54" fmla="*/ 442 w 481"/>
                <a:gd name="T55" fmla="*/ 54 h 145"/>
                <a:gd name="T56" fmla="*/ 431 w 481"/>
                <a:gd name="T57" fmla="*/ 71 h 145"/>
                <a:gd name="T58" fmla="*/ 431 w 481"/>
                <a:gd name="T59" fmla="*/ 89 h 145"/>
                <a:gd name="T60" fmla="*/ 443 w 481"/>
                <a:gd name="T61" fmla="*/ 108 h 145"/>
                <a:gd name="T62" fmla="*/ 457 w 481"/>
                <a:gd name="T63" fmla="*/ 122 h 145"/>
                <a:gd name="T64" fmla="*/ 470 w 481"/>
                <a:gd name="T65" fmla="*/ 133 h 145"/>
                <a:gd name="T66" fmla="*/ 471 w 481"/>
                <a:gd name="T67" fmla="*/ 138 h 145"/>
                <a:gd name="T68" fmla="*/ 453 w 481"/>
                <a:gd name="T69" fmla="*/ 138 h 145"/>
                <a:gd name="T70" fmla="*/ 437 w 481"/>
                <a:gd name="T71" fmla="*/ 134 h 145"/>
                <a:gd name="T72" fmla="*/ 421 w 481"/>
                <a:gd name="T73" fmla="*/ 126 h 145"/>
                <a:gd name="T74" fmla="*/ 396 w 481"/>
                <a:gd name="T75" fmla="*/ 109 h 145"/>
                <a:gd name="T76" fmla="*/ 365 w 481"/>
                <a:gd name="T77" fmla="*/ 107 h 145"/>
                <a:gd name="T78" fmla="*/ 328 w 481"/>
                <a:gd name="T79" fmla="*/ 111 h 145"/>
                <a:gd name="T80" fmla="*/ 304 w 481"/>
                <a:gd name="T81" fmla="*/ 121 h 145"/>
                <a:gd name="T82" fmla="*/ 296 w 481"/>
                <a:gd name="T83" fmla="*/ 132 h 145"/>
                <a:gd name="T84" fmla="*/ 263 w 481"/>
                <a:gd name="T85" fmla="*/ 131 h 145"/>
                <a:gd name="T86" fmla="*/ 235 w 481"/>
                <a:gd name="T87" fmla="*/ 140 h 145"/>
                <a:gd name="T88" fmla="*/ 130 w 481"/>
                <a:gd name="T89" fmla="*/ 144 h 145"/>
                <a:gd name="T90" fmla="*/ 70 w 481"/>
                <a:gd name="T91" fmla="*/ 138 h 145"/>
                <a:gd name="T92" fmla="*/ 17 w 481"/>
                <a:gd name="T93" fmla="*/ 120 h 145"/>
                <a:gd name="T94" fmla="*/ 17 w 481"/>
                <a:gd name="T95" fmla="*/ 110 h 145"/>
                <a:gd name="T96" fmla="*/ 5 w 481"/>
                <a:gd name="T97" fmla="*/ 99 h 145"/>
                <a:gd name="T98" fmla="*/ 1 w 481"/>
                <a:gd name="T99" fmla="*/ 92 h 14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481" h="145">
                  <a:moveTo>
                    <a:pt x="0" y="89"/>
                  </a:moveTo>
                  <a:lnTo>
                    <a:pt x="2" y="88"/>
                  </a:lnTo>
                  <a:lnTo>
                    <a:pt x="5" y="85"/>
                  </a:lnTo>
                  <a:lnTo>
                    <a:pt x="11" y="83"/>
                  </a:lnTo>
                  <a:lnTo>
                    <a:pt x="15" y="82"/>
                  </a:lnTo>
                  <a:lnTo>
                    <a:pt x="20" y="80"/>
                  </a:lnTo>
                  <a:lnTo>
                    <a:pt x="27" y="77"/>
                  </a:lnTo>
                  <a:lnTo>
                    <a:pt x="35" y="75"/>
                  </a:lnTo>
                  <a:lnTo>
                    <a:pt x="42" y="73"/>
                  </a:lnTo>
                  <a:lnTo>
                    <a:pt x="49" y="71"/>
                  </a:lnTo>
                  <a:lnTo>
                    <a:pt x="57" y="69"/>
                  </a:lnTo>
                  <a:lnTo>
                    <a:pt x="65" y="68"/>
                  </a:lnTo>
                  <a:lnTo>
                    <a:pt x="74" y="66"/>
                  </a:lnTo>
                  <a:lnTo>
                    <a:pt x="81" y="64"/>
                  </a:lnTo>
                  <a:lnTo>
                    <a:pt x="89" y="63"/>
                  </a:lnTo>
                  <a:lnTo>
                    <a:pt x="95" y="62"/>
                  </a:lnTo>
                  <a:lnTo>
                    <a:pt x="105" y="60"/>
                  </a:lnTo>
                  <a:lnTo>
                    <a:pt x="112" y="58"/>
                  </a:lnTo>
                  <a:lnTo>
                    <a:pt x="120" y="57"/>
                  </a:lnTo>
                  <a:lnTo>
                    <a:pt x="126" y="56"/>
                  </a:lnTo>
                  <a:lnTo>
                    <a:pt x="132" y="54"/>
                  </a:lnTo>
                  <a:lnTo>
                    <a:pt x="137" y="52"/>
                  </a:lnTo>
                  <a:lnTo>
                    <a:pt x="140" y="51"/>
                  </a:lnTo>
                  <a:lnTo>
                    <a:pt x="143" y="48"/>
                  </a:lnTo>
                  <a:lnTo>
                    <a:pt x="147" y="45"/>
                  </a:lnTo>
                  <a:lnTo>
                    <a:pt x="150" y="41"/>
                  </a:lnTo>
                  <a:lnTo>
                    <a:pt x="155" y="37"/>
                  </a:lnTo>
                  <a:lnTo>
                    <a:pt x="160" y="31"/>
                  </a:lnTo>
                  <a:lnTo>
                    <a:pt x="165" y="25"/>
                  </a:lnTo>
                  <a:lnTo>
                    <a:pt x="171" y="20"/>
                  </a:lnTo>
                  <a:lnTo>
                    <a:pt x="176" y="14"/>
                  </a:lnTo>
                  <a:lnTo>
                    <a:pt x="182" y="10"/>
                  </a:lnTo>
                  <a:lnTo>
                    <a:pt x="188" y="5"/>
                  </a:lnTo>
                  <a:lnTo>
                    <a:pt x="195" y="0"/>
                  </a:lnTo>
                  <a:lnTo>
                    <a:pt x="197" y="9"/>
                  </a:lnTo>
                  <a:lnTo>
                    <a:pt x="200" y="17"/>
                  </a:lnTo>
                  <a:lnTo>
                    <a:pt x="203" y="26"/>
                  </a:lnTo>
                  <a:lnTo>
                    <a:pt x="205" y="35"/>
                  </a:lnTo>
                  <a:lnTo>
                    <a:pt x="207" y="43"/>
                  </a:lnTo>
                  <a:lnTo>
                    <a:pt x="206" y="47"/>
                  </a:lnTo>
                  <a:lnTo>
                    <a:pt x="203" y="51"/>
                  </a:lnTo>
                  <a:lnTo>
                    <a:pt x="211" y="53"/>
                  </a:lnTo>
                  <a:lnTo>
                    <a:pt x="218" y="54"/>
                  </a:lnTo>
                  <a:lnTo>
                    <a:pt x="228" y="56"/>
                  </a:lnTo>
                  <a:lnTo>
                    <a:pt x="239" y="57"/>
                  </a:lnTo>
                  <a:lnTo>
                    <a:pt x="249" y="60"/>
                  </a:lnTo>
                  <a:lnTo>
                    <a:pt x="258" y="61"/>
                  </a:lnTo>
                  <a:lnTo>
                    <a:pt x="267" y="63"/>
                  </a:lnTo>
                  <a:lnTo>
                    <a:pt x="275" y="64"/>
                  </a:lnTo>
                  <a:lnTo>
                    <a:pt x="282" y="64"/>
                  </a:lnTo>
                  <a:lnTo>
                    <a:pt x="288" y="63"/>
                  </a:lnTo>
                  <a:lnTo>
                    <a:pt x="293" y="60"/>
                  </a:lnTo>
                  <a:lnTo>
                    <a:pt x="298" y="56"/>
                  </a:lnTo>
                  <a:lnTo>
                    <a:pt x="310" y="58"/>
                  </a:lnTo>
                  <a:lnTo>
                    <a:pt x="323" y="61"/>
                  </a:lnTo>
                  <a:lnTo>
                    <a:pt x="334" y="63"/>
                  </a:lnTo>
                  <a:lnTo>
                    <a:pt x="327" y="70"/>
                  </a:lnTo>
                  <a:lnTo>
                    <a:pt x="331" y="72"/>
                  </a:lnTo>
                  <a:lnTo>
                    <a:pt x="337" y="74"/>
                  </a:lnTo>
                  <a:lnTo>
                    <a:pt x="344" y="75"/>
                  </a:lnTo>
                  <a:lnTo>
                    <a:pt x="351" y="76"/>
                  </a:lnTo>
                  <a:lnTo>
                    <a:pt x="358" y="76"/>
                  </a:lnTo>
                  <a:lnTo>
                    <a:pt x="365" y="75"/>
                  </a:lnTo>
                  <a:lnTo>
                    <a:pt x="373" y="73"/>
                  </a:lnTo>
                  <a:lnTo>
                    <a:pt x="381" y="71"/>
                  </a:lnTo>
                  <a:lnTo>
                    <a:pt x="388" y="66"/>
                  </a:lnTo>
                  <a:lnTo>
                    <a:pt x="397" y="60"/>
                  </a:lnTo>
                  <a:lnTo>
                    <a:pt x="404" y="54"/>
                  </a:lnTo>
                  <a:lnTo>
                    <a:pt x="413" y="45"/>
                  </a:lnTo>
                  <a:lnTo>
                    <a:pt x="422" y="35"/>
                  </a:lnTo>
                  <a:lnTo>
                    <a:pt x="433" y="27"/>
                  </a:lnTo>
                  <a:lnTo>
                    <a:pt x="442" y="20"/>
                  </a:lnTo>
                  <a:lnTo>
                    <a:pt x="451" y="15"/>
                  </a:lnTo>
                  <a:lnTo>
                    <a:pt x="460" y="12"/>
                  </a:lnTo>
                  <a:lnTo>
                    <a:pt x="471" y="11"/>
                  </a:lnTo>
                  <a:lnTo>
                    <a:pt x="480" y="11"/>
                  </a:lnTo>
                  <a:lnTo>
                    <a:pt x="475" y="15"/>
                  </a:lnTo>
                  <a:lnTo>
                    <a:pt x="472" y="19"/>
                  </a:lnTo>
                  <a:lnTo>
                    <a:pt x="470" y="22"/>
                  </a:lnTo>
                  <a:lnTo>
                    <a:pt x="463" y="32"/>
                  </a:lnTo>
                  <a:lnTo>
                    <a:pt x="458" y="37"/>
                  </a:lnTo>
                  <a:lnTo>
                    <a:pt x="452" y="42"/>
                  </a:lnTo>
                  <a:lnTo>
                    <a:pt x="446" y="48"/>
                  </a:lnTo>
                  <a:lnTo>
                    <a:pt x="442" y="54"/>
                  </a:lnTo>
                  <a:lnTo>
                    <a:pt x="438" y="60"/>
                  </a:lnTo>
                  <a:lnTo>
                    <a:pt x="434" y="66"/>
                  </a:lnTo>
                  <a:lnTo>
                    <a:pt x="431" y="71"/>
                  </a:lnTo>
                  <a:lnTo>
                    <a:pt x="430" y="77"/>
                  </a:lnTo>
                  <a:lnTo>
                    <a:pt x="429" y="83"/>
                  </a:lnTo>
                  <a:lnTo>
                    <a:pt x="431" y="89"/>
                  </a:lnTo>
                  <a:lnTo>
                    <a:pt x="434" y="96"/>
                  </a:lnTo>
                  <a:lnTo>
                    <a:pt x="438" y="102"/>
                  </a:lnTo>
                  <a:lnTo>
                    <a:pt x="443" y="108"/>
                  </a:lnTo>
                  <a:lnTo>
                    <a:pt x="447" y="112"/>
                  </a:lnTo>
                  <a:lnTo>
                    <a:pt x="452" y="116"/>
                  </a:lnTo>
                  <a:lnTo>
                    <a:pt x="457" y="122"/>
                  </a:lnTo>
                  <a:lnTo>
                    <a:pt x="463" y="127"/>
                  </a:lnTo>
                  <a:lnTo>
                    <a:pt x="467" y="130"/>
                  </a:lnTo>
                  <a:lnTo>
                    <a:pt x="470" y="133"/>
                  </a:lnTo>
                  <a:lnTo>
                    <a:pt x="474" y="135"/>
                  </a:lnTo>
                  <a:lnTo>
                    <a:pt x="476" y="138"/>
                  </a:lnTo>
                  <a:lnTo>
                    <a:pt x="471" y="138"/>
                  </a:lnTo>
                  <a:lnTo>
                    <a:pt x="464" y="138"/>
                  </a:lnTo>
                  <a:lnTo>
                    <a:pt x="458" y="138"/>
                  </a:lnTo>
                  <a:lnTo>
                    <a:pt x="453" y="138"/>
                  </a:lnTo>
                  <a:lnTo>
                    <a:pt x="446" y="137"/>
                  </a:lnTo>
                  <a:lnTo>
                    <a:pt x="441" y="135"/>
                  </a:lnTo>
                  <a:lnTo>
                    <a:pt x="437" y="134"/>
                  </a:lnTo>
                  <a:lnTo>
                    <a:pt x="432" y="131"/>
                  </a:lnTo>
                  <a:lnTo>
                    <a:pt x="426" y="129"/>
                  </a:lnTo>
                  <a:lnTo>
                    <a:pt x="421" y="126"/>
                  </a:lnTo>
                  <a:lnTo>
                    <a:pt x="412" y="119"/>
                  </a:lnTo>
                  <a:lnTo>
                    <a:pt x="405" y="115"/>
                  </a:lnTo>
                  <a:lnTo>
                    <a:pt x="396" y="109"/>
                  </a:lnTo>
                  <a:lnTo>
                    <a:pt x="387" y="108"/>
                  </a:lnTo>
                  <a:lnTo>
                    <a:pt x="378" y="108"/>
                  </a:lnTo>
                  <a:lnTo>
                    <a:pt x="365" y="107"/>
                  </a:lnTo>
                  <a:lnTo>
                    <a:pt x="354" y="108"/>
                  </a:lnTo>
                  <a:lnTo>
                    <a:pt x="341" y="109"/>
                  </a:lnTo>
                  <a:lnTo>
                    <a:pt x="328" y="111"/>
                  </a:lnTo>
                  <a:lnTo>
                    <a:pt x="314" y="115"/>
                  </a:lnTo>
                  <a:lnTo>
                    <a:pt x="306" y="118"/>
                  </a:lnTo>
                  <a:lnTo>
                    <a:pt x="304" y="121"/>
                  </a:lnTo>
                  <a:lnTo>
                    <a:pt x="306" y="124"/>
                  </a:lnTo>
                  <a:lnTo>
                    <a:pt x="312" y="128"/>
                  </a:lnTo>
                  <a:lnTo>
                    <a:pt x="296" y="132"/>
                  </a:lnTo>
                  <a:lnTo>
                    <a:pt x="274" y="138"/>
                  </a:lnTo>
                  <a:lnTo>
                    <a:pt x="269" y="134"/>
                  </a:lnTo>
                  <a:lnTo>
                    <a:pt x="263" y="131"/>
                  </a:lnTo>
                  <a:lnTo>
                    <a:pt x="257" y="129"/>
                  </a:lnTo>
                  <a:lnTo>
                    <a:pt x="247" y="129"/>
                  </a:lnTo>
                  <a:lnTo>
                    <a:pt x="235" y="140"/>
                  </a:lnTo>
                  <a:lnTo>
                    <a:pt x="224" y="132"/>
                  </a:lnTo>
                  <a:lnTo>
                    <a:pt x="145" y="143"/>
                  </a:lnTo>
                  <a:lnTo>
                    <a:pt x="130" y="144"/>
                  </a:lnTo>
                  <a:lnTo>
                    <a:pt x="115" y="143"/>
                  </a:lnTo>
                  <a:lnTo>
                    <a:pt x="100" y="141"/>
                  </a:lnTo>
                  <a:lnTo>
                    <a:pt x="70" y="138"/>
                  </a:lnTo>
                  <a:lnTo>
                    <a:pt x="42" y="130"/>
                  </a:lnTo>
                  <a:lnTo>
                    <a:pt x="27" y="125"/>
                  </a:lnTo>
                  <a:lnTo>
                    <a:pt x="17" y="120"/>
                  </a:lnTo>
                  <a:lnTo>
                    <a:pt x="28" y="117"/>
                  </a:lnTo>
                  <a:lnTo>
                    <a:pt x="21" y="113"/>
                  </a:lnTo>
                  <a:lnTo>
                    <a:pt x="17" y="110"/>
                  </a:lnTo>
                  <a:lnTo>
                    <a:pt x="9" y="104"/>
                  </a:lnTo>
                  <a:lnTo>
                    <a:pt x="8" y="102"/>
                  </a:lnTo>
                  <a:lnTo>
                    <a:pt x="5" y="99"/>
                  </a:lnTo>
                  <a:lnTo>
                    <a:pt x="4" y="97"/>
                  </a:lnTo>
                  <a:lnTo>
                    <a:pt x="2" y="94"/>
                  </a:lnTo>
                  <a:lnTo>
                    <a:pt x="1" y="92"/>
                  </a:lnTo>
                  <a:lnTo>
                    <a:pt x="0" y="89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17" name="Group 563"/>
            <p:cNvGrpSpPr>
              <a:grpSpLocks/>
            </p:cNvGrpSpPr>
            <p:nvPr/>
          </p:nvGrpSpPr>
          <p:grpSpPr bwMode="auto">
            <a:xfrm>
              <a:off x="2666" y="2585"/>
              <a:ext cx="7" cy="7"/>
              <a:chOff x="2585" y="2769"/>
              <a:chExt cx="7" cy="7"/>
            </a:xfrm>
          </p:grpSpPr>
          <p:sp>
            <p:nvSpPr>
              <p:cNvPr id="8322" name="Oval 564" descr="50%"/>
              <p:cNvSpPr>
                <a:spLocks noChangeArrowheads="1"/>
              </p:cNvSpPr>
              <p:nvPr/>
            </p:nvSpPr>
            <p:spPr bwMode="auto">
              <a:xfrm>
                <a:off x="2585" y="2769"/>
                <a:ext cx="7" cy="7"/>
              </a:xfrm>
              <a:prstGeom prst="ellipse">
                <a:avLst/>
              </a:pr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23" name="Arc 565" descr="50%"/>
              <p:cNvSpPr>
                <a:spLocks/>
              </p:cNvSpPr>
              <p:nvPr/>
            </p:nvSpPr>
            <p:spPr bwMode="auto">
              <a:xfrm>
                <a:off x="2589" y="2772"/>
                <a:ext cx="2" cy="2"/>
              </a:xfrm>
              <a:custGeom>
                <a:avLst/>
                <a:gdLst>
                  <a:gd name="T0" fmla="*/ 1 w 43200"/>
                  <a:gd name="T1" fmla="*/ 0 h 43200"/>
                  <a:gd name="T2" fmla="*/ 0 w 43200"/>
                  <a:gd name="T3" fmla="*/ 0 h 43200"/>
                  <a:gd name="T4" fmla="*/ 1 w 43200"/>
                  <a:gd name="T5" fmla="*/ 1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5871"/>
                      <a:pt x="2275" y="10377"/>
                      <a:pt x="6326" y="6326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5871"/>
                      <a:pt x="2275" y="10377"/>
                      <a:pt x="6326" y="6326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218" name="Group 566"/>
            <p:cNvGrpSpPr>
              <a:grpSpLocks/>
            </p:cNvGrpSpPr>
            <p:nvPr/>
          </p:nvGrpSpPr>
          <p:grpSpPr bwMode="auto">
            <a:xfrm>
              <a:off x="2693" y="2601"/>
              <a:ext cx="30" cy="13"/>
              <a:chOff x="2612" y="2785"/>
              <a:chExt cx="30" cy="13"/>
            </a:xfrm>
          </p:grpSpPr>
          <p:sp>
            <p:nvSpPr>
              <p:cNvPr id="8317" name="Arc 567" descr="50%"/>
              <p:cNvSpPr>
                <a:spLocks/>
              </p:cNvSpPr>
              <p:nvPr/>
            </p:nvSpPr>
            <p:spPr bwMode="auto">
              <a:xfrm>
                <a:off x="2620" y="2785"/>
                <a:ext cx="2" cy="13"/>
              </a:xfrm>
              <a:custGeom>
                <a:avLst/>
                <a:gdLst>
                  <a:gd name="T0" fmla="*/ 0 w 35746"/>
                  <a:gd name="T1" fmla="*/ 1 h 43200"/>
                  <a:gd name="T2" fmla="*/ 0 w 35746"/>
                  <a:gd name="T3" fmla="*/ 11 h 43200"/>
                  <a:gd name="T4" fmla="*/ 1 w 35746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746" h="43200" fill="none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</a:path>
                  <a:path w="35746" h="43200" stroke="0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  <a:lnTo>
                      <a:pt x="14146" y="21600"/>
                    </a:lnTo>
                    <a:lnTo>
                      <a:pt x="2777" y="323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18" name="Arc 568" descr="50%"/>
              <p:cNvSpPr>
                <a:spLocks/>
              </p:cNvSpPr>
              <p:nvPr/>
            </p:nvSpPr>
            <p:spPr bwMode="auto">
              <a:xfrm>
                <a:off x="2612" y="2785"/>
                <a:ext cx="3" cy="13"/>
              </a:xfrm>
              <a:custGeom>
                <a:avLst/>
                <a:gdLst>
                  <a:gd name="T0" fmla="*/ 0 w 33372"/>
                  <a:gd name="T1" fmla="*/ 1 h 43200"/>
                  <a:gd name="T2" fmla="*/ 0 w 33372"/>
                  <a:gd name="T3" fmla="*/ 12 h 43200"/>
                  <a:gd name="T4" fmla="*/ 1 w 33372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372" h="43200" fill="none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</a:path>
                  <a:path w="33372" h="43200" stroke="0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  <a:lnTo>
                      <a:pt x="11772" y="21600"/>
                    </a:lnTo>
                    <a:lnTo>
                      <a:pt x="2675" y="200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19" name="Arc 569" descr="50%"/>
              <p:cNvSpPr>
                <a:spLocks/>
              </p:cNvSpPr>
              <p:nvPr/>
            </p:nvSpPr>
            <p:spPr bwMode="auto">
              <a:xfrm>
                <a:off x="2625" y="2785"/>
                <a:ext cx="3" cy="13"/>
              </a:xfrm>
              <a:custGeom>
                <a:avLst/>
                <a:gdLst>
                  <a:gd name="T0" fmla="*/ 0 w 33372"/>
                  <a:gd name="T1" fmla="*/ 1 h 43200"/>
                  <a:gd name="T2" fmla="*/ 0 w 33372"/>
                  <a:gd name="T3" fmla="*/ 12 h 43200"/>
                  <a:gd name="T4" fmla="*/ 1 w 33372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372" h="43200" fill="none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</a:path>
                  <a:path w="33372" h="43200" stroke="0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  <a:lnTo>
                      <a:pt x="11772" y="21600"/>
                    </a:lnTo>
                    <a:lnTo>
                      <a:pt x="2675" y="200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20" name="Arc 570" descr="50%"/>
              <p:cNvSpPr>
                <a:spLocks/>
              </p:cNvSpPr>
              <p:nvPr/>
            </p:nvSpPr>
            <p:spPr bwMode="auto">
              <a:xfrm>
                <a:off x="2633" y="2785"/>
                <a:ext cx="2" cy="13"/>
              </a:xfrm>
              <a:custGeom>
                <a:avLst/>
                <a:gdLst>
                  <a:gd name="T0" fmla="*/ 0 w 35746"/>
                  <a:gd name="T1" fmla="*/ 1 h 43200"/>
                  <a:gd name="T2" fmla="*/ 0 w 35746"/>
                  <a:gd name="T3" fmla="*/ 11 h 43200"/>
                  <a:gd name="T4" fmla="*/ 1 w 35746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746" h="43200" fill="none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</a:path>
                  <a:path w="35746" h="43200" stroke="0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  <a:lnTo>
                      <a:pt x="14146" y="21600"/>
                    </a:lnTo>
                    <a:lnTo>
                      <a:pt x="2777" y="323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21" name="Arc 571" descr="50%"/>
              <p:cNvSpPr>
                <a:spLocks/>
              </p:cNvSpPr>
              <p:nvPr/>
            </p:nvSpPr>
            <p:spPr bwMode="auto">
              <a:xfrm>
                <a:off x="2640" y="2785"/>
                <a:ext cx="2" cy="13"/>
              </a:xfrm>
              <a:custGeom>
                <a:avLst/>
                <a:gdLst>
                  <a:gd name="T0" fmla="*/ 0 w 35746"/>
                  <a:gd name="T1" fmla="*/ 1 h 43200"/>
                  <a:gd name="T2" fmla="*/ 0 w 35746"/>
                  <a:gd name="T3" fmla="*/ 11 h 43200"/>
                  <a:gd name="T4" fmla="*/ 1 w 35746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746" h="43200" fill="none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</a:path>
                  <a:path w="35746" h="43200" stroke="0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  <a:lnTo>
                      <a:pt x="14146" y="21600"/>
                    </a:lnTo>
                    <a:lnTo>
                      <a:pt x="2777" y="323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219" name="Freeform 572" descr="50%"/>
            <p:cNvSpPr>
              <a:spLocks/>
            </p:cNvSpPr>
            <p:nvPr/>
          </p:nvSpPr>
          <p:spPr bwMode="auto">
            <a:xfrm>
              <a:off x="2627" y="2494"/>
              <a:ext cx="471" cy="91"/>
            </a:xfrm>
            <a:custGeom>
              <a:avLst/>
              <a:gdLst>
                <a:gd name="T0" fmla="*/ 10 w 471"/>
                <a:gd name="T1" fmla="*/ 76 h 91"/>
                <a:gd name="T2" fmla="*/ 32 w 471"/>
                <a:gd name="T3" fmla="*/ 69 h 91"/>
                <a:gd name="T4" fmla="*/ 63 w 471"/>
                <a:gd name="T5" fmla="*/ 62 h 91"/>
                <a:gd name="T6" fmla="*/ 94 w 471"/>
                <a:gd name="T7" fmla="*/ 57 h 91"/>
                <a:gd name="T8" fmla="*/ 125 w 471"/>
                <a:gd name="T9" fmla="*/ 51 h 91"/>
                <a:gd name="T10" fmla="*/ 142 w 471"/>
                <a:gd name="T11" fmla="*/ 43 h 91"/>
                <a:gd name="T12" fmla="*/ 157 w 471"/>
                <a:gd name="T13" fmla="*/ 28 h 91"/>
                <a:gd name="T14" fmla="*/ 180 w 471"/>
                <a:gd name="T15" fmla="*/ 8 h 91"/>
                <a:gd name="T16" fmla="*/ 196 w 471"/>
                <a:gd name="T17" fmla="*/ 17 h 91"/>
                <a:gd name="T18" fmla="*/ 203 w 471"/>
                <a:gd name="T19" fmla="*/ 39 h 91"/>
                <a:gd name="T20" fmla="*/ 214 w 471"/>
                <a:gd name="T21" fmla="*/ 50 h 91"/>
                <a:gd name="T22" fmla="*/ 253 w 471"/>
                <a:gd name="T23" fmla="*/ 56 h 91"/>
                <a:gd name="T24" fmla="*/ 282 w 471"/>
                <a:gd name="T25" fmla="*/ 58 h 91"/>
                <a:gd name="T26" fmla="*/ 317 w 471"/>
                <a:gd name="T27" fmla="*/ 56 h 91"/>
                <a:gd name="T28" fmla="*/ 331 w 471"/>
                <a:gd name="T29" fmla="*/ 68 h 91"/>
                <a:gd name="T30" fmla="*/ 359 w 471"/>
                <a:gd name="T31" fmla="*/ 69 h 91"/>
                <a:gd name="T32" fmla="*/ 390 w 471"/>
                <a:gd name="T33" fmla="*/ 55 h 91"/>
                <a:gd name="T34" fmla="*/ 415 w 471"/>
                <a:gd name="T35" fmla="*/ 32 h 91"/>
                <a:gd name="T36" fmla="*/ 435 w 471"/>
                <a:gd name="T37" fmla="*/ 18 h 91"/>
                <a:gd name="T38" fmla="*/ 452 w 471"/>
                <a:gd name="T39" fmla="*/ 11 h 91"/>
                <a:gd name="T40" fmla="*/ 467 w 471"/>
                <a:gd name="T41" fmla="*/ 13 h 91"/>
                <a:gd name="T42" fmla="*/ 455 w 471"/>
                <a:gd name="T43" fmla="*/ 28 h 91"/>
                <a:gd name="T44" fmla="*/ 439 w 471"/>
                <a:gd name="T45" fmla="*/ 42 h 91"/>
                <a:gd name="T46" fmla="*/ 430 w 471"/>
                <a:gd name="T47" fmla="*/ 54 h 91"/>
                <a:gd name="T48" fmla="*/ 423 w 471"/>
                <a:gd name="T49" fmla="*/ 64 h 91"/>
                <a:gd name="T50" fmla="*/ 421 w 471"/>
                <a:gd name="T51" fmla="*/ 76 h 91"/>
                <a:gd name="T52" fmla="*/ 408 w 471"/>
                <a:gd name="T53" fmla="*/ 73 h 91"/>
                <a:gd name="T54" fmla="*/ 395 w 471"/>
                <a:gd name="T55" fmla="*/ 77 h 91"/>
                <a:gd name="T56" fmla="*/ 382 w 471"/>
                <a:gd name="T57" fmla="*/ 76 h 91"/>
                <a:gd name="T58" fmla="*/ 366 w 471"/>
                <a:gd name="T59" fmla="*/ 77 h 91"/>
                <a:gd name="T60" fmla="*/ 350 w 471"/>
                <a:gd name="T61" fmla="*/ 75 h 91"/>
                <a:gd name="T62" fmla="*/ 332 w 471"/>
                <a:gd name="T63" fmla="*/ 76 h 91"/>
                <a:gd name="T64" fmla="*/ 314 w 471"/>
                <a:gd name="T65" fmla="*/ 79 h 91"/>
                <a:gd name="T66" fmla="*/ 296 w 471"/>
                <a:gd name="T67" fmla="*/ 80 h 91"/>
                <a:gd name="T68" fmla="*/ 278 w 471"/>
                <a:gd name="T69" fmla="*/ 80 h 91"/>
                <a:gd name="T70" fmla="*/ 262 w 471"/>
                <a:gd name="T71" fmla="*/ 82 h 91"/>
                <a:gd name="T72" fmla="*/ 245 w 471"/>
                <a:gd name="T73" fmla="*/ 85 h 91"/>
                <a:gd name="T74" fmla="*/ 224 w 471"/>
                <a:gd name="T75" fmla="*/ 85 h 91"/>
                <a:gd name="T76" fmla="*/ 206 w 471"/>
                <a:gd name="T77" fmla="*/ 86 h 91"/>
                <a:gd name="T78" fmla="*/ 188 w 471"/>
                <a:gd name="T79" fmla="*/ 84 h 91"/>
                <a:gd name="T80" fmla="*/ 171 w 471"/>
                <a:gd name="T81" fmla="*/ 85 h 91"/>
                <a:gd name="T82" fmla="*/ 156 w 471"/>
                <a:gd name="T83" fmla="*/ 84 h 91"/>
                <a:gd name="T84" fmla="*/ 139 w 471"/>
                <a:gd name="T85" fmla="*/ 85 h 91"/>
                <a:gd name="T86" fmla="*/ 120 w 471"/>
                <a:gd name="T87" fmla="*/ 86 h 91"/>
                <a:gd name="T88" fmla="*/ 96 w 471"/>
                <a:gd name="T89" fmla="*/ 90 h 91"/>
                <a:gd name="T90" fmla="*/ 69 w 471"/>
                <a:gd name="T91" fmla="*/ 90 h 91"/>
                <a:gd name="T92" fmla="*/ 46 w 471"/>
                <a:gd name="T93" fmla="*/ 87 h 91"/>
                <a:gd name="T94" fmla="*/ 25 w 471"/>
                <a:gd name="T95" fmla="*/ 88 h 91"/>
                <a:gd name="T96" fmla="*/ 5 w 471"/>
                <a:gd name="T97" fmla="*/ 84 h 9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471" h="91">
                  <a:moveTo>
                    <a:pt x="0" y="82"/>
                  </a:moveTo>
                  <a:lnTo>
                    <a:pt x="3" y="80"/>
                  </a:lnTo>
                  <a:lnTo>
                    <a:pt x="6" y="78"/>
                  </a:lnTo>
                  <a:lnTo>
                    <a:pt x="10" y="76"/>
                  </a:lnTo>
                  <a:lnTo>
                    <a:pt x="14" y="75"/>
                  </a:lnTo>
                  <a:lnTo>
                    <a:pt x="19" y="73"/>
                  </a:lnTo>
                  <a:lnTo>
                    <a:pt x="27" y="72"/>
                  </a:lnTo>
                  <a:lnTo>
                    <a:pt x="32" y="69"/>
                  </a:lnTo>
                  <a:lnTo>
                    <a:pt x="39" y="67"/>
                  </a:lnTo>
                  <a:lnTo>
                    <a:pt x="47" y="65"/>
                  </a:lnTo>
                  <a:lnTo>
                    <a:pt x="55" y="63"/>
                  </a:lnTo>
                  <a:lnTo>
                    <a:pt x="63" y="62"/>
                  </a:lnTo>
                  <a:lnTo>
                    <a:pt x="71" y="61"/>
                  </a:lnTo>
                  <a:lnTo>
                    <a:pt x="79" y="60"/>
                  </a:lnTo>
                  <a:lnTo>
                    <a:pt x="87" y="58"/>
                  </a:lnTo>
                  <a:lnTo>
                    <a:pt x="94" y="57"/>
                  </a:lnTo>
                  <a:lnTo>
                    <a:pt x="101" y="55"/>
                  </a:lnTo>
                  <a:lnTo>
                    <a:pt x="110" y="54"/>
                  </a:lnTo>
                  <a:lnTo>
                    <a:pt x="117" y="52"/>
                  </a:lnTo>
                  <a:lnTo>
                    <a:pt x="125" y="51"/>
                  </a:lnTo>
                  <a:lnTo>
                    <a:pt x="130" y="50"/>
                  </a:lnTo>
                  <a:lnTo>
                    <a:pt x="135" y="49"/>
                  </a:lnTo>
                  <a:lnTo>
                    <a:pt x="139" y="46"/>
                  </a:lnTo>
                  <a:lnTo>
                    <a:pt x="142" y="43"/>
                  </a:lnTo>
                  <a:lnTo>
                    <a:pt x="145" y="40"/>
                  </a:lnTo>
                  <a:lnTo>
                    <a:pt x="147" y="38"/>
                  </a:lnTo>
                  <a:lnTo>
                    <a:pt x="152" y="33"/>
                  </a:lnTo>
                  <a:lnTo>
                    <a:pt x="157" y="28"/>
                  </a:lnTo>
                  <a:lnTo>
                    <a:pt x="162" y="23"/>
                  </a:lnTo>
                  <a:lnTo>
                    <a:pt x="168" y="18"/>
                  </a:lnTo>
                  <a:lnTo>
                    <a:pt x="173" y="13"/>
                  </a:lnTo>
                  <a:lnTo>
                    <a:pt x="180" y="8"/>
                  </a:lnTo>
                  <a:lnTo>
                    <a:pt x="186" y="4"/>
                  </a:lnTo>
                  <a:lnTo>
                    <a:pt x="191" y="0"/>
                  </a:lnTo>
                  <a:lnTo>
                    <a:pt x="193" y="8"/>
                  </a:lnTo>
                  <a:lnTo>
                    <a:pt x="196" y="17"/>
                  </a:lnTo>
                  <a:lnTo>
                    <a:pt x="199" y="24"/>
                  </a:lnTo>
                  <a:lnTo>
                    <a:pt x="201" y="32"/>
                  </a:lnTo>
                  <a:lnTo>
                    <a:pt x="202" y="36"/>
                  </a:lnTo>
                  <a:lnTo>
                    <a:pt x="203" y="39"/>
                  </a:lnTo>
                  <a:lnTo>
                    <a:pt x="202" y="43"/>
                  </a:lnTo>
                  <a:lnTo>
                    <a:pt x="199" y="47"/>
                  </a:lnTo>
                  <a:lnTo>
                    <a:pt x="206" y="49"/>
                  </a:lnTo>
                  <a:lnTo>
                    <a:pt x="214" y="50"/>
                  </a:lnTo>
                  <a:lnTo>
                    <a:pt x="224" y="51"/>
                  </a:lnTo>
                  <a:lnTo>
                    <a:pt x="234" y="53"/>
                  </a:lnTo>
                  <a:lnTo>
                    <a:pt x="245" y="55"/>
                  </a:lnTo>
                  <a:lnTo>
                    <a:pt x="253" y="56"/>
                  </a:lnTo>
                  <a:lnTo>
                    <a:pt x="262" y="58"/>
                  </a:lnTo>
                  <a:lnTo>
                    <a:pt x="269" y="59"/>
                  </a:lnTo>
                  <a:lnTo>
                    <a:pt x="276" y="59"/>
                  </a:lnTo>
                  <a:lnTo>
                    <a:pt x="282" y="58"/>
                  </a:lnTo>
                  <a:lnTo>
                    <a:pt x="288" y="55"/>
                  </a:lnTo>
                  <a:lnTo>
                    <a:pt x="293" y="51"/>
                  </a:lnTo>
                  <a:lnTo>
                    <a:pt x="305" y="53"/>
                  </a:lnTo>
                  <a:lnTo>
                    <a:pt x="317" y="56"/>
                  </a:lnTo>
                  <a:lnTo>
                    <a:pt x="326" y="58"/>
                  </a:lnTo>
                  <a:lnTo>
                    <a:pt x="321" y="64"/>
                  </a:lnTo>
                  <a:lnTo>
                    <a:pt x="325" y="66"/>
                  </a:lnTo>
                  <a:lnTo>
                    <a:pt x="331" y="68"/>
                  </a:lnTo>
                  <a:lnTo>
                    <a:pt x="338" y="69"/>
                  </a:lnTo>
                  <a:lnTo>
                    <a:pt x="345" y="70"/>
                  </a:lnTo>
                  <a:lnTo>
                    <a:pt x="352" y="70"/>
                  </a:lnTo>
                  <a:lnTo>
                    <a:pt x="359" y="69"/>
                  </a:lnTo>
                  <a:lnTo>
                    <a:pt x="366" y="68"/>
                  </a:lnTo>
                  <a:lnTo>
                    <a:pt x="374" y="65"/>
                  </a:lnTo>
                  <a:lnTo>
                    <a:pt x="382" y="61"/>
                  </a:lnTo>
                  <a:lnTo>
                    <a:pt x="390" y="55"/>
                  </a:lnTo>
                  <a:lnTo>
                    <a:pt x="397" y="49"/>
                  </a:lnTo>
                  <a:lnTo>
                    <a:pt x="405" y="41"/>
                  </a:lnTo>
                  <a:lnTo>
                    <a:pt x="409" y="38"/>
                  </a:lnTo>
                  <a:lnTo>
                    <a:pt x="415" y="32"/>
                  </a:lnTo>
                  <a:lnTo>
                    <a:pt x="420" y="28"/>
                  </a:lnTo>
                  <a:lnTo>
                    <a:pt x="425" y="25"/>
                  </a:lnTo>
                  <a:lnTo>
                    <a:pt x="430" y="21"/>
                  </a:lnTo>
                  <a:lnTo>
                    <a:pt x="435" y="18"/>
                  </a:lnTo>
                  <a:lnTo>
                    <a:pt x="440" y="17"/>
                  </a:lnTo>
                  <a:lnTo>
                    <a:pt x="443" y="14"/>
                  </a:lnTo>
                  <a:lnTo>
                    <a:pt x="447" y="13"/>
                  </a:lnTo>
                  <a:lnTo>
                    <a:pt x="452" y="11"/>
                  </a:lnTo>
                  <a:lnTo>
                    <a:pt x="456" y="11"/>
                  </a:lnTo>
                  <a:lnTo>
                    <a:pt x="462" y="10"/>
                  </a:lnTo>
                  <a:lnTo>
                    <a:pt x="470" y="10"/>
                  </a:lnTo>
                  <a:lnTo>
                    <a:pt x="467" y="13"/>
                  </a:lnTo>
                  <a:lnTo>
                    <a:pt x="463" y="17"/>
                  </a:lnTo>
                  <a:lnTo>
                    <a:pt x="461" y="19"/>
                  </a:lnTo>
                  <a:lnTo>
                    <a:pt x="458" y="24"/>
                  </a:lnTo>
                  <a:lnTo>
                    <a:pt x="455" y="28"/>
                  </a:lnTo>
                  <a:lnTo>
                    <a:pt x="450" y="32"/>
                  </a:lnTo>
                  <a:lnTo>
                    <a:pt x="444" y="37"/>
                  </a:lnTo>
                  <a:lnTo>
                    <a:pt x="441" y="39"/>
                  </a:lnTo>
                  <a:lnTo>
                    <a:pt x="439" y="42"/>
                  </a:lnTo>
                  <a:lnTo>
                    <a:pt x="436" y="46"/>
                  </a:lnTo>
                  <a:lnTo>
                    <a:pt x="434" y="49"/>
                  </a:lnTo>
                  <a:lnTo>
                    <a:pt x="432" y="51"/>
                  </a:lnTo>
                  <a:lnTo>
                    <a:pt x="430" y="54"/>
                  </a:lnTo>
                  <a:lnTo>
                    <a:pt x="428" y="57"/>
                  </a:lnTo>
                  <a:lnTo>
                    <a:pt x="426" y="60"/>
                  </a:lnTo>
                  <a:lnTo>
                    <a:pt x="425" y="62"/>
                  </a:lnTo>
                  <a:lnTo>
                    <a:pt x="423" y="64"/>
                  </a:lnTo>
                  <a:lnTo>
                    <a:pt x="422" y="68"/>
                  </a:lnTo>
                  <a:lnTo>
                    <a:pt x="422" y="70"/>
                  </a:lnTo>
                  <a:lnTo>
                    <a:pt x="421" y="73"/>
                  </a:lnTo>
                  <a:lnTo>
                    <a:pt x="421" y="76"/>
                  </a:lnTo>
                  <a:lnTo>
                    <a:pt x="418" y="74"/>
                  </a:lnTo>
                  <a:lnTo>
                    <a:pt x="414" y="73"/>
                  </a:lnTo>
                  <a:lnTo>
                    <a:pt x="411" y="73"/>
                  </a:lnTo>
                  <a:lnTo>
                    <a:pt x="408" y="73"/>
                  </a:lnTo>
                  <a:lnTo>
                    <a:pt x="404" y="74"/>
                  </a:lnTo>
                  <a:lnTo>
                    <a:pt x="402" y="76"/>
                  </a:lnTo>
                  <a:lnTo>
                    <a:pt x="399" y="76"/>
                  </a:lnTo>
                  <a:lnTo>
                    <a:pt x="395" y="77"/>
                  </a:lnTo>
                  <a:lnTo>
                    <a:pt x="392" y="78"/>
                  </a:lnTo>
                  <a:lnTo>
                    <a:pt x="388" y="77"/>
                  </a:lnTo>
                  <a:lnTo>
                    <a:pt x="384" y="77"/>
                  </a:lnTo>
                  <a:lnTo>
                    <a:pt x="382" y="76"/>
                  </a:lnTo>
                  <a:lnTo>
                    <a:pt x="379" y="75"/>
                  </a:lnTo>
                  <a:lnTo>
                    <a:pt x="375" y="75"/>
                  </a:lnTo>
                  <a:lnTo>
                    <a:pt x="371" y="76"/>
                  </a:lnTo>
                  <a:lnTo>
                    <a:pt x="366" y="77"/>
                  </a:lnTo>
                  <a:lnTo>
                    <a:pt x="363" y="76"/>
                  </a:lnTo>
                  <a:lnTo>
                    <a:pt x="359" y="76"/>
                  </a:lnTo>
                  <a:lnTo>
                    <a:pt x="355" y="75"/>
                  </a:lnTo>
                  <a:lnTo>
                    <a:pt x="350" y="75"/>
                  </a:lnTo>
                  <a:lnTo>
                    <a:pt x="347" y="76"/>
                  </a:lnTo>
                  <a:lnTo>
                    <a:pt x="341" y="77"/>
                  </a:lnTo>
                  <a:lnTo>
                    <a:pt x="337" y="77"/>
                  </a:lnTo>
                  <a:lnTo>
                    <a:pt x="332" y="76"/>
                  </a:lnTo>
                  <a:lnTo>
                    <a:pt x="328" y="76"/>
                  </a:lnTo>
                  <a:lnTo>
                    <a:pt x="323" y="77"/>
                  </a:lnTo>
                  <a:lnTo>
                    <a:pt x="320" y="78"/>
                  </a:lnTo>
                  <a:lnTo>
                    <a:pt x="314" y="79"/>
                  </a:lnTo>
                  <a:lnTo>
                    <a:pt x="310" y="80"/>
                  </a:lnTo>
                  <a:lnTo>
                    <a:pt x="305" y="80"/>
                  </a:lnTo>
                  <a:lnTo>
                    <a:pt x="301" y="80"/>
                  </a:lnTo>
                  <a:lnTo>
                    <a:pt x="296" y="80"/>
                  </a:lnTo>
                  <a:lnTo>
                    <a:pt x="291" y="78"/>
                  </a:lnTo>
                  <a:lnTo>
                    <a:pt x="286" y="80"/>
                  </a:lnTo>
                  <a:lnTo>
                    <a:pt x="282" y="80"/>
                  </a:lnTo>
                  <a:lnTo>
                    <a:pt x="278" y="80"/>
                  </a:lnTo>
                  <a:lnTo>
                    <a:pt x="274" y="80"/>
                  </a:lnTo>
                  <a:lnTo>
                    <a:pt x="270" y="80"/>
                  </a:lnTo>
                  <a:lnTo>
                    <a:pt x="266" y="80"/>
                  </a:lnTo>
                  <a:lnTo>
                    <a:pt x="262" y="82"/>
                  </a:lnTo>
                  <a:lnTo>
                    <a:pt x="259" y="83"/>
                  </a:lnTo>
                  <a:lnTo>
                    <a:pt x="254" y="84"/>
                  </a:lnTo>
                  <a:lnTo>
                    <a:pt x="250" y="84"/>
                  </a:lnTo>
                  <a:lnTo>
                    <a:pt x="245" y="85"/>
                  </a:lnTo>
                  <a:lnTo>
                    <a:pt x="240" y="86"/>
                  </a:lnTo>
                  <a:lnTo>
                    <a:pt x="234" y="85"/>
                  </a:lnTo>
                  <a:lnTo>
                    <a:pt x="228" y="85"/>
                  </a:lnTo>
                  <a:lnTo>
                    <a:pt x="224" y="85"/>
                  </a:lnTo>
                  <a:lnTo>
                    <a:pt x="218" y="86"/>
                  </a:lnTo>
                  <a:lnTo>
                    <a:pt x="214" y="86"/>
                  </a:lnTo>
                  <a:lnTo>
                    <a:pt x="210" y="86"/>
                  </a:lnTo>
                  <a:lnTo>
                    <a:pt x="206" y="86"/>
                  </a:lnTo>
                  <a:lnTo>
                    <a:pt x="201" y="86"/>
                  </a:lnTo>
                  <a:lnTo>
                    <a:pt x="196" y="84"/>
                  </a:lnTo>
                  <a:lnTo>
                    <a:pt x="192" y="84"/>
                  </a:lnTo>
                  <a:lnTo>
                    <a:pt x="188" y="84"/>
                  </a:lnTo>
                  <a:lnTo>
                    <a:pt x="184" y="84"/>
                  </a:lnTo>
                  <a:lnTo>
                    <a:pt x="180" y="84"/>
                  </a:lnTo>
                  <a:lnTo>
                    <a:pt x="175" y="84"/>
                  </a:lnTo>
                  <a:lnTo>
                    <a:pt x="171" y="85"/>
                  </a:lnTo>
                  <a:lnTo>
                    <a:pt x="167" y="85"/>
                  </a:lnTo>
                  <a:lnTo>
                    <a:pt x="164" y="84"/>
                  </a:lnTo>
                  <a:lnTo>
                    <a:pt x="160" y="84"/>
                  </a:lnTo>
                  <a:lnTo>
                    <a:pt x="156" y="84"/>
                  </a:lnTo>
                  <a:lnTo>
                    <a:pt x="152" y="84"/>
                  </a:lnTo>
                  <a:lnTo>
                    <a:pt x="149" y="84"/>
                  </a:lnTo>
                  <a:lnTo>
                    <a:pt x="145" y="84"/>
                  </a:lnTo>
                  <a:lnTo>
                    <a:pt x="139" y="85"/>
                  </a:lnTo>
                  <a:lnTo>
                    <a:pt x="135" y="85"/>
                  </a:lnTo>
                  <a:lnTo>
                    <a:pt x="130" y="84"/>
                  </a:lnTo>
                  <a:lnTo>
                    <a:pt x="125" y="85"/>
                  </a:lnTo>
                  <a:lnTo>
                    <a:pt x="120" y="86"/>
                  </a:lnTo>
                  <a:lnTo>
                    <a:pt x="116" y="88"/>
                  </a:lnTo>
                  <a:lnTo>
                    <a:pt x="111" y="89"/>
                  </a:lnTo>
                  <a:lnTo>
                    <a:pt x="104" y="90"/>
                  </a:lnTo>
                  <a:lnTo>
                    <a:pt x="96" y="90"/>
                  </a:lnTo>
                  <a:lnTo>
                    <a:pt x="89" y="90"/>
                  </a:lnTo>
                  <a:lnTo>
                    <a:pt x="82" y="90"/>
                  </a:lnTo>
                  <a:lnTo>
                    <a:pt x="74" y="90"/>
                  </a:lnTo>
                  <a:lnTo>
                    <a:pt x="69" y="90"/>
                  </a:lnTo>
                  <a:lnTo>
                    <a:pt x="65" y="90"/>
                  </a:lnTo>
                  <a:lnTo>
                    <a:pt x="60" y="90"/>
                  </a:lnTo>
                  <a:lnTo>
                    <a:pt x="54" y="90"/>
                  </a:lnTo>
                  <a:lnTo>
                    <a:pt x="46" y="87"/>
                  </a:lnTo>
                  <a:lnTo>
                    <a:pt x="40" y="87"/>
                  </a:lnTo>
                  <a:lnTo>
                    <a:pt x="35" y="88"/>
                  </a:lnTo>
                  <a:lnTo>
                    <a:pt x="29" y="88"/>
                  </a:lnTo>
                  <a:lnTo>
                    <a:pt x="25" y="88"/>
                  </a:lnTo>
                  <a:lnTo>
                    <a:pt x="20" y="87"/>
                  </a:lnTo>
                  <a:lnTo>
                    <a:pt x="15" y="86"/>
                  </a:lnTo>
                  <a:lnTo>
                    <a:pt x="10" y="85"/>
                  </a:lnTo>
                  <a:lnTo>
                    <a:pt x="5" y="84"/>
                  </a:lnTo>
                  <a:lnTo>
                    <a:pt x="0" y="83"/>
                  </a:lnTo>
                  <a:lnTo>
                    <a:pt x="0" y="82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20" name="Group 573"/>
            <p:cNvGrpSpPr>
              <a:grpSpLocks/>
            </p:cNvGrpSpPr>
            <p:nvPr/>
          </p:nvGrpSpPr>
          <p:grpSpPr bwMode="auto">
            <a:xfrm>
              <a:off x="2723" y="2609"/>
              <a:ext cx="69" cy="51"/>
              <a:chOff x="2642" y="2793"/>
              <a:chExt cx="69" cy="51"/>
            </a:xfrm>
          </p:grpSpPr>
          <p:sp>
            <p:nvSpPr>
              <p:cNvPr id="8315" name="Freeform 574" descr="50%"/>
              <p:cNvSpPr>
                <a:spLocks/>
              </p:cNvSpPr>
              <p:nvPr/>
            </p:nvSpPr>
            <p:spPr bwMode="auto">
              <a:xfrm>
                <a:off x="2642" y="2799"/>
                <a:ext cx="69" cy="45"/>
              </a:xfrm>
              <a:custGeom>
                <a:avLst/>
                <a:gdLst>
                  <a:gd name="T0" fmla="*/ 64 w 69"/>
                  <a:gd name="T1" fmla="*/ 39 h 45"/>
                  <a:gd name="T2" fmla="*/ 60 w 69"/>
                  <a:gd name="T3" fmla="*/ 35 h 45"/>
                  <a:gd name="T4" fmla="*/ 58 w 69"/>
                  <a:gd name="T5" fmla="*/ 33 h 45"/>
                  <a:gd name="T6" fmla="*/ 56 w 69"/>
                  <a:gd name="T7" fmla="*/ 31 h 45"/>
                  <a:gd name="T8" fmla="*/ 54 w 69"/>
                  <a:gd name="T9" fmla="*/ 28 h 45"/>
                  <a:gd name="T10" fmla="*/ 52 w 69"/>
                  <a:gd name="T11" fmla="*/ 26 h 45"/>
                  <a:gd name="T12" fmla="*/ 50 w 69"/>
                  <a:gd name="T13" fmla="*/ 23 h 45"/>
                  <a:gd name="T14" fmla="*/ 48 w 69"/>
                  <a:gd name="T15" fmla="*/ 21 h 45"/>
                  <a:gd name="T16" fmla="*/ 47 w 69"/>
                  <a:gd name="T17" fmla="*/ 17 h 45"/>
                  <a:gd name="T18" fmla="*/ 46 w 69"/>
                  <a:gd name="T19" fmla="*/ 14 h 45"/>
                  <a:gd name="T20" fmla="*/ 45 w 69"/>
                  <a:gd name="T21" fmla="*/ 11 h 45"/>
                  <a:gd name="T22" fmla="*/ 44 w 69"/>
                  <a:gd name="T23" fmla="*/ 8 h 45"/>
                  <a:gd name="T24" fmla="*/ 44 w 69"/>
                  <a:gd name="T25" fmla="*/ 4 h 45"/>
                  <a:gd name="T26" fmla="*/ 44 w 69"/>
                  <a:gd name="T27" fmla="*/ 0 h 45"/>
                  <a:gd name="T28" fmla="*/ 0 w 69"/>
                  <a:gd name="T29" fmla="*/ 0 h 45"/>
                  <a:gd name="T30" fmla="*/ 1 w 69"/>
                  <a:gd name="T31" fmla="*/ 3 h 45"/>
                  <a:gd name="T32" fmla="*/ 3 w 69"/>
                  <a:gd name="T33" fmla="*/ 6 h 45"/>
                  <a:gd name="T34" fmla="*/ 5 w 69"/>
                  <a:gd name="T35" fmla="*/ 9 h 45"/>
                  <a:gd name="T36" fmla="*/ 8 w 69"/>
                  <a:gd name="T37" fmla="*/ 12 h 45"/>
                  <a:gd name="T38" fmla="*/ 11 w 69"/>
                  <a:gd name="T39" fmla="*/ 16 h 45"/>
                  <a:gd name="T40" fmla="*/ 14 w 69"/>
                  <a:gd name="T41" fmla="*/ 19 h 45"/>
                  <a:gd name="T42" fmla="*/ 18 w 69"/>
                  <a:gd name="T43" fmla="*/ 22 h 45"/>
                  <a:gd name="T44" fmla="*/ 21 w 69"/>
                  <a:gd name="T45" fmla="*/ 25 h 45"/>
                  <a:gd name="T46" fmla="*/ 25 w 69"/>
                  <a:gd name="T47" fmla="*/ 28 h 45"/>
                  <a:gd name="T48" fmla="*/ 30 w 69"/>
                  <a:gd name="T49" fmla="*/ 32 h 45"/>
                  <a:gd name="T50" fmla="*/ 34 w 69"/>
                  <a:gd name="T51" fmla="*/ 34 h 45"/>
                  <a:gd name="T52" fmla="*/ 38 w 69"/>
                  <a:gd name="T53" fmla="*/ 36 h 45"/>
                  <a:gd name="T54" fmla="*/ 41 w 69"/>
                  <a:gd name="T55" fmla="*/ 38 h 45"/>
                  <a:gd name="T56" fmla="*/ 45 w 69"/>
                  <a:gd name="T57" fmla="*/ 39 h 45"/>
                  <a:gd name="T58" fmla="*/ 49 w 69"/>
                  <a:gd name="T59" fmla="*/ 41 h 45"/>
                  <a:gd name="T60" fmla="*/ 53 w 69"/>
                  <a:gd name="T61" fmla="*/ 42 h 45"/>
                  <a:gd name="T62" fmla="*/ 58 w 69"/>
                  <a:gd name="T63" fmla="*/ 43 h 45"/>
                  <a:gd name="T64" fmla="*/ 62 w 69"/>
                  <a:gd name="T65" fmla="*/ 43 h 45"/>
                  <a:gd name="T66" fmla="*/ 65 w 69"/>
                  <a:gd name="T67" fmla="*/ 43 h 45"/>
                  <a:gd name="T68" fmla="*/ 68 w 69"/>
                  <a:gd name="T69" fmla="*/ 44 h 45"/>
                  <a:gd name="T70" fmla="*/ 64 w 69"/>
                  <a:gd name="T71" fmla="*/ 39 h 4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69" h="45">
                    <a:moveTo>
                      <a:pt x="64" y="39"/>
                    </a:moveTo>
                    <a:lnTo>
                      <a:pt x="60" y="35"/>
                    </a:lnTo>
                    <a:lnTo>
                      <a:pt x="58" y="33"/>
                    </a:lnTo>
                    <a:lnTo>
                      <a:pt x="56" y="31"/>
                    </a:lnTo>
                    <a:lnTo>
                      <a:pt x="54" y="28"/>
                    </a:lnTo>
                    <a:lnTo>
                      <a:pt x="52" y="26"/>
                    </a:lnTo>
                    <a:lnTo>
                      <a:pt x="50" y="23"/>
                    </a:lnTo>
                    <a:lnTo>
                      <a:pt x="48" y="21"/>
                    </a:lnTo>
                    <a:lnTo>
                      <a:pt x="47" y="17"/>
                    </a:lnTo>
                    <a:lnTo>
                      <a:pt x="46" y="14"/>
                    </a:lnTo>
                    <a:lnTo>
                      <a:pt x="45" y="11"/>
                    </a:lnTo>
                    <a:lnTo>
                      <a:pt x="44" y="8"/>
                    </a:lnTo>
                    <a:lnTo>
                      <a:pt x="44" y="4"/>
                    </a:lnTo>
                    <a:lnTo>
                      <a:pt x="44" y="0"/>
                    </a:lnTo>
                    <a:lnTo>
                      <a:pt x="0" y="0"/>
                    </a:lnTo>
                    <a:lnTo>
                      <a:pt x="1" y="3"/>
                    </a:lnTo>
                    <a:lnTo>
                      <a:pt x="3" y="6"/>
                    </a:lnTo>
                    <a:lnTo>
                      <a:pt x="5" y="9"/>
                    </a:lnTo>
                    <a:lnTo>
                      <a:pt x="8" y="12"/>
                    </a:lnTo>
                    <a:lnTo>
                      <a:pt x="11" y="16"/>
                    </a:lnTo>
                    <a:lnTo>
                      <a:pt x="14" y="19"/>
                    </a:lnTo>
                    <a:lnTo>
                      <a:pt x="18" y="22"/>
                    </a:lnTo>
                    <a:lnTo>
                      <a:pt x="21" y="25"/>
                    </a:lnTo>
                    <a:lnTo>
                      <a:pt x="25" y="28"/>
                    </a:lnTo>
                    <a:lnTo>
                      <a:pt x="30" y="32"/>
                    </a:lnTo>
                    <a:lnTo>
                      <a:pt x="34" y="34"/>
                    </a:lnTo>
                    <a:lnTo>
                      <a:pt x="38" y="36"/>
                    </a:lnTo>
                    <a:lnTo>
                      <a:pt x="41" y="38"/>
                    </a:lnTo>
                    <a:lnTo>
                      <a:pt x="45" y="39"/>
                    </a:lnTo>
                    <a:lnTo>
                      <a:pt x="49" y="41"/>
                    </a:lnTo>
                    <a:lnTo>
                      <a:pt x="53" y="42"/>
                    </a:lnTo>
                    <a:lnTo>
                      <a:pt x="58" y="43"/>
                    </a:lnTo>
                    <a:lnTo>
                      <a:pt x="62" y="43"/>
                    </a:lnTo>
                    <a:lnTo>
                      <a:pt x="65" y="43"/>
                    </a:lnTo>
                    <a:lnTo>
                      <a:pt x="68" y="44"/>
                    </a:lnTo>
                    <a:lnTo>
                      <a:pt x="64" y="39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16" name="Freeform 575" descr="50%"/>
              <p:cNvSpPr>
                <a:spLocks/>
              </p:cNvSpPr>
              <p:nvPr/>
            </p:nvSpPr>
            <p:spPr bwMode="auto">
              <a:xfrm>
                <a:off x="2643" y="2793"/>
                <a:ext cx="36" cy="6"/>
              </a:xfrm>
              <a:custGeom>
                <a:avLst/>
                <a:gdLst>
                  <a:gd name="T0" fmla="*/ 0 w 36"/>
                  <a:gd name="T1" fmla="*/ 5 h 6"/>
                  <a:gd name="T2" fmla="*/ 0 w 36"/>
                  <a:gd name="T3" fmla="*/ 3 h 6"/>
                  <a:gd name="T4" fmla="*/ 1 w 36"/>
                  <a:gd name="T5" fmla="*/ 0 h 6"/>
                  <a:gd name="T6" fmla="*/ 35 w 36"/>
                  <a:gd name="T7" fmla="*/ 0 h 6"/>
                  <a:gd name="T8" fmla="*/ 35 w 36"/>
                  <a:gd name="T9" fmla="*/ 5 h 6"/>
                  <a:gd name="T10" fmla="*/ 0 w 36"/>
                  <a:gd name="T11" fmla="*/ 5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6" h="6">
                    <a:moveTo>
                      <a:pt x="0" y="5"/>
                    </a:moveTo>
                    <a:lnTo>
                      <a:pt x="0" y="3"/>
                    </a:lnTo>
                    <a:lnTo>
                      <a:pt x="1" y="0"/>
                    </a:lnTo>
                    <a:lnTo>
                      <a:pt x="35" y="0"/>
                    </a:lnTo>
                    <a:lnTo>
                      <a:pt x="35" y="5"/>
                    </a:lnTo>
                    <a:lnTo>
                      <a:pt x="0" y="5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221" name="Freeform 576" descr="50%"/>
            <p:cNvSpPr>
              <a:spLocks/>
            </p:cNvSpPr>
            <p:nvPr/>
          </p:nvSpPr>
          <p:spPr bwMode="auto">
            <a:xfrm>
              <a:off x="3275" y="2601"/>
              <a:ext cx="58" cy="46"/>
            </a:xfrm>
            <a:custGeom>
              <a:avLst/>
              <a:gdLst>
                <a:gd name="T0" fmla="*/ 0 w 58"/>
                <a:gd name="T1" fmla="*/ 0 h 46"/>
                <a:gd name="T2" fmla="*/ 2 w 58"/>
                <a:gd name="T3" fmla="*/ 5 h 46"/>
                <a:gd name="T4" fmla="*/ 5 w 58"/>
                <a:gd name="T5" fmla="*/ 9 h 46"/>
                <a:gd name="T6" fmla="*/ 9 w 58"/>
                <a:gd name="T7" fmla="*/ 14 h 46"/>
                <a:gd name="T8" fmla="*/ 12 w 58"/>
                <a:gd name="T9" fmla="*/ 18 h 46"/>
                <a:gd name="T10" fmla="*/ 16 w 58"/>
                <a:gd name="T11" fmla="*/ 23 h 46"/>
                <a:gd name="T12" fmla="*/ 21 w 58"/>
                <a:gd name="T13" fmla="*/ 28 h 46"/>
                <a:gd name="T14" fmla="*/ 24 w 58"/>
                <a:gd name="T15" fmla="*/ 32 h 46"/>
                <a:gd name="T16" fmla="*/ 28 w 58"/>
                <a:gd name="T17" fmla="*/ 35 h 46"/>
                <a:gd name="T18" fmla="*/ 32 w 58"/>
                <a:gd name="T19" fmla="*/ 38 h 46"/>
                <a:gd name="T20" fmla="*/ 36 w 58"/>
                <a:gd name="T21" fmla="*/ 40 h 46"/>
                <a:gd name="T22" fmla="*/ 41 w 58"/>
                <a:gd name="T23" fmla="*/ 42 h 46"/>
                <a:gd name="T24" fmla="*/ 45 w 58"/>
                <a:gd name="T25" fmla="*/ 44 h 46"/>
                <a:gd name="T26" fmla="*/ 50 w 58"/>
                <a:gd name="T27" fmla="*/ 45 h 46"/>
                <a:gd name="T28" fmla="*/ 54 w 58"/>
                <a:gd name="T29" fmla="*/ 45 h 46"/>
                <a:gd name="T30" fmla="*/ 57 w 58"/>
                <a:gd name="T31" fmla="*/ 44 h 46"/>
                <a:gd name="T32" fmla="*/ 54 w 58"/>
                <a:gd name="T33" fmla="*/ 41 h 46"/>
                <a:gd name="T34" fmla="*/ 51 w 58"/>
                <a:gd name="T35" fmla="*/ 37 h 46"/>
                <a:gd name="T36" fmla="*/ 48 w 58"/>
                <a:gd name="T37" fmla="*/ 33 h 46"/>
                <a:gd name="T38" fmla="*/ 45 w 58"/>
                <a:gd name="T39" fmla="*/ 29 h 46"/>
                <a:gd name="T40" fmla="*/ 42 w 58"/>
                <a:gd name="T41" fmla="*/ 24 h 46"/>
                <a:gd name="T42" fmla="*/ 40 w 58"/>
                <a:gd name="T43" fmla="*/ 20 h 46"/>
                <a:gd name="T44" fmla="*/ 38 w 58"/>
                <a:gd name="T45" fmla="*/ 16 h 46"/>
                <a:gd name="T46" fmla="*/ 37 w 58"/>
                <a:gd name="T47" fmla="*/ 10 h 46"/>
                <a:gd name="T48" fmla="*/ 37 w 58"/>
                <a:gd name="T49" fmla="*/ 5 h 46"/>
                <a:gd name="T50" fmla="*/ 37 w 58"/>
                <a:gd name="T51" fmla="*/ 1 h 46"/>
                <a:gd name="T52" fmla="*/ 0 w 58"/>
                <a:gd name="T53" fmla="*/ 0 h 4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58" h="46">
                  <a:moveTo>
                    <a:pt x="0" y="0"/>
                  </a:moveTo>
                  <a:lnTo>
                    <a:pt x="2" y="5"/>
                  </a:lnTo>
                  <a:lnTo>
                    <a:pt x="5" y="9"/>
                  </a:lnTo>
                  <a:lnTo>
                    <a:pt x="9" y="14"/>
                  </a:lnTo>
                  <a:lnTo>
                    <a:pt x="12" y="18"/>
                  </a:lnTo>
                  <a:lnTo>
                    <a:pt x="16" y="23"/>
                  </a:lnTo>
                  <a:lnTo>
                    <a:pt x="21" y="28"/>
                  </a:lnTo>
                  <a:lnTo>
                    <a:pt x="24" y="32"/>
                  </a:lnTo>
                  <a:lnTo>
                    <a:pt x="28" y="35"/>
                  </a:lnTo>
                  <a:lnTo>
                    <a:pt x="32" y="38"/>
                  </a:lnTo>
                  <a:lnTo>
                    <a:pt x="36" y="40"/>
                  </a:lnTo>
                  <a:lnTo>
                    <a:pt x="41" y="42"/>
                  </a:lnTo>
                  <a:lnTo>
                    <a:pt x="45" y="44"/>
                  </a:lnTo>
                  <a:lnTo>
                    <a:pt x="50" y="45"/>
                  </a:lnTo>
                  <a:lnTo>
                    <a:pt x="54" y="45"/>
                  </a:lnTo>
                  <a:lnTo>
                    <a:pt x="57" y="44"/>
                  </a:lnTo>
                  <a:lnTo>
                    <a:pt x="54" y="41"/>
                  </a:lnTo>
                  <a:lnTo>
                    <a:pt x="51" y="37"/>
                  </a:lnTo>
                  <a:lnTo>
                    <a:pt x="48" y="33"/>
                  </a:lnTo>
                  <a:lnTo>
                    <a:pt x="45" y="29"/>
                  </a:lnTo>
                  <a:lnTo>
                    <a:pt x="42" y="24"/>
                  </a:lnTo>
                  <a:lnTo>
                    <a:pt x="40" y="20"/>
                  </a:lnTo>
                  <a:lnTo>
                    <a:pt x="38" y="16"/>
                  </a:lnTo>
                  <a:lnTo>
                    <a:pt x="37" y="10"/>
                  </a:lnTo>
                  <a:lnTo>
                    <a:pt x="37" y="5"/>
                  </a:lnTo>
                  <a:lnTo>
                    <a:pt x="37" y="1"/>
                  </a:lnTo>
                  <a:lnTo>
                    <a:pt x="0" y="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2" name="Freeform 577" descr="50%"/>
            <p:cNvSpPr>
              <a:spLocks/>
            </p:cNvSpPr>
            <p:nvPr/>
          </p:nvSpPr>
          <p:spPr bwMode="auto">
            <a:xfrm>
              <a:off x="3154" y="2493"/>
              <a:ext cx="481" cy="145"/>
            </a:xfrm>
            <a:custGeom>
              <a:avLst/>
              <a:gdLst>
                <a:gd name="T0" fmla="*/ 5 w 481"/>
                <a:gd name="T1" fmla="*/ 85 h 145"/>
                <a:gd name="T2" fmla="*/ 20 w 481"/>
                <a:gd name="T3" fmla="*/ 80 h 145"/>
                <a:gd name="T4" fmla="*/ 42 w 481"/>
                <a:gd name="T5" fmla="*/ 73 h 145"/>
                <a:gd name="T6" fmla="*/ 65 w 481"/>
                <a:gd name="T7" fmla="*/ 68 h 145"/>
                <a:gd name="T8" fmla="*/ 89 w 481"/>
                <a:gd name="T9" fmla="*/ 63 h 145"/>
                <a:gd name="T10" fmla="*/ 112 w 481"/>
                <a:gd name="T11" fmla="*/ 58 h 145"/>
                <a:gd name="T12" fmla="*/ 132 w 481"/>
                <a:gd name="T13" fmla="*/ 54 h 145"/>
                <a:gd name="T14" fmla="*/ 143 w 481"/>
                <a:gd name="T15" fmla="*/ 48 h 145"/>
                <a:gd name="T16" fmla="*/ 155 w 481"/>
                <a:gd name="T17" fmla="*/ 37 h 145"/>
                <a:gd name="T18" fmla="*/ 171 w 481"/>
                <a:gd name="T19" fmla="*/ 20 h 145"/>
                <a:gd name="T20" fmla="*/ 188 w 481"/>
                <a:gd name="T21" fmla="*/ 5 h 145"/>
                <a:gd name="T22" fmla="*/ 200 w 481"/>
                <a:gd name="T23" fmla="*/ 17 h 145"/>
                <a:gd name="T24" fmla="*/ 207 w 481"/>
                <a:gd name="T25" fmla="*/ 43 h 145"/>
                <a:gd name="T26" fmla="*/ 211 w 481"/>
                <a:gd name="T27" fmla="*/ 53 h 145"/>
                <a:gd name="T28" fmla="*/ 239 w 481"/>
                <a:gd name="T29" fmla="*/ 57 h 145"/>
                <a:gd name="T30" fmla="*/ 267 w 481"/>
                <a:gd name="T31" fmla="*/ 63 h 145"/>
                <a:gd name="T32" fmla="*/ 288 w 481"/>
                <a:gd name="T33" fmla="*/ 63 h 145"/>
                <a:gd name="T34" fmla="*/ 310 w 481"/>
                <a:gd name="T35" fmla="*/ 58 h 145"/>
                <a:gd name="T36" fmla="*/ 327 w 481"/>
                <a:gd name="T37" fmla="*/ 70 h 145"/>
                <a:gd name="T38" fmla="*/ 344 w 481"/>
                <a:gd name="T39" fmla="*/ 75 h 145"/>
                <a:gd name="T40" fmla="*/ 365 w 481"/>
                <a:gd name="T41" fmla="*/ 75 h 145"/>
                <a:gd name="T42" fmla="*/ 388 w 481"/>
                <a:gd name="T43" fmla="*/ 66 h 145"/>
                <a:gd name="T44" fmla="*/ 413 w 481"/>
                <a:gd name="T45" fmla="*/ 45 h 145"/>
                <a:gd name="T46" fmla="*/ 442 w 481"/>
                <a:gd name="T47" fmla="*/ 20 h 145"/>
                <a:gd name="T48" fmla="*/ 471 w 481"/>
                <a:gd name="T49" fmla="*/ 11 h 145"/>
                <a:gd name="T50" fmla="*/ 472 w 481"/>
                <a:gd name="T51" fmla="*/ 19 h 145"/>
                <a:gd name="T52" fmla="*/ 458 w 481"/>
                <a:gd name="T53" fmla="*/ 37 h 145"/>
                <a:gd name="T54" fmla="*/ 442 w 481"/>
                <a:gd name="T55" fmla="*/ 54 h 145"/>
                <a:gd name="T56" fmla="*/ 431 w 481"/>
                <a:gd name="T57" fmla="*/ 71 h 145"/>
                <a:gd name="T58" fmla="*/ 431 w 481"/>
                <a:gd name="T59" fmla="*/ 89 h 145"/>
                <a:gd name="T60" fmla="*/ 443 w 481"/>
                <a:gd name="T61" fmla="*/ 108 h 145"/>
                <a:gd name="T62" fmla="*/ 457 w 481"/>
                <a:gd name="T63" fmla="*/ 122 h 145"/>
                <a:gd name="T64" fmla="*/ 470 w 481"/>
                <a:gd name="T65" fmla="*/ 133 h 145"/>
                <a:gd name="T66" fmla="*/ 471 w 481"/>
                <a:gd name="T67" fmla="*/ 138 h 145"/>
                <a:gd name="T68" fmla="*/ 453 w 481"/>
                <a:gd name="T69" fmla="*/ 138 h 145"/>
                <a:gd name="T70" fmla="*/ 437 w 481"/>
                <a:gd name="T71" fmla="*/ 134 h 145"/>
                <a:gd name="T72" fmla="*/ 421 w 481"/>
                <a:gd name="T73" fmla="*/ 126 h 145"/>
                <a:gd name="T74" fmla="*/ 396 w 481"/>
                <a:gd name="T75" fmla="*/ 109 h 145"/>
                <a:gd name="T76" fmla="*/ 365 w 481"/>
                <a:gd name="T77" fmla="*/ 107 h 145"/>
                <a:gd name="T78" fmla="*/ 328 w 481"/>
                <a:gd name="T79" fmla="*/ 111 h 145"/>
                <a:gd name="T80" fmla="*/ 304 w 481"/>
                <a:gd name="T81" fmla="*/ 121 h 145"/>
                <a:gd name="T82" fmla="*/ 296 w 481"/>
                <a:gd name="T83" fmla="*/ 132 h 145"/>
                <a:gd name="T84" fmla="*/ 263 w 481"/>
                <a:gd name="T85" fmla="*/ 131 h 145"/>
                <a:gd name="T86" fmla="*/ 235 w 481"/>
                <a:gd name="T87" fmla="*/ 140 h 145"/>
                <a:gd name="T88" fmla="*/ 130 w 481"/>
                <a:gd name="T89" fmla="*/ 144 h 145"/>
                <a:gd name="T90" fmla="*/ 70 w 481"/>
                <a:gd name="T91" fmla="*/ 138 h 145"/>
                <a:gd name="T92" fmla="*/ 17 w 481"/>
                <a:gd name="T93" fmla="*/ 120 h 145"/>
                <a:gd name="T94" fmla="*/ 17 w 481"/>
                <a:gd name="T95" fmla="*/ 110 h 145"/>
                <a:gd name="T96" fmla="*/ 5 w 481"/>
                <a:gd name="T97" fmla="*/ 99 h 145"/>
                <a:gd name="T98" fmla="*/ 1 w 481"/>
                <a:gd name="T99" fmla="*/ 92 h 14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481" h="145">
                  <a:moveTo>
                    <a:pt x="0" y="89"/>
                  </a:moveTo>
                  <a:lnTo>
                    <a:pt x="2" y="88"/>
                  </a:lnTo>
                  <a:lnTo>
                    <a:pt x="5" y="85"/>
                  </a:lnTo>
                  <a:lnTo>
                    <a:pt x="11" y="83"/>
                  </a:lnTo>
                  <a:lnTo>
                    <a:pt x="15" y="82"/>
                  </a:lnTo>
                  <a:lnTo>
                    <a:pt x="20" y="80"/>
                  </a:lnTo>
                  <a:lnTo>
                    <a:pt x="27" y="77"/>
                  </a:lnTo>
                  <a:lnTo>
                    <a:pt x="35" y="75"/>
                  </a:lnTo>
                  <a:lnTo>
                    <a:pt x="42" y="73"/>
                  </a:lnTo>
                  <a:lnTo>
                    <a:pt x="49" y="71"/>
                  </a:lnTo>
                  <a:lnTo>
                    <a:pt x="57" y="69"/>
                  </a:lnTo>
                  <a:lnTo>
                    <a:pt x="65" y="68"/>
                  </a:lnTo>
                  <a:lnTo>
                    <a:pt x="74" y="66"/>
                  </a:lnTo>
                  <a:lnTo>
                    <a:pt x="81" y="64"/>
                  </a:lnTo>
                  <a:lnTo>
                    <a:pt x="89" y="63"/>
                  </a:lnTo>
                  <a:lnTo>
                    <a:pt x="95" y="62"/>
                  </a:lnTo>
                  <a:lnTo>
                    <a:pt x="105" y="60"/>
                  </a:lnTo>
                  <a:lnTo>
                    <a:pt x="112" y="58"/>
                  </a:lnTo>
                  <a:lnTo>
                    <a:pt x="120" y="57"/>
                  </a:lnTo>
                  <a:lnTo>
                    <a:pt x="126" y="56"/>
                  </a:lnTo>
                  <a:lnTo>
                    <a:pt x="132" y="54"/>
                  </a:lnTo>
                  <a:lnTo>
                    <a:pt x="137" y="52"/>
                  </a:lnTo>
                  <a:lnTo>
                    <a:pt x="140" y="51"/>
                  </a:lnTo>
                  <a:lnTo>
                    <a:pt x="143" y="48"/>
                  </a:lnTo>
                  <a:lnTo>
                    <a:pt x="147" y="45"/>
                  </a:lnTo>
                  <a:lnTo>
                    <a:pt x="150" y="41"/>
                  </a:lnTo>
                  <a:lnTo>
                    <a:pt x="155" y="37"/>
                  </a:lnTo>
                  <a:lnTo>
                    <a:pt x="160" y="31"/>
                  </a:lnTo>
                  <a:lnTo>
                    <a:pt x="165" y="25"/>
                  </a:lnTo>
                  <a:lnTo>
                    <a:pt x="171" y="20"/>
                  </a:lnTo>
                  <a:lnTo>
                    <a:pt x="176" y="14"/>
                  </a:lnTo>
                  <a:lnTo>
                    <a:pt x="182" y="10"/>
                  </a:lnTo>
                  <a:lnTo>
                    <a:pt x="188" y="5"/>
                  </a:lnTo>
                  <a:lnTo>
                    <a:pt x="195" y="0"/>
                  </a:lnTo>
                  <a:lnTo>
                    <a:pt x="197" y="9"/>
                  </a:lnTo>
                  <a:lnTo>
                    <a:pt x="200" y="17"/>
                  </a:lnTo>
                  <a:lnTo>
                    <a:pt x="203" y="26"/>
                  </a:lnTo>
                  <a:lnTo>
                    <a:pt x="205" y="35"/>
                  </a:lnTo>
                  <a:lnTo>
                    <a:pt x="207" y="43"/>
                  </a:lnTo>
                  <a:lnTo>
                    <a:pt x="206" y="47"/>
                  </a:lnTo>
                  <a:lnTo>
                    <a:pt x="203" y="51"/>
                  </a:lnTo>
                  <a:lnTo>
                    <a:pt x="211" y="53"/>
                  </a:lnTo>
                  <a:lnTo>
                    <a:pt x="218" y="54"/>
                  </a:lnTo>
                  <a:lnTo>
                    <a:pt x="228" y="56"/>
                  </a:lnTo>
                  <a:lnTo>
                    <a:pt x="239" y="57"/>
                  </a:lnTo>
                  <a:lnTo>
                    <a:pt x="249" y="60"/>
                  </a:lnTo>
                  <a:lnTo>
                    <a:pt x="258" y="61"/>
                  </a:lnTo>
                  <a:lnTo>
                    <a:pt x="267" y="63"/>
                  </a:lnTo>
                  <a:lnTo>
                    <a:pt x="275" y="64"/>
                  </a:lnTo>
                  <a:lnTo>
                    <a:pt x="282" y="64"/>
                  </a:lnTo>
                  <a:lnTo>
                    <a:pt x="288" y="63"/>
                  </a:lnTo>
                  <a:lnTo>
                    <a:pt x="293" y="60"/>
                  </a:lnTo>
                  <a:lnTo>
                    <a:pt x="298" y="56"/>
                  </a:lnTo>
                  <a:lnTo>
                    <a:pt x="310" y="58"/>
                  </a:lnTo>
                  <a:lnTo>
                    <a:pt x="323" y="61"/>
                  </a:lnTo>
                  <a:lnTo>
                    <a:pt x="334" y="63"/>
                  </a:lnTo>
                  <a:lnTo>
                    <a:pt x="327" y="70"/>
                  </a:lnTo>
                  <a:lnTo>
                    <a:pt x="331" y="72"/>
                  </a:lnTo>
                  <a:lnTo>
                    <a:pt x="337" y="74"/>
                  </a:lnTo>
                  <a:lnTo>
                    <a:pt x="344" y="75"/>
                  </a:lnTo>
                  <a:lnTo>
                    <a:pt x="351" y="76"/>
                  </a:lnTo>
                  <a:lnTo>
                    <a:pt x="358" y="76"/>
                  </a:lnTo>
                  <a:lnTo>
                    <a:pt x="365" y="75"/>
                  </a:lnTo>
                  <a:lnTo>
                    <a:pt x="373" y="73"/>
                  </a:lnTo>
                  <a:lnTo>
                    <a:pt x="381" y="71"/>
                  </a:lnTo>
                  <a:lnTo>
                    <a:pt x="388" y="66"/>
                  </a:lnTo>
                  <a:lnTo>
                    <a:pt x="397" y="60"/>
                  </a:lnTo>
                  <a:lnTo>
                    <a:pt x="404" y="54"/>
                  </a:lnTo>
                  <a:lnTo>
                    <a:pt x="413" y="45"/>
                  </a:lnTo>
                  <a:lnTo>
                    <a:pt x="422" y="35"/>
                  </a:lnTo>
                  <a:lnTo>
                    <a:pt x="433" y="27"/>
                  </a:lnTo>
                  <a:lnTo>
                    <a:pt x="442" y="20"/>
                  </a:lnTo>
                  <a:lnTo>
                    <a:pt x="451" y="15"/>
                  </a:lnTo>
                  <a:lnTo>
                    <a:pt x="460" y="12"/>
                  </a:lnTo>
                  <a:lnTo>
                    <a:pt x="471" y="11"/>
                  </a:lnTo>
                  <a:lnTo>
                    <a:pt x="480" y="11"/>
                  </a:lnTo>
                  <a:lnTo>
                    <a:pt x="475" y="15"/>
                  </a:lnTo>
                  <a:lnTo>
                    <a:pt x="472" y="19"/>
                  </a:lnTo>
                  <a:lnTo>
                    <a:pt x="470" y="22"/>
                  </a:lnTo>
                  <a:lnTo>
                    <a:pt x="463" y="32"/>
                  </a:lnTo>
                  <a:lnTo>
                    <a:pt x="458" y="37"/>
                  </a:lnTo>
                  <a:lnTo>
                    <a:pt x="452" y="42"/>
                  </a:lnTo>
                  <a:lnTo>
                    <a:pt x="446" y="48"/>
                  </a:lnTo>
                  <a:lnTo>
                    <a:pt x="442" y="54"/>
                  </a:lnTo>
                  <a:lnTo>
                    <a:pt x="438" y="60"/>
                  </a:lnTo>
                  <a:lnTo>
                    <a:pt x="434" y="66"/>
                  </a:lnTo>
                  <a:lnTo>
                    <a:pt x="431" y="71"/>
                  </a:lnTo>
                  <a:lnTo>
                    <a:pt x="430" y="77"/>
                  </a:lnTo>
                  <a:lnTo>
                    <a:pt x="429" y="83"/>
                  </a:lnTo>
                  <a:lnTo>
                    <a:pt x="431" y="89"/>
                  </a:lnTo>
                  <a:lnTo>
                    <a:pt x="434" y="96"/>
                  </a:lnTo>
                  <a:lnTo>
                    <a:pt x="438" y="102"/>
                  </a:lnTo>
                  <a:lnTo>
                    <a:pt x="443" y="108"/>
                  </a:lnTo>
                  <a:lnTo>
                    <a:pt x="447" y="112"/>
                  </a:lnTo>
                  <a:lnTo>
                    <a:pt x="452" y="116"/>
                  </a:lnTo>
                  <a:lnTo>
                    <a:pt x="457" y="122"/>
                  </a:lnTo>
                  <a:lnTo>
                    <a:pt x="463" y="127"/>
                  </a:lnTo>
                  <a:lnTo>
                    <a:pt x="467" y="130"/>
                  </a:lnTo>
                  <a:lnTo>
                    <a:pt x="470" y="133"/>
                  </a:lnTo>
                  <a:lnTo>
                    <a:pt x="474" y="135"/>
                  </a:lnTo>
                  <a:lnTo>
                    <a:pt x="476" y="138"/>
                  </a:lnTo>
                  <a:lnTo>
                    <a:pt x="471" y="138"/>
                  </a:lnTo>
                  <a:lnTo>
                    <a:pt x="464" y="138"/>
                  </a:lnTo>
                  <a:lnTo>
                    <a:pt x="458" y="138"/>
                  </a:lnTo>
                  <a:lnTo>
                    <a:pt x="453" y="138"/>
                  </a:lnTo>
                  <a:lnTo>
                    <a:pt x="446" y="137"/>
                  </a:lnTo>
                  <a:lnTo>
                    <a:pt x="441" y="135"/>
                  </a:lnTo>
                  <a:lnTo>
                    <a:pt x="437" y="134"/>
                  </a:lnTo>
                  <a:lnTo>
                    <a:pt x="432" y="131"/>
                  </a:lnTo>
                  <a:lnTo>
                    <a:pt x="426" y="129"/>
                  </a:lnTo>
                  <a:lnTo>
                    <a:pt x="421" y="126"/>
                  </a:lnTo>
                  <a:lnTo>
                    <a:pt x="412" y="119"/>
                  </a:lnTo>
                  <a:lnTo>
                    <a:pt x="405" y="115"/>
                  </a:lnTo>
                  <a:lnTo>
                    <a:pt x="396" y="109"/>
                  </a:lnTo>
                  <a:lnTo>
                    <a:pt x="387" y="108"/>
                  </a:lnTo>
                  <a:lnTo>
                    <a:pt x="378" y="108"/>
                  </a:lnTo>
                  <a:lnTo>
                    <a:pt x="365" y="107"/>
                  </a:lnTo>
                  <a:lnTo>
                    <a:pt x="354" y="108"/>
                  </a:lnTo>
                  <a:lnTo>
                    <a:pt x="341" y="109"/>
                  </a:lnTo>
                  <a:lnTo>
                    <a:pt x="328" y="111"/>
                  </a:lnTo>
                  <a:lnTo>
                    <a:pt x="314" y="115"/>
                  </a:lnTo>
                  <a:lnTo>
                    <a:pt x="306" y="118"/>
                  </a:lnTo>
                  <a:lnTo>
                    <a:pt x="304" y="121"/>
                  </a:lnTo>
                  <a:lnTo>
                    <a:pt x="306" y="124"/>
                  </a:lnTo>
                  <a:lnTo>
                    <a:pt x="312" y="128"/>
                  </a:lnTo>
                  <a:lnTo>
                    <a:pt x="296" y="132"/>
                  </a:lnTo>
                  <a:lnTo>
                    <a:pt x="274" y="138"/>
                  </a:lnTo>
                  <a:lnTo>
                    <a:pt x="269" y="134"/>
                  </a:lnTo>
                  <a:lnTo>
                    <a:pt x="263" y="131"/>
                  </a:lnTo>
                  <a:lnTo>
                    <a:pt x="257" y="129"/>
                  </a:lnTo>
                  <a:lnTo>
                    <a:pt x="247" y="129"/>
                  </a:lnTo>
                  <a:lnTo>
                    <a:pt x="235" y="140"/>
                  </a:lnTo>
                  <a:lnTo>
                    <a:pt x="224" y="132"/>
                  </a:lnTo>
                  <a:lnTo>
                    <a:pt x="145" y="143"/>
                  </a:lnTo>
                  <a:lnTo>
                    <a:pt x="130" y="144"/>
                  </a:lnTo>
                  <a:lnTo>
                    <a:pt x="115" y="143"/>
                  </a:lnTo>
                  <a:lnTo>
                    <a:pt x="100" y="141"/>
                  </a:lnTo>
                  <a:lnTo>
                    <a:pt x="70" y="138"/>
                  </a:lnTo>
                  <a:lnTo>
                    <a:pt x="42" y="130"/>
                  </a:lnTo>
                  <a:lnTo>
                    <a:pt x="27" y="125"/>
                  </a:lnTo>
                  <a:lnTo>
                    <a:pt x="17" y="120"/>
                  </a:lnTo>
                  <a:lnTo>
                    <a:pt x="28" y="117"/>
                  </a:lnTo>
                  <a:lnTo>
                    <a:pt x="21" y="113"/>
                  </a:lnTo>
                  <a:lnTo>
                    <a:pt x="17" y="110"/>
                  </a:lnTo>
                  <a:lnTo>
                    <a:pt x="9" y="104"/>
                  </a:lnTo>
                  <a:lnTo>
                    <a:pt x="8" y="102"/>
                  </a:lnTo>
                  <a:lnTo>
                    <a:pt x="5" y="99"/>
                  </a:lnTo>
                  <a:lnTo>
                    <a:pt x="4" y="97"/>
                  </a:lnTo>
                  <a:lnTo>
                    <a:pt x="2" y="94"/>
                  </a:lnTo>
                  <a:lnTo>
                    <a:pt x="1" y="92"/>
                  </a:lnTo>
                  <a:lnTo>
                    <a:pt x="0" y="89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23" name="Group 578"/>
            <p:cNvGrpSpPr>
              <a:grpSpLocks/>
            </p:cNvGrpSpPr>
            <p:nvPr/>
          </p:nvGrpSpPr>
          <p:grpSpPr bwMode="auto">
            <a:xfrm>
              <a:off x="3194" y="2585"/>
              <a:ext cx="7" cy="7"/>
              <a:chOff x="3113" y="2769"/>
              <a:chExt cx="7" cy="7"/>
            </a:xfrm>
          </p:grpSpPr>
          <p:sp>
            <p:nvSpPr>
              <p:cNvPr id="8313" name="Oval 579" descr="50%"/>
              <p:cNvSpPr>
                <a:spLocks noChangeArrowheads="1"/>
              </p:cNvSpPr>
              <p:nvPr/>
            </p:nvSpPr>
            <p:spPr bwMode="auto">
              <a:xfrm>
                <a:off x="3113" y="2769"/>
                <a:ext cx="7" cy="7"/>
              </a:xfrm>
              <a:prstGeom prst="ellipse">
                <a:avLst/>
              </a:pr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14" name="Arc 580" descr="50%"/>
              <p:cNvSpPr>
                <a:spLocks/>
              </p:cNvSpPr>
              <p:nvPr/>
            </p:nvSpPr>
            <p:spPr bwMode="auto">
              <a:xfrm>
                <a:off x="3117" y="2772"/>
                <a:ext cx="2" cy="2"/>
              </a:xfrm>
              <a:custGeom>
                <a:avLst/>
                <a:gdLst>
                  <a:gd name="T0" fmla="*/ 1 w 43200"/>
                  <a:gd name="T1" fmla="*/ 0 h 43200"/>
                  <a:gd name="T2" fmla="*/ 0 w 43200"/>
                  <a:gd name="T3" fmla="*/ 0 h 43200"/>
                  <a:gd name="T4" fmla="*/ 1 w 43200"/>
                  <a:gd name="T5" fmla="*/ 1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5871"/>
                      <a:pt x="2275" y="10377"/>
                      <a:pt x="6326" y="6326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5871"/>
                      <a:pt x="2275" y="10377"/>
                      <a:pt x="6326" y="6326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224" name="Group 581"/>
            <p:cNvGrpSpPr>
              <a:grpSpLocks/>
            </p:cNvGrpSpPr>
            <p:nvPr/>
          </p:nvGrpSpPr>
          <p:grpSpPr bwMode="auto">
            <a:xfrm>
              <a:off x="3221" y="2601"/>
              <a:ext cx="30" cy="13"/>
              <a:chOff x="3140" y="2785"/>
              <a:chExt cx="30" cy="13"/>
            </a:xfrm>
          </p:grpSpPr>
          <p:sp>
            <p:nvSpPr>
              <p:cNvPr id="8308" name="Arc 582" descr="50%"/>
              <p:cNvSpPr>
                <a:spLocks/>
              </p:cNvSpPr>
              <p:nvPr/>
            </p:nvSpPr>
            <p:spPr bwMode="auto">
              <a:xfrm>
                <a:off x="3148" y="2785"/>
                <a:ext cx="2" cy="13"/>
              </a:xfrm>
              <a:custGeom>
                <a:avLst/>
                <a:gdLst>
                  <a:gd name="T0" fmla="*/ 0 w 35746"/>
                  <a:gd name="T1" fmla="*/ 1 h 43200"/>
                  <a:gd name="T2" fmla="*/ 0 w 35746"/>
                  <a:gd name="T3" fmla="*/ 11 h 43200"/>
                  <a:gd name="T4" fmla="*/ 1 w 35746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746" h="43200" fill="none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</a:path>
                  <a:path w="35746" h="43200" stroke="0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  <a:lnTo>
                      <a:pt x="14146" y="21600"/>
                    </a:lnTo>
                    <a:lnTo>
                      <a:pt x="2777" y="323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09" name="Arc 583" descr="50%"/>
              <p:cNvSpPr>
                <a:spLocks/>
              </p:cNvSpPr>
              <p:nvPr/>
            </p:nvSpPr>
            <p:spPr bwMode="auto">
              <a:xfrm>
                <a:off x="3140" y="2785"/>
                <a:ext cx="3" cy="13"/>
              </a:xfrm>
              <a:custGeom>
                <a:avLst/>
                <a:gdLst>
                  <a:gd name="T0" fmla="*/ 0 w 33372"/>
                  <a:gd name="T1" fmla="*/ 1 h 43200"/>
                  <a:gd name="T2" fmla="*/ 0 w 33372"/>
                  <a:gd name="T3" fmla="*/ 12 h 43200"/>
                  <a:gd name="T4" fmla="*/ 1 w 33372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372" h="43200" fill="none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</a:path>
                  <a:path w="33372" h="43200" stroke="0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  <a:lnTo>
                      <a:pt x="11772" y="21600"/>
                    </a:lnTo>
                    <a:lnTo>
                      <a:pt x="2675" y="200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10" name="Arc 584" descr="50%"/>
              <p:cNvSpPr>
                <a:spLocks/>
              </p:cNvSpPr>
              <p:nvPr/>
            </p:nvSpPr>
            <p:spPr bwMode="auto">
              <a:xfrm>
                <a:off x="3153" y="2785"/>
                <a:ext cx="3" cy="13"/>
              </a:xfrm>
              <a:custGeom>
                <a:avLst/>
                <a:gdLst>
                  <a:gd name="T0" fmla="*/ 0 w 33372"/>
                  <a:gd name="T1" fmla="*/ 1 h 43200"/>
                  <a:gd name="T2" fmla="*/ 0 w 33372"/>
                  <a:gd name="T3" fmla="*/ 12 h 43200"/>
                  <a:gd name="T4" fmla="*/ 1 w 33372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372" h="43200" fill="none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</a:path>
                  <a:path w="33372" h="43200" stroke="0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  <a:lnTo>
                      <a:pt x="11772" y="21600"/>
                    </a:lnTo>
                    <a:lnTo>
                      <a:pt x="2675" y="200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11" name="Arc 585" descr="50%"/>
              <p:cNvSpPr>
                <a:spLocks/>
              </p:cNvSpPr>
              <p:nvPr/>
            </p:nvSpPr>
            <p:spPr bwMode="auto">
              <a:xfrm>
                <a:off x="3161" y="2785"/>
                <a:ext cx="2" cy="13"/>
              </a:xfrm>
              <a:custGeom>
                <a:avLst/>
                <a:gdLst>
                  <a:gd name="T0" fmla="*/ 0 w 35746"/>
                  <a:gd name="T1" fmla="*/ 1 h 43200"/>
                  <a:gd name="T2" fmla="*/ 0 w 35746"/>
                  <a:gd name="T3" fmla="*/ 11 h 43200"/>
                  <a:gd name="T4" fmla="*/ 1 w 35746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746" h="43200" fill="none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</a:path>
                  <a:path w="35746" h="43200" stroke="0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  <a:lnTo>
                      <a:pt x="14146" y="21600"/>
                    </a:lnTo>
                    <a:lnTo>
                      <a:pt x="2777" y="323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12" name="Arc 586" descr="50%"/>
              <p:cNvSpPr>
                <a:spLocks/>
              </p:cNvSpPr>
              <p:nvPr/>
            </p:nvSpPr>
            <p:spPr bwMode="auto">
              <a:xfrm>
                <a:off x="3168" y="2785"/>
                <a:ext cx="2" cy="13"/>
              </a:xfrm>
              <a:custGeom>
                <a:avLst/>
                <a:gdLst>
                  <a:gd name="T0" fmla="*/ 0 w 35746"/>
                  <a:gd name="T1" fmla="*/ 1 h 43200"/>
                  <a:gd name="T2" fmla="*/ 0 w 35746"/>
                  <a:gd name="T3" fmla="*/ 11 h 43200"/>
                  <a:gd name="T4" fmla="*/ 1 w 35746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746" h="43200" fill="none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</a:path>
                  <a:path w="35746" h="43200" stroke="0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  <a:lnTo>
                      <a:pt x="14146" y="21600"/>
                    </a:lnTo>
                    <a:lnTo>
                      <a:pt x="2777" y="323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225" name="Freeform 587" descr="50%"/>
            <p:cNvSpPr>
              <a:spLocks/>
            </p:cNvSpPr>
            <p:nvPr/>
          </p:nvSpPr>
          <p:spPr bwMode="auto">
            <a:xfrm>
              <a:off x="3155" y="2494"/>
              <a:ext cx="471" cy="91"/>
            </a:xfrm>
            <a:custGeom>
              <a:avLst/>
              <a:gdLst>
                <a:gd name="T0" fmla="*/ 10 w 471"/>
                <a:gd name="T1" fmla="*/ 76 h 91"/>
                <a:gd name="T2" fmla="*/ 32 w 471"/>
                <a:gd name="T3" fmla="*/ 69 h 91"/>
                <a:gd name="T4" fmla="*/ 63 w 471"/>
                <a:gd name="T5" fmla="*/ 62 h 91"/>
                <a:gd name="T6" fmla="*/ 94 w 471"/>
                <a:gd name="T7" fmla="*/ 57 h 91"/>
                <a:gd name="T8" fmla="*/ 125 w 471"/>
                <a:gd name="T9" fmla="*/ 51 h 91"/>
                <a:gd name="T10" fmla="*/ 142 w 471"/>
                <a:gd name="T11" fmla="*/ 43 h 91"/>
                <a:gd name="T12" fmla="*/ 157 w 471"/>
                <a:gd name="T13" fmla="*/ 28 h 91"/>
                <a:gd name="T14" fmla="*/ 180 w 471"/>
                <a:gd name="T15" fmla="*/ 8 h 91"/>
                <a:gd name="T16" fmla="*/ 196 w 471"/>
                <a:gd name="T17" fmla="*/ 17 h 91"/>
                <a:gd name="T18" fmla="*/ 203 w 471"/>
                <a:gd name="T19" fmla="*/ 39 h 91"/>
                <a:gd name="T20" fmla="*/ 214 w 471"/>
                <a:gd name="T21" fmla="*/ 50 h 91"/>
                <a:gd name="T22" fmla="*/ 253 w 471"/>
                <a:gd name="T23" fmla="*/ 56 h 91"/>
                <a:gd name="T24" fmla="*/ 282 w 471"/>
                <a:gd name="T25" fmla="*/ 58 h 91"/>
                <a:gd name="T26" fmla="*/ 317 w 471"/>
                <a:gd name="T27" fmla="*/ 56 h 91"/>
                <a:gd name="T28" fmla="*/ 331 w 471"/>
                <a:gd name="T29" fmla="*/ 68 h 91"/>
                <a:gd name="T30" fmla="*/ 359 w 471"/>
                <a:gd name="T31" fmla="*/ 69 h 91"/>
                <a:gd name="T32" fmla="*/ 390 w 471"/>
                <a:gd name="T33" fmla="*/ 55 h 91"/>
                <a:gd name="T34" fmla="*/ 415 w 471"/>
                <a:gd name="T35" fmla="*/ 32 h 91"/>
                <a:gd name="T36" fmla="*/ 435 w 471"/>
                <a:gd name="T37" fmla="*/ 18 h 91"/>
                <a:gd name="T38" fmla="*/ 452 w 471"/>
                <a:gd name="T39" fmla="*/ 11 h 91"/>
                <a:gd name="T40" fmla="*/ 467 w 471"/>
                <a:gd name="T41" fmla="*/ 13 h 91"/>
                <a:gd name="T42" fmla="*/ 455 w 471"/>
                <a:gd name="T43" fmla="*/ 28 h 91"/>
                <a:gd name="T44" fmla="*/ 439 w 471"/>
                <a:gd name="T45" fmla="*/ 42 h 91"/>
                <a:gd name="T46" fmla="*/ 430 w 471"/>
                <a:gd name="T47" fmla="*/ 54 h 91"/>
                <a:gd name="T48" fmla="*/ 423 w 471"/>
                <a:gd name="T49" fmla="*/ 64 h 91"/>
                <a:gd name="T50" fmla="*/ 421 w 471"/>
                <a:gd name="T51" fmla="*/ 76 h 91"/>
                <a:gd name="T52" fmla="*/ 408 w 471"/>
                <a:gd name="T53" fmla="*/ 73 h 91"/>
                <a:gd name="T54" fmla="*/ 395 w 471"/>
                <a:gd name="T55" fmla="*/ 77 h 91"/>
                <a:gd name="T56" fmla="*/ 382 w 471"/>
                <a:gd name="T57" fmla="*/ 76 h 91"/>
                <a:gd name="T58" fmla="*/ 366 w 471"/>
                <a:gd name="T59" fmla="*/ 77 h 91"/>
                <a:gd name="T60" fmla="*/ 350 w 471"/>
                <a:gd name="T61" fmla="*/ 75 h 91"/>
                <a:gd name="T62" fmla="*/ 332 w 471"/>
                <a:gd name="T63" fmla="*/ 76 h 91"/>
                <a:gd name="T64" fmla="*/ 314 w 471"/>
                <a:gd name="T65" fmla="*/ 79 h 91"/>
                <a:gd name="T66" fmla="*/ 296 w 471"/>
                <a:gd name="T67" fmla="*/ 80 h 91"/>
                <a:gd name="T68" fmla="*/ 278 w 471"/>
                <a:gd name="T69" fmla="*/ 80 h 91"/>
                <a:gd name="T70" fmla="*/ 262 w 471"/>
                <a:gd name="T71" fmla="*/ 82 h 91"/>
                <a:gd name="T72" fmla="*/ 245 w 471"/>
                <a:gd name="T73" fmla="*/ 85 h 91"/>
                <a:gd name="T74" fmla="*/ 224 w 471"/>
                <a:gd name="T75" fmla="*/ 85 h 91"/>
                <a:gd name="T76" fmla="*/ 206 w 471"/>
                <a:gd name="T77" fmla="*/ 86 h 91"/>
                <a:gd name="T78" fmla="*/ 188 w 471"/>
                <a:gd name="T79" fmla="*/ 84 h 91"/>
                <a:gd name="T80" fmla="*/ 171 w 471"/>
                <a:gd name="T81" fmla="*/ 85 h 91"/>
                <a:gd name="T82" fmla="*/ 156 w 471"/>
                <a:gd name="T83" fmla="*/ 84 h 91"/>
                <a:gd name="T84" fmla="*/ 139 w 471"/>
                <a:gd name="T85" fmla="*/ 85 h 91"/>
                <a:gd name="T86" fmla="*/ 120 w 471"/>
                <a:gd name="T87" fmla="*/ 86 h 91"/>
                <a:gd name="T88" fmla="*/ 96 w 471"/>
                <a:gd name="T89" fmla="*/ 90 h 91"/>
                <a:gd name="T90" fmla="*/ 69 w 471"/>
                <a:gd name="T91" fmla="*/ 90 h 91"/>
                <a:gd name="T92" fmla="*/ 46 w 471"/>
                <a:gd name="T93" fmla="*/ 87 h 91"/>
                <a:gd name="T94" fmla="*/ 25 w 471"/>
                <a:gd name="T95" fmla="*/ 88 h 91"/>
                <a:gd name="T96" fmla="*/ 5 w 471"/>
                <a:gd name="T97" fmla="*/ 84 h 9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471" h="91">
                  <a:moveTo>
                    <a:pt x="0" y="82"/>
                  </a:moveTo>
                  <a:lnTo>
                    <a:pt x="3" y="80"/>
                  </a:lnTo>
                  <a:lnTo>
                    <a:pt x="6" y="78"/>
                  </a:lnTo>
                  <a:lnTo>
                    <a:pt x="10" y="76"/>
                  </a:lnTo>
                  <a:lnTo>
                    <a:pt x="14" y="75"/>
                  </a:lnTo>
                  <a:lnTo>
                    <a:pt x="19" y="73"/>
                  </a:lnTo>
                  <a:lnTo>
                    <a:pt x="27" y="72"/>
                  </a:lnTo>
                  <a:lnTo>
                    <a:pt x="32" y="69"/>
                  </a:lnTo>
                  <a:lnTo>
                    <a:pt x="39" y="67"/>
                  </a:lnTo>
                  <a:lnTo>
                    <a:pt x="47" y="65"/>
                  </a:lnTo>
                  <a:lnTo>
                    <a:pt x="55" y="63"/>
                  </a:lnTo>
                  <a:lnTo>
                    <a:pt x="63" y="62"/>
                  </a:lnTo>
                  <a:lnTo>
                    <a:pt x="71" y="61"/>
                  </a:lnTo>
                  <a:lnTo>
                    <a:pt x="79" y="60"/>
                  </a:lnTo>
                  <a:lnTo>
                    <a:pt x="87" y="58"/>
                  </a:lnTo>
                  <a:lnTo>
                    <a:pt x="94" y="57"/>
                  </a:lnTo>
                  <a:lnTo>
                    <a:pt x="101" y="55"/>
                  </a:lnTo>
                  <a:lnTo>
                    <a:pt x="110" y="54"/>
                  </a:lnTo>
                  <a:lnTo>
                    <a:pt x="117" y="52"/>
                  </a:lnTo>
                  <a:lnTo>
                    <a:pt x="125" y="51"/>
                  </a:lnTo>
                  <a:lnTo>
                    <a:pt x="130" y="50"/>
                  </a:lnTo>
                  <a:lnTo>
                    <a:pt x="135" y="49"/>
                  </a:lnTo>
                  <a:lnTo>
                    <a:pt x="139" y="46"/>
                  </a:lnTo>
                  <a:lnTo>
                    <a:pt x="142" y="43"/>
                  </a:lnTo>
                  <a:lnTo>
                    <a:pt x="145" y="40"/>
                  </a:lnTo>
                  <a:lnTo>
                    <a:pt x="147" y="38"/>
                  </a:lnTo>
                  <a:lnTo>
                    <a:pt x="152" y="33"/>
                  </a:lnTo>
                  <a:lnTo>
                    <a:pt x="157" y="28"/>
                  </a:lnTo>
                  <a:lnTo>
                    <a:pt x="162" y="23"/>
                  </a:lnTo>
                  <a:lnTo>
                    <a:pt x="168" y="18"/>
                  </a:lnTo>
                  <a:lnTo>
                    <a:pt x="173" y="13"/>
                  </a:lnTo>
                  <a:lnTo>
                    <a:pt x="180" y="8"/>
                  </a:lnTo>
                  <a:lnTo>
                    <a:pt x="186" y="4"/>
                  </a:lnTo>
                  <a:lnTo>
                    <a:pt x="191" y="0"/>
                  </a:lnTo>
                  <a:lnTo>
                    <a:pt x="193" y="8"/>
                  </a:lnTo>
                  <a:lnTo>
                    <a:pt x="196" y="17"/>
                  </a:lnTo>
                  <a:lnTo>
                    <a:pt x="199" y="24"/>
                  </a:lnTo>
                  <a:lnTo>
                    <a:pt x="201" y="32"/>
                  </a:lnTo>
                  <a:lnTo>
                    <a:pt x="202" y="36"/>
                  </a:lnTo>
                  <a:lnTo>
                    <a:pt x="203" y="39"/>
                  </a:lnTo>
                  <a:lnTo>
                    <a:pt x="202" y="43"/>
                  </a:lnTo>
                  <a:lnTo>
                    <a:pt x="199" y="47"/>
                  </a:lnTo>
                  <a:lnTo>
                    <a:pt x="206" y="49"/>
                  </a:lnTo>
                  <a:lnTo>
                    <a:pt x="214" y="50"/>
                  </a:lnTo>
                  <a:lnTo>
                    <a:pt x="224" y="51"/>
                  </a:lnTo>
                  <a:lnTo>
                    <a:pt x="234" y="53"/>
                  </a:lnTo>
                  <a:lnTo>
                    <a:pt x="245" y="55"/>
                  </a:lnTo>
                  <a:lnTo>
                    <a:pt x="253" y="56"/>
                  </a:lnTo>
                  <a:lnTo>
                    <a:pt x="262" y="58"/>
                  </a:lnTo>
                  <a:lnTo>
                    <a:pt x="269" y="59"/>
                  </a:lnTo>
                  <a:lnTo>
                    <a:pt x="276" y="59"/>
                  </a:lnTo>
                  <a:lnTo>
                    <a:pt x="282" y="58"/>
                  </a:lnTo>
                  <a:lnTo>
                    <a:pt x="288" y="55"/>
                  </a:lnTo>
                  <a:lnTo>
                    <a:pt x="293" y="51"/>
                  </a:lnTo>
                  <a:lnTo>
                    <a:pt x="305" y="53"/>
                  </a:lnTo>
                  <a:lnTo>
                    <a:pt x="317" y="56"/>
                  </a:lnTo>
                  <a:lnTo>
                    <a:pt x="326" y="58"/>
                  </a:lnTo>
                  <a:lnTo>
                    <a:pt x="321" y="64"/>
                  </a:lnTo>
                  <a:lnTo>
                    <a:pt x="325" y="66"/>
                  </a:lnTo>
                  <a:lnTo>
                    <a:pt x="331" y="68"/>
                  </a:lnTo>
                  <a:lnTo>
                    <a:pt x="338" y="69"/>
                  </a:lnTo>
                  <a:lnTo>
                    <a:pt x="345" y="70"/>
                  </a:lnTo>
                  <a:lnTo>
                    <a:pt x="352" y="70"/>
                  </a:lnTo>
                  <a:lnTo>
                    <a:pt x="359" y="69"/>
                  </a:lnTo>
                  <a:lnTo>
                    <a:pt x="366" y="68"/>
                  </a:lnTo>
                  <a:lnTo>
                    <a:pt x="374" y="65"/>
                  </a:lnTo>
                  <a:lnTo>
                    <a:pt x="382" y="61"/>
                  </a:lnTo>
                  <a:lnTo>
                    <a:pt x="390" y="55"/>
                  </a:lnTo>
                  <a:lnTo>
                    <a:pt x="397" y="49"/>
                  </a:lnTo>
                  <a:lnTo>
                    <a:pt x="405" y="41"/>
                  </a:lnTo>
                  <a:lnTo>
                    <a:pt x="409" y="38"/>
                  </a:lnTo>
                  <a:lnTo>
                    <a:pt x="415" y="32"/>
                  </a:lnTo>
                  <a:lnTo>
                    <a:pt x="420" y="28"/>
                  </a:lnTo>
                  <a:lnTo>
                    <a:pt x="425" y="25"/>
                  </a:lnTo>
                  <a:lnTo>
                    <a:pt x="430" y="21"/>
                  </a:lnTo>
                  <a:lnTo>
                    <a:pt x="435" y="18"/>
                  </a:lnTo>
                  <a:lnTo>
                    <a:pt x="440" y="17"/>
                  </a:lnTo>
                  <a:lnTo>
                    <a:pt x="443" y="14"/>
                  </a:lnTo>
                  <a:lnTo>
                    <a:pt x="447" y="13"/>
                  </a:lnTo>
                  <a:lnTo>
                    <a:pt x="452" y="11"/>
                  </a:lnTo>
                  <a:lnTo>
                    <a:pt x="456" y="11"/>
                  </a:lnTo>
                  <a:lnTo>
                    <a:pt x="462" y="10"/>
                  </a:lnTo>
                  <a:lnTo>
                    <a:pt x="470" y="10"/>
                  </a:lnTo>
                  <a:lnTo>
                    <a:pt x="467" y="13"/>
                  </a:lnTo>
                  <a:lnTo>
                    <a:pt x="463" y="17"/>
                  </a:lnTo>
                  <a:lnTo>
                    <a:pt x="461" y="19"/>
                  </a:lnTo>
                  <a:lnTo>
                    <a:pt x="458" y="24"/>
                  </a:lnTo>
                  <a:lnTo>
                    <a:pt x="455" y="28"/>
                  </a:lnTo>
                  <a:lnTo>
                    <a:pt x="450" y="32"/>
                  </a:lnTo>
                  <a:lnTo>
                    <a:pt x="444" y="37"/>
                  </a:lnTo>
                  <a:lnTo>
                    <a:pt x="441" y="39"/>
                  </a:lnTo>
                  <a:lnTo>
                    <a:pt x="439" y="42"/>
                  </a:lnTo>
                  <a:lnTo>
                    <a:pt x="436" y="46"/>
                  </a:lnTo>
                  <a:lnTo>
                    <a:pt x="434" y="49"/>
                  </a:lnTo>
                  <a:lnTo>
                    <a:pt x="432" y="51"/>
                  </a:lnTo>
                  <a:lnTo>
                    <a:pt x="430" y="54"/>
                  </a:lnTo>
                  <a:lnTo>
                    <a:pt x="428" y="57"/>
                  </a:lnTo>
                  <a:lnTo>
                    <a:pt x="426" y="60"/>
                  </a:lnTo>
                  <a:lnTo>
                    <a:pt x="425" y="62"/>
                  </a:lnTo>
                  <a:lnTo>
                    <a:pt x="423" y="64"/>
                  </a:lnTo>
                  <a:lnTo>
                    <a:pt x="422" y="68"/>
                  </a:lnTo>
                  <a:lnTo>
                    <a:pt x="422" y="70"/>
                  </a:lnTo>
                  <a:lnTo>
                    <a:pt x="421" y="73"/>
                  </a:lnTo>
                  <a:lnTo>
                    <a:pt x="421" y="76"/>
                  </a:lnTo>
                  <a:lnTo>
                    <a:pt x="418" y="74"/>
                  </a:lnTo>
                  <a:lnTo>
                    <a:pt x="414" y="73"/>
                  </a:lnTo>
                  <a:lnTo>
                    <a:pt x="411" y="73"/>
                  </a:lnTo>
                  <a:lnTo>
                    <a:pt x="408" y="73"/>
                  </a:lnTo>
                  <a:lnTo>
                    <a:pt x="404" y="74"/>
                  </a:lnTo>
                  <a:lnTo>
                    <a:pt x="402" y="76"/>
                  </a:lnTo>
                  <a:lnTo>
                    <a:pt x="399" y="76"/>
                  </a:lnTo>
                  <a:lnTo>
                    <a:pt x="395" y="77"/>
                  </a:lnTo>
                  <a:lnTo>
                    <a:pt x="392" y="78"/>
                  </a:lnTo>
                  <a:lnTo>
                    <a:pt x="388" y="77"/>
                  </a:lnTo>
                  <a:lnTo>
                    <a:pt x="384" y="77"/>
                  </a:lnTo>
                  <a:lnTo>
                    <a:pt x="382" y="76"/>
                  </a:lnTo>
                  <a:lnTo>
                    <a:pt x="379" y="75"/>
                  </a:lnTo>
                  <a:lnTo>
                    <a:pt x="375" y="75"/>
                  </a:lnTo>
                  <a:lnTo>
                    <a:pt x="371" y="76"/>
                  </a:lnTo>
                  <a:lnTo>
                    <a:pt x="366" y="77"/>
                  </a:lnTo>
                  <a:lnTo>
                    <a:pt x="363" y="76"/>
                  </a:lnTo>
                  <a:lnTo>
                    <a:pt x="359" y="76"/>
                  </a:lnTo>
                  <a:lnTo>
                    <a:pt x="355" y="75"/>
                  </a:lnTo>
                  <a:lnTo>
                    <a:pt x="350" y="75"/>
                  </a:lnTo>
                  <a:lnTo>
                    <a:pt x="347" y="76"/>
                  </a:lnTo>
                  <a:lnTo>
                    <a:pt x="341" y="77"/>
                  </a:lnTo>
                  <a:lnTo>
                    <a:pt x="337" y="77"/>
                  </a:lnTo>
                  <a:lnTo>
                    <a:pt x="332" y="76"/>
                  </a:lnTo>
                  <a:lnTo>
                    <a:pt x="328" y="76"/>
                  </a:lnTo>
                  <a:lnTo>
                    <a:pt x="323" y="77"/>
                  </a:lnTo>
                  <a:lnTo>
                    <a:pt x="320" y="78"/>
                  </a:lnTo>
                  <a:lnTo>
                    <a:pt x="314" y="79"/>
                  </a:lnTo>
                  <a:lnTo>
                    <a:pt x="310" y="80"/>
                  </a:lnTo>
                  <a:lnTo>
                    <a:pt x="305" y="80"/>
                  </a:lnTo>
                  <a:lnTo>
                    <a:pt x="301" y="80"/>
                  </a:lnTo>
                  <a:lnTo>
                    <a:pt x="296" y="80"/>
                  </a:lnTo>
                  <a:lnTo>
                    <a:pt x="291" y="78"/>
                  </a:lnTo>
                  <a:lnTo>
                    <a:pt x="286" y="80"/>
                  </a:lnTo>
                  <a:lnTo>
                    <a:pt x="282" y="80"/>
                  </a:lnTo>
                  <a:lnTo>
                    <a:pt x="278" y="80"/>
                  </a:lnTo>
                  <a:lnTo>
                    <a:pt x="274" y="80"/>
                  </a:lnTo>
                  <a:lnTo>
                    <a:pt x="270" y="80"/>
                  </a:lnTo>
                  <a:lnTo>
                    <a:pt x="266" y="80"/>
                  </a:lnTo>
                  <a:lnTo>
                    <a:pt x="262" y="82"/>
                  </a:lnTo>
                  <a:lnTo>
                    <a:pt x="259" y="83"/>
                  </a:lnTo>
                  <a:lnTo>
                    <a:pt x="254" y="84"/>
                  </a:lnTo>
                  <a:lnTo>
                    <a:pt x="250" y="84"/>
                  </a:lnTo>
                  <a:lnTo>
                    <a:pt x="245" y="85"/>
                  </a:lnTo>
                  <a:lnTo>
                    <a:pt x="240" y="86"/>
                  </a:lnTo>
                  <a:lnTo>
                    <a:pt x="234" y="85"/>
                  </a:lnTo>
                  <a:lnTo>
                    <a:pt x="228" y="85"/>
                  </a:lnTo>
                  <a:lnTo>
                    <a:pt x="224" y="85"/>
                  </a:lnTo>
                  <a:lnTo>
                    <a:pt x="218" y="86"/>
                  </a:lnTo>
                  <a:lnTo>
                    <a:pt x="214" y="86"/>
                  </a:lnTo>
                  <a:lnTo>
                    <a:pt x="210" y="86"/>
                  </a:lnTo>
                  <a:lnTo>
                    <a:pt x="206" y="86"/>
                  </a:lnTo>
                  <a:lnTo>
                    <a:pt x="201" y="86"/>
                  </a:lnTo>
                  <a:lnTo>
                    <a:pt x="196" y="84"/>
                  </a:lnTo>
                  <a:lnTo>
                    <a:pt x="192" y="84"/>
                  </a:lnTo>
                  <a:lnTo>
                    <a:pt x="188" y="84"/>
                  </a:lnTo>
                  <a:lnTo>
                    <a:pt x="184" y="84"/>
                  </a:lnTo>
                  <a:lnTo>
                    <a:pt x="180" y="84"/>
                  </a:lnTo>
                  <a:lnTo>
                    <a:pt x="175" y="84"/>
                  </a:lnTo>
                  <a:lnTo>
                    <a:pt x="171" y="85"/>
                  </a:lnTo>
                  <a:lnTo>
                    <a:pt x="167" y="85"/>
                  </a:lnTo>
                  <a:lnTo>
                    <a:pt x="164" y="84"/>
                  </a:lnTo>
                  <a:lnTo>
                    <a:pt x="160" y="84"/>
                  </a:lnTo>
                  <a:lnTo>
                    <a:pt x="156" y="84"/>
                  </a:lnTo>
                  <a:lnTo>
                    <a:pt x="152" y="84"/>
                  </a:lnTo>
                  <a:lnTo>
                    <a:pt x="149" y="84"/>
                  </a:lnTo>
                  <a:lnTo>
                    <a:pt x="145" y="84"/>
                  </a:lnTo>
                  <a:lnTo>
                    <a:pt x="139" y="85"/>
                  </a:lnTo>
                  <a:lnTo>
                    <a:pt x="135" y="85"/>
                  </a:lnTo>
                  <a:lnTo>
                    <a:pt x="130" y="84"/>
                  </a:lnTo>
                  <a:lnTo>
                    <a:pt x="125" y="85"/>
                  </a:lnTo>
                  <a:lnTo>
                    <a:pt x="120" y="86"/>
                  </a:lnTo>
                  <a:lnTo>
                    <a:pt x="116" y="88"/>
                  </a:lnTo>
                  <a:lnTo>
                    <a:pt x="111" y="89"/>
                  </a:lnTo>
                  <a:lnTo>
                    <a:pt x="104" y="90"/>
                  </a:lnTo>
                  <a:lnTo>
                    <a:pt x="96" y="90"/>
                  </a:lnTo>
                  <a:lnTo>
                    <a:pt x="89" y="90"/>
                  </a:lnTo>
                  <a:lnTo>
                    <a:pt x="82" y="90"/>
                  </a:lnTo>
                  <a:lnTo>
                    <a:pt x="74" y="90"/>
                  </a:lnTo>
                  <a:lnTo>
                    <a:pt x="69" y="90"/>
                  </a:lnTo>
                  <a:lnTo>
                    <a:pt x="65" y="90"/>
                  </a:lnTo>
                  <a:lnTo>
                    <a:pt x="60" y="90"/>
                  </a:lnTo>
                  <a:lnTo>
                    <a:pt x="54" y="90"/>
                  </a:lnTo>
                  <a:lnTo>
                    <a:pt x="46" y="87"/>
                  </a:lnTo>
                  <a:lnTo>
                    <a:pt x="40" y="87"/>
                  </a:lnTo>
                  <a:lnTo>
                    <a:pt x="35" y="88"/>
                  </a:lnTo>
                  <a:lnTo>
                    <a:pt x="29" y="88"/>
                  </a:lnTo>
                  <a:lnTo>
                    <a:pt x="25" y="88"/>
                  </a:lnTo>
                  <a:lnTo>
                    <a:pt x="20" y="87"/>
                  </a:lnTo>
                  <a:lnTo>
                    <a:pt x="15" y="86"/>
                  </a:lnTo>
                  <a:lnTo>
                    <a:pt x="10" y="85"/>
                  </a:lnTo>
                  <a:lnTo>
                    <a:pt x="5" y="84"/>
                  </a:lnTo>
                  <a:lnTo>
                    <a:pt x="0" y="83"/>
                  </a:lnTo>
                  <a:lnTo>
                    <a:pt x="0" y="82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26" name="Group 588"/>
            <p:cNvGrpSpPr>
              <a:grpSpLocks/>
            </p:cNvGrpSpPr>
            <p:nvPr/>
          </p:nvGrpSpPr>
          <p:grpSpPr bwMode="auto">
            <a:xfrm>
              <a:off x="3251" y="2609"/>
              <a:ext cx="69" cy="51"/>
              <a:chOff x="3170" y="2793"/>
              <a:chExt cx="69" cy="51"/>
            </a:xfrm>
          </p:grpSpPr>
          <p:sp>
            <p:nvSpPr>
              <p:cNvPr id="8306" name="Freeform 589" descr="50%"/>
              <p:cNvSpPr>
                <a:spLocks/>
              </p:cNvSpPr>
              <p:nvPr/>
            </p:nvSpPr>
            <p:spPr bwMode="auto">
              <a:xfrm>
                <a:off x="3170" y="2799"/>
                <a:ext cx="69" cy="45"/>
              </a:xfrm>
              <a:custGeom>
                <a:avLst/>
                <a:gdLst>
                  <a:gd name="T0" fmla="*/ 64 w 69"/>
                  <a:gd name="T1" fmla="*/ 39 h 45"/>
                  <a:gd name="T2" fmla="*/ 60 w 69"/>
                  <a:gd name="T3" fmla="*/ 35 h 45"/>
                  <a:gd name="T4" fmla="*/ 58 w 69"/>
                  <a:gd name="T5" fmla="*/ 33 h 45"/>
                  <a:gd name="T6" fmla="*/ 56 w 69"/>
                  <a:gd name="T7" fmla="*/ 31 h 45"/>
                  <a:gd name="T8" fmla="*/ 54 w 69"/>
                  <a:gd name="T9" fmla="*/ 28 h 45"/>
                  <a:gd name="T10" fmla="*/ 52 w 69"/>
                  <a:gd name="T11" fmla="*/ 26 h 45"/>
                  <a:gd name="T12" fmla="*/ 50 w 69"/>
                  <a:gd name="T13" fmla="*/ 23 h 45"/>
                  <a:gd name="T14" fmla="*/ 48 w 69"/>
                  <a:gd name="T15" fmla="*/ 21 h 45"/>
                  <a:gd name="T16" fmla="*/ 47 w 69"/>
                  <a:gd name="T17" fmla="*/ 17 h 45"/>
                  <a:gd name="T18" fmla="*/ 46 w 69"/>
                  <a:gd name="T19" fmla="*/ 14 h 45"/>
                  <a:gd name="T20" fmla="*/ 45 w 69"/>
                  <a:gd name="T21" fmla="*/ 11 h 45"/>
                  <a:gd name="T22" fmla="*/ 44 w 69"/>
                  <a:gd name="T23" fmla="*/ 8 h 45"/>
                  <a:gd name="T24" fmla="*/ 44 w 69"/>
                  <a:gd name="T25" fmla="*/ 4 h 45"/>
                  <a:gd name="T26" fmla="*/ 44 w 69"/>
                  <a:gd name="T27" fmla="*/ 0 h 45"/>
                  <a:gd name="T28" fmla="*/ 0 w 69"/>
                  <a:gd name="T29" fmla="*/ 0 h 45"/>
                  <a:gd name="T30" fmla="*/ 1 w 69"/>
                  <a:gd name="T31" fmla="*/ 3 h 45"/>
                  <a:gd name="T32" fmla="*/ 3 w 69"/>
                  <a:gd name="T33" fmla="*/ 6 h 45"/>
                  <a:gd name="T34" fmla="*/ 5 w 69"/>
                  <a:gd name="T35" fmla="*/ 9 h 45"/>
                  <a:gd name="T36" fmla="*/ 8 w 69"/>
                  <a:gd name="T37" fmla="*/ 12 h 45"/>
                  <a:gd name="T38" fmla="*/ 11 w 69"/>
                  <a:gd name="T39" fmla="*/ 16 h 45"/>
                  <a:gd name="T40" fmla="*/ 14 w 69"/>
                  <a:gd name="T41" fmla="*/ 19 h 45"/>
                  <a:gd name="T42" fmla="*/ 18 w 69"/>
                  <a:gd name="T43" fmla="*/ 22 h 45"/>
                  <a:gd name="T44" fmla="*/ 21 w 69"/>
                  <a:gd name="T45" fmla="*/ 25 h 45"/>
                  <a:gd name="T46" fmla="*/ 25 w 69"/>
                  <a:gd name="T47" fmla="*/ 28 h 45"/>
                  <a:gd name="T48" fmla="*/ 30 w 69"/>
                  <a:gd name="T49" fmla="*/ 32 h 45"/>
                  <a:gd name="T50" fmla="*/ 34 w 69"/>
                  <a:gd name="T51" fmla="*/ 34 h 45"/>
                  <a:gd name="T52" fmla="*/ 38 w 69"/>
                  <a:gd name="T53" fmla="*/ 36 h 45"/>
                  <a:gd name="T54" fmla="*/ 41 w 69"/>
                  <a:gd name="T55" fmla="*/ 38 h 45"/>
                  <a:gd name="T56" fmla="*/ 45 w 69"/>
                  <a:gd name="T57" fmla="*/ 39 h 45"/>
                  <a:gd name="T58" fmla="*/ 49 w 69"/>
                  <a:gd name="T59" fmla="*/ 41 h 45"/>
                  <a:gd name="T60" fmla="*/ 53 w 69"/>
                  <a:gd name="T61" fmla="*/ 42 h 45"/>
                  <a:gd name="T62" fmla="*/ 58 w 69"/>
                  <a:gd name="T63" fmla="*/ 43 h 45"/>
                  <a:gd name="T64" fmla="*/ 62 w 69"/>
                  <a:gd name="T65" fmla="*/ 43 h 45"/>
                  <a:gd name="T66" fmla="*/ 65 w 69"/>
                  <a:gd name="T67" fmla="*/ 43 h 45"/>
                  <a:gd name="T68" fmla="*/ 68 w 69"/>
                  <a:gd name="T69" fmla="*/ 44 h 45"/>
                  <a:gd name="T70" fmla="*/ 64 w 69"/>
                  <a:gd name="T71" fmla="*/ 39 h 4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69" h="45">
                    <a:moveTo>
                      <a:pt x="64" y="39"/>
                    </a:moveTo>
                    <a:lnTo>
                      <a:pt x="60" y="35"/>
                    </a:lnTo>
                    <a:lnTo>
                      <a:pt x="58" y="33"/>
                    </a:lnTo>
                    <a:lnTo>
                      <a:pt x="56" y="31"/>
                    </a:lnTo>
                    <a:lnTo>
                      <a:pt x="54" y="28"/>
                    </a:lnTo>
                    <a:lnTo>
                      <a:pt x="52" y="26"/>
                    </a:lnTo>
                    <a:lnTo>
                      <a:pt x="50" y="23"/>
                    </a:lnTo>
                    <a:lnTo>
                      <a:pt x="48" y="21"/>
                    </a:lnTo>
                    <a:lnTo>
                      <a:pt x="47" y="17"/>
                    </a:lnTo>
                    <a:lnTo>
                      <a:pt x="46" y="14"/>
                    </a:lnTo>
                    <a:lnTo>
                      <a:pt x="45" y="11"/>
                    </a:lnTo>
                    <a:lnTo>
                      <a:pt x="44" y="8"/>
                    </a:lnTo>
                    <a:lnTo>
                      <a:pt x="44" y="4"/>
                    </a:lnTo>
                    <a:lnTo>
                      <a:pt x="44" y="0"/>
                    </a:lnTo>
                    <a:lnTo>
                      <a:pt x="0" y="0"/>
                    </a:lnTo>
                    <a:lnTo>
                      <a:pt x="1" y="3"/>
                    </a:lnTo>
                    <a:lnTo>
                      <a:pt x="3" y="6"/>
                    </a:lnTo>
                    <a:lnTo>
                      <a:pt x="5" y="9"/>
                    </a:lnTo>
                    <a:lnTo>
                      <a:pt x="8" y="12"/>
                    </a:lnTo>
                    <a:lnTo>
                      <a:pt x="11" y="16"/>
                    </a:lnTo>
                    <a:lnTo>
                      <a:pt x="14" y="19"/>
                    </a:lnTo>
                    <a:lnTo>
                      <a:pt x="18" y="22"/>
                    </a:lnTo>
                    <a:lnTo>
                      <a:pt x="21" y="25"/>
                    </a:lnTo>
                    <a:lnTo>
                      <a:pt x="25" y="28"/>
                    </a:lnTo>
                    <a:lnTo>
                      <a:pt x="30" y="32"/>
                    </a:lnTo>
                    <a:lnTo>
                      <a:pt x="34" y="34"/>
                    </a:lnTo>
                    <a:lnTo>
                      <a:pt x="38" y="36"/>
                    </a:lnTo>
                    <a:lnTo>
                      <a:pt x="41" y="38"/>
                    </a:lnTo>
                    <a:lnTo>
                      <a:pt x="45" y="39"/>
                    </a:lnTo>
                    <a:lnTo>
                      <a:pt x="49" y="41"/>
                    </a:lnTo>
                    <a:lnTo>
                      <a:pt x="53" y="42"/>
                    </a:lnTo>
                    <a:lnTo>
                      <a:pt x="58" y="43"/>
                    </a:lnTo>
                    <a:lnTo>
                      <a:pt x="62" y="43"/>
                    </a:lnTo>
                    <a:lnTo>
                      <a:pt x="65" y="43"/>
                    </a:lnTo>
                    <a:lnTo>
                      <a:pt x="68" y="44"/>
                    </a:lnTo>
                    <a:lnTo>
                      <a:pt x="64" y="39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7" name="Freeform 590" descr="50%"/>
              <p:cNvSpPr>
                <a:spLocks/>
              </p:cNvSpPr>
              <p:nvPr/>
            </p:nvSpPr>
            <p:spPr bwMode="auto">
              <a:xfrm>
                <a:off x="3171" y="2793"/>
                <a:ext cx="36" cy="6"/>
              </a:xfrm>
              <a:custGeom>
                <a:avLst/>
                <a:gdLst>
                  <a:gd name="T0" fmla="*/ 0 w 36"/>
                  <a:gd name="T1" fmla="*/ 5 h 6"/>
                  <a:gd name="T2" fmla="*/ 0 w 36"/>
                  <a:gd name="T3" fmla="*/ 3 h 6"/>
                  <a:gd name="T4" fmla="*/ 1 w 36"/>
                  <a:gd name="T5" fmla="*/ 0 h 6"/>
                  <a:gd name="T6" fmla="*/ 35 w 36"/>
                  <a:gd name="T7" fmla="*/ 0 h 6"/>
                  <a:gd name="T8" fmla="*/ 35 w 36"/>
                  <a:gd name="T9" fmla="*/ 5 h 6"/>
                  <a:gd name="T10" fmla="*/ 0 w 36"/>
                  <a:gd name="T11" fmla="*/ 5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6" h="6">
                    <a:moveTo>
                      <a:pt x="0" y="5"/>
                    </a:moveTo>
                    <a:lnTo>
                      <a:pt x="0" y="3"/>
                    </a:lnTo>
                    <a:lnTo>
                      <a:pt x="1" y="0"/>
                    </a:lnTo>
                    <a:lnTo>
                      <a:pt x="35" y="0"/>
                    </a:lnTo>
                    <a:lnTo>
                      <a:pt x="35" y="5"/>
                    </a:lnTo>
                    <a:lnTo>
                      <a:pt x="0" y="5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227" name="Freeform 591" descr="50%"/>
            <p:cNvSpPr>
              <a:spLocks/>
            </p:cNvSpPr>
            <p:nvPr/>
          </p:nvSpPr>
          <p:spPr bwMode="auto">
            <a:xfrm>
              <a:off x="3875" y="2517"/>
              <a:ext cx="58" cy="46"/>
            </a:xfrm>
            <a:custGeom>
              <a:avLst/>
              <a:gdLst>
                <a:gd name="T0" fmla="*/ 0 w 58"/>
                <a:gd name="T1" fmla="*/ 0 h 46"/>
                <a:gd name="T2" fmla="*/ 2 w 58"/>
                <a:gd name="T3" fmla="*/ 5 h 46"/>
                <a:gd name="T4" fmla="*/ 5 w 58"/>
                <a:gd name="T5" fmla="*/ 9 h 46"/>
                <a:gd name="T6" fmla="*/ 9 w 58"/>
                <a:gd name="T7" fmla="*/ 14 h 46"/>
                <a:gd name="T8" fmla="*/ 12 w 58"/>
                <a:gd name="T9" fmla="*/ 18 h 46"/>
                <a:gd name="T10" fmla="*/ 16 w 58"/>
                <a:gd name="T11" fmla="*/ 23 h 46"/>
                <a:gd name="T12" fmla="*/ 21 w 58"/>
                <a:gd name="T13" fmla="*/ 28 h 46"/>
                <a:gd name="T14" fmla="*/ 24 w 58"/>
                <a:gd name="T15" fmla="*/ 32 h 46"/>
                <a:gd name="T16" fmla="*/ 28 w 58"/>
                <a:gd name="T17" fmla="*/ 35 h 46"/>
                <a:gd name="T18" fmla="*/ 32 w 58"/>
                <a:gd name="T19" fmla="*/ 38 h 46"/>
                <a:gd name="T20" fmla="*/ 36 w 58"/>
                <a:gd name="T21" fmla="*/ 40 h 46"/>
                <a:gd name="T22" fmla="*/ 41 w 58"/>
                <a:gd name="T23" fmla="*/ 42 h 46"/>
                <a:gd name="T24" fmla="*/ 45 w 58"/>
                <a:gd name="T25" fmla="*/ 44 h 46"/>
                <a:gd name="T26" fmla="*/ 50 w 58"/>
                <a:gd name="T27" fmla="*/ 45 h 46"/>
                <a:gd name="T28" fmla="*/ 54 w 58"/>
                <a:gd name="T29" fmla="*/ 45 h 46"/>
                <a:gd name="T30" fmla="*/ 57 w 58"/>
                <a:gd name="T31" fmla="*/ 44 h 46"/>
                <a:gd name="T32" fmla="*/ 54 w 58"/>
                <a:gd name="T33" fmla="*/ 41 h 46"/>
                <a:gd name="T34" fmla="*/ 51 w 58"/>
                <a:gd name="T35" fmla="*/ 37 h 46"/>
                <a:gd name="T36" fmla="*/ 48 w 58"/>
                <a:gd name="T37" fmla="*/ 33 h 46"/>
                <a:gd name="T38" fmla="*/ 45 w 58"/>
                <a:gd name="T39" fmla="*/ 29 h 46"/>
                <a:gd name="T40" fmla="*/ 42 w 58"/>
                <a:gd name="T41" fmla="*/ 24 h 46"/>
                <a:gd name="T42" fmla="*/ 40 w 58"/>
                <a:gd name="T43" fmla="*/ 20 h 46"/>
                <a:gd name="T44" fmla="*/ 38 w 58"/>
                <a:gd name="T45" fmla="*/ 16 h 46"/>
                <a:gd name="T46" fmla="*/ 37 w 58"/>
                <a:gd name="T47" fmla="*/ 10 h 46"/>
                <a:gd name="T48" fmla="*/ 37 w 58"/>
                <a:gd name="T49" fmla="*/ 5 h 46"/>
                <a:gd name="T50" fmla="*/ 37 w 58"/>
                <a:gd name="T51" fmla="*/ 1 h 46"/>
                <a:gd name="T52" fmla="*/ 0 w 58"/>
                <a:gd name="T53" fmla="*/ 0 h 4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58" h="46">
                  <a:moveTo>
                    <a:pt x="0" y="0"/>
                  </a:moveTo>
                  <a:lnTo>
                    <a:pt x="2" y="5"/>
                  </a:lnTo>
                  <a:lnTo>
                    <a:pt x="5" y="9"/>
                  </a:lnTo>
                  <a:lnTo>
                    <a:pt x="9" y="14"/>
                  </a:lnTo>
                  <a:lnTo>
                    <a:pt x="12" y="18"/>
                  </a:lnTo>
                  <a:lnTo>
                    <a:pt x="16" y="23"/>
                  </a:lnTo>
                  <a:lnTo>
                    <a:pt x="21" y="28"/>
                  </a:lnTo>
                  <a:lnTo>
                    <a:pt x="24" y="32"/>
                  </a:lnTo>
                  <a:lnTo>
                    <a:pt x="28" y="35"/>
                  </a:lnTo>
                  <a:lnTo>
                    <a:pt x="32" y="38"/>
                  </a:lnTo>
                  <a:lnTo>
                    <a:pt x="36" y="40"/>
                  </a:lnTo>
                  <a:lnTo>
                    <a:pt x="41" y="42"/>
                  </a:lnTo>
                  <a:lnTo>
                    <a:pt x="45" y="44"/>
                  </a:lnTo>
                  <a:lnTo>
                    <a:pt x="50" y="45"/>
                  </a:lnTo>
                  <a:lnTo>
                    <a:pt x="54" y="45"/>
                  </a:lnTo>
                  <a:lnTo>
                    <a:pt x="57" y="44"/>
                  </a:lnTo>
                  <a:lnTo>
                    <a:pt x="54" y="41"/>
                  </a:lnTo>
                  <a:lnTo>
                    <a:pt x="51" y="37"/>
                  </a:lnTo>
                  <a:lnTo>
                    <a:pt x="48" y="33"/>
                  </a:lnTo>
                  <a:lnTo>
                    <a:pt x="45" y="29"/>
                  </a:lnTo>
                  <a:lnTo>
                    <a:pt x="42" y="24"/>
                  </a:lnTo>
                  <a:lnTo>
                    <a:pt x="40" y="20"/>
                  </a:lnTo>
                  <a:lnTo>
                    <a:pt x="38" y="16"/>
                  </a:lnTo>
                  <a:lnTo>
                    <a:pt x="37" y="10"/>
                  </a:lnTo>
                  <a:lnTo>
                    <a:pt x="37" y="5"/>
                  </a:lnTo>
                  <a:lnTo>
                    <a:pt x="37" y="1"/>
                  </a:lnTo>
                  <a:lnTo>
                    <a:pt x="0" y="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8" name="Freeform 592" descr="50%"/>
            <p:cNvSpPr>
              <a:spLocks/>
            </p:cNvSpPr>
            <p:nvPr/>
          </p:nvSpPr>
          <p:spPr bwMode="auto">
            <a:xfrm>
              <a:off x="3754" y="2409"/>
              <a:ext cx="481" cy="145"/>
            </a:xfrm>
            <a:custGeom>
              <a:avLst/>
              <a:gdLst>
                <a:gd name="T0" fmla="*/ 5 w 481"/>
                <a:gd name="T1" fmla="*/ 85 h 145"/>
                <a:gd name="T2" fmla="*/ 20 w 481"/>
                <a:gd name="T3" fmla="*/ 80 h 145"/>
                <a:gd name="T4" fmla="*/ 42 w 481"/>
                <a:gd name="T5" fmla="*/ 73 h 145"/>
                <a:gd name="T6" fmla="*/ 65 w 481"/>
                <a:gd name="T7" fmla="*/ 68 h 145"/>
                <a:gd name="T8" fmla="*/ 89 w 481"/>
                <a:gd name="T9" fmla="*/ 63 h 145"/>
                <a:gd name="T10" fmla="*/ 112 w 481"/>
                <a:gd name="T11" fmla="*/ 58 h 145"/>
                <a:gd name="T12" fmla="*/ 132 w 481"/>
                <a:gd name="T13" fmla="*/ 54 h 145"/>
                <a:gd name="T14" fmla="*/ 143 w 481"/>
                <a:gd name="T15" fmla="*/ 48 h 145"/>
                <a:gd name="T16" fmla="*/ 155 w 481"/>
                <a:gd name="T17" fmla="*/ 37 h 145"/>
                <a:gd name="T18" fmla="*/ 171 w 481"/>
                <a:gd name="T19" fmla="*/ 20 h 145"/>
                <a:gd name="T20" fmla="*/ 188 w 481"/>
                <a:gd name="T21" fmla="*/ 5 h 145"/>
                <a:gd name="T22" fmla="*/ 200 w 481"/>
                <a:gd name="T23" fmla="*/ 17 h 145"/>
                <a:gd name="T24" fmla="*/ 207 w 481"/>
                <a:gd name="T25" fmla="*/ 43 h 145"/>
                <a:gd name="T26" fmla="*/ 211 w 481"/>
                <a:gd name="T27" fmla="*/ 53 h 145"/>
                <a:gd name="T28" fmla="*/ 239 w 481"/>
                <a:gd name="T29" fmla="*/ 57 h 145"/>
                <a:gd name="T30" fmla="*/ 267 w 481"/>
                <a:gd name="T31" fmla="*/ 63 h 145"/>
                <a:gd name="T32" fmla="*/ 288 w 481"/>
                <a:gd name="T33" fmla="*/ 63 h 145"/>
                <a:gd name="T34" fmla="*/ 310 w 481"/>
                <a:gd name="T35" fmla="*/ 58 h 145"/>
                <a:gd name="T36" fmla="*/ 327 w 481"/>
                <a:gd name="T37" fmla="*/ 70 h 145"/>
                <a:gd name="T38" fmla="*/ 344 w 481"/>
                <a:gd name="T39" fmla="*/ 75 h 145"/>
                <a:gd name="T40" fmla="*/ 365 w 481"/>
                <a:gd name="T41" fmla="*/ 75 h 145"/>
                <a:gd name="T42" fmla="*/ 388 w 481"/>
                <a:gd name="T43" fmla="*/ 66 h 145"/>
                <a:gd name="T44" fmla="*/ 413 w 481"/>
                <a:gd name="T45" fmla="*/ 45 h 145"/>
                <a:gd name="T46" fmla="*/ 442 w 481"/>
                <a:gd name="T47" fmla="*/ 20 h 145"/>
                <a:gd name="T48" fmla="*/ 471 w 481"/>
                <a:gd name="T49" fmla="*/ 11 h 145"/>
                <a:gd name="T50" fmla="*/ 472 w 481"/>
                <a:gd name="T51" fmla="*/ 19 h 145"/>
                <a:gd name="T52" fmla="*/ 458 w 481"/>
                <a:gd name="T53" fmla="*/ 37 h 145"/>
                <a:gd name="T54" fmla="*/ 442 w 481"/>
                <a:gd name="T55" fmla="*/ 54 h 145"/>
                <a:gd name="T56" fmla="*/ 431 w 481"/>
                <a:gd name="T57" fmla="*/ 71 h 145"/>
                <a:gd name="T58" fmla="*/ 431 w 481"/>
                <a:gd name="T59" fmla="*/ 89 h 145"/>
                <a:gd name="T60" fmla="*/ 443 w 481"/>
                <a:gd name="T61" fmla="*/ 108 h 145"/>
                <a:gd name="T62" fmla="*/ 457 w 481"/>
                <a:gd name="T63" fmla="*/ 122 h 145"/>
                <a:gd name="T64" fmla="*/ 470 w 481"/>
                <a:gd name="T65" fmla="*/ 133 h 145"/>
                <a:gd name="T66" fmla="*/ 471 w 481"/>
                <a:gd name="T67" fmla="*/ 138 h 145"/>
                <a:gd name="T68" fmla="*/ 453 w 481"/>
                <a:gd name="T69" fmla="*/ 138 h 145"/>
                <a:gd name="T70" fmla="*/ 437 w 481"/>
                <a:gd name="T71" fmla="*/ 134 h 145"/>
                <a:gd name="T72" fmla="*/ 421 w 481"/>
                <a:gd name="T73" fmla="*/ 126 h 145"/>
                <a:gd name="T74" fmla="*/ 396 w 481"/>
                <a:gd name="T75" fmla="*/ 109 h 145"/>
                <a:gd name="T76" fmla="*/ 365 w 481"/>
                <a:gd name="T77" fmla="*/ 107 h 145"/>
                <a:gd name="T78" fmla="*/ 328 w 481"/>
                <a:gd name="T79" fmla="*/ 111 h 145"/>
                <a:gd name="T80" fmla="*/ 304 w 481"/>
                <a:gd name="T81" fmla="*/ 121 h 145"/>
                <a:gd name="T82" fmla="*/ 296 w 481"/>
                <a:gd name="T83" fmla="*/ 132 h 145"/>
                <a:gd name="T84" fmla="*/ 263 w 481"/>
                <a:gd name="T85" fmla="*/ 131 h 145"/>
                <a:gd name="T86" fmla="*/ 235 w 481"/>
                <a:gd name="T87" fmla="*/ 140 h 145"/>
                <a:gd name="T88" fmla="*/ 130 w 481"/>
                <a:gd name="T89" fmla="*/ 144 h 145"/>
                <a:gd name="T90" fmla="*/ 70 w 481"/>
                <a:gd name="T91" fmla="*/ 138 h 145"/>
                <a:gd name="T92" fmla="*/ 17 w 481"/>
                <a:gd name="T93" fmla="*/ 120 h 145"/>
                <a:gd name="T94" fmla="*/ 17 w 481"/>
                <a:gd name="T95" fmla="*/ 110 h 145"/>
                <a:gd name="T96" fmla="*/ 5 w 481"/>
                <a:gd name="T97" fmla="*/ 99 h 145"/>
                <a:gd name="T98" fmla="*/ 1 w 481"/>
                <a:gd name="T99" fmla="*/ 92 h 14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481" h="145">
                  <a:moveTo>
                    <a:pt x="0" y="89"/>
                  </a:moveTo>
                  <a:lnTo>
                    <a:pt x="2" y="88"/>
                  </a:lnTo>
                  <a:lnTo>
                    <a:pt x="5" y="85"/>
                  </a:lnTo>
                  <a:lnTo>
                    <a:pt x="11" y="83"/>
                  </a:lnTo>
                  <a:lnTo>
                    <a:pt x="15" y="82"/>
                  </a:lnTo>
                  <a:lnTo>
                    <a:pt x="20" y="80"/>
                  </a:lnTo>
                  <a:lnTo>
                    <a:pt x="27" y="77"/>
                  </a:lnTo>
                  <a:lnTo>
                    <a:pt x="35" y="75"/>
                  </a:lnTo>
                  <a:lnTo>
                    <a:pt x="42" y="73"/>
                  </a:lnTo>
                  <a:lnTo>
                    <a:pt x="49" y="71"/>
                  </a:lnTo>
                  <a:lnTo>
                    <a:pt x="57" y="69"/>
                  </a:lnTo>
                  <a:lnTo>
                    <a:pt x="65" y="68"/>
                  </a:lnTo>
                  <a:lnTo>
                    <a:pt x="74" y="66"/>
                  </a:lnTo>
                  <a:lnTo>
                    <a:pt x="81" y="64"/>
                  </a:lnTo>
                  <a:lnTo>
                    <a:pt x="89" y="63"/>
                  </a:lnTo>
                  <a:lnTo>
                    <a:pt x="95" y="62"/>
                  </a:lnTo>
                  <a:lnTo>
                    <a:pt x="105" y="60"/>
                  </a:lnTo>
                  <a:lnTo>
                    <a:pt x="112" y="58"/>
                  </a:lnTo>
                  <a:lnTo>
                    <a:pt x="120" y="57"/>
                  </a:lnTo>
                  <a:lnTo>
                    <a:pt x="126" y="56"/>
                  </a:lnTo>
                  <a:lnTo>
                    <a:pt x="132" y="54"/>
                  </a:lnTo>
                  <a:lnTo>
                    <a:pt x="137" y="52"/>
                  </a:lnTo>
                  <a:lnTo>
                    <a:pt x="140" y="51"/>
                  </a:lnTo>
                  <a:lnTo>
                    <a:pt x="143" y="48"/>
                  </a:lnTo>
                  <a:lnTo>
                    <a:pt x="147" y="45"/>
                  </a:lnTo>
                  <a:lnTo>
                    <a:pt x="150" y="41"/>
                  </a:lnTo>
                  <a:lnTo>
                    <a:pt x="155" y="37"/>
                  </a:lnTo>
                  <a:lnTo>
                    <a:pt x="160" y="31"/>
                  </a:lnTo>
                  <a:lnTo>
                    <a:pt x="165" y="25"/>
                  </a:lnTo>
                  <a:lnTo>
                    <a:pt x="171" y="20"/>
                  </a:lnTo>
                  <a:lnTo>
                    <a:pt x="176" y="14"/>
                  </a:lnTo>
                  <a:lnTo>
                    <a:pt x="182" y="10"/>
                  </a:lnTo>
                  <a:lnTo>
                    <a:pt x="188" y="5"/>
                  </a:lnTo>
                  <a:lnTo>
                    <a:pt x="195" y="0"/>
                  </a:lnTo>
                  <a:lnTo>
                    <a:pt x="197" y="9"/>
                  </a:lnTo>
                  <a:lnTo>
                    <a:pt x="200" y="17"/>
                  </a:lnTo>
                  <a:lnTo>
                    <a:pt x="203" y="26"/>
                  </a:lnTo>
                  <a:lnTo>
                    <a:pt x="205" y="35"/>
                  </a:lnTo>
                  <a:lnTo>
                    <a:pt x="207" y="43"/>
                  </a:lnTo>
                  <a:lnTo>
                    <a:pt x="206" y="47"/>
                  </a:lnTo>
                  <a:lnTo>
                    <a:pt x="203" y="51"/>
                  </a:lnTo>
                  <a:lnTo>
                    <a:pt x="211" y="53"/>
                  </a:lnTo>
                  <a:lnTo>
                    <a:pt x="218" y="54"/>
                  </a:lnTo>
                  <a:lnTo>
                    <a:pt x="228" y="56"/>
                  </a:lnTo>
                  <a:lnTo>
                    <a:pt x="239" y="57"/>
                  </a:lnTo>
                  <a:lnTo>
                    <a:pt x="249" y="60"/>
                  </a:lnTo>
                  <a:lnTo>
                    <a:pt x="258" y="61"/>
                  </a:lnTo>
                  <a:lnTo>
                    <a:pt x="267" y="63"/>
                  </a:lnTo>
                  <a:lnTo>
                    <a:pt x="275" y="64"/>
                  </a:lnTo>
                  <a:lnTo>
                    <a:pt x="282" y="64"/>
                  </a:lnTo>
                  <a:lnTo>
                    <a:pt x="288" y="63"/>
                  </a:lnTo>
                  <a:lnTo>
                    <a:pt x="293" y="60"/>
                  </a:lnTo>
                  <a:lnTo>
                    <a:pt x="298" y="56"/>
                  </a:lnTo>
                  <a:lnTo>
                    <a:pt x="310" y="58"/>
                  </a:lnTo>
                  <a:lnTo>
                    <a:pt x="323" y="61"/>
                  </a:lnTo>
                  <a:lnTo>
                    <a:pt x="334" y="63"/>
                  </a:lnTo>
                  <a:lnTo>
                    <a:pt x="327" y="70"/>
                  </a:lnTo>
                  <a:lnTo>
                    <a:pt x="331" y="72"/>
                  </a:lnTo>
                  <a:lnTo>
                    <a:pt x="337" y="74"/>
                  </a:lnTo>
                  <a:lnTo>
                    <a:pt x="344" y="75"/>
                  </a:lnTo>
                  <a:lnTo>
                    <a:pt x="351" y="76"/>
                  </a:lnTo>
                  <a:lnTo>
                    <a:pt x="358" y="76"/>
                  </a:lnTo>
                  <a:lnTo>
                    <a:pt x="365" y="75"/>
                  </a:lnTo>
                  <a:lnTo>
                    <a:pt x="373" y="73"/>
                  </a:lnTo>
                  <a:lnTo>
                    <a:pt x="381" y="71"/>
                  </a:lnTo>
                  <a:lnTo>
                    <a:pt x="388" y="66"/>
                  </a:lnTo>
                  <a:lnTo>
                    <a:pt x="397" y="60"/>
                  </a:lnTo>
                  <a:lnTo>
                    <a:pt x="404" y="54"/>
                  </a:lnTo>
                  <a:lnTo>
                    <a:pt x="413" y="45"/>
                  </a:lnTo>
                  <a:lnTo>
                    <a:pt x="422" y="35"/>
                  </a:lnTo>
                  <a:lnTo>
                    <a:pt x="433" y="27"/>
                  </a:lnTo>
                  <a:lnTo>
                    <a:pt x="442" y="20"/>
                  </a:lnTo>
                  <a:lnTo>
                    <a:pt x="451" y="15"/>
                  </a:lnTo>
                  <a:lnTo>
                    <a:pt x="460" y="12"/>
                  </a:lnTo>
                  <a:lnTo>
                    <a:pt x="471" y="11"/>
                  </a:lnTo>
                  <a:lnTo>
                    <a:pt x="480" y="11"/>
                  </a:lnTo>
                  <a:lnTo>
                    <a:pt x="475" y="15"/>
                  </a:lnTo>
                  <a:lnTo>
                    <a:pt x="472" y="19"/>
                  </a:lnTo>
                  <a:lnTo>
                    <a:pt x="470" y="22"/>
                  </a:lnTo>
                  <a:lnTo>
                    <a:pt x="463" y="32"/>
                  </a:lnTo>
                  <a:lnTo>
                    <a:pt x="458" y="37"/>
                  </a:lnTo>
                  <a:lnTo>
                    <a:pt x="452" y="42"/>
                  </a:lnTo>
                  <a:lnTo>
                    <a:pt x="446" y="48"/>
                  </a:lnTo>
                  <a:lnTo>
                    <a:pt x="442" y="54"/>
                  </a:lnTo>
                  <a:lnTo>
                    <a:pt x="438" y="60"/>
                  </a:lnTo>
                  <a:lnTo>
                    <a:pt x="434" y="66"/>
                  </a:lnTo>
                  <a:lnTo>
                    <a:pt x="431" y="71"/>
                  </a:lnTo>
                  <a:lnTo>
                    <a:pt x="430" y="77"/>
                  </a:lnTo>
                  <a:lnTo>
                    <a:pt x="429" y="83"/>
                  </a:lnTo>
                  <a:lnTo>
                    <a:pt x="431" y="89"/>
                  </a:lnTo>
                  <a:lnTo>
                    <a:pt x="434" y="96"/>
                  </a:lnTo>
                  <a:lnTo>
                    <a:pt x="438" y="102"/>
                  </a:lnTo>
                  <a:lnTo>
                    <a:pt x="443" y="108"/>
                  </a:lnTo>
                  <a:lnTo>
                    <a:pt x="447" y="112"/>
                  </a:lnTo>
                  <a:lnTo>
                    <a:pt x="452" y="116"/>
                  </a:lnTo>
                  <a:lnTo>
                    <a:pt x="457" y="122"/>
                  </a:lnTo>
                  <a:lnTo>
                    <a:pt x="463" y="127"/>
                  </a:lnTo>
                  <a:lnTo>
                    <a:pt x="467" y="130"/>
                  </a:lnTo>
                  <a:lnTo>
                    <a:pt x="470" y="133"/>
                  </a:lnTo>
                  <a:lnTo>
                    <a:pt x="474" y="135"/>
                  </a:lnTo>
                  <a:lnTo>
                    <a:pt x="476" y="138"/>
                  </a:lnTo>
                  <a:lnTo>
                    <a:pt x="471" y="138"/>
                  </a:lnTo>
                  <a:lnTo>
                    <a:pt x="464" y="138"/>
                  </a:lnTo>
                  <a:lnTo>
                    <a:pt x="458" y="138"/>
                  </a:lnTo>
                  <a:lnTo>
                    <a:pt x="453" y="138"/>
                  </a:lnTo>
                  <a:lnTo>
                    <a:pt x="446" y="137"/>
                  </a:lnTo>
                  <a:lnTo>
                    <a:pt x="441" y="135"/>
                  </a:lnTo>
                  <a:lnTo>
                    <a:pt x="437" y="134"/>
                  </a:lnTo>
                  <a:lnTo>
                    <a:pt x="432" y="131"/>
                  </a:lnTo>
                  <a:lnTo>
                    <a:pt x="426" y="129"/>
                  </a:lnTo>
                  <a:lnTo>
                    <a:pt x="421" y="126"/>
                  </a:lnTo>
                  <a:lnTo>
                    <a:pt x="412" y="119"/>
                  </a:lnTo>
                  <a:lnTo>
                    <a:pt x="405" y="115"/>
                  </a:lnTo>
                  <a:lnTo>
                    <a:pt x="396" y="109"/>
                  </a:lnTo>
                  <a:lnTo>
                    <a:pt x="387" y="108"/>
                  </a:lnTo>
                  <a:lnTo>
                    <a:pt x="378" y="108"/>
                  </a:lnTo>
                  <a:lnTo>
                    <a:pt x="365" y="107"/>
                  </a:lnTo>
                  <a:lnTo>
                    <a:pt x="354" y="108"/>
                  </a:lnTo>
                  <a:lnTo>
                    <a:pt x="341" y="109"/>
                  </a:lnTo>
                  <a:lnTo>
                    <a:pt x="328" y="111"/>
                  </a:lnTo>
                  <a:lnTo>
                    <a:pt x="314" y="115"/>
                  </a:lnTo>
                  <a:lnTo>
                    <a:pt x="306" y="118"/>
                  </a:lnTo>
                  <a:lnTo>
                    <a:pt x="304" y="121"/>
                  </a:lnTo>
                  <a:lnTo>
                    <a:pt x="306" y="124"/>
                  </a:lnTo>
                  <a:lnTo>
                    <a:pt x="312" y="128"/>
                  </a:lnTo>
                  <a:lnTo>
                    <a:pt x="296" y="132"/>
                  </a:lnTo>
                  <a:lnTo>
                    <a:pt x="274" y="138"/>
                  </a:lnTo>
                  <a:lnTo>
                    <a:pt x="269" y="134"/>
                  </a:lnTo>
                  <a:lnTo>
                    <a:pt x="263" y="131"/>
                  </a:lnTo>
                  <a:lnTo>
                    <a:pt x="257" y="129"/>
                  </a:lnTo>
                  <a:lnTo>
                    <a:pt x="247" y="129"/>
                  </a:lnTo>
                  <a:lnTo>
                    <a:pt x="235" y="140"/>
                  </a:lnTo>
                  <a:lnTo>
                    <a:pt x="224" y="132"/>
                  </a:lnTo>
                  <a:lnTo>
                    <a:pt x="145" y="143"/>
                  </a:lnTo>
                  <a:lnTo>
                    <a:pt x="130" y="144"/>
                  </a:lnTo>
                  <a:lnTo>
                    <a:pt x="115" y="143"/>
                  </a:lnTo>
                  <a:lnTo>
                    <a:pt x="100" y="141"/>
                  </a:lnTo>
                  <a:lnTo>
                    <a:pt x="70" y="138"/>
                  </a:lnTo>
                  <a:lnTo>
                    <a:pt x="42" y="130"/>
                  </a:lnTo>
                  <a:lnTo>
                    <a:pt x="27" y="125"/>
                  </a:lnTo>
                  <a:lnTo>
                    <a:pt x="17" y="120"/>
                  </a:lnTo>
                  <a:lnTo>
                    <a:pt x="28" y="117"/>
                  </a:lnTo>
                  <a:lnTo>
                    <a:pt x="21" y="113"/>
                  </a:lnTo>
                  <a:lnTo>
                    <a:pt x="17" y="110"/>
                  </a:lnTo>
                  <a:lnTo>
                    <a:pt x="9" y="104"/>
                  </a:lnTo>
                  <a:lnTo>
                    <a:pt x="8" y="102"/>
                  </a:lnTo>
                  <a:lnTo>
                    <a:pt x="5" y="99"/>
                  </a:lnTo>
                  <a:lnTo>
                    <a:pt x="4" y="97"/>
                  </a:lnTo>
                  <a:lnTo>
                    <a:pt x="2" y="94"/>
                  </a:lnTo>
                  <a:lnTo>
                    <a:pt x="1" y="92"/>
                  </a:lnTo>
                  <a:lnTo>
                    <a:pt x="0" y="89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29" name="Group 593"/>
            <p:cNvGrpSpPr>
              <a:grpSpLocks/>
            </p:cNvGrpSpPr>
            <p:nvPr/>
          </p:nvGrpSpPr>
          <p:grpSpPr bwMode="auto">
            <a:xfrm>
              <a:off x="3794" y="2501"/>
              <a:ext cx="7" cy="7"/>
              <a:chOff x="3713" y="2685"/>
              <a:chExt cx="7" cy="7"/>
            </a:xfrm>
          </p:grpSpPr>
          <p:sp>
            <p:nvSpPr>
              <p:cNvPr id="8304" name="Oval 594" descr="50%"/>
              <p:cNvSpPr>
                <a:spLocks noChangeArrowheads="1"/>
              </p:cNvSpPr>
              <p:nvPr/>
            </p:nvSpPr>
            <p:spPr bwMode="auto">
              <a:xfrm>
                <a:off x="3713" y="2685"/>
                <a:ext cx="7" cy="7"/>
              </a:xfrm>
              <a:prstGeom prst="ellipse">
                <a:avLst/>
              </a:pr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05" name="Arc 595" descr="50%"/>
              <p:cNvSpPr>
                <a:spLocks/>
              </p:cNvSpPr>
              <p:nvPr/>
            </p:nvSpPr>
            <p:spPr bwMode="auto">
              <a:xfrm>
                <a:off x="3717" y="2688"/>
                <a:ext cx="2" cy="2"/>
              </a:xfrm>
              <a:custGeom>
                <a:avLst/>
                <a:gdLst>
                  <a:gd name="T0" fmla="*/ 1 w 43200"/>
                  <a:gd name="T1" fmla="*/ 0 h 43200"/>
                  <a:gd name="T2" fmla="*/ 0 w 43200"/>
                  <a:gd name="T3" fmla="*/ 0 h 43200"/>
                  <a:gd name="T4" fmla="*/ 1 w 43200"/>
                  <a:gd name="T5" fmla="*/ 1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5871"/>
                      <a:pt x="2275" y="10377"/>
                      <a:pt x="6326" y="6326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5871"/>
                      <a:pt x="2275" y="10377"/>
                      <a:pt x="6326" y="6326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230" name="Group 596"/>
            <p:cNvGrpSpPr>
              <a:grpSpLocks/>
            </p:cNvGrpSpPr>
            <p:nvPr/>
          </p:nvGrpSpPr>
          <p:grpSpPr bwMode="auto">
            <a:xfrm>
              <a:off x="3821" y="2517"/>
              <a:ext cx="30" cy="13"/>
              <a:chOff x="3740" y="2701"/>
              <a:chExt cx="30" cy="13"/>
            </a:xfrm>
          </p:grpSpPr>
          <p:sp>
            <p:nvSpPr>
              <p:cNvPr id="8299" name="Arc 597" descr="50%"/>
              <p:cNvSpPr>
                <a:spLocks/>
              </p:cNvSpPr>
              <p:nvPr/>
            </p:nvSpPr>
            <p:spPr bwMode="auto">
              <a:xfrm>
                <a:off x="3748" y="2701"/>
                <a:ext cx="2" cy="13"/>
              </a:xfrm>
              <a:custGeom>
                <a:avLst/>
                <a:gdLst>
                  <a:gd name="T0" fmla="*/ 0 w 35746"/>
                  <a:gd name="T1" fmla="*/ 1 h 43200"/>
                  <a:gd name="T2" fmla="*/ 0 w 35746"/>
                  <a:gd name="T3" fmla="*/ 11 h 43200"/>
                  <a:gd name="T4" fmla="*/ 1 w 35746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746" h="43200" fill="none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</a:path>
                  <a:path w="35746" h="43200" stroke="0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  <a:lnTo>
                      <a:pt x="14146" y="21600"/>
                    </a:lnTo>
                    <a:lnTo>
                      <a:pt x="2777" y="323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00" name="Arc 598" descr="50%"/>
              <p:cNvSpPr>
                <a:spLocks/>
              </p:cNvSpPr>
              <p:nvPr/>
            </p:nvSpPr>
            <p:spPr bwMode="auto">
              <a:xfrm>
                <a:off x="3740" y="2701"/>
                <a:ext cx="3" cy="13"/>
              </a:xfrm>
              <a:custGeom>
                <a:avLst/>
                <a:gdLst>
                  <a:gd name="T0" fmla="*/ 0 w 33372"/>
                  <a:gd name="T1" fmla="*/ 1 h 43200"/>
                  <a:gd name="T2" fmla="*/ 0 w 33372"/>
                  <a:gd name="T3" fmla="*/ 12 h 43200"/>
                  <a:gd name="T4" fmla="*/ 1 w 33372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372" h="43200" fill="none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</a:path>
                  <a:path w="33372" h="43200" stroke="0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  <a:lnTo>
                      <a:pt x="11772" y="21600"/>
                    </a:lnTo>
                    <a:lnTo>
                      <a:pt x="2675" y="200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01" name="Arc 599" descr="50%"/>
              <p:cNvSpPr>
                <a:spLocks/>
              </p:cNvSpPr>
              <p:nvPr/>
            </p:nvSpPr>
            <p:spPr bwMode="auto">
              <a:xfrm>
                <a:off x="3753" y="2701"/>
                <a:ext cx="3" cy="13"/>
              </a:xfrm>
              <a:custGeom>
                <a:avLst/>
                <a:gdLst>
                  <a:gd name="T0" fmla="*/ 0 w 33372"/>
                  <a:gd name="T1" fmla="*/ 1 h 43200"/>
                  <a:gd name="T2" fmla="*/ 0 w 33372"/>
                  <a:gd name="T3" fmla="*/ 12 h 43200"/>
                  <a:gd name="T4" fmla="*/ 1 w 33372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372" h="43200" fill="none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</a:path>
                  <a:path w="33372" h="43200" stroke="0" extrusionOk="0">
                    <a:moveTo>
                      <a:pt x="2675" y="2008"/>
                    </a:moveTo>
                    <a:cubicBezTo>
                      <a:pt x="5525" y="685"/>
                      <a:pt x="8629" y="-1"/>
                      <a:pt x="11772" y="0"/>
                    </a:cubicBezTo>
                    <a:cubicBezTo>
                      <a:pt x="23701" y="0"/>
                      <a:pt x="33372" y="9670"/>
                      <a:pt x="33372" y="21600"/>
                    </a:cubicBezTo>
                    <a:cubicBezTo>
                      <a:pt x="33372" y="33529"/>
                      <a:pt x="23701" y="43200"/>
                      <a:pt x="11772" y="43200"/>
                    </a:cubicBezTo>
                    <a:cubicBezTo>
                      <a:pt x="7592" y="43200"/>
                      <a:pt x="3503" y="41987"/>
                      <a:pt x="-1" y="39710"/>
                    </a:cubicBezTo>
                    <a:lnTo>
                      <a:pt x="11772" y="21600"/>
                    </a:lnTo>
                    <a:lnTo>
                      <a:pt x="2675" y="200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02" name="Arc 600" descr="50%"/>
              <p:cNvSpPr>
                <a:spLocks/>
              </p:cNvSpPr>
              <p:nvPr/>
            </p:nvSpPr>
            <p:spPr bwMode="auto">
              <a:xfrm>
                <a:off x="3761" y="2701"/>
                <a:ext cx="2" cy="13"/>
              </a:xfrm>
              <a:custGeom>
                <a:avLst/>
                <a:gdLst>
                  <a:gd name="T0" fmla="*/ 0 w 35746"/>
                  <a:gd name="T1" fmla="*/ 1 h 43200"/>
                  <a:gd name="T2" fmla="*/ 0 w 35746"/>
                  <a:gd name="T3" fmla="*/ 11 h 43200"/>
                  <a:gd name="T4" fmla="*/ 1 w 35746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746" h="43200" fill="none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</a:path>
                  <a:path w="35746" h="43200" stroke="0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  <a:lnTo>
                      <a:pt x="14146" y="21600"/>
                    </a:lnTo>
                    <a:lnTo>
                      <a:pt x="2777" y="323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03" name="Arc 601" descr="50%"/>
              <p:cNvSpPr>
                <a:spLocks/>
              </p:cNvSpPr>
              <p:nvPr/>
            </p:nvSpPr>
            <p:spPr bwMode="auto">
              <a:xfrm>
                <a:off x="3768" y="2701"/>
                <a:ext cx="2" cy="13"/>
              </a:xfrm>
              <a:custGeom>
                <a:avLst/>
                <a:gdLst>
                  <a:gd name="T0" fmla="*/ 0 w 35746"/>
                  <a:gd name="T1" fmla="*/ 1 h 43200"/>
                  <a:gd name="T2" fmla="*/ 0 w 35746"/>
                  <a:gd name="T3" fmla="*/ 11 h 43200"/>
                  <a:gd name="T4" fmla="*/ 1 w 35746"/>
                  <a:gd name="T5" fmla="*/ 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746" h="43200" fill="none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</a:path>
                  <a:path w="35746" h="43200" stroke="0" extrusionOk="0">
                    <a:moveTo>
                      <a:pt x="2777" y="3234"/>
                    </a:moveTo>
                    <a:cubicBezTo>
                      <a:pt x="6192" y="1119"/>
                      <a:pt x="10129" y="-1"/>
                      <a:pt x="14146" y="0"/>
                    </a:cubicBezTo>
                    <a:cubicBezTo>
                      <a:pt x="26075" y="0"/>
                      <a:pt x="35746" y="9670"/>
                      <a:pt x="35746" y="21600"/>
                    </a:cubicBezTo>
                    <a:cubicBezTo>
                      <a:pt x="35746" y="33529"/>
                      <a:pt x="26075" y="43200"/>
                      <a:pt x="14146" y="43200"/>
                    </a:cubicBezTo>
                    <a:cubicBezTo>
                      <a:pt x="8949" y="43200"/>
                      <a:pt x="3926" y="41326"/>
                      <a:pt x="-1" y="37923"/>
                    </a:cubicBezTo>
                    <a:lnTo>
                      <a:pt x="14146" y="21600"/>
                    </a:lnTo>
                    <a:lnTo>
                      <a:pt x="2777" y="323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231" name="Freeform 602" descr="50%"/>
            <p:cNvSpPr>
              <a:spLocks/>
            </p:cNvSpPr>
            <p:nvPr/>
          </p:nvSpPr>
          <p:spPr bwMode="auto">
            <a:xfrm>
              <a:off x="3755" y="2410"/>
              <a:ext cx="471" cy="91"/>
            </a:xfrm>
            <a:custGeom>
              <a:avLst/>
              <a:gdLst>
                <a:gd name="T0" fmla="*/ 10 w 471"/>
                <a:gd name="T1" fmla="*/ 76 h 91"/>
                <a:gd name="T2" fmla="*/ 32 w 471"/>
                <a:gd name="T3" fmla="*/ 69 h 91"/>
                <a:gd name="T4" fmla="*/ 63 w 471"/>
                <a:gd name="T5" fmla="*/ 62 h 91"/>
                <a:gd name="T6" fmla="*/ 94 w 471"/>
                <a:gd name="T7" fmla="*/ 57 h 91"/>
                <a:gd name="T8" fmla="*/ 125 w 471"/>
                <a:gd name="T9" fmla="*/ 51 h 91"/>
                <a:gd name="T10" fmla="*/ 142 w 471"/>
                <a:gd name="T11" fmla="*/ 43 h 91"/>
                <a:gd name="T12" fmla="*/ 157 w 471"/>
                <a:gd name="T13" fmla="*/ 28 h 91"/>
                <a:gd name="T14" fmla="*/ 180 w 471"/>
                <a:gd name="T15" fmla="*/ 8 h 91"/>
                <a:gd name="T16" fmla="*/ 196 w 471"/>
                <a:gd name="T17" fmla="*/ 17 h 91"/>
                <a:gd name="T18" fmla="*/ 203 w 471"/>
                <a:gd name="T19" fmla="*/ 39 h 91"/>
                <a:gd name="T20" fmla="*/ 214 w 471"/>
                <a:gd name="T21" fmla="*/ 50 h 91"/>
                <a:gd name="T22" fmla="*/ 253 w 471"/>
                <a:gd name="T23" fmla="*/ 56 h 91"/>
                <a:gd name="T24" fmla="*/ 282 w 471"/>
                <a:gd name="T25" fmla="*/ 58 h 91"/>
                <a:gd name="T26" fmla="*/ 317 w 471"/>
                <a:gd name="T27" fmla="*/ 56 h 91"/>
                <a:gd name="T28" fmla="*/ 331 w 471"/>
                <a:gd name="T29" fmla="*/ 68 h 91"/>
                <a:gd name="T30" fmla="*/ 359 w 471"/>
                <a:gd name="T31" fmla="*/ 69 h 91"/>
                <a:gd name="T32" fmla="*/ 390 w 471"/>
                <a:gd name="T33" fmla="*/ 55 h 91"/>
                <a:gd name="T34" fmla="*/ 415 w 471"/>
                <a:gd name="T35" fmla="*/ 32 h 91"/>
                <a:gd name="T36" fmla="*/ 435 w 471"/>
                <a:gd name="T37" fmla="*/ 18 h 91"/>
                <a:gd name="T38" fmla="*/ 452 w 471"/>
                <a:gd name="T39" fmla="*/ 11 h 91"/>
                <a:gd name="T40" fmla="*/ 467 w 471"/>
                <a:gd name="T41" fmla="*/ 13 h 91"/>
                <a:gd name="T42" fmla="*/ 455 w 471"/>
                <a:gd name="T43" fmla="*/ 28 h 91"/>
                <a:gd name="T44" fmla="*/ 439 w 471"/>
                <a:gd name="T45" fmla="*/ 42 h 91"/>
                <a:gd name="T46" fmla="*/ 430 w 471"/>
                <a:gd name="T47" fmla="*/ 54 h 91"/>
                <a:gd name="T48" fmla="*/ 423 w 471"/>
                <a:gd name="T49" fmla="*/ 64 h 91"/>
                <a:gd name="T50" fmla="*/ 421 w 471"/>
                <a:gd name="T51" fmla="*/ 76 h 91"/>
                <a:gd name="T52" fmla="*/ 408 w 471"/>
                <a:gd name="T53" fmla="*/ 73 h 91"/>
                <a:gd name="T54" fmla="*/ 395 w 471"/>
                <a:gd name="T55" fmla="*/ 77 h 91"/>
                <a:gd name="T56" fmla="*/ 382 w 471"/>
                <a:gd name="T57" fmla="*/ 76 h 91"/>
                <a:gd name="T58" fmla="*/ 366 w 471"/>
                <a:gd name="T59" fmla="*/ 77 h 91"/>
                <a:gd name="T60" fmla="*/ 350 w 471"/>
                <a:gd name="T61" fmla="*/ 75 h 91"/>
                <a:gd name="T62" fmla="*/ 332 w 471"/>
                <a:gd name="T63" fmla="*/ 76 h 91"/>
                <a:gd name="T64" fmla="*/ 314 w 471"/>
                <a:gd name="T65" fmla="*/ 79 h 91"/>
                <a:gd name="T66" fmla="*/ 296 w 471"/>
                <a:gd name="T67" fmla="*/ 80 h 91"/>
                <a:gd name="T68" fmla="*/ 278 w 471"/>
                <a:gd name="T69" fmla="*/ 80 h 91"/>
                <a:gd name="T70" fmla="*/ 262 w 471"/>
                <a:gd name="T71" fmla="*/ 82 h 91"/>
                <a:gd name="T72" fmla="*/ 245 w 471"/>
                <a:gd name="T73" fmla="*/ 85 h 91"/>
                <a:gd name="T74" fmla="*/ 224 w 471"/>
                <a:gd name="T75" fmla="*/ 85 h 91"/>
                <a:gd name="T76" fmla="*/ 206 w 471"/>
                <a:gd name="T77" fmla="*/ 86 h 91"/>
                <a:gd name="T78" fmla="*/ 188 w 471"/>
                <a:gd name="T79" fmla="*/ 84 h 91"/>
                <a:gd name="T80" fmla="*/ 171 w 471"/>
                <a:gd name="T81" fmla="*/ 85 h 91"/>
                <a:gd name="T82" fmla="*/ 156 w 471"/>
                <a:gd name="T83" fmla="*/ 84 h 91"/>
                <a:gd name="T84" fmla="*/ 139 w 471"/>
                <a:gd name="T85" fmla="*/ 85 h 91"/>
                <a:gd name="T86" fmla="*/ 120 w 471"/>
                <a:gd name="T87" fmla="*/ 86 h 91"/>
                <a:gd name="T88" fmla="*/ 96 w 471"/>
                <a:gd name="T89" fmla="*/ 90 h 91"/>
                <a:gd name="T90" fmla="*/ 69 w 471"/>
                <a:gd name="T91" fmla="*/ 90 h 91"/>
                <a:gd name="T92" fmla="*/ 46 w 471"/>
                <a:gd name="T93" fmla="*/ 87 h 91"/>
                <a:gd name="T94" fmla="*/ 25 w 471"/>
                <a:gd name="T95" fmla="*/ 88 h 91"/>
                <a:gd name="T96" fmla="*/ 5 w 471"/>
                <a:gd name="T97" fmla="*/ 84 h 9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471" h="91">
                  <a:moveTo>
                    <a:pt x="0" y="82"/>
                  </a:moveTo>
                  <a:lnTo>
                    <a:pt x="3" y="80"/>
                  </a:lnTo>
                  <a:lnTo>
                    <a:pt x="6" y="78"/>
                  </a:lnTo>
                  <a:lnTo>
                    <a:pt x="10" y="76"/>
                  </a:lnTo>
                  <a:lnTo>
                    <a:pt x="14" y="75"/>
                  </a:lnTo>
                  <a:lnTo>
                    <a:pt x="19" y="73"/>
                  </a:lnTo>
                  <a:lnTo>
                    <a:pt x="27" y="72"/>
                  </a:lnTo>
                  <a:lnTo>
                    <a:pt x="32" y="69"/>
                  </a:lnTo>
                  <a:lnTo>
                    <a:pt x="39" y="67"/>
                  </a:lnTo>
                  <a:lnTo>
                    <a:pt x="47" y="65"/>
                  </a:lnTo>
                  <a:lnTo>
                    <a:pt x="55" y="63"/>
                  </a:lnTo>
                  <a:lnTo>
                    <a:pt x="63" y="62"/>
                  </a:lnTo>
                  <a:lnTo>
                    <a:pt x="71" y="61"/>
                  </a:lnTo>
                  <a:lnTo>
                    <a:pt x="79" y="60"/>
                  </a:lnTo>
                  <a:lnTo>
                    <a:pt x="87" y="58"/>
                  </a:lnTo>
                  <a:lnTo>
                    <a:pt x="94" y="57"/>
                  </a:lnTo>
                  <a:lnTo>
                    <a:pt x="101" y="55"/>
                  </a:lnTo>
                  <a:lnTo>
                    <a:pt x="110" y="54"/>
                  </a:lnTo>
                  <a:lnTo>
                    <a:pt x="117" y="52"/>
                  </a:lnTo>
                  <a:lnTo>
                    <a:pt x="125" y="51"/>
                  </a:lnTo>
                  <a:lnTo>
                    <a:pt x="130" y="50"/>
                  </a:lnTo>
                  <a:lnTo>
                    <a:pt x="135" y="49"/>
                  </a:lnTo>
                  <a:lnTo>
                    <a:pt x="139" y="46"/>
                  </a:lnTo>
                  <a:lnTo>
                    <a:pt x="142" y="43"/>
                  </a:lnTo>
                  <a:lnTo>
                    <a:pt x="145" y="40"/>
                  </a:lnTo>
                  <a:lnTo>
                    <a:pt x="147" y="38"/>
                  </a:lnTo>
                  <a:lnTo>
                    <a:pt x="152" y="33"/>
                  </a:lnTo>
                  <a:lnTo>
                    <a:pt x="157" y="28"/>
                  </a:lnTo>
                  <a:lnTo>
                    <a:pt x="162" y="23"/>
                  </a:lnTo>
                  <a:lnTo>
                    <a:pt x="168" y="18"/>
                  </a:lnTo>
                  <a:lnTo>
                    <a:pt x="173" y="13"/>
                  </a:lnTo>
                  <a:lnTo>
                    <a:pt x="180" y="8"/>
                  </a:lnTo>
                  <a:lnTo>
                    <a:pt x="186" y="4"/>
                  </a:lnTo>
                  <a:lnTo>
                    <a:pt x="191" y="0"/>
                  </a:lnTo>
                  <a:lnTo>
                    <a:pt x="193" y="8"/>
                  </a:lnTo>
                  <a:lnTo>
                    <a:pt x="196" y="17"/>
                  </a:lnTo>
                  <a:lnTo>
                    <a:pt x="199" y="24"/>
                  </a:lnTo>
                  <a:lnTo>
                    <a:pt x="201" y="32"/>
                  </a:lnTo>
                  <a:lnTo>
                    <a:pt x="202" y="36"/>
                  </a:lnTo>
                  <a:lnTo>
                    <a:pt x="203" y="39"/>
                  </a:lnTo>
                  <a:lnTo>
                    <a:pt x="202" y="43"/>
                  </a:lnTo>
                  <a:lnTo>
                    <a:pt x="199" y="47"/>
                  </a:lnTo>
                  <a:lnTo>
                    <a:pt x="206" y="49"/>
                  </a:lnTo>
                  <a:lnTo>
                    <a:pt x="214" y="50"/>
                  </a:lnTo>
                  <a:lnTo>
                    <a:pt x="224" y="51"/>
                  </a:lnTo>
                  <a:lnTo>
                    <a:pt x="234" y="53"/>
                  </a:lnTo>
                  <a:lnTo>
                    <a:pt x="245" y="55"/>
                  </a:lnTo>
                  <a:lnTo>
                    <a:pt x="253" y="56"/>
                  </a:lnTo>
                  <a:lnTo>
                    <a:pt x="262" y="58"/>
                  </a:lnTo>
                  <a:lnTo>
                    <a:pt x="269" y="59"/>
                  </a:lnTo>
                  <a:lnTo>
                    <a:pt x="276" y="59"/>
                  </a:lnTo>
                  <a:lnTo>
                    <a:pt x="282" y="58"/>
                  </a:lnTo>
                  <a:lnTo>
                    <a:pt x="288" y="55"/>
                  </a:lnTo>
                  <a:lnTo>
                    <a:pt x="293" y="51"/>
                  </a:lnTo>
                  <a:lnTo>
                    <a:pt x="305" y="53"/>
                  </a:lnTo>
                  <a:lnTo>
                    <a:pt x="317" y="56"/>
                  </a:lnTo>
                  <a:lnTo>
                    <a:pt x="326" y="58"/>
                  </a:lnTo>
                  <a:lnTo>
                    <a:pt x="321" y="64"/>
                  </a:lnTo>
                  <a:lnTo>
                    <a:pt x="325" y="66"/>
                  </a:lnTo>
                  <a:lnTo>
                    <a:pt x="331" y="68"/>
                  </a:lnTo>
                  <a:lnTo>
                    <a:pt x="338" y="69"/>
                  </a:lnTo>
                  <a:lnTo>
                    <a:pt x="345" y="70"/>
                  </a:lnTo>
                  <a:lnTo>
                    <a:pt x="352" y="70"/>
                  </a:lnTo>
                  <a:lnTo>
                    <a:pt x="359" y="69"/>
                  </a:lnTo>
                  <a:lnTo>
                    <a:pt x="366" y="68"/>
                  </a:lnTo>
                  <a:lnTo>
                    <a:pt x="374" y="65"/>
                  </a:lnTo>
                  <a:lnTo>
                    <a:pt x="382" y="61"/>
                  </a:lnTo>
                  <a:lnTo>
                    <a:pt x="390" y="55"/>
                  </a:lnTo>
                  <a:lnTo>
                    <a:pt x="397" y="49"/>
                  </a:lnTo>
                  <a:lnTo>
                    <a:pt x="405" y="41"/>
                  </a:lnTo>
                  <a:lnTo>
                    <a:pt x="409" y="38"/>
                  </a:lnTo>
                  <a:lnTo>
                    <a:pt x="415" y="32"/>
                  </a:lnTo>
                  <a:lnTo>
                    <a:pt x="420" y="28"/>
                  </a:lnTo>
                  <a:lnTo>
                    <a:pt x="425" y="25"/>
                  </a:lnTo>
                  <a:lnTo>
                    <a:pt x="430" y="21"/>
                  </a:lnTo>
                  <a:lnTo>
                    <a:pt x="435" y="18"/>
                  </a:lnTo>
                  <a:lnTo>
                    <a:pt x="440" y="17"/>
                  </a:lnTo>
                  <a:lnTo>
                    <a:pt x="443" y="14"/>
                  </a:lnTo>
                  <a:lnTo>
                    <a:pt x="447" y="13"/>
                  </a:lnTo>
                  <a:lnTo>
                    <a:pt x="452" y="11"/>
                  </a:lnTo>
                  <a:lnTo>
                    <a:pt x="456" y="11"/>
                  </a:lnTo>
                  <a:lnTo>
                    <a:pt x="462" y="10"/>
                  </a:lnTo>
                  <a:lnTo>
                    <a:pt x="470" y="10"/>
                  </a:lnTo>
                  <a:lnTo>
                    <a:pt x="467" y="13"/>
                  </a:lnTo>
                  <a:lnTo>
                    <a:pt x="463" y="17"/>
                  </a:lnTo>
                  <a:lnTo>
                    <a:pt x="461" y="19"/>
                  </a:lnTo>
                  <a:lnTo>
                    <a:pt x="458" y="24"/>
                  </a:lnTo>
                  <a:lnTo>
                    <a:pt x="455" y="28"/>
                  </a:lnTo>
                  <a:lnTo>
                    <a:pt x="450" y="32"/>
                  </a:lnTo>
                  <a:lnTo>
                    <a:pt x="444" y="37"/>
                  </a:lnTo>
                  <a:lnTo>
                    <a:pt x="441" y="39"/>
                  </a:lnTo>
                  <a:lnTo>
                    <a:pt x="439" y="42"/>
                  </a:lnTo>
                  <a:lnTo>
                    <a:pt x="436" y="46"/>
                  </a:lnTo>
                  <a:lnTo>
                    <a:pt x="434" y="49"/>
                  </a:lnTo>
                  <a:lnTo>
                    <a:pt x="432" y="51"/>
                  </a:lnTo>
                  <a:lnTo>
                    <a:pt x="430" y="54"/>
                  </a:lnTo>
                  <a:lnTo>
                    <a:pt x="428" y="57"/>
                  </a:lnTo>
                  <a:lnTo>
                    <a:pt x="426" y="60"/>
                  </a:lnTo>
                  <a:lnTo>
                    <a:pt x="425" y="62"/>
                  </a:lnTo>
                  <a:lnTo>
                    <a:pt x="423" y="64"/>
                  </a:lnTo>
                  <a:lnTo>
                    <a:pt x="422" y="68"/>
                  </a:lnTo>
                  <a:lnTo>
                    <a:pt x="422" y="70"/>
                  </a:lnTo>
                  <a:lnTo>
                    <a:pt x="421" y="73"/>
                  </a:lnTo>
                  <a:lnTo>
                    <a:pt x="421" y="76"/>
                  </a:lnTo>
                  <a:lnTo>
                    <a:pt x="418" y="74"/>
                  </a:lnTo>
                  <a:lnTo>
                    <a:pt x="414" y="73"/>
                  </a:lnTo>
                  <a:lnTo>
                    <a:pt x="411" y="73"/>
                  </a:lnTo>
                  <a:lnTo>
                    <a:pt x="408" y="73"/>
                  </a:lnTo>
                  <a:lnTo>
                    <a:pt x="404" y="74"/>
                  </a:lnTo>
                  <a:lnTo>
                    <a:pt x="402" y="76"/>
                  </a:lnTo>
                  <a:lnTo>
                    <a:pt x="399" y="76"/>
                  </a:lnTo>
                  <a:lnTo>
                    <a:pt x="395" y="77"/>
                  </a:lnTo>
                  <a:lnTo>
                    <a:pt x="392" y="78"/>
                  </a:lnTo>
                  <a:lnTo>
                    <a:pt x="388" y="77"/>
                  </a:lnTo>
                  <a:lnTo>
                    <a:pt x="384" y="77"/>
                  </a:lnTo>
                  <a:lnTo>
                    <a:pt x="382" y="76"/>
                  </a:lnTo>
                  <a:lnTo>
                    <a:pt x="379" y="75"/>
                  </a:lnTo>
                  <a:lnTo>
                    <a:pt x="375" y="75"/>
                  </a:lnTo>
                  <a:lnTo>
                    <a:pt x="371" y="76"/>
                  </a:lnTo>
                  <a:lnTo>
                    <a:pt x="366" y="77"/>
                  </a:lnTo>
                  <a:lnTo>
                    <a:pt x="363" y="76"/>
                  </a:lnTo>
                  <a:lnTo>
                    <a:pt x="359" y="76"/>
                  </a:lnTo>
                  <a:lnTo>
                    <a:pt x="355" y="75"/>
                  </a:lnTo>
                  <a:lnTo>
                    <a:pt x="350" y="75"/>
                  </a:lnTo>
                  <a:lnTo>
                    <a:pt x="347" y="76"/>
                  </a:lnTo>
                  <a:lnTo>
                    <a:pt x="341" y="77"/>
                  </a:lnTo>
                  <a:lnTo>
                    <a:pt x="337" y="77"/>
                  </a:lnTo>
                  <a:lnTo>
                    <a:pt x="332" y="76"/>
                  </a:lnTo>
                  <a:lnTo>
                    <a:pt x="328" y="76"/>
                  </a:lnTo>
                  <a:lnTo>
                    <a:pt x="323" y="77"/>
                  </a:lnTo>
                  <a:lnTo>
                    <a:pt x="320" y="78"/>
                  </a:lnTo>
                  <a:lnTo>
                    <a:pt x="314" y="79"/>
                  </a:lnTo>
                  <a:lnTo>
                    <a:pt x="310" y="80"/>
                  </a:lnTo>
                  <a:lnTo>
                    <a:pt x="305" y="80"/>
                  </a:lnTo>
                  <a:lnTo>
                    <a:pt x="301" y="80"/>
                  </a:lnTo>
                  <a:lnTo>
                    <a:pt x="296" y="80"/>
                  </a:lnTo>
                  <a:lnTo>
                    <a:pt x="291" y="78"/>
                  </a:lnTo>
                  <a:lnTo>
                    <a:pt x="286" y="80"/>
                  </a:lnTo>
                  <a:lnTo>
                    <a:pt x="282" y="80"/>
                  </a:lnTo>
                  <a:lnTo>
                    <a:pt x="278" y="80"/>
                  </a:lnTo>
                  <a:lnTo>
                    <a:pt x="274" y="80"/>
                  </a:lnTo>
                  <a:lnTo>
                    <a:pt x="270" y="80"/>
                  </a:lnTo>
                  <a:lnTo>
                    <a:pt x="266" y="80"/>
                  </a:lnTo>
                  <a:lnTo>
                    <a:pt x="262" y="82"/>
                  </a:lnTo>
                  <a:lnTo>
                    <a:pt x="259" y="83"/>
                  </a:lnTo>
                  <a:lnTo>
                    <a:pt x="254" y="84"/>
                  </a:lnTo>
                  <a:lnTo>
                    <a:pt x="250" y="84"/>
                  </a:lnTo>
                  <a:lnTo>
                    <a:pt x="245" y="85"/>
                  </a:lnTo>
                  <a:lnTo>
                    <a:pt x="240" y="86"/>
                  </a:lnTo>
                  <a:lnTo>
                    <a:pt x="234" y="85"/>
                  </a:lnTo>
                  <a:lnTo>
                    <a:pt x="228" y="85"/>
                  </a:lnTo>
                  <a:lnTo>
                    <a:pt x="224" y="85"/>
                  </a:lnTo>
                  <a:lnTo>
                    <a:pt x="218" y="86"/>
                  </a:lnTo>
                  <a:lnTo>
                    <a:pt x="214" y="86"/>
                  </a:lnTo>
                  <a:lnTo>
                    <a:pt x="210" y="86"/>
                  </a:lnTo>
                  <a:lnTo>
                    <a:pt x="206" y="86"/>
                  </a:lnTo>
                  <a:lnTo>
                    <a:pt x="201" y="86"/>
                  </a:lnTo>
                  <a:lnTo>
                    <a:pt x="196" y="84"/>
                  </a:lnTo>
                  <a:lnTo>
                    <a:pt x="192" y="84"/>
                  </a:lnTo>
                  <a:lnTo>
                    <a:pt x="188" y="84"/>
                  </a:lnTo>
                  <a:lnTo>
                    <a:pt x="184" y="84"/>
                  </a:lnTo>
                  <a:lnTo>
                    <a:pt x="180" y="84"/>
                  </a:lnTo>
                  <a:lnTo>
                    <a:pt x="175" y="84"/>
                  </a:lnTo>
                  <a:lnTo>
                    <a:pt x="171" y="85"/>
                  </a:lnTo>
                  <a:lnTo>
                    <a:pt x="167" y="85"/>
                  </a:lnTo>
                  <a:lnTo>
                    <a:pt x="164" y="84"/>
                  </a:lnTo>
                  <a:lnTo>
                    <a:pt x="160" y="84"/>
                  </a:lnTo>
                  <a:lnTo>
                    <a:pt x="156" y="84"/>
                  </a:lnTo>
                  <a:lnTo>
                    <a:pt x="152" y="84"/>
                  </a:lnTo>
                  <a:lnTo>
                    <a:pt x="149" y="84"/>
                  </a:lnTo>
                  <a:lnTo>
                    <a:pt x="145" y="84"/>
                  </a:lnTo>
                  <a:lnTo>
                    <a:pt x="139" y="85"/>
                  </a:lnTo>
                  <a:lnTo>
                    <a:pt x="135" y="85"/>
                  </a:lnTo>
                  <a:lnTo>
                    <a:pt x="130" y="84"/>
                  </a:lnTo>
                  <a:lnTo>
                    <a:pt x="125" y="85"/>
                  </a:lnTo>
                  <a:lnTo>
                    <a:pt x="120" y="86"/>
                  </a:lnTo>
                  <a:lnTo>
                    <a:pt x="116" y="88"/>
                  </a:lnTo>
                  <a:lnTo>
                    <a:pt x="111" y="89"/>
                  </a:lnTo>
                  <a:lnTo>
                    <a:pt x="104" y="90"/>
                  </a:lnTo>
                  <a:lnTo>
                    <a:pt x="96" y="90"/>
                  </a:lnTo>
                  <a:lnTo>
                    <a:pt x="89" y="90"/>
                  </a:lnTo>
                  <a:lnTo>
                    <a:pt x="82" y="90"/>
                  </a:lnTo>
                  <a:lnTo>
                    <a:pt x="74" y="90"/>
                  </a:lnTo>
                  <a:lnTo>
                    <a:pt x="69" y="90"/>
                  </a:lnTo>
                  <a:lnTo>
                    <a:pt x="65" y="90"/>
                  </a:lnTo>
                  <a:lnTo>
                    <a:pt x="60" y="90"/>
                  </a:lnTo>
                  <a:lnTo>
                    <a:pt x="54" y="90"/>
                  </a:lnTo>
                  <a:lnTo>
                    <a:pt x="46" y="87"/>
                  </a:lnTo>
                  <a:lnTo>
                    <a:pt x="40" y="87"/>
                  </a:lnTo>
                  <a:lnTo>
                    <a:pt x="35" y="88"/>
                  </a:lnTo>
                  <a:lnTo>
                    <a:pt x="29" y="88"/>
                  </a:lnTo>
                  <a:lnTo>
                    <a:pt x="25" y="88"/>
                  </a:lnTo>
                  <a:lnTo>
                    <a:pt x="20" y="87"/>
                  </a:lnTo>
                  <a:lnTo>
                    <a:pt x="15" y="86"/>
                  </a:lnTo>
                  <a:lnTo>
                    <a:pt x="10" y="85"/>
                  </a:lnTo>
                  <a:lnTo>
                    <a:pt x="5" y="84"/>
                  </a:lnTo>
                  <a:lnTo>
                    <a:pt x="0" y="83"/>
                  </a:lnTo>
                  <a:lnTo>
                    <a:pt x="0" y="82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32" name="Group 603"/>
            <p:cNvGrpSpPr>
              <a:grpSpLocks/>
            </p:cNvGrpSpPr>
            <p:nvPr/>
          </p:nvGrpSpPr>
          <p:grpSpPr bwMode="auto">
            <a:xfrm>
              <a:off x="3851" y="2525"/>
              <a:ext cx="69" cy="51"/>
              <a:chOff x="3770" y="2709"/>
              <a:chExt cx="69" cy="51"/>
            </a:xfrm>
          </p:grpSpPr>
          <p:sp>
            <p:nvSpPr>
              <p:cNvPr id="8297" name="Freeform 604" descr="50%"/>
              <p:cNvSpPr>
                <a:spLocks/>
              </p:cNvSpPr>
              <p:nvPr/>
            </p:nvSpPr>
            <p:spPr bwMode="auto">
              <a:xfrm>
                <a:off x="3770" y="2715"/>
                <a:ext cx="69" cy="45"/>
              </a:xfrm>
              <a:custGeom>
                <a:avLst/>
                <a:gdLst>
                  <a:gd name="T0" fmla="*/ 64 w 69"/>
                  <a:gd name="T1" fmla="*/ 39 h 45"/>
                  <a:gd name="T2" fmla="*/ 60 w 69"/>
                  <a:gd name="T3" fmla="*/ 35 h 45"/>
                  <a:gd name="T4" fmla="*/ 58 w 69"/>
                  <a:gd name="T5" fmla="*/ 33 h 45"/>
                  <a:gd name="T6" fmla="*/ 56 w 69"/>
                  <a:gd name="T7" fmla="*/ 31 h 45"/>
                  <a:gd name="T8" fmla="*/ 54 w 69"/>
                  <a:gd name="T9" fmla="*/ 28 h 45"/>
                  <a:gd name="T10" fmla="*/ 52 w 69"/>
                  <a:gd name="T11" fmla="*/ 26 h 45"/>
                  <a:gd name="T12" fmla="*/ 50 w 69"/>
                  <a:gd name="T13" fmla="*/ 23 h 45"/>
                  <a:gd name="T14" fmla="*/ 48 w 69"/>
                  <a:gd name="T15" fmla="*/ 21 h 45"/>
                  <a:gd name="T16" fmla="*/ 47 w 69"/>
                  <a:gd name="T17" fmla="*/ 17 h 45"/>
                  <a:gd name="T18" fmla="*/ 46 w 69"/>
                  <a:gd name="T19" fmla="*/ 14 h 45"/>
                  <a:gd name="T20" fmla="*/ 45 w 69"/>
                  <a:gd name="T21" fmla="*/ 11 h 45"/>
                  <a:gd name="T22" fmla="*/ 44 w 69"/>
                  <a:gd name="T23" fmla="*/ 8 h 45"/>
                  <a:gd name="T24" fmla="*/ 44 w 69"/>
                  <a:gd name="T25" fmla="*/ 4 h 45"/>
                  <a:gd name="T26" fmla="*/ 44 w 69"/>
                  <a:gd name="T27" fmla="*/ 0 h 45"/>
                  <a:gd name="T28" fmla="*/ 0 w 69"/>
                  <a:gd name="T29" fmla="*/ 0 h 45"/>
                  <a:gd name="T30" fmla="*/ 1 w 69"/>
                  <a:gd name="T31" fmla="*/ 3 h 45"/>
                  <a:gd name="T32" fmla="*/ 3 w 69"/>
                  <a:gd name="T33" fmla="*/ 6 h 45"/>
                  <a:gd name="T34" fmla="*/ 5 w 69"/>
                  <a:gd name="T35" fmla="*/ 9 h 45"/>
                  <a:gd name="T36" fmla="*/ 8 w 69"/>
                  <a:gd name="T37" fmla="*/ 12 h 45"/>
                  <a:gd name="T38" fmla="*/ 11 w 69"/>
                  <a:gd name="T39" fmla="*/ 16 h 45"/>
                  <a:gd name="T40" fmla="*/ 14 w 69"/>
                  <a:gd name="T41" fmla="*/ 19 h 45"/>
                  <a:gd name="T42" fmla="*/ 18 w 69"/>
                  <a:gd name="T43" fmla="*/ 22 h 45"/>
                  <a:gd name="T44" fmla="*/ 21 w 69"/>
                  <a:gd name="T45" fmla="*/ 25 h 45"/>
                  <a:gd name="T46" fmla="*/ 25 w 69"/>
                  <a:gd name="T47" fmla="*/ 28 h 45"/>
                  <a:gd name="T48" fmla="*/ 30 w 69"/>
                  <a:gd name="T49" fmla="*/ 32 h 45"/>
                  <a:gd name="T50" fmla="*/ 34 w 69"/>
                  <a:gd name="T51" fmla="*/ 34 h 45"/>
                  <a:gd name="T52" fmla="*/ 38 w 69"/>
                  <a:gd name="T53" fmla="*/ 36 h 45"/>
                  <a:gd name="T54" fmla="*/ 41 w 69"/>
                  <a:gd name="T55" fmla="*/ 38 h 45"/>
                  <a:gd name="T56" fmla="*/ 45 w 69"/>
                  <a:gd name="T57" fmla="*/ 39 h 45"/>
                  <a:gd name="T58" fmla="*/ 49 w 69"/>
                  <a:gd name="T59" fmla="*/ 41 h 45"/>
                  <a:gd name="T60" fmla="*/ 53 w 69"/>
                  <a:gd name="T61" fmla="*/ 42 h 45"/>
                  <a:gd name="T62" fmla="*/ 58 w 69"/>
                  <a:gd name="T63" fmla="*/ 43 h 45"/>
                  <a:gd name="T64" fmla="*/ 62 w 69"/>
                  <a:gd name="T65" fmla="*/ 43 h 45"/>
                  <a:gd name="T66" fmla="*/ 65 w 69"/>
                  <a:gd name="T67" fmla="*/ 43 h 45"/>
                  <a:gd name="T68" fmla="*/ 68 w 69"/>
                  <a:gd name="T69" fmla="*/ 44 h 45"/>
                  <a:gd name="T70" fmla="*/ 64 w 69"/>
                  <a:gd name="T71" fmla="*/ 39 h 45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69" h="45">
                    <a:moveTo>
                      <a:pt x="64" y="39"/>
                    </a:moveTo>
                    <a:lnTo>
                      <a:pt x="60" y="35"/>
                    </a:lnTo>
                    <a:lnTo>
                      <a:pt x="58" y="33"/>
                    </a:lnTo>
                    <a:lnTo>
                      <a:pt x="56" y="31"/>
                    </a:lnTo>
                    <a:lnTo>
                      <a:pt x="54" y="28"/>
                    </a:lnTo>
                    <a:lnTo>
                      <a:pt x="52" y="26"/>
                    </a:lnTo>
                    <a:lnTo>
                      <a:pt x="50" y="23"/>
                    </a:lnTo>
                    <a:lnTo>
                      <a:pt x="48" y="21"/>
                    </a:lnTo>
                    <a:lnTo>
                      <a:pt x="47" y="17"/>
                    </a:lnTo>
                    <a:lnTo>
                      <a:pt x="46" y="14"/>
                    </a:lnTo>
                    <a:lnTo>
                      <a:pt x="45" y="11"/>
                    </a:lnTo>
                    <a:lnTo>
                      <a:pt x="44" y="8"/>
                    </a:lnTo>
                    <a:lnTo>
                      <a:pt x="44" y="4"/>
                    </a:lnTo>
                    <a:lnTo>
                      <a:pt x="44" y="0"/>
                    </a:lnTo>
                    <a:lnTo>
                      <a:pt x="0" y="0"/>
                    </a:lnTo>
                    <a:lnTo>
                      <a:pt x="1" y="3"/>
                    </a:lnTo>
                    <a:lnTo>
                      <a:pt x="3" y="6"/>
                    </a:lnTo>
                    <a:lnTo>
                      <a:pt x="5" y="9"/>
                    </a:lnTo>
                    <a:lnTo>
                      <a:pt x="8" y="12"/>
                    </a:lnTo>
                    <a:lnTo>
                      <a:pt x="11" y="16"/>
                    </a:lnTo>
                    <a:lnTo>
                      <a:pt x="14" y="19"/>
                    </a:lnTo>
                    <a:lnTo>
                      <a:pt x="18" y="22"/>
                    </a:lnTo>
                    <a:lnTo>
                      <a:pt x="21" y="25"/>
                    </a:lnTo>
                    <a:lnTo>
                      <a:pt x="25" y="28"/>
                    </a:lnTo>
                    <a:lnTo>
                      <a:pt x="30" y="32"/>
                    </a:lnTo>
                    <a:lnTo>
                      <a:pt x="34" y="34"/>
                    </a:lnTo>
                    <a:lnTo>
                      <a:pt x="38" y="36"/>
                    </a:lnTo>
                    <a:lnTo>
                      <a:pt x="41" y="38"/>
                    </a:lnTo>
                    <a:lnTo>
                      <a:pt x="45" y="39"/>
                    </a:lnTo>
                    <a:lnTo>
                      <a:pt x="49" y="41"/>
                    </a:lnTo>
                    <a:lnTo>
                      <a:pt x="53" y="42"/>
                    </a:lnTo>
                    <a:lnTo>
                      <a:pt x="58" y="43"/>
                    </a:lnTo>
                    <a:lnTo>
                      <a:pt x="62" y="43"/>
                    </a:lnTo>
                    <a:lnTo>
                      <a:pt x="65" y="43"/>
                    </a:lnTo>
                    <a:lnTo>
                      <a:pt x="68" y="44"/>
                    </a:lnTo>
                    <a:lnTo>
                      <a:pt x="64" y="39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8" name="Freeform 605" descr="50%"/>
              <p:cNvSpPr>
                <a:spLocks/>
              </p:cNvSpPr>
              <p:nvPr/>
            </p:nvSpPr>
            <p:spPr bwMode="auto">
              <a:xfrm>
                <a:off x="3771" y="2709"/>
                <a:ext cx="36" cy="6"/>
              </a:xfrm>
              <a:custGeom>
                <a:avLst/>
                <a:gdLst>
                  <a:gd name="T0" fmla="*/ 0 w 36"/>
                  <a:gd name="T1" fmla="*/ 5 h 6"/>
                  <a:gd name="T2" fmla="*/ 0 w 36"/>
                  <a:gd name="T3" fmla="*/ 3 h 6"/>
                  <a:gd name="T4" fmla="*/ 1 w 36"/>
                  <a:gd name="T5" fmla="*/ 0 h 6"/>
                  <a:gd name="T6" fmla="*/ 35 w 36"/>
                  <a:gd name="T7" fmla="*/ 0 h 6"/>
                  <a:gd name="T8" fmla="*/ 35 w 36"/>
                  <a:gd name="T9" fmla="*/ 5 h 6"/>
                  <a:gd name="T10" fmla="*/ 0 w 36"/>
                  <a:gd name="T11" fmla="*/ 5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6" h="6">
                    <a:moveTo>
                      <a:pt x="0" y="5"/>
                    </a:moveTo>
                    <a:lnTo>
                      <a:pt x="0" y="3"/>
                    </a:lnTo>
                    <a:lnTo>
                      <a:pt x="1" y="0"/>
                    </a:lnTo>
                    <a:lnTo>
                      <a:pt x="35" y="0"/>
                    </a:lnTo>
                    <a:lnTo>
                      <a:pt x="35" y="5"/>
                    </a:lnTo>
                    <a:lnTo>
                      <a:pt x="0" y="5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233" name="Group 606"/>
            <p:cNvGrpSpPr>
              <a:grpSpLocks/>
            </p:cNvGrpSpPr>
            <p:nvPr/>
          </p:nvGrpSpPr>
          <p:grpSpPr bwMode="auto">
            <a:xfrm>
              <a:off x="4270" y="2440"/>
              <a:ext cx="321" cy="113"/>
              <a:chOff x="4270" y="2440"/>
              <a:chExt cx="321" cy="113"/>
            </a:xfrm>
          </p:grpSpPr>
          <p:sp>
            <p:nvSpPr>
              <p:cNvPr id="8282" name="Freeform 607" descr="50%"/>
              <p:cNvSpPr>
                <a:spLocks/>
              </p:cNvSpPr>
              <p:nvPr/>
            </p:nvSpPr>
            <p:spPr bwMode="auto">
              <a:xfrm>
                <a:off x="4351" y="2513"/>
                <a:ext cx="38" cy="31"/>
              </a:xfrm>
              <a:custGeom>
                <a:avLst/>
                <a:gdLst>
                  <a:gd name="T0" fmla="*/ 0 w 38"/>
                  <a:gd name="T1" fmla="*/ 0 h 31"/>
                  <a:gd name="T2" fmla="*/ 1 w 38"/>
                  <a:gd name="T3" fmla="*/ 3 h 31"/>
                  <a:gd name="T4" fmla="*/ 3 w 38"/>
                  <a:gd name="T5" fmla="*/ 6 h 31"/>
                  <a:gd name="T6" fmla="*/ 5 w 38"/>
                  <a:gd name="T7" fmla="*/ 9 h 31"/>
                  <a:gd name="T8" fmla="*/ 7 w 38"/>
                  <a:gd name="T9" fmla="*/ 12 h 31"/>
                  <a:gd name="T10" fmla="*/ 10 w 38"/>
                  <a:gd name="T11" fmla="*/ 15 h 31"/>
                  <a:gd name="T12" fmla="*/ 13 w 38"/>
                  <a:gd name="T13" fmla="*/ 19 h 31"/>
                  <a:gd name="T14" fmla="*/ 15 w 38"/>
                  <a:gd name="T15" fmla="*/ 21 h 31"/>
                  <a:gd name="T16" fmla="*/ 18 w 38"/>
                  <a:gd name="T17" fmla="*/ 23 h 31"/>
                  <a:gd name="T18" fmla="*/ 21 w 38"/>
                  <a:gd name="T19" fmla="*/ 25 h 31"/>
                  <a:gd name="T20" fmla="*/ 24 w 38"/>
                  <a:gd name="T21" fmla="*/ 27 h 31"/>
                  <a:gd name="T22" fmla="*/ 26 w 38"/>
                  <a:gd name="T23" fmla="*/ 28 h 31"/>
                  <a:gd name="T24" fmla="*/ 29 w 38"/>
                  <a:gd name="T25" fmla="*/ 29 h 31"/>
                  <a:gd name="T26" fmla="*/ 33 w 38"/>
                  <a:gd name="T27" fmla="*/ 30 h 31"/>
                  <a:gd name="T28" fmla="*/ 36 w 38"/>
                  <a:gd name="T29" fmla="*/ 30 h 31"/>
                  <a:gd name="T30" fmla="*/ 37 w 38"/>
                  <a:gd name="T31" fmla="*/ 29 h 31"/>
                  <a:gd name="T32" fmla="*/ 35 w 38"/>
                  <a:gd name="T33" fmla="*/ 27 h 31"/>
                  <a:gd name="T34" fmla="*/ 33 w 38"/>
                  <a:gd name="T35" fmla="*/ 25 h 31"/>
                  <a:gd name="T36" fmla="*/ 31 w 38"/>
                  <a:gd name="T37" fmla="*/ 22 h 31"/>
                  <a:gd name="T38" fmla="*/ 29 w 38"/>
                  <a:gd name="T39" fmla="*/ 19 h 31"/>
                  <a:gd name="T40" fmla="*/ 27 w 38"/>
                  <a:gd name="T41" fmla="*/ 16 h 31"/>
                  <a:gd name="T42" fmla="*/ 26 w 38"/>
                  <a:gd name="T43" fmla="*/ 13 h 31"/>
                  <a:gd name="T44" fmla="*/ 25 w 38"/>
                  <a:gd name="T45" fmla="*/ 11 h 31"/>
                  <a:gd name="T46" fmla="*/ 24 w 38"/>
                  <a:gd name="T47" fmla="*/ 6 h 31"/>
                  <a:gd name="T48" fmla="*/ 24 w 38"/>
                  <a:gd name="T49" fmla="*/ 3 h 31"/>
                  <a:gd name="T50" fmla="*/ 24 w 38"/>
                  <a:gd name="T51" fmla="*/ 1 h 31"/>
                  <a:gd name="T52" fmla="*/ 0 w 38"/>
                  <a:gd name="T53" fmla="*/ 0 h 31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38" h="31">
                    <a:moveTo>
                      <a:pt x="0" y="0"/>
                    </a:moveTo>
                    <a:lnTo>
                      <a:pt x="1" y="3"/>
                    </a:lnTo>
                    <a:lnTo>
                      <a:pt x="3" y="6"/>
                    </a:lnTo>
                    <a:lnTo>
                      <a:pt x="5" y="9"/>
                    </a:lnTo>
                    <a:lnTo>
                      <a:pt x="7" y="12"/>
                    </a:lnTo>
                    <a:lnTo>
                      <a:pt x="10" y="15"/>
                    </a:lnTo>
                    <a:lnTo>
                      <a:pt x="13" y="19"/>
                    </a:lnTo>
                    <a:lnTo>
                      <a:pt x="15" y="21"/>
                    </a:lnTo>
                    <a:lnTo>
                      <a:pt x="18" y="23"/>
                    </a:lnTo>
                    <a:lnTo>
                      <a:pt x="21" y="25"/>
                    </a:lnTo>
                    <a:lnTo>
                      <a:pt x="24" y="27"/>
                    </a:lnTo>
                    <a:lnTo>
                      <a:pt x="26" y="28"/>
                    </a:lnTo>
                    <a:lnTo>
                      <a:pt x="29" y="29"/>
                    </a:lnTo>
                    <a:lnTo>
                      <a:pt x="33" y="30"/>
                    </a:lnTo>
                    <a:lnTo>
                      <a:pt x="36" y="30"/>
                    </a:lnTo>
                    <a:lnTo>
                      <a:pt x="37" y="29"/>
                    </a:lnTo>
                    <a:lnTo>
                      <a:pt x="35" y="27"/>
                    </a:lnTo>
                    <a:lnTo>
                      <a:pt x="33" y="25"/>
                    </a:lnTo>
                    <a:lnTo>
                      <a:pt x="31" y="22"/>
                    </a:lnTo>
                    <a:lnTo>
                      <a:pt x="29" y="19"/>
                    </a:lnTo>
                    <a:lnTo>
                      <a:pt x="27" y="16"/>
                    </a:lnTo>
                    <a:lnTo>
                      <a:pt x="26" y="13"/>
                    </a:lnTo>
                    <a:lnTo>
                      <a:pt x="25" y="11"/>
                    </a:lnTo>
                    <a:lnTo>
                      <a:pt x="24" y="6"/>
                    </a:lnTo>
                    <a:lnTo>
                      <a:pt x="24" y="3"/>
                    </a:lnTo>
                    <a:lnTo>
                      <a:pt x="24" y="1"/>
                    </a:lnTo>
                    <a:lnTo>
                      <a:pt x="0" y="0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83" name="Freeform 608" descr="50%"/>
              <p:cNvSpPr>
                <a:spLocks/>
              </p:cNvSpPr>
              <p:nvPr/>
            </p:nvSpPr>
            <p:spPr bwMode="auto">
              <a:xfrm>
                <a:off x="4270" y="2440"/>
                <a:ext cx="321" cy="98"/>
              </a:xfrm>
              <a:custGeom>
                <a:avLst/>
                <a:gdLst>
                  <a:gd name="T0" fmla="*/ 3 w 321"/>
                  <a:gd name="T1" fmla="*/ 58 h 98"/>
                  <a:gd name="T2" fmla="*/ 13 w 321"/>
                  <a:gd name="T3" fmla="*/ 54 h 98"/>
                  <a:gd name="T4" fmla="*/ 28 w 321"/>
                  <a:gd name="T5" fmla="*/ 49 h 98"/>
                  <a:gd name="T6" fmla="*/ 43 w 321"/>
                  <a:gd name="T7" fmla="*/ 46 h 98"/>
                  <a:gd name="T8" fmla="*/ 59 w 321"/>
                  <a:gd name="T9" fmla="*/ 43 h 98"/>
                  <a:gd name="T10" fmla="*/ 75 w 321"/>
                  <a:gd name="T11" fmla="*/ 40 h 98"/>
                  <a:gd name="T12" fmla="*/ 88 w 321"/>
                  <a:gd name="T13" fmla="*/ 37 h 98"/>
                  <a:gd name="T14" fmla="*/ 95 w 321"/>
                  <a:gd name="T15" fmla="*/ 33 h 98"/>
                  <a:gd name="T16" fmla="*/ 103 w 321"/>
                  <a:gd name="T17" fmla="*/ 25 h 98"/>
                  <a:gd name="T18" fmla="*/ 114 w 321"/>
                  <a:gd name="T19" fmla="*/ 14 h 98"/>
                  <a:gd name="T20" fmla="*/ 125 w 321"/>
                  <a:gd name="T21" fmla="*/ 4 h 98"/>
                  <a:gd name="T22" fmla="*/ 133 w 321"/>
                  <a:gd name="T23" fmla="*/ 12 h 98"/>
                  <a:gd name="T24" fmla="*/ 137 w 321"/>
                  <a:gd name="T25" fmla="*/ 29 h 98"/>
                  <a:gd name="T26" fmla="*/ 140 w 321"/>
                  <a:gd name="T27" fmla="*/ 36 h 98"/>
                  <a:gd name="T28" fmla="*/ 159 w 321"/>
                  <a:gd name="T29" fmla="*/ 39 h 98"/>
                  <a:gd name="T30" fmla="*/ 177 w 321"/>
                  <a:gd name="T31" fmla="*/ 43 h 98"/>
                  <a:gd name="T32" fmla="*/ 191 w 321"/>
                  <a:gd name="T33" fmla="*/ 43 h 98"/>
                  <a:gd name="T34" fmla="*/ 206 w 321"/>
                  <a:gd name="T35" fmla="*/ 39 h 98"/>
                  <a:gd name="T36" fmla="*/ 218 w 321"/>
                  <a:gd name="T37" fmla="*/ 48 h 98"/>
                  <a:gd name="T38" fmla="*/ 229 w 321"/>
                  <a:gd name="T39" fmla="*/ 51 h 98"/>
                  <a:gd name="T40" fmla="*/ 243 w 321"/>
                  <a:gd name="T41" fmla="*/ 51 h 98"/>
                  <a:gd name="T42" fmla="*/ 258 w 321"/>
                  <a:gd name="T43" fmla="*/ 45 h 98"/>
                  <a:gd name="T44" fmla="*/ 275 w 321"/>
                  <a:gd name="T45" fmla="*/ 31 h 98"/>
                  <a:gd name="T46" fmla="*/ 294 w 321"/>
                  <a:gd name="T47" fmla="*/ 14 h 98"/>
                  <a:gd name="T48" fmla="*/ 314 w 321"/>
                  <a:gd name="T49" fmla="*/ 8 h 98"/>
                  <a:gd name="T50" fmla="*/ 314 w 321"/>
                  <a:gd name="T51" fmla="*/ 13 h 98"/>
                  <a:gd name="T52" fmla="*/ 305 w 321"/>
                  <a:gd name="T53" fmla="*/ 25 h 98"/>
                  <a:gd name="T54" fmla="*/ 294 w 321"/>
                  <a:gd name="T55" fmla="*/ 37 h 98"/>
                  <a:gd name="T56" fmla="*/ 287 w 321"/>
                  <a:gd name="T57" fmla="*/ 48 h 98"/>
                  <a:gd name="T58" fmla="*/ 287 w 321"/>
                  <a:gd name="T59" fmla="*/ 60 h 98"/>
                  <a:gd name="T60" fmla="*/ 295 w 321"/>
                  <a:gd name="T61" fmla="*/ 73 h 98"/>
                  <a:gd name="T62" fmla="*/ 305 w 321"/>
                  <a:gd name="T63" fmla="*/ 82 h 98"/>
                  <a:gd name="T64" fmla="*/ 313 w 321"/>
                  <a:gd name="T65" fmla="*/ 89 h 98"/>
                  <a:gd name="T66" fmla="*/ 314 w 321"/>
                  <a:gd name="T67" fmla="*/ 93 h 98"/>
                  <a:gd name="T68" fmla="*/ 302 w 321"/>
                  <a:gd name="T69" fmla="*/ 93 h 98"/>
                  <a:gd name="T70" fmla="*/ 291 w 321"/>
                  <a:gd name="T71" fmla="*/ 90 h 98"/>
                  <a:gd name="T72" fmla="*/ 281 w 321"/>
                  <a:gd name="T73" fmla="*/ 85 h 98"/>
                  <a:gd name="T74" fmla="*/ 264 w 321"/>
                  <a:gd name="T75" fmla="*/ 74 h 98"/>
                  <a:gd name="T76" fmla="*/ 243 w 321"/>
                  <a:gd name="T77" fmla="*/ 72 h 98"/>
                  <a:gd name="T78" fmla="*/ 218 w 321"/>
                  <a:gd name="T79" fmla="*/ 75 h 98"/>
                  <a:gd name="T80" fmla="*/ 202 w 321"/>
                  <a:gd name="T81" fmla="*/ 82 h 98"/>
                  <a:gd name="T82" fmla="*/ 197 w 321"/>
                  <a:gd name="T83" fmla="*/ 89 h 98"/>
                  <a:gd name="T84" fmla="*/ 175 w 321"/>
                  <a:gd name="T85" fmla="*/ 88 h 98"/>
                  <a:gd name="T86" fmla="*/ 156 w 321"/>
                  <a:gd name="T87" fmla="*/ 94 h 98"/>
                  <a:gd name="T88" fmla="*/ 86 w 321"/>
                  <a:gd name="T89" fmla="*/ 97 h 98"/>
                  <a:gd name="T90" fmla="*/ 46 w 321"/>
                  <a:gd name="T91" fmla="*/ 93 h 98"/>
                  <a:gd name="T92" fmla="*/ 11 w 321"/>
                  <a:gd name="T93" fmla="*/ 81 h 98"/>
                  <a:gd name="T94" fmla="*/ 11 w 321"/>
                  <a:gd name="T95" fmla="*/ 74 h 98"/>
                  <a:gd name="T96" fmla="*/ 3 w 321"/>
                  <a:gd name="T97" fmla="*/ 67 h 98"/>
                  <a:gd name="T98" fmla="*/ 0 w 321"/>
                  <a:gd name="T99" fmla="*/ 62 h 98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321" h="98">
                    <a:moveTo>
                      <a:pt x="0" y="60"/>
                    </a:moveTo>
                    <a:lnTo>
                      <a:pt x="1" y="59"/>
                    </a:lnTo>
                    <a:lnTo>
                      <a:pt x="3" y="58"/>
                    </a:lnTo>
                    <a:lnTo>
                      <a:pt x="7" y="56"/>
                    </a:lnTo>
                    <a:lnTo>
                      <a:pt x="10" y="55"/>
                    </a:lnTo>
                    <a:lnTo>
                      <a:pt x="13" y="54"/>
                    </a:lnTo>
                    <a:lnTo>
                      <a:pt x="18" y="52"/>
                    </a:lnTo>
                    <a:lnTo>
                      <a:pt x="23" y="51"/>
                    </a:lnTo>
                    <a:lnTo>
                      <a:pt x="28" y="49"/>
                    </a:lnTo>
                    <a:lnTo>
                      <a:pt x="32" y="48"/>
                    </a:lnTo>
                    <a:lnTo>
                      <a:pt x="38" y="47"/>
                    </a:lnTo>
                    <a:lnTo>
                      <a:pt x="43" y="46"/>
                    </a:lnTo>
                    <a:lnTo>
                      <a:pt x="49" y="45"/>
                    </a:lnTo>
                    <a:lnTo>
                      <a:pt x="54" y="44"/>
                    </a:lnTo>
                    <a:lnTo>
                      <a:pt x="59" y="43"/>
                    </a:lnTo>
                    <a:lnTo>
                      <a:pt x="63" y="42"/>
                    </a:lnTo>
                    <a:lnTo>
                      <a:pt x="69" y="41"/>
                    </a:lnTo>
                    <a:lnTo>
                      <a:pt x="75" y="40"/>
                    </a:lnTo>
                    <a:lnTo>
                      <a:pt x="80" y="39"/>
                    </a:lnTo>
                    <a:lnTo>
                      <a:pt x="84" y="38"/>
                    </a:lnTo>
                    <a:lnTo>
                      <a:pt x="88" y="37"/>
                    </a:lnTo>
                    <a:lnTo>
                      <a:pt x="91" y="36"/>
                    </a:lnTo>
                    <a:lnTo>
                      <a:pt x="93" y="34"/>
                    </a:lnTo>
                    <a:lnTo>
                      <a:pt x="95" y="33"/>
                    </a:lnTo>
                    <a:lnTo>
                      <a:pt x="97" y="31"/>
                    </a:lnTo>
                    <a:lnTo>
                      <a:pt x="100" y="28"/>
                    </a:lnTo>
                    <a:lnTo>
                      <a:pt x="103" y="25"/>
                    </a:lnTo>
                    <a:lnTo>
                      <a:pt x="106" y="21"/>
                    </a:lnTo>
                    <a:lnTo>
                      <a:pt x="110" y="18"/>
                    </a:lnTo>
                    <a:lnTo>
                      <a:pt x="114" y="14"/>
                    </a:lnTo>
                    <a:lnTo>
                      <a:pt x="117" y="10"/>
                    </a:lnTo>
                    <a:lnTo>
                      <a:pt x="121" y="7"/>
                    </a:lnTo>
                    <a:lnTo>
                      <a:pt x="125" y="4"/>
                    </a:lnTo>
                    <a:lnTo>
                      <a:pt x="130" y="0"/>
                    </a:lnTo>
                    <a:lnTo>
                      <a:pt x="131" y="7"/>
                    </a:lnTo>
                    <a:lnTo>
                      <a:pt x="133" y="12"/>
                    </a:lnTo>
                    <a:lnTo>
                      <a:pt x="135" y="18"/>
                    </a:lnTo>
                    <a:lnTo>
                      <a:pt x="136" y="24"/>
                    </a:lnTo>
                    <a:lnTo>
                      <a:pt x="137" y="29"/>
                    </a:lnTo>
                    <a:lnTo>
                      <a:pt x="137" y="32"/>
                    </a:lnTo>
                    <a:lnTo>
                      <a:pt x="135" y="35"/>
                    </a:lnTo>
                    <a:lnTo>
                      <a:pt x="140" y="36"/>
                    </a:lnTo>
                    <a:lnTo>
                      <a:pt x="145" y="37"/>
                    </a:lnTo>
                    <a:lnTo>
                      <a:pt x="152" y="38"/>
                    </a:lnTo>
                    <a:lnTo>
                      <a:pt x="159" y="39"/>
                    </a:lnTo>
                    <a:lnTo>
                      <a:pt x="166" y="41"/>
                    </a:lnTo>
                    <a:lnTo>
                      <a:pt x="171" y="42"/>
                    </a:lnTo>
                    <a:lnTo>
                      <a:pt x="177" y="43"/>
                    </a:lnTo>
                    <a:lnTo>
                      <a:pt x="183" y="43"/>
                    </a:lnTo>
                    <a:lnTo>
                      <a:pt x="188" y="44"/>
                    </a:lnTo>
                    <a:lnTo>
                      <a:pt x="191" y="43"/>
                    </a:lnTo>
                    <a:lnTo>
                      <a:pt x="195" y="41"/>
                    </a:lnTo>
                    <a:lnTo>
                      <a:pt x="198" y="38"/>
                    </a:lnTo>
                    <a:lnTo>
                      <a:pt x="206" y="39"/>
                    </a:lnTo>
                    <a:lnTo>
                      <a:pt x="215" y="42"/>
                    </a:lnTo>
                    <a:lnTo>
                      <a:pt x="222" y="43"/>
                    </a:lnTo>
                    <a:lnTo>
                      <a:pt x="218" y="48"/>
                    </a:lnTo>
                    <a:lnTo>
                      <a:pt x="220" y="49"/>
                    </a:lnTo>
                    <a:lnTo>
                      <a:pt x="225" y="50"/>
                    </a:lnTo>
                    <a:lnTo>
                      <a:pt x="229" y="51"/>
                    </a:lnTo>
                    <a:lnTo>
                      <a:pt x="234" y="52"/>
                    </a:lnTo>
                    <a:lnTo>
                      <a:pt x="238" y="51"/>
                    </a:lnTo>
                    <a:lnTo>
                      <a:pt x="243" y="51"/>
                    </a:lnTo>
                    <a:lnTo>
                      <a:pt x="248" y="50"/>
                    </a:lnTo>
                    <a:lnTo>
                      <a:pt x="253" y="48"/>
                    </a:lnTo>
                    <a:lnTo>
                      <a:pt x="258" y="45"/>
                    </a:lnTo>
                    <a:lnTo>
                      <a:pt x="264" y="41"/>
                    </a:lnTo>
                    <a:lnTo>
                      <a:pt x="269" y="37"/>
                    </a:lnTo>
                    <a:lnTo>
                      <a:pt x="275" y="31"/>
                    </a:lnTo>
                    <a:lnTo>
                      <a:pt x="281" y="24"/>
                    </a:lnTo>
                    <a:lnTo>
                      <a:pt x="288" y="19"/>
                    </a:lnTo>
                    <a:lnTo>
                      <a:pt x="294" y="14"/>
                    </a:lnTo>
                    <a:lnTo>
                      <a:pt x="300" y="11"/>
                    </a:lnTo>
                    <a:lnTo>
                      <a:pt x="306" y="9"/>
                    </a:lnTo>
                    <a:lnTo>
                      <a:pt x="314" y="8"/>
                    </a:lnTo>
                    <a:lnTo>
                      <a:pt x="320" y="8"/>
                    </a:lnTo>
                    <a:lnTo>
                      <a:pt x="317" y="11"/>
                    </a:lnTo>
                    <a:lnTo>
                      <a:pt x="314" y="13"/>
                    </a:lnTo>
                    <a:lnTo>
                      <a:pt x="313" y="15"/>
                    </a:lnTo>
                    <a:lnTo>
                      <a:pt x="309" y="22"/>
                    </a:lnTo>
                    <a:lnTo>
                      <a:pt x="305" y="25"/>
                    </a:lnTo>
                    <a:lnTo>
                      <a:pt x="301" y="28"/>
                    </a:lnTo>
                    <a:lnTo>
                      <a:pt x="297" y="33"/>
                    </a:lnTo>
                    <a:lnTo>
                      <a:pt x="294" y="37"/>
                    </a:lnTo>
                    <a:lnTo>
                      <a:pt x="292" y="41"/>
                    </a:lnTo>
                    <a:lnTo>
                      <a:pt x="289" y="45"/>
                    </a:lnTo>
                    <a:lnTo>
                      <a:pt x="287" y="48"/>
                    </a:lnTo>
                    <a:lnTo>
                      <a:pt x="286" y="52"/>
                    </a:lnTo>
                    <a:lnTo>
                      <a:pt x="286" y="56"/>
                    </a:lnTo>
                    <a:lnTo>
                      <a:pt x="287" y="60"/>
                    </a:lnTo>
                    <a:lnTo>
                      <a:pt x="289" y="65"/>
                    </a:lnTo>
                    <a:lnTo>
                      <a:pt x="292" y="69"/>
                    </a:lnTo>
                    <a:lnTo>
                      <a:pt x="295" y="73"/>
                    </a:lnTo>
                    <a:lnTo>
                      <a:pt x="298" y="76"/>
                    </a:lnTo>
                    <a:lnTo>
                      <a:pt x="301" y="79"/>
                    </a:lnTo>
                    <a:lnTo>
                      <a:pt x="305" y="82"/>
                    </a:lnTo>
                    <a:lnTo>
                      <a:pt x="309" y="85"/>
                    </a:lnTo>
                    <a:lnTo>
                      <a:pt x="311" y="87"/>
                    </a:lnTo>
                    <a:lnTo>
                      <a:pt x="313" y="89"/>
                    </a:lnTo>
                    <a:lnTo>
                      <a:pt x="316" y="91"/>
                    </a:lnTo>
                    <a:lnTo>
                      <a:pt x="317" y="93"/>
                    </a:lnTo>
                    <a:lnTo>
                      <a:pt x="314" y="93"/>
                    </a:lnTo>
                    <a:lnTo>
                      <a:pt x="309" y="93"/>
                    </a:lnTo>
                    <a:lnTo>
                      <a:pt x="305" y="93"/>
                    </a:lnTo>
                    <a:lnTo>
                      <a:pt x="302" y="93"/>
                    </a:lnTo>
                    <a:lnTo>
                      <a:pt x="297" y="92"/>
                    </a:lnTo>
                    <a:lnTo>
                      <a:pt x="294" y="91"/>
                    </a:lnTo>
                    <a:lnTo>
                      <a:pt x="291" y="90"/>
                    </a:lnTo>
                    <a:lnTo>
                      <a:pt x="288" y="88"/>
                    </a:lnTo>
                    <a:lnTo>
                      <a:pt x="284" y="87"/>
                    </a:lnTo>
                    <a:lnTo>
                      <a:pt x="281" y="85"/>
                    </a:lnTo>
                    <a:lnTo>
                      <a:pt x="274" y="80"/>
                    </a:lnTo>
                    <a:lnTo>
                      <a:pt x="270" y="77"/>
                    </a:lnTo>
                    <a:lnTo>
                      <a:pt x="264" y="74"/>
                    </a:lnTo>
                    <a:lnTo>
                      <a:pt x="258" y="73"/>
                    </a:lnTo>
                    <a:lnTo>
                      <a:pt x="252" y="73"/>
                    </a:lnTo>
                    <a:lnTo>
                      <a:pt x="243" y="72"/>
                    </a:lnTo>
                    <a:lnTo>
                      <a:pt x="235" y="73"/>
                    </a:lnTo>
                    <a:lnTo>
                      <a:pt x="227" y="74"/>
                    </a:lnTo>
                    <a:lnTo>
                      <a:pt x="218" y="75"/>
                    </a:lnTo>
                    <a:lnTo>
                      <a:pt x="209" y="77"/>
                    </a:lnTo>
                    <a:lnTo>
                      <a:pt x="203" y="80"/>
                    </a:lnTo>
                    <a:lnTo>
                      <a:pt x="202" y="82"/>
                    </a:lnTo>
                    <a:lnTo>
                      <a:pt x="203" y="83"/>
                    </a:lnTo>
                    <a:lnTo>
                      <a:pt x="208" y="86"/>
                    </a:lnTo>
                    <a:lnTo>
                      <a:pt x="197" y="89"/>
                    </a:lnTo>
                    <a:lnTo>
                      <a:pt x="182" y="93"/>
                    </a:lnTo>
                    <a:lnTo>
                      <a:pt x="179" y="90"/>
                    </a:lnTo>
                    <a:lnTo>
                      <a:pt x="175" y="88"/>
                    </a:lnTo>
                    <a:lnTo>
                      <a:pt x="171" y="87"/>
                    </a:lnTo>
                    <a:lnTo>
                      <a:pt x="164" y="87"/>
                    </a:lnTo>
                    <a:lnTo>
                      <a:pt x="156" y="94"/>
                    </a:lnTo>
                    <a:lnTo>
                      <a:pt x="149" y="89"/>
                    </a:lnTo>
                    <a:lnTo>
                      <a:pt x="97" y="96"/>
                    </a:lnTo>
                    <a:lnTo>
                      <a:pt x="86" y="97"/>
                    </a:lnTo>
                    <a:lnTo>
                      <a:pt x="77" y="96"/>
                    </a:lnTo>
                    <a:lnTo>
                      <a:pt x="66" y="95"/>
                    </a:lnTo>
                    <a:lnTo>
                      <a:pt x="46" y="93"/>
                    </a:lnTo>
                    <a:lnTo>
                      <a:pt x="28" y="88"/>
                    </a:lnTo>
                    <a:lnTo>
                      <a:pt x="18" y="84"/>
                    </a:lnTo>
                    <a:lnTo>
                      <a:pt x="11" y="81"/>
                    </a:lnTo>
                    <a:lnTo>
                      <a:pt x="18" y="79"/>
                    </a:lnTo>
                    <a:lnTo>
                      <a:pt x="14" y="76"/>
                    </a:lnTo>
                    <a:lnTo>
                      <a:pt x="11" y="74"/>
                    </a:lnTo>
                    <a:lnTo>
                      <a:pt x="6" y="70"/>
                    </a:lnTo>
                    <a:lnTo>
                      <a:pt x="5" y="69"/>
                    </a:lnTo>
                    <a:lnTo>
                      <a:pt x="3" y="67"/>
                    </a:lnTo>
                    <a:lnTo>
                      <a:pt x="2" y="66"/>
                    </a:lnTo>
                    <a:lnTo>
                      <a:pt x="1" y="63"/>
                    </a:lnTo>
                    <a:lnTo>
                      <a:pt x="0" y="62"/>
                    </a:lnTo>
                    <a:lnTo>
                      <a:pt x="0" y="60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8284" name="Group 609"/>
              <p:cNvGrpSpPr>
                <a:grpSpLocks/>
              </p:cNvGrpSpPr>
              <p:nvPr/>
            </p:nvGrpSpPr>
            <p:grpSpPr bwMode="auto">
              <a:xfrm>
                <a:off x="4297" y="2502"/>
                <a:ext cx="2" cy="3"/>
                <a:chOff x="4216" y="2686"/>
                <a:chExt cx="2" cy="3"/>
              </a:xfrm>
            </p:grpSpPr>
            <p:sp>
              <p:nvSpPr>
                <p:cNvPr id="8295" name="Oval 610" descr="50%"/>
                <p:cNvSpPr>
                  <a:spLocks noChangeArrowheads="1"/>
                </p:cNvSpPr>
                <p:nvPr/>
              </p:nvSpPr>
              <p:spPr bwMode="auto">
                <a:xfrm>
                  <a:off x="4216" y="2686"/>
                  <a:ext cx="2" cy="2"/>
                </a:xfrm>
                <a:prstGeom prst="ellipse">
                  <a:avLst/>
                </a:pr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96" name="Arc 611" descr="50%"/>
                <p:cNvSpPr>
                  <a:spLocks/>
                </p:cNvSpPr>
                <p:nvPr/>
              </p:nvSpPr>
              <p:spPr bwMode="auto">
                <a:xfrm>
                  <a:off x="4217" y="2687"/>
                  <a:ext cx="1" cy="2"/>
                </a:xfrm>
                <a:custGeom>
                  <a:avLst/>
                  <a:gdLst>
                    <a:gd name="T0" fmla="*/ 0 w 43200"/>
                    <a:gd name="T1" fmla="*/ 1 h 43200"/>
                    <a:gd name="T2" fmla="*/ 0 w 43200"/>
                    <a:gd name="T3" fmla="*/ 1 h 43200"/>
                    <a:gd name="T4" fmla="*/ 1 w 43200"/>
                    <a:gd name="T5" fmla="*/ 1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43200" fill="none" extrusionOk="0">
                      <a:moveTo>
                        <a:pt x="2280" y="11940"/>
                      </a:moveTo>
                    </a:path>
                    <a:path w="43200" h="43200" stroke="0" extrusionOk="0">
                      <a:moveTo>
                        <a:pt x="2280" y="11940"/>
                      </a:moveTo>
                      <a:lnTo>
                        <a:pt x="21600" y="21600"/>
                      </a:lnTo>
                      <a:lnTo>
                        <a:pt x="2280" y="11940"/>
                      </a:lnTo>
                      <a:close/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285" name="Group 612"/>
              <p:cNvGrpSpPr>
                <a:grpSpLocks/>
              </p:cNvGrpSpPr>
              <p:nvPr/>
            </p:nvGrpSpPr>
            <p:grpSpPr bwMode="auto">
              <a:xfrm>
                <a:off x="4314" y="2514"/>
                <a:ext cx="23" cy="4"/>
                <a:chOff x="4233" y="2698"/>
                <a:chExt cx="23" cy="4"/>
              </a:xfrm>
            </p:grpSpPr>
            <p:sp>
              <p:nvSpPr>
                <p:cNvPr id="8290" name="Arc 613" descr="50%"/>
                <p:cNvSpPr>
                  <a:spLocks/>
                </p:cNvSpPr>
                <p:nvPr/>
              </p:nvSpPr>
              <p:spPr bwMode="auto">
                <a:xfrm>
                  <a:off x="4237" y="2698"/>
                  <a:ext cx="0" cy="4"/>
                </a:xfrm>
                <a:custGeom>
                  <a:avLst/>
                  <a:gdLst>
                    <a:gd name="T0" fmla="*/ 1 w 43200"/>
                    <a:gd name="T1" fmla="*/ 2 h 43200"/>
                    <a:gd name="T2" fmla="*/ 1 w 43200"/>
                    <a:gd name="T3" fmla="*/ 2 h 43200"/>
                    <a:gd name="T4" fmla="*/ 1 w 43200"/>
                    <a:gd name="T5" fmla="*/ 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43200" fill="none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43200" stroke="0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lnTo>
                        <a:pt x="43200" y="21600"/>
                      </a:lnTo>
                      <a:close/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91" name="Arc 614" descr="50%"/>
                <p:cNvSpPr>
                  <a:spLocks/>
                </p:cNvSpPr>
                <p:nvPr/>
              </p:nvSpPr>
              <p:spPr bwMode="auto">
                <a:xfrm>
                  <a:off x="4233" y="2698"/>
                  <a:ext cx="0" cy="4"/>
                </a:xfrm>
                <a:custGeom>
                  <a:avLst/>
                  <a:gdLst>
                    <a:gd name="T0" fmla="*/ 1 w 43200"/>
                    <a:gd name="T1" fmla="*/ 2 h 43200"/>
                    <a:gd name="T2" fmla="*/ 1 w 43200"/>
                    <a:gd name="T3" fmla="*/ 2 h 43200"/>
                    <a:gd name="T4" fmla="*/ 1 w 43200"/>
                    <a:gd name="T5" fmla="*/ 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43200" fill="none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43200" stroke="0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lnTo>
                        <a:pt x="43200" y="21600"/>
                      </a:lnTo>
                      <a:close/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92" name="Arc 615" descr="50%"/>
                <p:cNvSpPr>
                  <a:spLocks/>
                </p:cNvSpPr>
                <p:nvPr/>
              </p:nvSpPr>
              <p:spPr bwMode="auto">
                <a:xfrm>
                  <a:off x="4240" y="2698"/>
                  <a:ext cx="7" cy="4"/>
                </a:xfrm>
                <a:custGeom>
                  <a:avLst/>
                  <a:gdLst>
                    <a:gd name="T0" fmla="*/ 2 w 35950"/>
                    <a:gd name="T1" fmla="*/ 0 h 43200"/>
                    <a:gd name="T2" fmla="*/ 0 w 35950"/>
                    <a:gd name="T3" fmla="*/ 3 h 43200"/>
                    <a:gd name="T4" fmla="*/ 3 w 35950"/>
                    <a:gd name="T5" fmla="*/ 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5950" h="43200" fill="none" extrusionOk="0">
                      <a:moveTo>
                        <a:pt x="9664" y="514"/>
                      </a:moveTo>
                      <a:cubicBezTo>
                        <a:pt x="11202" y="172"/>
                        <a:pt x="12773" y="-1"/>
                        <a:pt x="14350" y="0"/>
                      </a:cubicBezTo>
                      <a:cubicBezTo>
                        <a:pt x="26279" y="0"/>
                        <a:pt x="35950" y="9670"/>
                        <a:pt x="35950" y="21600"/>
                      </a:cubicBezTo>
                      <a:cubicBezTo>
                        <a:pt x="35950" y="33529"/>
                        <a:pt x="26279" y="43200"/>
                        <a:pt x="14350" y="43200"/>
                      </a:cubicBezTo>
                      <a:cubicBezTo>
                        <a:pt x="9059" y="43200"/>
                        <a:pt x="3953" y="41258"/>
                        <a:pt x="-1" y="37744"/>
                      </a:cubicBezTo>
                    </a:path>
                    <a:path w="35950" h="43200" stroke="0" extrusionOk="0">
                      <a:moveTo>
                        <a:pt x="9664" y="514"/>
                      </a:moveTo>
                      <a:cubicBezTo>
                        <a:pt x="11202" y="172"/>
                        <a:pt x="12773" y="-1"/>
                        <a:pt x="14350" y="0"/>
                      </a:cubicBezTo>
                      <a:cubicBezTo>
                        <a:pt x="26279" y="0"/>
                        <a:pt x="35950" y="9670"/>
                        <a:pt x="35950" y="21600"/>
                      </a:cubicBezTo>
                      <a:cubicBezTo>
                        <a:pt x="35950" y="33529"/>
                        <a:pt x="26279" y="43200"/>
                        <a:pt x="14350" y="43200"/>
                      </a:cubicBezTo>
                      <a:cubicBezTo>
                        <a:pt x="9059" y="43200"/>
                        <a:pt x="3953" y="41258"/>
                        <a:pt x="-1" y="37744"/>
                      </a:cubicBezTo>
                      <a:lnTo>
                        <a:pt x="14350" y="21600"/>
                      </a:lnTo>
                      <a:lnTo>
                        <a:pt x="9664" y="514"/>
                      </a:lnTo>
                      <a:close/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93" name="Arc 616" descr="50%"/>
                <p:cNvSpPr>
                  <a:spLocks/>
                </p:cNvSpPr>
                <p:nvPr/>
              </p:nvSpPr>
              <p:spPr bwMode="auto">
                <a:xfrm>
                  <a:off x="4244" y="2698"/>
                  <a:ext cx="7" cy="4"/>
                </a:xfrm>
                <a:custGeom>
                  <a:avLst/>
                  <a:gdLst>
                    <a:gd name="T0" fmla="*/ 2 w 35950"/>
                    <a:gd name="T1" fmla="*/ 0 h 43200"/>
                    <a:gd name="T2" fmla="*/ 0 w 35950"/>
                    <a:gd name="T3" fmla="*/ 3 h 43200"/>
                    <a:gd name="T4" fmla="*/ 3 w 35950"/>
                    <a:gd name="T5" fmla="*/ 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5950" h="43200" fill="none" extrusionOk="0">
                      <a:moveTo>
                        <a:pt x="9664" y="514"/>
                      </a:moveTo>
                      <a:cubicBezTo>
                        <a:pt x="11202" y="172"/>
                        <a:pt x="12773" y="-1"/>
                        <a:pt x="14350" y="0"/>
                      </a:cubicBezTo>
                      <a:cubicBezTo>
                        <a:pt x="26279" y="0"/>
                        <a:pt x="35950" y="9670"/>
                        <a:pt x="35950" y="21600"/>
                      </a:cubicBezTo>
                      <a:cubicBezTo>
                        <a:pt x="35950" y="33529"/>
                        <a:pt x="26279" y="43200"/>
                        <a:pt x="14350" y="43200"/>
                      </a:cubicBezTo>
                      <a:cubicBezTo>
                        <a:pt x="9059" y="43200"/>
                        <a:pt x="3953" y="41258"/>
                        <a:pt x="-1" y="37744"/>
                      </a:cubicBezTo>
                    </a:path>
                    <a:path w="35950" h="43200" stroke="0" extrusionOk="0">
                      <a:moveTo>
                        <a:pt x="9664" y="514"/>
                      </a:moveTo>
                      <a:cubicBezTo>
                        <a:pt x="11202" y="172"/>
                        <a:pt x="12773" y="-1"/>
                        <a:pt x="14350" y="0"/>
                      </a:cubicBezTo>
                      <a:cubicBezTo>
                        <a:pt x="26279" y="0"/>
                        <a:pt x="35950" y="9670"/>
                        <a:pt x="35950" y="21600"/>
                      </a:cubicBezTo>
                      <a:cubicBezTo>
                        <a:pt x="35950" y="33529"/>
                        <a:pt x="26279" y="43200"/>
                        <a:pt x="14350" y="43200"/>
                      </a:cubicBezTo>
                      <a:cubicBezTo>
                        <a:pt x="9059" y="43200"/>
                        <a:pt x="3953" y="41258"/>
                        <a:pt x="-1" y="37744"/>
                      </a:cubicBezTo>
                      <a:lnTo>
                        <a:pt x="14350" y="21600"/>
                      </a:lnTo>
                      <a:lnTo>
                        <a:pt x="9664" y="514"/>
                      </a:lnTo>
                      <a:close/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94" name="Arc 617" descr="50%"/>
                <p:cNvSpPr>
                  <a:spLocks/>
                </p:cNvSpPr>
                <p:nvPr/>
              </p:nvSpPr>
              <p:spPr bwMode="auto">
                <a:xfrm>
                  <a:off x="4250" y="2698"/>
                  <a:ext cx="6" cy="4"/>
                </a:xfrm>
                <a:custGeom>
                  <a:avLst/>
                  <a:gdLst>
                    <a:gd name="T0" fmla="*/ 1 w 30373"/>
                    <a:gd name="T1" fmla="*/ 0 h 43200"/>
                    <a:gd name="T2" fmla="*/ 0 w 30373"/>
                    <a:gd name="T3" fmla="*/ 4 h 43200"/>
                    <a:gd name="T4" fmla="*/ 2 w 30373"/>
                    <a:gd name="T5" fmla="*/ 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0373" h="43200" fill="none" extrusionOk="0">
                      <a:moveTo>
                        <a:pt x="4087" y="514"/>
                      </a:moveTo>
                      <a:cubicBezTo>
                        <a:pt x="5625" y="172"/>
                        <a:pt x="7196" y="-1"/>
                        <a:pt x="8773" y="0"/>
                      </a:cubicBezTo>
                      <a:cubicBezTo>
                        <a:pt x="20702" y="0"/>
                        <a:pt x="30373" y="9670"/>
                        <a:pt x="30373" y="21600"/>
                      </a:cubicBezTo>
                      <a:cubicBezTo>
                        <a:pt x="30373" y="33529"/>
                        <a:pt x="20702" y="43200"/>
                        <a:pt x="8773" y="43200"/>
                      </a:cubicBezTo>
                      <a:cubicBezTo>
                        <a:pt x="5750" y="43200"/>
                        <a:pt x="2761" y="42565"/>
                        <a:pt x="-1" y="41338"/>
                      </a:cubicBezTo>
                    </a:path>
                    <a:path w="30373" h="43200" stroke="0" extrusionOk="0">
                      <a:moveTo>
                        <a:pt x="4087" y="514"/>
                      </a:moveTo>
                      <a:cubicBezTo>
                        <a:pt x="5625" y="172"/>
                        <a:pt x="7196" y="-1"/>
                        <a:pt x="8773" y="0"/>
                      </a:cubicBezTo>
                      <a:cubicBezTo>
                        <a:pt x="20702" y="0"/>
                        <a:pt x="30373" y="9670"/>
                        <a:pt x="30373" y="21600"/>
                      </a:cubicBezTo>
                      <a:cubicBezTo>
                        <a:pt x="30373" y="33529"/>
                        <a:pt x="20702" y="43200"/>
                        <a:pt x="8773" y="43200"/>
                      </a:cubicBezTo>
                      <a:cubicBezTo>
                        <a:pt x="5750" y="43200"/>
                        <a:pt x="2761" y="42565"/>
                        <a:pt x="-1" y="41338"/>
                      </a:cubicBezTo>
                      <a:lnTo>
                        <a:pt x="8773" y="21600"/>
                      </a:lnTo>
                      <a:lnTo>
                        <a:pt x="4087" y="514"/>
                      </a:lnTo>
                      <a:close/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8286" name="Freeform 618" descr="50%"/>
              <p:cNvSpPr>
                <a:spLocks/>
              </p:cNvSpPr>
              <p:nvPr/>
            </p:nvSpPr>
            <p:spPr bwMode="auto">
              <a:xfrm>
                <a:off x="4270" y="2442"/>
                <a:ext cx="312" cy="58"/>
              </a:xfrm>
              <a:custGeom>
                <a:avLst/>
                <a:gdLst>
                  <a:gd name="T0" fmla="*/ 7 w 312"/>
                  <a:gd name="T1" fmla="*/ 48 h 58"/>
                  <a:gd name="T2" fmla="*/ 21 w 312"/>
                  <a:gd name="T3" fmla="*/ 44 h 58"/>
                  <a:gd name="T4" fmla="*/ 42 w 312"/>
                  <a:gd name="T5" fmla="*/ 39 h 58"/>
                  <a:gd name="T6" fmla="*/ 63 w 312"/>
                  <a:gd name="T7" fmla="*/ 36 h 58"/>
                  <a:gd name="T8" fmla="*/ 83 w 312"/>
                  <a:gd name="T9" fmla="*/ 32 h 58"/>
                  <a:gd name="T10" fmla="*/ 94 w 312"/>
                  <a:gd name="T11" fmla="*/ 27 h 58"/>
                  <a:gd name="T12" fmla="*/ 104 w 312"/>
                  <a:gd name="T13" fmla="*/ 18 h 58"/>
                  <a:gd name="T14" fmla="*/ 119 w 312"/>
                  <a:gd name="T15" fmla="*/ 5 h 58"/>
                  <a:gd name="T16" fmla="*/ 130 w 312"/>
                  <a:gd name="T17" fmla="*/ 10 h 58"/>
                  <a:gd name="T18" fmla="*/ 134 w 312"/>
                  <a:gd name="T19" fmla="*/ 25 h 58"/>
                  <a:gd name="T20" fmla="*/ 142 w 312"/>
                  <a:gd name="T21" fmla="*/ 31 h 58"/>
                  <a:gd name="T22" fmla="*/ 168 w 312"/>
                  <a:gd name="T23" fmla="*/ 35 h 58"/>
                  <a:gd name="T24" fmla="*/ 187 w 312"/>
                  <a:gd name="T25" fmla="*/ 36 h 58"/>
                  <a:gd name="T26" fmla="*/ 210 w 312"/>
                  <a:gd name="T27" fmla="*/ 35 h 58"/>
                  <a:gd name="T28" fmla="*/ 219 w 312"/>
                  <a:gd name="T29" fmla="*/ 43 h 58"/>
                  <a:gd name="T30" fmla="*/ 238 w 312"/>
                  <a:gd name="T31" fmla="*/ 44 h 58"/>
                  <a:gd name="T32" fmla="*/ 258 w 312"/>
                  <a:gd name="T33" fmla="*/ 34 h 58"/>
                  <a:gd name="T34" fmla="*/ 275 w 312"/>
                  <a:gd name="T35" fmla="*/ 20 h 58"/>
                  <a:gd name="T36" fmla="*/ 288 w 312"/>
                  <a:gd name="T37" fmla="*/ 11 h 58"/>
                  <a:gd name="T38" fmla="*/ 299 w 312"/>
                  <a:gd name="T39" fmla="*/ 6 h 58"/>
                  <a:gd name="T40" fmla="*/ 309 w 312"/>
                  <a:gd name="T41" fmla="*/ 8 h 58"/>
                  <a:gd name="T42" fmla="*/ 301 w 312"/>
                  <a:gd name="T43" fmla="*/ 18 h 58"/>
                  <a:gd name="T44" fmla="*/ 291 w 312"/>
                  <a:gd name="T45" fmla="*/ 26 h 58"/>
                  <a:gd name="T46" fmla="*/ 285 w 312"/>
                  <a:gd name="T47" fmla="*/ 34 h 58"/>
                  <a:gd name="T48" fmla="*/ 280 w 312"/>
                  <a:gd name="T49" fmla="*/ 40 h 58"/>
                  <a:gd name="T50" fmla="*/ 279 w 312"/>
                  <a:gd name="T51" fmla="*/ 48 h 58"/>
                  <a:gd name="T52" fmla="*/ 270 w 312"/>
                  <a:gd name="T53" fmla="*/ 46 h 58"/>
                  <a:gd name="T54" fmla="*/ 262 w 312"/>
                  <a:gd name="T55" fmla="*/ 49 h 58"/>
                  <a:gd name="T56" fmla="*/ 253 w 312"/>
                  <a:gd name="T57" fmla="*/ 48 h 58"/>
                  <a:gd name="T58" fmla="*/ 243 w 312"/>
                  <a:gd name="T59" fmla="*/ 48 h 58"/>
                  <a:gd name="T60" fmla="*/ 232 w 312"/>
                  <a:gd name="T61" fmla="*/ 47 h 58"/>
                  <a:gd name="T62" fmla="*/ 220 w 312"/>
                  <a:gd name="T63" fmla="*/ 48 h 58"/>
                  <a:gd name="T64" fmla="*/ 208 w 312"/>
                  <a:gd name="T65" fmla="*/ 50 h 58"/>
                  <a:gd name="T66" fmla="*/ 196 w 312"/>
                  <a:gd name="T67" fmla="*/ 50 h 58"/>
                  <a:gd name="T68" fmla="*/ 184 w 312"/>
                  <a:gd name="T69" fmla="*/ 50 h 58"/>
                  <a:gd name="T70" fmla="*/ 174 w 312"/>
                  <a:gd name="T71" fmla="*/ 52 h 58"/>
                  <a:gd name="T72" fmla="*/ 162 w 312"/>
                  <a:gd name="T73" fmla="*/ 54 h 58"/>
                  <a:gd name="T74" fmla="*/ 148 w 312"/>
                  <a:gd name="T75" fmla="*/ 54 h 58"/>
                  <a:gd name="T76" fmla="*/ 136 w 312"/>
                  <a:gd name="T77" fmla="*/ 54 h 58"/>
                  <a:gd name="T78" fmla="*/ 125 w 312"/>
                  <a:gd name="T79" fmla="*/ 53 h 58"/>
                  <a:gd name="T80" fmla="*/ 113 w 312"/>
                  <a:gd name="T81" fmla="*/ 54 h 58"/>
                  <a:gd name="T82" fmla="*/ 104 w 312"/>
                  <a:gd name="T83" fmla="*/ 53 h 58"/>
                  <a:gd name="T84" fmla="*/ 93 w 312"/>
                  <a:gd name="T85" fmla="*/ 54 h 58"/>
                  <a:gd name="T86" fmla="*/ 80 w 312"/>
                  <a:gd name="T87" fmla="*/ 54 h 58"/>
                  <a:gd name="T88" fmla="*/ 64 w 312"/>
                  <a:gd name="T89" fmla="*/ 57 h 58"/>
                  <a:gd name="T90" fmla="*/ 46 w 312"/>
                  <a:gd name="T91" fmla="*/ 57 h 58"/>
                  <a:gd name="T92" fmla="*/ 31 w 312"/>
                  <a:gd name="T93" fmla="*/ 55 h 58"/>
                  <a:gd name="T94" fmla="*/ 17 w 312"/>
                  <a:gd name="T95" fmla="*/ 55 h 58"/>
                  <a:gd name="T96" fmla="*/ 4 w 312"/>
                  <a:gd name="T97" fmla="*/ 53 h 5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312" h="58">
                    <a:moveTo>
                      <a:pt x="0" y="52"/>
                    </a:moveTo>
                    <a:lnTo>
                      <a:pt x="2" y="50"/>
                    </a:lnTo>
                    <a:lnTo>
                      <a:pt x="5" y="49"/>
                    </a:lnTo>
                    <a:lnTo>
                      <a:pt x="7" y="48"/>
                    </a:lnTo>
                    <a:lnTo>
                      <a:pt x="10" y="47"/>
                    </a:lnTo>
                    <a:lnTo>
                      <a:pt x="13" y="46"/>
                    </a:lnTo>
                    <a:lnTo>
                      <a:pt x="18" y="45"/>
                    </a:lnTo>
                    <a:lnTo>
                      <a:pt x="21" y="44"/>
                    </a:lnTo>
                    <a:lnTo>
                      <a:pt x="26" y="42"/>
                    </a:lnTo>
                    <a:lnTo>
                      <a:pt x="31" y="41"/>
                    </a:lnTo>
                    <a:lnTo>
                      <a:pt x="37" y="40"/>
                    </a:lnTo>
                    <a:lnTo>
                      <a:pt x="42" y="39"/>
                    </a:lnTo>
                    <a:lnTo>
                      <a:pt x="48" y="39"/>
                    </a:lnTo>
                    <a:lnTo>
                      <a:pt x="53" y="38"/>
                    </a:lnTo>
                    <a:lnTo>
                      <a:pt x="58" y="37"/>
                    </a:lnTo>
                    <a:lnTo>
                      <a:pt x="63" y="36"/>
                    </a:lnTo>
                    <a:lnTo>
                      <a:pt x="67" y="35"/>
                    </a:lnTo>
                    <a:lnTo>
                      <a:pt x="73" y="34"/>
                    </a:lnTo>
                    <a:lnTo>
                      <a:pt x="78" y="33"/>
                    </a:lnTo>
                    <a:lnTo>
                      <a:pt x="83" y="32"/>
                    </a:lnTo>
                    <a:lnTo>
                      <a:pt x="86" y="32"/>
                    </a:lnTo>
                    <a:lnTo>
                      <a:pt x="90" y="30"/>
                    </a:lnTo>
                    <a:lnTo>
                      <a:pt x="92" y="29"/>
                    </a:lnTo>
                    <a:lnTo>
                      <a:pt x="94" y="27"/>
                    </a:lnTo>
                    <a:lnTo>
                      <a:pt x="96" y="25"/>
                    </a:lnTo>
                    <a:lnTo>
                      <a:pt x="98" y="23"/>
                    </a:lnTo>
                    <a:lnTo>
                      <a:pt x="101" y="20"/>
                    </a:lnTo>
                    <a:lnTo>
                      <a:pt x="104" y="18"/>
                    </a:lnTo>
                    <a:lnTo>
                      <a:pt x="107" y="14"/>
                    </a:lnTo>
                    <a:lnTo>
                      <a:pt x="111" y="11"/>
                    </a:lnTo>
                    <a:lnTo>
                      <a:pt x="115" y="8"/>
                    </a:lnTo>
                    <a:lnTo>
                      <a:pt x="119" y="5"/>
                    </a:lnTo>
                    <a:lnTo>
                      <a:pt x="123" y="2"/>
                    </a:lnTo>
                    <a:lnTo>
                      <a:pt x="127" y="0"/>
                    </a:lnTo>
                    <a:lnTo>
                      <a:pt x="128" y="4"/>
                    </a:lnTo>
                    <a:lnTo>
                      <a:pt x="130" y="10"/>
                    </a:lnTo>
                    <a:lnTo>
                      <a:pt x="132" y="15"/>
                    </a:lnTo>
                    <a:lnTo>
                      <a:pt x="133" y="20"/>
                    </a:lnTo>
                    <a:lnTo>
                      <a:pt x="134" y="22"/>
                    </a:lnTo>
                    <a:lnTo>
                      <a:pt x="134" y="25"/>
                    </a:lnTo>
                    <a:lnTo>
                      <a:pt x="134" y="27"/>
                    </a:lnTo>
                    <a:lnTo>
                      <a:pt x="132" y="29"/>
                    </a:lnTo>
                    <a:lnTo>
                      <a:pt x="137" y="31"/>
                    </a:lnTo>
                    <a:lnTo>
                      <a:pt x="142" y="31"/>
                    </a:lnTo>
                    <a:lnTo>
                      <a:pt x="148" y="32"/>
                    </a:lnTo>
                    <a:lnTo>
                      <a:pt x="155" y="33"/>
                    </a:lnTo>
                    <a:lnTo>
                      <a:pt x="162" y="34"/>
                    </a:lnTo>
                    <a:lnTo>
                      <a:pt x="168" y="35"/>
                    </a:lnTo>
                    <a:lnTo>
                      <a:pt x="174" y="36"/>
                    </a:lnTo>
                    <a:lnTo>
                      <a:pt x="178" y="37"/>
                    </a:lnTo>
                    <a:lnTo>
                      <a:pt x="183" y="37"/>
                    </a:lnTo>
                    <a:lnTo>
                      <a:pt x="187" y="36"/>
                    </a:lnTo>
                    <a:lnTo>
                      <a:pt x="190" y="34"/>
                    </a:lnTo>
                    <a:lnTo>
                      <a:pt x="194" y="32"/>
                    </a:lnTo>
                    <a:lnTo>
                      <a:pt x="202" y="33"/>
                    </a:lnTo>
                    <a:lnTo>
                      <a:pt x="210" y="35"/>
                    </a:lnTo>
                    <a:lnTo>
                      <a:pt x="216" y="37"/>
                    </a:lnTo>
                    <a:lnTo>
                      <a:pt x="213" y="40"/>
                    </a:lnTo>
                    <a:lnTo>
                      <a:pt x="215" y="41"/>
                    </a:lnTo>
                    <a:lnTo>
                      <a:pt x="219" y="43"/>
                    </a:lnTo>
                    <a:lnTo>
                      <a:pt x="223" y="44"/>
                    </a:lnTo>
                    <a:lnTo>
                      <a:pt x="228" y="44"/>
                    </a:lnTo>
                    <a:lnTo>
                      <a:pt x="233" y="44"/>
                    </a:lnTo>
                    <a:lnTo>
                      <a:pt x="238" y="44"/>
                    </a:lnTo>
                    <a:lnTo>
                      <a:pt x="242" y="43"/>
                    </a:lnTo>
                    <a:lnTo>
                      <a:pt x="248" y="41"/>
                    </a:lnTo>
                    <a:lnTo>
                      <a:pt x="253" y="39"/>
                    </a:lnTo>
                    <a:lnTo>
                      <a:pt x="258" y="34"/>
                    </a:lnTo>
                    <a:lnTo>
                      <a:pt x="263" y="31"/>
                    </a:lnTo>
                    <a:lnTo>
                      <a:pt x="268" y="26"/>
                    </a:lnTo>
                    <a:lnTo>
                      <a:pt x="271" y="24"/>
                    </a:lnTo>
                    <a:lnTo>
                      <a:pt x="275" y="20"/>
                    </a:lnTo>
                    <a:lnTo>
                      <a:pt x="278" y="18"/>
                    </a:lnTo>
                    <a:lnTo>
                      <a:pt x="282" y="15"/>
                    </a:lnTo>
                    <a:lnTo>
                      <a:pt x="285" y="13"/>
                    </a:lnTo>
                    <a:lnTo>
                      <a:pt x="288" y="11"/>
                    </a:lnTo>
                    <a:lnTo>
                      <a:pt x="291" y="10"/>
                    </a:lnTo>
                    <a:lnTo>
                      <a:pt x="293" y="9"/>
                    </a:lnTo>
                    <a:lnTo>
                      <a:pt x="296" y="7"/>
                    </a:lnTo>
                    <a:lnTo>
                      <a:pt x="299" y="6"/>
                    </a:lnTo>
                    <a:lnTo>
                      <a:pt x="302" y="6"/>
                    </a:lnTo>
                    <a:lnTo>
                      <a:pt x="306" y="6"/>
                    </a:lnTo>
                    <a:lnTo>
                      <a:pt x="311" y="6"/>
                    </a:lnTo>
                    <a:lnTo>
                      <a:pt x="309" y="8"/>
                    </a:lnTo>
                    <a:lnTo>
                      <a:pt x="307" y="11"/>
                    </a:lnTo>
                    <a:lnTo>
                      <a:pt x="305" y="12"/>
                    </a:lnTo>
                    <a:lnTo>
                      <a:pt x="303" y="15"/>
                    </a:lnTo>
                    <a:lnTo>
                      <a:pt x="301" y="18"/>
                    </a:lnTo>
                    <a:lnTo>
                      <a:pt x="298" y="20"/>
                    </a:lnTo>
                    <a:lnTo>
                      <a:pt x="294" y="23"/>
                    </a:lnTo>
                    <a:lnTo>
                      <a:pt x="292" y="25"/>
                    </a:lnTo>
                    <a:lnTo>
                      <a:pt x="291" y="26"/>
                    </a:lnTo>
                    <a:lnTo>
                      <a:pt x="289" y="29"/>
                    </a:lnTo>
                    <a:lnTo>
                      <a:pt x="288" y="30"/>
                    </a:lnTo>
                    <a:lnTo>
                      <a:pt x="286" y="32"/>
                    </a:lnTo>
                    <a:lnTo>
                      <a:pt x="285" y="34"/>
                    </a:lnTo>
                    <a:lnTo>
                      <a:pt x="284" y="36"/>
                    </a:lnTo>
                    <a:lnTo>
                      <a:pt x="282" y="38"/>
                    </a:lnTo>
                    <a:lnTo>
                      <a:pt x="281" y="39"/>
                    </a:lnTo>
                    <a:lnTo>
                      <a:pt x="280" y="40"/>
                    </a:lnTo>
                    <a:lnTo>
                      <a:pt x="280" y="43"/>
                    </a:lnTo>
                    <a:lnTo>
                      <a:pt x="279" y="44"/>
                    </a:lnTo>
                    <a:lnTo>
                      <a:pt x="279" y="46"/>
                    </a:lnTo>
                    <a:lnTo>
                      <a:pt x="279" y="48"/>
                    </a:lnTo>
                    <a:lnTo>
                      <a:pt x="277" y="46"/>
                    </a:lnTo>
                    <a:lnTo>
                      <a:pt x="274" y="46"/>
                    </a:lnTo>
                    <a:lnTo>
                      <a:pt x="272" y="46"/>
                    </a:lnTo>
                    <a:lnTo>
                      <a:pt x="270" y="46"/>
                    </a:lnTo>
                    <a:lnTo>
                      <a:pt x="268" y="47"/>
                    </a:lnTo>
                    <a:lnTo>
                      <a:pt x="266" y="48"/>
                    </a:lnTo>
                    <a:lnTo>
                      <a:pt x="264" y="48"/>
                    </a:lnTo>
                    <a:lnTo>
                      <a:pt x="262" y="49"/>
                    </a:lnTo>
                    <a:lnTo>
                      <a:pt x="259" y="49"/>
                    </a:lnTo>
                    <a:lnTo>
                      <a:pt x="256" y="49"/>
                    </a:lnTo>
                    <a:lnTo>
                      <a:pt x="254" y="48"/>
                    </a:lnTo>
                    <a:lnTo>
                      <a:pt x="253" y="48"/>
                    </a:lnTo>
                    <a:lnTo>
                      <a:pt x="251" y="47"/>
                    </a:lnTo>
                    <a:lnTo>
                      <a:pt x="249" y="47"/>
                    </a:lnTo>
                    <a:lnTo>
                      <a:pt x="245" y="48"/>
                    </a:lnTo>
                    <a:lnTo>
                      <a:pt x="243" y="48"/>
                    </a:lnTo>
                    <a:lnTo>
                      <a:pt x="241" y="48"/>
                    </a:lnTo>
                    <a:lnTo>
                      <a:pt x="238" y="48"/>
                    </a:lnTo>
                    <a:lnTo>
                      <a:pt x="235" y="47"/>
                    </a:lnTo>
                    <a:lnTo>
                      <a:pt x="232" y="47"/>
                    </a:lnTo>
                    <a:lnTo>
                      <a:pt x="229" y="48"/>
                    </a:lnTo>
                    <a:lnTo>
                      <a:pt x="225" y="48"/>
                    </a:lnTo>
                    <a:lnTo>
                      <a:pt x="223" y="48"/>
                    </a:lnTo>
                    <a:lnTo>
                      <a:pt x="220" y="48"/>
                    </a:lnTo>
                    <a:lnTo>
                      <a:pt x="217" y="48"/>
                    </a:lnTo>
                    <a:lnTo>
                      <a:pt x="214" y="48"/>
                    </a:lnTo>
                    <a:lnTo>
                      <a:pt x="212" y="49"/>
                    </a:lnTo>
                    <a:lnTo>
                      <a:pt x="208" y="50"/>
                    </a:lnTo>
                    <a:lnTo>
                      <a:pt x="205" y="50"/>
                    </a:lnTo>
                    <a:lnTo>
                      <a:pt x="202" y="51"/>
                    </a:lnTo>
                    <a:lnTo>
                      <a:pt x="199" y="51"/>
                    </a:lnTo>
                    <a:lnTo>
                      <a:pt x="196" y="50"/>
                    </a:lnTo>
                    <a:lnTo>
                      <a:pt x="193" y="49"/>
                    </a:lnTo>
                    <a:lnTo>
                      <a:pt x="189" y="50"/>
                    </a:lnTo>
                    <a:lnTo>
                      <a:pt x="187" y="50"/>
                    </a:lnTo>
                    <a:lnTo>
                      <a:pt x="184" y="50"/>
                    </a:lnTo>
                    <a:lnTo>
                      <a:pt x="181" y="50"/>
                    </a:lnTo>
                    <a:lnTo>
                      <a:pt x="179" y="50"/>
                    </a:lnTo>
                    <a:lnTo>
                      <a:pt x="176" y="51"/>
                    </a:lnTo>
                    <a:lnTo>
                      <a:pt x="174" y="52"/>
                    </a:lnTo>
                    <a:lnTo>
                      <a:pt x="171" y="52"/>
                    </a:lnTo>
                    <a:lnTo>
                      <a:pt x="168" y="53"/>
                    </a:lnTo>
                    <a:lnTo>
                      <a:pt x="165" y="53"/>
                    </a:lnTo>
                    <a:lnTo>
                      <a:pt x="162" y="54"/>
                    </a:lnTo>
                    <a:lnTo>
                      <a:pt x="159" y="54"/>
                    </a:lnTo>
                    <a:lnTo>
                      <a:pt x="155" y="54"/>
                    </a:lnTo>
                    <a:lnTo>
                      <a:pt x="151" y="53"/>
                    </a:lnTo>
                    <a:lnTo>
                      <a:pt x="148" y="54"/>
                    </a:lnTo>
                    <a:lnTo>
                      <a:pt x="145" y="54"/>
                    </a:lnTo>
                    <a:lnTo>
                      <a:pt x="142" y="54"/>
                    </a:lnTo>
                    <a:lnTo>
                      <a:pt x="139" y="54"/>
                    </a:lnTo>
                    <a:lnTo>
                      <a:pt x="136" y="54"/>
                    </a:lnTo>
                    <a:lnTo>
                      <a:pt x="133" y="54"/>
                    </a:lnTo>
                    <a:lnTo>
                      <a:pt x="130" y="53"/>
                    </a:lnTo>
                    <a:lnTo>
                      <a:pt x="128" y="53"/>
                    </a:lnTo>
                    <a:lnTo>
                      <a:pt x="125" y="53"/>
                    </a:lnTo>
                    <a:lnTo>
                      <a:pt x="122" y="53"/>
                    </a:lnTo>
                    <a:lnTo>
                      <a:pt x="119" y="53"/>
                    </a:lnTo>
                    <a:lnTo>
                      <a:pt x="116" y="53"/>
                    </a:lnTo>
                    <a:lnTo>
                      <a:pt x="113" y="54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6" y="53"/>
                    </a:lnTo>
                    <a:lnTo>
                      <a:pt x="104" y="53"/>
                    </a:lnTo>
                    <a:lnTo>
                      <a:pt x="101" y="53"/>
                    </a:lnTo>
                    <a:lnTo>
                      <a:pt x="98" y="53"/>
                    </a:lnTo>
                    <a:lnTo>
                      <a:pt x="96" y="53"/>
                    </a:lnTo>
                    <a:lnTo>
                      <a:pt x="93" y="54"/>
                    </a:lnTo>
                    <a:lnTo>
                      <a:pt x="89" y="54"/>
                    </a:lnTo>
                    <a:lnTo>
                      <a:pt x="86" y="53"/>
                    </a:lnTo>
                    <a:lnTo>
                      <a:pt x="83" y="54"/>
                    </a:lnTo>
                    <a:lnTo>
                      <a:pt x="80" y="54"/>
                    </a:lnTo>
                    <a:lnTo>
                      <a:pt x="77" y="55"/>
                    </a:lnTo>
                    <a:lnTo>
                      <a:pt x="74" y="56"/>
                    </a:lnTo>
                    <a:lnTo>
                      <a:pt x="69" y="57"/>
                    </a:lnTo>
                    <a:lnTo>
                      <a:pt x="64" y="57"/>
                    </a:lnTo>
                    <a:lnTo>
                      <a:pt x="59" y="57"/>
                    </a:lnTo>
                    <a:lnTo>
                      <a:pt x="55" y="57"/>
                    </a:lnTo>
                    <a:lnTo>
                      <a:pt x="49" y="57"/>
                    </a:lnTo>
                    <a:lnTo>
                      <a:pt x="46" y="57"/>
                    </a:lnTo>
                    <a:lnTo>
                      <a:pt x="43" y="57"/>
                    </a:lnTo>
                    <a:lnTo>
                      <a:pt x="40" y="57"/>
                    </a:lnTo>
                    <a:lnTo>
                      <a:pt x="36" y="57"/>
                    </a:lnTo>
                    <a:lnTo>
                      <a:pt x="31" y="55"/>
                    </a:lnTo>
                    <a:lnTo>
                      <a:pt x="27" y="55"/>
                    </a:lnTo>
                    <a:lnTo>
                      <a:pt x="23" y="55"/>
                    </a:lnTo>
                    <a:lnTo>
                      <a:pt x="20" y="55"/>
                    </a:lnTo>
                    <a:lnTo>
                      <a:pt x="17" y="55"/>
                    </a:lnTo>
                    <a:lnTo>
                      <a:pt x="13" y="55"/>
                    </a:lnTo>
                    <a:lnTo>
                      <a:pt x="10" y="54"/>
                    </a:lnTo>
                    <a:lnTo>
                      <a:pt x="7" y="53"/>
                    </a:lnTo>
                    <a:lnTo>
                      <a:pt x="4" y="53"/>
                    </a:lnTo>
                    <a:lnTo>
                      <a:pt x="1" y="52"/>
                    </a:lnTo>
                    <a:lnTo>
                      <a:pt x="0" y="52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8287" name="Group 619"/>
              <p:cNvGrpSpPr>
                <a:grpSpLocks/>
              </p:cNvGrpSpPr>
              <p:nvPr/>
            </p:nvGrpSpPr>
            <p:grpSpPr bwMode="auto">
              <a:xfrm>
                <a:off x="4334" y="2516"/>
                <a:ext cx="47" cy="37"/>
                <a:chOff x="4253" y="2700"/>
                <a:chExt cx="47" cy="37"/>
              </a:xfrm>
            </p:grpSpPr>
            <p:sp>
              <p:nvSpPr>
                <p:cNvPr id="8288" name="Freeform 620" descr="50%"/>
                <p:cNvSpPr>
                  <a:spLocks/>
                </p:cNvSpPr>
                <p:nvPr/>
              </p:nvSpPr>
              <p:spPr bwMode="auto">
                <a:xfrm>
                  <a:off x="4253" y="2706"/>
                  <a:ext cx="47" cy="31"/>
                </a:xfrm>
                <a:custGeom>
                  <a:avLst/>
                  <a:gdLst>
                    <a:gd name="T0" fmla="*/ 43 w 47"/>
                    <a:gd name="T1" fmla="*/ 27 h 31"/>
                    <a:gd name="T2" fmla="*/ 40 w 47"/>
                    <a:gd name="T3" fmla="*/ 24 h 31"/>
                    <a:gd name="T4" fmla="*/ 39 w 47"/>
                    <a:gd name="T5" fmla="*/ 22 h 31"/>
                    <a:gd name="T6" fmla="*/ 37 w 47"/>
                    <a:gd name="T7" fmla="*/ 21 h 31"/>
                    <a:gd name="T8" fmla="*/ 36 w 47"/>
                    <a:gd name="T9" fmla="*/ 19 h 31"/>
                    <a:gd name="T10" fmla="*/ 35 w 47"/>
                    <a:gd name="T11" fmla="*/ 17 h 31"/>
                    <a:gd name="T12" fmla="*/ 34 w 47"/>
                    <a:gd name="T13" fmla="*/ 16 h 31"/>
                    <a:gd name="T14" fmla="*/ 33 w 47"/>
                    <a:gd name="T15" fmla="*/ 14 h 31"/>
                    <a:gd name="T16" fmla="*/ 32 w 47"/>
                    <a:gd name="T17" fmla="*/ 12 h 31"/>
                    <a:gd name="T18" fmla="*/ 31 w 47"/>
                    <a:gd name="T19" fmla="*/ 10 h 31"/>
                    <a:gd name="T20" fmla="*/ 30 w 47"/>
                    <a:gd name="T21" fmla="*/ 7 h 31"/>
                    <a:gd name="T22" fmla="*/ 30 w 47"/>
                    <a:gd name="T23" fmla="*/ 5 h 31"/>
                    <a:gd name="T24" fmla="*/ 30 w 47"/>
                    <a:gd name="T25" fmla="*/ 3 h 31"/>
                    <a:gd name="T26" fmla="*/ 30 w 47"/>
                    <a:gd name="T27" fmla="*/ 0 h 31"/>
                    <a:gd name="T28" fmla="*/ 0 w 47"/>
                    <a:gd name="T29" fmla="*/ 0 h 31"/>
                    <a:gd name="T30" fmla="*/ 1 w 47"/>
                    <a:gd name="T31" fmla="*/ 2 h 31"/>
                    <a:gd name="T32" fmla="*/ 2 w 47"/>
                    <a:gd name="T33" fmla="*/ 4 h 31"/>
                    <a:gd name="T34" fmla="*/ 4 w 47"/>
                    <a:gd name="T35" fmla="*/ 6 h 31"/>
                    <a:gd name="T36" fmla="*/ 6 w 47"/>
                    <a:gd name="T37" fmla="*/ 9 h 31"/>
                    <a:gd name="T38" fmla="*/ 8 w 47"/>
                    <a:gd name="T39" fmla="*/ 11 h 31"/>
                    <a:gd name="T40" fmla="*/ 10 w 47"/>
                    <a:gd name="T41" fmla="*/ 13 h 31"/>
                    <a:gd name="T42" fmla="*/ 12 w 47"/>
                    <a:gd name="T43" fmla="*/ 15 h 31"/>
                    <a:gd name="T44" fmla="*/ 14 w 47"/>
                    <a:gd name="T45" fmla="*/ 17 h 31"/>
                    <a:gd name="T46" fmla="*/ 17 w 47"/>
                    <a:gd name="T47" fmla="*/ 19 h 31"/>
                    <a:gd name="T48" fmla="*/ 20 w 47"/>
                    <a:gd name="T49" fmla="*/ 22 h 31"/>
                    <a:gd name="T50" fmla="*/ 23 w 47"/>
                    <a:gd name="T51" fmla="*/ 23 h 31"/>
                    <a:gd name="T52" fmla="*/ 25 w 47"/>
                    <a:gd name="T53" fmla="*/ 24 h 31"/>
                    <a:gd name="T54" fmla="*/ 28 w 47"/>
                    <a:gd name="T55" fmla="*/ 26 h 31"/>
                    <a:gd name="T56" fmla="*/ 30 w 47"/>
                    <a:gd name="T57" fmla="*/ 27 h 31"/>
                    <a:gd name="T58" fmla="*/ 33 w 47"/>
                    <a:gd name="T59" fmla="*/ 28 h 31"/>
                    <a:gd name="T60" fmla="*/ 36 w 47"/>
                    <a:gd name="T61" fmla="*/ 28 h 31"/>
                    <a:gd name="T62" fmla="*/ 39 w 47"/>
                    <a:gd name="T63" fmla="*/ 29 h 31"/>
                    <a:gd name="T64" fmla="*/ 41 w 47"/>
                    <a:gd name="T65" fmla="*/ 29 h 31"/>
                    <a:gd name="T66" fmla="*/ 44 w 47"/>
                    <a:gd name="T67" fmla="*/ 29 h 31"/>
                    <a:gd name="T68" fmla="*/ 46 w 47"/>
                    <a:gd name="T69" fmla="*/ 30 h 31"/>
                    <a:gd name="T70" fmla="*/ 43 w 47"/>
                    <a:gd name="T71" fmla="*/ 27 h 31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47" h="31">
                      <a:moveTo>
                        <a:pt x="43" y="27"/>
                      </a:moveTo>
                      <a:lnTo>
                        <a:pt x="40" y="24"/>
                      </a:lnTo>
                      <a:lnTo>
                        <a:pt x="39" y="22"/>
                      </a:lnTo>
                      <a:lnTo>
                        <a:pt x="37" y="21"/>
                      </a:lnTo>
                      <a:lnTo>
                        <a:pt x="36" y="19"/>
                      </a:lnTo>
                      <a:lnTo>
                        <a:pt x="35" y="17"/>
                      </a:lnTo>
                      <a:lnTo>
                        <a:pt x="34" y="16"/>
                      </a:lnTo>
                      <a:lnTo>
                        <a:pt x="33" y="14"/>
                      </a:lnTo>
                      <a:lnTo>
                        <a:pt x="32" y="12"/>
                      </a:lnTo>
                      <a:lnTo>
                        <a:pt x="31" y="10"/>
                      </a:lnTo>
                      <a:lnTo>
                        <a:pt x="30" y="7"/>
                      </a:lnTo>
                      <a:lnTo>
                        <a:pt x="30" y="5"/>
                      </a:lnTo>
                      <a:lnTo>
                        <a:pt x="30" y="3"/>
                      </a:lnTo>
                      <a:lnTo>
                        <a:pt x="30" y="0"/>
                      </a:lnTo>
                      <a:lnTo>
                        <a:pt x="0" y="0"/>
                      </a:lnTo>
                      <a:lnTo>
                        <a:pt x="1" y="2"/>
                      </a:lnTo>
                      <a:lnTo>
                        <a:pt x="2" y="4"/>
                      </a:lnTo>
                      <a:lnTo>
                        <a:pt x="4" y="6"/>
                      </a:lnTo>
                      <a:lnTo>
                        <a:pt x="6" y="9"/>
                      </a:lnTo>
                      <a:lnTo>
                        <a:pt x="8" y="11"/>
                      </a:lnTo>
                      <a:lnTo>
                        <a:pt x="10" y="13"/>
                      </a:lnTo>
                      <a:lnTo>
                        <a:pt x="12" y="15"/>
                      </a:lnTo>
                      <a:lnTo>
                        <a:pt x="14" y="17"/>
                      </a:lnTo>
                      <a:lnTo>
                        <a:pt x="17" y="19"/>
                      </a:lnTo>
                      <a:lnTo>
                        <a:pt x="20" y="22"/>
                      </a:lnTo>
                      <a:lnTo>
                        <a:pt x="23" y="23"/>
                      </a:lnTo>
                      <a:lnTo>
                        <a:pt x="25" y="24"/>
                      </a:lnTo>
                      <a:lnTo>
                        <a:pt x="28" y="26"/>
                      </a:lnTo>
                      <a:lnTo>
                        <a:pt x="30" y="27"/>
                      </a:lnTo>
                      <a:lnTo>
                        <a:pt x="33" y="28"/>
                      </a:lnTo>
                      <a:lnTo>
                        <a:pt x="36" y="28"/>
                      </a:lnTo>
                      <a:lnTo>
                        <a:pt x="39" y="29"/>
                      </a:lnTo>
                      <a:lnTo>
                        <a:pt x="41" y="29"/>
                      </a:lnTo>
                      <a:lnTo>
                        <a:pt x="44" y="29"/>
                      </a:lnTo>
                      <a:lnTo>
                        <a:pt x="46" y="30"/>
                      </a:lnTo>
                      <a:lnTo>
                        <a:pt x="43" y="27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89" name="Freeform 621" descr="50%"/>
                <p:cNvSpPr>
                  <a:spLocks/>
                </p:cNvSpPr>
                <p:nvPr/>
              </p:nvSpPr>
              <p:spPr bwMode="auto">
                <a:xfrm>
                  <a:off x="4254" y="2700"/>
                  <a:ext cx="21" cy="7"/>
                </a:xfrm>
                <a:custGeom>
                  <a:avLst/>
                  <a:gdLst>
                    <a:gd name="T0" fmla="*/ 0 w 21"/>
                    <a:gd name="T1" fmla="*/ 6 h 7"/>
                    <a:gd name="T2" fmla="*/ 0 w 21"/>
                    <a:gd name="T3" fmla="*/ 6 h 7"/>
                    <a:gd name="T4" fmla="*/ 1 w 21"/>
                    <a:gd name="T5" fmla="*/ 0 h 7"/>
                    <a:gd name="T6" fmla="*/ 20 w 21"/>
                    <a:gd name="T7" fmla="*/ 0 h 7"/>
                    <a:gd name="T8" fmla="*/ 20 w 21"/>
                    <a:gd name="T9" fmla="*/ 6 h 7"/>
                    <a:gd name="T10" fmla="*/ 0 w 21"/>
                    <a:gd name="T11" fmla="*/ 6 h 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21" h="7">
                      <a:moveTo>
                        <a:pt x="0" y="6"/>
                      </a:moveTo>
                      <a:lnTo>
                        <a:pt x="0" y="6"/>
                      </a:lnTo>
                      <a:lnTo>
                        <a:pt x="1" y="0"/>
                      </a:lnTo>
                      <a:lnTo>
                        <a:pt x="20" y="0"/>
                      </a:lnTo>
                      <a:lnTo>
                        <a:pt x="20" y="6"/>
                      </a:lnTo>
                      <a:lnTo>
                        <a:pt x="0" y="6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8234" name="Freeform 622" descr="50%"/>
            <p:cNvSpPr>
              <a:spLocks/>
            </p:cNvSpPr>
            <p:nvPr/>
          </p:nvSpPr>
          <p:spPr bwMode="auto">
            <a:xfrm>
              <a:off x="1363" y="3049"/>
              <a:ext cx="184" cy="136"/>
            </a:xfrm>
            <a:custGeom>
              <a:avLst/>
              <a:gdLst>
                <a:gd name="T0" fmla="*/ 0 w 184"/>
                <a:gd name="T1" fmla="*/ 0 h 136"/>
                <a:gd name="T2" fmla="*/ 7 w 184"/>
                <a:gd name="T3" fmla="*/ 14 h 136"/>
                <a:gd name="T4" fmla="*/ 16 w 184"/>
                <a:gd name="T5" fmla="*/ 28 h 136"/>
                <a:gd name="T6" fmla="*/ 27 w 184"/>
                <a:gd name="T7" fmla="*/ 43 h 136"/>
                <a:gd name="T8" fmla="*/ 38 w 184"/>
                <a:gd name="T9" fmla="*/ 55 h 136"/>
                <a:gd name="T10" fmla="*/ 52 w 184"/>
                <a:gd name="T11" fmla="*/ 70 h 136"/>
                <a:gd name="T12" fmla="*/ 66 w 184"/>
                <a:gd name="T13" fmla="*/ 85 h 136"/>
                <a:gd name="T14" fmla="*/ 77 w 184"/>
                <a:gd name="T15" fmla="*/ 96 h 136"/>
                <a:gd name="T16" fmla="*/ 90 w 184"/>
                <a:gd name="T17" fmla="*/ 106 h 136"/>
                <a:gd name="T18" fmla="*/ 103 w 184"/>
                <a:gd name="T19" fmla="*/ 114 h 136"/>
                <a:gd name="T20" fmla="*/ 117 w 184"/>
                <a:gd name="T21" fmla="*/ 121 h 136"/>
                <a:gd name="T22" fmla="*/ 131 w 184"/>
                <a:gd name="T23" fmla="*/ 127 h 136"/>
                <a:gd name="T24" fmla="*/ 146 w 184"/>
                <a:gd name="T25" fmla="*/ 132 h 136"/>
                <a:gd name="T26" fmla="*/ 162 w 184"/>
                <a:gd name="T27" fmla="*/ 135 h 136"/>
                <a:gd name="T28" fmla="*/ 176 w 184"/>
                <a:gd name="T29" fmla="*/ 135 h 136"/>
                <a:gd name="T30" fmla="*/ 183 w 184"/>
                <a:gd name="T31" fmla="*/ 134 h 136"/>
                <a:gd name="T32" fmla="*/ 174 w 184"/>
                <a:gd name="T33" fmla="*/ 125 h 136"/>
                <a:gd name="T34" fmla="*/ 164 w 184"/>
                <a:gd name="T35" fmla="*/ 113 h 136"/>
                <a:gd name="T36" fmla="*/ 154 w 184"/>
                <a:gd name="T37" fmla="*/ 101 h 136"/>
                <a:gd name="T38" fmla="*/ 144 w 184"/>
                <a:gd name="T39" fmla="*/ 87 h 136"/>
                <a:gd name="T40" fmla="*/ 135 w 184"/>
                <a:gd name="T41" fmla="*/ 73 h 136"/>
                <a:gd name="T42" fmla="*/ 128 w 184"/>
                <a:gd name="T43" fmla="*/ 60 h 136"/>
                <a:gd name="T44" fmla="*/ 124 w 184"/>
                <a:gd name="T45" fmla="*/ 48 h 136"/>
                <a:gd name="T46" fmla="*/ 119 w 184"/>
                <a:gd name="T47" fmla="*/ 28 h 136"/>
                <a:gd name="T48" fmla="*/ 119 w 184"/>
                <a:gd name="T49" fmla="*/ 13 h 136"/>
                <a:gd name="T50" fmla="*/ 119 w 184"/>
                <a:gd name="T51" fmla="*/ 2 h 136"/>
                <a:gd name="T52" fmla="*/ 0 w 184"/>
                <a:gd name="T53" fmla="*/ 0 h 1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84" h="136">
                  <a:moveTo>
                    <a:pt x="0" y="0"/>
                  </a:moveTo>
                  <a:lnTo>
                    <a:pt x="7" y="14"/>
                  </a:lnTo>
                  <a:lnTo>
                    <a:pt x="16" y="28"/>
                  </a:lnTo>
                  <a:lnTo>
                    <a:pt x="27" y="43"/>
                  </a:lnTo>
                  <a:lnTo>
                    <a:pt x="38" y="55"/>
                  </a:lnTo>
                  <a:lnTo>
                    <a:pt x="52" y="70"/>
                  </a:lnTo>
                  <a:lnTo>
                    <a:pt x="66" y="85"/>
                  </a:lnTo>
                  <a:lnTo>
                    <a:pt x="77" y="96"/>
                  </a:lnTo>
                  <a:lnTo>
                    <a:pt x="90" y="106"/>
                  </a:lnTo>
                  <a:lnTo>
                    <a:pt x="103" y="114"/>
                  </a:lnTo>
                  <a:lnTo>
                    <a:pt x="117" y="121"/>
                  </a:lnTo>
                  <a:lnTo>
                    <a:pt x="131" y="127"/>
                  </a:lnTo>
                  <a:lnTo>
                    <a:pt x="146" y="132"/>
                  </a:lnTo>
                  <a:lnTo>
                    <a:pt x="162" y="135"/>
                  </a:lnTo>
                  <a:lnTo>
                    <a:pt x="176" y="135"/>
                  </a:lnTo>
                  <a:lnTo>
                    <a:pt x="183" y="134"/>
                  </a:lnTo>
                  <a:lnTo>
                    <a:pt x="174" y="125"/>
                  </a:lnTo>
                  <a:lnTo>
                    <a:pt x="164" y="113"/>
                  </a:lnTo>
                  <a:lnTo>
                    <a:pt x="154" y="101"/>
                  </a:lnTo>
                  <a:lnTo>
                    <a:pt x="144" y="87"/>
                  </a:lnTo>
                  <a:lnTo>
                    <a:pt x="135" y="73"/>
                  </a:lnTo>
                  <a:lnTo>
                    <a:pt x="128" y="60"/>
                  </a:lnTo>
                  <a:lnTo>
                    <a:pt x="124" y="48"/>
                  </a:lnTo>
                  <a:lnTo>
                    <a:pt x="119" y="28"/>
                  </a:lnTo>
                  <a:lnTo>
                    <a:pt x="119" y="13"/>
                  </a:lnTo>
                  <a:lnTo>
                    <a:pt x="119" y="2"/>
                  </a:lnTo>
                  <a:lnTo>
                    <a:pt x="0" y="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5" name="Freeform 623" descr="50%"/>
            <p:cNvSpPr>
              <a:spLocks/>
            </p:cNvSpPr>
            <p:nvPr/>
          </p:nvSpPr>
          <p:spPr bwMode="auto">
            <a:xfrm>
              <a:off x="967" y="2718"/>
              <a:ext cx="1567" cy="440"/>
            </a:xfrm>
            <a:custGeom>
              <a:avLst/>
              <a:gdLst>
                <a:gd name="T0" fmla="*/ 17 w 1567"/>
                <a:gd name="T1" fmla="*/ 261 h 440"/>
                <a:gd name="T2" fmla="*/ 64 w 1567"/>
                <a:gd name="T3" fmla="*/ 244 h 440"/>
                <a:gd name="T4" fmla="*/ 137 w 1567"/>
                <a:gd name="T5" fmla="*/ 222 h 440"/>
                <a:gd name="T6" fmla="*/ 214 w 1567"/>
                <a:gd name="T7" fmla="*/ 207 h 440"/>
                <a:gd name="T8" fmla="*/ 289 w 1567"/>
                <a:gd name="T9" fmla="*/ 193 h 440"/>
                <a:gd name="T10" fmla="*/ 367 w 1567"/>
                <a:gd name="T11" fmla="*/ 179 h 440"/>
                <a:gd name="T12" fmla="*/ 431 w 1567"/>
                <a:gd name="T13" fmla="*/ 167 h 440"/>
                <a:gd name="T14" fmla="*/ 468 w 1567"/>
                <a:gd name="T15" fmla="*/ 147 h 440"/>
                <a:gd name="T16" fmla="*/ 504 w 1567"/>
                <a:gd name="T17" fmla="*/ 112 h 440"/>
                <a:gd name="T18" fmla="*/ 558 w 1567"/>
                <a:gd name="T19" fmla="*/ 62 h 440"/>
                <a:gd name="T20" fmla="*/ 613 w 1567"/>
                <a:gd name="T21" fmla="*/ 16 h 440"/>
                <a:gd name="T22" fmla="*/ 652 w 1567"/>
                <a:gd name="T23" fmla="*/ 53 h 440"/>
                <a:gd name="T24" fmla="*/ 674 w 1567"/>
                <a:gd name="T25" fmla="*/ 131 h 440"/>
                <a:gd name="T26" fmla="*/ 688 w 1567"/>
                <a:gd name="T27" fmla="*/ 161 h 440"/>
                <a:gd name="T28" fmla="*/ 778 w 1567"/>
                <a:gd name="T29" fmla="*/ 176 h 440"/>
                <a:gd name="T30" fmla="*/ 870 w 1567"/>
                <a:gd name="T31" fmla="*/ 192 h 440"/>
                <a:gd name="T32" fmla="*/ 938 w 1567"/>
                <a:gd name="T33" fmla="*/ 192 h 440"/>
                <a:gd name="T34" fmla="*/ 1011 w 1567"/>
                <a:gd name="T35" fmla="*/ 178 h 440"/>
                <a:gd name="T36" fmla="*/ 1067 w 1567"/>
                <a:gd name="T37" fmla="*/ 215 h 440"/>
                <a:gd name="T38" fmla="*/ 1122 w 1567"/>
                <a:gd name="T39" fmla="*/ 230 h 440"/>
                <a:gd name="T40" fmla="*/ 1191 w 1567"/>
                <a:gd name="T41" fmla="*/ 229 h 440"/>
                <a:gd name="T42" fmla="*/ 1265 w 1567"/>
                <a:gd name="T43" fmla="*/ 203 h 440"/>
                <a:gd name="T44" fmla="*/ 1346 w 1567"/>
                <a:gd name="T45" fmla="*/ 138 h 440"/>
                <a:gd name="T46" fmla="*/ 1441 w 1567"/>
                <a:gd name="T47" fmla="*/ 63 h 440"/>
                <a:gd name="T48" fmla="*/ 1536 w 1567"/>
                <a:gd name="T49" fmla="*/ 33 h 440"/>
                <a:gd name="T50" fmla="*/ 1540 w 1567"/>
                <a:gd name="T51" fmla="*/ 59 h 440"/>
                <a:gd name="T52" fmla="*/ 1494 w 1567"/>
                <a:gd name="T53" fmla="*/ 112 h 440"/>
                <a:gd name="T54" fmla="*/ 1441 w 1567"/>
                <a:gd name="T55" fmla="*/ 165 h 440"/>
                <a:gd name="T56" fmla="*/ 1407 w 1567"/>
                <a:gd name="T57" fmla="*/ 218 h 440"/>
                <a:gd name="T58" fmla="*/ 1407 w 1567"/>
                <a:gd name="T59" fmla="*/ 273 h 440"/>
                <a:gd name="T60" fmla="*/ 1444 w 1567"/>
                <a:gd name="T61" fmla="*/ 329 h 440"/>
                <a:gd name="T62" fmla="*/ 1492 w 1567"/>
                <a:gd name="T63" fmla="*/ 371 h 440"/>
                <a:gd name="T64" fmla="*/ 1534 w 1567"/>
                <a:gd name="T65" fmla="*/ 405 h 440"/>
                <a:gd name="T66" fmla="*/ 1536 w 1567"/>
                <a:gd name="T67" fmla="*/ 423 h 440"/>
                <a:gd name="T68" fmla="*/ 1477 w 1567"/>
                <a:gd name="T69" fmla="*/ 421 h 440"/>
                <a:gd name="T70" fmla="*/ 1424 w 1567"/>
                <a:gd name="T71" fmla="*/ 408 h 440"/>
                <a:gd name="T72" fmla="*/ 1375 w 1567"/>
                <a:gd name="T73" fmla="*/ 384 h 440"/>
                <a:gd name="T74" fmla="*/ 1292 w 1567"/>
                <a:gd name="T75" fmla="*/ 335 h 440"/>
                <a:gd name="T76" fmla="*/ 1191 w 1567"/>
                <a:gd name="T77" fmla="*/ 327 h 440"/>
                <a:gd name="T78" fmla="*/ 1069 w 1567"/>
                <a:gd name="T79" fmla="*/ 340 h 440"/>
                <a:gd name="T80" fmla="*/ 992 w 1567"/>
                <a:gd name="T81" fmla="*/ 369 h 440"/>
                <a:gd name="T82" fmla="*/ 966 w 1567"/>
                <a:gd name="T83" fmla="*/ 404 h 440"/>
                <a:gd name="T84" fmla="*/ 857 w 1567"/>
                <a:gd name="T85" fmla="*/ 400 h 440"/>
                <a:gd name="T86" fmla="*/ 765 w 1567"/>
                <a:gd name="T87" fmla="*/ 428 h 440"/>
                <a:gd name="T88" fmla="*/ 424 w 1567"/>
                <a:gd name="T89" fmla="*/ 439 h 440"/>
                <a:gd name="T90" fmla="*/ 228 w 1567"/>
                <a:gd name="T91" fmla="*/ 420 h 440"/>
                <a:gd name="T92" fmla="*/ 56 w 1567"/>
                <a:gd name="T93" fmla="*/ 365 h 440"/>
                <a:gd name="T94" fmla="*/ 56 w 1567"/>
                <a:gd name="T95" fmla="*/ 337 h 440"/>
                <a:gd name="T96" fmla="*/ 18 w 1567"/>
                <a:gd name="T97" fmla="*/ 303 h 440"/>
                <a:gd name="T98" fmla="*/ 3 w 1567"/>
                <a:gd name="T99" fmla="*/ 280 h 44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567" h="440">
                  <a:moveTo>
                    <a:pt x="0" y="272"/>
                  </a:moveTo>
                  <a:lnTo>
                    <a:pt x="5" y="268"/>
                  </a:lnTo>
                  <a:lnTo>
                    <a:pt x="17" y="261"/>
                  </a:lnTo>
                  <a:lnTo>
                    <a:pt x="35" y="254"/>
                  </a:lnTo>
                  <a:lnTo>
                    <a:pt x="49" y="250"/>
                  </a:lnTo>
                  <a:lnTo>
                    <a:pt x="64" y="244"/>
                  </a:lnTo>
                  <a:lnTo>
                    <a:pt x="89" y="236"/>
                  </a:lnTo>
                  <a:lnTo>
                    <a:pt x="114" y="229"/>
                  </a:lnTo>
                  <a:lnTo>
                    <a:pt x="137" y="222"/>
                  </a:lnTo>
                  <a:lnTo>
                    <a:pt x="161" y="217"/>
                  </a:lnTo>
                  <a:lnTo>
                    <a:pt x="186" y="212"/>
                  </a:lnTo>
                  <a:lnTo>
                    <a:pt x="214" y="207"/>
                  </a:lnTo>
                  <a:lnTo>
                    <a:pt x="241" y="202"/>
                  </a:lnTo>
                  <a:lnTo>
                    <a:pt x="265" y="197"/>
                  </a:lnTo>
                  <a:lnTo>
                    <a:pt x="289" y="193"/>
                  </a:lnTo>
                  <a:lnTo>
                    <a:pt x="311" y="189"/>
                  </a:lnTo>
                  <a:lnTo>
                    <a:pt x="342" y="183"/>
                  </a:lnTo>
                  <a:lnTo>
                    <a:pt x="367" y="179"/>
                  </a:lnTo>
                  <a:lnTo>
                    <a:pt x="391" y="175"/>
                  </a:lnTo>
                  <a:lnTo>
                    <a:pt x="412" y="172"/>
                  </a:lnTo>
                  <a:lnTo>
                    <a:pt x="431" y="167"/>
                  </a:lnTo>
                  <a:lnTo>
                    <a:pt x="446" y="161"/>
                  </a:lnTo>
                  <a:lnTo>
                    <a:pt x="457" y="155"/>
                  </a:lnTo>
                  <a:lnTo>
                    <a:pt x="468" y="147"/>
                  </a:lnTo>
                  <a:lnTo>
                    <a:pt x="478" y="138"/>
                  </a:lnTo>
                  <a:lnTo>
                    <a:pt x="490" y="126"/>
                  </a:lnTo>
                  <a:lnTo>
                    <a:pt x="504" y="112"/>
                  </a:lnTo>
                  <a:lnTo>
                    <a:pt x="522" y="95"/>
                  </a:lnTo>
                  <a:lnTo>
                    <a:pt x="539" y="78"/>
                  </a:lnTo>
                  <a:lnTo>
                    <a:pt x="558" y="62"/>
                  </a:lnTo>
                  <a:lnTo>
                    <a:pt x="574" y="45"/>
                  </a:lnTo>
                  <a:lnTo>
                    <a:pt x="593" y="31"/>
                  </a:lnTo>
                  <a:lnTo>
                    <a:pt x="613" y="16"/>
                  </a:lnTo>
                  <a:lnTo>
                    <a:pt x="636" y="0"/>
                  </a:lnTo>
                  <a:lnTo>
                    <a:pt x="643" y="28"/>
                  </a:lnTo>
                  <a:lnTo>
                    <a:pt x="652" y="53"/>
                  </a:lnTo>
                  <a:lnTo>
                    <a:pt x="661" y="80"/>
                  </a:lnTo>
                  <a:lnTo>
                    <a:pt x="669" y="108"/>
                  </a:lnTo>
                  <a:lnTo>
                    <a:pt x="674" y="131"/>
                  </a:lnTo>
                  <a:lnTo>
                    <a:pt x="673" y="145"/>
                  </a:lnTo>
                  <a:lnTo>
                    <a:pt x="663" y="157"/>
                  </a:lnTo>
                  <a:lnTo>
                    <a:pt x="688" y="161"/>
                  </a:lnTo>
                  <a:lnTo>
                    <a:pt x="713" y="165"/>
                  </a:lnTo>
                  <a:lnTo>
                    <a:pt x="744" y="171"/>
                  </a:lnTo>
                  <a:lnTo>
                    <a:pt x="778" y="176"/>
                  </a:lnTo>
                  <a:lnTo>
                    <a:pt x="813" y="183"/>
                  </a:lnTo>
                  <a:lnTo>
                    <a:pt x="841" y="188"/>
                  </a:lnTo>
                  <a:lnTo>
                    <a:pt x="870" y="192"/>
                  </a:lnTo>
                  <a:lnTo>
                    <a:pt x="896" y="195"/>
                  </a:lnTo>
                  <a:lnTo>
                    <a:pt x="920" y="197"/>
                  </a:lnTo>
                  <a:lnTo>
                    <a:pt x="938" y="192"/>
                  </a:lnTo>
                  <a:lnTo>
                    <a:pt x="955" y="183"/>
                  </a:lnTo>
                  <a:lnTo>
                    <a:pt x="972" y="172"/>
                  </a:lnTo>
                  <a:lnTo>
                    <a:pt x="1011" y="178"/>
                  </a:lnTo>
                  <a:lnTo>
                    <a:pt x="1053" y="188"/>
                  </a:lnTo>
                  <a:lnTo>
                    <a:pt x="1089" y="194"/>
                  </a:lnTo>
                  <a:lnTo>
                    <a:pt x="1067" y="215"/>
                  </a:lnTo>
                  <a:lnTo>
                    <a:pt x="1080" y="219"/>
                  </a:lnTo>
                  <a:lnTo>
                    <a:pt x="1100" y="225"/>
                  </a:lnTo>
                  <a:lnTo>
                    <a:pt x="1122" y="230"/>
                  </a:lnTo>
                  <a:lnTo>
                    <a:pt x="1146" y="234"/>
                  </a:lnTo>
                  <a:lnTo>
                    <a:pt x="1168" y="231"/>
                  </a:lnTo>
                  <a:lnTo>
                    <a:pt x="1191" y="229"/>
                  </a:lnTo>
                  <a:lnTo>
                    <a:pt x="1216" y="225"/>
                  </a:lnTo>
                  <a:lnTo>
                    <a:pt x="1242" y="217"/>
                  </a:lnTo>
                  <a:lnTo>
                    <a:pt x="1265" y="203"/>
                  </a:lnTo>
                  <a:lnTo>
                    <a:pt x="1295" y="183"/>
                  </a:lnTo>
                  <a:lnTo>
                    <a:pt x="1317" y="165"/>
                  </a:lnTo>
                  <a:lnTo>
                    <a:pt x="1346" y="138"/>
                  </a:lnTo>
                  <a:lnTo>
                    <a:pt x="1376" y="108"/>
                  </a:lnTo>
                  <a:lnTo>
                    <a:pt x="1411" y="82"/>
                  </a:lnTo>
                  <a:lnTo>
                    <a:pt x="1441" y="63"/>
                  </a:lnTo>
                  <a:lnTo>
                    <a:pt x="1471" y="48"/>
                  </a:lnTo>
                  <a:lnTo>
                    <a:pt x="1500" y="38"/>
                  </a:lnTo>
                  <a:lnTo>
                    <a:pt x="1536" y="33"/>
                  </a:lnTo>
                  <a:lnTo>
                    <a:pt x="1566" y="35"/>
                  </a:lnTo>
                  <a:lnTo>
                    <a:pt x="1550" y="48"/>
                  </a:lnTo>
                  <a:lnTo>
                    <a:pt x="1540" y="59"/>
                  </a:lnTo>
                  <a:lnTo>
                    <a:pt x="1534" y="68"/>
                  </a:lnTo>
                  <a:lnTo>
                    <a:pt x="1511" y="98"/>
                  </a:lnTo>
                  <a:lnTo>
                    <a:pt x="1494" y="112"/>
                  </a:lnTo>
                  <a:lnTo>
                    <a:pt x="1474" y="128"/>
                  </a:lnTo>
                  <a:lnTo>
                    <a:pt x="1456" y="147"/>
                  </a:lnTo>
                  <a:lnTo>
                    <a:pt x="1441" y="165"/>
                  </a:lnTo>
                  <a:lnTo>
                    <a:pt x="1428" y="183"/>
                  </a:lnTo>
                  <a:lnTo>
                    <a:pt x="1416" y="202"/>
                  </a:lnTo>
                  <a:lnTo>
                    <a:pt x="1407" y="218"/>
                  </a:lnTo>
                  <a:lnTo>
                    <a:pt x="1401" y="235"/>
                  </a:lnTo>
                  <a:lnTo>
                    <a:pt x="1399" y="254"/>
                  </a:lnTo>
                  <a:lnTo>
                    <a:pt x="1407" y="273"/>
                  </a:lnTo>
                  <a:lnTo>
                    <a:pt x="1416" y="294"/>
                  </a:lnTo>
                  <a:lnTo>
                    <a:pt x="1429" y="311"/>
                  </a:lnTo>
                  <a:lnTo>
                    <a:pt x="1444" y="329"/>
                  </a:lnTo>
                  <a:lnTo>
                    <a:pt x="1459" y="343"/>
                  </a:lnTo>
                  <a:lnTo>
                    <a:pt x="1475" y="356"/>
                  </a:lnTo>
                  <a:lnTo>
                    <a:pt x="1492" y="371"/>
                  </a:lnTo>
                  <a:lnTo>
                    <a:pt x="1511" y="387"/>
                  </a:lnTo>
                  <a:lnTo>
                    <a:pt x="1522" y="397"/>
                  </a:lnTo>
                  <a:lnTo>
                    <a:pt x="1534" y="405"/>
                  </a:lnTo>
                  <a:lnTo>
                    <a:pt x="1546" y="413"/>
                  </a:lnTo>
                  <a:lnTo>
                    <a:pt x="1554" y="422"/>
                  </a:lnTo>
                  <a:lnTo>
                    <a:pt x="1536" y="423"/>
                  </a:lnTo>
                  <a:lnTo>
                    <a:pt x="1514" y="423"/>
                  </a:lnTo>
                  <a:lnTo>
                    <a:pt x="1494" y="423"/>
                  </a:lnTo>
                  <a:lnTo>
                    <a:pt x="1477" y="421"/>
                  </a:lnTo>
                  <a:lnTo>
                    <a:pt x="1455" y="419"/>
                  </a:lnTo>
                  <a:lnTo>
                    <a:pt x="1439" y="414"/>
                  </a:lnTo>
                  <a:lnTo>
                    <a:pt x="1424" y="408"/>
                  </a:lnTo>
                  <a:lnTo>
                    <a:pt x="1408" y="401"/>
                  </a:lnTo>
                  <a:lnTo>
                    <a:pt x="1391" y="393"/>
                  </a:lnTo>
                  <a:lnTo>
                    <a:pt x="1375" y="384"/>
                  </a:lnTo>
                  <a:lnTo>
                    <a:pt x="1344" y="363"/>
                  </a:lnTo>
                  <a:lnTo>
                    <a:pt x="1322" y="350"/>
                  </a:lnTo>
                  <a:lnTo>
                    <a:pt x="1292" y="335"/>
                  </a:lnTo>
                  <a:lnTo>
                    <a:pt x="1263" y="330"/>
                  </a:lnTo>
                  <a:lnTo>
                    <a:pt x="1232" y="331"/>
                  </a:lnTo>
                  <a:lnTo>
                    <a:pt x="1191" y="327"/>
                  </a:lnTo>
                  <a:lnTo>
                    <a:pt x="1154" y="331"/>
                  </a:lnTo>
                  <a:lnTo>
                    <a:pt x="1112" y="333"/>
                  </a:lnTo>
                  <a:lnTo>
                    <a:pt x="1069" y="340"/>
                  </a:lnTo>
                  <a:lnTo>
                    <a:pt x="1024" y="350"/>
                  </a:lnTo>
                  <a:lnTo>
                    <a:pt x="997" y="360"/>
                  </a:lnTo>
                  <a:lnTo>
                    <a:pt x="992" y="369"/>
                  </a:lnTo>
                  <a:lnTo>
                    <a:pt x="997" y="378"/>
                  </a:lnTo>
                  <a:lnTo>
                    <a:pt x="1019" y="391"/>
                  </a:lnTo>
                  <a:lnTo>
                    <a:pt x="966" y="404"/>
                  </a:lnTo>
                  <a:lnTo>
                    <a:pt x="893" y="422"/>
                  </a:lnTo>
                  <a:lnTo>
                    <a:pt x="877" y="409"/>
                  </a:lnTo>
                  <a:lnTo>
                    <a:pt x="857" y="400"/>
                  </a:lnTo>
                  <a:lnTo>
                    <a:pt x="837" y="395"/>
                  </a:lnTo>
                  <a:lnTo>
                    <a:pt x="806" y="394"/>
                  </a:lnTo>
                  <a:lnTo>
                    <a:pt x="765" y="428"/>
                  </a:lnTo>
                  <a:lnTo>
                    <a:pt x="731" y="403"/>
                  </a:lnTo>
                  <a:lnTo>
                    <a:pt x="475" y="437"/>
                  </a:lnTo>
                  <a:lnTo>
                    <a:pt x="424" y="439"/>
                  </a:lnTo>
                  <a:lnTo>
                    <a:pt x="376" y="436"/>
                  </a:lnTo>
                  <a:lnTo>
                    <a:pt x="327" y="432"/>
                  </a:lnTo>
                  <a:lnTo>
                    <a:pt x="228" y="420"/>
                  </a:lnTo>
                  <a:lnTo>
                    <a:pt x="139" y="399"/>
                  </a:lnTo>
                  <a:lnTo>
                    <a:pt x="90" y="382"/>
                  </a:lnTo>
                  <a:lnTo>
                    <a:pt x="56" y="365"/>
                  </a:lnTo>
                  <a:lnTo>
                    <a:pt x="92" y="359"/>
                  </a:lnTo>
                  <a:lnTo>
                    <a:pt x="70" y="346"/>
                  </a:lnTo>
                  <a:lnTo>
                    <a:pt x="56" y="337"/>
                  </a:lnTo>
                  <a:lnTo>
                    <a:pt x="31" y="317"/>
                  </a:lnTo>
                  <a:lnTo>
                    <a:pt x="25" y="311"/>
                  </a:lnTo>
                  <a:lnTo>
                    <a:pt x="18" y="303"/>
                  </a:lnTo>
                  <a:lnTo>
                    <a:pt x="13" y="297"/>
                  </a:lnTo>
                  <a:lnTo>
                    <a:pt x="8" y="287"/>
                  </a:lnTo>
                  <a:lnTo>
                    <a:pt x="3" y="280"/>
                  </a:lnTo>
                  <a:lnTo>
                    <a:pt x="0" y="272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36" name="Group 624"/>
            <p:cNvGrpSpPr>
              <a:grpSpLocks/>
            </p:cNvGrpSpPr>
            <p:nvPr/>
          </p:nvGrpSpPr>
          <p:grpSpPr bwMode="auto">
            <a:xfrm>
              <a:off x="1103" y="3003"/>
              <a:ext cx="33" cy="30"/>
              <a:chOff x="1022" y="3187"/>
              <a:chExt cx="33" cy="30"/>
            </a:xfrm>
          </p:grpSpPr>
          <p:sp>
            <p:nvSpPr>
              <p:cNvPr id="8280" name="Oval 625" descr="50%"/>
              <p:cNvSpPr>
                <a:spLocks noChangeArrowheads="1"/>
              </p:cNvSpPr>
              <p:nvPr/>
            </p:nvSpPr>
            <p:spPr bwMode="auto">
              <a:xfrm>
                <a:off x="1022" y="3187"/>
                <a:ext cx="33" cy="30"/>
              </a:xfrm>
              <a:prstGeom prst="ellipse">
                <a:avLst/>
              </a:pr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81" name="Arc 626" descr="50%"/>
              <p:cNvSpPr>
                <a:spLocks/>
              </p:cNvSpPr>
              <p:nvPr/>
            </p:nvSpPr>
            <p:spPr bwMode="auto">
              <a:xfrm>
                <a:off x="1028" y="3191"/>
                <a:ext cx="25" cy="23"/>
              </a:xfrm>
              <a:custGeom>
                <a:avLst/>
                <a:gdLst>
                  <a:gd name="T0" fmla="*/ 20 w 43200"/>
                  <a:gd name="T1" fmla="*/ 2 h 42650"/>
                  <a:gd name="T2" fmla="*/ 10 w 43200"/>
                  <a:gd name="T3" fmla="*/ 0 h 42650"/>
                  <a:gd name="T4" fmla="*/ 13 w 43200"/>
                  <a:gd name="T5" fmla="*/ 11 h 4265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2650" fill="none" extrusionOk="0">
                    <a:moveTo>
                      <a:pt x="35273" y="4329"/>
                    </a:moveTo>
                    <a:cubicBezTo>
                      <a:pt x="40290" y="8431"/>
                      <a:pt x="43200" y="14569"/>
                      <a:pt x="43200" y="21050"/>
                    </a:cubicBezTo>
                    <a:cubicBezTo>
                      <a:pt x="43200" y="32979"/>
                      <a:pt x="33529" y="42650"/>
                      <a:pt x="21600" y="42650"/>
                    </a:cubicBezTo>
                    <a:cubicBezTo>
                      <a:pt x="9670" y="42650"/>
                      <a:pt x="0" y="32979"/>
                      <a:pt x="0" y="21050"/>
                    </a:cubicBezTo>
                    <a:cubicBezTo>
                      <a:pt x="-1" y="10986"/>
                      <a:pt x="6950" y="2255"/>
                      <a:pt x="16757" y="-1"/>
                    </a:cubicBezTo>
                  </a:path>
                  <a:path w="43200" h="42650" stroke="0" extrusionOk="0">
                    <a:moveTo>
                      <a:pt x="35273" y="4329"/>
                    </a:moveTo>
                    <a:cubicBezTo>
                      <a:pt x="40290" y="8431"/>
                      <a:pt x="43200" y="14569"/>
                      <a:pt x="43200" y="21050"/>
                    </a:cubicBezTo>
                    <a:cubicBezTo>
                      <a:pt x="43200" y="32979"/>
                      <a:pt x="33529" y="42650"/>
                      <a:pt x="21600" y="42650"/>
                    </a:cubicBezTo>
                    <a:cubicBezTo>
                      <a:pt x="9670" y="42650"/>
                      <a:pt x="0" y="32979"/>
                      <a:pt x="0" y="21050"/>
                    </a:cubicBezTo>
                    <a:cubicBezTo>
                      <a:pt x="-1" y="10986"/>
                      <a:pt x="6950" y="2255"/>
                      <a:pt x="16757" y="-1"/>
                    </a:cubicBezTo>
                    <a:lnTo>
                      <a:pt x="21600" y="21050"/>
                    </a:lnTo>
                    <a:lnTo>
                      <a:pt x="35273" y="4329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237" name="Group 627"/>
            <p:cNvGrpSpPr>
              <a:grpSpLocks/>
            </p:cNvGrpSpPr>
            <p:nvPr/>
          </p:nvGrpSpPr>
          <p:grpSpPr bwMode="auto">
            <a:xfrm>
              <a:off x="1197" y="3038"/>
              <a:ext cx="99" cy="72"/>
              <a:chOff x="1116" y="3222"/>
              <a:chExt cx="99" cy="72"/>
            </a:xfrm>
          </p:grpSpPr>
          <p:sp>
            <p:nvSpPr>
              <p:cNvPr id="8275" name="Arc 628" descr="50%"/>
              <p:cNvSpPr>
                <a:spLocks/>
              </p:cNvSpPr>
              <p:nvPr/>
            </p:nvSpPr>
            <p:spPr bwMode="auto">
              <a:xfrm>
                <a:off x="1137" y="3222"/>
                <a:ext cx="13" cy="72"/>
              </a:xfrm>
              <a:custGeom>
                <a:avLst/>
                <a:gdLst>
                  <a:gd name="T0" fmla="*/ 1 w 25753"/>
                  <a:gd name="T1" fmla="*/ 0 h 43200"/>
                  <a:gd name="T2" fmla="*/ 0 w 25753"/>
                  <a:gd name="T3" fmla="*/ 71 h 43200"/>
                  <a:gd name="T4" fmla="*/ 2 w 25753"/>
                  <a:gd name="T5" fmla="*/ 3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753" h="43200" fill="none" extrusionOk="0">
                    <a:moveTo>
                      <a:pt x="2105" y="97"/>
                    </a:moveTo>
                    <a:cubicBezTo>
                      <a:pt x="2785" y="32"/>
                      <a:pt x="3469" y="-1"/>
                      <a:pt x="4153" y="0"/>
                    </a:cubicBezTo>
                    <a:cubicBezTo>
                      <a:pt x="16082" y="0"/>
                      <a:pt x="25753" y="9670"/>
                      <a:pt x="25753" y="21600"/>
                    </a:cubicBezTo>
                    <a:cubicBezTo>
                      <a:pt x="25753" y="33529"/>
                      <a:pt x="16082" y="43200"/>
                      <a:pt x="4153" y="43200"/>
                    </a:cubicBezTo>
                    <a:cubicBezTo>
                      <a:pt x="2758" y="43200"/>
                      <a:pt x="1368" y="43065"/>
                      <a:pt x="0" y="42796"/>
                    </a:cubicBezTo>
                  </a:path>
                  <a:path w="25753" h="43200" stroke="0" extrusionOk="0">
                    <a:moveTo>
                      <a:pt x="2105" y="97"/>
                    </a:moveTo>
                    <a:cubicBezTo>
                      <a:pt x="2785" y="32"/>
                      <a:pt x="3469" y="-1"/>
                      <a:pt x="4153" y="0"/>
                    </a:cubicBezTo>
                    <a:cubicBezTo>
                      <a:pt x="16082" y="0"/>
                      <a:pt x="25753" y="9670"/>
                      <a:pt x="25753" y="21600"/>
                    </a:cubicBezTo>
                    <a:cubicBezTo>
                      <a:pt x="25753" y="33529"/>
                      <a:pt x="16082" y="43200"/>
                      <a:pt x="4153" y="43200"/>
                    </a:cubicBezTo>
                    <a:cubicBezTo>
                      <a:pt x="2758" y="43200"/>
                      <a:pt x="1368" y="43065"/>
                      <a:pt x="0" y="42796"/>
                    </a:cubicBezTo>
                    <a:lnTo>
                      <a:pt x="4153" y="21600"/>
                    </a:lnTo>
                    <a:lnTo>
                      <a:pt x="2105" y="97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76" name="Arc 629" descr="50%"/>
              <p:cNvSpPr>
                <a:spLocks/>
              </p:cNvSpPr>
              <p:nvPr/>
            </p:nvSpPr>
            <p:spPr bwMode="auto">
              <a:xfrm>
                <a:off x="1116" y="3222"/>
                <a:ext cx="14" cy="72"/>
              </a:xfrm>
              <a:custGeom>
                <a:avLst/>
                <a:gdLst>
                  <a:gd name="T0" fmla="*/ 2 w 27434"/>
                  <a:gd name="T1" fmla="*/ 0 h 43200"/>
                  <a:gd name="T2" fmla="*/ 0 w 27434"/>
                  <a:gd name="T3" fmla="*/ 71 h 43200"/>
                  <a:gd name="T4" fmla="*/ 3 w 27434"/>
                  <a:gd name="T5" fmla="*/ 3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434" h="43200" fill="none" extrusionOk="0">
                    <a:moveTo>
                      <a:pt x="3877" y="88"/>
                    </a:moveTo>
                    <a:cubicBezTo>
                      <a:pt x="4528" y="29"/>
                      <a:pt x="5180" y="-1"/>
                      <a:pt x="5834" y="0"/>
                    </a:cubicBezTo>
                    <a:cubicBezTo>
                      <a:pt x="17763" y="0"/>
                      <a:pt x="27434" y="9670"/>
                      <a:pt x="27434" y="21600"/>
                    </a:cubicBezTo>
                    <a:cubicBezTo>
                      <a:pt x="27434" y="33529"/>
                      <a:pt x="17763" y="43200"/>
                      <a:pt x="5834" y="43200"/>
                    </a:cubicBezTo>
                    <a:cubicBezTo>
                      <a:pt x="3861" y="43200"/>
                      <a:pt x="1898" y="42929"/>
                      <a:pt x="-1" y="42397"/>
                    </a:cubicBezTo>
                  </a:path>
                  <a:path w="27434" h="43200" stroke="0" extrusionOk="0">
                    <a:moveTo>
                      <a:pt x="3877" y="88"/>
                    </a:moveTo>
                    <a:cubicBezTo>
                      <a:pt x="4528" y="29"/>
                      <a:pt x="5180" y="-1"/>
                      <a:pt x="5834" y="0"/>
                    </a:cubicBezTo>
                    <a:cubicBezTo>
                      <a:pt x="17763" y="0"/>
                      <a:pt x="27434" y="9670"/>
                      <a:pt x="27434" y="21600"/>
                    </a:cubicBezTo>
                    <a:cubicBezTo>
                      <a:pt x="27434" y="33529"/>
                      <a:pt x="17763" y="43200"/>
                      <a:pt x="5834" y="43200"/>
                    </a:cubicBezTo>
                    <a:cubicBezTo>
                      <a:pt x="3861" y="43200"/>
                      <a:pt x="1898" y="42929"/>
                      <a:pt x="-1" y="42397"/>
                    </a:cubicBezTo>
                    <a:lnTo>
                      <a:pt x="5834" y="21600"/>
                    </a:lnTo>
                    <a:lnTo>
                      <a:pt x="3877" y="8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77" name="Arc 630" descr="50%"/>
              <p:cNvSpPr>
                <a:spLocks/>
              </p:cNvSpPr>
              <p:nvPr/>
            </p:nvSpPr>
            <p:spPr bwMode="auto">
              <a:xfrm>
                <a:off x="1158" y="3222"/>
                <a:ext cx="13" cy="72"/>
              </a:xfrm>
              <a:custGeom>
                <a:avLst/>
                <a:gdLst>
                  <a:gd name="T0" fmla="*/ 1 w 25753"/>
                  <a:gd name="T1" fmla="*/ 0 h 43200"/>
                  <a:gd name="T2" fmla="*/ 0 w 25753"/>
                  <a:gd name="T3" fmla="*/ 71 h 43200"/>
                  <a:gd name="T4" fmla="*/ 2 w 25753"/>
                  <a:gd name="T5" fmla="*/ 3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753" h="43200" fill="none" extrusionOk="0">
                    <a:moveTo>
                      <a:pt x="2105" y="97"/>
                    </a:moveTo>
                    <a:cubicBezTo>
                      <a:pt x="2785" y="32"/>
                      <a:pt x="3469" y="-1"/>
                      <a:pt x="4153" y="0"/>
                    </a:cubicBezTo>
                    <a:cubicBezTo>
                      <a:pt x="16082" y="0"/>
                      <a:pt x="25753" y="9670"/>
                      <a:pt x="25753" y="21600"/>
                    </a:cubicBezTo>
                    <a:cubicBezTo>
                      <a:pt x="25753" y="33529"/>
                      <a:pt x="16082" y="43200"/>
                      <a:pt x="4153" y="43200"/>
                    </a:cubicBezTo>
                    <a:cubicBezTo>
                      <a:pt x="2758" y="43200"/>
                      <a:pt x="1368" y="43065"/>
                      <a:pt x="0" y="42796"/>
                    </a:cubicBezTo>
                  </a:path>
                  <a:path w="25753" h="43200" stroke="0" extrusionOk="0">
                    <a:moveTo>
                      <a:pt x="2105" y="97"/>
                    </a:moveTo>
                    <a:cubicBezTo>
                      <a:pt x="2785" y="32"/>
                      <a:pt x="3469" y="-1"/>
                      <a:pt x="4153" y="0"/>
                    </a:cubicBezTo>
                    <a:cubicBezTo>
                      <a:pt x="16082" y="0"/>
                      <a:pt x="25753" y="9670"/>
                      <a:pt x="25753" y="21600"/>
                    </a:cubicBezTo>
                    <a:cubicBezTo>
                      <a:pt x="25753" y="33529"/>
                      <a:pt x="16082" y="43200"/>
                      <a:pt x="4153" y="43200"/>
                    </a:cubicBezTo>
                    <a:cubicBezTo>
                      <a:pt x="2758" y="43200"/>
                      <a:pt x="1368" y="43065"/>
                      <a:pt x="0" y="42796"/>
                    </a:cubicBezTo>
                    <a:lnTo>
                      <a:pt x="4153" y="21600"/>
                    </a:lnTo>
                    <a:lnTo>
                      <a:pt x="2105" y="97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78" name="Arc 631" descr="50%"/>
              <p:cNvSpPr>
                <a:spLocks/>
              </p:cNvSpPr>
              <p:nvPr/>
            </p:nvSpPr>
            <p:spPr bwMode="auto">
              <a:xfrm>
                <a:off x="1179" y="3222"/>
                <a:ext cx="13" cy="72"/>
              </a:xfrm>
              <a:custGeom>
                <a:avLst/>
                <a:gdLst>
                  <a:gd name="T0" fmla="*/ 1 w 25753"/>
                  <a:gd name="T1" fmla="*/ 0 h 43200"/>
                  <a:gd name="T2" fmla="*/ 0 w 25753"/>
                  <a:gd name="T3" fmla="*/ 71 h 43200"/>
                  <a:gd name="T4" fmla="*/ 2 w 25753"/>
                  <a:gd name="T5" fmla="*/ 3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753" h="43200" fill="none" extrusionOk="0">
                    <a:moveTo>
                      <a:pt x="2105" y="97"/>
                    </a:moveTo>
                    <a:cubicBezTo>
                      <a:pt x="2785" y="32"/>
                      <a:pt x="3469" y="-1"/>
                      <a:pt x="4153" y="0"/>
                    </a:cubicBezTo>
                    <a:cubicBezTo>
                      <a:pt x="16082" y="0"/>
                      <a:pt x="25753" y="9670"/>
                      <a:pt x="25753" y="21600"/>
                    </a:cubicBezTo>
                    <a:cubicBezTo>
                      <a:pt x="25753" y="33529"/>
                      <a:pt x="16082" y="43200"/>
                      <a:pt x="4153" y="43200"/>
                    </a:cubicBezTo>
                    <a:cubicBezTo>
                      <a:pt x="2758" y="43200"/>
                      <a:pt x="1368" y="43065"/>
                      <a:pt x="0" y="42796"/>
                    </a:cubicBezTo>
                  </a:path>
                  <a:path w="25753" h="43200" stroke="0" extrusionOk="0">
                    <a:moveTo>
                      <a:pt x="2105" y="97"/>
                    </a:moveTo>
                    <a:cubicBezTo>
                      <a:pt x="2785" y="32"/>
                      <a:pt x="3469" y="-1"/>
                      <a:pt x="4153" y="0"/>
                    </a:cubicBezTo>
                    <a:cubicBezTo>
                      <a:pt x="16082" y="0"/>
                      <a:pt x="25753" y="9670"/>
                      <a:pt x="25753" y="21600"/>
                    </a:cubicBezTo>
                    <a:cubicBezTo>
                      <a:pt x="25753" y="33529"/>
                      <a:pt x="16082" y="43200"/>
                      <a:pt x="4153" y="43200"/>
                    </a:cubicBezTo>
                    <a:cubicBezTo>
                      <a:pt x="2758" y="43200"/>
                      <a:pt x="1368" y="43065"/>
                      <a:pt x="0" y="42796"/>
                    </a:cubicBezTo>
                    <a:lnTo>
                      <a:pt x="4153" y="21600"/>
                    </a:lnTo>
                    <a:lnTo>
                      <a:pt x="2105" y="97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79" name="Arc 632" descr="50%"/>
              <p:cNvSpPr>
                <a:spLocks/>
              </p:cNvSpPr>
              <p:nvPr/>
            </p:nvSpPr>
            <p:spPr bwMode="auto">
              <a:xfrm>
                <a:off x="1202" y="3222"/>
                <a:ext cx="13" cy="72"/>
              </a:xfrm>
              <a:custGeom>
                <a:avLst/>
                <a:gdLst>
                  <a:gd name="T0" fmla="*/ 1 w 25753"/>
                  <a:gd name="T1" fmla="*/ 0 h 43200"/>
                  <a:gd name="T2" fmla="*/ 0 w 25753"/>
                  <a:gd name="T3" fmla="*/ 71 h 43200"/>
                  <a:gd name="T4" fmla="*/ 2 w 25753"/>
                  <a:gd name="T5" fmla="*/ 36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753" h="43200" fill="none" extrusionOk="0">
                    <a:moveTo>
                      <a:pt x="2105" y="97"/>
                    </a:moveTo>
                    <a:cubicBezTo>
                      <a:pt x="2785" y="32"/>
                      <a:pt x="3469" y="-1"/>
                      <a:pt x="4153" y="0"/>
                    </a:cubicBezTo>
                    <a:cubicBezTo>
                      <a:pt x="16082" y="0"/>
                      <a:pt x="25753" y="9670"/>
                      <a:pt x="25753" y="21600"/>
                    </a:cubicBezTo>
                    <a:cubicBezTo>
                      <a:pt x="25753" y="33529"/>
                      <a:pt x="16082" y="43200"/>
                      <a:pt x="4153" y="43200"/>
                    </a:cubicBezTo>
                    <a:cubicBezTo>
                      <a:pt x="2758" y="43200"/>
                      <a:pt x="1368" y="43065"/>
                      <a:pt x="0" y="42796"/>
                    </a:cubicBezTo>
                  </a:path>
                  <a:path w="25753" h="43200" stroke="0" extrusionOk="0">
                    <a:moveTo>
                      <a:pt x="2105" y="97"/>
                    </a:moveTo>
                    <a:cubicBezTo>
                      <a:pt x="2785" y="32"/>
                      <a:pt x="3469" y="-1"/>
                      <a:pt x="4153" y="0"/>
                    </a:cubicBezTo>
                    <a:cubicBezTo>
                      <a:pt x="16082" y="0"/>
                      <a:pt x="25753" y="9670"/>
                      <a:pt x="25753" y="21600"/>
                    </a:cubicBezTo>
                    <a:cubicBezTo>
                      <a:pt x="25753" y="33529"/>
                      <a:pt x="16082" y="43200"/>
                      <a:pt x="4153" y="43200"/>
                    </a:cubicBezTo>
                    <a:cubicBezTo>
                      <a:pt x="2758" y="43200"/>
                      <a:pt x="1368" y="43065"/>
                      <a:pt x="0" y="42796"/>
                    </a:cubicBezTo>
                    <a:lnTo>
                      <a:pt x="4153" y="21600"/>
                    </a:lnTo>
                    <a:lnTo>
                      <a:pt x="2105" y="97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238" name="Freeform 633" descr="50%"/>
            <p:cNvSpPr>
              <a:spLocks/>
            </p:cNvSpPr>
            <p:nvPr/>
          </p:nvSpPr>
          <p:spPr bwMode="auto">
            <a:xfrm>
              <a:off x="971" y="2723"/>
              <a:ext cx="1553" cy="292"/>
            </a:xfrm>
            <a:custGeom>
              <a:avLst/>
              <a:gdLst>
                <a:gd name="T0" fmla="*/ 33 w 1553"/>
                <a:gd name="T1" fmla="*/ 246 h 292"/>
                <a:gd name="T2" fmla="*/ 105 w 1553"/>
                <a:gd name="T3" fmla="*/ 223 h 292"/>
                <a:gd name="T4" fmla="*/ 209 w 1553"/>
                <a:gd name="T5" fmla="*/ 200 h 292"/>
                <a:gd name="T6" fmla="*/ 312 w 1553"/>
                <a:gd name="T7" fmla="*/ 182 h 292"/>
                <a:gd name="T8" fmla="*/ 410 w 1553"/>
                <a:gd name="T9" fmla="*/ 165 h 292"/>
                <a:gd name="T10" fmla="*/ 468 w 1553"/>
                <a:gd name="T11" fmla="*/ 140 h 292"/>
                <a:gd name="T12" fmla="*/ 518 w 1553"/>
                <a:gd name="T13" fmla="*/ 91 h 292"/>
                <a:gd name="T14" fmla="*/ 592 w 1553"/>
                <a:gd name="T15" fmla="*/ 27 h 292"/>
                <a:gd name="T16" fmla="*/ 646 w 1553"/>
                <a:gd name="T17" fmla="*/ 52 h 292"/>
                <a:gd name="T18" fmla="*/ 667 w 1553"/>
                <a:gd name="T19" fmla="*/ 126 h 292"/>
                <a:gd name="T20" fmla="*/ 707 w 1553"/>
                <a:gd name="T21" fmla="*/ 160 h 292"/>
                <a:gd name="T22" fmla="*/ 834 w 1553"/>
                <a:gd name="T23" fmla="*/ 181 h 292"/>
                <a:gd name="T24" fmla="*/ 931 w 1553"/>
                <a:gd name="T25" fmla="*/ 185 h 292"/>
                <a:gd name="T26" fmla="*/ 1046 w 1553"/>
                <a:gd name="T27" fmla="*/ 181 h 292"/>
                <a:gd name="T28" fmla="*/ 1092 w 1553"/>
                <a:gd name="T29" fmla="*/ 218 h 292"/>
                <a:gd name="T30" fmla="*/ 1183 w 1553"/>
                <a:gd name="T31" fmla="*/ 222 h 292"/>
                <a:gd name="T32" fmla="*/ 1287 w 1553"/>
                <a:gd name="T33" fmla="*/ 176 h 292"/>
                <a:gd name="T34" fmla="*/ 1368 w 1553"/>
                <a:gd name="T35" fmla="*/ 103 h 292"/>
                <a:gd name="T36" fmla="*/ 1434 w 1553"/>
                <a:gd name="T37" fmla="*/ 59 h 292"/>
                <a:gd name="T38" fmla="*/ 1491 w 1553"/>
                <a:gd name="T39" fmla="*/ 35 h 292"/>
                <a:gd name="T40" fmla="*/ 1540 w 1553"/>
                <a:gd name="T41" fmla="*/ 41 h 292"/>
                <a:gd name="T42" fmla="*/ 1500 w 1553"/>
                <a:gd name="T43" fmla="*/ 91 h 292"/>
                <a:gd name="T44" fmla="*/ 1448 w 1553"/>
                <a:gd name="T45" fmla="*/ 136 h 292"/>
                <a:gd name="T46" fmla="*/ 1418 w 1553"/>
                <a:gd name="T47" fmla="*/ 174 h 292"/>
                <a:gd name="T48" fmla="*/ 1396 w 1553"/>
                <a:gd name="T49" fmla="*/ 208 h 292"/>
                <a:gd name="T50" fmla="*/ 1388 w 1553"/>
                <a:gd name="T51" fmla="*/ 244 h 292"/>
                <a:gd name="T52" fmla="*/ 1344 w 1553"/>
                <a:gd name="T53" fmla="*/ 237 h 292"/>
                <a:gd name="T54" fmla="*/ 1305 w 1553"/>
                <a:gd name="T55" fmla="*/ 249 h 292"/>
                <a:gd name="T56" fmla="*/ 1259 w 1553"/>
                <a:gd name="T57" fmla="*/ 244 h 292"/>
                <a:gd name="T58" fmla="*/ 1208 w 1553"/>
                <a:gd name="T59" fmla="*/ 247 h 292"/>
                <a:gd name="T60" fmla="*/ 1155 w 1553"/>
                <a:gd name="T61" fmla="*/ 242 h 292"/>
                <a:gd name="T62" fmla="*/ 1096 w 1553"/>
                <a:gd name="T63" fmla="*/ 245 h 292"/>
                <a:gd name="T64" fmla="*/ 1035 w 1553"/>
                <a:gd name="T65" fmla="*/ 255 h 292"/>
                <a:gd name="T66" fmla="*/ 976 w 1553"/>
                <a:gd name="T67" fmla="*/ 256 h 292"/>
                <a:gd name="T68" fmla="*/ 918 w 1553"/>
                <a:gd name="T69" fmla="*/ 257 h 292"/>
                <a:gd name="T70" fmla="*/ 864 w 1553"/>
                <a:gd name="T71" fmla="*/ 263 h 292"/>
                <a:gd name="T72" fmla="*/ 807 w 1553"/>
                <a:gd name="T73" fmla="*/ 275 h 292"/>
                <a:gd name="T74" fmla="*/ 738 w 1553"/>
                <a:gd name="T75" fmla="*/ 275 h 292"/>
                <a:gd name="T76" fmla="*/ 679 w 1553"/>
                <a:gd name="T77" fmla="*/ 278 h 292"/>
                <a:gd name="T78" fmla="*/ 620 w 1553"/>
                <a:gd name="T79" fmla="*/ 269 h 292"/>
                <a:gd name="T80" fmla="*/ 563 w 1553"/>
                <a:gd name="T81" fmla="*/ 275 h 292"/>
                <a:gd name="T82" fmla="*/ 516 w 1553"/>
                <a:gd name="T83" fmla="*/ 268 h 292"/>
                <a:gd name="T84" fmla="*/ 458 w 1553"/>
                <a:gd name="T85" fmla="*/ 275 h 292"/>
                <a:gd name="T86" fmla="*/ 397 w 1553"/>
                <a:gd name="T87" fmla="*/ 278 h 292"/>
                <a:gd name="T88" fmla="*/ 319 w 1553"/>
                <a:gd name="T89" fmla="*/ 291 h 292"/>
                <a:gd name="T90" fmla="*/ 227 w 1553"/>
                <a:gd name="T91" fmla="*/ 291 h 292"/>
                <a:gd name="T92" fmla="*/ 152 w 1553"/>
                <a:gd name="T93" fmla="*/ 280 h 292"/>
                <a:gd name="T94" fmla="*/ 82 w 1553"/>
                <a:gd name="T95" fmla="*/ 283 h 292"/>
                <a:gd name="T96" fmla="*/ 16 w 1553"/>
                <a:gd name="T97" fmla="*/ 270 h 29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553" h="292">
                  <a:moveTo>
                    <a:pt x="0" y="262"/>
                  </a:moveTo>
                  <a:lnTo>
                    <a:pt x="9" y="257"/>
                  </a:lnTo>
                  <a:lnTo>
                    <a:pt x="20" y="251"/>
                  </a:lnTo>
                  <a:lnTo>
                    <a:pt x="33" y="246"/>
                  </a:lnTo>
                  <a:lnTo>
                    <a:pt x="47" y="241"/>
                  </a:lnTo>
                  <a:lnTo>
                    <a:pt x="63" y="236"/>
                  </a:lnTo>
                  <a:lnTo>
                    <a:pt x="86" y="230"/>
                  </a:lnTo>
                  <a:lnTo>
                    <a:pt x="105" y="223"/>
                  </a:lnTo>
                  <a:lnTo>
                    <a:pt x="129" y="216"/>
                  </a:lnTo>
                  <a:lnTo>
                    <a:pt x="156" y="210"/>
                  </a:lnTo>
                  <a:lnTo>
                    <a:pt x="182" y="204"/>
                  </a:lnTo>
                  <a:lnTo>
                    <a:pt x="209" y="200"/>
                  </a:lnTo>
                  <a:lnTo>
                    <a:pt x="234" y="196"/>
                  </a:lnTo>
                  <a:lnTo>
                    <a:pt x="261" y="192"/>
                  </a:lnTo>
                  <a:lnTo>
                    <a:pt x="286" y="187"/>
                  </a:lnTo>
                  <a:lnTo>
                    <a:pt x="312" y="182"/>
                  </a:lnTo>
                  <a:lnTo>
                    <a:pt x="332" y="178"/>
                  </a:lnTo>
                  <a:lnTo>
                    <a:pt x="362" y="173"/>
                  </a:lnTo>
                  <a:lnTo>
                    <a:pt x="387" y="169"/>
                  </a:lnTo>
                  <a:lnTo>
                    <a:pt x="410" y="165"/>
                  </a:lnTo>
                  <a:lnTo>
                    <a:pt x="428" y="161"/>
                  </a:lnTo>
                  <a:lnTo>
                    <a:pt x="444" y="155"/>
                  </a:lnTo>
                  <a:lnTo>
                    <a:pt x="458" y="147"/>
                  </a:lnTo>
                  <a:lnTo>
                    <a:pt x="468" y="140"/>
                  </a:lnTo>
                  <a:lnTo>
                    <a:pt x="477" y="130"/>
                  </a:lnTo>
                  <a:lnTo>
                    <a:pt x="487" y="120"/>
                  </a:lnTo>
                  <a:lnTo>
                    <a:pt x="503" y="104"/>
                  </a:lnTo>
                  <a:lnTo>
                    <a:pt x="518" y="91"/>
                  </a:lnTo>
                  <a:lnTo>
                    <a:pt x="535" y="75"/>
                  </a:lnTo>
                  <a:lnTo>
                    <a:pt x="553" y="59"/>
                  </a:lnTo>
                  <a:lnTo>
                    <a:pt x="571" y="42"/>
                  </a:lnTo>
                  <a:lnTo>
                    <a:pt x="592" y="27"/>
                  </a:lnTo>
                  <a:lnTo>
                    <a:pt x="612" y="12"/>
                  </a:lnTo>
                  <a:lnTo>
                    <a:pt x="629" y="0"/>
                  </a:lnTo>
                  <a:lnTo>
                    <a:pt x="636" y="24"/>
                  </a:lnTo>
                  <a:lnTo>
                    <a:pt x="646" y="52"/>
                  </a:lnTo>
                  <a:lnTo>
                    <a:pt x="654" y="78"/>
                  </a:lnTo>
                  <a:lnTo>
                    <a:pt x="662" y="102"/>
                  </a:lnTo>
                  <a:lnTo>
                    <a:pt x="665" y="114"/>
                  </a:lnTo>
                  <a:lnTo>
                    <a:pt x="667" y="126"/>
                  </a:lnTo>
                  <a:lnTo>
                    <a:pt x="665" y="138"/>
                  </a:lnTo>
                  <a:lnTo>
                    <a:pt x="655" y="151"/>
                  </a:lnTo>
                  <a:lnTo>
                    <a:pt x="681" y="156"/>
                  </a:lnTo>
                  <a:lnTo>
                    <a:pt x="707" y="160"/>
                  </a:lnTo>
                  <a:lnTo>
                    <a:pt x="738" y="165"/>
                  </a:lnTo>
                  <a:lnTo>
                    <a:pt x="773" y="170"/>
                  </a:lnTo>
                  <a:lnTo>
                    <a:pt x="808" y="177"/>
                  </a:lnTo>
                  <a:lnTo>
                    <a:pt x="834" y="181"/>
                  </a:lnTo>
                  <a:lnTo>
                    <a:pt x="864" y="185"/>
                  </a:lnTo>
                  <a:lnTo>
                    <a:pt x="889" y="188"/>
                  </a:lnTo>
                  <a:lnTo>
                    <a:pt x="912" y="190"/>
                  </a:lnTo>
                  <a:lnTo>
                    <a:pt x="931" y="185"/>
                  </a:lnTo>
                  <a:lnTo>
                    <a:pt x="949" y="177"/>
                  </a:lnTo>
                  <a:lnTo>
                    <a:pt x="965" y="165"/>
                  </a:lnTo>
                  <a:lnTo>
                    <a:pt x="1004" y="171"/>
                  </a:lnTo>
                  <a:lnTo>
                    <a:pt x="1046" y="181"/>
                  </a:lnTo>
                  <a:lnTo>
                    <a:pt x="1077" y="187"/>
                  </a:lnTo>
                  <a:lnTo>
                    <a:pt x="1058" y="206"/>
                  </a:lnTo>
                  <a:lnTo>
                    <a:pt x="1072" y="211"/>
                  </a:lnTo>
                  <a:lnTo>
                    <a:pt x="1092" y="218"/>
                  </a:lnTo>
                  <a:lnTo>
                    <a:pt x="1114" y="223"/>
                  </a:lnTo>
                  <a:lnTo>
                    <a:pt x="1138" y="226"/>
                  </a:lnTo>
                  <a:lnTo>
                    <a:pt x="1160" y="224"/>
                  </a:lnTo>
                  <a:lnTo>
                    <a:pt x="1183" y="222"/>
                  </a:lnTo>
                  <a:lnTo>
                    <a:pt x="1207" y="218"/>
                  </a:lnTo>
                  <a:lnTo>
                    <a:pt x="1234" y="210"/>
                  </a:lnTo>
                  <a:lnTo>
                    <a:pt x="1258" y="196"/>
                  </a:lnTo>
                  <a:lnTo>
                    <a:pt x="1287" y="176"/>
                  </a:lnTo>
                  <a:lnTo>
                    <a:pt x="1310" y="158"/>
                  </a:lnTo>
                  <a:lnTo>
                    <a:pt x="1337" y="133"/>
                  </a:lnTo>
                  <a:lnTo>
                    <a:pt x="1349" y="122"/>
                  </a:lnTo>
                  <a:lnTo>
                    <a:pt x="1368" y="103"/>
                  </a:lnTo>
                  <a:lnTo>
                    <a:pt x="1386" y="91"/>
                  </a:lnTo>
                  <a:lnTo>
                    <a:pt x="1402" y="79"/>
                  </a:lnTo>
                  <a:lnTo>
                    <a:pt x="1419" y="68"/>
                  </a:lnTo>
                  <a:lnTo>
                    <a:pt x="1434" y="59"/>
                  </a:lnTo>
                  <a:lnTo>
                    <a:pt x="1449" y="52"/>
                  </a:lnTo>
                  <a:lnTo>
                    <a:pt x="1463" y="45"/>
                  </a:lnTo>
                  <a:lnTo>
                    <a:pt x="1476" y="40"/>
                  </a:lnTo>
                  <a:lnTo>
                    <a:pt x="1491" y="35"/>
                  </a:lnTo>
                  <a:lnTo>
                    <a:pt x="1506" y="33"/>
                  </a:lnTo>
                  <a:lnTo>
                    <a:pt x="1524" y="32"/>
                  </a:lnTo>
                  <a:lnTo>
                    <a:pt x="1552" y="32"/>
                  </a:lnTo>
                  <a:lnTo>
                    <a:pt x="1540" y="41"/>
                  </a:lnTo>
                  <a:lnTo>
                    <a:pt x="1528" y="54"/>
                  </a:lnTo>
                  <a:lnTo>
                    <a:pt x="1522" y="62"/>
                  </a:lnTo>
                  <a:lnTo>
                    <a:pt x="1511" y="78"/>
                  </a:lnTo>
                  <a:lnTo>
                    <a:pt x="1500" y="91"/>
                  </a:lnTo>
                  <a:lnTo>
                    <a:pt x="1485" y="104"/>
                  </a:lnTo>
                  <a:lnTo>
                    <a:pt x="1466" y="118"/>
                  </a:lnTo>
                  <a:lnTo>
                    <a:pt x="1456" y="126"/>
                  </a:lnTo>
                  <a:lnTo>
                    <a:pt x="1448" y="136"/>
                  </a:lnTo>
                  <a:lnTo>
                    <a:pt x="1438" y="147"/>
                  </a:lnTo>
                  <a:lnTo>
                    <a:pt x="1432" y="155"/>
                  </a:lnTo>
                  <a:lnTo>
                    <a:pt x="1425" y="164"/>
                  </a:lnTo>
                  <a:lnTo>
                    <a:pt x="1418" y="174"/>
                  </a:lnTo>
                  <a:lnTo>
                    <a:pt x="1412" y="183"/>
                  </a:lnTo>
                  <a:lnTo>
                    <a:pt x="1406" y="192"/>
                  </a:lnTo>
                  <a:lnTo>
                    <a:pt x="1401" y="200"/>
                  </a:lnTo>
                  <a:lnTo>
                    <a:pt x="1396" y="208"/>
                  </a:lnTo>
                  <a:lnTo>
                    <a:pt x="1392" y="218"/>
                  </a:lnTo>
                  <a:lnTo>
                    <a:pt x="1390" y="226"/>
                  </a:lnTo>
                  <a:lnTo>
                    <a:pt x="1389" y="235"/>
                  </a:lnTo>
                  <a:lnTo>
                    <a:pt x="1388" y="244"/>
                  </a:lnTo>
                  <a:lnTo>
                    <a:pt x="1380" y="239"/>
                  </a:lnTo>
                  <a:lnTo>
                    <a:pt x="1366" y="237"/>
                  </a:lnTo>
                  <a:lnTo>
                    <a:pt x="1355" y="236"/>
                  </a:lnTo>
                  <a:lnTo>
                    <a:pt x="1344" y="237"/>
                  </a:lnTo>
                  <a:lnTo>
                    <a:pt x="1334" y="240"/>
                  </a:lnTo>
                  <a:lnTo>
                    <a:pt x="1325" y="244"/>
                  </a:lnTo>
                  <a:lnTo>
                    <a:pt x="1315" y="246"/>
                  </a:lnTo>
                  <a:lnTo>
                    <a:pt x="1305" y="249"/>
                  </a:lnTo>
                  <a:lnTo>
                    <a:pt x="1294" y="251"/>
                  </a:lnTo>
                  <a:lnTo>
                    <a:pt x="1279" y="248"/>
                  </a:lnTo>
                  <a:lnTo>
                    <a:pt x="1268" y="247"/>
                  </a:lnTo>
                  <a:lnTo>
                    <a:pt x="1259" y="244"/>
                  </a:lnTo>
                  <a:lnTo>
                    <a:pt x="1248" y="241"/>
                  </a:lnTo>
                  <a:lnTo>
                    <a:pt x="1237" y="242"/>
                  </a:lnTo>
                  <a:lnTo>
                    <a:pt x="1222" y="244"/>
                  </a:lnTo>
                  <a:lnTo>
                    <a:pt x="1208" y="247"/>
                  </a:lnTo>
                  <a:lnTo>
                    <a:pt x="1198" y="246"/>
                  </a:lnTo>
                  <a:lnTo>
                    <a:pt x="1183" y="245"/>
                  </a:lnTo>
                  <a:lnTo>
                    <a:pt x="1169" y="242"/>
                  </a:lnTo>
                  <a:lnTo>
                    <a:pt x="1155" y="242"/>
                  </a:lnTo>
                  <a:lnTo>
                    <a:pt x="1143" y="245"/>
                  </a:lnTo>
                  <a:lnTo>
                    <a:pt x="1124" y="247"/>
                  </a:lnTo>
                  <a:lnTo>
                    <a:pt x="1112" y="247"/>
                  </a:lnTo>
                  <a:lnTo>
                    <a:pt x="1096" y="245"/>
                  </a:lnTo>
                  <a:lnTo>
                    <a:pt x="1082" y="244"/>
                  </a:lnTo>
                  <a:lnTo>
                    <a:pt x="1066" y="247"/>
                  </a:lnTo>
                  <a:lnTo>
                    <a:pt x="1053" y="251"/>
                  </a:lnTo>
                  <a:lnTo>
                    <a:pt x="1035" y="255"/>
                  </a:lnTo>
                  <a:lnTo>
                    <a:pt x="1021" y="256"/>
                  </a:lnTo>
                  <a:lnTo>
                    <a:pt x="1005" y="258"/>
                  </a:lnTo>
                  <a:lnTo>
                    <a:pt x="992" y="258"/>
                  </a:lnTo>
                  <a:lnTo>
                    <a:pt x="976" y="256"/>
                  </a:lnTo>
                  <a:lnTo>
                    <a:pt x="960" y="252"/>
                  </a:lnTo>
                  <a:lnTo>
                    <a:pt x="943" y="256"/>
                  </a:lnTo>
                  <a:lnTo>
                    <a:pt x="932" y="257"/>
                  </a:lnTo>
                  <a:lnTo>
                    <a:pt x="918" y="257"/>
                  </a:lnTo>
                  <a:lnTo>
                    <a:pt x="905" y="256"/>
                  </a:lnTo>
                  <a:lnTo>
                    <a:pt x="891" y="256"/>
                  </a:lnTo>
                  <a:lnTo>
                    <a:pt x="877" y="258"/>
                  </a:lnTo>
                  <a:lnTo>
                    <a:pt x="864" y="263"/>
                  </a:lnTo>
                  <a:lnTo>
                    <a:pt x="852" y="266"/>
                  </a:lnTo>
                  <a:lnTo>
                    <a:pt x="837" y="271"/>
                  </a:lnTo>
                  <a:lnTo>
                    <a:pt x="823" y="273"/>
                  </a:lnTo>
                  <a:lnTo>
                    <a:pt x="807" y="275"/>
                  </a:lnTo>
                  <a:lnTo>
                    <a:pt x="791" y="277"/>
                  </a:lnTo>
                  <a:lnTo>
                    <a:pt x="770" y="275"/>
                  </a:lnTo>
                  <a:lnTo>
                    <a:pt x="751" y="273"/>
                  </a:lnTo>
                  <a:lnTo>
                    <a:pt x="738" y="275"/>
                  </a:lnTo>
                  <a:lnTo>
                    <a:pt x="720" y="277"/>
                  </a:lnTo>
                  <a:lnTo>
                    <a:pt x="707" y="277"/>
                  </a:lnTo>
                  <a:lnTo>
                    <a:pt x="692" y="278"/>
                  </a:lnTo>
                  <a:lnTo>
                    <a:pt x="679" y="278"/>
                  </a:lnTo>
                  <a:lnTo>
                    <a:pt x="660" y="277"/>
                  </a:lnTo>
                  <a:lnTo>
                    <a:pt x="644" y="273"/>
                  </a:lnTo>
                  <a:lnTo>
                    <a:pt x="633" y="269"/>
                  </a:lnTo>
                  <a:lnTo>
                    <a:pt x="620" y="269"/>
                  </a:lnTo>
                  <a:lnTo>
                    <a:pt x="606" y="268"/>
                  </a:lnTo>
                  <a:lnTo>
                    <a:pt x="592" y="271"/>
                  </a:lnTo>
                  <a:lnTo>
                    <a:pt x="576" y="273"/>
                  </a:lnTo>
                  <a:lnTo>
                    <a:pt x="563" y="275"/>
                  </a:lnTo>
                  <a:lnTo>
                    <a:pt x="551" y="275"/>
                  </a:lnTo>
                  <a:lnTo>
                    <a:pt x="542" y="273"/>
                  </a:lnTo>
                  <a:lnTo>
                    <a:pt x="529" y="269"/>
                  </a:lnTo>
                  <a:lnTo>
                    <a:pt x="516" y="268"/>
                  </a:lnTo>
                  <a:lnTo>
                    <a:pt x="503" y="269"/>
                  </a:lnTo>
                  <a:lnTo>
                    <a:pt x="491" y="271"/>
                  </a:lnTo>
                  <a:lnTo>
                    <a:pt x="476" y="273"/>
                  </a:lnTo>
                  <a:lnTo>
                    <a:pt x="458" y="275"/>
                  </a:lnTo>
                  <a:lnTo>
                    <a:pt x="443" y="275"/>
                  </a:lnTo>
                  <a:lnTo>
                    <a:pt x="428" y="273"/>
                  </a:lnTo>
                  <a:lnTo>
                    <a:pt x="412" y="276"/>
                  </a:lnTo>
                  <a:lnTo>
                    <a:pt x="397" y="278"/>
                  </a:lnTo>
                  <a:lnTo>
                    <a:pt x="381" y="282"/>
                  </a:lnTo>
                  <a:lnTo>
                    <a:pt x="365" y="286"/>
                  </a:lnTo>
                  <a:lnTo>
                    <a:pt x="343" y="290"/>
                  </a:lnTo>
                  <a:lnTo>
                    <a:pt x="319" y="291"/>
                  </a:lnTo>
                  <a:lnTo>
                    <a:pt x="293" y="291"/>
                  </a:lnTo>
                  <a:lnTo>
                    <a:pt x="270" y="290"/>
                  </a:lnTo>
                  <a:lnTo>
                    <a:pt x="242" y="291"/>
                  </a:lnTo>
                  <a:lnTo>
                    <a:pt x="227" y="291"/>
                  </a:lnTo>
                  <a:lnTo>
                    <a:pt x="213" y="289"/>
                  </a:lnTo>
                  <a:lnTo>
                    <a:pt x="197" y="291"/>
                  </a:lnTo>
                  <a:lnTo>
                    <a:pt x="179" y="290"/>
                  </a:lnTo>
                  <a:lnTo>
                    <a:pt x="152" y="280"/>
                  </a:lnTo>
                  <a:lnTo>
                    <a:pt x="133" y="281"/>
                  </a:lnTo>
                  <a:lnTo>
                    <a:pt x="116" y="283"/>
                  </a:lnTo>
                  <a:lnTo>
                    <a:pt x="98" y="283"/>
                  </a:lnTo>
                  <a:lnTo>
                    <a:pt x="82" y="283"/>
                  </a:lnTo>
                  <a:lnTo>
                    <a:pt x="64" y="281"/>
                  </a:lnTo>
                  <a:lnTo>
                    <a:pt x="47" y="278"/>
                  </a:lnTo>
                  <a:lnTo>
                    <a:pt x="31" y="273"/>
                  </a:lnTo>
                  <a:lnTo>
                    <a:pt x="16" y="270"/>
                  </a:lnTo>
                  <a:lnTo>
                    <a:pt x="1" y="266"/>
                  </a:lnTo>
                  <a:lnTo>
                    <a:pt x="0" y="262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39" name="Group 634"/>
            <p:cNvGrpSpPr>
              <a:grpSpLocks/>
            </p:cNvGrpSpPr>
            <p:nvPr/>
          </p:nvGrpSpPr>
          <p:grpSpPr bwMode="auto">
            <a:xfrm>
              <a:off x="1283" y="3088"/>
              <a:ext cx="223" cy="137"/>
              <a:chOff x="1202" y="3272"/>
              <a:chExt cx="223" cy="137"/>
            </a:xfrm>
          </p:grpSpPr>
          <p:sp>
            <p:nvSpPr>
              <p:cNvPr id="8273" name="Freeform 635" descr="50%"/>
              <p:cNvSpPr>
                <a:spLocks/>
              </p:cNvSpPr>
              <p:nvPr/>
            </p:nvSpPr>
            <p:spPr bwMode="auto">
              <a:xfrm>
                <a:off x="1202" y="3275"/>
                <a:ext cx="223" cy="134"/>
              </a:xfrm>
              <a:custGeom>
                <a:avLst/>
                <a:gdLst>
                  <a:gd name="T0" fmla="*/ 208 w 223"/>
                  <a:gd name="T1" fmla="*/ 120 h 134"/>
                  <a:gd name="T2" fmla="*/ 196 w 223"/>
                  <a:gd name="T3" fmla="*/ 108 h 134"/>
                  <a:gd name="T4" fmla="*/ 188 w 223"/>
                  <a:gd name="T5" fmla="*/ 100 h 134"/>
                  <a:gd name="T6" fmla="*/ 182 w 223"/>
                  <a:gd name="T7" fmla="*/ 93 h 134"/>
                  <a:gd name="T8" fmla="*/ 176 w 223"/>
                  <a:gd name="T9" fmla="*/ 86 h 134"/>
                  <a:gd name="T10" fmla="*/ 170 w 223"/>
                  <a:gd name="T11" fmla="*/ 78 h 134"/>
                  <a:gd name="T12" fmla="*/ 164 w 223"/>
                  <a:gd name="T13" fmla="*/ 71 h 134"/>
                  <a:gd name="T14" fmla="*/ 159 w 223"/>
                  <a:gd name="T15" fmla="*/ 63 h 134"/>
                  <a:gd name="T16" fmla="*/ 154 w 223"/>
                  <a:gd name="T17" fmla="*/ 53 h 134"/>
                  <a:gd name="T18" fmla="*/ 150 w 223"/>
                  <a:gd name="T19" fmla="*/ 43 h 134"/>
                  <a:gd name="T20" fmla="*/ 146 w 223"/>
                  <a:gd name="T21" fmla="*/ 33 h 134"/>
                  <a:gd name="T22" fmla="*/ 144 w 223"/>
                  <a:gd name="T23" fmla="*/ 23 h 134"/>
                  <a:gd name="T24" fmla="*/ 144 w 223"/>
                  <a:gd name="T25" fmla="*/ 13 h 134"/>
                  <a:gd name="T26" fmla="*/ 143 w 223"/>
                  <a:gd name="T27" fmla="*/ 0 h 134"/>
                  <a:gd name="T28" fmla="*/ 0 w 223"/>
                  <a:gd name="T29" fmla="*/ 0 h 134"/>
                  <a:gd name="T30" fmla="*/ 4 w 223"/>
                  <a:gd name="T31" fmla="*/ 8 h 134"/>
                  <a:gd name="T32" fmla="*/ 11 w 223"/>
                  <a:gd name="T33" fmla="*/ 19 h 134"/>
                  <a:gd name="T34" fmla="*/ 18 w 223"/>
                  <a:gd name="T35" fmla="*/ 28 h 134"/>
                  <a:gd name="T36" fmla="*/ 26 w 223"/>
                  <a:gd name="T37" fmla="*/ 38 h 134"/>
                  <a:gd name="T38" fmla="*/ 36 w 223"/>
                  <a:gd name="T39" fmla="*/ 48 h 134"/>
                  <a:gd name="T40" fmla="*/ 47 w 223"/>
                  <a:gd name="T41" fmla="*/ 58 h 134"/>
                  <a:gd name="T42" fmla="*/ 58 w 223"/>
                  <a:gd name="T43" fmla="*/ 67 h 134"/>
                  <a:gd name="T44" fmla="*/ 70 w 223"/>
                  <a:gd name="T45" fmla="*/ 76 h 134"/>
                  <a:gd name="T46" fmla="*/ 82 w 223"/>
                  <a:gd name="T47" fmla="*/ 86 h 134"/>
                  <a:gd name="T48" fmla="*/ 98 w 223"/>
                  <a:gd name="T49" fmla="*/ 97 h 134"/>
                  <a:gd name="T50" fmla="*/ 111 w 223"/>
                  <a:gd name="T51" fmla="*/ 104 h 134"/>
                  <a:gd name="T52" fmla="*/ 123 w 223"/>
                  <a:gd name="T53" fmla="*/ 110 h 134"/>
                  <a:gd name="T54" fmla="*/ 135 w 223"/>
                  <a:gd name="T55" fmla="*/ 115 h 134"/>
                  <a:gd name="T56" fmla="*/ 147 w 223"/>
                  <a:gd name="T57" fmla="*/ 120 h 134"/>
                  <a:gd name="T58" fmla="*/ 159 w 223"/>
                  <a:gd name="T59" fmla="*/ 124 h 134"/>
                  <a:gd name="T60" fmla="*/ 173 w 223"/>
                  <a:gd name="T61" fmla="*/ 127 h 134"/>
                  <a:gd name="T62" fmla="*/ 189 w 223"/>
                  <a:gd name="T63" fmla="*/ 130 h 134"/>
                  <a:gd name="T64" fmla="*/ 201 w 223"/>
                  <a:gd name="T65" fmla="*/ 131 h 134"/>
                  <a:gd name="T66" fmla="*/ 213 w 223"/>
                  <a:gd name="T67" fmla="*/ 132 h 134"/>
                  <a:gd name="T68" fmla="*/ 222 w 223"/>
                  <a:gd name="T69" fmla="*/ 133 h 134"/>
                  <a:gd name="T70" fmla="*/ 208 w 223"/>
                  <a:gd name="T71" fmla="*/ 120 h 13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223" h="134">
                    <a:moveTo>
                      <a:pt x="208" y="120"/>
                    </a:moveTo>
                    <a:lnTo>
                      <a:pt x="196" y="108"/>
                    </a:lnTo>
                    <a:lnTo>
                      <a:pt x="188" y="100"/>
                    </a:lnTo>
                    <a:lnTo>
                      <a:pt x="182" y="93"/>
                    </a:lnTo>
                    <a:lnTo>
                      <a:pt x="176" y="86"/>
                    </a:lnTo>
                    <a:lnTo>
                      <a:pt x="170" y="78"/>
                    </a:lnTo>
                    <a:lnTo>
                      <a:pt x="164" y="71"/>
                    </a:lnTo>
                    <a:lnTo>
                      <a:pt x="159" y="63"/>
                    </a:lnTo>
                    <a:lnTo>
                      <a:pt x="154" y="53"/>
                    </a:lnTo>
                    <a:lnTo>
                      <a:pt x="150" y="43"/>
                    </a:lnTo>
                    <a:lnTo>
                      <a:pt x="146" y="33"/>
                    </a:lnTo>
                    <a:lnTo>
                      <a:pt x="144" y="23"/>
                    </a:lnTo>
                    <a:lnTo>
                      <a:pt x="144" y="13"/>
                    </a:lnTo>
                    <a:lnTo>
                      <a:pt x="143" y="0"/>
                    </a:lnTo>
                    <a:lnTo>
                      <a:pt x="0" y="0"/>
                    </a:lnTo>
                    <a:lnTo>
                      <a:pt x="4" y="8"/>
                    </a:lnTo>
                    <a:lnTo>
                      <a:pt x="11" y="19"/>
                    </a:lnTo>
                    <a:lnTo>
                      <a:pt x="18" y="28"/>
                    </a:lnTo>
                    <a:lnTo>
                      <a:pt x="26" y="38"/>
                    </a:lnTo>
                    <a:lnTo>
                      <a:pt x="36" y="48"/>
                    </a:lnTo>
                    <a:lnTo>
                      <a:pt x="47" y="58"/>
                    </a:lnTo>
                    <a:lnTo>
                      <a:pt x="58" y="67"/>
                    </a:lnTo>
                    <a:lnTo>
                      <a:pt x="70" y="76"/>
                    </a:lnTo>
                    <a:lnTo>
                      <a:pt x="82" y="86"/>
                    </a:lnTo>
                    <a:lnTo>
                      <a:pt x="98" y="97"/>
                    </a:lnTo>
                    <a:lnTo>
                      <a:pt x="111" y="104"/>
                    </a:lnTo>
                    <a:lnTo>
                      <a:pt x="123" y="110"/>
                    </a:lnTo>
                    <a:lnTo>
                      <a:pt x="135" y="115"/>
                    </a:lnTo>
                    <a:lnTo>
                      <a:pt x="147" y="120"/>
                    </a:lnTo>
                    <a:lnTo>
                      <a:pt x="159" y="124"/>
                    </a:lnTo>
                    <a:lnTo>
                      <a:pt x="173" y="127"/>
                    </a:lnTo>
                    <a:lnTo>
                      <a:pt x="189" y="130"/>
                    </a:lnTo>
                    <a:lnTo>
                      <a:pt x="201" y="131"/>
                    </a:lnTo>
                    <a:lnTo>
                      <a:pt x="213" y="132"/>
                    </a:lnTo>
                    <a:lnTo>
                      <a:pt x="222" y="133"/>
                    </a:lnTo>
                    <a:lnTo>
                      <a:pt x="208" y="120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74" name="Freeform 636" descr="50%"/>
              <p:cNvSpPr>
                <a:spLocks/>
              </p:cNvSpPr>
              <p:nvPr/>
            </p:nvSpPr>
            <p:spPr bwMode="auto">
              <a:xfrm>
                <a:off x="1206" y="3272"/>
                <a:ext cx="132" cy="2"/>
              </a:xfrm>
              <a:custGeom>
                <a:avLst/>
                <a:gdLst>
                  <a:gd name="T0" fmla="*/ 1 w 132"/>
                  <a:gd name="T1" fmla="*/ 0 h 2"/>
                  <a:gd name="T2" fmla="*/ 0 w 132"/>
                  <a:gd name="T3" fmla="*/ 0 h 2"/>
                  <a:gd name="T4" fmla="*/ 3 w 132"/>
                  <a:gd name="T5" fmla="*/ 1 h 2"/>
                  <a:gd name="T6" fmla="*/ 131 w 132"/>
                  <a:gd name="T7" fmla="*/ 1 h 2"/>
                  <a:gd name="T8" fmla="*/ 131 w 132"/>
                  <a:gd name="T9" fmla="*/ 0 h 2"/>
                  <a:gd name="T10" fmla="*/ 1 w 132"/>
                  <a:gd name="T11" fmla="*/ 0 h 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2" h="2">
                    <a:moveTo>
                      <a:pt x="1" y="0"/>
                    </a:moveTo>
                    <a:lnTo>
                      <a:pt x="0" y="0"/>
                    </a:lnTo>
                    <a:lnTo>
                      <a:pt x="3" y="1"/>
                    </a:lnTo>
                    <a:lnTo>
                      <a:pt x="131" y="1"/>
                    </a:lnTo>
                    <a:lnTo>
                      <a:pt x="131" y="0"/>
                    </a:lnTo>
                    <a:lnTo>
                      <a:pt x="1" y="0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240" name="Freeform 637" descr="50%"/>
            <p:cNvSpPr>
              <a:spLocks/>
            </p:cNvSpPr>
            <p:nvPr/>
          </p:nvSpPr>
          <p:spPr bwMode="auto">
            <a:xfrm>
              <a:off x="831" y="2266"/>
              <a:ext cx="275" cy="200"/>
            </a:xfrm>
            <a:custGeom>
              <a:avLst/>
              <a:gdLst>
                <a:gd name="T0" fmla="*/ 0 w 275"/>
                <a:gd name="T1" fmla="*/ 0 h 200"/>
                <a:gd name="T2" fmla="*/ 11 w 275"/>
                <a:gd name="T3" fmla="*/ 19 h 200"/>
                <a:gd name="T4" fmla="*/ 24 w 275"/>
                <a:gd name="T5" fmla="*/ 41 h 200"/>
                <a:gd name="T6" fmla="*/ 41 w 275"/>
                <a:gd name="T7" fmla="*/ 62 h 200"/>
                <a:gd name="T8" fmla="*/ 57 w 275"/>
                <a:gd name="T9" fmla="*/ 81 h 200"/>
                <a:gd name="T10" fmla="*/ 78 w 275"/>
                <a:gd name="T11" fmla="*/ 102 h 200"/>
                <a:gd name="T12" fmla="*/ 99 w 275"/>
                <a:gd name="T13" fmla="*/ 124 h 200"/>
                <a:gd name="T14" fmla="*/ 116 w 275"/>
                <a:gd name="T15" fmla="*/ 140 h 200"/>
                <a:gd name="T16" fmla="*/ 135 w 275"/>
                <a:gd name="T17" fmla="*/ 156 h 200"/>
                <a:gd name="T18" fmla="*/ 154 w 275"/>
                <a:gd name="T19" fmla="*/ 167 h 200"/>
                <a:gd name="T20" fmla="*/ 176 w 275"/>
                <a:gd name="T21" fmla="*/ 178 h 200"/>
                <a:gd name="T22" fmla="*/ 197 w 275"/>
                <a:gd name="T23" fmla="*/ 187 h 200"/>
                <a:gd name="T24" fmla="*/ 219 w 275"/>
                <a:gd name="T25" fmla="*/ 194 h 200"/>
                <a:gd name="T26" fmla="*/ 242 w 275"/>
                <a:gd name="T27" fmla="*/ 198 h 200"/>
                <a:gd name="T28" fmla="*/ 263 w 275"/>
                <a:gd name="T29" fmla="*/ 199 h 200"/>
                <a:gd name="T30" fmla="*/ 274 w 275"/>
                <a:gd name="T31" fmla="*/ 197 h 200"/>
                <a:gd name="T32" fmla="*/ 261 w 275"/>
                <a:gd name="T33" fmla="*/ 183 h 200"/>
                <a:gd name="T34" fmla="*/ 246 w 275"/>
                <a:gd name="T35" fmla="*/ 165 h 200"/>
                <a:gd name="T36" fmla="*/ 231 w 275"/>
                <a:gd name="T37" fmla="*/ 148 h 200"/>
                <a:gd name="T38" fmla="*/ 216 w 275"/>
                <a:gd name="T39" fmla="*/ 128 h 200"/>
                <a:gd name="T40" fmla="*/ 203 w 275"/>
                <a:gd name="T41" fmla="*/ 107 h 200"/>
                <a:gd name="T42" fmla="*/ 192 w 275"/>
                <a:gd name="T43" fmla="*/ 88 h 200"/>
                <a:gd name="T44" fmla="*/ 185 w 275"/>
                <a:gd name="T45" fmla="*/ 69 h 200"/>
                <a:gd name="T46" fmla="*/ 178 w 275"/>
                <a:gd name="T47" fmla="*/ 41 h 200"/>
                <a:gd name="T48" fmla="*/ 178 w 275"/>
                <a:gd name="T49" fmla="*/ 18 h 200"/>
                <a:gd name="T50" fmla="*/ 178 w 275"/>
                <a:gd name="T51" fmla="*/ 2 h 200"/>
                <a:gd name="T52" fmla="*/ 0 w 275"/>
                <a:gd name="T53" fmla="*/ 0 h 20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275" h="200">
                  <a:moveTo>
                    <a:pt x="0" y="0"/>
                  </a:moveTo>
                  <a:lnTo>
                    <a:pt x="11" y="19"/>
                  </a:lnTo>
                  <a:lnTo>
                    <a:pt x="24" y="41"/>
                  </a:lnTo>
                  <a:lnTo>
                    <a:pt x="41" y="62"/>
                  </a:lnTo>
                  <a:lnTo>
                    <a:pt x="57" y="81"/>
                  </a:lnTo>
                  <a:lnTo>
                    <a:pt x="78" y="102"/>
                  </a:lnTo>
                  <a:lnTo>
                    <a:pt x="99" y="124"/>
                  </a:lnTo>
                  <a:lnTo>
                    <a:pt x="116" y="140"/>
                  </a:lnTo>
                  <a:lnTo>
                    <a:pt x="135" y="156"/>
                  </a:lnTo>
                  <a:lnTo>
                    <a:pt x="154" y="167"/>
                  </a:lnTo>
                  <a:lnTo>
                    <a:pt x="176" y="178"/>
                  </a:lnTo>
                  <a:lnTo>
                    <a:pt x="197" y="187"/>
                  </a:lnTo>
                  <a:lnTo>
                    <a:pt x="219" y="194"/>
                  </a:lnTo>
                  <a:lnTo>
                    <a:pt x="242" y="198"/>
                  </a:lnTo>
                  <a:lnTo>
                    <a:pt x="263" y="199"/>
                  </a:lnTo>
                  <a:lnTo>
                    <a:pt x="274" y="197"/>
                  </a:lnTo>
                  <a:lnTo>
                    <a:pt x="261" y="183"/>
                  </a:lnTo>
                  <a:lnTo>
                    <a:pt x="246" y="165"/>
                  </a:lnTo>
                  <a:lnTo>
                    <a:pt x="231" y="148"/>
                  </a:lnTo>
                  <a:lnTo>
                    <a:pt x="216" y="128"/>
                  </a:lnTo>
                  <a:lnTo>
                    <a:pt x="203" y="107"/>
                  </a:lnTo>
                  <a:lnTo>
                    <a:pt x="192" y="88"/>
                  </a:lnTo>
                  <a:lnTo>
                    <a:pt x="185" y="69"/>
                  </a:lnTo>
                  <a:lnTo>
                    <a:pt x="178" y="41"/>
                  </a:lnTo>
                  <a:lnTo>
                    <a:pt x="178" y="18"/>
                  </a:lnTo>
                  <a:lnTo>
                    <a:pt x="178" y="2"/>
                  </a:lnTo>
                  <a:lnTo>
                    <a:pt x="0" y="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1" name="Freeform 638" descr="50%"/>
            <p:cNvSpPr>
              <a:spLocks/>
            </p:cNvSpPr>
            <p:nvPr/>
          </p:nvSpPr>
          <p:spPr bwMode="auto">
            <a:xfrm>
              <a:off x="240" y="1776"/>
              <a:ext cx="2339" cy="650"/>
            </a:xfrm>
            <a:custGeom>
              <a:avLst/>
              <a:gdLst>
                <a:gd name="T0" fmla="*/ 26 w 2339"/>
                <a:gd name="T1" fmla="*/ 386 h 650"/>
                <a:gd name="T2" fmla="*/ 97 w 2339"/>
                <a:gd name="T3" fmla="*/ 360 h 650"/>
                <a:gd name="T4" fmla="*/ 205 w 2339"/>
                <a:gd name="T5" fmla="*/ 329 h 650"/>
                <a:gd name="T6" fmla="*/ 319 w 2339"/>
                <a:gd name="T7" fmla="*/ 306 h 650"/>
                <a:gd name="T8" fmla="*/ 432 w 2339"/>
                <a:gd name="T9" fmla="*/ 286 h 650"/>
                <a:gd name="T10" fmla="*/ 548 w 2339"/>
                <a:gd name="T11" fmla="*/ 265 h 650"/>
                <a:gd name="T12" fmla="*/ 643 w 2339"/>
                <a:gd name="T13" fmla="*/ 247 h 650"/>
                <a:gd name="T14" fmla="*/ 699 w 2339"/>
                <a:gd name="T15" fmla="*/ 218 h 650"/>
                <a:gd name="T16" fmla="*/ 753 w 2339"/>
                <a:gd name="T17" fmla="*/ 166 h 650"/>
                <a:gd name="T18" fmla="*/ 833 w 2339"/>
                <a:gd name="T19" fmla="*/ 91 h 650"/>
                <a:gd name="T20" fmla="*/ 915 w 2339"/>
                <a:gd name="T21" fmla="*/ 24 h 650"/>
                <a:gd name="T22" fmla="*/ 973 w 2339"/>
                <a:gd name="T23" fmla="*/ 79 h 650"/>
                <a:gd name="T24" fmla="*/ 1007 w 2339"/>
                <a:gd name="T25" fmla="*/ 193 h 650"/>
                <a:gd name="T26" fmla="*/ 1027 w 2339"/>
                <a:gd name="T27" fmla="*/ 238 h 650"/>
                <a:gd name="T28" fmla="*/ 1162 w 2339"/>
                <a:gd name="T29" fmla="*/ 260 h 650"/>
                <a:gd name="T30" fmla="*/ 1298 w 2339"/>
                <a:gd name="T31" fmla="*/ 284 h 650"/>
                <a:gd name="T32" fmla="*/ 1401 w 2339"/>
                <a:gd name="T33" fmla="*/ 284 h 650"/>
                <a:gd name="T34" fmla="*/ 1510 w 2339"/>
                <a:gd name="T35" fmla="*/ 263 h 650"/>
                <a:gd name="T36" fmla="*/ 1593 w 2339"/>
                <a:gd name="T37" fmla="*/ 317 h 650"/>
                <a:gd name="T38" fmla="*/ 1675 w 2339"/>
                <a:gd name="T39" fmla="*/ 340 h 650"/>
                <a:gd name="T40" fmla="*/ 1779 w 2339"/>
                <a:gd name="T41" fmla="*/ 339 h 650"/>
                <a:gd name="T42" fmla="*/ 1888 w 2339"/>
                <a:gd name="T43" fmla="*/ 300 h 650"/>
                <a:gd name="T44" fmla="*/ 2009 w 2339"/>
                <a:gd name="T45" fmla="*/ 204 h 650"/>
                <a:gd name="T46" fmla="*/ 2151 w 2339"/>
                <a:gd name="T47" fmla="*/ 94 h 650"/>
                <a:gd name="T48" fmla="*/ 2293 w 2339"/>
                <a:gd name="T49" fmla="*/ 49 h 650"/>
                <a:gd name="T50" fmla="*/ 2299 w 2339"/>
                <a:gd name="T51" fmla="*/ 87 h 650"/>
                <a:gd name="T52" fmla="*/ 2231 w 2339"/>
                <a:gd name="T53" fmla="*/ 166 h 650"/>
                <a:gd name="T54" fmla="*/ 2151 w 2339"/>
                <a:gd name="T55" fmla="*/ 244 h 650"/>
                <a:gd name="T56" fmla="*/ 2100 w 2339"/>
                <a:gd name="T57" fmla="*/ 322 h 650"/>
                <a:gd name="T58" fmla="*/ 2100 w 2339"/>
                <a:gd name="T59" fmla="*/ 403 h 650"/>
                <a:gd name="T60" fmla="*/ 2157 w 2339"/>
                <a:gd name="T61" fmla="*/ 486 h 650"/>
                <a:gd name="T62" fmla="*/ 2227 w 2339"/>
                <a:gd name="T63" fmla="*/ 549 h 650"/>
                <a:gd name="T64" fmla="*/ 2291 w 2339"/>
                <a:gd name="T65" fmla="*/ 599 h 650"/>
                <a:gd name="T66" fmla="*/ 2293 w 2339"/>
                <a:gd name="T67" fmla="*/ 624 h 650"/>
                <a:gd name="T68" fmla="*/ 2205 w 2339"/>
                <a:gd name="T69" fmla="*/ 622 h 650"/>
                <a:gd name="T70" fmla="*/ 2126 w 2339"/>
                <a:gd name="T71" fmla="*/ 603 h 650"/>
                <a:gd name="T72" fmla="*/ 2052 w 2339"/>
                <a:gd name="T73" fmla="*/ 567 h 650"/>
                <a:gd name="T74" fmla="*/ 1929 w 2339"/>
                <a:gd name="T75" fmla="*/ 494 h 650"/>
                <a:gd name="T76" fmla="*/ 1779 w 2339"/>
                <a:gd name="T77" fmla="*/ 483 h 650"/>
                <a:gd name="T78" fmla="*/ 1596 w 2339"/>
                <a:gd name="T79" fmla="*/ 503 h 650"/>
                <a:gd name="T80" fmla="*/ 1481 w 2339"/>
                <a:gd name="T81" fmla="*/ 546 h 650"/>
                <a:gd name="T82" fmla="*/ 1443 w 2339"/>
                <a:gd name="T83" fmla="*/ 596 h 650"/>
                <a:gd name="T84" fmla="*/ 1279 w 2339"/>
                <a:gd name="T85" fmla="*/ 592 h 650"/>
                <a:gd name="T86" fmla="*/ 1143 w 2339"/>
                <a:gd name="T87" fmla="*/ 633 h 650"/>
                <a:gd name="T88" fmla="*/ 633 w 2339"/>
                <a:gd name="T89" fmla="*/ 649 h 650"/>
                <a:gd name="T90" fmla="*/ 341 w 2339"/>
                <a:gd name="T91" fmla="*/ 621 h 650"/>
                <a:gd name="T92" fmla="*/ 84 w 2339"/>
                <a:gd name="T93" fmla="*/ 540 h 650"/>
                <a:gd name="T94" fmla="*/ 84 w 2339"/>
                <a:gd name="T95" fmla="*/ 498 h 650"/>
                <a:gd name="T96" fmla="*/ 27 w 2339"/>
                <a:gd name="T97" fmla="*/ 448 h 650"/>
                <a:gd name="T98" fmla="*/ 5 w 2339"/>
                <a:gd name="T99" fmla="*/ 414 h 65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339" h="650">
                  <a:moveTo>
                    <a:pt x="0" y="402"/>
                  </a:moveTo>
                  <a:lnTo>
                    <a:pt x="8" y="396"/>
                  </a:lnTo>
                  <a:lnTo>
                    <a:pt x="26" y="386"/>
                  </a:lnTo>
                  <a:lnTo>
                    <a:pt x="53" y="375"/>
                  </a:lnTo>
                  <a:lnTo>
                    <a:pt x="73" y="369"/>
                  </a:lnTo>
                  <a:lnTo>
                    <a:pt x="97" y="360"/>
                  </a:lnTo>
                  <a:lnTo>
                    <a:pt x="134" y="348"/>
                  </a:lnTo>
                  <a:lnTo>
                    <a:pt x="170" y="338"/>
                  </a:lnTo>
                  <a:lnTo>
                    <a:pt x="205" y="329"/>
                  </a:lnTo>
                  <a:lnTo>
                    <a:pt x="240" y="320"/>
                  </a:lnTo>
                  <a:lnTo>
                    <a:pt x="278" y="313"/>
                  </a:lnTo>
                  <a:lnTo>
                    <a:pt x="319" y="306"/>
                  </a:lnTo>
                  <a:lnTo>
                    <a:pt x="360" y="298"/>
                  </a:lnTo>
                  <a:lnTo>
                    <a:pt x="396" y="292"/>
                  </a:lnTo>
                  <a:lnTo>
                    <a:pt x="432" y="286"/>
                  </a:lnTo>
                  <a:lnTo>
                    <a:pt x="464" y="280"/>
                  </a:lnTo>
                  <a:lnTo>
                    <a:pt x="510" y="271"/>
                  </a:lnTo>
                  <a:lnTo>
                    <a:pt x="548" y="265"/>
                  </a:lnTo>
                  <a:lnTo>
                    <a:pt x="584" y="259"/>
                  </a:lnTo>
                  <a:lnTo>
                    <a:pt x="615" y="254"/>
                  </a:lnTo>
                  <a:lnTo>
                    <a:pt x="643" y="247"/>
                  </a:lnTo>
                  <a:lnTo>
                    <a:pt x="667" y="237"/>
                  </a:lnTo>
                  <a:lnTo>
                    <a:pt x="683" y="229"/>
                  </a:lnTo>
                  <a:lnTo>
                    <a:pt x="699" y="218"/>
                  </a:lnTo>
                  <a:lnTo>
                    <a:pt x="715" y="204"/>
                  </a:lnTo>
                  <a:lnTo>
                    <a:pt x="732" y="186"/>
                  </a:lnTo>
                  <a:lnTo>
                    <a:pt x="753" y="166"/>
                  </a:lnTo>
                  <a:lnTo>
                    <a:pt x="779" y="140"/>
                  </a:lnTo>
                  <a:lnTo>
                    <a:pt x="804" y="116"/>
                  </a:lnTo>
                  <a:lnTo>
                    <a:pt x="833" y="91"/>
                  </a:lnTo>
                  <a:lnTo>
                    <a:pt x="858" y="67"/>
                  </a:lnTo>
                  <a:lnTo>
                    <a:pt x="886" y="46"/>
                  </a:lnTo>
                  <a:lnTo>
                    <a:pt x="915" y="24"/>
                  </a:lnTo>
                  <a:lnTo>
                    <a:pt x="950" y="0"/>
                  </a:lnTo>
                  <a:lnTo>
                    <a:pt x="961" y="42"/>
                  </a:lnTo>
                  <a:lnTo>
                    <a:pt x="973" y="79"/>
                  </a:lnTo>
                  <a:lnTo>
                    <a:pt x="987" y="118"/>
                  </a:lnTo>
                  <a:lnTo>
                    <a:pt x="999" y="159"/>
                  </a:lnTo>
                  <a:lnTo>
                    <a:pt x="1007" y="193"/>
                  </a:lnTo>
                  <a:lnTo>
                    <a:pt x="1004" y="214"/>
                  </a:lnTo>
                  <a:lnTo>
                    <a:pt x="991" y="233"/>
                  </a:lnTo>
                  <a:lnTo>
                    <a:pt x="1027" y="238"/>
                  </a:lnTo>
                  <a:lnTo>
                    <a:pt x="1064" y="244"/>
                  </a:lnTo>
                  <a:lnTo>
                    <a:pt x="1111" y="252"/>
                  </a:lnTo>
                  <a:lnTo>
                    <a:pt x="1162" y="260"/>
                  </a:lnTo>
                  <a:lnTo>
                    <a:pt x="1215" y="270"/>
                  </a:lnTo>
                  <a:lnTo>
                    <a:pt x="1255" y="278"/>
                  </a:lnTo>
                  <a:lnTo>
                    <a:pt x="1298" y="284"/>
                  </a:lnTo>
                  <a:lnTo>
                    <a:pt x="1339" y="288"/>
                  </a:lnTo>
                  <a:lnTo>
                    <a:pt x="1374" y="291"/>
                  </a:lnTo>
                  <a:lnTo>
                    <a:pt x="1401" y="284"/>
                  </a:lnTo>
                  <a:lnTo>
                    <a:pt x="1426" y="271"/>
                  </a:lnTo>
                  <a:lnTo>
                    <a:pt x="1452" y="254"/>
                  </a:lnTo>
                  <a:lnTo>
                    <a:pt x="1510" y="263"/>
                  </a:lnTo>
                  <a:lnTo>
                    <a:pt x="1572" y="278"/>
                  </a:lnTo>
                  <a:lnTo>
                    <a:pt x="1625" y="287"/>
                  </a:lnTo>
                  <a:lnTo>
                    <a:pt x="1593" y="317"/>
                  </a:lnTo>
                  <a:lnTo>
                    <a:pt x="1613" y="324"/>
                  </a:lnTo>
                  <a:lnTo>
                    <a:pt x="1643" y="333"/>
                  </a:lnTo>
                  <a:lnTo>
                    <a:pt x="1675" y="340"/>
                  </a:lnTo>
                  <a:lnTo>
                    <a:pt x="1711" y="345"/>
                  </a:lnTo>
                  <a:lnTo>
                    <a:pt x="1744" y="342"/>
                  </a:lnTo>
                  <a:lnTo>
                    <a:pt x="1779" y="339"/>
                  </a:lnTo>
                  <a:lnTo>
                    <a:pt x="1816" y="332"/>
                  </a:lnTo>
                  <a:lnTo>
                    <a:pt x="1854" y="320"/>
                  </a:lnTo>
                  <a:lnTo>
                    <a:pt x="1888" y="300"/>
                  </a:lnTo>
                  <a:lnTo>
                    <a:pt x="1934" y="270"/>
                  </a:lnTo>
                  <a:lnTo>
                    <a:pt x="1966" y="243"/>
                  </a:lnTo>
                  <a:lnTo>
                    <a:pt x="2009" y="204"/>
                  </a:lnTo>
                  <a:lnTo>
                    <a:pt x="2054" y="159"/>
                  </a:lnTo>
                  <a:lnTo>
                    <a:pt x="2107" y="122"/>
                  </a:lnTo>
                  <a:lnTo>
                    <a:pt x="2151" y="94"/>
                  </a:lnTo>
                  <a:lnTo>
                    <a:pt x="2197" y="71"/>
                  </a:lnTo>
                  <a:lnTo>
                    <a:pt x="2240" y="56"/>
                  </a:lnTo>
                  <a:lnTo>
                    <a:pt x="2293" y="49"/>
                  </a:lnTo>
                  <a:lnTo>
                    <a:pt x="2338" y="52"/>
                  </a:lnTo>
                  <a:lnTo>
                    <a:pt x="2315" y="71"/>
                  </a:lnTo>
                  <a:lnTo>
                    <a:pt x="2299" y="87"/>
                  </a:lnTo>
                  <a:lnTo>
                    <a:pt x="2291" y="100"/>
                  </a:lnTo>
                  <a:lnTo>
                    <a:pt x="2257" y="145"/>
                  </a:lnTo>
                  <a:lnTo>
                    <a:pt x="2231" y="166"/>
                  </a:lnTo>
                  <a:lnTo>
                    <a:pt x="2200" y="189"/>
                  </a:lnTo>
                  <a:lnTo>
                    <a:pt x="2173" y="217"/>
                  </a:lnTo>
                  <a:lnTo>
                    <a:pt x="2151" y="244"/>
                  </a:lnTo>
                  <a:lnTo>
                    <a:pt x="2132" y="271"/>
                  </a:lnTo>
                  <a:lnTo>
                    <a:pt x="2114" y="299"/>
                  </a:lnTo>
                  <a:lnTo>
                    <a:pt x="2100" y="322"/>
                  </a:lnTo>
                  <a:lnTo>
                    <a:pt x="2092" y="347"/>
                  </a:lnTo>
                  <a:lnTo>
                    <a:pt x="2089" y="375"/>
                  </a:lnTo>
                  <a:lnTo>
                    <a:pt x="2100" y="403"/>
                  </a:lnTo>
                  <a:lnTo>
                    <a:pt x="2114" y="434"/>
                  </a:lnTo>
                  <a:lnTo>
                    <a:pt x="2134" y="460"/>
                  </a:lnTo>
                  <a:lnTo>
                    <a:pt x="2157" y="486"/>
                  </a:lnTo>
                  <a:lnTo>
                    <a:pt x="2178" y="507"/>
                  </a:lnTo>
                  <a:lnTo>
                    <a:pt x="2202" y="526"/>
                  </a:lnTo>
                  <a:lnTo>
                    <a:pt x="2227" y="549"/>
                  </a:lnTo>
                  <a:lnTo>
                    <a:pt x="2256" y="571"/>
                  </a:lnTo>
                  <a:lnTo>
                    <a:pt x="2273" y="586"/>
                  </a:lnTo>
                  <a:lnTo>
                    <a:pt x="2291" y="599"/>
                  </a:lnTo>
                  <a:lnTo>
                    <a:pt x="2308" y="610"/>
                  </a:lnTo>
                  <a:lnTo>
                    <a:pt x="2320" y="623"/>
                  </a:lnTo>
                  <a:lnTo>
                    <a:pt x="2293" y="624"/>
                  </a:lnTo>
                  <a:lnTo>
                    <a:pt x="2261" y="624"/>
                  </a:lnTo>
                  <a:lnTo>
                    <a:pt x="2231" y="625"/>
                  </a:lnTo>
                  <a:lnTo>
                    <a:pt x="2205" y="622"/>
                  </a:lnTo>
                  <a:lnTo>
                    <a:pt x="2173" y="618"/>
                  </a:lnTo>
                  <a:lnTo>
                    <a:pt x="2149" y="611"/>
                  </a:lnTo>
                  <a:lnTo>
                    <a:pt x="2126" y="603"/>
                  </a:lnTo>
                  <a:lnTo>
                    <a:pt x="2103" y="593"/>
                  </a:lnTo>
                  <a:lnTo>
                    <a:pt x="2076" y="581"/>
                  </a:lnTo>
                  <a:lnTo>
                    <a:pt x="2052" y="567"/>
                  </a:lnTo>
                  <a:lnTo>
                    <a:pt x="2006" y="537"/>
                  </a:lnTo>
                  <a:lnTo>
                    <a:pt x="1974" y="518"/>
                  </a:lnTo>
                  <a:lnTo>
                    <a:pt x="1929" y="494"/>
                  </a:lnTo>
                  <a:lnTo>
                    <a:pt x="1886" y="488"/>
                  </a:lnTo>
                  <a:lnTo>
                    <a:pt x="1840" y="490"/>
                  </a:lnTo>
                  <a:lnTo>
                    <a:pt x="1779" y="483"/>
                  </a:lnTo>
                  <a:lnTo>
                    <a:pt x="1722" y="490"/>
                  </a:lnTo>
                  <a:lnTo>
                    <a:pt x="1660" y="492"/>
                  </a:lnTo>
                  <a:lnTo>
                    <a:pt x="1596" y="503"/>
                  </a:lnTo>
                  <a:lnTo>
                    <a:pt x="1529" y="518"/>
                  </a:lnTo>
                  <a:lnTo>
                    <a:pt x="1489" y="533"/>
                  </a:lnTo>
                  <a:lnTo>
                    <a:pt x="1481" y="546"/>
                  </a:lnTo>
                  <a:lnTo>
                    <a:pt x="1489" y="559"/>
                  </a:lnTo>
                  <a:lnTo>
                    <a:pt x="1521" y="578"/>
                  </a:lnTo>
                  <a:lnTo>
                    <a:pt x="1443" y="596"/>
                  </a:lnTo>
                  <a:lnTo>
                    <a:pt x="1333" y="623"/>
                  </a:lnTo>
                  <a:lnTo>
                    <a:pt x="1309" y="604"/>
                  </a:lnTo>
                  <a:lnTo>
                    <a:pt x="1279" y="592"/>
                  </a:lnTo>
                  <a:lnTo>
                    <a:pt x="1250" y="584"/>
                  </a:lnTo>
                  <a:lnTo>
                    <a:pt x="1204" y="583"/>
                  </a:lnTo>
                  <a:lnTo>
                    <a:pt x="1143" y="633"/>
                  </a:lnTo>
                  <a:lnTo>
                    <a:pt x="1092" y="596"/>
                  </a:lnTo>
                  <a:lnTo>
                    <a:pt x="709" y="646"/>
                  </a:lnTo>
                  <a:lnTo>
                    <a:pt x="633" y="649"/>
                  </a:lnTo>
                  <a:lnTo>
                    <a:pt x="562" y="644"/>
                  </a:lnTo>
                  <a:lnTo>
                    <a:pt x="489" y="638"/>
                  </a:lnTo>
                  <a:lnTo>
                    <a:pt x="341" y="621"/>
                  </a:lnTo>
                  <a:lnTo>
                    <a:pt x="208" y="589"/>
                  </a:lnTo>
                  <a:lnTo>
                    <a:pt x="135" y="564"/>
                  </a:lnTo>
                  <a:lnTo>
                    <a:pt x="84" y="540"/>
                  </a:lnTo>
                  <a:lnTo>
                    <a:pt x="138" y="530"/>
                  </a:lnTo>
                  <a:lnTo>
                    <a:pt x="105" y="512"/>
                  </a:lnTo>
                  <a:lnTo>
                    <a:pt x="84" y="498"/>
                  </a:lnTo>
                  <a:lnTo>
                    <a:pt x="47" y="468"/>
                  </a:lnTo>
                  <a:lnTo>
                    <a:pt x="38" y="460"/>
                  </a:lnTo>
                  <a:lnTo>
                    <a:pt x="27" y="448"/>
                  </a:lnTo>
                  <a:lnTo>
                    <a:pt x="19" y="439"/>
                  </a:lnTo>
                  <a:lnTo>
                    <a:pt x="13" y="424"/>
                  </a:lnTo>
                  <a:lnTo>
                    <a:pt x="5" y="414"/>
                  </a:lnTo>
                  <a:lnTo>
                    <a:pt x="0" y="402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42" name="Group 639"/>
            <p:cNvGrpSpPr>
              <a:grpSpLocks/>
            </p:cNvGrpSpPr>
            <p:nvPr/>
          </p:nvGrpSpPr>
          <p:grpSpPr bwMode="auto">
            <a:xfrm>
              <a:off x="441" y="2196"/>
              <a:ext cx="57" cy="51"/>
              <a:chOff x="360" y="2380"/>
              <a:chExt cx="57" cy="51"/>
            </a:xfrm>
          </p:grpSpPr>
          <p:sp>
            <p:nvSpPr>
              <p:cNvPr id="8271" name="Oval 640" descr="50%"/>
              <p:cNvSpPr>
                <a:spLocks noChangeArrowheads="1"/>
              </p:cNvSpPr>
              <p:nvPr/>
            </p:nvSpPr>
            <p:spPr bwMode="auto">
              <a:xfrm>
                <a:off x="360" y="2380"/>
                <a:ext cx="57" cy="51"/>
              </a:xfrm>
              <a:prstGeom prst="ellipse">
                <a:avLst/>
              </a:pr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72" name="Arc 641" descr="50%"/>
              <p:cNvSpPr>
                <a:spLocks/>
              </p:cNvSpPr>
              <p:nvPr/>
            </p:nvSpPr>
            <p:spPr bwMode="auto">
              <a:xfrm>
                <a:off x="371" y="2386"/>
                <a:ext cx="42" cy="38"/>
              </a:xfrm>
              <a:custGeom>
                <a:avLst/>
                <a:gdLst>
                  <a:gd name="T0" fmla="*/ 35 w 43200"/>
                  <a:gd name="T1" fmla="*/ 5 h 42819"/>
                  <a:gd name="T2" fmla="*/ 17 w 43200"/>
                  <a:gd name="T3" fmla="*/ 0 h 42819"/>
                  <a:gd name="T4" fmla="*/ 21 w 43200"/>
                  <a:gd name="T5" fmla="*/ 19 h 428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2819" fill="none" extrusionOk="0">
                    <a:moveTo>
                      <a:pt x="36091" y="5202"/>
                    </a:moveTo>
                    <a:cubicBezTo>
                      <a:pt x="40617" y="9296"/>
                      <a:pt x="43200" y="15115"/>
                      <a:pt x="43200" y="21219"/>
                    </a:cubicBezTo>
                    <a:cubicBezTo>
                      <a:pt x="43200" y="33148"/>
                      <a:pt x="33529" y="42819"/>
                      <a:pt x="21600" y="42819"/>
                    </a:cubicBezTo>
                    <a:cubicBezTo>
                      <a:pt x="9670" y="42819"/>
                      <a:pt x="0" y="33148"/>
                      <a:pt x="0" y="21219"/>
                    </a:cubicBezTo>
                    <a:cubicBezTo>
                      <a:pt x="-1" y="10848"/>
                      <a:pt x="7370" y="1941"/>
                      <a:pt x="17558" y="0"/>
                    </a:cubicBezTo>
                  </a:path>
                  <a:path w="43200" h="42819" stroke="0" extrusionOk="0">
                    <a:moveTo>
                      <a:pt x="36091" y="5202"/>
                    </a:moveTo>
                    <a:cubicBezTo>
                      <a:pt x="40617" y="9296"/>
                      <a:pt x="43200" y="15115"/>
                      <a:pt x="43200" y="21219"/>
                    </a:cubicBezTo>
                    <a:cubicBezTo>
                      <a:pt x="43200" y="33148"/>
                      <a:pt x="33529" y="42819"/>
                      <a:pt x="21600" y="42819"/>
                    </a:cubicBezTo>
                    <a:cubicBezTo>
                      <a:pt x="9670" y="42819"/>
                      <a:pt x="0" y="33148"/>
                      <a:pt x="0" y="21219"/>
                    </a:cubicBezTo>
                    <a:cubicBezTo>
                      <a:pt x="-1" y="10848"/>
                      <a:pt x="7370" y="1941"/>
                      <a:pt x="17558" y="0"/>
                    </a:cubicBezTo>
                    <a:lnTo>
                      <a:pt x="21600" y="21219"/>
                    </a:lnTo>
                    <a:lnTo>
                      <a:pt x="36091" y="5202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243" name="Group 642"/>
            <p:cNvGrpSpPr>
              <a:grpSpLocks/>
            </p:cNvGrpSpPr>
            <p:nvPr/>
          </p:nvGrpSpPr>
          <p:grpSpPr bwMode="auto">
            <a:xfrm>
              <a:off x="584" y="2246"/>
              <a:ext cx="153" cy="114"/>
              <a:chOff x="503" y="2430"/>
              <a:chExt cx="153" cy="114"/>
            </a:xfrm>
          </p:grpSpPr>
          <p:sp>
            <p:nvSpPr>
              <p:cNvPr id="8266" name="Arc 643" descr="50%"/>
              <p:cNvSpPr>
                <a:spLocks/>
              </p:cNvSpPr>
              <p:nvPr/>
            </p:nvSpPr>
            <p:spPr bwMode="auto">
              <a:xfrm>
                <a:off x="535" y="2430"/>
                <a:ext cx="22" cy="114"/>
              </a:xfrm>
              <a:custGeom>
                <a:avLst/>
                <a:gdLst>
                  <a:gd name="T0" fmla="*/ 2 w 25027"/>
                  <a:gd name="T1" fmla="*/ 0 h 43200"/>
                  <a:gd name="T2" fmla="*/ 0 w 25027"/>
                  <a:gd name="T3" fmla="*/ 113 h 43200"/>
                  <a:gd name="T4" fmla="*/ 3 w 25027"/>
                  <a:gd name="T5" fmla="*/ 5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027" h="43200" fill="none" extrusionOk="0">
                    <a:moveTo>
                      <a:pt x="2291" y="29"/>
                    </a:moveTo>
                    <a:cubicBezTo>
                      <a:pt x="2670" y="9"/>
                      <a:pt x="3048" y="-1"/>
                      <a:pt x="3427" y="0"/>
                    </a:cubicBezTo>
                    <a:cubicBezTo>
                      <a:pt x="15356" y="0"/>
                      <a:pt x="25027" y="9670"/>
                      <a:pt x="25027" y="21600"/>
                    </a:cubicBezTo>
                    <a:cubicBezTo>
                      <a:pt x="25027" y="33529"/>
                      <a:pt x="15356" y="43200"/>
                      <a:pt x="3427" y="43200"/>
                    </a:cubicBezTo>
                    <a:cubicBezTo>
                      <a:pt x="2279" y="43200"/>
                      <a:pt x="1133" y="43108"/>
                      <a:pt x="-1" y="42926"/>
                    </a:cubicBezTo>
                  </a:path>
                  <a:path w="25027" h="43200" stroke="0" extrusionOk="0">
                    <a:moveTo>
                      <a:pt x="2291" y="29"/>
                    </a:moveTo>
                    <a:cubicBezTo>
                      <a:pt x="2670" y="9"/>
                      <a:pt x="3048" y="-1"/>
                      <a:pt x="3427" y="0"/>
                    </a:cubicBezTo>
                    <a:cubicBezTo>
                      <a:pt x="15356" y="0"/>
                      <a:pt x="25027" y="9670"/>
                      <a:pt x="25027" y="21600"/>
                    </a:cubicBezTo>
                    <a:cubicBezTo>
                      <a:pt x="25027" y="33529"/>
                      <a:pt x="15356" y="43200"/>
                      <a:pt x="3427" y="43200"/>
                    </a:cubicBezTo>
                    <a:cubicBezTo>
                      <a:pt x="2279" y="43200"/>
                      <a:pt x="1133" y="43108"/>
                      <a:pt x="-1" y="42926"/>
                    </a:cubicBezTo>
                    <a:lnTo>
                      <a:pt x="3427" y="21600"/>
                    </a:lnTo>
                    <a:lnTo>
                      <a:pt x="2291" y="29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67" name="Arc 644" descr="50%"/>
              <p:cNvSpPr>
                <a:spLocks/>
              </p:cNvSpPr>
              <p:nvPr/>
            </p:nvSpPr>
            <p:spPr bwMode="auto">
              <a:xfrm>
                <a:off x="503" y="2430"/>
                <a:ext cx="26" cy="114"/>
              </a:xfrm>
              <a:custGeom>
                <a:avLst/>
                <a:gdLst>
                  <a:gd name="T0" fmla="*/ 5 w 27870"/>
                  <a:gd name="T1" fmla="*/ 0 h 43200"/>
                  <a:gd name="T2" fmla="*/ 0 w 27870"/>
                  <a:gd name="T3" fmla="*/ 112 h 43200"/>
                  <a:gd name="T4" fmla="*/ 6 w 27870"/>
                  <a:gd name="T5" fmla="*/ 5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870" h="43200" fill="none" extrusionOk="0">
                    <a:moveTo>
                      <a:pt x="5217" y="25"/>
                    </a:moveTo>
                    <a:cubicBezTo>
                      <a:pt x="5568" y="8"/>
                      <a:pt x="5919" y="-1"/>
                      <a:pt x="6270" y="0"/>
                    </a:cubicBezTo>
                    <a:cubicBezTo>
                      <a:pt x="18199" y="0"/>
                      <a:pt x="27870" y="9670"/>
                      <a:pt x="27870" y="21600"/>
                    </a:cubicBezTo>
                    <a:cubicBezTo>
                      <a:pt x="27870" y="33529"/>
                      <a:pt x="18199" y="43200"/>
                      <a:pt x="6270" y="43200"/>
                    </a:cubicBezTo>
                    <a:cubicBezTo>
                      <a:pt x="4145" y="43200"/>
                      <a:pt x="2032" y="42886"/>
                      <a:pt x="0" y="42269"/>
                    </a:cubicBezTo>
                  </a:path>
                  <a:path w="27870" h="43200" stroke="0" extrusionOk="0">
                    <a:moveTo>
                      <a:pt x="5217" y="25"/>
                    </a:moveTo>
                    <a:cubicBezTo>
                      <a:pt x="5568" y="8"/>
                      <a:pt x="5919" y="-1"/>
                      <a:pt x="6270" y="0"/>
                    </a:cubicBezTo>
                    <a:cubicBezTo>
                      <a:pt x="18199" y="0"/>
                      <a:pt x="27870" y="9670"/>
                      <a:pt x="27870" y="21600"/>
                    </a:cubicBezTo>
                    <a:cubicBezTo>
                      <a:pt x="27870" y="33529"/>
                      <a:pt x="18199" y="43200"/>
                      <a:pt x="6270" y="43200"/>
                    </a:cubicBezTo>
                    <a:cubicBezTo>
                      <a:pt x="4145" y="43200"/>
                      <a:pt x="2032" y="42886"/>
                      <a:pt x="0" y="42269"/>
                    </a:cubicBezTo>
                    <a:lnTo>
                      <a:pt x="6270" y="21600"/>
                    </a:lnTo>
                    <a:lnTo>
                      <a:pt x="5217" y="25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68" name="Arc 645" descr="50%"/>
              <p:cNvSpPr>
                <a:spLocks/>
              </p:cNvSpPr>
              <p:nvPr/>
            </p:nvSpPr>
            <p:spPr bwMode="auto">
              <a:xfrm>
                <a:off x="567" y="2430"/>
                <a:ext cx="23" cy="114"/>
              </a:xfrm>
              <a:custGeom>
                <a:avLst/>
                <a:gdLst>
                  <a:gd name="T0" fmla="*/ 2 w 24942"/>
                  <a:gd name="T1" fmla="*/ 0 h 43200"/>
                  <a:gd name="T2" fmla="*/ 0 w 24942"/>
                  <a:gd name="T3" fmla="*/ 113 h 43200"/>
                  <a:gd name="T4" fmla="*/ 3 w 24942"/>
                  <a:gd name="T5" fmla="*/ 5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942" h="43200" fill="none" extrusionOk="0">
                    <a:moveTo>
                      <a:pt x="2236" y="28"/>
                    </a:moveTo>
                    <a:cubicBezTo>
                      <a:pt x="2604" y="9"/>
                      <a:pt x="2973" y="-1"/>
                      <a:pt x="3342" y="0"/>
                    </a:cubicBezTo>
                    <a:cubicBezTo>
                      <a:pt x="15271" y="0"/>
                      <a:pt x="24942" y="9670"/>
                      <a:pt x="24942" y="21600"/>
                    </a:cubicBezTo>
                    <a:cubicBezTo>
                      <a:pt x="24942" y="33529"/>
                      <a:pt x="15271" y="43200"/>
                      <a:pt x="3342" y="43200"/>
                    </a:cubicBezTo>
                    <a:cubicBezTo>
                      <a:pt x="2222" y="43200"/>
                      <a:pt x="1105" y="43113"/>
                      <a:pt x="0" y="42939"/>
                    </a:cubicBezTo>
                  </a:path>
                  <a:path w="24942" h="43200" stroke="0" extrusionOk="0">
                    <a:moveTo>
                      <a:pt x="2236" y="28"/>
                    </a:moveTo>
                    <a:cubicBezTo>
                      <a:pt x="2604" y="9"/>
                      <a:pt x="2973" y="-1"/>
                      <a:pt x="3342" y="0"/>
                    </a:cubicBezTo>
                    <a:cubicBezTo>
                      <a:pt x="15271" y="0"/>
                      <a:pt x="24942" y="9670"/>
                      <a:pt x="24942" y="21600"/>
                    </a:cubicBezTo>
                    <a:cubicBezTo>
                      <a:pt x="24942" y="33529"/>
                      <a:pt x="15271" y="43200"/>
                      <a:pt x="3342" y="43200"/>
                    </a:cubicBezTo>
                    <a:cubicBezTo>
                      <a:pt x="2222" y="43200"/>
                      <a:pt x="1105" y="43113"/>
                      <a:pt x="0" y="42939"/>
                    </a:cubicBezTo>
                    <a:lnTo>
                      <a:pt x="3342" y="21600"/>
                    </a:lnTo>
                    <a:lnTo>
                      <a:pt x="2236" y="2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69" name="Arc 646" descr="50%"/>
              <p:cNvSpPr>
                <a:spLocks/>
              </p:cNvSpPr>
              <p:nvPr/>
            </p:nvSpPr>
            <p:spPr bwMode="auto">
              <a:xfrm>
                <a:off x="598" y="2430"/>
                <a:ext cx="23" cy="114"/>
              </a:xfrm>
              <a:custGeom>
                <a:avLst/>
                <a:gdLst>
                  <a:gd name="T0" fmla="*/ 2 w 24942"/>
                  <a:gd name="T1" fmla="*/ 0 h 43200"/>
                  <a:gd name="T2" fmla="*/ 0 w 24942"/>
                  <a:gd name="T3" fmla="*/ 113 h 43200"/>
                  <a:gd name="T4" fmla="*/ 3 w 24942"/>
                  <a:gd name="T5" fmla="*/ 5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942" h="43200" fill="none" extrusionOk="0">
                    <a:moveTo>
                      <a:pt x="2236" y="28"/>
                    </a:moveTo>
                    <a:cubicBezTo>
                      <a:pt x="2604" y="9"/>
                      <a:pt x="2973" y="-1"/>
                      <a:pt x="3342" y="0"/>
                    </a:cubicBezTo>
                    <a:cubicBezTo>
                      <a:pt x="15271" y="0"/>
                      <a:pt x="24942" y="9670"/>
                      <a:pt x="24942" y="21600"/>
                    </a:cubicBezTo>
                    <a:cubicBezTo>
                      <a:pt x="24942" y="33529"/>
                      <a:pt x="15271" y="43200"/>
                      <a:pt x="3342" y="43200"/>
                    </a:cubicBezTo>
                    <a:cubicBezTo>
                      <a:pt x="2222" y="43200"/>
                      <a:pt x="1105" y="43113"/>
                      <a:pt x="0" y="42939"/>
                    </a:cubicBezTo>
                  </a:path>
                  <a:path w="24942" h="43200" stroke="0" extrusionOk="0">
                    <a:moveTo>
                      <a:pt x="2236" y="28"/>
                    </a:moveTo>
                    <a:cubicBezTo>
                      <a:pt x="2604" y="9"/>
                      <a:pt x="2973" y="-1"/>
                      <a:pt x="3342" y="0"/>
                    </a:cubicBezTo>
                    <a:cubicBezTo>
                      <a:pt x="15271" y="0"/>
                      <a:pt x="24942" y="9670"/>
                      <a:pt x="24942" y="21600"/>
                    </a:cubicBezTo>
                    <a:cubicBezTo>
                      <a:pt x="24942" y="33529"/>
                      <a:pt x="15271" y="43200"/>
                      <a:pt x="3342" y="43200"/>
                    </a:cubicBezTo>
                    <a:cubicBezTo>
                      <a:pt x="2222" y="43200"/>
                      <a:pt x="1105" y="43113"/>
                      <a:pt x="0" y="42939"/>
                    </a:cubicBezTo>
                    <a:lnTo>
                      <a:pt x="3342" y="21600"/>
                    </a:lnTo>
                    <a:lnTo>
                      <a:pt x="2236" y="2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70" name="Arc 647" descr="50%"/>
              <p:cNvSpPr>
                <a:spLocks/>
              </p:cNvSpPr>
              <p:nvPr/>
            </p:nvSpPr>
            <p:spPr bwMode="auto">
              <a:xfrm>
                <a:off x="633" y="2430"/>
                <a:ext cx="23" cy="114"/>
              </a:xfrm>
              <a:custGeom>
                <a:avLst/>
                <a:gdLst>
                  <a:gd name="T0" fmla="*/ 2 w 24942"/>
                  <a:gd name="T1" fmla="*/ 0 h 43200"/>
                  <a:gd name="T2" fmla="*/ 0 w 24942"/>
                  <a:gd name="T3" fmla="*/ 113 h 43200"/>
                  <a:gd name="T4" fmla="*/ 3 w 24942"/>
                  <a:gd name="T5" fmla="*/ 5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942" h="43200" fill="none" extrusionOk="0">
                    <a:moveTo>
                      <a:pt x="2236" y="28"/>
                    </a:moveTo>
                    <a:cubicBezTo>
                      <a:pt x="2604" y="9"/>
                      <a:pt x="2973" y="-1"/>
                      <a:pt x="3342" y="0"/>
                    </a:cubicBezTo>
                    <a:cubicBezTo>
                      <a:pt x="15271" y="0"/>
                      <a:pt x="24942" y="9670"/>
                      <a:pt x="24942" y="21600"/>
                    </a:cubicBezTo>
                    <a:cubicBezTo>
                      <a:pt x="24942" y="33529"/>
                      <a:pt x="15271" y="43200"/>
                      <a:pt x="3342" y="43200"/>
                    </a:cubicBezTo>
                    <a:cubicBezTo>
                      <a:pt x="2222" y="43200"/>
                      <a:pt x="1105" y="43113"/>
                      <a:pt x="0" y="42939"/>
                    </a:cubicBezTo>
                  </a:path>
                  <a:path w="24942" h="43200" stroke="0" extrusionOk="0">
                    <a:moveTo>
                      <a:pt x="2236" y="28"/>
                    </a:moveTo>
                    <a:cubicBezTo>
                      <a:pt x="2604" y="9"/>
                      <a:pt x="2973" y="-1"/>
                      <a:pt x="3342" y="0"/>
                    </a:cubicBezTo>
                    <a:cubicBezTo>
                      <a:pt x="15271" y="0"/>
                      <a:pt x="24942" y="9670"/>
                      <a:pt x="24942" y="21600"/>
                    </a:cubicBezTo>
                    <a:cubicBezTo>
                      <a:pt x="24942" y="33529"/>
                      <a:pt x="15271" y="43200"/>
                      <a:pt x="3342" y="43200"/>
                    </a:cubicBezTo>
                    <a:cubicBezTo>
                      <a:pt x="2222" y="43200"/>
                      <a:pt x="1105" y="43113"/>
                      <a:pt x="0" y="42939"/>
                    </a:cubicBezTo>
                    <a:lnTo>
                      <a:pt x="3342" y="21600"/>
                    </a:lnTo>
                    <a:lnTo>
                      <a:pt x="2236" y="2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8244" name="Freeform 648" descr="50%"/>
            <p:cNvSpPr>
              <a:spLocks/>
            </p:cNvSpPr>
            <p:nvPr/>
          </p:nvSpPr>
          <p:spPr bwMode="auto">
            <a:xfrm>
              <a:off x="246" y="1784"/>
              <a:ext cx="2322" cy="434"/>
            </a:xfrm>
            <a:custGeom>
              <a:avLst/>
              <a:gdLst>
                <a:gd name="T0" fmla="*/ 50 w 2322"/>
                <a:gd name="T1" fmla="*/ 367 h 434"/>
                <a:gd name="T2" fmla="*/ 158 w 2322"/>
                <a:gd name="T3" fmla="*/ 331 h 434"/>
                <a:gd name="T4" fmla="*/ 312 w 2322"/>
                <a:gd name="T5" fmla="*/ 297 h 434"/>
                <a:gd name="T6" fmla="*/ 467 w 2322"/>
                <a:gd name="T7" fmla="*/ 271 h 434"/>
                <a:gd name="T8" fmla="*/ 614 w 2322"/>
                <a:gd name="T9" fmla="*/ 245 h 434"/>
                <a:gd name="T10" fmla="*/ 699 w 2322"/>
                <a:gd name="T11" fmla="*/ 208 h 434"/>
                <a:gd name="T12" fmla="*/ 775 w 2322"/>
                <a:gd name="T13" fmla="*/ 135 h 434"/>
                <a:gd name="T14" fmla="*/ 886 w 2322"/>
                <a:gd name="T15" fmla="*/ 40 h 434"/>
                <a:gd name="T16" fmla="*/ 965 w 2322"/>
                <a:gd name="T17" fmla="*/ 77 h 434"/>
                <a:gd name="T18" fmla="*/ 998 w 2322"/>
                <a:gd name="T19" fmla="*/ 187 h 434"/>
                <a:gd name="T20" fmla="*/ 1057 w 2322"/>
                <a:gd name="T21" fmla="*/ 237 h 434"/>
                <a:gd name="T22" fmla="*/ 1248 w 2322"/>
                <a:gd name="T23" fmla="*/ 270 h 434"/>
                <a:gd name="T24" fmla="*/ 1393 w 2322"/>
                <a:gd name="T25" fmla="*/ 275 h 434"/>
                <a:gd name="T26" fmla="*/ 1564 w 2322"/>
                <a:gd name="T27" fmla="*/ 270 h 434"/>
                <a:gd name="T28" fmla="*/ 1634 w 2322"/>
                <a:gd name="T29" fmla="*/ 324 h 434"/>
                <a:gd name="T30" fmla="*/ 1770 w 2322"/>
                <a:gd name="T31" fmla="*/ 331 h 434"/>
                <a:gd name="T32" fmla="*/ 1925 w 2322"/>
                <a:gd name="T33" fmla="*/ 262 h 434"/>
                <a:gd name="T34" fmla="*/ 2047 w 2322"/>
                <a:gd name="T35" fmla="*/ 152 h 434"/>
                <a:gd name="T36" fmla="*/ 2144 w 2322"/>
                <a:gd name="T37" fmla="*/ 87 h 434"/>
                <a:gd name="T38" fmla="*/ 2229 w 2322"/>
                <a:gd name="T39" fmla="*/ 52 h 434"/>
                <a:gd name="T40" fmla="*/ 2304 w 2322"/>
                <a:gd name="T41" fmla="*/ 60 h 434"/>
                <a:gd name="T42" fmla="*/ 2244 w 2322"/>
                <a:gd name="T43" fmla="*/ 136 h 434"/>
                <a:gd name="T44" fmla="*/ 2165 w 2322"/>
                <a:gd name="T45" fmla="*/ 202 h 434"/>
                <a:gd name="T46" fmla="*/ 2120 w 2322"/>
                <a:gd name="T47" fmla="*/ 258 h 434"/>
                <a:gd name="T48" fmla="*/ 2087 w 2322"/>
                <a:gd name="T49" fmla="*/ 309 h 434"/>
                <a:gd name="T50" fmla="*/ 2076 w 2322"/>
                <a:gd name="T51" fmla="*/ 363 h 434"/>
                <a:gd name="T52" fmla="*/ 2011 w 2322"/>
                <a:gd name="T53" fmla="*/ 353 h 434"/>
                <a:gd name="T54" fmla="*/ 1952 w 2322"/>
                <a:gd name="T55" fmla="*/ 371 h 434"/>
                <a:gd name="T56" fmla="*/ 1883 w 2322"/>
                <a:gd name="T57" fmla="*/ 363 h 434"/>
                <a:gd name="T58" fmla="*/ 1807 w 2322"/>
                <a:gd name="T59" fmla="*/ 367 h 434"/>
                <a:gd name="T60" fmla="*/ 1728 w 2322"/>
                <a:gd name="T61" fmla="*/ 360 h 434"/>
                <a:gd name="T62" fmla="*/ 1640 w 2322"/>
                <a:gd name="T63" fmla="*/ 365 h 434"/>
                <a:gd name="T64" fmla="*/ 1548 w 2322"/>
                <a:gd name="T65" fmla="*/ 379 h 434"/>
                <a:gd name="T66" fmla="*/ 1460 w 2322"/>
                <a:gd name="T67" fmla="*/ 381 h 434"/>
                <a:gd name="T68" fmla="*/ 1373 w 2322"/>
                <a:gd name="T69" fmla="*/ 383 h 434"/>
                <a:gd name="T70" fmla="*/ 1292 w 2322"/>
                <a:gd name="T71" fmla="*/ 391 h 434"/>
                <a:gd name="T72" fmla="*/ 1207 w 2322"/>
                <a:gd name="T73" fmla="*/ 410 h 434"/>
                <a:gd name="T74" fmla="*/ 1105 w 2322"/>
                <a:gd name="T75" fmla="*/ 409 h 434"/>
                <a:gd name="T76" fmla="*/ 1016 w 2322"/>
                <a:gd name="T77" fmla="*/ 415 h 434"/>
                <a:gd name="T78" fmla="*/ 927 w 2322"/>
                <a:gd name="T79" fmla="*/ 400 h 434"/>
                <a:gd name="T80" fmla="*/ 842 w 2322"/>
                <a:gd name="T81" fmla="*/ 409 h 434"/>
                <a:gd name="T82" fmla="*/ 772 w 2322"/>
                <a:gd name="T83" fmla="*/ 399 h 434"/>
                <a:gd name="T84" fmla="*/ 686 w 2322"/>
                <a:gd name="T85" fmla="*/ 409 h 434"/>
                <a:gd name="T86" fmla="*/ 594 w 2322"/>
                <a:gd name="T87" fmla="*/ 414 h 434"/>
                <a:gd name="T88" fmla="*/ 477 w 2322"/>
                <a:gd name="T89" fmla="*/ 433 h 434"/>
                <a:gd name="T90" fmla="*/ 340 w 2322"/>
                <a:gd name="T91" fmla="*/ 433 h 434"/>
                <a:gd name="T92" fmla="*/ 228 w 2322"/>
                <a:gd name="T93" fmla="*/ 417 h 434"/>
                <a:gd name="T94" fmla="*/ 124 w 2322"/>
                <a:gd name="T95" fmla="*/ 421 h 434"/>
                <a:gd name="T96" fmla="*/ 24 w 2322"/>
                <a:gd name="T97" fmla="*/ 401 h 43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322" h="434">
                  <a:moveTo>
                    <a:pt x="0" y="390"/>
                  </a:moveTo>
                  <a:lnTo>
                    <a:pt x="13" y="382"/>
                  </a:lnTo>
                  <a:lnTo>
                    <a:pt x="31" y="374"/>
                  </a:lnTo>
                  <a:lnTo>
                    <a:pt x="50" y="367"/>
                  </a:lnTo>
                  <a:lnTo>
                    <a:pt x="70" y="359"/>
                  </a:lnTo>
                  <a:lnTo>
                    <a:pt x="94" y="351"/>
                  </a:lnTo>
                  <a:lnTo>
                    <a:pt x="129" y="341"/>
                  </a:lnTo>
                  <a:lnTo>
                    <a:pt x="158" y="331"/>
                  </a:lnTo>
                  <a:lnTo>
                    <a:pt x="194" y="321"/>
                  </a:lnTo>
                  <a:lnTo>
                    <a:pt x="233" y="312"/>
                  </a:lnTo>
                  <a:lnTo>
                    <a:pt x="272" y="304"/>
                  </a:lnTo>
                  <a:lnTo>
                    <a:pt x="312" y="297"/>
                  </a:lnTo>
                  <a:lnTo>
                    <a:pt x="351" y="291"/>
                  </a:lnTo>
                  <a:lnTo>
                    <a:pt x="390" y="285"/>
                  </a:lnTo>
                  <a:lnTo>
                    <a:pt x="428" y="278"/>
                  </a:lnTo>
                  <a:lnTo>
                    <a:pt x="467" y="271"/>
                  </a:lnTo>
                  <a:lnTo>
                    <a:pt x="497" y="265"/>
                  </a:lnTo>
                  <a:lnTo>
                    <a:pt x="541" y="257"/>
                  </a:lnTo>
                  <a:lnTo>
                    <a:pt x="579" y="251"/>
                  </a:lnTo>
                  <a:lnTo>
                    <a:pt x="614" y="245"/>
                  </a:lnTo>
                  <a:lnTo>
                    <a:pt x="640" y="239"/>
                  </a:lnTo>
                  <a:lnTo>
                    <a:pt x="664" y="231"/>
                  </a:lnTo>
                  <a:lnTo>
                    <a:pt x="685" y="219"/>
                  </a:lnTo>
                  <a:lnTo>
                    <a:pt x="699" y="208"/>
                  </a:lnTo>
                  <a:lnTo>
                    <a:pt x="714" y="194"/>
                  </a:lnTo>
                  <a:lnTo>
                    <a:pt x="729" y="178"/>
                  </a:lnTo>
                  <a:lnTo>
                    <a:pt x="752" y="155"/>
                  </a:lnTo>
                  <a:lnTo>
                    <a:pt x="775" y="135"/>
                  </a:lnTo>
                  <a:lnTo>
                    <a:pt x="801" y="110"/>
                  </a:lnTo>
                  <a:lnTo>
                    <a:pt x="828" y="87"/>
                  </a:lnTo>
                  <a:lnTo>
                    <a:pt x="854" y="62"/>
                  </a:lnTo>
                  <a:lnTo>
                    <a:pt x="886" y="40"/>
                  </a:lnTo>
                  <a:lnTo>
                    <a:pt x="916" y="17"/>
                  </a:lnTo>
                  <a:lnTo>
                    <a:pt x="941" y="0"/>
                  </a:lnTo>
                  <a:lnTo>
                    <a:pt x="951" y="36"/>
                  </a:lnTo>
                  <a:lnTo>
                    <a:pt x="965" y="77"/>
                  </a:lnTo>
                  <a:lnTo>
                    <a:pt x="979" y="115"/>
                  </a:lnTo>
                  <a:lnTo>
                    <a:pt x="990" y="152"/>
                  </a:lnTo>
                  <a:lnTo>
                    <a:pt x="995" y="170"/>
                  </a:lnTo>
                  <a:lnTo>
                    <a:pt x="998" y="187"/>
                  </a:lnTo>
                  <a:lnTo>
                    <a:pt x="995" y="204"/>
                  </a:lnTo>
                  <a:lnTo>
                    <a:pt x="979" y="224"/>
                  </a:lnTo>
                  <a:lnTo>
                    <a:pt x="1019" y="232"/>
                  </a:lnTo>
                  <a:lnTo>
                    <a:pt x="1057" y="237"/>
                  </a:lnTo>
                  <a:lnTo>
                    <a:pt x="1104" y="245"/>
                  </a:lnTo>
                  <a:lnTo>
                    <a:pt x="1156" y="253"/>
                  </a:lnTo>
                  <a:lnTo>
                    <a:pt x="1208" y="263"/>
                  </a:lnTo>
                  <a:lnTo>
                    <a:pt x="1248" y="270"/>
                  </a:lnTo>
                  <a:lnTo>
                    <a:pt x="1291" y="275"/>
                  </a:lnTo>
                  <a:lnTo>
                    <a:pt x="1331" y="280"/>
                  </a:lnTo>
                  <a:lnTo>
                    <a:pt x="1364" y="283"/>
                  </a:lnTo>
                  <a:lnTo>
                    <a:pt x="1393" y="275"/>
                  </a:lnTo>
                  <a:lnTo>
                    <a:pt x="1419" y="263"/>
                  </a:lnTo>
                  <a:lnTo>
                    <a:pt x="1444" y="246"/>
                  </a:lnTo>
                  <a:lnTo>
                    <a:pt x="1501" y="255"/>
                  </a:lnTo>
                  <a:lnTo>
                    <a:pt x="1564" y="270"/>
                  </a:lnTo>
                  <a:lnTo>
                    <a:pt x="1610" y="279"/>
                  </a:lnTo>
                  <a:lnTo>
                    <a:pt x="1582" y="306"/>
                  </a:lnTo>
                  <a:lnTo>
                    <a:pt x="1603" y="315"/>
                  </a:lnTo>
                  <a:lnTo>
                    <a:pt x="1634" y="324"/>
                  </a:lnTo>
                  <a:lnTo>
                    <a:pt x="1666" y="331"/>
                  </a:lnTo>
                  <a:lnTo>
                    <a:pt x="1702" y="336"/>
                  </a:lnTo>
                  <a:lnTo>
                    <a:pt x="1734" y="333"/>
                  </a:lnTo>
                  <a:lnTo>
                    <a:pt x="1770" y="331"/>
                  </a:lnTo>
                  <a:lnTo>
                    <a:pt x="1805" y="324"/>
                  </a:lnTo>
                  <a:lnTo>
                    <a:pt x="1845" y="312"/>
                  </a:lnTo>
                  <a:lnTo>
                    <a:pt x="1881" y="291"/>
                  </a:lnTo>
                  <a:lnTo>
                    <a:pt x="1925" y="262"/>
                  </a:lnTo>
                  <a:lnTo>
                    <a:pt x="1959" y="235"/>
                  </a:lnTo>
                  <a:lnTo>
                    <a:pt x="2000" y="198"/>
                  </a:lnTo>
                  <a:lnTo>
                    <a:pt x="2017" y="181"/>
                  </a:lnTo>
                  <a:lnTo>
                    <a:pt x="2047" y="152"/>
                  </a:lnTo>
                  <a:lnTo>
                    <a:pt x="2072" y="135"/>
                  </a:lnTo>
                  <a:lnTo>
                    <a:pt x="2097" y="117"/>
                  </a:lnTo>
                  <a:lnTo>
                    <a:pt x="2122" y="101"/>
                  </a:lnTo>
                  <a:lnTo>
                    <a:pt x="2144" y="87"/>
                  </a:lnTo>
                  <a:lnTo>
                    <a:pt x="2167" y="77"/>
                  </a:lnTo>
                  <a:lnTo>
                    <a:pt x="2189" y="66"/>
                  </a:lnTo>
                  <a:lnTo>
                    <a:pt x="2208" y="58"/>
                  </a:lnTo>
                  <a:lnTo>
                    <a:pt x="2229" y="52"/>
                  </a:lnTo>
                  <a:lnTo>
                    <a:pt x="2252" y="49"/>
                  </a:lnTo>
                  <a:lnTo>
                    <a:pt x="2280" y="46"/>
                  </a:lnTo>
                  <a:lnTo>
                    <a:pt x="2321" y="47"/>
                  </a:lnTo>
                  <a:lnTo>
                    <a:pt x="2304" y="60"/>
                  </a:lnTo>
                  <a:lnTo>
                    <a:pt x="2286" y="79"/>
                  </a:lnTo>
                  <a:lnTo>
                    <a:pt x="2276" y="92"/>
                  </a:lnTo>
                  <a:lnTo>
                    <a:pt x="2260" y="115"/>
                  </a:lnTo>
                  <a:lnTo>
                    <a:pt x="2244" y="136"/>
                  </a:lnTo>
                  <a:lnTo>
                    <a:pt x="2221" y="154"/>
                  </a:lnTo>
                  <a:lnTo>
                    <a:pt x="2192" y="175"/>
                  </a:lnTo>
                  <a:lnTo>
                    <a:pt x="2178" y="187"/>
                  </a:lnTo>
                  <a:lnTo>
                    <a:pt x="2165" y="202"/>
                  </a:lnTo>
                  <a:lnTo>
                    <a:pt x="2151" y="219"/>
                  </a:lnTo>
                  <a:lnTo>
                    <a:pt x="2141" y="231"/>
                  </a:lnTo>
                  <a:lnTo>
                    <a:pt x="2130" y="244"/>
                  </a:lnTo>
                  <a:lnTo>
                    <a:pt x="2120" y="258"/>
                  </a:lnTo>
                  <a:lnTo>
                    <a:pt x="2111" y="273"/>
                  </a:lnTo>
                  <a:lnTo>
                    <a:pt x="2103" y="285"/>
                  </a:lnTo>
                  <a:lnTo>
                    <a:pt x="2095" y="297"/>
                  </a:lnTo>
                  <a:lnTo>
                    <a:pt x="2087" y="309"/>
                  </a:lnTo>
                  <a:lnTo>
                    <a:pt x="2082" y="324"/>
                  </a:lnTo>
                  <a:lnTo>
                    <a:pt x="2079" y="336"/>
                  </a:lnTo>
                  <a:lnTo>
                    <a:pt x="2078" y="350"/>
                  </a:lnTo>
                  <a:lnTo>
                    <a:pt x="2076" y="363"/>
                  </a:lnTo>
                  <a:lnTo>
                    <a:pt x="2063" y="355"/>
                  </a:lnTo>
                  <a:lnTo>
                    <a:pt x="2044" y="352"/>
                  </a:lnTo>
                  <a:lnTo>
                    <a:pt x="2027" y="351"/>
                  </a:lnTo>
                  <a:lnTo>
                    <a:pt x="2011" y="353"/>
                  </a:lnTo>
                  <a:lnTo>
                    <a:pt x="1995" y="358"/>
                  </a:lnTo>
                  <a:lnTo>
                    <a:pt x="1982" y="363"/>
                  </a:lnTo>
                  <a:lnTo>
                    <a:pt x="1967" y="367"/>
                  </a:lnTo>
                  <a:lnTo>
                    <a:pt x="1952" y="371"/>
                  </a:lnTo>
                  <a:lnTo>
                    <a:pt x="1936" y="373"/>
                  </a:lnTo>
                  <a:lnTo>
                    <a:pt x="1914" y="370"/>
                  </a:lnTo>
                  <a:lnTo>
                    <a:pt x="1896" y="367"/>
                  </a:lnTo>
                  <a:lnTo>
                    <a:pt x="1883" y="363"/>
                  </a:lnTo>
                  <a:lnTo>
                    <a:pt x="1867" y="359"/>
                  </a:lnTo>
                  <a:lnTo>
                    <a:pt x="1850" y="360"/>
                  </a:lnTo>
                  <a:lnTo>
                    <a:pt x="1827" y="364"/>
                  </a:lnTo>
                  <a:lnTo>
                    <a:pt x="1807" y="367"/>
                  </a:lnTo>
                  <a:lnTo>
                    <a:pt x="1791" y="367"/>
                  </a:lnTo>
                  <a:lnTo>
                    <a:pt x="1770" y="365"/>
                  </a:lnTo>
                  <a:lnTo>
                    <a:pt x="1749" y="360"/>
                  </a:lnTo>
                  <a:lnTo>
                    <a:pt x="1728" y="360"/>
                  </a:lnTo>
                  <a:lnTo>
                    <a:pt x="1710" y="365"/>
                  </a:lnTo>
                  <a:lnTo>
                    <a:pt x="1681" y="368"/>
                  </a:lnTo>
                  <a:lnTo>
                    <a:pt x="1663" y="368"/>
                  </a:lnTo>
                  <a:lnTo>
                    <a:pt x="1640" y="365"/>
                  </a:lnTo>
                  <a:lnTo>
                    <a:pt x="1618" y="363"/>
                  </a:lnTo>
                  <a:lnTo>
                    <a:pt x="1594" y="367"/>
                  </a:lnTo>
                  <a:lnTo>
                    <a:pt x="1575" y="374"/>
                  </a:lnTo>
                  <a:lnTo>
                    <a:pt x="1548" y="379"/>
                  </a:lnTo>
                  <a:lnTo>
                    <a:pt x="1528" y="381"/>
                  </a:lnTo>
                  <a:lnTo>
                    <a:pt x="1503" y="383"/>
                  </a:lnTo>
                  <a:lnTo>
                    <a:pt x="1484" y="385"/>
                  </a:lnTo>
                  <a:lnTo>
                    <a:pt x="1460" y="381"/>
                  </a:lnTo>
                  <a:lnTo>
                    <a:pt x="1436" y="375"/>
                  </a:lnTo>
                  <a:lnTo>
                    <a:pt x="1411" y="381"/>
                  </a:lnTo>
                  <a:lnTo>
                    <a:pt x="1394" y="382"/>
                  </a:lnTo>
                  <a:lnTo>
                    <a:pt x="1373" y="383"/>
                  </a:lnTo>
                  <a:lnTo>
                    <a:pt x="1353" y="381"/>
                  </a:lnTo>
                  <a:lnTo>
                    <a:pt x="1333" y="381"/>
                  </a:lnTo>
                  <a:lnTo>
                    <a:pt x="1312" y="383"/>
                  </a:lnTo>
                  <a:lnTo>
                    <a:pt x="1292" y="391"/>
                  </a:lnTo>
                  <a:lnTo>
                    <a:pt x="1275" y="396"/>
                  </a:lnTo>
                  <a:lnTo>
                    <a:pt x="1252" y="403"/>
                  </a:lnTo>
                  <a:lnTo>
                    <a:pt x="1231" y="406"/>
                  </a:lnTo>
                  <a:lnTo>
                    <a:pt x="1207" y="410"/>
                  </a:lnTo>
                  <a:lnTo>
                    <a:pt x="1183" y="413"/>
                  </a:lnTo>
                  <a:lnTo>
                    <a:pt x="1152" y="409"/>
                  </a:lnTo>
                  <a:lnTo>
                    <a:pt x="1124" y="407"/>
                  </a:lnTo>
                  <a:lnTo>
                    <a:pt x="1105" y="409"/>
                  </a:lnTo>
                  <a:lnTo>
                    <a:pt x="1078" y="412"/>
                  </a:lnTo>
                  <a:lnTo>
                    <a:pt x="1058" y="412"/>
                  </a:lnTo>
                  <a:lnTo>
                    <a:pt x="1035" y="414"/>
                  </a:lnTo>
                  <a:lnTo>
                    <a:pt x="1016" y="415"/>
                  </a:lnTo>
                  <a:lnTo>
                    <a:pt x="987" y="413"/>
                  </a:lnTo>
                  <a:lnTo>
                    <a:pt x="963" y="406"/>
                  </a:lnTo>
                  <a:lnTo>
                    <a:pt x="947" y="401"/>
                  </a:lnTo>
                  <a:lnTo>
                    <a:pt x="927" y="400"/>
                  </a:lnTo>
                  <a:lnTo>
                    <a:pt x="906" y="399"/>
                  </a:lnTo>
                  <a:lnTo>
                    <a:pt x="886" y="403"/>
                  </a:lnTo>
                  <a:lnTo>
                    <a:pt x="862" y="406"/>
                  </a:lnTo>
                  <a:lnTo>
                    <a:pt x="842" y="409"/>
                  </a:lnTo>
                  <a:lnTo>
                    <a:pt x="824" y="409"/>
                  </a:lnTo>
                  <a:lnTo>
                    <a:pt x="812" y="405"/>
                  </a:lnTo>
                  <a:lnTo>
                    <a:pt x="791" y="401"/>
                  </a:lnTo>
                  <a:lnTo>
                    <a:pt x="772" y="399"/>
                  </a:lnTo>
                  <a:lnTo>
                    <a:pt x="752" y="400"/>
                  </a:lnTo>
                  <a:lnTo>
                    <a:pt x="734" y="403"/>
                  </a:lnTo>
                  <a:lnTo>
                    <a:pt x="712" y="405"/>
                  </a:lnTo>
                  <a:lnTo>
                    <a:pt x="686" y="409"/>
                  </a:lnTo>
                  <a:lnTo>
                    <a:pt x="662" y="409"/>
                  </a:lnTo>
                  <a:lnTo>
                    <a:pt x="640" y="406"/>
                  </a:lnTo>
                  <a:lnTo>
                    <a:pt x="616" y="410"/>
                  </a:lnTo>
                  <a:lnTo>
                    <a:pt x="594" y="414"/>
                  </a:lnTo>
                  <a:lnTo>
                    <a:pt x="570" y="421"/>
                  </a:lnTo>
                  <a:lnTo>
                    <a:pt x="547" y="426"/>
                  </a:lnTo>
                  <a:lnTo>
                    <a:pt x="514" y="432"/>
                  </a:lnTo>
                  <a:lnTo>
                    <a:pt x="477" y="433"/>
                  </a:lnTo>
                  <a:lnTo>
                    <a:pt x="439" y="433"/>
                  </a:lnTo>
                  <a:lnTo>
                    <a:pt x="404" y="432"/>
                  </a:lnTo>
                  <a:lnTo>
                    <a:pt x="363" y="433"/>
                  </a:lnTo>
                  <a:lnTo>
                    <a:pt x="340" y="433"/>
                  </a:lnTo>
                  <a:lnTo>
                    <a:pt x="319" y="430"/>
                  </a:lnTo>
                  <a:lnTo>
                    <a:pt x="295" y="433"/>
                  </a:lnTo>
                  <a:lnTo>
                    <a:pt x="268" y="432"/>
                  </a:lnTo>
                  <a:lnTo>
                    <a:pt x="228" y="417"/>
                  </a:lnTo>
                  <a:lnTo>
                    <a:pt x="199" y="419"/>
                  </a:lnTo>
                  <a:lnTo>
                    <a:pt x="174" y="421"/>
                  </a:lnTo>
                  <a:lnTo>
                    <a:pt x="147" y="421"/>
                  </a:lnTo>
                  <a:lnTo>
                    <a:pt x="124" y="421"/>
                  </a:lnTo>
                  <a:lnTo>
                    <a:pt x="96" y="419"/>
                  </a:lnTo>
                  <a:lnTo>
                    <a:pt x="71" y="414"/>
                  </a:lnTo>
                  <a:lnTo>
                    <a:pt x="46" y="407"/>
                  </a:lnTo>
                  <a:lnTo>
                    <a:pt x="24" y="401"/>
                  </a:lnTo>
                  <a:lnTo>
                    <a:pt x="2" y="396"/>
                  </a:lnTo>
                  <a:lnTo>
                    <a:pt x="0" y="39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45" name="Group 649"/>
            <p:cNvGrpSpPr>
              <a:grpSpLocks/>
            </p:cNvGrpSpPr>
            <p:nvPr/>
          </p:nvGrpSpPr>
          <p:grpSpPr bwMode="auto">
            <a:xfrm>
              <a:off x="712" y="2323"/>
              <a:ext cx="333" cy="202"/>
              <a:chOff x="631" y="2507"/>
              <a:chExt cx="333" cy="202"/>
            </a:xfrm>
          </p:grpSpPr>
          <p:sp>
            <p:nvSpPr>
              <p:cNvPr id="8264" name="Freeform 650" descr="50%"/>
              <p:cNvSpPr>
                <a:spLocks/>
              </p:cNvSpPr>
              <p:nvPr/>
            </p:nvSpPr>
            <p:spPr bwMode="auto">
              <a:xfrm>
                <a:off x="631" y="2511"/>
                <a:ext cx="333" cy="198"/>
              </a:xfrm>
              <a:custGeom>
                <a:avLst/>
                <a:gdLst>
                  <a:gd name="T0" fmla="*/ 311 w 333"/>
                  <a:gd name="T1" fmla="*/ 177 h 198"/>
                  <a:gd name="T2" fmla="*/ 293 w 333"/>
                  <a:gd name="T3" fmla="*/ 159 h 198"/>
                  <a:gd name="T4" fmla="*/ 281 w 333"/>
                  <a:gd name="T5" fmla="*/ 148 h 198"/>
                  <a:gd name="T6" fmla="*/ 272 w 333"/>
                  <a:gd name="T7" fmla="*/ 138 h 198"/>
                  <a:gd name="T8" fmla="*/ 262 w 333"/>
                  <a:gd name="T9" fmla="*/ 127 h 198"/>
                  <a:gd name="T10" fmla="*/ 254 w 333"/>
                  <a:gd name="T11" fmla="*/ 116 h 198"/>
                  <a:gd name="T12" fmla="*/ 246 w 333"/>
                  <a:gd name="T13" fmla="*/ 105 h 198"/>
                  <a:gd name="T14" fmla="*/ 237 w 333"/>
                  <a:gd name="T15" fmla="*/ 93 h 198"/>
                  <a:gd name="T16" fmla="*/ 230 w 333"/>
                  <a:gd name="T17" fmla="*/ 78 h 198"/>
                  <a:gd name="T18" fmla="*/ 224 w 333"/>
                  <a:gd name="T19" fmla="*/ 64 h 198"/>
                  <a:gd name="T20" fmla="*/ 219 w 333"/>
                  <a:gd name="T21" fmla="*/ 49 h 198"/>
                  <a:gd name="T22" fmla="*/ 215 w 333"/>
                  <a:gd name="T23" fmla="*/ 34 h 198"/>
                  <a:gd name="T24" fmla="*/ 215 w 333"/>
                  <a:gd name="T25" fmla="*/ 19 h 198"/>
                  <a:gd name="T26" fmla="*/ 214 w 333"/>
                  <a:gd name="T27" fmla="*/ 0 h 198"/>
                  <a:gd name="T28" fmla="*/ 0 w 333"/>
                  <a:gd name="T29" fmla="*/ 0 h 198"/>
                  <a:gd name="T30" fmla="*/ 6 w 333"/>
                  <a:gd name="T31" fmla="*/ 12 h 198"/>
                  <a:gd name="T32" fmla="*/ 17 w 333"/>
                  <a:gd name="T33" fmla="*/ 28 h 198"/>
                  <a:gd name="T34" fmla="*/ 27 w 333"/>
                  <a:gd name="T35" fmla="*/ 42 h 198"/>
                  <a:gd name="T36" fmla="*/ 39 w 333"/>
                  <a:gd name="T37" fmla="*/ 56 h 198"/>
                  <a:gd name="T38" fmla="*/ 54 w 333"/>
                  <a:gd name="T39" fmla="*/ 71 h 198"/>
                  <a:gd name="T40" fmla="*/ 70 w 333"/>
                  <a:gd name="T41" fmla="*/ 86 h 198"/>
                  <a:gd name="T42" fmla="*/ 87 w 333"/>
                  <a:gd name="T43" fmla="*/ 100 h 198"/>
                  <a:gd name="T44" fmla="*/ 104 w 333"/>
                  <a:gd name="T45" fmla="*/ 112 h 198"/>
                  <a:gd name="T46" fmla="*/ 123 w 333"/>
                  <a:gd name="T47" fmla="*/ 127 h 198"/>
                  <a:gd name="T48" fmla="*/ 146 w 333"/>
                  <a:gd name="T49" fmla="*/ 143 h 198"/>
                  <a:gd name="T50" fmla="*/ 166 w 333"/>
                  <a:gd name="T51" fmla="*/ 154 h 198"/>
                  <a:gd name="T52" fmla="*/ 184 w 333"/>
                  <a:gd name="T53" fmla="*/ 163 h 198"/>
                  <a:gd name="T54" fmla="*/ 201 w 333"/>
                  <a:gd name="T55" fmla="*/ 170 h 198"/>
                  <a:gd name="T56" fmla="*/ 219 w 333"/>
                  <a:gd name="T57" fmla="*/ 177 h 198"/>
                  <a:gd name="T58" fmla="*/ 238 w 333"/>
                  <a:gd name="T59" fmla="*/ 184 h 198"/>
                  <a:gd name="T60" fmla="*/ 259 w 333"/>
                  <a:gd name="T61" fmla="*/ 188 h 198"/>
                  <a:gd name="T62" fmla="*/ 282 w 333"/>
                  <a:gd name="T63" fmla="*/ 192 h 198"/>
                  <a:gd name="T64" fmla="*/ 300 w 333"/>
                  <a:gd name="T65" fmla="*/ 194 h 198"/>
                  <a:gd name="T66" fmla="*/ 318 w 333"/>
                  <a:gd name="T67" fmla="*/ 196 h 198"/>
                  <a:gd name="T68" fmla="*/ 332 w 333"/>
                  <a:gd name="T69" fmla="*/ 197 h 198"/>
                  <a:gd name="T70" fmla="*/ 311 w 333"/>
                  <a:gd name="T71" fmla="*/ 177 h 19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33" h="198">
                    <a:moveTo>
                      <a:pt x="311" y="177"/>
                    </a:moveTo>
                    <a:lnTo>
                      <a:pt x="293" y="159"/>
                    </a:lnTo>
                    <a:lnTo>
                      <a:pt x="281" y="148"/>
                    </a:lnTo>
                    <a:lnTo>
                      <a:pt x="272" y="138"/>
                    </a:lnTo>
                    <a:lnTo>
                      <a:pt x="262" y="127"/>
                    </a:lnTo>
                    <a:lnTo>
                      <a:pt x="254" y="116"/>
                    </a:lnTo>
                    <a:lnTo>
                      <a:pt x="246" y="105"/>
                    </a:lnTo>
                    <a:lnTo>
                      <a:pt x="237" y="93"/>
                    </a:lnTo>
                    <a:lnTo>
                      <a:pt x="230" y="78"/>
                    </a:lnTo>
                    <a:lnTo>
                      <a:pt x="224" y="64"/>
                    </a:lnTo>
                    <a:lnTo>
                      <a:pt x="219" y="49"/>
                    </a:lnTo>
                    <a:lnTo>
                      <a:pt x="215" y="34"/>
                    </a:lnTo>
                    <a:lnTo>
                      <a:pt x="215" y="19"/>
                    </a:lnTo>
                    <a:lnTo>
                      <a:pt x="214" y="0"/>
                    </a:lnTo>
                    <a:lnTo>
                      <a:pt x="0" y="0"/>
                    </a:lnTo>
                    <a:lnTo>
                      <a:pt x="6" y="12"/>
                    </a:lnTo>
                    <a:lnTo>
                      <a:pt x="17" y="28"/>
                    </a:lnTo>
                    <a:lnTo>
                      <a:pt x="27" y="42"/>
                    </a:lnTo>
                    <a:lnTo>
                      <a:pt x="39" y="56"/>
                    </a:lnTo>
                    <a:lnTo>
                      <a:pt x="54" y="71"/>
                    </a:lnTo>
                    <a:lnTo>
                      <a:pt x="70" y="86"/>
                    </a:lnTo>
                    <a:lnTo>
                      <a:pt x="87" y="100"/>
                    </a:lnTo>
                    <a:lnTo>
                      <a:pt x="104" y="112"/>
                    </a:lnTo>
                    <a:lnTo>
                      <a:pt x="123" y="127"/>
                    </a:lnTo>
                    <a:lnTo>
                      <a:pt x="146" y="143"/>
                    </a:lnTo>
                    <a:lnTo>
                      <a:pt x="166" y="154"/>
                    </a:lnTo>
                    <a:lnTo>
                      <a:pt x="184" y="163"/>
                    </a:lnTo>
                    <a:lnTo>
                      <a:pt x="201" y="170"/>
                    </a:lnTo>
                    <a:lnTo>
                      <a:pt x="219" y="177"/>
                    </a:lnTo>
                    <a:lnTo>
                      <a:pt x="238" y="184"/>
                    </a:lnTo>
                    <a:lnTo>
                      <a:pt x="259" y="188"/>
                    </a:lnTo>
                    <a:lnTo>
                      <a:pt x="282" y="192"/>
                    </a:lnTo>
                    <a:lnTo>
                      <a:pt x="300" y="194"/>
                    </a:lnTo>
                    <a:lnTo>
                      <a:pt x="318" y="196"/>
                    </a:lnTo>
                    <a:lnTo>
                      <a:pt x="332" y="197"/>
                    </a:lnTo>
                    <a:lnTo>
                      <a:pt x="311" y="177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65" name="Freeform 651" descr="50%"/>
              <p:cNvSpPr>
                <a:spLocks/>
              </p:cNvSpPr>
              <p:nvPr/>
            </p:nvSpPr>
            <p:spPr bwMode="auto">
              <a:xfrm>
                <a:off x="637" y="2507"/>
                <a:ext cx="201" cy="7"/>
              </a:xfrm>
              <a:custGeom>
                <a:avLst/>
                <a:gdLst>
                  <a:gd name="T0" fmla="*/ 1 w 201"/>
                  <a:gd name="T1" fmla="*/ 0 h 7"/>
                  <a:gd name="T2" fmla="*/ 0 w 201"/>
                  <a:gd name="T3" fmla="*/ 2 h 7"/>
                  <a:gd name="T4" fmla="*/ 4 w 201"/>
                  <a:gd name="T5" fmla="*/ 6 h 7"/>
                  <a:gd name="T6" fmla="*/ 200 w 201"/>
                  <a:gd name="T7" fmla="*/ 6 h 7"/>
                  <a:gd name="T8" fmla="*/ 200 w 201"/>
                  <a:gd name="T9" fmla="*/ 0 h 7"/>
                  <a:gd name="T10" fmla="*/ 1 w 201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01" h="7">
                    <a:moveTo>
                      <a:pt x="1" y="0"/>
                    </a:moveTo>
                    <a:lnTo>
                      <a:pt x="0" y="2"/>
                    </a:lnTo>
                    <a:lnTo>
                      <a:pt x="4" y="6"/>
                    </a:lnTo>
                    <a:lnTo>
                      <a:pt x="200" y="6"/>
                    </a:lnTo>
                    <a:lnTo>
                      <a:pt x="200" y="0"/>
                    </a:lnTo>
                    <a:lnTo>
                      <a:pt x="1" y="0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246" name="Rectangle 652"/>
            <p:cNvSpPr>
              <a:spLocks noChangeArrowheads="1"/>
            </p:cNvSpPr>
            <p:nvPr/>
          </p:nvSpPr>
          <p:spPr bwMode="auto">
            <a:xfrm>
              <a:off x="2754" y="2726"/>
              <a:ext cx="743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eaLnBrk="0" hangingPunct="0"/>
              <a:r>
                <a:rPr kumimoji="1" lang="en-US" altLang="zh-CN" dirty="0">
                  <a:solidFill>
                    <a:srgbClr val="0000FF"/>
                  </a:solidFill>
                  <a:latin typeface="Comic Sans MS" pitchFamily="66" charset="0"/>
                </a:rPr>
                <a:t>Server</a:t>
              </a:r>
            </a:p>
          </p:txBody>
        </p:sp>
        <p:grpSp>
          <p:nvGrpSpPr>
            <p:cNvPr id="8247" name="Group 653"/>
            <p:cNvGrpSpPr>
              <a:grpSpLocks/>
            </p:cNvGrpSpPr>
            <p:nvPr/>
          </p:nvGrpSpPr>
          <p:grpSpPr bwMode="auto">
            <a:xfrm>
              <a:off x="3984" y="2112"/>
              <a:ext cx="321" cy="113"/>
              <a:chOff x="4270" y="2440"/>
              <a:chExt cx="321" cy="113"/>
            </a:xfrm>
          </p:grpSpPr>
          <p:sp>
            <p:nvSpPr>
              <p:cNvPr id="8249" name="Freeform 654" descr="50%"/>
              <p:cNvSpPr>
                <a:spLocks/>
              </p:cNvSpPr>
              <p:nvPr/>
            </p:nvSpPr>
            <p:spPr bwMode="auto">
              <a:xfrm>
                <a:off x="4351" y="2513"/>
                <a:ext cx="38" cy="31"/>
              </a:xfrm>
              <a:custGeom>
                <a:avLst/>
                <a:gdLst>
                  <a:gd name="T0" fmla="*/ 0 w 38"/>
                  <a:gd name="T1" fmla="*/ 0 h 31"/>
                  <a:gd name="T2" fmla="*/ 1 w 38"/>
                  <a:gd name="T3" fmla="*/ 3 h 31"/>
                  <a:gd name="T4" fmla="*/ 3 w 38"/>
                  <a:gd name="T5" fmla="*/ 6 h 31"/>
                  <a:gd name="T6" fmla="*/ 5 w 38"/>
                  <a:gd name="T7" fmla="*/ 9 h 31"/>
                  <a:gd name="T8" fmla="*/ 7 w 38"/>
                  <a:gd name="T9" fmla="*/ 12 h 31"/>
                  <a:gd name="T10" fmla="*/ 10 w 38"/>
                  <a:gd name="T11" fmla="*/ 15 h 31"/>
                  <a:gd name="T12" fmla="*/ 13 w 38"/>
                  <a:gd name="T13" fmla="*/ 19 h 31"/>
                  <a:gd name="T14" fmla="*/ 15 w 38"/>
                  <a:gd name="T15" fmla="*/ 21 h 31"/>
                  <a:gd name="T16" fmla="*/ 18 w 38"/>
                  <a:gd name="T17" fmla="*/ 23 h 31"/>
                  <a:gd name="T18" fmla="*/ 21 w 38"/>
                  <a:gd name="T19" fmla="*/ 25 h 31"/>
                  <a:gd name="T20" fmla="*/ 24 w 38"/>
                  <a:gd name="T21" fmla="*/ 27 h 31"/>
                  <a:gd name="T22" fmla="*/ 26 w 38"/>
                  <a:gd name="T23" fmla="*/ 28 h 31"/>
                  <a:gd name="T24" fmla="*/ 29 w 38"/>
                  <a:gd name="T25" fmla="*/ 29 h 31"/>
                  <a:gd name="T26" fmla="*/ 33 w 38"/>
                  <a:gd name="T27" fmla="*/ 30 h 31"/>
                  <a:gd name="T28" fmla="*/ 36 w 38"/>
                  <a:gd name="T29" fmla="*/ 30 h 31"/>
                  <a:gd name="T30" fmla="*/ 37 w 38"/>
                  <a:gd name="T31" fmla="*/ 29 h 31"/>
                  <a:gd name="T32" fmla="*/ 35 w 38"/>
                  <a:gd name="T33" fmla="*/ 27 h 31"/>
                  <a:gd name="T34" fmla="*/ 33 w 38"/>
                  <a:gd name="T35" fmla="*/ 25 h 31"/>
                  <a:gd name="T36" fmla="*/ 31 w 38"/>
                  <a:gd name="T37" fmla="*/ 22 h 31"/>
                  <a:gd name="T38" fmla="*/ 29 w 38"/>
                  <a:gd name="T39" fmla="*/ 19 h 31"/>
                  <a:gd name="T40" fmla="*/ 27 w 38"/>
                  <a:gd name="T41" fmla="*/ 16 h 31"/>
                  <a:gd name="T42" fmla="*/ 26 w 38"/>
                  <a:gd name="T43" fmla="*/ 13 h 31"/>
                  <a:gd name="T44" fmla="*/ 25 w 38"/>
                  <a:gd name="T45" fmla="*/ 11 h 31"/>
                  <a:gd name="T46" fmla="*/ 24 w 38"/>
                  <a:gd name="T47" fmla="*/ 6 h 31"/>
                  <a:gd name="T48" fmla="*/ 24 w 38"/>
                  <a:gd name="T49" fmla="*/ 3 h 31"/>
                  <a:gd name="T50" fmla="*/ 24 w 38"/>
                  <a:gd name="T51" fmla="*/ 1 h 31"/>
                  <a:gd name="T52" fmla="*/ 0 w 38"/>
                  <a:gd name="T53" fmla="*/ 0 h 31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38" h="31">
                    <a:moveTo>
                      <a:pt x="0" y="0"/>
                    </a:moveTo>
                    <a:lnTo>
                      <a:pt x="1" y="3"/>
                    </a:lnTo>
                    <a:lnTo>
                      <a:pt x="3" y="6"/>
                    </a:lnTo>
                    <a:lnTo>
                      <a:pt x="5" y="9"/>
                    </a:lnTo>
                    <a:lnTo>
                      <a:pt x="7" y="12"/>
                    </a:lnTo>
                    <a:lnTo>
                      <a:pt x="10" y="15"/>
                    </a:lnTo>
                    <a:lnTo>
                      <a:pt x="13" y="19"/>
                    </a:lnTo>
                    <a:lnTo>
                      <a:pt x="15" y="21"/>
                    </a:lnTo>
                    <a:lnTo>
                      <a:pt x="18" y="23"/>
                    </a:lnTo>
                    <a:lnTo>
                      <a:pt x="21" y="25"/>
                    </a:lnTo>
                    <a:lnTo>
                      <a:pt x="24" y="27"/>
                    </a:lnTo>
                    <a:lnTo>
                      <a:pt x="26" y="28"/>
                    </a:lnTo>
                    <a:lnTo>
                      <a:pt x="29" y="29"/>
                    </a:lnTo>
                    <a:lnTo>
                      <a:pt x="33" y="30"/>
                    </a:lnTo>
                    <a:lnTo>
                      <a:pt x="36" y="30"/>
                    </a:lnTo>
                    <a:lnTo>
                      <a:pt x="37" y="29"/>
                    </a:lnTo>
                    <a:lnTo>
                      <a:pt x="35" y="27"/>
                    </a:lnTo>
                    <a:lnTo>
                      <a:pt x="33" y="25"/>
                    </a:lnTo>
                    <a:lnTo>
                      <a:pt x="31" y="22"/>
                    </a:lnTo>
                    <a:lnTo>
                      <a:pt x="29" y="19"/>
                    </a:lnTo>
                    <a:lnTo>
                      <a:pt x="27" y="16"/>
                    </a:lnTo>
                    <a:lnTo>
                      <a:pt x="26" y="13"/>
                    </a:lnTo>
                    <a:lnTo>
                      <a:pt x="25" y="11"/>
                    </a:lnTo>
                    <a:lnTo>
                      <a:pt x="24" y="6"/>
                    </a:lnTo>
                    <a:lnTo>
                      <a:pt x="24" y="3"/>
                    </a:lnTo>
                    <a:lnTo>
                      <a:pt x="24" y="1"/>
                    </a:lnTo>
                    <a:lnTo>
                      <a:pt x="0" y="0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50" name="Freeform 655" descr="50%"/>
              <p:cNvSpPr>
                <a:spLocks/>
              </p:cNvSpPr>
              <p:nvPr/>
            </p:nvSpPr>
            <p:spPr bwMode="auto">
              <a:xfrm>
                <a:off x="4270" y="2440"/>
                <a:ext cx="321" cy="98"/>
              </a:xfrm>
              <a:custGeom>
                <a:avLst/>
                <a:gdLst>
                  <a:gd name="T0" fmla="*/ 3 w 321"/>
                  <a:gd name="T1" fmla="*/ 58 h 98"/>
                  <a:gd name="T2" fmla="*/ 13 w 321"/>
                  <a:gd name="T3" fmla="*/ 54 h 98"/>
                  <a:gd name="T4" fmla="*/ 28 w 321"/>
                  <a:gd name="T5" fmla="*/ 49 h 98"/>
                  <a:gd name="T6" fmla="*/ 43 w 321"/>
                  <a:gd name="T7" fmla="*/ 46 h 98"/>
                  <a:gd name="T8" fmla="*/ 59 w 321"/>
                  <a:gd name="T9" fmla="*/ 43 h 98"/>
                  <a:gd name="T10" fmla="*/ 75 w 321"/>
                  <a:gd name="T11" fmla="*/ 40 h 98"/>
                  <a:gd name="T12" fmla="*/ 88 w 321"/>
                  <a:gd name="T13" fmla="*/ 37 h 98"/>
                  <a:gd name="T14" fmla="*/ 95 w 321"/>
                  <a:gd name="T15" fmla="*/ 33 h 98"/>
                  <a:gd name="T16" fmla="*/ 103 w 321"/>
                  <a:gd name="T17" fmla="*/ 25 h 98"/>
                  <a:gd name="T18" fmla="*/ 114 w 321"/>
                  <a:gd name="T19" fmla="*/ 14 h 98"/>
                  <a:gd name="T20" fmla="*/ 125 w 321"/>
                  <a:gd name="T21" fmla="*/ 4 h 98"/>
                  <a:gd name="T22" fmla="*/ 133 w 321"/>
                  <a:gd name="T23" fmla="*/ 12 h 98"/>
                  <a:gd name="T24" fmla="*/ 137 w 321"/>
                  <a:gd name="T25" fmla="*/ 29 h 98"/>
                  <a:gd name="T26" fmla="*/ 140 w 321"/>
                  <a:gd name="T27" fmla="*/ 36 h 98"/>
                  <a:gd name="T28" fmla="*/ 159 w 321"/>
                  <a:gd name="T29" fmla="*/ 39 h 98"/>
                  <a:gd name="T30" fmla="*/ 177 w 321"/>
                  <a:gd name="T31" fmla="*/ 43 h 98"/>
                  <a:gd name="T32" fmla="*/ 191 w 321"/>
                  <a:gd name="T33" fmla="*/ 43 h 98"/>
                  <a:gd name="T34" fmla="*/ 206 w 321"/>
                  <a:gd name="T35" fmla="*/ 39 h 98"/>
                  <a:gd name="T36" fmla="*/ 218 w 321"/>
                  <a:gd name="T37" fmla="*/ 48 h 98"/>
                  <a:gd name="T38" fmla="*/ 229 w 321"/>
                  <a:gd name="T39" fmla="*/ 51 h 98"/>
                  <a:gd name="T40" fmla="*/ 243 w 321"/>
                  <a:gd name="T41" fmla="*/ 51 h 98"/>
                  <a:gd name="T42" fmla="*/ 258 w 321"/>
                  <a:gd name="T43" fmla="*/ 45 h 98"/>
                  <a:gd name="T44" fmla="*/ 275 w 321"/>
                  <a:gd name="T45" fmla="*/ 31 h 98"/>
                  <a:gd name="T46" fmla="*/ 294 w 321"/>
                  <a:gd name="T47" fmla="*/ 14 h 98"/>
                  <a:gd name="T48" fmla="*/ 314 w 321"/>
                  <a:gd name="T49" fmla="*/ 8 h 98"/>
                  <a:gd name="T50" fmla="*/ 314 w 321"/>
                  <a:gd name="T51" fmla="*/ 13 h 98"/>
                  <a:gd name="T52" fmla="*/ 305 w 321"/>
                  <a:gd name="T53" fmla="*/ 25 h 98"/>
                  <a:gd name="T54" fmla="*/ 294 w 321"/>
                  <a:gd name="T55" fmla="*/ 37 h 98"/>
                  <a:gd name="T56" fmla="*/ 287 w 321"/>
                  <a:gd name="T57" fmla="*/ 48 h 98"/>
                  <a:gd name="T58" fmla="*/ 287 w 321"/>
                  <a:gd name="T59" fmla="*/ 60 h 98"/>
                  <a:gd name="T60" fmla="*/ 295 w 321"/>
                  <a:gd name="T61" fmla="*/ 73 h 98"/>
                  <a:gd name="T62" fmla="*/ 305 w 321"/>
                  <a:gd name="T63" fmla="*/ 82 h 98"/>
                  <a:gd name="T64" fmla="*/ 313 w 321"/>
                  <a:gd name="T65" fmla="*/ 89 h 98"/>
                  <a:gd name="T66" fmla="*/ 314 w 321"/>
                  <a:gd name="T67" fmla="*/ 93 h 98"/>
                  <a:gd name="T68" fmla="*/ 302 w 321"/>
                  <a:gd name="T69" fmla="*/ 93 h 98"/>
                  <a:gd name="T70" fmla="*/ 291 w 321"/>
                  <a:gd name="T71" fmla="*/ 90 h 98"/>
                  <a:gd name="T72" fmla="*/ 281 w 321"/>
                  <a:gd name="T73" fmla="*/ 85 h 98"/>
                  <a:gd name="T74" fmla="*/ 264 w 321"/>
                  <a:gd name="T75" fmla="*/ 74 h 98"/>
                  <a:gd name="T76" fmla="*/ 243 w 321"/>
                  <a:gd name="T77" fmla="*/ 72 h 98"/>
                  <a:gd name="T78" fmla="*/ 218 w 321"/>
                  <a:gd name="T79" fmla="*/ 75 h 98"/>
                  <a:gd name="T80" fmla="*/ 202 w 321"/>
                  <a:gd name="T81" fmla="*/ 82 h 98"/>
                  <a:gd name="T82" fmla="*/ 197 w 321"/>
                  <a:gd name="T83" fmla="*/ 89 h 98"/>
                  <a:gd name="T84" fmla="*/ 175 w 321"/>
                  <a:gd name="T85" fmla="*/ 88 h 98"/>
                  <a:gd name="T86" fmla="*/ 156 w 321"/>
                  <a:gd name="T87" fmla="*/ 94 h 98"/>
                  <a:gd name="T88" fmla="*/ 86 w 321"/>
                  <a:gd name="T89" fmla="*/ 97 h 98"/>
                  <a:gd name="T90" fmla="*/ 46 w 321"/>
                  <a:gd name="T91" fmla="*/ 93 h 98"/>
                  <a:gd name="T92" fmla="*/ 11 w 321"/>
                  <a:gd name="T93" fmla="*/ 81 h 98"/>
                  <a:gd name="T94" fmla="*/ 11 w 321"/>
                  <a:gd name="T95" fmla="*/ 74 h 98"/>
                  <a:gd name="T96" fmla="*/ 3 w 321"/>
                  <a:gd name="T97" fmla="*/ 67 h 98"/>
                  <a:gd name="T98" fmla="*/ 0 w 321"/>
                  <a:gd name="T99" fmla="*/ 62 h 98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321" h="98">
                    <a:moveTo>
                      <a:pt x="0" y="60"/>
                    </a:moveTo>
                    <a:lnTo>
                      <a:pt x="1" y="59"/>
                    </a:lnTo>
                    <a:lnTo>
                      <a:pt x="3" y="58"/>
                    </a:lnTo>
                    <a:lnTo>
                      <a:pt x="7" y="56"/>
                    </a:lnTo>
                    <a:lnTo>
                      <a:pt x="10" y="55"/>
                    </a:lnTo>
                    <a:lnTo>
                      <a:pt x="13" y="54"/>
                    </a:lnTo>
                    <a:lnTo>
                      <a:pt x="18" y="52"/>
                    </a:lnTo>
                    <a:lnTo>
                      <a:pt x="23" y="51"/>
                    </a:lnTo>
                    <a:lnTo>
                      <a:pt x="28" y="49"/>
                    </a:lnTo>
                    <a:lnTo>
                      <a:pt x="32" y="48"/>
                    </a:lnTo>
                    <a:lnTo>
                      <a:pt x="38" y="47"/>
                    </a:lnTo>
                    <a:lnTo>
                      <a:pt x="43" y="46"/>
                    </a:lnTo>
                    <a:lnTo>
                      <a:pt x="49" y="45"/>
                    </a:lnTo>
                    <a:lnTo>
                      <a:pt x="54" y="44"/>
                    </a:lnTo>
                    <a:lnTo>
                      <a:pt x="59" y="43"/>
                    </a:lnTo>
                    <a:lnTo>
                      <a:pt x="63" y="42"/>
                    </a:lnTo>
                    <a:lnTo>
                      <a:pt x="69" y="41"/>
                    </a:lnTo>
                    <a:lnTo>
                      <a:pt x="75" y="40"/>
                    </a:lnTo>
                    <a:lnTo>
                      <a:pt x="80" y="39"/>
                    </a:lnTo>
                    <a:lnTo>
                      <a:pt x="84" y="38"/>
                    </a:lnTo>
                    <a:lnTo>
                      <a:pt x="88" y="37"/>
                    </a:lnTo>
                    <a:lnTo>
                      <a:pt x="91" y="36"/>
                    </a:lnTo>
                    <a:lnTo>
                      <a:pt x="93" y="34"/>
                    </a:lnTo>
                    <a:lnTo>
                      <a:pt x="95" y="33"/>
                    </a:lnTo>
                    <a:lnTo>
                      <a:pt x="97" y="31"/>
                    </a:lnTo>
                    <a:lnTo>
                      <a:pt x="100" y="28"/>
                    </a:lnTo>
                    <a:lnTo>
                      <a:pt x="103" y="25"/>
                    </a:lnTo>
                    <a:lnTo>
                      <a:pt x="106" y="21"/>
                    </a:lnTo>
                    <a:lnTo>
                      <a:pt x="110" y="18"/>
                    </a:lnTo>
                    <a:lnTo>
                      <a:pt x="114" y="14"/>
                    </a:lnTo>
                    <a:lnTo>
                      <a:pt x="117" y="10"/>
                    </a:lnTo>
                    <a:lnTo>
                      <a:pt x="121" y="7"/>
                    </a:lnTo>
                    <a:lnTo>
                      <a:pt x="125" y="4"/>
                    </a:lnTo>
                    <a:lnTo>
                      <a:pt x="130" y="0"/>
                    </a:lnTo>
                    <a:lnTo>
                      <a:pt x="131" y="7"/>
                    </a:lnTo>
                    <a:lnTo>
                      <a:pt x="133" y="12"/>
                    </a:lnTo>
                    <a:lnTo>
                      <a:pt x="135" y="18"/>
                    </a:lnTo>
                    <a:lnTo>
                      <a:pt x="136" y="24"/>
                    </a:lnTo>
                    <a:lnTo>
                      <a:pt x="137" y="29"/>
                    </a:lnTo>
                    <a:lnTo>
                      <a:pt x="137" y="32"/>
                    </a:lnTo>
                    <a:lnTo>
                      <a:pt x="135" y="35"/>
                    </a:lnTo>
                    <a:lnTo>
                      <a:pt x="140" y="36"/>
                    </a:lnTo>
                    <a:lnTo>
                      <a:pt x="145" y="37"/>
                    </a:lnTo>
                    <a:lnTo>
                      <a:pt x="152" y="38"/>
                    </a:lnTo>
                    <a:lnTo>
                      <a:pt x="159" y="39"/>
                    </a:lnTo>
                    <a:lnTo>
                      <a:pt x="166" y="41"/>
                    </a:lnTo>
                    <a:lnTo>
                      <a:pt x="171" y="42"/>
                    </a:lnTo>
                    <a:lnTo>
                      <a:pt x="177" y="43"/>
                    </a:lnTo>
                    <a:lnTo>
                      <a:pt x="183" y="43"/>
                    </a:lnTo>
                    <a:lnTo>
                      <a:pt x="188" y="44"/>
                    </a:lnTo>
                    <a:lnTo>
                      <a:pt x="191" y="43"/>
                    </a:lnTo>
                    <a:lnTo>
                      <a:pt x="195" y="41"/>
                    </a:lnTo>
                    <a:lnTo>
                      <a:pt x="198" y="38"/>
                    </a:lnTo>
                    <a:lnTo>
                      <a:pt x="206" y="39"/>
                    </a:lnTo>
                    <a:lnTo>
                      <a:pt x="215" y="42"/>
                    </a:lnTo>
                    <a:lnTo>
                      <a:pt x="222" y="43"/>
                    </a:lnTo>
                    <a:lnTo>
                      <a:pt x="218" y="48"/>
                    </a:lnTo>
                    <a:lnTo>
                      <a:pt x="220" y="49"/>
                    </a:lnTo>
                    <a:lnTo>
                      <a:pt x="225" y="50"/>
                    </a:lnTo>
                    <a:lnTo>
                      <a:pt x="229" y="51"/>
                    </a:lnTo>
                    <a:lnTo>
                      <a:pt x="234" y="52"/>
                    </a:lnTo>
                    <a:lnTo>
                      <a:pt x="238" y="51"/>
                    </a:lnTo>
                    <a:lnTo>
                      <a:pt x="243" y="51"/>
                    </a:lnTo>
                    <a:lnTo>
                      <a:pt x="248" y="50"/>
                    </a:lnTo>
                    <a:lnTo>
                      <a:pt x="253" y="48"/>
                    </a:lnTo>
                    <a:lnTo>
                      <a:pt x="258" y="45"/>
                    </a:lnTo>
                    <a:lnTo>
                      <a:pt x="264" y="41"/>
                    </a:lnTo>
                    <a:lnTo>
                      <a:pt x="269" y="37"/>
                    </a:lnTo>
                    <a:lnTo>
                      <a:pt x="275" y="31"/>
                    </a:lnTo>
                    <a:lnTo>
                      <a:pt x="281" y="24"/>
                    </a:lnTo>
                    <a:lnTo>
                      <a:pt x="288" y="19"/>
                    </a:lnTo>
                    <a:lnTo>
                      <a:pt x="294" y="14"/>
                    </a:lnTo>
                    <a:lnTo>
                      <a:pt x="300" y="11"/>
                    </a:lnTo>
                    <a:lnTo>
                      <a:pt x="306" y="9"/>
                    </a:lnTo>
                    <a:lnTo>
                      <a:pt x="314" y="8"/>
                    </a:lnTo>
                    <a:lnTo>
                      <a:pt x="320" y="8"/>
                    </a:lnTo>
                    <a:lnTo>
                      <a:pt x="317" y="11"/>
                    </a:lnTo>
                    <a:lnTo>
                      <a:pt x="314" y="13"/>
                    </a:lnTo>
                    <a:lnTo>
                      <a:pt x="313" y="15"/>
                    </a:lnTo>
                    <a:lnTo>
                      <a:pt x="309" y="22"/>
                    </a:lnTo>
                    <a:lnTo>
                      <a:pt x="305" y="25"/>
                    </a:lnTo>
                    <a:lnTo>
                      <a:pt x="301" y="28"/>
                    </a:lnTo>
                    <a:lnTo>
                      <a:pt x="297" y="33"/>
                    </a:lnTo>
                    <a:lnTo>
                      <a:pt x="294" y="37"/>
                    </a:lnTo>
                    <a:lnTo>
                      <a:pt x="292" y="41"/>
                    </a:lnTo>
                    <a:lnTo>
                      <a:pt x="289" y="45"/>
                    </a:lnTo>
                    <a:lnTo>
                      <a:pt x="287" y="48"/>
                    </a:lnTo>
                    <a:lnTo>
                      <a:pt x="286" y="52"/>
                    </a:lnTo>
                    <a:lnTo>
                      <a:pt x="286" y="56"/>
                    </a:lnTo>
                    <a:lnTo>
                      <a:pt x="287" y="60"/>
                    </a:lnTo>
                    <a:lnTo>
                      <a:pt x="289" y="65"/>
                    </a:lnTo>
                    <a:lnTo>
                      <a:pt x="292" y="69"/>
                    </a:lnTo>
                    <a:lnTo>
                      <a:pt x="295" y="73"/>
                    </a:lnTo>
                    <a:lnTo>
                      <a:pt x="298" y="76"/>
                    </a:lnTo>
                    <a:lnTo>
                      <a:pt x="301" y="79"/>
                    </a:lnTo>
                    <a:lnTo>
                      <a:pt x="305" y="82"/>
                    </a:lnTo>
                    <a:lnTo>
                      <a:pt x="309" y="85"/>
                    </a:lnTo>
                    <a:lnTo>
                      <a:pt x="311" y="87"/>
                    </a:lnTo>
                    <a:lnTo>
                      <a:pt x="313" y="89"/>
                    </a:lnTo>
                    <a:lnTo>
                      <a:pt x="316" y="91"/>
                    </a:lnTo>
                    <a:lnTo>
                      <a:pt x="317" y="93"/>
                    </a:lnTo>
                    <a:lnTo>
                      <a:pt x="314" y="93"/>
                    </a:lnTo>
                    <a:lnTo>
                      <a:pt x="309" y="93"/>
                    </a:lnTo>
                    <a:lnTo>
                      <a:pt x="305" y="93"/>
                    </a:lnTo>
                    <a:lnTo>
                      <a:pt x="302" y="93"/>
                    </a:lnTo>
                    <a:lnTo>
                      <a:pt x="297" y="92"/>
                    </a:lnTo>
                    <a:lnTo>
                      <a:pt x="294" y="91"/>
                    </a:lnTo>
                    <a:lnTo>
                      <a:pt x="291" y="90"/>
                    </a:lnTo>
                    <a:lnTo>
                      <a:pt x="288" y="88"/>
                    </a:lnTo>
                    <a:lnTo>
                      <a:pt x="284" y="87"/>
                    </a:lnTo>
                    <a:lnTo>
                      <a:pt x="281" y="85"/>
                    </a:lnTo>
                    <a:lnTo>
                      <a:pt x="274" y="80"/>
                    </a:lnTo>
                    <a:lnTo>
                      <a:pt x="270" y="77"/>
                    </a:lnTo>
                    <a:lnTo>
                      <a:pt x="264" y="74"/>
                    </a:lnTo>
                    <a:lnTo>
                      <a:pt x="258" y="73"/>
                    </a:lnTo>
                    <a:lnTo>
                      <a:pt x="252" y="73"/>
                    </a:lnTo>
                    <a:lnTo>
                      <a:pt x="243" y="72"/>
                    </a:lnTo>
                    <a:lnTo>
                      <a:pt x="235" y="73"/>
                    </a:lnTo>
                    <a:lnTo>
                      <a:pt x="227" y="74"/>
                    </a:lnTo>
                    <a:lnTo>
                      <a:pt x="218" y="75"/>
                    </a:lnTo>
                    <a:lnTo>
                      <a:pt x="209" y="77"/>
                    </a:lnTo>
                    <a:lnTo>
                      <a:pt x="203" y="80"/>
                    </a:lnTo>
                    <a:lnTo>
                      <a:pt x="202" y="82"/>
                    </a:lnTo>
                    <a:lnTo>
                      <a:pt x="203" y="83"/>
                    </a:lnTo>
                    <a:lnTo>
                      <a:pt x="208" y="86"/>
                    </a:lnTo>
                    <a:lnTo>
                      <a:pt x="197" y="89"/>
                    </a:lnTo>
                    <a:lnTo>
                      <a:pt x="182" y="93"/>
                    </a:lnTo>
                    <a:lnTo>
                      <a:pt x="179" y="90"/>
                    </a:lnTo>
                    <a:lnTo>
                      <a:pt x="175" y="88"/>
                    </a:lnTo>
                    <a:lnTo>
                      <a:pt x="171" y="87"/>
                    </a:lnTo>
                    <a:lnTo>
                      <a:pt x="164" y="87"/>
                    </a:lnTo>
                    <a:lnTo>
                      <a:pt x="156" y="94"/>
                    </a:lnTo>
                    <a:lnTo>
                      <a:pt x="149" y="89"/>
                    </a:lnTo>
                    <a:lnTo>
                      <a:pt x="97" y="96"/>
                    </a:lnTo>
                    <a:lnTo>
                      <a:pt x="86" y="97"/>
                    </a:lnTo>
                    <a:lnTo>
                      <a:pt x="77" y="96"/>
                    </a:lnTo>
                    <a:lnTo>
                      <a:pt x="66" y="95"/>
                    </a:lnTo>
                    <a:lnTo>
                      <a:pt x="46" y="93"/>
                    </a:lnTo>
                    <a:lnTo>
                      <a:pt x="28" y="88"/>
                    </a:lnTo>
                    <a:lnTo>
                      <a:pt x="18" y="84"/>
                    </a:lnTo>
                    <a:lnTo>
                      <a:pt x="11" y="81"/>
                    </a:lnTo>
                    <a:lnTo>
                      <a:pt x="18" y="79"/>
                    </a:lnTo>
                    <a:lnTo>
                      <a:pt x="14" y="76"/>
                    </a:lnTo>
                    <a:lnTo>
                      <a:pt x="11" y="74"/>
                    </a:lnTo>
                    <a:lnTo>
                      <a:pt x="6" y="70"/>
                    </a:lnTo>
                    <a:lnTo>
                      <a:pt x="5" y="69"/>
                    </a:lnTo>
                    <a:lnTo>
                      <a:pt x="3" y="67"/>
                    </a:lnTo>
                    <a:lnTo>
                      <a:pt x="2" y="66"/>
                    </a:lnTo>
                    <a:lnTo>
                      <a:pt x="1" y="63"/>
                    </a:lnTo>
                    <a:lnTo>
                      <a:pt x="0" y="62"/>
                    </a:lnTo>
                    <a:lnTo>
                      <a:pt x="0" y="60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8251" name="Group 656"/>
              <p:cNvGrpSpPr>
                <a:grpSpLocks/>
              </p:cNvGrpSpPr>
              <p:nvPr/>
            </p:nvGrpSpPr>
            <p:grpSpPr bwMode="auto">
              <a:xfrm>
                <a:off x="4297" y="2502"/>
                <a:ext cx="2" cy="3"/>
                <a:chOff x="4216" y="2686"/>
                <a:chExt cx="2" cy="3"/>
              </a:xfrm>
            </p:grpSpPr>
            <p:sp>
              <p:nvSpPr>
                <p:cNvPr id="8262" name="Oval 657" descr="50%"/>
                <p:cNvSpPr>
                  <a:spLocks noChangeArrowheads="1"/>
                </p:cNvSpPr>
                <p:nvPr/>
              </p:nvSpPr>
              <p:spPr bwMode="auto">
                <a:xfrm>
                  <a:off x="4216" y="2686"/>
                  <a:ext cx="2" cy="2"/>
                </a:xfrm>
                <a:prstGeom prst="ellipse">
                  <a:avLst/>
                </a:pr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63" name="Arc 658" descr="50%"/>
                <p:cNvSpPr>
                  <a:spLocks/>
                </p:cNvSpPr>
                <p:nvPr/>
              </p:nvSpPr>
              <p:spPr bwMode="auto">
                <a:xfrm>
                  <a:off x="4217" y="2687"/>
                  <a:ext cx="1" cy="2"/>
                </a:xfrm>
                <a:custGeom>
                  <a:avLst/>
                  <a:gdLst>
                    <a:gd name="T0" fmla="*/ 0 w 43200"/>
                    <a:gd name="T1" fmla="*/ 1 h 43200"/>
                    <a:gd name="T2" fmla="*/ 0 w 43200"/>
                    <a:gd name="T3" fmla="*/ 1 h 43200"/>
                    <a:gd name="T4" fmla="*/ 1 w 43200"/>
                    <a:gd name="T5" fmla="*/ 1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43200" fill="none" extrusionOk="0">
                      <a:moveTo>
                        <a:pt x="2280" y="11940"/>
                      </a:moveTo>
                    </a:path>
                    <a:path w="43200" h="43200" stroke="0" extrusionOk="0">
                      <a:moveTo>
                        <a:pt x="2280" y="11940"/>
                      </a:moveTo>
                      <a:lnTo>
                        <a:pt x="21600" y="21600"/>
                      </a:lnTo>
                      <a:lnTo>
                        <a:pt x="2280" y="11940"/>
                      </a:lnTo>
                      <a:close/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252" name="Group 659"/>
              <p:cNvGrpSpPr>
                <a:grpSpLocks/>
              </p:cNvGrpSpPr>
              <p:nvPr/>
            </p:nvGrpSpPr>
            <p:grpSpPr bwMode="auto">
              <a:xfrm>
                <a:off x="4314" y="2514"/>
                <a:ext cx="23" cy="4"/>
                <a:chOff x="4233" y="2698"/>
                <a:chExt cx="23" cy="4"/>
              </a:xfrm>
            </p:grpSpPr>
            <p:sp>
              <p:nvSpPr>
                <p:cNvPr id="8257" name="Arc 660" descr="50%"/>
                <p:cNvSpPr>
                  <a:spLocks/>
                </p:cNvSpPr>
                <p:nvPr/>
              </p:nvSpPr>
              <p:spPr bwMode="auto">
                <a:xfrm>
                  <a:off x="4237" y="2698"/>
                  <a:ext cx="0" cy="4"/>
                </a:xfrm>
                <a:custGeom>
                  <a:avLst/>
                  <a:gdLst>
                    <a:gd name="T0" fmla="*/ 1 w 43200"/>
                    <a:gd name="T1" fmla="*/ 2 h 43200"/>
                    <a:gd name="T2" fmla="*/ 1 w 43200"/>
                    <a:gd name="T3" fmla="*/ 2 h 43200"/>
                    <a:gd name="T4" fmla="*/ 1 w 43200"/>
                    <a:gd name="T5" fmla="*/ 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43200" fill="none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43200" stroke="0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lnTo>
                        <a:pt x="43200" y="21600"/>
                      </a:lnTo>
                      <a:close/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58" name="Arc 661" descr="50%"/>
                <p:cNvSpPr>
                  <a:spLocks/>
                </p:cNvSpPr>
                <p:nvPr/>
              </p:nvSpPr>
              <p:spPr bwMode="auto">
                <a:xfrm>
                  <a:off x="4233" y="2698"/>
                  <a:ext cx="0" cy="4"/>
                </a:xfrm>
                <a:custGeom>
                  <a:avLst/>
                  <a:gdLst>
                    <a:gd name="T0" fmla="*/ 1 w 43200"/>
                    <a:gd name="T1" fmla="*/ 2 h 43200"/>
                    <a:gd name="T2" fmla="*/ 1 w 43200"/>
                    <a:gd name="T3" fmla="*/ 2 h 43200"/>
                    <a:gd name="T4" fmla="*/ 1 w 43200"/>
                    <a:gd name="T5" fmla="*/ 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43200" fill="none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43200" stroke="0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lnTo>
                        <a:pt x="43200" y="21600"/>
                      </a:lnTo>
                      <a:close/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59" name="Arc 662" descr="50%"/>
                <p:cNvSpPr>
                  <a:spLocks/>
                </p:cNvSpPr>
                <p:nvPr/>
              </p:nvSpPr>
              <p:spPr bwMode="auto">
                <a:xfrm>
                  <a:off x="4240" y="2698"/>
                  <a:ext cx="7" cy="4"/>
                </a:xfrm>
                <a:custGeom>
                  <a:avLst/>
                  <a:gdLst>
                    <a:gd name="T0" fmla="*/ 2 w 35950"/>
                    <a:gd name="T1" fmla="*/ 0 h 43200"/>
                    <a:gd name="T2" fmla="*/ 0 w 35950"/>
                    <a:gd name="T3" fmla="*/ 3 h 43200"/>
                    <a:gd name="T4" fmla="*/ 3 w 35950"/>
                    <a:gd name="T5" fmla="*/ 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5950" h="43200" fill="none" extrusionOk="0">
                      <a:moveTo>
                        <a:pt x="9664" y="514"/>
                      </a:moveTo>
                      <a:cubicBezTo>
                        <a:pt x="11202" y="172"/>
                        <a:pt x="12773" y="-1"/>
                        <a:pt x="14350" y="0"/>
                      </a:cubicBezTo>
                      <a:cubicBezTo>
                        <a:pt x="26279" y="0"/>
                        <a:pt x="35950" y="9670"/>
                        <a:pt x="35950" y="21600"/>
                      </a:cubicBezTo>
                      <a:cubicBezTo>
                        <a:pt x="35950" y="33529"/>
                        <a:pt x="26279" y="43200"/>
                        <a:pt x="14350" y="43200"/>
                      </a:cubicBezTo>
                      <a:cubicBezTo>
                        <a:pt x="9059" y="43200"/>
                        <a:pt x="3953" y="41258"/>
                        <a:pt x="-1" y="37744"/>
                      </a:cubicBezTo>
                    </a:path>
                    <a:path w="35950" h="43200" stroke="0" extrusionOk="0">
                      <a:moveTo>
                        <a:pt x="9664" y="514"/>
                      </a:moveTo>
                      <a:cubicBezTo>
                        <a:pt x="11202" y="172"/>
                        <a:pt x="12773" y="-1"/>
                        <a:pt x="14350" y="0"/>
                      </a:cubicBezTo>
                      <a:cubicBezTo>
                        <a:pt x="26279" y="0"/>
                        <a:pt x="35950" y="9670"/>
                        <a:pt x="35950" y="21600"/>
                      </a:cubicBezTo>
                      <a:cubicBezTo>
                        <a:pt x="35950" y="33529"/>
                        <a:pt x="26279" y="43200"/>
                        <a:pt x="14350" y="43200"/>
                      </a:cubicBezTo>
                      <a:cubicBezTo>
                        <a:pt x="9059" y="43200"/>
                        <a:pt x="3953" y="41258"/>
                        <a:pt x="-1" y="37744"/>
                      </a:cubicBezTo>
                      <a:lnTo>
                        <a:pt x="14350" y="21600"/>
                      </a:lnTo>
                      <a:lnTo>
                        <a:pt x="9664" y="514"/>
                      </a:lnTo>
                      <a:close/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60" name="Arc 663" descr="50%"/>
                <p:cNvSpPr>
                  <a:spLocks/>
                </p:cNvSpPr>
                <p:nvPr/>
              </p:nvSpPr>
              <p:spPr bwMode="auto">
                <a:xfrm>
                  <a:off x="4244" y="2698"/>
                  <a:ext cx="7" cy="4"/>
                </a:xfrm>
                <a:custGeom>
                  <a:avLst/>
                  <a:gdLst>
                    <a:gd name="T0" fmla="*/ 2 w 35950"/>
                    <a:gd name="T1" fmla="*/ 0 h 43200"/>
                    <a:gd name="T2" fmla="*/ 0 w 35950"/>
                    <a:gd name="T3" fmla="*/ 3 h 43200"/>
                    <a:gd name="T4" fmla="*/ 3 w 35950"/>
                    <a:gd name="T5" fmla="*/ 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5950" h="43200" fill="none" extrusionOk="0">
                      <a:moveTo>
                        <a:pt x="9664" y="514"/>
                      </a:moveTo>
                      <a:cubicBezTo>
                        <a:pt x="11202" y="172"/>
                        <a:pt x="12773" y="-1"/>
                        <a:pt x="14350" y="0"/>
                      </a:cubicBezTo>
                      <a:cubicBezTo>
                        <a:pt x="26279" y="0"/>
                        <a:pt x="35950" y="9670"/>
                        <a:pt x="35950" y="21600"/>
                      </a:cubicBezTo>
                      <a:cubicBezTo>
                        <a:pt x="35950" y="33529"/>
                        <a:pt x="26279" y="43200"/>
                        <a:pt x="14350" y="43200"/>
                      </a:cubicBezTo>
                      <a:cubicBezTo>
                        <a:pt x="9059" y="43200"/>
                        <a:pt x="3953" y="41258"/>
                        <a:pt x="-1" y="37744"/>
                      </a:cubicBezTo>
                    </a:path>
                    <a:path w="35950" h="43200" stroke="0" extrusionOk="0">
                      <a:moveTo>
                        <a:pt x="9664" y="514"/>
                      </a:moveTo>
                      <a:cubicBezTo>
                        <a:pt x="11202" y="172"/>
                        <a:pt x="12773" y="-1"/>
                        <a:pt x="14350" y="0"/>
                      </a:cubicBezTo>
                      <a:cubicBezTo>
                        <a:pt x="26279" y="0"/>
                        <a:pt x="35950" y="9670"/>
                        <a:pt x="35950" y="21600"/>
                      </a:cubicBezTo>
                      <a:cubicBezTo>
                        <a:pt x="35950" y="33529"/>
                        <a:pt x="26279" y="43200"/>
                        <a:pt x="14350" y="43200"/>
                      </a:cubicBezTo>
                      <a:cubicBezTo>
                        <a:pt x="9059" y="43200"/>
                        <a:pt x="3953" y="41258"/>
                        <a:pt x="-1" y="37744"/>
                      </a:cubicBezTo>
                      <a:lnTo>
                        <a:pt x="14350" y="21600"/>
                      </a:lnTo>
                      <a:lnTo>
                        <a:pt x="9664" y="514"/>
                      </a:lnTo>
                      <a:close/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61" name="Arc 664" descr="50%"/>
                <p:cNvSpPr>
                  <a:spLocks/>
                </p:cNvSpPr>
                <p:nvPr/>
              </p:nvSpPr>
              <p:spPr bwMode="auto">
                <a:xfrm>
                  <a:off x="4250" y="2698"/>
                  <a:ext cx="6" cy="4"/>
                </a:xfrm>
                <a:custGeom>
                  <a:avLst/>
                  <a:gdLst>
                    <a:gd name="T0" fmla="*/ 1 w 30373"/>
                    <a:gd name="T1" fmla="*/ 0 h 43200"/>
                    <a:gd name="T2" fmla="*/ 0 w 30373"/>
                    <a:gd name="T3" fmla="*/ 4 h 43200"/>
                    <a:gd name="T4" fmla="*/ 2 w 30373"/>
                    <a:gd name="T5" fmla="*/ 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0373" h="43200" fill="none" extrusionOk="0">
                      <a:moveTo>
                        <a:pt x="4087" y="514"/>
                      </a:moveTo>
                      <a:cubicBezTo>
                        <a:pt x="5625" y="172"/>
                        <a:pt x="7196" y="-1"/>
                        <a:pt x="8773" y="0"/>
                      </a:cubicBezTo>
                      <a:cubicBezTo>
                        <a:pt x="20702" y="0"/>
                        <a:pt x="30373" y="9670"/>
                        <a:pt x="30373" y="21600"/>
                      </a:cubicBezTo>
                      <a:cubicBezTo>
                        <a:pt x="30373" y="33529"/>
                        <a:pt x="20702" y="43200"/>
                        <a:pt x="8773" y="43200"/>
                      </a:cubicBezTo>
                      <a:cubicBezTo>
                        <a:pt x="5750" y="43200"/>
                        <a:pt x="2761" y="42565"/>
                        <a:pt x="-1" y="41338"/>
                      </a:cubicBezTo>
                    </a:path>
                    <a:path w="30373" h="43200" stroke="0" extrusionOk="0">
                      <a:moveTo>
                        <a:pt x="4087" y="514"/>
                      </a:moveTo>
                      <a:cubicBezTo>
                        <a:pt x="5625" y="172"/>
                        <a:pt x="7196" y="-1"/>
                        <a:pt x="8773" y="0"/>
                      </a:cubicBezTo>
                      <a:cubicBezTo>
                        <a:pt x="20702" y="0"/>
                        <a:pt x="30373" y="9670"/>
                        <a:pt x="30373" y="21600"/>
                      </a:cubicBezTo>
                      <a:cubicBezTo>
                        <a:pt x="30373" y="33529"/>
                        <a:pt x="20702" y="43200"/>
                        <a:pt x="8773" y="43200"/>
                      </a:cubicBezTo>
                      <a:cubicBezTo>
                        <a:pt x="5750" y="43200"/>
                        <a:pt x="2761" y="42565"/>
                        <a:pt x="-1" y="41338"/>
                      </a:cubicBezTo>
                      <a:lnTo>
                        <a:pt x="8773" y="21600"/>
                      </a:lnTo>
                      <a:lnTo>
                        <a:pt x="4087" y="514"/>
                      </a:lnTo>
                      <a:close/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8253" name="Freeform 665" descr="50%"/>
              <p:cNvSpPr>
                <a:spLocks/>
              </p:cNvSpPr>
              <p:nvPr/>
            </p:nvSpPr>
            <p:spPr bwMode="auto">
              <a:xfrm>
                <a:off x="4270" y="2442"/>
                <a:ext cx="312" cy="58"/>
              </a:xfrm>
              <a:custGeom>
                <a:avLst/>
                <a:gdLst>
                  <a:gd name="T0" fmla="*/ 7 w 312"/>
                  <a:gd name="T1" fmla="*/ 48 h 58"/>
                  <a:gd name="T2" fmla="*/ 21 w 312"/>
                  <a:gd name="T3" fmla="*/ 44 h 58"/>
                  <a:gd name="T4" fmla="*/ 42 w 312"/>
                  <a:gd name="T5" fmla="*/ 39 h 58"/>
                  <a:gd name="T6" fmla="*/ 63 w 312"/>
                  <a:gd name="T7" fmla="*/ 36 h 58"/>
                  <a:gd name="T8" fmla="*/ 83 w 312"/>
                  <a:gd name="T9" fmla="*/ 32 h 58"/>
                  <a:gd name="T10" fmla="*/ 94 w 312"/>
                  <a:gd name="T11" fmla="*/ 27 h 58"/>
                  <a:gd name="T12" fmla="*/ 104 w 312"/>
                  <a:gd name="T13" fmla="*/ 18 h 58"/>
                  <a:gd name="T14" fmla="*/ 119 w 312"/>
                  <a:gd name="T15" fmla="*/ 5 h 58"/>
                  <a:gd name="T16" fmla="*/ 130 w 312"/>
                  <a:gd name="T17" fmla="*/ 10 h 58"/>
                  <a:gd name="T18" fmla="*/ 134 w 312"/>
                  <a:gd name="T19" fmla="*/ 25 h 58"/>
                  <a:gd name="T20" fmla="*/ 142 w 312"/>
                  <a:gd name="T21" fmla="*/ 31 h 58"/>
                  <a:gd name="T22" fmla="*/ 168 w 312"/>
                  <a:gd name="T23" fmla="*/ 35 h 58"/>
                  <a:gd name="T24" fmla="*/ 187 w 312"/>
                  <a:gd name="T25" fmla="*/ 36 h 58"/>
                  <a:gd name="T26" fmla="*/ 210 w 312"/>
                  <a:gd name="T27" fmla="*/ 35 h 58"/>
                  <a:gd name="T28" fmla="*/ 219 w 312"/>
                  <a:gd name="T29" fmla="*/ 43 h 58"/>
                  <a:gd name="T30" fmla="*/ 238 w 312"/>
                  <a:gd name="T31" fmla="*/ 44 h 58"/>
                  <a:gd name="T32" fmla="*/ 258 w 312"/>
                  <a:gd name="T33" fmla="*/ 34 h 58"/>
                  <a:gd name="T34" fmla="*/ 275 w 312"/>
                  <a:gd name="T35" fmla="*/ 20 h 58"/>
                  <a:gd name="T36" fmla="*/ 288 w 312"/>
                  <a:gd name="T37" fmla="*/ 11 h 58"/>
                  <a:gd name="T38" fmla="*/ 299 w 312"/>
                  <a:gd name="T39" fmla="*/ 6 h 58"/>
                  <a:gd name="T40" fmla="*/ 309 w 312"/>
                  <a:gd name="T41" fmla="*/ 8 h 58"/>
                  <a:gd name="T42" fmla="*/ 301 w 312"/>
                  <a:gd name="T43" fmla="*/ 18 h 58"/>
                  <a:gd name="T44" fmla="*/ 291 w 312"/>
                  <a:gd name="T45" fmla="*/ 26 h 58"/>
                  <a:gd name="T46" fmla="*/ 285 w 312"/>
                  <a:gd name="T47" fmla="*/ 34 h 58"/>
                  <a:gd name="T48" fmla="*/ 280 w 312"/>
                  <a:gd name="T49" fmla="*/ 40 h 58"/>
                  <a:gd name="T50" fmla="*/ 279 w 312"/>
                  <a:gd name="T51" fmla="*/ 48 h 58"/>
                  <a:gd name="T52" fmla="*/ 270 w 312"/>
                  <a:gd name="T53" fmla="*/ 46 h 58"/>
                  <a:gd name="T54" fmla="*/ 262 w 312"/>
                  <a:gd name="T55" fmla="*/ 49 h 58"/>
                  <a:gd name="T56" fmla="*/ 253 w 312"/>
                  <a:gd name="T57" fmla="*/ 48 h 58"/>
                  <a:gd name="T58" fmla="*/ 243 w 312"/>
                  <a:gd name="T59" fmla="*/ 48 h 58"/>
                  <a:gd name="T60" fmla="*/ 232 w 312"/>
                  <a:gd name="T61" fmla="*/ 47 h 58"/>
                  <a:gd name="T62" fmla="*/ 220 w 312"/>
                  <a:gd name="T63" fmla="*/ 48 h 58"/>
                  <a:gd name="T64" fmla="*/ 208 w 312"/>
                  <a:gd name="T65" fmla="*/ 50 h 58"/>
                  <a:gd name="T66" fmla="*/ 196 w 312"/>
                  <a:gd name="T67" fmla="*/ 50 h 58"/>
                  <a:gd name="T68" fmla="*/ 184 w 312"/>
                  <a:gd name="T69" fmla="*/ 50 h 58"/>
                  <a:gd name="T70" fmla="*/ 174 w 312"/>
                  <a:gd name="T71" fmla="*/ 52 h 58"/>
                  <a:gd name="T72" fmla="*/ 162 w 312"/>
                  <a:gd name="T73" fmla="*/ 54 h 58"/>
                  <a:gd name="T74" fmla="*/ 148 w 312"/>
                  <a:gd name="T75" fmla="*/ 54 h 58"/>
                  <a:gd name="T76" fmla="*/ 136 w 312"/>
                  <a:gd name="T77" fmla="*/ 54 h 58"/>
                  <a:gd name="T78" fmla="*/ 125 w 312"/>
                  <a:gd name="T79" fmla="*/ 53 h 58"/>
                  <a:gd name="T80" fmla="*/ 113 w 312"/>
                  <a:gd name="T81" fmla="*/ 54 h 58"/>
                  <a:gd name="T82" fmla="*/ 104 w 312"/>
                  <a:gd name="T83" fmla="*/ 53 h 58"/>
                  <a:gd name="T84" fmla="*/ 93 w 312"/>
                  <a:gd name="T85" fmla="*/ 54 h 58"/>
                  <a:gd name="T86" fmla="*/ 80 w 312"/>
                  <a:gd name="T87" fmla="*/ 54 h 58"/>
                  <a:gd name="T88" fmla="*/ 64 w 312"/>
                  <a:gd name="T89" fmla="*/ 57 h 58"/>
                  <a:gd name="T90" fmla="*/ 46 w 312"/>
                  <a:gd name="T91" fmla="*/ 57 h 58"/>
                  <a:gd name="T92" fmla="*/ 31 w 312"/>
                  <a:gd name="T93" fmla="*/ 55 h 58"/>
                  <a:gd name="T94" fmla="*/ 17 w 312"/>
                  <a:gd name="T95" fmla="*/ 55 h 58"/>
                  <a:gd name="T96" fmla="*/ 4 w 312"/>
                  <a:gd name="T97" fmla="*/ 53 h 5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312" h="58">
                    <a:moveTo>
                      <a:pt x="0" y="52"/>
                    </a:moveTo>
                    <a:lnTo>
                      <a:pt x="2" y="50"/>
                    </a:lnTo>
                    <a:lnTo>
                      <a:pt x="5" y="49"/>
                    </a:lnTo>
                    <a:lnTo>
                      <a:pt x="7" y="48"/>
                    </a:lnTo>
                    <a:lnTo>
                      <a:pt x="10" y="47"/>
                    </a:lnTo>
                    <a:lnTo>
                      <a:pt x="13" y="46"/>
                    </a:lnTo>
                    <a:lnTo>
                      <a:pt x="18" y="45"/>
                    </a:lnTo>
                    <a:lnTo>
                      <a:pt x="21" y="44"/>
                    </a:lnTo>
                    <a:lnTo>
                      <a:pt x="26" y="42"/>
                    </a:lnTo>
                    <a:lnTo>
                      <a:pt x="31" y="41"/>
                    </a:lnTo>
                    <a:lnTo>
                      <a:pt x="37" y="40"/>
                    </a:lnTo>
                    <a:lnTo>
                      <a:pt x="42" y="39"/>
                    </a:lnTo>
                    <a:lnTo>
                      <a:pt x="48" y="39"/>
                    </a:lnTo>
                    <a:lnTo>
                      <a:pt x="53" y="38"/>
                    </a:lnTo>
                    <a:lnTo>
                      <a:pt x="58" y="37"/>
                    </a:lnTo>
                    <a:lnTo>
                      <a:pt x="63" y="36"/>
                    </a:lnTo>
                    <a:lnTo>
                      <a:pt x="67" y="35"/>
                    </a:lnTo>
                    <a:lnTo>
                      <a:pt x="73" y="34"/>
                    </a:lnTo>
                    <a:lnTo>
                      <a:pt x="78" y="33"/>
                    </a:lnTo>
                    <a:lnTo>
                      <a:pt x="83" y="32"/>
                    </a:lnTo>
                    <a:lnTo>
                      <a:pt x="86" y="32"/>
                    </a:lnTo>
                    <a:lnTo>
                      <a:pt x="90" y="30"/>
                    </a:lnTo>
                    <a:lnTo>
                      <a:pt x="92" y="29"/>
                    </a:lnTo>
                    <a:lnTo>
                      <a:pt x="94" y="27"/>
                    </a:lnTo>
                    <a:lnTo>
                      <a:pt x="96" y="25"/>
                    </a:lnTo>
                    <a:lnTo>
                      <a:pt x="98" y="23"/>
                    </a:lnTo>
                    <a:lnTo>
                      <a:pt x="101" y="20"/>
                    </a:lnTo>
                    <a:lnTo>
                      <a:pt x="104" y="18"/>
                    </a:lnTo>
                    <a:lnTo>
                      <a:pt x="107" y="14"/>
                    </a:lnTo>
                    <a:lnTo>
                      <a:pt x="111" y="11"/>
                    </a:lnTo>
                    <a:lnTo>
                      <a:pt x="115" y="8"/>
                    </a:lnTo>
                    <a:lnTo>
                      <a:pt x="119" y="5"/>
                    </a:lnTo>
                    <a:lnTo>
                      <a:pt x="123" y="2"/>
                    </a:lnTo>
                    <a:lnTo>
                      <a:pt x="127" y="0"/>
                    </a:lnTo>
                    <a:lnTo>
                      <a:pt x="128" y="4"/>
                    </a:lnTo>
                    <a:lnTo>
                      <a:pt x="130" y="10"/>
                    </a:lnTo>
                    <a:lnTo>
                      <a:pt x="132" y="15"/>
                    </a:lnTo>
                    <a:lnTo>
                      <a:pt x="133" y="20"/>
                    </a:lnTo>
                    <a:lnTo>
                      <a:pt x="134" y="22"/>
                    </a:lnTo>
                    <a:lnTo>
                      <a:pt x="134" y="25"/>
                    </a:lnTo>
                    <a:lnTo>
                      <a:pt x="134" y="27"/>
                    </a:lnTo>
                    <a:lnTo>
                      <a:pt x="132" y="29"/>
                    </a:lnTo>
                    <a:lnTo>
                      <a:pt x="137" y="31"/>
                    </a:lnTo>
                    <a:lnTo>
                      <a:pt x="142" y="31"/>
                    </a:lnTo>
                    <a:lnTo>
                      <a:pt x="148" y="32"/>
                    </a:lnTo>
                    <a:lnTo>
                      <a:pt x="155" y="33"/>
                    </a:lnTo>
                    <a:lnTo>
                      <a:pt x="162" y="34"/>
                    </a:lnTo>
                    <a:lnTo>
                      <a:pt x="168" y="35"/>
                    </a:lnTo>
                    <a:lnTo>
                      <a:pt x="174" y="36"/>
                    </a:lnTo>
                    <a:lnTo>
                      <a:pt x="178" y="37"/>
                    </a:lnTo>
                    <a:lnTo>
                      <a:pt x="183" y="37"/>
                    </a:lnTo>
                    <a:lnTo>
                      <a:pt x="187" y="36"/>
                    </a:lnTo>
                    <a:lnTo>
                      <a:pt x="190" y="34"/>
                    </a:lnTo>
                    <a:lnTo>
                      <a:pt x="194" y="32"/>
                    </a:lnTo>
                    <a:lnTo>
                      <a:pt x="202" y="33"/>
                    </a:lnTo>
                    <a:lnTo>
                      <a:pt x="210" y="35"/>
                    </a:lnTo>
                    <a:lnTo>
                      <a:pt x="216" y="37"/>
                    </a:lnTo>
                    <a:lnTo>
                      <a:pt x="213" y="40"/>
                    </a:lnTo>
                    <a:lnTo>
                      <a:pt x="215" y="41"/>
                    </a:lnTo>
                    <a:lnTo>
                      <a:pt x="219" y="43"/>
                    </a:lnTo>
                    <a:lnTo>
                      <a:pt x="223" y="44"/>
                    </a:lnTo>
                    <a:lnTo>
                      <a:pt x="228" y="44"/>
                    </a:lnTo>
                    <a:lnTo>
                      <a:pt x="233" y="44"/>
                    </a:lnTo>
                    <a:lnTo>
                      <a:pt x="238" y="44"/>
                    </a:lnTo>
                    <a:lnTo>
                      <a:pt x="242" y="43"/>
                    </a:lnTo>
                    <a:lnTo>
                      <a:pt x="248" y="41"/>
                    </a:lnTo>
                    <a:lnTo>
                      <a:pt x="253" y="39"/>
                    </a:lnTo>
                    <a:lnTo>
                      <a:pt x="258" y="34"/>
                    </a:lnTo>
                    <a:lnTo>
                      <a:pt x="263" y="31"/>
                    </a:lnTo>
                    <a:lnTo>
                      <a:pt x="268" y="26"/>
                    </a:lnTo>
                    <a:lnTo>
                      <a:pt x="271" y="24"/>
                    </a:lnTo>
                    <a:lnTo>
                      <a:pt x="275" y="20"/>
                    </a:lnTo>
                    <a:lnTo>
                      <a:pt x="278" y="18"/>
                    </a:lnTo>
                    <a:lnTo>
                      <a:pt x="282" y="15"/>
                    </a:lnTo>
                    <a:lnTo>
                      <a:pt x="285" y="13"/>
                    </a:lnTo>
                    <a:lnTo>
                      <a:pt x="288" y="11"/>
                    </a:lnTo>
                    <a:lnTo>
                      <a:pt x="291" y="10"/>
                    </a:lnTo>
                    <a:lnTo>
                      <a:pt x="293" y="9"/>
                    </a:lnTo>
                    <a:lnTo>
                      <a:pt x="296" y="7"/>
                    </a:lnTo>
                    <a:lnTo>
                      <a:pt x="299" y="6"/>
                    </a:lnTo>
                    <a:lnTo>
                      <a:pt x="302" y="6"/>
                    </a:lnTo>
                    <a:lnTo>
                      <a:pt x="306" y="6"/>
                    </a:lnTo>
                    <a:lnTo>
                      <a:pt x="311" y="6"/>
                    </a:lnTo>
                    <a:lnTo>
                      <a:pt x="309" y="8"/>
                    </a:lnTo>
                    <a:lnTo>
                      <a:pt x="307" y="11"/>
                    </a:lnTo>
                    <a:lnTo>
                      <a:pt x="305" y="12"/>
                    </a:lnTo>
                    <a:lnTo>
                      <a:pt x="303" y="15"/>
                    </a:lnTo>
                    <a:lnTo>
                      <a:pt x="301" y="18"/>
                    </a:lnTo>
                    <a:lnTo>
                      <a:pt x="298" y="20"/>
                    </a:lnTo>
                    <a:lnTo>
                      <a:pt x="294" y="23"/>
                    </a:lnTo>
                    <a:lnTo>
                      <a:pt x="292" y="25"/>
                    </a:lnTo>
                    <a:lnTo>
                      <a:pt x="291" y="26"/>
                    </a:lnTo>
                    <a:lnTo>
                      <a:pt x="289" y="29"/>
                    </a:lnTo>
                    <a:lnTo>
                      <a:pt x="288" y="30"/>
                    </a:lnTo>
                    <a:lnTo>
                      <a:pt x="286" y="32"/>
                    </a:lnTo>
                    <a:lnTo>
                      <a:pt x="285" y="34"/>
                    </a:lnTo>
                    <a:lnTo>
                      <a:pt x="284" y="36"/>
                    </a:lnTo>
                    <a:lnTo>
                      <a:pt x="282" y="38"/>
                    </a:lnTo>
                    <a:lnTo>
                      <a:pt x="281" y="39"/>
                    </a:lnTo>
                    <a:lnTo>
                      <a:pt x="280" y="40"/>
                    </a:lnTo>
                    <a:lnTo>
                      <a:pt x="280" y="43"/>
                    </a:lnTo>
                    <a:lnTo>
                      <a:pt x="279" y="44"/>
                    </a:lnTo>
                    <a:lnTo>
                      <a:pt x="279" y="46"/>
                    </a:lnTo>
                    <a:lnTo>
                      <a:pt x="279" y="48"/>
                    </a:lnTo>
                    <a:lnTo>
                      <a:pt x="277" y="46"/>
                    </a:lnTo>
                    <a:lnTo>
                      <a:pt x="274" y="46"/>
                    </a:lnTo>
                    <a:lnTo>
                      <a:pt x="272" y="46"/>
                    </a:lnTo>
                    <a:lnTo>
                      <a:pt x="270" y="46"/>
                    </a:lnTo>
                    <a:lnTo>
                      <a:pt x="268" y="47"/>
                    </a:lnTo>
                    <a:lnTo>
                      <a:pt x="266" y="48"/>
                    </a:lnTo>
                    <a:lnTo>
                      <a:pt x="264" y="48"/>
                    </a:lnTo>
                    <a:lnTo>
                      <a:pt x="262" y="49"/>
                    </a:lnTo>
                    <a:lnTo>
                      <a:pt x="259" y="49"/>
                    </a:lnTo>
                    <a:lnTo>
                      <a:pt x="256" y="49"/>
                    </a:lnTo>
                    <a:lnTo>
                      <a:pt x="254" y="48"/>
                    </a:lnTo>
                    <a:lnTo>
                      <a:pt x="253" y="48"/>
                    </a:lnTo>
                    <a:lnTo>
                      <a:pt x="251" y="47"/>
                    </a:lnTo>
                    <a:lnTo>
                      <a:pt x="249" y="47"/>
                    </a:lnTo>
                    <a:lnTo>
                      <a:pt x="245" y="48"/>
                    </a:lnTo>
                    <a:lnTo>
                      <a:pt x="243" y="48"/>
                    </a:lnTo>
                    <a:lnTo>
                      <a:pt x="241" y="48"/>
                    </a:lnTo>
                    <a:lnTo>
                      <a:pt x="238" y="48"/>
                    </a:lnTo>
                    <a:lnTo>
                      <a:pt x="235" y="47"/>
                    </a:lnTo>
                    <a:lnTo>
                      <a:pt x="232" y="47"/>
                    </a:lnTo>
                    <a:lnTo>
                      <a:pt x="229" y="48"/>
                    </a:lnTo>
                    <a:lnTo>
                      <a:pt x="225" y="48"/>
                    </a:lnTo>
                    <a:lnTo>
                      <a:pt x="223" y="48"/>
                    </a:lnTo>
                    <a:lnTo>
                      <a:pt x="220" y="48"/>
                    </a:lnTo>
                    <a:lnTo>
                      <a:pt x="217" y="48"/>
                    </a:lnTo>
                    <a:lnTo>
                      <a:pt x="214" y="48"/>
                    </a:lnTo>
                    <a:lnTo>
                      <a:pt x="212" y="49"/>
                    </a:lnTo>
                    <a:lnTo>
                      <a:pt x="208" y="50"/>
                    </a:lnTo>
                    <a:lnTo>
                      <a:pt x="205" y="50"/>
                    </a:lnTo>
                    <a:lnTo>
                      <a:pt x="202" y="51"/>
                    </a:lnTo>
                    <a:lnTo>
                      <a:pt x="199" y="51"/>
                    </a:lnTo>
                    <a:lnTo>
                      <a:pt x="196" y="50"/>
                    </a:lnTo>
                    <a:lnTo>
                      <a:pt x="193" y="49"/>
                    </a:lnTo>
                    <a:lnTo>
                      <a:pt x="189" y="50"/>
                    </a:lnTo>
                    <a:lnTo>
                      <a:pt x="187" y="50"/>
                    </a:lnTo>
                    <a:lnTo>
                      <a:pt x="184" y="50"/>
                    </a:lnTo>
                    <a:lnTo>
                      <a:pt x="181" y="50"/>
                    </a:lnTo>
                    <a:lnTo>
                      <a:pt x="179" y="50"/>
                    </a:lnTo>
                    <a:lnTo>
                      <a:pt x="176" y="51"/>
                    </a:lnTo>
                    <a:lnTo>
                      <a:pt x="174" y="52"/>
                    </a:lnTo>
                    <a:lnTo>
                      <a:pt x="171" y="52"/>
                    </a:lnTo>
                    <a:lnTo>
                      <a:pt x="168" y="53"/>
                    </a:lnTo>
                    <a:lnTo>
                      <a:pt x="165" y="53"/>
                    </a:lnTo>
                    <a:lnTo>
                      <a:pt x="162" y="54"/>
                    </a:lnTo>
                    <a:lnTo>
                      <a:pt x="159" y="54"/>
                    </a:lnTo>
                    <a:lnTo>
                      <a:pt x="155" y="54"/>
                    </a:lnTo>
                    <a:lnTo>
                      <a:pt x="151" y="53"/>
                    </a:lnTo>
                    <a:lnTo>
                      <a:pt x="148" y="54"/>
                    </a:lnTo>
                    <a:lnTo>
                      <a:pt x="145" y="54"/>
                    </a:lnTo>
                    <a:lnTo>
                      <a:pt x="142" y="54"/>
                    </a:lnTo>
                    <a:lnTo>
                      <a:pt x="139" y="54"/>
                    </a:lnTo>
                    <a:lnTo>
                      <a:pt x="136" y="54"/>
                    </a:lnTo>
                    <a:lnTo>
                      <a:pt x="133" y="54"/>
                    </a:lnTo>
                    <a:lnTo>
                      <a:pt x="130" y="53"/>
                    </a:lnTo>
                    <a:lnTo>
                      <a:pt x="128" y="53"/>
                    </a:lnTo>
                    <a:lnTo>
                      <a:pt x="125" y="53"/>
                    </a:lnTo>
                    <a:lnTo>
                      <a:pt x="122" y="53"/>
                    </a:lnTo>
                    <a:lnTo>
                      <a:pt x="119" y="53"/>
                    </a:lnTo>
                    <a:lnTo>
                      <a:pt x="116" y="53"/>
                    </a:lnTo>
                    <a:lnTo>
                      <a:pt x="113" y="54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6" y="53"/>
                    </a:lnTo>
                    <a:lnTo>
                      <a:pt x="104" y="53"/>
                    </a:lnTo>
                    <a:lnTo>
                      <a:pt x="101" y="53"/>
                    </a:lnTo>
                    <a:lnTo>
                      <a:pt x="98" y="53"/>
                    </a:lnTo>
                    <a:lnTo>
                      <a:pt x="96" y="53"/>
                    </a:lnTo>
                    <a:lnTo>
                      <a:pt x="93" y="54"/>
                    </a:lnTo>
                    <a:lnTo>
                      <a:pt x="89" y="54"/>
                    </a:lnTo>
                    <a:lnTo>
                      <a:pt x="86" y="53"/>
                    </a:lnTo>
                    <a:lnTo>
                      <a:pt x="83" y="54"/>
                    </a:lnTo>
                    <a:lnTo>
                      <a:pt x="80" y="54"/>
                    </a:lnTo>
                    <a:lnTo>
                      <a:pt x="77" y="55"/>
                    </a:lnTo>
                    <a:lnTo>
                      <a:pt x="74" y="56"/>
                    </a:lnTo>
                    <a:lnTo>
                      <a:pt x="69" y="57"/>
                    </a:lnTo>
                    <a:lnTo>
                      <a:pt x="64" y="57"/>
                    </a:lnTo>
                    <a:lnTo>
                      <a:pt x="59" y="57"/>
                    </a:lnTo>
                    <a:lnTo>
                      <a:pt x="55" y="57"/>
                    </a:lnTo>
                    <a:lnTo>
                      <a:pt x="49" y="57"/>
                    </a:lnTo>
                    <a:lnTo>
                      <a:pt x="46" y="57"/>
                    </a:lnTo>
                    <a:lnTo>
                      <a:pt x="43" y="57"/>
                    </a:lnTo>
                    <a:lnTo>
                      <a:pt x="40" y="57"/>
                    </a:lnTo>
                    <a:lnTo>
                      <a:pt x="36" y="57"/>
                    </a:lnTo>
                    <a:lnTo>
                      <a:pt x="31" y="55"/>
                    </a:lnTo>
                    <a:lnTo>
                      <a:pt x="27" y="55"/>
                    </a:lnTo>
                    <a:lnTo>
                      <a:pt x="23" y="55"/>
                    </a:lnTo>
                    <a:lnTo>
                      <a:pt x="20" y="55"/>
                    </a:lnTo>
                    <a:lnTo>
                      <a:pt x="17" y="55"/>
                    </a:lnTo>
                    <a:lnTo>
                      <a:pt x="13" y="55"/>
                    </a:lnTo>
                    <a:lnTo>
                      <a:pt x="10" y="54"/>
                    </a:lnTo>
                    <a:lnTo>
                      <a:pt x="7" y="53"/>
                    </a:lnTo>
                    <a:lnTo>
                      <a:pt x="4" y="53"/>
                    </a:lnTo>
                    <a:lnTo>
                      <a:pt x="1" y="52"/>
                    </a:lnTo>
                    <a:lnTo>
                      <a:pt x="0" y="52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8254" name="Group 666"/>
              <p:cNvGrpSpPr>
                <a:grpSpLocks/>
              </p:cNvGrpSpPr>
              <p:nvPr/>
            </p:nvGrpSpPr>
            <p:grpSpPr bwMode="auto">
              <a:xfrm>
                <a:off x="4334" y="2516"/>
                <a:ext cx="47" cy="37"/>
                <a:chOff x="4253" y="2700"/>
                <a:chExt cx="47" cy="37"/>
              </a:xfrm>
            </p:grpSpPr>
            <p:sp>
              <p:nvSpPr>
                <p:cNvPr id="8255" name="Freeform 667" descr="50%"/>
                <p:cNvSpPr>
                  <a:spLocks/>
                </p:cNvSpPr>
                <p:nvPr/>
              </p:nvSpPr>
              <p:spPr bwMode="auto">
                <a:xfrm>
                  <a:off x="4253" y="2706"/>
                  <a:ext cx="47" cy="31"/>
                </a:xfrm>
                <a:custGeom>
                  <a:avLst/>
                  <a:gdLst>
                    <a:gd name="T0" fmla="*/ 43 w 47"/>
                    <a:gd name="T1" fmla="*/ 27 h 31"/>
                    <a:gd name="T2" fmla="*/ 40 w 47"/>
                    <a:gd name="T3" fmla="*/ 24 h 31"/>
                    <a:gd name="T4" fmla="*/ 39 w 47"/>
                    <a:gd name="T5" fmla="*/ 22 h 31"/>
                    <a:gd name="T6" fmla="*/ 37 w 47"/>
                    <a:gd name="T7" fmla="*/ 21 h 31"/>
                    <a:gd name="T8" fmla="*/ 36 w 47"/>
                    <a:gd name="T9" fmla="*/ 19 h 31"/>
                    <a:gd name="T10" fmla="*/ 35 w 47"/>
                    <a:gd name="T11" fmla="*/ 17 h 31"/>
                    <a:gd name="T12" fmla="*/ 34 w 47"/>
                    <a:gd name="T13" fmla="*/ 16 h 31"/>
                    <a:gd name="T14" fmla="*/ 33 w 47"/>
                    <a:gd name="T15" fmla="*/ 14 h 31"/>
                    <a:gd name="T16" fmla="*/ 32 w 47"/>
                    <a:gd name="T17" fmla="*/ 12 h 31"/>
                    <a:gd name="T18" fmla="*/ 31 w 47"/>
                    <a:gd name="T19" fmla="*/ 10 h 31"/>
                    <a:gd name="T20" fmla="*/ 30 w 47"/>
                    <a:gd name="T21" fmla="*/ 7 h 31"/>
                    <a:gd name="T22" fmla="*/ 30 w 47"/>
                    <a:gd name="T23" fmla="*/ 5 h 31"/>
                    <a:gd name="T24" fmla="*/ 30 w 47"/>
                    <a:gd name="T25" fmla="*/ 3 h 31"/>
                    <a:gd name="T26" fmla="*/ 30 w 47"/>
                    <a:gd name="T27" fmla="*/ 0 h 31"/>
                    <a:gd name="T28" fmla="*/ 0 w 47"/>
                    <a:gd name="T29" fmla="*/ 0 h 31"/>
                    <a:gd name="T30" fmla="*/ 1 w 47"/>
                    <a:gd name="T31" fmla="*/ 2 h 31"/>
                    <a:gd name="T32" fmla="*/ 2 w 47"/>
                    <a:gd name="T33" fmla="*/ 4 h 31"/>
                    <a:gd name="T34" fmla="*/ 4 w 47"/>
                    <a:gd name="T35" fmla="*/ 6 h 31"/>
                    <a:gd name="T36" fmla="*/ 6 w 47"/>
                    <a:gd name="T37" fmla="*/ 9 h 31"/>
                    <a:gd name="T38" fmla="*/ 8 w 47"/>
                    <a:gd name="T39" fmla="*/ 11 h 31"/>
                    <a:gd name="T40" fmla="*/ 10 w 47"/>
                    <a:gd name="T41" fmla="*/ 13 h 31"/>
                    <a:gd name="T42" fmla="*/ 12 w 47"/>
                    <a:gd name="T43" fmla="*/ 15 h 31"/>
                    <a:gd name="T44" fmla="*/ 14 w 47"/>
                    <a:gd name="T45" fmla="*/ 17 h 31"/>
                    <a:gd name="T46" fmla="*/ 17 w 47"/>
                    <a:gd name="T47" fmla="*/ 19 h 31"/>
                    <a:gd name="T48" fmla="*/ 20 w 47"/>
                    <a:gd name="T49" fmla="*/ 22 h 31"/>
                    <a:gd name="T50" fmla="*/ 23 w 47"/>
                    <a:gd name="T51" fmla="*/ 23 h 31"/>
                    <a:gd name="T52" fmla="*/ 25 w 47"/>
                    <a:gd name="T53" fmla="*/ 24 h 31"/>
                    <a:gd name="T54" fmla="*/ 28 w 47"/>
                    <a:gd name="T55" fmla="*/ 26 h 31"/>
                    <a:gd name="T56" fmla="*/ 30 w 47"/>
                    <a:gd name="T57" fmla="*/ 27 h 31"/>
                    <a:gd name="T58" fmla="*/ 33 w 47"/>
                    <a:gd name="T59" fmla="*/ 28 h 31"/>
                    <a:gd name="T60" fmla="*/ 36 w 47"/>
                    <a:gd name="T61" fmla="*/ 28 h 31"/>
                    <a:gd name="T62" fmla="*/ 39 w 47"/>
                    <a:gd name="T63" fmla="*/ 29 h 31"/>
                    <a:gd name="T64" fmla="*/ 41 w 47"/>
                    <a:gd name="T65" fmla="*/ 29 h 31"/>
                    <a:gd name="T66" fmla="*/ 44 w 47"/>
                    <a:gd name="T67" fmla="*/ 29 h 31"/>
                    <a:gd name="T68" fmla="*/ 46 w 47"/>
                    <a:gd name="T69" fmla="*/ 30 h 31"/>
                    <a:gd name="T70" fmla="*/ 43 w 47"/>
                    <a:gd name="T71" fmla="*/ 27 h 31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47" h="31">
                      <a:moveTo>
                        <a:pt x="43" y="27"/>
                      </a:moveTo>
                      <a:lnTo>
                        <a:pt x="40" y="24"/>
                      </a:lnTo>
                      <a:lnTo>
                        <a:pt x="39" y="22"/>
                      </a:lnTo>
                      <a:lnTo>
                        <a:pt x="37" y="21"/>
                      </a:lnTo>
                      <a:lnTo>
                        <a:pt x="36" y="19"/>
                      </a:lnTo>
                      <a:lnTo>
                        <a:pt x="35" y="17"/>
                      </a:lnTo>
                      <a:lnTo>
                        <a:pt x="34" y="16"/>
                      </a:lnTo>
                      <a:lnTo>
                        <a:pt x="33" y="14"/>
                      </a:lnTo>
                      <a:lnTo>
                        <a:pt x="32" y="12"/>
                      </a:lnTo>
                      <a:lnTo>
                        <a:pt x="31" y="10"/>
                      </a:lnTo>
                      <a:lnTo>
                        <a:pt x="30" y="7"/>
                      </a:lnTo>
                      <a:lnTo>
                        <a:pt x="30" y="5"/>
                      </a:lnTo>
                      <a:lnTo>
                        <a:pt x="30" y="3"/>
                      </a:lnTo>
                      <a:lnTo>
                        <a:pt x="30" y="0"/>
                      </a:lnTo>
                      <a:lnTo>
                        <a:pt x="0" y="0"/>
                      </a:lnTo>
                      <a:lnTo>
                        <a:pt x="1" y="2"/>
                      </a:lnTo>
                      <a:lnTo>
                        <a:pt x="2" y="4"/>
                      </a:lnTo>
                      <a:lnTo>
                        <a:pt x="4" y="6"/>
                      </a:lnTo>
                      <a:lnTo>
                        <a:pt x="6" y="9"/>
                      </a:lnTo>
                      <a:lnTo>
                        <a:pt x="8" y="11"/>
                      </a:lnTo>
                      <a:lnTo>
                        <a:pt x="10" y="13"/>
                      </a:lnTo>
                      <a:lnTo>
                        <a:pt x="12" y="15"/>
                      </a:lnTo>
                      <a:lnTo>
                        <a:pt x="14" y="17"/>
                      </a:lnTo>
                      <a:lnTo>
                        <a:pt x="17" y="19"/>
                      </a:lnTo>
                      <a:lnTo>
                        <a:pt x="20" y="22"/>
                      </a:lnTo>
                      <a:lnTo>
                        <a:pt x="23" y="23"/>
                      </a:lnTo>
                      <a:lnTo>
                        <a:pt x="25" y="24"/>
                      </a:lnTo>
                      <a:lnTo>
                        <a:pt x="28" y="26"/>
                      </a:lnTo>
                      <a:lnTo>
                        <a:pt x="30" y="27"/>
                      </a:lnTo>
                      <a:lnTo>
                        <a:pt x="33" y="28"/>
                      </a:lnTo>
                      <a:lnTo>
                        <a:pt x="36" y="28"/>
                      </a:lnTo>
                      <a:lnTo>
                        <a:pt x="39" y="29"/>
                      </a:lnTo>
                      <a:lnTo>
                        <a:pt x="41" y="29"/>
                      </a:lnTo>
                      <a:lnTo>
                        <a:pt x="44" y="29"/>
                      </a:lnTo>
                      <a:lnTo>
                        <a:pt x="46" y="30"/>
                      </a:lnTo>
                      <a:lnTo>
                        <a:pt x="43" y="27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56" name="Freeform 668" descr="50%"/>
                <p:cNvSpPr>
                  <a:spLocks/>
                </p:cNvSpPr>
                <p:nvPr/>
              </p:nvSpPr>
              <p:spPr bwMode="auto">
                <a:xfrm>
                  <a:off x="4254" y="2700"/>
                  <a:ext cx="21" cy="7"/>
                </a:xfrm>
                <a:custGeom>
                  <a:avLst/>
                  <a:gdLst>
                    <a:gd name="T0" fmla="*/ 0 w 21"/>
                    <a:gd name="T1" fmla="*/ 6 h 7"/>
                    <a:gd name="T2" fmla="*/ 0 w 21"/>
                    <a:gd name="T3" fmla="*/ 6 h 7"/>
                    <a:gd name="T4" fmla="*/ 1 w 21"/>
                    <a:gd name="T5" fmla="*/ 0 h 7"/>
                    <a:gd name="T6" fmla="*/ 20 w 21"/>
                    <a:gd name="T7" fmla="*/ 0 h 7"/>
                    <a:gd name="T8" fmla="*/ 20 w 21"/>
                    <a:gd name="T9" fmla="*/ 6 h 7"/>
                    <a:gd name="T10" fmla="*/ 0 w 21"/>
                    <a:gd name="T11" fmla="*/ 6 h 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21" h="7">
                      <a:moveTo>
                        <a:pt x="0" y="6"/>
                      </a:moveTo>
                      <a:lnTo>
                        <a:pt x="0" y="6"/>
                      </a:lnTo>
                      <a:lnTo>
                        <a:pt x="1" y="0"/>
                      </a:lnTo>
                      <a:lnTo>
                        <a:pt x="20" y="0"/>
                      </a:lnTo>
                      <a:lnTo>
                        <a:pt x="20" y="6"/>
                      </a:lnTo>
                      <a:lnTo>
                        <a:pt x="0" y="6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8248" name="Rectangle 669"/>
            <p:cNvSpPr>
              <a:spLocks noChangeArrowheads="1"/>
            </p:cNvSpPr>
            <p:nvPr/>
          </p:nvSpPr>
          <p:spPr bwMode="auto">
            <a:xfrm>
              <a:off x="4624" y="2134"/>
              <a:ext cx="1097" cy="5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/>
            <a:p>
              <a:pPr eaLnBrk="0" hangingPunct="0"/>
              <a:r>
                <a:rPr kumimoji="1" lang="en-US" altLang="zh-CN" dirty="0">
                  <a:solidFill>
                    <a:srgbClr val="0000FF"/>
                  </a:solidFill>
                  <a:latin typeface="Comic Sans MS" pitchFamily="66" charset="0"/>
                </a:rPr>
                <a:t>Embedded system</a:t>
              </a:r>
            </a:p>
          </p:txBody>
        </p: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23" name="Picture 3" descr="Berkeley NOW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366" y="1275606"/>
            <a:ext cx="5503268" cy="2925325"/>
          </a:xfr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4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Incredible performance improvement</a:t>
            </a:r>
          </a:p>
        </p:txBody>
      </p:sp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0992457"/>
              </p:ext>
            </p:extLst>
          </p:nvPr>
        </p:nvGraphicFramePr>
        <p:xfrm>
          <a:off x="1432782" y="751871"/>
          <a:ext cx="5898604" cy="39441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246" name="Line 4"/>
          <p:cNvSpPr>
            <a:spLocks noChangeShapeType="1"/>
          </p:cNvSpPr>
          <p:nvPr/>
        </p:nvSpPr>
        <p:spPr bwMode="auto">
          <a:xfrm flipV="1">
            <a:off x="2260714" y="3726352"/>
            <a:ext cx="914400" cy="62865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47" name="Line 5"/>
          <p:cNvSpPr>
            <a:spLocks noChangeShapeType="1"/>
          </p:cNvSpPr>
          <p:nvPr/>
        </p:nvSpPr>
        <p:spPr bwMode="auto">
          <a:xfrm flipV="1">
            <a:off x="3230992" y="941905"/>
            <a:ext cx="3263503" cy="2763440"/>
          </a:xfrm>
          <a:prstGeom prst="line">
            <a:avLst/>
          </a:prstGeom>
          <a:noFill/>
          <a:ln w="12700" cap="sq">
            <a:solidFill>
              <a:srgbClr val="00FF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48" name="Line 6"/>
          <p:cNvSpPr>
            <a:spLocks noChangeShapeType="1"/>
          </p:cNvSpPr>
          <p:nvPr/>
        </p:nvSpPr>
        <p:spPr bwMode="auto">
          <a:xfrm flipV="1">
            <a:off x="3124795" y="3701044"/>
            <a:ext cx="108347" cy="608409"/>
          </a:xfrm>
          <a:prstGeom prst="line">
            <a:avLst/>
          </a:prstGeom>
          <a:noFill/>
          <a:ln w="12700" cap="sq">
            <a:solidFill>
              <a:srgbClr val="00FF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49" name="Line 7"/>
          <p:cNvSpPr>
            <a:spLocks noChangeShapeType="1"/>
          </p:cNvSpPr>
          <p:nvPr/>
        </p:nvSpPr>
        <p:spPr bwMode="auto">
          <a:xfrm flipH="1">
            <a:off x="6494495" y="951310"/>
            <a:ext cx="4763" cy="3240881"/>
          </a:xfrm>
          <a:prstGeom prst="line">
            <a:avLst/>
          </a:prstGeom>
          <a:noFill/>
          <a:ln w="12700" cap="sq">
            <a:solidFill>
              <a:srgbClr val="00FF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50" name="Line 8"/>
          <p:cNvSpPr>
            <a:spLocks noChangeShapeType="1"/>
          </p:cNvSpPr>
          <p:nvPr/>
        </p:nvSpPr>
        <p:spPr bwMode="auto">
          <a:xfrm>
            <a:off x="3200400" y="4400550"/>
            <a:ext cx="3100388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51" name="Line 9"/>
          <p:cNvSpPr>
            <a:spLocks noChangeShapeType="1"/>
          </p:cNvSpPr>
          <p:nvPr/>
        </p:nvSpPr>
        <p:spPr bwMode="auto">
          <a:xfrm flipV="1">
            <a:off x="2275810" y="4188300"/>
            <a:ext cx="742950" cy="171450"/>
          </a:xfrm>
          <a:prstGeom prst="line">
            <a:avLst/>
          </a:prstGeom>
          <a:noFill/>
          <a:ln w="12700" cap="sq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2048604" y="1935680"/>
            <a:ext cx="4919663" cy="129266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9pPr>
          </a:lstStyle>
          <a:p>
            <a:pPr eaLnBrk="1" hangingPunct="1"/>
            <a:r>
              <a:rPr lang="en-US" altLang="zh-CN" sz="1500" b="1" dirty="0">
                <a:latin typeface="Arial" pitchFamily="34" charset="0"/>
              </a:rPr>
              <a:t>Now 500$ computer with more perf, More MM and more Disk</a:t>
            </a:r>
          </a:p>
          <a:p>
            <a:pPr eaLnBrk="1" hangingPunct="1"/>
            <a:r>
              <a:rPr lang="en-US" altLang="zh-CN" sz="1500" b="1" dirty="0">
                <a:latin typeface="Arial" pitchFamily="34" charset="0"/>
              </a:rPr>
              <a:t>||</a:t>
            </a:r>
          </a:p>
          <a:p>
            <a:pPr eaLnBrk="1" hangingPunct="1"/>
            <a:r>
              <a:rPr lang="en-US" altLang="zh-CN" sz="1500" b="1" dirty="0">
                <a:latin typeface="Arial" pitchFamily="34" charset="0"/>
              </a:rPr>
              <a:t>1,000,000 $ computer</a:t>
            </a:r>
            <a:r>
              <a:rPr lang="zh-CN" altLang="en-US" sz="1500" b="1" dirty="0">
                <a:latin typeface="Arial" pitchFamily="34" charset="0"/>
              </a:rPr>
              <a:t> </a:t>
            </a:r>
            <a:r>
              <a:rPr lang="en-US" altLang="zh-CN" sz="1500" b="1" dirty="0">
                <a:latin typeface="Arial" pitchFamily="34" charset="0"/>
              </a:rPr>
              <a:t>in</a:t>
            </a:r>
            <a:r>
              <a:rPr lang="zh-CN" altLang="en-US" sz="1500" b="1" dirty="0">
                <a:latin typeface="Arial" pitchFamily="34" charset="0"/>
              </a:rPr>
              <a:t> </a:t>
            </a:r>
            <a:r>
              <a:rPr lang="en-US" altLang="zh-CN" sz="1500" b="1" dirty="0">
                <a:latin typeface="Arial" pitchFamily="34" charset="0"/>
              </a:rPr>
              <a:t>1985</a:t>
            </a:r>
          </a:p>
          <a:p>
            <a:pPr eaLnBrk="1" hangingPunct="1"/>
            <a:r>
              <a:rPr lang="en-US" altLang="zh-CN" dirty="0">
                <a:latin typeface="Arial" pitchFamily="34" charset="0"/>
              </a:rPr>
              <a:t> </a:t>
            </a:r>
          </a:p>
        </p:txBody>
      </p:sp>
      <p:sp>
        <p:nvSpPr>
          <p:cNvPr id="10253" name="Text Box 11"/>
          <p:cNvSpPr txBox="1">
            <a:spLocks noChangeArrowheads="1"/>
          </p:cNvSpPr>
          <p:nvPr/>
        </p:nvSpPr>
        <p:spPr bwMode="auto">
          <a:xfrm>
            <a:off x="827584" y="4196569"/>
            <a:ext cx="92868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chemeClr val="tx2"/>
                </a:solidFill>
                <a:latin typeface="Arial" pitchFamily="34" charset="0"/>
              </a:rPr>
              <a:t>25% /year</a:t>
            </a:r>
          </a:p>
        </p:txBody>
      </p:sp>
      <p:sp>
        <p:nvSpPr>
          <p:cNvPr id="10255" name="Rectangle 13"/>
          <p:cNvSpPr>
            <a:spLocks noChangeArrowheads="1"/>
          </p:cNvSpPr>
          <p:nvPr/>
        </p:nvSpPr>
        <p:spPr bwMode="auto">
          <a:xfrm>
            <a:off x="5354744" y="298251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>
              <a:latin typeface="Arial" pitchFamily="34" charset="0"/>
            </a:endParaRPr>
          </a:p>
        </p:txBody>
      </p:sp>
      <p:sp>
        <p:nvSpPr>
          <p:cNvPr id="10256" name="Text Box 14"/>
          <p:cNvSpPr txBox="1">
            <a:spLocks noChangeArrowheads="1"/>
          </p:cNvSpPr>
          <p:nvPr/>
        </p:nvSpPr>
        <p:spPr bwMode="auto">
          <a:xfrm>
            <a:off x="6526278" y="1545432"/>
            <a:ext cx="11849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CC00CC"/>
                </a:solidFill>
                <a:latin typeface="Arial" pitchFamily="34" charset="0"/>
              </a:rPr>
              <a:t>20%/year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0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3"/>
          <p:cNvSpPr>
            <a:spLocks noGrp="1" noChangeArrowheads="1"/>
          </p:cNvSpPr>
          <p:nvPr>
            <p:ph idx="1"/>
          </p:nvPr>
        </p:nvSpPr>
        <p:spPr>
          <a:xfrm>
            <a:off x="661629" y="844369"/>
            <a:ext cx="7820742" cy="3314700"/>
          </a:xfrm>
        </p:spPr>
        <p:txBody>
          <a:bodyPr/>
          <a:lstStyle/>
          <a:p>
            <a:r>
              <a:rPr lang="en-US" altLang="zh-CN" dirty="0"/>
              <a:t>Technological improvements more steady than progress in computer architecture</a:t>
            </a:r>
          </a:p>
          <a:p>
            <a:r>
              <a:rPr lang="en-US" altLang="zh-CN" dirty="0"/>
              <a:t>After emergence of RISC, computer design emphasized both architectural innovation and efficient use of technology improvements.</a:t>
            </a:r>
          </a:p>
          <a:p>
            <a:pPr lvl="1"/>
            <a:r>
              <a:rPr lang="en-US" altLang="zh-CN" dirty="0"/>
              <a:t>CA plays an important role in performance Improvement</a:t>
            </a:r>
          </a:p>
          <a:p>
            <a:r>
              <a:rPr lang="en-US" altLang="zh-CN" dirty="0"/>
              <a:t>Little ILP left to exploit due to power dissipation</a:t>
            </a:r>
          </a:p>
          <a:p>
            <a:pPr lvl="1"/>
            <a:r>
              <a:rPr lang="en-US" altLang="zh-CN" dirty="0"/>
              <a:t>Faster uniprocessor  =&gt; </a:t>
            </a:r>
            <a:r>
              <a:rPr lang="en-US" altLang="zh-CN" dirty="0">
                <a:sym typeface="Wingdings" pitchFamily="2" charset="2"/>
              </a:rPr>
              <a:t> multiple processor on chip</a:t>
            </a:r>
          </a:p>
          <a:p>
            <a:pPr lvl="1"/>
            <a:r>
              <a:rPr lang="en-US" altLang="zh-CN" dirty="0"/>
              <a:t>ILP  =&gt; TLP and DLP</a:t>
            </a:r>
          </a:p>
          <a:p>
            <a:pPr lvl="1"/>
            <a:r>
              <a:rPr lang="en-US" altLang="zh-CN" dirty="0"/>
              <a:t>Implicitly, compiler and hardware  =&gt; Explicitly, programmer and arch engineer</a:t>
            </a: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78AD32A-1F19-6540-8A21-DACDD1C88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Develop of x86</a:t>
            </a:r>
            <a:endParaRPr kumimoji="1" lang="zh-CN" altLang="en-US" dirty="0"/>
          </a:p>
        </p:txBody>
      </p:sp>
      <p:sp>
        <p:nvSpPr>
          <p:cNvPr id="185346" name="Rectangle 2"/>
          <p:cNvSpPr>
            <a:spLocks noChangeArrowheads="1"/>
          </p:cNvSpPr>
          <p:nvPr/>
        </p:nvSpPr>
        <p:spPr bwMode="auto">
          <a:xfrm>
            <a:off x="1843088" y="386310"/>
            <a:ext cx="5724525" cy="540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48" tIns="34525" rIns="69048" bIns="34525" anchor="b"/>
          <a:lstStyle/>
          <a:p>
            <a:pPr algn="l" eaLnBrk="0" hangingPunct="0">
              <a:lnSpc>
                <a:spcPct val="90000"/>
              </a:lnSpc>
              <a:defRPr/>
            </a:pPr>
            <a:r>
              <a:rPr lang="en-US" altLang="zh-CN" sz="2175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rPr>
              <a:t>Process ability </a:t>
            </a:r>
            <a:r>
              <a:rPr lang="en-US" altLang="zh-CN" sz="2175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  <a:sym typeface="Wingdings" pitchFamily="2" charset="2"/>
              </a:rPr>
              <a:t> New Applications</a:t>
            </a:r>
          </a:p>
        </p:txBody>
      </p:sp>
      <p:pic>
        <p:nvPicPr>
          <p:cNvPr id="18534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700" y="2861073"/>
            <a:ext cx="1113235" cy="854869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</p:pic>
      <p:pic>
        <p:nvPicPr>
          <p:cNvPr id="185349" name="Picture 5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344" y="2463404"/>
            <a:ext cx="1138238" cy="847725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85350" name="Picture 6"/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9272" y="2084785"/>
            <a:ext cx="1103709" cy="827484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85351" name="Picture 7"/>
          <p:cNvPicPr>
            <a:picLocks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25" y="1678782"/>
            <a:ext cx="1100138" cy="854869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85352" name="Picture 8" descr="screen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073" y="1283494"/>
            <a:ext cx="1125140" cy="84415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5353" name="Group 9"/>
          <p:cNvGrpSpPr>
            <a:grpSpLocks/>
          </p:cNvGrpSpPr>
          <p:nvPr/>
        </p:nvGrpSpPr>
        <p:grpSpPr bwMode="auto">
          <a:xfrm>
            <a:off x="1680150" y="1147586"/>
            <a:ext cx="5141952" cy="3478337"/>
            <a:chOff x="521" y="930"/>
            <a:chExt cx="4798" cy="3244"/>
          </a:xfrm>
        </p:grpSpPr>
        <p:sp>
          <p:nvSpPr>
            <p:cNvPr id="185354" name="Rectangle 10"/>
            <p:cNvSpPr>
              <a:spLocks noChangeArrowheads="1"/>
            </p:cNvSpPr>
            <p:nvPr/>
          </p:nvSpPr>
          <p:spPr bwMode="auto">
            <a:xfrm>
              <a:off x="1431" y="3851"/>
              <a:ext cx="609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44" tIns="34523" rIns="69044" bIns="34523">
              <a:spAutoFit/>
            </a:bodyPr>
            <a:lstStyle/>
            <a:p>
              <a:pPr eaLnBrk="0" hangingPunct="0">
                <a:defRPr/>
              </a:pPr>
              <a:r>
                <a:rPr lang="zh-TW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PMingLiU" pitchFamily="18" charset="-120"/>
                </a:rPr>
                <a:t>1975</a:t>
              </a:r>
            </a:p>
          </p:txBody>
        </p:sp>
        <p:sp>
          <p:nvSpPr>
            <p:cNvPr id="185355" name="Rectangle 11"/>
            <p:cNvSpPr>
              <a:spLocks noChangeArrowheads="1"/>
            </p:cNvSpPr>
            <p:nvPr/>
          </p:nvSpPr>
          <p:spPr bwMode="auto">
            <a:xfrm>
              <a:off x="2016" y="3851"/>
              <a:ext cx="609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44" tIns="34523" rIns="69044" bIns="34523">
              <a:spAutoFit/>
            </a:bodyPr>
            <a:lstStyle/>
            <a:p>
              <a:pPr eaLnBrk="0" hangingPunct="0">
                <a:defRPr/>
              </a:pPr>
              <a:r>
                <a:rPr lang="zh-TW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PMingLiU" pitchFamily="18" charset="-120"/>
                </a:rPr>
                <a:t>1980</a:t>
              </a:r>
            </a:p>
          </p:txBody>
        </p:sp>
        <p:sp>
          <p:nvSpPr>
            <p:cNvPr id="185356" name="Rectangle 12"/>
            <p:cNvSpPr>
              <a:spLocks noChangeArrowheads="1"/>
            </p:cNvSpPr>
            <p:nvPr/>
          </p:nvSpPr>
          <p:spPr bwMode="auto">
            <a:xfrm>
              <a:off x="2600" y="3851"/>
              <a:ext cx="609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44" tIns="34523" rIns="69044" bIns="34523">
              <a:spAutoFit/>
            </a:bodyPr>
            <a:lstStyle/>
            <a:p>
              <a:pPr eaLnBrk="0" hangingPunct="0">
                <a:defRPr/>
              </a:pPr>
              <a:r>
                <a:rPr lang="zh-TW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PMingLiU" pitchFamily="18" charset="-120"/>
                </a:rPr>
                <a:t>1985</a:t>
              </a:r>
            </a:p>
          </p:txBody>
        </p:sp>
        <p:sp>
          <p:nvSpPr>
            <p:cNvPr id="185357" name="Rectangle 13"/>
            <p:cNvSpPr>
              <a:spLocks noChangeArrowheads="1"/>
            </p:cNvSpPr>
            <p:nvPr/>
          </p:nvSpPr>
          <p:spPr bwMode="auto">
            <a:xfrm>
              <a:off x="3184" y="3851"/>
              <a:ext cx="609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44" tIns="34523" rIns="69044" bIns="34523">
              <a:spAutoFit/>
            </a:bodyPr>
            <a:lstStyle/>
            <a:p>
              <a:pPr eaLnBrk="0" hangingPunct="0">
                <a:defRPr/>
              </a:pPr>
              <a:r>
                <a:rPr lang="zh-TW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PMingLiU" pitchFamily="18" charset="-120"/>
                </a:rPr>
                <a:t>1990</a:t>
              </a:r>
            </a:p>
          </p:txBody>
        </p:sp>
        <p:sp>
          <p:nvSpPr>
            <p:cNvPr id="185358" name="Rectangle 14"/>
            <p:cNvSpPr>
              <a:spLocks noChangeArrowheads="1"/>
            </p:cNvSpPr>
            <p:nvPr/>
          </p:nvSpPr>
          <p:spPr bwMode="auto">
            <a:xfrm>
              <a:off x="3804" y="3851"/>
              <a:ext cx="609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44" tIns="34523" rIns="69044" bIns="34523">
              <a:spAutoFit/>
            </a:bodyPr>
            <a:lstStyle/>
            <a:p>
              <a:pPr eaLnBrk="0" hangingPunct="0">
                <a:defRPr/>
              </a:pPr>
              <a:r>
                <a:rPr lang="zh-TW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PMingLiU" pitchFamily="18" charset="-120"/>
                </a:rPr>
                <a:t>1995</a:t>
              </a:r>
            </a:p>
          </p:txBody>
        </p:sp>
        <p:sp>
          <p:nvSpPr>
            <p:cNvPr id="185359" name="Rectangle 15"/>
            <p:cNvSpPr>
              <a:spLocks noChangeArrowheads="1"/>
            </p:cNvSpPr>
            <p:nvPr/>
          </p:nvSpPr>
          <p:spPr bwMode="auto">
            <a:xfrm>
              <a:off x="4417" y="3851"/>
              <a:ext cx="609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44" tIns="34523" rIns="69044" bIns="34523">
              <a:spAutoFit/>
            </a:bodyPr>
            <a:lstStyle/>
            <a:p>
              <a:pPr eaLnBrk="0" hangingPunct="0">
                <a:defRPr/>
              </a:pPr>
              <a:r>
                <a:rPr lang="zh-TW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PMingLiU" pitchFamily="18" charset="-120"/>
                </a:rPr>
                <a:t>2000</a:t>
              </a:r>
            </a:p>
          </p:txBody>
        </p:sp>
        <p:sp>
          <p:nvSpPr>
            <p:cNvPr id="185360" name="Rectangle 16"/>
            <p:cNvSpPr>
              <a:spLocks noChangeArrowheads="1"/>
            </p:cNvSpPr>
            <p:nvPr/>
          </p:nvSpPr>
          <p:spPr bwMode="auto">
            <a:xfrm>
              <a:off x="521" y="1085"/>
              <a:ext cx="567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44" tIns="34523" rIns="69044" bIns="34523">
              <a:spAutoFit/>
            </a:bodyPr>
            <a:lstStyle/>
            <a:p>
              <a:pPr algn="r" eaLnBrk="0" hangingPunct="0">
                <a:defRPr/>
              </a:pPr>
              <a:r>
                <a:rPr lang="zh-TW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PMingLiU" pitchFamily="18" charset="-120"/>
                </a:rPr>
                <a:t>10,000</a:t>
              </a:r>
            </a:p>
          </p:txBody>
        </p:sp>
        <p:sp>
          <p:nvSpPr>
            <p:cNvPr id="185361" name="Rectangle 17"/>
            <p:cNvSpPr>
              <a:spLocks noChangeArrowheads="1"/>
            </p:cNvSpPr>
            <p:nvPr/>
          </p:nvSpPr>
          <p:spPr bwMode="auto">
            <a:xfrm>
              <a:off x="600" y="1568"/>
              <a:ext cx="488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44" tIns="34523" rIns="69044" bIns="34523">
              <a:spAutoFit/>
            </a:bodyPr>
            <a:lstStyle/>
            <a:p>
              <a:pPr algn="r" eaLnBrk="0" hangingPunct="0">
                <a:defRPr/>
              </a:pPr>
              <a:r>
                <a:rPr lang="zh-TW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PMingLiU" pitchFamily="18" charset="-120"/>
                </a:rPr>
                <a:t>1,000</a:t>
              </a:r>
            </a:p>
          </p:txBody>
        </p:sp>
        <p:sp>
          <p:nvSpPr>
            <p:cNvPr id="185362" name="Rectangle 18"/>
            <p:cNvSpPr>
              <a:spLocks noChangeArrowheads="1"/>
            </p:cNvSpPr>
            <p:nvPr/>
          </p:nvSpPr>
          <p:spPr bwMode="auto">
            <a:xfrm>
              <a:off x="800" y="2563"/>
              <a:ext cx="289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44" tIns="34523" rIns="69044" bIns="34523">
              <a:spAutoFit/>
            </a:bodyPr>
            <a:lstStyle/>
            <a:p>
              <a:pPr algn="r" eaLnBrk="0" hangingPunct="0">
                <a:defRPr/>
              </a:pPr>
              <a:r>
                <a:rPr lang="zh-TW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PMingLiU" pitchFamily="18" charset="-120"/>
                </a:rPr>
                <a:t>10</a:t>
              </a:r>
            </a:p>
          </p:txBody>
        </p:sp>
        <p:sp>
          <p:nvSpPr>
            <p:cNvPr id="185363" name="Rectangle 19"/>
            <p:cNvSpPr>
              <a:spLocks noChangeArrowheads="1"/>
            </p:cNvSpPr>
            <p:nvPr/>
          </p:nvSpPr>
          <p:spPr bwMode="auto">
            <a:xfrm>
              <a:off x="721" y="2048"/>
              <a:ext cx="368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44" tIns="34523" rIns="69044" bIns="34523">
              <a:spAutoFit/>
            </a:bodyPr>
            <a:lstStyle/>
            <a:p>
              <a:pPr algn="r" eaLnBrk="0" hangingPunct="0">
                <a:defRPr/>
              </a:pPr>
              <a:r>
                <a:rPr lang="zh-TW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PMingLiU" pitchFamily="18" charset="-120"/>
                </a:rPr>
                <a:t>100</a:t>
              </a:r>
            </a:p>
          </p:txBody>
        </p:sp>
        <p:sp>
          <p:nvSpPr>
            <p:cNvPr id="185364" name="Rectangle 20"/>
            <p:cNvSpPr>
              <a:spLocks noChangeArrowheads="1"/>
            </p:cNvSpPr>
            <p:nvPr/>
          </p:nvSpPr>
          <p:spPr bwMode="auto">
            <a:xfrm>
              <a:off x="880" y="3011"/>
              <a:ext cx="209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44" tIns="34523" rIns="69044" bIns="34523">
              <a:spAutoFit/>
            </a:bodyPr>
            <a:lstStyle/>
            <a:p>
              <a:pPr algn="r" eaLnBrk="0" hangingPunct="0">
                <a:defRPr/>
              </a:pPr>
              <a:r>
                <a:rPr lang="zh-TW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PMingLiU" pitchFamily="18" charset="-120"/>
                </a:rPr>
                <a:t>1</a:t>
              </a:r>
            </a:p>
          </p:txBody>
        </p:sp>
        <p:sp>
          <p:nvSpPr>
            <p:cNvPr id="185365" name="Rectangle 21"/>
            <p:cNvSpPr>
              <a:spLocks noChangeArrowheads="1"/>
            </p:cNvSpPr>
            <p:nvPr/>
          </p:nvSpPr>
          <p:spPr bwMode="auto">
            <a:xfrm>
              <a:off x="760" y="3473"/>
              <a:ext cx="329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44" tIns="34523" rIns="69044" bIns="34523">
              <a:spAutoFit/>
            </a:bodyPr>
            <a:lstStyle/>
            <a:p>
              <a:pPr algn="r" eaLnBrk="0" hangingPunct="0">
                <a:defRPr/>
              </a:pPr>
              <a:r>
                <a:rPr lang="zh-TW" alt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PMingLiU" pitchFamily="18" charset="-120"/>
                </a:rPr>
                <a:t>0.1</a:t>
              </a:r>
            </a:p>
          </p:txBody>
        </p:sp>
        <p:sp>
          <p:nvSpPr>
            <p:cNvPr id="185366" name="Rectangle 22"/>
            <p:cNvSpPr>
              <a:spLocks noChangeArrowheads="1"/>
            </p:cNvSpPr>
            <p:nvPr/>
          </p:nvSpPr>
          <p:spPr bwMode="auto">
            <a:xfrm>
              <a:off x="585" y="930"/>
              <a:ext cx="482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9044" tIns="34523" rIns="69044" bIns="34523">
              <a:spAutoFit/>
            </a:bodyPr>
            <a:lstStyle/>
            <a:p>
              <a:pPr eaLnBrk="0" hangingPunct="0">
                <a:defRPr/>
              </a:pPr>
              <a:r>
                <a:rPr lang="en-US" altLang="zh-TW" sz="12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PMingLiU" pitchFamily="18" charset="-120"/>
                </a:rPr>
                <a:t>MIPS</a:t>
              </a:r>
            </a:p>
          </p:txBody>
        </p:sp>
        <p:sp>
          <p:nvSpPr>
            <p:cNvPr id="12351" name="Freeform 23"/>
            <p:cNvSpPr>
              <a:spLocks/>
            </p:cNvSpPr>
            <p:nvPr/>
          </p:nvSpPr>
          <p:spPr bwMode="auto">
            <a:xfrm>
              <a:off x="1116" y="1176"/>
              <a:ext cx="4203" cy="2661"/>
            </a:xfrm>
            <a:custGeom>
              <a:avLst/>
              <a:gdLst>
                <a:gd name="T0" fmla="*/ 0 w 5000"/>
                <a:gd name="T1" fmla="*/ 0 h 3016"/>
                <a:gd name="T2" fmla="*/ 0 w 5000"/>
                <a:gd name="T3" fmla="*/ 2661 h 3016"/>
                <a:gd name="T4" fmla="*/ 4203 w 5000"/>
                <a:gd name="T5" fmla="*/ 2661 h 30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00" h="3016">
                  <a:moveTo>
                    <a:pt x="0" y="0"/>
                  </a:moveTo>
                  <a:lnTo>
                    <a:pt x="0" y="3016"/>
                  </a:lnTo>
                  <a:lnTo>
                    <a:pt x="5000" y="3016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oval" w="med" len="med"/>
              <a:tailEnd type="oval" w="med" len="med"/>
            </a:ln>
            <a:effectLst>
              <a:outerShdw dist="1796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5368" name="Group 24"/>
          <p:cNvGrpSpPr>
            <a:grpSpLocks/>
          </p:cNvGrpSpPr>
          <p:nvPr/>
        </p:nvGrpSpPr>
        <p:grpSpPr bwMode="auto">
          <a:xfrm>
            <a:off x="3105150" y="1597819"/>
            <a:ext cx="4482400" cy="2413806"/>
            <a:chOff x="1831" y="1174"/>
            <a:chExt cx="4185" cy="2251"/>
          </a:xfrm>
        </p:grpSpPr>
        <p:sp>
          <p:nvSpPr>
            <p:cNvPr id="185369" name="Rectangle 25"/>
            <p:cNvSpPr>
              <a:spLocks noChangeArrowheads="1"/>
            </p:cNvSpPr>
            <p:nvPr/>
          </p:nvSpPr>
          <p:spPr bwMode="auto">
            <a:xfrm>
              <a:off x="1934" y="3102"/>
              <a:ext cx="609" cy="323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9044" tIns="34523" rIns="69044" bIns="34523">
              <a:spAutoFit/>
            </a:bodyPr>
            <a:lstStyle/>
            <a:p>
              <a:pPr algn="l" eaLnBrk="0" hangingPunct="0">
                <a:defRPr/>
              </a:pPr>
              <a:r>
                <a:rPr lang="zh-TW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PMingLiU" pitchFamily="18" charset="-120"/>
                </a:rPr>
                <a:t>8086</a:t>
              </a:r>
            </a:p>
          </p:txBody>
        </p:sp>
        <p:sp>
          <p:nvSpPr>
            <p:cNvPr id="185370" name="Rectangle 26"/>
            <p:cNvSpPr>
              <a:spLocks noChangeArrowheads="1"/>
            </p:cNvSpPr>
            <p:nvPr/>
          </p:nvSpPr>
          <p:spPr bwMode="auto">
            <a:xfrm>
              <a:off x="4647" y="1261"/>
              <a:ext cx="1369" cy="323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9044" tIns="34523" rIns="69044" bIns="34523">
              <a:spAutoFit/>
            </a:bodyPr>
            <a:lstStyle/>
            <a:p>
              <a:pPr algn="l" eaLnBrk="0" hangingPunct="0">
                <a:defRPr/>
              </a:pPr>
              <a:r>
                <a:rPr lang="en-US" altLang="zh-CN" sz="2400" b="1" baseline="-14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Helvetica" pitchFamily="34" charset="0"/>
                </a:rPr>
                <a:t>Pentium</a:t>
              </a:r>
              <a:r>
                <a:rPr lang="en-US" altLang="zh-CN" sz="2400" baseline="-14000" dirty="0">
                  <a:latin typeface="Helvetica" pitchFamily="34" charset="0"/>
                </a:rPr>
                <a:t> </a:t>
              </a:r>
              <a:r>
                <a:rPr lang="en-US" altLang="zh-CN" b="1" baseline="30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</a:rPr>
                <a:t>®</a:t>
              </a:r>
              <a:r>
                <a:rPr lang="zh-TW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PMingLiU" pitchFamily="18" charset="-120"/>
                </a:rPr>
                <a:t> 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PMingLiU" pitchFamily="18" charset="-120"/>
                </a:rPr>
                <a:t>IV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</a:rPr>
                <a:t> </a:t>
              </a:r>
              <a:endParaRPr lang="zh-TW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endParaRPr>
            </a:p>
          </p:txBody>
        </p:sp>
        <p:sp>
          <p:nvSpPr>
            <p:cNvPr id="185371" name="Rectangle 27"/>
            <p:cNvSpPr>
              <a:spLocks noChangeArrowheads="1"/>
            </p:cNvSpPr>
            <p:nvPr/>
          </p:nvSpPr>
          <p:spPr bwMode="auto">
            <a:xfrm>
              <a:off x="2434" y="2853"/>
              <a:ext cx="729" cy="323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9044" tIns="34523" rIns="69044" bIns="34523">
              <a:spAutoFit/>
            </a:bodyPr>
            <a:lstStyle/>
            <a:p>
              <a:pPr algn="l" eaLnBrk="0" hangingPunct="0">
                <a:defRPr/>
              </a:pPr>
              <a:r>
                <a:rPr lang="zh-TW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PMingLiU" pitchFamily="18" charset="-120"/>
                </a:rPr>
                <a:t>80286</a:t>
              </a:r>
            </a:p>
          </p:txBody>
        </p:sp>
        <p:sp>
          <p:nvSpPr>
            <p:cNvPr id="185372" name="Rectangle 28"/>
            <p:cNvSpPr>
              <a:spLocks noChangeArrowheads="1"/>
            </p:cNvSpPr>
            <p:nvPr/>
          </p:nvSpPr>
          <p:spPr bwMode="auto">
            <a:xfrm>
              <a:off x="2718" y="2592"/>
              <a:ext cx="549" cy="323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9044" tIns="34523" rIns="69044" bIns="34523">
              <a:spAutoFit/>
            </a:bodyPr>
            <a:lstStyle/>
            <a:p>
              <a:pPr algn="l" eaLnBrk="0" hangingPunct="0">
                <a:defRPr/>
              </a:pPr>
              <a:r>
                <a:rPr lang="en-US" altLang="zh-TW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PMingLiU" pitchFamily="18" charset="-120"/>
                </a:rPr>
                <a:t>i386</a:t>
              </a:r>
            </a:p>
          </p:txBody>
        </p:sp>
        <p:sp>
          <p:nvSpPr>
            <p:cNvPr id="185373" name="Rectangle 29"/>
            <p:cNvSpPr>
              <a:spLocks noChangeArrowheads="1"/>
            </p:cNvSpPr>
            <p:nvPr/>
          </p:nvSpPr>
          <p:spPr bwMode="auto">
            <a:xfrm>
              <a:off x="3233" y="2376"/>
              <a:ext cx="549" cy="323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9044" tIns="34523" rIns="69044" bIns="34523">
              <a:spAutoFit/>
            </a:bodyPr>
            <a:lstStyle/>
            <a:p>
              <a:pPr algn="l" eaLnBrk="0" hangingPunct="0">
                <a:defRPr/>
              </a:pPr>
              <a:r>
                <a:rPr lang="en-US" altLang="zh-TW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PMingLiU" pitchFamily="18" charset="-120"/>
                </a:rPr>
                <a:t>i486</a:t>
              </a:r>
            </a:p>
          </p:txBody>
        </p:sp>
        <p:sp>
          <p:nvSpPr>
            <p:cNvPr id="185374" name="Rectangle 30"/>
            <p:cNvSpPr>
              <a:spLocks noChangeArrowheads="1"/>
            </p:cNvSpPr>
            <p:nvPr/>
          </p:nvSpPr>
          <p:spPr bwMode="auto">
            <a:xfrm>
              <a:off x="3711" y="2002"/>
              <a:ext cx="1146" cy="323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9044" tIns="34523" rIns="69044" bIns="34523">
              <a:spAutoFit/>
            </a:bodyPr>
            <a:lstStyle/>
            <a:p>
              <a:pPr algn="l" eaLnBrk="0" hangingPunct="0">
                <a:defRPr/>
              </a:pP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</a:rPr>
                <a:t>Pentium</a:t>
              </a:r>
              <a:r>
                <a:rPr lang="en-US" altLang="zh-CN" b="1" baseline="30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</a:rPr>
                <a:t>®</a:t>
              </a:r>
              <a:r>
                <a:rPr lang="en-US" altLang="zh-CN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</a:rPr>
                <a:t> </a:t>
              </a:r>
              <a:endParaRPr lang="zh-TW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PMingLiU" pitchFamily="18" charset="-120"/>
              </a:endParaRPr>
            </a:p>
          </p:txBody>
        </p:sp>
        <p:sp>
          <p:nvSpPr>
            <p:cNvPr id="12307" name="Line 31"/>
            <p:cNvSpPr>
              <a:spLocks noChangeShapeType="1"/>
            </p:cNvSpPr>
            <p:nvPr/>
          </p:nvSpPr>
          <p:spPr bwMode="auto">
            <a:xfrm flipV="1">
              <a:off x="1899" y="1174"/>
              <a:ext cx="2973" cy="2044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  <a:headEnd type="none" w="sm" len="sm"/>
              <a:tailEnd type="triangle" w="med" len="med"/>
            </a:ln>
            <a:effectLst>
              <a:outerShdw dist="1796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76" name="Rectangle 32"/>
            <p:cNvSpPr>
              <a:spLocks noChangeArrowheads="1"/>
            </p:cNvSpPr>
            <p:nvPr/>
          </p:nvSpPr>
          <p:spPr bwMode="auto">
            <a:xfrm>
              <a:off x="4051" y="1629"/>
              <a:ext cx="1226" cy="323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9044" tIns="34523" rIns="69044" bIns="34523">
              <a:spAutoFit/>
            </a:bodyPr>
            <a:lstStyle/>
            <a:p>
              <a:pPr algn="l" eaLnBrk="0" hangingPunct="0">
                <a:defRPr/>
              </a:pPr>
              <a:r>
                <a:rPr lang="en-US" altLang="zh-CN" sz="2400" b="1" baseline="-14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Helvetica" pitchFamily="34" charset="0"/>
                </a:rPr>
                <a:t>Pentium</a:t>
              </a:r>
              <a:r>
                <a:rPr lang="en-US" altLang="zh-CN" sz="2400" baseline="-14000" dirty="0">
                  <a:latin typeface="Helvetica" pitchFamily="34" charset="0"/>
                </a:rPr>
                <a:t> </a:t>
              </a:r>
              <a:r>
                <a:rPr lang="en-US" altLang="zh-CN" b="1" baseline="30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</a:rPr>
                <a:t>®</a:t>
              </a:r>
              <a:r>
                <a:rPr lang="zh-TW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PMingLiU" pitchFamily="18" charset="-120"/>
                </a:rPr>
                <a:t> </a:t>
              </a:r>
              <a:r>
                <a:rPr lang="en-US" altLang="zh-TW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PMingLiU" pitchFamily="18" charset="-120"/>
                </a:rPr>
                <a:t>II</a:t>
              </a:r>
              <a:endParaRPr lang="zh-TW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PMingLiU" pitchFamily="18" charset="-120"/>
              </a:endParaRPr>
            </a:p>
          </p:txBody>
        </p:sp>
        <p:sp>
          <p:nvSpPr>
            <p:cNvPr id="185377" name="Rectangle 33"/>
            <p:cNvSpPr>
              <a:spLocks noChangeArrowheads="1"/>
            </p:cNvSpPr>
            <p:nvPr/>
          </p:nvSpPr>
          <p:spPr bwMode="auto">
            <a:xfrm>
              <a:off x="4382" y="1465"/>
              <a:ext cx="1286" cy="323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9044" tIns="34523" rIns="69044" bIns="34523">
              <a:spAutoFit/>
            </a:bodyPr>
            <a:lstStyle/>
            <a:p>
              <a:pPr algn="l" eaLnBrk="0" hangingPunct="0">
                <a:defRPr/>
              </a:pPr>
              <a:r>
                <a:rPr lang="en-US" altLang="zh-CN" sz="2400" b="1" baseline="-14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Helvetica" pitchFamily="34" charset="0"/>
                </a:rPr>
                <a:t>Pentium</a:t>
              </a:r>
              <a:r>
                <a:rPr lang="en-US" altLang="zh-CN" sz="2400" baseline="-14000" dirty="0">
                  <a:latin typeface="Helvetica" pitchFamily="34" charset="0"/>
                </a:rPr>
                <a:t> </a:t>
              </a:r>
              <a:r>
                <a:rPr lang="en-US" altLang="zh-CN" b="1" baseline="30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</a:rPr>
                <a:t>®</a:t>
              </a:r>
              <a:r>
                <a:rPr lang="zh-TW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PMingLiU" pitchFamily="18" charset="-120"/>
                </a:rPr>
                <a:t> </a:t>
              </a:r>
              <a:r>
                <a:rPr lang="en-US" altLang="zh-TW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itchFamily="34" charset="0"/>
                  <a:ea typeface="PMingLiU" pitchFamily="18" charset="-120"/>
                </a:rPr>
                <a:t>III</a:t>
              </a:r>
              <a:endParaRPr lang="zh-TW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PMingLiU" pitchFamily="18" charset="-120"/>
              </a:endParaRPr>
            </a:p>
          </p:txBody>
        </p:sp>
        <p:grpSp>
          <p:nvGrpSpPr>
            <p:cNvPr id="12310" name="Group 34"/>
            <p:cNvGrpSpPr>
              <a:grpSpLocks/>
            </p:cNvGrpSpPr>
            <p:nvPr/>
          </p:nvGrpSpPr>
          <p:grpSpPr bwMode="auto">
            <a:xfrm>
              <a:off x="1831" y="1282"/>
              <a:ext cx="2836" cy="1995"/>
              <a:chOff x="1437" y="1289"/>
              <a:chExt cx="2845" cy="1990"/>
            </a:xfrm>
          </p:grpSpPr>
          <p:grpSp>
            <p:nvGrpSpPr>
              <p:cNvPr id="12311" name="Group 35"/>
              <p:cNvGrpSpPr>
                <a:grpSpLocks/>
              </p:cNvGrpSpPr>
              <p:nvPr/>
            </p:nvGrpSpPr>
            <p:grpSpPr bwMode="auto">
              <a:xfrm>
                <a:off x="1437" y="3118"/>
                <a:ext cx="161" cy="161"/>
                <a:chOff x="1538" y="4376"/>
                <a:chExt cx="161" cy="161"/>
              </a:xfrm>
            </p:grpSpPr>
            <p:sp>
              <p:nvSpPr>
                <p:cNvPr id="185380" name="Oval 36"/>
                <p:cNvSpPr>
                  <a:spLocks noChangeArrowheads="1"/>
                </p:cNvSpPr>
                <p:nvPr/>
              </p:nvSpPr>
              <p:spPr bwMode="auto">
                <a:xfrm>
                  <a:off x="1538" y="4376"/>
                  <a:ext cx="161" cy="16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dist="17961" dir="2700000" algn="ctr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85381" name="Oval 37"/>
                <p:cNvSpPr>
                  <a:spLocks noChangeArrowheads="1"/>
                </p:cNvSpPr>
                <p:nvPr/>
              </p:nvSpPr>
              <p:spPr bwMode="auto">
                <a:xfrm>
                  <a:off x="1565" y="4389"/>
                  <a:ext cx="68" cy="6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0"/>
                        <a:invGamma/>
                      </a:schemeClr>
                    </a:gs>
                    <a:gs pos="100000">
                      <a:schemeClr val="accent1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grpSp>
            <p:nvGrpSpPr>
              <p:cNvPr id="12312" name="Group 38"/>
              <p:cNvGrpSpPr>
                <a:grpSpLocks/>
              </p:cNvGrpSpPr>
              <p:nvPr/>
            </p:nvGrpSpPr>
            <p:grpSpPr bwMode="auto">
              <a:xfrm>
                <a:off x="1901" y="2869"/>
                <a:ext cx="161" cy="161"/>
                <a:chOff x="1538" y="4376"/>
                <a:chExt cx="161" cy="161"/>
              </a:xfrm>
            </p:grpSpPr>
            <p:sp>
              <p:nvSpPr>
                <p:cNvPr id="185383" name="Oval 39"/>
                <p:cNvSpPr>
                  <a:spLocks noChangeArrowheads="1"/>
                </p:cNvSpPr>
                <p:nvPr/>
              </p:nvSpPr>
              <p:spPr bwMode="auto">
                <a:xfrm>
                  <a:off x="1538" y="4376"/>
                  <a:ext cx="161" cy="16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dist="17961" dir="2700000" algn="ctr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85384" name="Oval 40"/>
                <p:cNvSpPr>
                  <a:spLocks noChangeArrowheads="1"/>
                </p:cNvSpPr>
                <p:nvPr/>
              </p:nvSpPr>
              <p:spPr bwMode="auto">
                <a:xfrm>
                  <a:off x="1565" y="4388"/>
                  <a:ext cx="68" cy="6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0"/>
                        <a:invGamma/>
                      </a:schemeClr>
                    </a:gs>
                    <a:gs pos="100000">
                      <a:schemeClr val="accent1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grpSp>
            <p:nvGrpSpPr>
              <p:cNvPr id="12313" name="Group 41"/>
              <p:cNvGrpSpPr>
                <a:grpSpLocks/>
              </p:cNvGrpSpPr>
              <p:nvPr/>
            </p:nvGrpSpPr>
            <p:grpSpPr bwMode="auto">
              <a:xfrm>
                <a:off x="2193" y="2620"/>
                <a:ext cx="161" cy="161"/>
                <a:chOff x="1538" y="4376"/>
                <a:chExt cx="161" cy="161"/>
              </a:xfrm>
            </p:grpSpPr>
            <p:sp>
              <p:nvSpPr>
                <p:cNvPr id="185386" name="Oval 42"/>
                <p:cNvSpPr>
                  <a:spLocks noChangeArrowheads="1"/>
                </p:cNvSpPr>
                <p:nvPr/>
              </p:nvSpPr>
              <p:spPr bwMode="auto">
                <a:xfrm>
                  <a:off x="1538" y="4376"/>
                  <a:ext cx="161" cy="16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dist="17961" dir="2700000" algn="ctr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85387" name="Oval 43"/>
                <p:cNvSpPr>
                  <a:spLocks noChangeArrowheads="1"/>
                </p:cNvSpPr>
                <p:nvPr/>
              </p:nvSpPr>
              <p:spPr bwMode="auto">
                <a:xfrm>
                  <a:off x="1565" y="4388"/>
                  <a:ext cx="68" cy="6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0"/>
                        <a:invGamma/>
                      </a:schemeClr>
                    </a:gs>
                    <a:gs pos="100000">
                      <a:schemeClr val="accent1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grpSp>
            <p:nvGrpSpPr>
              <p:cNvPr id="12314" name="Group 44"/>
              <p:cNvGrpSpPr>
                <a:grpSpLocks/>
              </p:cNvGrpSpPr>
              <p:nvPr/>
            </p:nvGrpSpPr>
            <p:grpSpPr bwMode="auto">
              <a:xfrm>
                <a:off x="2717" y="2412"/>
                <a:ext cx="161" cy="161"/>
                <a:chOff x="1538" y="4376"/>
                <a:chExt cx="161" cy="161"/>
              </a:xfrm>
            </p:grpSpPr>
            <p:sp>
              <p:nvSpPr>
                <p:cNvPr id="185389" name="Oval 45"/>
                <p:cNvSpPr>
                  <a:spLocks noChangeArrowheads="1"/>
                </p:cNvSpPr>
                <p:nvPr/>
              </p:nvSpPr>
              <p:spPr bwMode="auto">
                <a:xfrm>
                  <a:off x="1538" y="4376"/>
                  <a:ext cx="161" cy="16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dist="17961" dir="2700000" algn="ctr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85390" name="Oval 46"/>
                <p:cNvSpPr>
                  <a:spLocks noChangeArrowheads="1"/>
                </p:cNvSpPr>
                <p:nvPr/>
              </p:nvSpPr>
              <p:spPr bwMode="auto">
                <a:xfrm>
                  <a:off x="1565" y="4388"/>
                  <a:ext cx="68" cy="6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0"/>
                        <a:invGamma/>
                      </a:schemeClr>
                    </a:gs>
                    <a:gs pos="100000">
                      <a:schemeClr val="accent1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grpSp>
            <p:nvGrpSpPr>
              <p:cNvPr id="12315" name="Group 47"/>
              <p:cNvGrpSpPr>
                <a:grpSpLocks/>
              </p:cNvGrpSpPr>
              <p:nvPr/>
            </p:nvGrpSpPr>
            <p:grpSpPr bwMode="auto">
              <a:xfrm>
                <a:off x="3176" y="2056"/>
                <a:ext cx="161" cy="161"/>
                <a:chOff x="1538" y="4376"/>
                <a:chExt cx="161" cy="161"/>
              </a:xfrm>
            </p:grpSpPr>
            <p:sp>
              <p:nvSpPr>
                <p:cNvPr id="185392" name="Oval 48"/>
                <p:cNvSpPr>
                  <a:spLocks noChangeArrowheads="1"/>
                </p:cNvSpPr>
                <p:nvPr/>
              </p:nvSpPr>
              <p:spPr bwMode="auto">
                <a:xfrm>
                  <a:off x="1538" y="4376"/>
                  <a:ext cx="162" cy="16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dist="17961" dir="2700000" algn="ctr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85393" name="Oval 49"/>
                <p:cNvSpPr>
                  <a:spLocks noChangeArrowheads="1"/>
                </p:cNvSpPr>
                <p:nvPr/>
              </p:nvSpPr>
              <p:spPr bwMode="auto">
                <a:xfrm>
                  <a:off x="1564" y="4388"/>
                  <a:ext cx="69" cy="6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0"/>
                        <a:invGamma/>
                      </a:schemeClr>
                    </a:gs>
                    <a:gs pos="100000">
                      <a:schemeClr val="accent1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grpSp>
            <p:nvGrpSpPr>
              <p:cNvPr id="12316" name="Group 50"/>
              <p:cNvGrpSpPr>
                <a:grpSpLocks/>
              </p:cNvGrpSpPr>
              <p:nvPr/>
            </p:nvGrpSpPr>
            <p:grpSpPr bwMode="auto">
              <a:xfrm>
                <a:off x="3386" y="1849"/>
                <a:ext cx="161" cy="161"/>
                <a:chOff x="1538" y="4376"/>
                <a:chExt cx="161" cy="161"/>
              </a:xfrm>
            </p:grpSpPr>
            <p:sp>
              <p:nvSpPr>
                <p:cNvPr id="185395" name="Oval 51"/>
                <p:cNvSpPr>
                  <a:spLocks noChangeArrowheads="1"/>
                </p:cNvSpPr>
                <p:nvPr/>
              </p:nvSpPr>
              <p:spPr bwMode="auto">
                <a:xfrm>
                  <a:off x="1538" y="4376"/>
                  <a:ext cx="161" cy="16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dist="17961" dir="2700000" algn="ctr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85396" name="Oval 52"/>
                <p:cNvSpPr>
                  <a:spLocks noChangeArrowheads="1"/>
                </p:cNvSpPr>
                <p:nvPr/>
              </p:nvSpPr>
              <p:spPr bwMode="auto">
                <a:xfrm>
                  <a:off x="1565" y="4388"/>
                  <a:ext cx="68" cy="6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0"/>
                        <a:invGamma/>
                      </a:schemeClr>
                    </a:gs>
                    <a:gs pos="100000">
                      <a:schemeClr val="accent1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grpSp>
            <p:nvGrpSpPr>
              <p:cNvPr id="12317" name="Group 53"/>
              <p:cNvGrpSpPr>
                <a:grpSpLocks/>
              </p:cNvGrpSpPr>
              <p:nvPr/>
            </p:nvGrpSpPr>
            <p:grpSpPr bwMode="auto">
              <a:xfrm>
                <a:off x="3530" y="1642"/>
                <a:ext cx="161" cy="161"/>
                <a:chOff x="1538" y="4376"/>
                <a:chExt cx="161" cy="161"/>
              </a:xfrm>
            </p:grpSpPr>
            <p:sp>
              <p:nvSpPr>
                <p:cNvPr id="185398" name="Oval 54"/>
                <p:cNvSpPr>
                  <a:spLocks noChangeArrowheads="1"/>
                </p:cNvSpPr>
                <p:nvPr/>
              </p:nvSpPr>
              <p:spPr bwMode="auto">
                <a:xfrm>
                  <a:off x="1538" y="4376"/>
                  <a:ext cx="161" cy="16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dist="17961" dir="2700000" algn="ctr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85399" name="Oval 55"/>
                <p:cNvSpPr>
                  <a:spLocks noChangeArrowheads="1"/>
                </p:cNvSpPr>
                <p:nvPr/>
              </p:nvSpPr>
              <p:spPr bwMode="auto">
                <a:xfrm>
                  <a:off x="1565" y="4388"/>
                  <a:ext cx="68" cy="6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0"/>
                        <a:invGamma/>
                      </a:schemeClr>
                    </a:gs>
                    <a:gs pos="100000">
                      <a:schemeClr val="accent1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grpSp>
            <p:nvGrpSpPr>
              <p:cNvPr id="12318" name="Group 56"/>
              <p:cNvGrpSpPr>
                <a:grpSpLocks/>
              </p:cNvGrpSpPr>
              <p:nvPr/>
            </p:nvGrpSpPr>
            <p:grpSpPr bwMode="auto">
              <a:xfrm>
                <a:off x="3858" y="1483"/>
                <a:ext cx="161" cy="161"/>
                <a:chOff x="1538" y="4376"/>
                <a:chExt cx="161" cy="161"/>
              </a:xfrm>
            </p:grpSpPr>
            <p:sp>
              <p:nvSpPr>
                <p:cNvPr id="185401" name="Oval 57"/>
                <p:cNvSpPr>
                  <a:spLocks noChangeArrowheads="1"/>
                </p:cNvSpPr>
                <p:nvPr/>
              </p:nvSpPr>
              <p:spPr bwMode="auto">
                <a:xfrm>
                  <a:off x="1538" y="4376"/>
                  <a:ext cx="161" cy="16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dist="17961" dir="2700000" algn="ctr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85402" name="Oval 58"/>
                <p:cNvSpPr>
                  <a:spLocks noChangeArrowheads="1"/>
                </p:cNvSpPr>
                <p:nvPr/>
              </p:nvSpPr>
              <p:spPr bwMode="auto">
                <a:xfrm>
                  <a:off x="1565" y="4388"/>
                  <a:ext cx="68" cy="6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0"/>
                        <a:invGamma/>
                      </a:schemeClr>
                    </a:gs>
                    <a:gs pos="100000">
                      <a:schemeClr val="accent1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grpSp>
            <p:nvGrpSpPr>
              <p:cNvPr id="12319" name="Group 59"/>
              <p:cNvGrpSpPr>
                <a:grpSpLocks/>
              </p:cNvGrpSpPr>
              <p:nvPr/>
            </p:nvGrpSpPr>
            <p:grpSpPr bwMode="auto">
              <a:xfrm>
                <a:off x="4121" y="1289"/>
                <a:ext cx="161" cy="161"/>
                <a:chOff x="1538" y="4376"/>
                <a:chExt cx="161" cy="161"/>
              </a:xfrm>
            </p:grpSpPr>
            <p:sp>
              <p:nvSpPr>
                <p:cNvPr id="185404" name="Oval 60"/>
                <p:cNvSpPr>
                  <a:spLocks noChangeArrowheads="1"/>
                </p:cNvSpPr>
                <p:nvPr/>
              </p:nvSpPr>
              <p:spPr bwMode="auto">
                <a:xfrm>
                  <a:off x="1538" y="4376"/>
                  <a:ext cx="161" cy="16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46275"/>
                        <a:invGamma/>
                      </a:schemeClr>
                    </a:gs>
                  </a:gsLst>
                  <a:lin ang="5400000" scaled="1"/>
                </a:gradFill>
                <a:ln>
                  <a:noFill/>
                </a:ln>
                <a:effectLst>
                  <a:outerShdw dist="17961" dir="2700000" algn="ctr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85405" name="Oval 61"/>
                <p:cNvSpPr>
                  <a:spLocks noChangeArrowheads="1"/>
                </p:cNvSpPr>
                <p:nvPr/>
              </p:nvSpPr>
              <p:spPr bwMode="auto">
                <a:xfrm>
                  <a:off x="1565" y="4388"/>
                  <a:ext cx="68" cy="6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0"/>
                        <a:invGamma/>
                      </a:schemeClr>
                    </a:gs>
                    <a:gs pos="100000">
                      <a:schemeClr val="accent1"/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8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Two reasons:</a:t>
            </a:r>
          </a:p>
          <a:p>
            <a:pPr lvl="1"/>
            <a:r>
              <a:rPr lang="en-US" altLang="zh-CN" dirty="0"/>
              <a:t>Advances in the technology used to build computers</a:t>
            </a:r>
          </a:p>
          <a:p>
            <a:pPr lvl="2"/>
            <a:r>
              <a:rPr lang="en-US" altLang="zh-CN" dirty="0"/>
              <a:t>IC</a:t>
            </a:r>
          </a:p>
          <a:p>
            <a:pPr lvl="2"/>
            <a:r>
              <a:rPr lang="en-US" altLang="zh-CN" dirty="0"/>
              <a:t>Storage device(including RAM and DISK)</a:t>
            </a:r>
          </a:p>
          <a:p>
            <a:pPr lvl="2"/>
            <a:r>
              <a:rPr lang="en-US" altLang="zh-CN" dirty="0"/>
              <a:t>Peripheral device</a:t>
            </a:r>
          </a:p>
          <a:p>
            <a:pPr lvl="2"/>
            <a:endParaRPr lang="en-US" altLang="zh-CN" dirty="0"/>
          </a:p>
          <a:p>
            <a:pPr lvl="1"/>
            <a:r>
              <a:rPr lang="en-US" altLang="zh-CN" dirty="0"/>
              <a:t>Innovation in computer design</a:t>
            </a:r>
          </a:p>
          <a:p>
            <a:pPr lvl="2"/>
            <a:r>
              <a:rPr lang="en-US" altLang="zh-CN" dirty="0"/>
              <a:t>Simple </a:t>
            </a:r>
            <a:r>
              <a:rPr lang="en-US" altLang="zh-CN" dirty="0">
                <a:sym typeface="Wingdings" pitchFamily="2" charset="2"/>
              </a:rPr>
              <a:t> complex  most complex  simple  complex  most complex</a:t>
            </a:r>
          </a:p>
          <a:p>
            <a:pPr lvl="2"/>
            <a:r>
              <a:rPr lang="en-US" altLang="zh-CN" dirty="0"/>
              <a:t>Sometimes rapid, sometimes slow</a:t>
            </a:r>
          </a:p>
          <a:p>
            <a:pPr lvl="2"/>
            <a:r>
              <a:rPr lang="en-US" altLang="zh-CN" dirty="0"/>
              <a:t>Many technology have been washed out</a:t>
            </a:r>
          </a:p>
        </p:txBody>
      </p:sp>
      <p:sp>
        <p:nvSpPr>
          <p:cNvPr id="1331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Such Change in 60 years?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Rectangle 3"/>
          <p:cNvSpPr>
            <a:spLocks noGrp="1" noChangeArrowheads="1"/>
          </p:cNvSpPr>
          <p:nvPr>
            <p:ph idx="1"/>
          </p:nvPr>
        </p:nvSpPr>
        <p:spPr>
          <a:xfrm>
            <a:off x="681703" y="771550"/>
            <a:ext cx="7863642" cy="3888432"/>
          </a:xfrm>
        </p:spPr>
        <p:txBody>
          <a:bodyPr/>
          <a:lstStyle/>
          <a:p>
            <a:r>
              <a:rPr lang="en-US" altLang="zh-CN" sz="1500" dirty="0"/>
              <a:t>The Decade of the 1970’s  “Microprocessors”</a:t>
            </a:r>
          </a:p>
          <a:p>
            <a:pPr lvl="1"/>
            <a:r>
              <a:rPr lang="en-US" altLang="zh-CN" sz="1350" dirty="0"/>
              <a:t>- Programmable Controller</a:t>
            </a:r>
          </a:p>
          <a:p>
            <a:pPr lvl="1"/>
            <a:r>
              <a:rPr lang="en-US" altLang="zh-CN" sz="1350" dirty="0"/>
              <a:t>- Single-Chip Microprocessors</a:t>
            </a:r>
          </a:p>
          <a:p>
            <a:pPr lvl="1"/>
            <a:r>
              <a:rPr lang="en-US" altLang="zh-CN" sz="1350" dirty="0"/>
              <a:t>- Personal Computers (PC)</a:t>
            </a:r>
          </a:p>
          <a:p>
            <a:r>
              <a:rPr lang="en-US" altLang="zh-CN" sz="1500" dirty="0"/>
              <a:t>The Decade of the 1980’s “Quantitative Architecture”</a:t>
            </a:r>
          </a:p>
          <a:p>
            <a:pPr lvl="1"/>
            <a:r>
              <a:rPr lang="en-US" altLang="zh-CN" sz="1350" dirty="0"/>
              <a:t>- Instruction Pipelining</a:t>
            </a:r>
          </a:p>
          <a:p>
            <a:pPr lvl="1"/>
            <a:r>
              <a:rPr lang="en-US" altLang="zh-CN" sz="1350" dirty="0"/>
              <a:t>- Fast Cache Memories</a:t>
            </a:r>
          </a:p>
          <a:p>
            <a:pPr lvl="1"/>
            <a:r>
              <a:rPr lang="en-US" altLang="zh-CN" sz="1350" dirty="0"/>
              <a:t>- Compiler Considerations</a:t>
            </a:r>
          </a:p>
          <a:p>
            <a:pPr lvl="1"/>
            <a:r>
              <a:rPr lang="en-US" altLang="zh-CN" sz="1350" dirty="0"/>
              <a:t>- Workstations</a:t>
            </a:r>
          </a:p>
          <a:p>
            <a:r>
              <a:rPr lang="en-US" altLang="zh-CN" sz="1500" dirty="0"/>
              <a:t>The Decade of the 1990’s “Instruction-Level Parallelism”</a:t>
            </a:r>
          </a:p>
          <a:p>
            <a:pPr lvl="1"/>
            <a:r>
              <a:rPr lang="en-US" altLang="zh-CN" sz="1350" dirty="0"/>
              <a:t>- Superscalar Processors</a:t>
            </a:r>
          </a:p>
          <a:p>
            <a:pPr lvl="1"/>
            <a:r>
              <a:rPr lang="en-US" altLang="zh-CN" sz="1350" dirty="0"/>
              <a:t>- Speculative Microarchitectures</a:t>
            </a:r>
          </a:p>
          <a:p>
            <a:pPr lvl="1"/>
            <a:r>
              <a:rPr lang="en-US" altLang="zh-CN" sz="1350" dirty="0"/>
              <a:t>- Aggressive Code Scheduling</a:t>
            </a:r>
          </a:p>
          <a:p>
            <a:pPr lvl="1"/>
            <a:r>
              <a:rPr lang="en-US" altLang="zh-CN" sz="1350" dirty="0"/>
              <a:t>- Low-Cost Desktop Supercomputing</a:t>
            </a:r>
          </a:p>
          <a:p>
            <a:r>
              <a:rPr lang="en-US" altLang="zh-CN" sz="1500" dirty="0"/>
              <a:t>The Decade of the 2000’s  “Thread-level/Data-level parallelism”</a:t>
            </a: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Four Decades of microprocessor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Forces on Computer Architecture</a:t>
            </a:r>
          </a:p>
        </p:txBody>
      </p:sp>
      <p:grpSp>
        <p:nvGrpSpPr>
          <p:cNvPr id="15365" name="Group 3"/>
          <p:cNvGrpSpPr>
            <a:grpSpLocks/>
          </p:cNvGrpSpPr>
          <p:nvPr/>
        </p:nvGrpSpPr>
        <p:grpSpPr bwMode="auto">
          <a:xfrm>
            <a:off x="1371600" y="699542"/>
            <a:ext cx="6792517" cy="3340516"/>
            <a:chOff x="336" y="1792"/>
            <a:chExt cx="5705" cy="2100"/>
          </a:xfrm>
        </p:grpSpPr>
        <p:sp>
          <p:nvSpPr>
            <p:cNvPr id="15384" name="Rectangle 21"/>
            <p:cNvSpPr>
              <a:spLocks noChangeArrowheads="1"/>
            </p:cNvSpPr>
            <p:nvPr/>
          </p:nvSpPr>
          <p:spPr bwMode="auto">
            <a:xfrm>
              <a:off x="1824" y="2496"/>
              <a:ext cx="2256" cy="106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7625" tIns="19050" rIns="47625" bIns="19050">
              <a:spAutoFit/>
            </a:bodyPr>
            <a:lstStyle/>
            <a:p>
              <a:pPr algn="l" eaLnBrk="0" hangingPunct="0">
                <a:lnSpc>
                  <a:spcPct val="85000"/>
                </a:lnSpc>
              </a:pPr>
              <a:r>
                <a:rPr kumimoji="1" lang="en-US" altLang="zh-CN" b="1" dirty="0">
                  <a:solidFill>
                    <a:srgbClr val="FF3300"/>
                  </a:solidFill>
                  <a:latin typeface="Comic Sans MS" pitchFamily="66" charset="0"/>
                </a:rPr>
                <a:t>Computer Architecture</a:t>
              </a:r>
              <a:r>
                <a:rPr kumimoji="1" lang="en-US" altLang="zh-CN" dirty="0">
                  <a:latin typeface="Comic Sans MS" pitchFamily="66" charset="0"/>
                </a:rPr>
                <a:t>:</a:t>
              </a:r>
            </a:p>
            <a:p>
              <a:pPr algn="l" eaLnBrk="0" hangingPunct="0">
                <a:lnSpc>
                  <a:spcPct val="85000"/>
                </a:lnSpc>
              </a:pPr>
              <a:r>
                <a:rPr kumimoji="1" lang="en-US" altLang="zh-CN" dirty="0">
                  <a:latin typeface="Comic Sans MS" pitchFamily="66" charset="0"/>
                </a:rPr>
                <a:t>• Instruction Set  Design</a:t>
              </a:r>
            </a:p>
            <a:p>
              <a:pPr algn="l" eaLnBrk="0" hangingPunct="0">
                <a:lnSpc>
                  <a:spcPct val="85000"/>
                </a:lnSpc>
              </a:pPr>
              <a:r>
                <a:rPr kumimoji="1" lang="en-US" altLang="zh-CN" dirty="0">
                  <a:latin typeface="Comic Sans MS" pitchFamily="66" charset="0"/>
                </a:rPr>
                <a:t>• Organization</a:t>
              </a:r>
            </a:p>
            <a:p>
              <a:pPr algn="l" eaLnBrk="0" hangingPunct="0">
                <a:lnSpc>
                  <a:spcPct val="85000"/>
                </a:lnSpc>
              </a:pPr>
              <a:r>
                <a:rPr kumimoji="1" lang="en-US" altLang="zh-CN" dirty="0">
                  <a:latin typeface="Comic Sans MS" pitchFamily="66" charset="0"/>
                </a:rPr>
                <a:t>• Hardware/Software Boundary</a:t>
              </a:r>
            </a:p>
          </p:txBody>
        </p:sp>
        <p:sp>
          <p:nvSpPr>
            <p:cNvPr id="15367" name="Rectangle 4"/>
            <p:cNvSpPr>
              <a:spLocks noChangeArrowheads="1"/>
            </p:cNvSpPr>
            <p:nvPr/>
          </p:nvSpPr>
          <p:spPr bwMode="auto">
            <a:xfrm>
              <a:off x="1552" y="1841"/>
              <a:ext cx="957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102000"/>
                </a:lnSpc>
              </a:pPr>
              <a:r>
                <a:rPr kumimoji="1" lang="en-US" altLang="zh-CN" sz="1500" b="1" dirty="0">
                  <a:latin typeface="Comic Sans MS" pitchFamily="66" charset="0"/>
                </a:rPr>
                <a:t>Technology</a:t>
              </a:r>
            </a:p>
          </p:txBody>
        </p:sp>
        <p:sp>
          <p:nvSpPr>
            <p:cNvPr id="15368" name="Rectangle 5"/>
            <p:cNvSpPr>
              <a:spLocks noChangeArrowheads="1"/>
            </p:cNvSpPr>
            <p:nvPr/>
          </p:nvSpPr>
          <p:spPr bwMode="auto">
            <a:xfrm>
              <a:off x="4010" y="1847"/>
              <a:ext cx="1077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102000"/>
                </a:lnSpc>
              </a:pPr>
              <a:r>
                <a:rPr kumimoji="1" lang="en-US" altLang="zh-CN" sz="1500" b="1" dirty="0">
                  <a:latin typeface="Comic Sans MS" pitchFamily="66" charset="0"/>
                </a:rPr>
                <a:t>Programming</a:t>
              </a:r>
            </a:p>
          </p:txBody>
        </p:sp>
        <p:sp>
          <p:nvSpPr>
            <p:cNvPr id="15369" name="Rectangle 6"/>
            <p:cNvSpPr>
              <a:spLocks noChangeArrowheads="1"/>
            </p:cNvSpPr>
            <p:nvPr/>
          </p:nvSpPr>
          <p:spPr bwMode="auto">
            <a:xfrm>
              <a:off x="4010" y="2015"/>
              <a:ext cx="871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102000"/>
                </a:lnSpc>
              </a:pPr>
              <a:r>
                <a:rPr kumimoji="1" lang="en-US" altLang="zh-CN" sz="1500" b="1" dirty="0">
                  <a:latin typeface="Comic Sans MS" pitchFamily="66" charset="0"/>
                </a:rPr>
                <a:t>Languages</a:t>
              </a:r>
            </a:p>
          </p:txBody>
        </p:sp>
        <p:sp>
          <p:nvSpPr>
            <p:cNvPr id="15370" name="Rectangle 7"/>
            <p:cNvSpPr>
              <a:spLocks noChangeArrowheads="1"/>
            </p:cNvSpPr>
            <p:nvPr/>
          </p:nvSpPr>
          <p:spPr bwMode="auto">
            <a:xfrm>
              <a:off x="691" y="3336"/>
              <a:ext cx="866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102000"/>
                </a:lnSpc>
              </a:pPr>
              <a:r>
                <a:rPr kumimoji="1" lang="en-US" altLang="zh-CN" sz="1500" b="1" dirty="0">
                  <a:latin typeface="Comic Sans MS" pitchFamily="66" charset="0"/>
                </a:rPr>
                <a:t>Operating</a:t>
              </a:r>
            </a:p>
          </p:txBody>
        </p:sp>
        <p:sp>
          <p:nvSpPr>
            <p:cNvPr id="15371" name="Rectangle 8"/>
            <p:cNvSpPr>
              <a:spLocks noChangeArrowheads="1"/>
            </p:cNvSpPr>
            <p:nvPr/>
          </p:nvSpPr>
          <p:spPr bwMode="auto">
            <a:xfrm>
              <a:off x="691" y="3510"/>
              <a:ext cx="749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102000"/>
                </a:lnSpc>
              </a:pPr>
              <a:r>
                <a:rPr kumimoji="1" lang="en-US" altLang="zh-CN" sz="1500" b="1" dirty="0">
                  <a:latin typeface="Comic Sans MS" pitchFamily="66" charset="0"/>
                </a:rPr>
                <a:t>Systems</a:t>
              </a:r>
            </a:p>
          </p:txBody>
        </p:sp>
        <p:sp>
          <p:nvSpPr>
            <p:cNvPr id="15372" name="Rectangle 9"/>
            <p:cNvSpPr>
              <a:spLocks noChangeArrowheads="1"/>
            </p:cNvSpPr>
            <p:nvPr/>
          </p:nvSpPr>
          <p:spPr bwMode="auto">
            <a:xfrm>
              <a:off x="4959" y="3572"/>
              <a:ext cx="793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7000"/>
                </a:lnSpc>
              </a:pPr>
              <a:r>
                <a:rPr kumimoji="1" lang="en-US" altLang="zh-CN" b="1" i="1" dirty="0">
                  <a:latin typeface="Comic Sans MS" pitchFamily="66" charset="0"/>
                </a:rPr>
                <a:t>History</a:t>
              </a:r>
            </a:p>
          </p:txBody>
        </p:sp>
        <p:sp>
          <p:nvSpPr>
            <p:cNvPr id="15373" name="Rectangle 10"/>
            <p:cNvSpPr>
              <a:spLocks noChangeArrowheads="1"/>
            </p:cNvSpPr>
            <p:nvPr/>
          </p:nvSpPr>
          <p:spPr bwMode="auto">
            <a:xfrm>
              <a:off x="336" y="2304"/>
              <a:ext cx="1037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102000"/>
                </a:lnSpc>
              </a:pPr>
              <a:r>
                <a:rPr kumimoji="1" lang="en-US" altLang="zh-CN" sz="1500" b="1" dirty="0">
                  <a:latin typeface="Comic Sans MS" pitchFamily="66" charset="0"/>
                </a:rPr>
                <a:t>Applications</a:t>
              </a:r>
            </a:p>
          </p:txBody>
        </p:sp>
        <p:sp>
          <p:nvSpPr>
            <p:cNvPr id="15374" name="Line 11"/>
            <p:cNvSpPr>
              <a:spLocks noChangeShapeType="1"/>
            </p:cNvSpPr>
            <p:nvPr/>
          </p:nvSpPr>
          <p:spPr bwMode="auto">
            <a:xfrm>
              <a:off x="1296" y="2400"/>
              <a:ext cx="560" cy="1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5" name="Line 12"/>
            <p:cNvSpPr>
              <a:spLocks noChangeShapeType="1"/>
            </p:cNvSpPr>
            <p:nvPr/>
          </p:nvSpPr>
          <p:spPr bwMode="auto">
            <a:xfrm flipV="1">
              <a:off x="1520" y="3367"/>
              <a:ext cx="264" cy="1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6" name="Line 13"/>
            <p:cNvSpPr>
              <a:spLocks noChangeShapeType="1"/>
            </p:cNvSpPr>
            <p:nvPr/>
          </p:nvSpPr>
          <p:spPr bwMode="auto">
            <a:xfrm>
              <a:off x="2176" y="2072"/>
              <a:ext cx="248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7" name="Line 14"/>
            <p:cNvSpPr>
              <a:spLocks noChangeShapeType="1"/>
            </p:cNvSpPr>
            <p:nvPr/>
          </p:nvSpPr>
          <p:spPr bwMode="auto">
            <a:xfrm flipH="1">
              <a:off x="3456" y="2112"/>
              <a:ext cx="496" cy="3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8" name="Line 15"/>
            <p:cNvSpPr>
              <a:spLocks noChangeShapeType="1"/>
            </p:cNvSpPr>
            <p:nvPr/>
          </p:nvSpPr>
          <p:spPr bwMode="auto">
            <a:xfrm flipH="1" flipV="1">
              <a:off x="4199" y="3292"/>
              <a:ext cx="800" cy="416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9" name="Rectangle 16"/>
            <p:cNvSpPr>
              <a:spLocks noChangeArrowheads="1"/>
            </p:cNvSpPr>
            <p:nvPr/>
          </p:nvSpPr>
          <p:spPr bwMode="auto">
            <a:xfrm>
              <a:off x="4402" y="2332"/>
              <a:ext cx="1639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eaLnBrk="0" hangingPunct="0">
                <a:lnSpc>
                  <a:spcPct val="85000"/>
                </a:lnSpc>
              </a:pPr>
              <a:r>
                <a:rPr kumimoji="1" lang="en-US" altLang="zh-CN" dirty="0">
                  <a:latin typeface="Comic Sans MS" pitchFamily="66" charset="0"/>
                </a:rPr>
                <a:t>Interface Design</a:t>
              </a:r>
            </a:p>
            <a:p>
              <a:pPr eaLnBrk="0" hangingPunct="0">
                <a:lnSpc>
                  <a:spcPct val="85000"/>
                </a:lnSpc>
              </a:pPr>
              <a:r>
                <a:rPr kumimoji="1" lang="en-US" altLang="zh-CN" dirty="0">
                  <a:latin typeface="Comic Sans MS" pitchFamily="66" charset="0"/>
                </a:rPr>
                <a:t>(ISA)</a:t>
              </a:r>
            </a:p>
          </p:txBody>
        </p:sp>
        <p:sp>
          <p:nvSpPr>
            <p:cNvPr id="15380" name="Line 17"/>
            <p:cNvSpPr>
              <a:spLocks noChangeShapeType="1"/>
            </p:cNvSpPr>
            <p:nvPr/>
          </p:nvSpPr>
          <p:spPr bwMode="auto">
            <a:xfrm flipH="1">
              <a:off x="4128" y="2448"/>
              <a:ext cx="240" cy="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1" name="Rectangle 18"/>
            <p:cNvSpPr>
              <a:spLocks noChangeArrowheads="1"/>
            </p:cNvSpPr>
            <p:nvPr/>
          </p:nvSpPr>
          <p:spPr bwMode="auto">
            <a:xfrm>
              <a:off x="1968" y="3568"/>
              <a:ext cx="1944" cy="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47625" tIns="19050" rIns="47625" bIns="19050">
              <a:spAutoFit/>
            </a:bodyPr>
            <a:lstStyle/>
            <a:p>
              <a:pPr marL="257175" indent="-257175" eaLnBrk="0" hangingPunct="0">
                <a:lnSpc>
                  <a:spcPct val="86000"/>
                </a:lnSpc>
                <a:spcBef>
                  <a:spcPct val="40000"/>
                </a:spcBef>
              </a:pPr>
              <a:r>
                <a:rPr kumimoji="1" lang="en-US" altLang="zh-CN" b="1" dirty="0">
                  <a:latin typeface="Comic Sans MS" pitchFamily="66" charset="0"/>
                </a:rPr>
                <a:t>Measurement &amp; Evaluation</a:t>
              </a:r>
            </a:p>
          </p:txBody>
        </p:sp>
        <p:sp>
          <p:nvSpPr>
            <p:cNvPr id="15382" name="Rectangle 19"/>
            <p:cNvSpPr>
              <a:spLocks noChangeArrowheads="1"/>
            </p:cNvSpPr>
            <p:nvPr/>
          </p:nvSpPr>
          <p:spPr bwMode="auto">
            <a:xfrm>
              <a:off x="2768" y="1792"/>
              <a:ext cx="1081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85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Parallelism</a:t>
              </a:r>
              <a:endParaRPr kumimoji="1" lang="en-US" altLang="zh-CN" dirty="0">
                <a:latin typeface="Comic Sans MS" pitchFamily="66" charset="0"/>
              </a:endParaRPr>
            </a:p>
          </p:txBody>
        </p:sp>
        <p:sp>
          <p:nvSpPr>
            <p:cNvPr id="15383" name="Line 20"/>
            <p:cNvSpPr>
              <a:spLocks noChangeShapeType="1"/>
            </p:cNvSpPr>
            <p:nvPr/>
          </p:nvSpPr>
          <p:spPr bwMode="auto">
            <a:xfrm flipH="1">
              <a:off x="3020" y="2020"/>
              <a:ext cx="56" cy="4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5" name="Text Box 22"/>
            <p:cNvSpPr txBox="1">
              <a:spLocks noChangeArrowheads="1"/>
            </p:cNvSpPr>
            <p:nvPr/>
          </p:nvSpPr>
          <p:spPr bwMode="auto">
            <a:xfrm>
              <a:off x="4464" y="2928"/>
              <a:ext cx="1065" cy="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9pPr>
            </a:lstStyle>
            <a:p>
              <a:pPr algn="l"/>
              <a:r>
                <a:rPr kumimoji="1" lang="en-US" altLang="zh-CN" b="1" dirty="0">
                  <a:latin typeface="Comic Sans MS" pitchFamily="66" charset="0"/>
                </a:rPr>
                <a:t>Compilers</a:t>
              </a:r>
            </a:p>
          </p:txBody>
        </p:sp>
        <p:sp>
          <p:nvSpPr>
            <p:cNvPr id="15386" name="Line 23"/>
            <p:cNvSpPr>
              <a:spLocks noChangeShapeType="1"/>
            </p:cNvSpPr>
            <p:nvPr/>
          </p:nvSpPr>
          <p:spPr bwMode="auto">
            <a:xfrm flipH="1" flipV="1">
              <a:off x="4128" y="2976"/>
              <a:ext cx="384" cy="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366" name="Text Box 24"/>
          <p:cNvSpPr txBox="1">
            <a:spLocks noChangeArrowheads="1"/>
          </p:cNvSpPr>
          <p:nvPr/>
        </p:nvSpPr>
        <p:spPr bwMode="auto">
          <a:xfrm>
            <a:off x="1494235" y="4081273"/>
            <a:ext cx="6286500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9pPr>
          </a:lstStyle>
          <a:p>
            <a:pPr algn="l" eaLnBrk="1" hangingPunct="1"/>
            <a:r>
              <a:rPr kumimoji="1" lang="en-US" altLang="zh-CN" dirty="0">
                <a:solidFill>
                  <a:srgbClr val="0000FF"/>
                </a:solidFill>
                <a:latin typeface="Comic Sans MS" pitchFamily="66" charset="0"/>
              </a:rPr>
              <a:t>Computer architecture has been at the </a:t>
            </a:r>
            <a:r>
              <a:rPr kumimoji="1" lang="en-US" altLang="zh-CN" sz="2100" b="1" dirty="0">
                <a:solidFill>
                  <a:srgbClr val="FF0000"/>
                </a:solidFill>
                <a:latin typeface="Comic Sans MS" pitchFamily="66" charset="0"/>
              </a:rPr>
              <a:t>core </a:t>
            </a:r>
            <a:r>
              <a:rPr kumimoji="1" lang="en-US" altLang="zh-CN" dirty="0">
                <a:solidFill>
                  <a:srgbClr val="0000FF"/>
                </a:solidFill>
                <a:latin typeface="Comic Sans MS" pitchFamily="66" charset="0"/>
              </a:rPr>
              <a:t>of such technological development and is still on a forward move</a:t>
            </a:r>
            <a:endParaRPr kumimoji="1" lang="en-US" altLang="zh-CN" dirty="0">
              <a:solidFill>
                <a:srgbClr val="0000FF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3"/>
          <p:cNvSpPr>
            <a:spLocks noGrp="1" noChangeArrowheads="1"/>
          </p:cNvSpPr>
          <p:nvPr>
            <p:ph idx="1"/>
          </p:nvPr>
        </p:nvSpPr>
        <p:spPr>
          <a:xfrm>
            <a:off x="661628" y="844369"/>
            <a:ext cx="8230851" cy="3314700"/>
          </a:xfrm>
        </p:spPr>
        <p:txBody>
          <a:bodyPr/>
          <a:lstStyle/>
          <a:p>
            <a:r>
              <a:rPr lang="en-US" altLang="zh-CN" sz="1600" dirty="0"/>
              <a:t>1.1   Introduction</a:t>
            </a:r>
          </a:p>
          <a:p>
            <a:r>
              <a:rPr lang="en-US" altLang="zh-CN" sz="1600" b="1" dirty="0"/>
              <a:t>1.2   Classes of computers</a:t>
            </a:r>
          </a:p>
          <a:p>
            <a:r>
              <a:rPr lang="en-US" altLang="zh-CN" sz="1600" dirty="0"/>
              <a:t>1.3   Defining computer architecture  and What’s the task of computer design?</a:t>
            </a:r>
          </a:p>
          <a:p>
            <a:r>
              <a:rPr lang="en-US" altLang="zh-CN" sz="1600" dirty="0"/>
              <a:t>1.4   Trends in Technology</a:t>
            </a:r>
          </a:p>
          <a:p>
            <a:r>
              <a:rPr lang="en-US" altLang="zh-CN" sz="1600" dirty="0"/>
              <a:t>1.5   Trends in power in Integrated circuits</a:t>
            </a:r>
          </a:p>
          <a:p>
            <a:r>
              <a:rPr lang="en-US" altLang="zh-CN" sz="1600" dirty="0"/>
              <a:t>1.6   Trends in Cost</a:t>
            </a:r>
          </a:p>
          <a:p>
            <a:r>
              <a:rPr lang="en-US" altLang="zh-CN" sz="1600" dirty="0"/>
              <a:t>1.7   Dependability</a:t>
            </a:r>
          </a:p>
          <a:p>
            <a:r>
              <a:rPr lang="en-US" altLang="zh-CN" sz="1600" dirty="0"/>
              <a:t>1.8   Measuring, Reporting and summarizing Perf.</a:t>
            </a:r>
          </a:p>
          <a:p>
            <a:r>
              <a:rPr lang="en-US" altLang="zh-CN" sz="1600" dirty="0"/>
              <a:t>1.9   Quantitative Principles of computer Design </a:t>
            </a:r>
          </a:p>
          <a:p>
            <a:r>
              <a:rPr lang="en-US" altLang="zh-CN" sz="1600" dirty="0"/>
              <a:t>1.10 Putting it all together</a:t>
            </a: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Topics in Chapter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3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151" y="1503637"/>
            <a:ext cx="4655820" cy="3314700"/>
          </a:xfrm>
        </p:spPr>
      </p:pic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Classes of computers</a:t>
            </a:r>
          </a:p>
        </p:txBody>
      </p:sp>
      <p:sp>
        <p:nvSpPr>
          <p:cNvPr id="17414" name="Text Box 5"/>
          <p:cNvSpPr txBox="1">
            <a:spLocks noChangeArrowheads="1"/>
          </p:cNvSpPr>
          <p:nvPr/>
        </p:nvSpPr>
        <p:spPr bwMode="auto">
          <a:xfrm>
            <a:off x="1143000" y="683728"/>
            <a:ext cx="701992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9pPr>
          </a:lstStyle>
          <a:p>
            <a:pPr algn="l" eaLnBrk="1" hangingPunct="1">
              <a:buFontTx/>
              <a:buChar char="•"/>
            </a:pPr>
            <a:r>
              <a:rPr lang="en-US" altLang="zh-CN" b="1" dirty="0">
                <a:solidFill>
                  <a:srgbClr val="FF0000"/>
                </a:solidFill>
                <a:latin typeface="Arial" pitchFamily="34" charset="0"/>
              </a:rPr>
              <a:t>Flynn’s Taxonomy:</a:t>
            </a:r>
            <a:r>
              <a:rPr lang="en-US" altLang="zh-CN" b="1" dirty="0">
                <a:solidFill>
                  <a:srgbClr val="3333FF"/>
                </a:solidFill>
                <a:latin typeface="Arial" pitchFamily="34" charset="0"/>
              </a:rPr>
              <a:t> A classification of computer architectures based on the number of streams of instructions and data</a:t>
            </a:r>
            <a:r>
              <a:rPr lang="en-US" altLang="zh-CN" sz="2100" dirty="0">
                <a:solidFill>
                  <a:srgbClr val="3333FF"/>
                </a:solidFill>
                <a:latin typeface="Arial" pitchFamily="34" charset="0"/>
              </a:rPr>
              <a:t> </a:t>
            </a:r>
          </a:p>
        </p:txBody>
      </p:sp>
      <p:pic>
        <p:nvPicPr>
          <p:cNvPr id="17415" name="Picture 6" descr="flynn,michae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2087166"/>
            <a:ext cx="1335881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500" dirty="0"/>
              <a:t>A serial (non-parallel) computer </a:t>
            </a:r>
          </a:p>
          <a:p>
            <a:r>
              <a:rPr lang="en-US" altLang="zh-CN" sz="1500" dirty="0"/>
              <a:t>Single instruction: only one instruction stream is being acted on by the CPU during any one clock cycle </a:t>
            </a:r>
          </a:p>
          <a:p>
            <a:r>
              <a:rPr lang="en-US" altLang="zh-CN" sz="1500" dirty="0"/>
              <a:t>Single data: only one data stream is being used as input during any one clock cycle </a:t>
            </a:r>
          </a:p>
          <a:p>
            <a:r>
              <a:rPr lang="en-US" altLang="zh-CN" sz="1500" dirty="0"/>
              <a:t>Deterministic execution </a:t>
            </a:r>
          </a:p>
          <a:p>
            <a:r>
              <a:rPr lang="en-US" altLang="zh-CN" sz="1500" dirty="0"/>
              <a:t>This is the oldest and until recently, the most prevalent form of computer </a:t>
            </a:r>
          </a:p>
          <a:p>
            <a:r>
              <a:rPr lang="en-US" altLang="zh-CN" sz="1500" dirty="0"/>
              <a:t>Examples: most PCs, single CPU workstations and mainframes </a:t>
            </a:r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SISD </a:t>
            </a:r>
          </a:p>
        </p:txBody>
      </p:sp>
      <p:grpSp>
        <p:nvGrpSpPr>
          <p:cNvPr id="18436" name="Group 5"/>
          <p:cNvGrpSpPr>
            <a:grpSpLocks/>
          </p:cNvGrpSpPr>
          <p:nvPr/>
        </p:nvGrpSpPr>
        <p:grpSpPr bwMode="auto">
          <a:xfrm>
            <a:off x="1601392" y="3274219"/>
            <a:ext cx="5203031" cy="1428750"/>
            <a:chOff x="768" y="2611"/>
            <a:chExt cx="4370" cy="1200"/>
          </a:xfrm>
        </p:grpSpPr>
        <p:sp>
          <p:nvSpPr>
            <p:cNvPr id="18440" name="Line 6"/>
            <p:cNvSpPr>
              <a:spLocks noChangeShapeType="1"/>
            </p:cNvSpPr>
            <p:nvPr/>
          </p:nvSpPr>
          <p:spPr bwMode="auto">
            <a:xfrm>
              <a:off x="2347" y="3431"/>
              <a:ext cx="59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/>
            <a:p>
              <a:endParaRPr lang="zh-CN" altLang="en-US"/>
            </a:p>
          </p:txBody>
        </p:sp>
        <p:grpSp>
          <p:nvGrpSpPr>
            <p:cNvPr id="18441" name="Group 7"/>
            <p:cNvGrpSpPr>
              <a:grpSpLocks/>
            </p:cNvGrpSpPr>
            <p:nvPr/>
          </p:nvGrpSpPr>
          <p:grpSpPr bwMode="auto">
            <a:xfrm>
              <a:off x="768" y="3024"/>
              <a:ext cx="4370" cy="787"/>
              <a:chOff x="768" y="2957"/>
              <a:chExt cx="4370" cy="787"/>
            </a:xfrm>
          </p:grpSpPr>
          <p:grpSp>
            <p:nvGrpSpPr>
              <p:cNvPr id="18446" name="Group 8"/>
              <p:cNvGrpSpPr>
                <a:grpSpLocks/>
              </p:cNvGrpSpPr>
              <p:nvPr/>
            </p:nvGrpSpPr>
            <p:grpSpPr bwMode="auto">
              <a:xfrm>
                <a:off x="1189" y="2957"/>
                <a:ext cx="3949" cy="691"/>
                <a:chOff x="2054" y="10490"/>
                <a:chExt cx="4852" cy="624"/>
              </a:xfrm>
            </p:grpSpPr>
            <p:grpSp>
              <p:nvGrpSpPr>
                <p:cNvPr id="18448" name="Group 9"/>
                <p:cNvGrpSpPr>
                  <a:grpSpLocks/>
                </p:cNvGrpSpPr>
                <p:nvPr/>
              </p:nvGrpSpPr>
              <p:grpSpPr bwMode="auto">
                <a:xfrm>
                  <a:off x="2810" y="10646"/>
                  <a:ext cx="3675" cy="468"/>
                  <a:chOff x="2814" y="10650"/>
                  <a:chExt cx="3675" cy="468"/>
                </a:xfrm>
              </p:grpSpPr>
              <p:sp>
                <p:nvSpPr>
                  <p:cNvPr id="18456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14" y="10650"/>
                    <a:ext cx="630" cy="468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anchor="ctr" anchorCtr="1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9pPr>
                  </a:lstStyle>
                  <a:p>
                    <a:pPr algn="just" eaLnBrk="1" hangingPunct="1"/>
                    <a:r>
                      <a:rPr kumimoji="1" lang="en-US" altLang="zh-CN" sz="2250" b="1" dirty="0">
                        <a:latin typeface="Times New Roman" pitchFamily="18" charset="0"/>
                      </a:rPr>
                      <a:t>CU</a:t>
                    </a:r>
                    <a:endParaRPr kumimoji="1" lang="en-US" altLang="zh-CN" sz="750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18457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754" y="10650"/>
                    <a:ext cx="735" cy="468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anchor="ctr" anchorCtr="1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9pPr>
                  </a:lstStyle>
                  <a:p>
                    <a:pPr algn="just" eaLnBrk="1" hangingPunct="1"/>
                    <a:r>
                      <a:rPr kumimoji="1" lang="en-US" altLang="zh-CN" sz="2250" b="1" dirty="0">
                        <a:latin typeface="Times New Roman" pitchFamily="18" charset="0"/>
                      </a:rPr>
                      <a:t>M</a:t>
                    </a:r>
                    <a:r>
                      <a:rPr kumimoji="1" lang="en-US" altLang="zh-CN" sz="2250" dirty="0">
                        <a:latin typeface="Times New Roman" pitchFamily="18" charset="0"/>
                      </a:rPr>
                      <a:t>U</a:t>
                    </a:r>
                    <a:endParaRPr kumimoji="1" lang="en-US" altLang="zh-CN" sz="750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18458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79" y="10650"/>
                    <a:ext cx="630" cy="468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anchor="ctr" anchorCtr="1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9pPr>
                  </a:lstStyle>
                  <a:p>
                    <a:pPr algn="just" eaLnBrk="1" hangingPunct="1"/>
                    <a:r>
                      <a:rPr kumimoji="1" lang="en-US" altLang="zh-CN" sz="2250" b="1" dirty="0">
                        <a:latin typeface="Times New Roman" pitchFamily="18" charset="0"/>
                      </a:rPr>
                      <a:t>PU</a:t>
                    </a:r>
                    <a:endParaRPr kumimoji="1" lang="en-US" altLang="zh-CN" sz="750" dirty="0">
                      <a:latin typeface="Times New Roman" pitchFamily="18" charset="0"/>
                    </a:endParaRPr>
                  </a:p>
                </p:txBody>
              </p:sp>
            </p:grpSp>
            <p:sp>
              <p:nvSpPr>
                <p:cNvPr id="18449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2495" y="10830"/>
                  <a:ext cx="315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triangle" w="sm" len="lg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18450" name="Line 14"/>
                <p:cNvSpPr>
                  <a:spLocks noChangeShapeType="1"/>
                </p:cNvSpPr>
                <p:nvPr/>
              </p:nvSpPr>
              <p:spPr bwMode="auto">
                <a:xfrm>
                  <a:off x="2495" y="10490"/>
                  <a:ext cx="441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18451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6486" y="10874"/>
                  <a:ext cx="42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18452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2510" y="10490"/>
                  <a:ext cx="0" cy="3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18453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6894" y="10494"/>
                  <a:ext cx="0" cy="38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18454" name="Line 18"/>
                <p:cNvSpPr>
                  <a:spLocks noChangeShapeType="1"/>
                </p:cNvSpPr>
                <p:nvPr/>
              </p:nvSpPr>
              <p:spPr bwMode="auto">
                <a:xfrm>
                  <a:off x="4814" y="10850"/>
                  <a:ext cx="96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triangl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18455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2054" y="10974"/>
                  <a:ext cx="76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triangl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8447" name="Text Box 20"/>
              <p:cNvSpPr txBox="1">
                <a:spLocks noChangeArrowheads="1"/>
              </p:cNvSpPr>
              <p:nvPr/>
            </p:nvSpPr>
            <p:spPr bwMode="auto">
              <a:xfrm>
                <a:off x="768" y="3226"/>
                <a:ext cx="513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2250" b="1" dirty="0">
                    <a:latin typeface="Times New Roman" pitchFamily="18" charset="0"/>
                  </a:rPr>
                  <a:t>I/O</a:t>
                </a:r>
                <a:endParaRPr kumimoji="1" lang="en-US" altLang="zh-CN" sz="750" dirty="0">
                  <a:latin typeface="Times New Roman" pitchFamily="18" charset="0"/>
                </a:endParaRPr>
              </a:p>
            </p:txBody>
          </p:sp>
        </p:grpSp>
        <p:grpSp>
          <p:nvGrpSpPr>
            <p:cNvPr id="18442" name="Group 21"/>
            <p:cNvGrpSpPr>
              <a:grpSpLocks/>
            </p:cNvGrpSpPr>
            <p:nvPr/>
          </p:nvGrpSpPr>
          <p:grpSpPr bwMode="auto">
            <a:xfrm>
              <a:off x="2352" y="2611"/>
              <a:ext cx="1759" cy="912"/>
              <a:chOff x="2352" y="2592"/>
              <a:chExt cx="1759" cy="912"/>
            </a:xfrm>
          </p:grpSpPr>
          <p:sp>
            <p:nvSpPr>
              <p:cNvPr id="18443" name="Text Box 22"/>
              <p:cNvSpPr txBox="1">
                <a:spLocks noChangeArrowheads="1"/>
              </p:cNvSpPr>
              <p:nvPr/>
            </p:nvSpPr>
            <p:spPr bwMode="auto">
              <a:xfrm>
                <a:off x="2352" y="2986"/>
                <a:ext cx="513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2250" b="1" dirty="0">
                    <a:latin typeface="Times New Roman" pitchFamily="18" charset="0"/>
                  </a:rPr>
                  <a:t>IS</a:t>
                </a:r>
                <a:endParaRPr kumimoji="1" lang="en-US" altLang="zh-CN" sz="750" dirty="0">
                  <a:latin typeface="Times New Roman" pitchFamily="18" charset="0"/>
                </a:endParaRPr>
              </a:p>
            </p:txBody>
          </p:sp>
          <p:sp>
            <p:nvSpPr>
              <p:cNvPr id="18444" name="Text Box 23"/>
              <p:cNvSpPr txBox="1">
                <a:spLocks noChangeArrowheads="1"/>
              </p:cNvSpPr>
              <p:nvPr/>
            </p:nvSpPr>
            <p:spPr bwMode="auto">
              <a:xfrm>
                <a:off x="3598" y="2902"/>
                <a:ext cx="513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2250" b="1" dirty="0">
                    <a:latin typeface="Times New Roman" pitchFamily="18" charset="0"/>
                  </a:rPr>
                  <a:t>DS</a:t>
                </a:r>
                <a:endParaRPr kumimoji="1" lang="en-US" altLang="zh-CN" sz="750" dirty="0">
                  <a:latin typeface="Times New Roman" pitchFamily="18" charset="0"/>
                </a:endParaRPr>
              </a:p>
            </p:txBody>
          </p:sp>
          <p:sp>
            <p:nvSpPr>
              <p:cNvPr id="18445" name="Text Box 24"/>
              <p:cNvSpPr txBox="1">
                <a:spLocks noChangeArrowheads="1"/>
              </p:cNvSpPr>
              <p:nvPr/>
            </p:nvSpPr>
            <p:spPr bwMode="auto">
              <a:xfrm>
                <a:off x="2976" y="2592"/>
                <a:ext cx="513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2250" b="1" dirty="0">
                    <a:latin typeface="Times New Roman" pitchFamily="18" charset="0"/>
                  </a:rPr>
                  <a:t>IS</a:t>
                </a:r>
                <a:endParaRPr kumimoji="1" lang="en-US" altLang="zh-CN" sz="750" dirty="0">
                  <a:latin typeface="Times New Roman" pitchFamily="18" charset="0"/>
                </a:endParaRPr>
              </a:p>
            </p:txBody>
          </p:sp>
        </p:grpSp>
      </p:grpSp>
      <p:pic>
        <p:nvPicPr>
          <p:cNvPr id="120836" name="Picture 4" descr="SIS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832" y="789385"/>
            <a:ext cx="3378994" cy="3888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Rectangle 3"/>
          <p:cNvSpPr>
            <a:spLocks noGrp="1" noChangeArrowheads="1"/>
          </p:cNvSpPr>
          <p:nvPr>
            <p:ph idx="1"/>
          </p:nvPr>
        </p:nvSpPr>
        <p:spPr>
          <a:xfrm>
            <a:off x="661629" y="646080"/>
            <a:ext cx="7851472" cy="3314700"/>
          </a:xfrm>
        </p:spPr>
        <p:txBody>
          <a:bodyPr/>
          <a:lstStyle/>
          <a:p>
            <a:r>
              <a:rPr lang="en-US" altLang="zh-CN" sz="1500" dirty="0"/>
              <a:t>A type of parallel computer </a:t>
            </a:r>
          </a:p>
          <a:p>
            <a:r>
              <a:rPr lang="en-US" altLang="zh-CN" sz="1500" dirty="0"/>
              <a:t>Single instruction: All processing units execute the same instruction at any given clock cycle </a:t>
            </a:r>
          </a:p>
          <a:p>
            <a:r>
              <a:rPr lang="en-US" altLang="zh-CN" sz="1500" dirty="0"/>
              <a:t>Multiple data: Each processing unit can operate on a different data element </a:t>
            </a:r>
          </a:p>
          <a:p>
            <a:r>
              <a:rPr lang="en-US" altLang="zh-CN" sz="1500" dirty="0"/>
              <a:t>This type of machine typically has an instruction dispatcher, a very high-bandwidth internal network, and a very large array of very small-capacity instruction units. </a:t>
            </a:r>
          </a:p>
          <a:p>
            <a:r>
              <a:rPr lang="en-US" altLang="zh-CN" sz="1500" dirty="0"/>
              <a:t>Best suited for specialized problems characterized by a high degree of regularity, such as image processing. </a:t>
            </a:r>
          </a:p>
          <a:p>
            <a:r>
              <a:rPr lang="en-US" altLang="zh-CN" sz="1500" dirty="0"/>
              <a:t>Synchronous (lockstep) and deterministic execution </a:t>
            </a:r>
          </a:p>
          <a:p>
            <a:r>
              <a:rPr lang="en-US" altLang="zh-CN" sz="1500" dirty="0"/>
              <a:t>Two varieties:</a:t>
            </a:r>
          </a:p>
          <a:p>
            <a:pPr lvl="1"/>
            <a:r>
              <a:rPr lang="en-US" altLang="zh-CN" sz="1350" dirty="0"/>
              <a:t>Processor Arrays: Connection Machine CM-2, </a:t>
            </a:r>
            <a:r>
              <a:rPr lang="en-US" altLang="zh-CN" sz="1350" dirty="0" err="1"/>
              <a:t>Maspar</a:t>
            </a:r>
            <a:r>
              <a:rPr lang="en-US" altLang="zh-CN" sz="1350" dirty="0"/>
              <a:t> MP-1, MP-2 </a:t>
            </a:r>
          </a:p>
          <a:p>
            <a:pPr lvl="1"/>
            <a:r>
              <a:rPr lang="en-US" altLang="zh-CN" sz="1350" dirty="0"/>
              <a:t>Vector Pipelines: IBM 9000, Cray C90, Fujitsu VP, NEC SX-2, Hitachi S820 </a:t>
            </a: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SIMD</a:t>
            </a:r>
          </a:p>
        </p:txBody>
      </p:sp>
      <p:pic>
        <p:nvPicPr>
          <p:cNvPr id="121860" name="Picture 4" descr="SIM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241" y="1275160"/>
            <a:ext cx="5509022" cy="3577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1888" name="Group 32"/>
          <p:cNvGrpSpPr>
            <a:grpSpLocks/>
          </p:cNvGrpSpPr>
          <p:nvPr/>
        </p:nvGrpSpPr>
        <p:grpSpPr bwMode="auto">
          <a:xfrm>
            <a:off x="2195513" y="1721644"/>
            <a:ext cx="3886200" cy="1714500"/>
            <a:chOff x="4775" y="6090"/>
            <a:chExt cx="4330" cy="1889"/>
          </a:xfrm>
        </p:grpSpPr>
        <p:sp>
          <p:nvSpPr>
            <p:cNvPr id="19464" name="Text Box 33"/>
            <p:cNvSpPr txBox="1">
              <a:spLocks noChangeArrowheads="1"/>
            </p:cNvSpPr>
            <p:nvPr/>
          </p:nvSpPr>
          <p:spPr bwMode="auto">
            <a:xfrm>
              <a:off x="5325" y="7061"/>
              <a:ext cx="533" cy="39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9pPr>
            </a:lstStyle>
            <a:p>
              <a:pPr algn="just"/>
              <a:r>
                <a:rPr lang="en-US" altLang="zh-CN">
                  <a:solidFill>
                    <a:srgbClr val="800080"/>
                  </a:solidFill>
                  <a:latin typeface="Times New Roman" pitchFamily="18" charset="0"/>
                </a:rPr>
                <a:t>CU</a:t>
              </a:r>
            </a:p>
          </p:txBody>
        </p:sp>
        <p:sp>
          <p:nvSpPr>
            <p:cNvPr id="19465" name="Text Box 34"/>
            <p:cNvSpPr txBox="1">
              <a:spLocks noChangeArrowheads="1"/>
            </p:cNvSpPr>
            <p:nvPr/>
          </p:nvSpPr>
          <p:spPr bwMode="auto">
            <a:xfrm>
              <a:off x="6805" y="6717"/>
              <a:ext cx="575" cy="38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9pPr>
            </a:lstStyle>
            <a:p>
              <a:pPr algn="just"/>
              <a:r>
                <a:rPr lang="en-US" altLang="zh-CN">
                  <a:solidFill>
                    <a:srgbClr val="800080"/>
                  </a:solidFill>
                  <a:latin typeface="Times New Roman" pitchFamily="18" charset="0"/>
                </a:rPr>
                <a:t>PU1</a:t>
              </a:r>
            </a:p>
          </p:txBody>
        </p:sp>
        <p:grpSp>
          <p:nvGrpSpPr>
            <p:cNvPr id="19466" name="Group 35"/>
            <p:cNvGrpSpPr>
              <a:grpSpLocks/>
            </p:cNvGrpSpPr>
            <p:nvPr/>
          </p:nvGrpSpPr>
          <p:grpSpPr bwMode="auto">
            <a:xfrm>
              <a:off x="4775" y="6934"/>
              <a:ext cx="558" cy="318"/>
              <a:chOff x="2294" y="2254"/>
              <a:chExt cx="660" cy="380"/>
            </a:xfrm>
          </p:grpSpPr>
          <p:sp>
            <p:nvSpPr>
              <p:cNvPr id="19488" name="Line 36"/>
              <p:cNvSpPr>
                <a:spLocks noChangeShapeType="1"/>
              </p:cNvSpPr>
              <p:nvPr/>
            </p:nvSpPr>
            <p:spPr bwMode="auto">
              <a:xfrm flipH="1">
                <a:off x="2414" y="2634"/>
                <a:ext cx="5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 anchor="ctr" anchorCtr="1"/>
              <a:lstStyle/>
              <a:p>
                <a:endParaRPr lang="zh-CN" altLang="en-US"/>
              </a:p>
            </p:txBody>
          </p:sp>
          <p:sp>
            <p:nvSpPr>
              <p:cNvPr id="19489" name="Text Box 37"/>
              <p:cNvSpPr txBox="1">
                <a:spLocks noChangeArrowheads="1"/>
              </p:cNvSpPr>
              <p:nvPr/>
            </p:nvSpPr>
            <p:spPr bwMode="auto">
              <a:xfrm>
                <a:off x="2294" y="2254"/>
                <a:ext cx="480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9pPr>
              </a:lstStyle>
              <a:p>
                <a:pPr algn="just"/>
                <a:r>
                  <a:rPr lang="en-US" altLang="zh-CN">
                    <a:solidFill>
                      <a:srgbClr val="800080"/>
                    </a:solidFill>
                    <a:latin typeface="Times New Roman" pitchFamily="18" charset="0"/>
                  </a:rPr>
                  <a:t>IS</a:t>
                </a:r>
              </a:p>
            </p:txBody>
          </p:sp>
        </p:grpSp>
        <p:grpSp>
          <p:nvGrpSpPr>
            <p:cNvPr id="19467" name="Group 38"/>
            <p:cNvGrpSpPr>
              <a:grpSpLocks/>
            </p:cNvGrpSpPr>
            <p:nvPr/>
          </p:nvGrpSpPr>
          <p:grpSpPr bwMode="auto">
            <a:xfrm>
              <a:off x="5858" y="6901"/>
              <a:ext cx="592" cy="391"/>
              <a:chOff x="3574" y="2214"/>
              <a:chExt cx="700" cy="468"/>
            </a:xfrm>
          </p:grpSpPr>
          <p:sp>
            <p:nvSpPr>
              <p:cNvPr id="19486" name="Line 39"/>
              <p:cNvSpPr>
                <a:spLocks noChangeShapeType="1"/>
              </p:cNvSpPr>
              <p:nvPr/>
            </p:nvSpPr>
            <p:spPr bwMode="auto">
              <a:xfrm>
                <a:off x="3574" y="2634"/>
                <a:ext cx="67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 anchor="ctr" anchorCtr="1"/>
              <a:lstStyle/>
              <a:p>
                <a:endParaRPr lang="zh-CN" altLang="en-US"/>
              </a:p>
            </p:txBody>
          </p:sp>
          <p:sp>
            <p:nvSpPr>
              <p:cNvPr id="19487" name="Text Box 40"/>
              <p:cNvSpPr txBox="1">
                <a:spLocks noChangeArrowheads="1"/>
              </p:cNvSpPr>
              <p:nvPr/>
            </p:nvSpPr>
            <p:spPr bwMode="auto">
              <a:xfrm>
                <a:off x="3644" y="2214"/>
                <a:ext cx="63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9pPr>
              </a:lstStyle>
              <a:p>
                <a:pPr algn="just"/>
                <a:r>
                  <a:rPr lang="en-US" altLang="zh-CN">
                    <a:solidFill>
                      <a:srgbClr val="800080"/>
                    </a:solidFill>
                    <a:latin typeface="Times New Roman" pitchFamily="18" charset="0"/>
                  </a:rPr>
                  <a:t>IS</a:t>
                </a:r>
              </a:p>
            </p:txBody>
          </p:sp>
        </p:grpSp>
        <p:grpSp>
          <p:nvGrpSpPr>
            <p:cNvPr id="19468" name="Group 41"/>
            <p:cNvGrpSpPr>
              <a:grpSpLocks/>
            </p:cNvGrpSpPr>
            <p:nvPr/>
          </p:nvGrpSpPr>
          <p:grpSpPr bwMode="auto">
            <a:xfrm>
              <a:off x="6433" y="6901"/>
              <a:ext cx="389" cy="752"/>
              <a:chOff x="4254" y="2214"/>
              <a:chExt cx="460" cy="900"/>
            </a:xfrm>
          </p:grpSpPr>
          <p:sp>
            <p:nvSpPr>
              <p:cNvPr id="19483" name="Line 42"/>
              <p:cNvSpPr>
                <a:spLocks noChangeShapeType="1"/>
              </p:cNvSpPr>
              <p:nvPr/>
            </p:nvSpPr>
            <p:spPr bwMode="auto">
              <a:xfrm>
                <a:off x="4254" y="2214"/>
                <a:ext cx="0" cy="9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 anchor="ctr" anchorCtr="1"/>
              <a:lstStyle/>
              <a:p>
                <a:endParaRPr lang="zh-CN" altLang="en-US"/>
              </a:p>
            </p:txBody>
          </p:sp>
          <p:sp>
            <p:nvSpPr>
              <p:cNvPr id="19484" name="Line 43"/>
              <p:cNvSpPr>
                <a:spLocks noChangeShapeType="1"/>
              </p:cNvSpPr>
              <p:nvPr/>
            </p:nvSpPr>
            <p:spPr bwMode="auto">
              <a:xfrm>
                <a:off x="4254" y="3114"/>
                <a:ext cx="4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 anchor="ctr" anchorCtr="1"/>
              <a:lstStyle/>
              <a:p>
                <a:endParaRPr lang="zh-CN" altLang="en-US"/>
              </a:p>
            </p:txBody>
          </p:sp>
          <p:sp>
            <p:nvSpPr>
              <p:cNvPr id="19485" name="Line 44"/>
              <p:cNvSpPr>
                <a:spLocks noChangeShapeType="1"/>
              </p:cNvSpPr>
              <p:nvPr/>
            </p:nvSpPr>
            <p:spPr bwMode="auto">
              <a:xfrm>
                <a:off x="4254" y="2214"/>
                <a:ext cx="4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 anchor="ctr" anchorCtr="1"/>
              <a:lstStyle/>
              <a:p>
                <a:endParaRPr lang="zh-CN" altLang="en-US"/>
              </a:p>
            </p:txBody>
          </p:sp>
        </p:grpSp>
        <p:sp>
          <p:nvSpPr>
            <p:cNvPr id="19469" name="Text Box 45"/>
            <p:cNvSpPr txBox="1">
              <a:spLocks noChangeArrowheads="1"/>
            </p:cNvSpPr>
            <p:nvPr/>
          </p:nvSpPr>
          <p:spPr bwMode="auto">
            <a:xfrm>
              <a:off x="6822" y="7452"/>
              <a:ext cx="575" cy="38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9pPr>
            </a:lstStyle>
            <a:p>
              <a:pPr algn="just"/>
              <a:r>
                <a:rPr lang="en-US" altLang="zh-CN">
                  <a:solidFill>
                    <a:srgbClr val="800080"/>
                  </a:solidFill>
                  <a:latin typeface="Times New Roman" pitchFamily="18" charset="0"/>
                </a:rPr>
                <a:t>PUn</a:t>
              </a:r>
            </a:p>
          </p:txBody>
        </p:sp>
        <p:grpSp>
          <p:nvGrpSpPr>
            <p:cNvPr id="19470" name="Group 46"/>
            <p:cNvGrpSpPr>
              <a:grpSpLocks/>
            </p:cNvGrpSpPr>
            <p:nvPr/>
          </p:nvGrpSpPr>
          <p:grpSpPr bwMode="auto">
            <a:xfrm>
              <a:off x="7440" y="6419"/>
              <a:ext cx="1665" cy="1560"/>
              <a:chOff x="7440" y="6348"/>
              <a:chExt cx="1665" cy="1560"/>
            </a:xfrm>
          </p:grpSpPr>
          <p:grpSp>
            <p:nvGrpSpPr>
              <p:cNvPr id="19474" name="Group 47"/>
              <p:cNvGrpSpPr>
                <a:grpSpLocks/>
              </p:cNvGrpSpPr>
              <p:nvPr/>
            </p:nvGrpSpPr>
            <p:grpSpPr bwMode="auto">
              <a:xfrm>
                <a:off x="7440" y="6504"/>
                <a:ext cx="812" cy="391"/>
                <a:chOff x="5931" y="2214"/>
                <a:chExt cx="960" cy="468"/>
              </a:xfrm>
            </p:grpSpPr>
            <p:sp>
              <p:nvSpPr>
                <p:cNvPr id="19481" name="Line 48"/>
                <p:cNvSpPr>
                  <a:spLocks noChangeShapeType="1"/>
                </p:cNvSpPr>
                <p:nvPr/>
              </p:nvSpPr>
              <p:spPr bwMode="auto">
                <a:xfrm>
                  <a:off x="5931" y="2610"/>
                  <a:ext cx="96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triangl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tIns="0" rIns="0" bIns="0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19482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6131" y="2214"/>
                  <a:ext cx="630" cy="4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 anchorCtr="1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9pPr>
                </a:lstStyle>
                <a:p>
                  <a:pPr algn="just"/>
                  <a:r>
                    <a:rPr lang="en-US" altLang="zh-CN">
                      <a:solidFill>
                        <a:srgbClr val="800080"/>
                      </a:solidFill>
                      <a:latin typeface="Times New Roman" pitchFamily="18" charset="0"/>
                    </a:rPr>
                    <a:t>DS</a:t>
                  </a:r>
                </a:p>
              </p:txBody>
            </p:sp>
          </p:grpSp>
          <p:grpSp>
            <p:nvGrpSpPr>
              <p:cNvPr id="19475" name="Group 50"/>
              <p:cNvGrpSpPr>
                <a:grpSpLocks/>
              </p:cNvGrpSpPr>
              <p:nvPr/>
            </p:nvGrpSpPr>
            <p:grpSpPr bwMode="auto">
              <a:xfrm>
                <a:off x="7440" y="7222"/>
                <a:ext cx="812" cy="391"/>
                <a:chOff x="5931" y="2214"/>
                <a:chExt cx="960" cy="468"/>
              </a:xfrm>
            </p:grpSpPr>
            <p:sp>
              <p:nvSpPr>
                <p:cNvPr id="19479" name="Line 51"/>
                <p:cNvSpPr>
                  <a:spLocks noChangeShapeType="1"/>
                </p:cNvSpPr>
                <p:nvPr/>
              </p:nvSpPr>
              <p:spPr bwMode="auto">
                <a:xfrm>
                  <a:off x="5931" y="2610"/>
                  <a:ext cx="96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triangl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0" tIns="0" rIns="0" bIns="0"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19480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6131" y="2214"/>
                  <a:ext cx="630" cy="4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 anchor="ctr" anchorCtr="1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9pPr>
                </a:lstStyle>
                <a:p>
                  <a:pPr algn="just"/>
                  <a:r>
                    <a:rPr lang="en-US" altLang="zh-CN">
                      <a:solidFill>
                        <a:srgbClr val="800080"/>
                      </a:solidFill>
                      <a:latin typeface="Times New Roman" pitchFamily="18" charset="0"/>
                    </a:rPr>
                    <a:t>DS</a:t>
                  </a:r>
                </a:p>
              </p:txBody>
            </p:sp>
          </p:grpSp>
          <p:sp>
            <p:nvSpPr>
              <p:cNvPr id="19476" name="Rectangle 53"/>
              <p:cNvSpPr>
                <a:spLocks noChangeArrowheads="1"/>
              </p:cNvSpPr>
              <p:nvPr/>
            </p:nvSpPr>
            <p:spPr bwMode="auto">
              <a:xfrm>
                <a:off x="8205" y="6348"/>
                <a:ext cx="900" cy="15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77" name="Text Box 54"/>
              <p:cNvSpPr txBox="1">
                <a:spLocks noChangeArrowheads="1"/>
              </p:cNvSpPr>
              <p:nvPr/>
            </p:nvSpPr>
            <p:spPr bwMode="auto">
              <a:xfrm>
                <a:off x="8385" y="6660"/>
                <a:ext cx="540" cy="31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9pPr>
              </a:lstStyle>
              <a:p>
                <a:pPr algn="just"/>
                <a:r>
                  <a:rPr lang="en-US" altLang="zh-CN">
                    <a:latin typeface="Times New Roman" pitchFamily="18" charset="0"/>
                  </a:rPr>
                  <a:t>MM1</a:t>
                </a:r>
              </a:p>
            </p:txBody>
          </p:sp>
          <p:sp>
            <p:nvSpPr>
              <p:cNvPr id="19478" name="Text Box 55"/>
              <p:cNvSpPr txBox="1">
                <a:spLocks noChangeArrowheads="1"/>
              </p:cNvSpPr>
              <p:nvPr/>
            </p:nvSpPr>
            <p:spPr bwMode="auto">
              <a:xfrm>
                <a:off x="8385" y="7440"/>
                <a:ext cx="540" cy="31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9pPr>
              </a:lstStyle>
              <a:p>
                <a:pPr algn="just"/>
                <a:r>
                  <a:rPr lang="en-US" altLang="zh-CN">
                    <a:latin typeface="Times New Roman" pitchFamily="18" charset="0"/>
                  </a:rPr>
                  <a:t>MMn</a:t>
                </a:r>
              </a:p>
            </p:txBody>
          </p:sp>
        </p:grpSp>
        <p:sp>
          <p:nvSpPr>
            <p:cNvPr id="19471" name="Line 56"/>
            <p:cNvSpPr>
              <a:spLocks noChangeShapeType="1"/>
            </p:cNvSpPr>
            <p:nvPr/>
          </p:nvSpPr>
          <p:spPr bwMode="auto">
            <a:xfrm flipV="1">
              <a:off x="8700" y="6090"/>
              <a:ext cx="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2" name="Line 57"/>
            <p:cNvSpPr>
              <a:spLocks noChangeShapeType="1"/>
            </p:cNvSpPr>
            <p:nvPr/>
          </p:nvSpPr>
          <p:spPr bwMode="auto">
            <a:xfrm flipH="1">
              <a:off x="5640" y="6090"/>
              <a:ext cx="30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3" name="Line 58"/>
            <p:cNvSpPr>
              <a:spLocks noChangeShapeType="1"/>
            </p:cNvSpPr>
            <p:nvPr/>
          </p:nvSpPr>
          <p:spPr bwMode="auto">
            <a:xfrm>
              <a:off x="5640" y="6132"/>
              <a:ext cx="0" cy="9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18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Rectangle 3"/>
          <p:cNvSpPr>
            <a:spLocks noGrp="1" noChangeArrowheads="1"/>
          </p:cNvSpPr>
          <p:nvPr>
            <p:ph idx="1"/>
          </p:nvPr>
        </p:nvSpPr>
        <p:spPr>
          <a:xfrm>
            <a:off x="661629" y="736311"/>
            <a:ext cx="7646288" cy="3314700"/>
          </a:xfrm>
        </p:spPr>
        <p:txBody>
          <a:bodyPr/>
          <a:lstStyle/>
          <a:p>
            <a:r>
              <a:rPr lang="en-US" altLang="zh-CN" dirty="0"/>
              <a:t>A single data stream is fed into multiple processing units. </a:t>
            </a:r>
          </a:p>
          <a:p>
            <a:r>
              <a:rPr lang="en-US" altLang="zh-CN" dirty="0"/>
              <a:t>Each processing unit operates on the data independently via independent instruction streams. </a:t>
            </a:r>
          </a:p>
          <a:p>
            <a:r>
              <a:rPr lang="en-US" altLang="zh-CN" dirty="0"/>
              <a:t>Few actual examples of this class of parallel computer have ever existed. One is the experimental Carnegie-Mellon </a:t>
            </a:r>
            <a:r>
              <a:rPr lang="en-US" altLang="zh-CN" dirty="0" err="1"/>
              <a:t>C.mmp</a:t>
            </a:r>
            <a:r>
              <a:rPr lang="en-US" altLang="zh-CN" dirty="0"/>
              <a:t> computer (1971). </a:t>
            </a:r>
          </a:p>
          <a:p>
            <a:r>
              <a:rPr lang="en-US" altLang="zh-CN" dirty="0"/>
              <a:t>Some conceivable uses might be: </a:t>
            </a:r>
          </a:p>
          <a:p>
            <a:pPr lvl="1"/>
            <a:r>
              <a:rPr lang="en-US" altLang="zh-CN" dirty="0"/>
              <a:t>multiple frequency filters operating on a single signal stream </a:t>
            </a:r>
          </a:p>
          <a:p>
            <a:pPr lvl="1"/>
            <a:r>
              <a:rPr lang="en-US" altLang="zh-CN" dirty="0"/>
              <a:t>multiple cryptography algorithms attempting to crack a single coded message. </a:t>
            </a: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MISD</a:t>
            </a:r>
            <a:endParaRPr lang="en-US" altLang="zh-CN" dirty="0"/>
          </a:p>
        </p:txBody>
      </p:sp>
      <p:pic>
        <p:nvPicPr>
          <p:cNvPr id="122884" name="Picture 4" descr="misd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935" y="1276350"/>
            <a:ext cx="5185172" cy="334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2885" name="Group 5"/>
          <p:cNvGrpSpPr>
            <a:grpSpLocks/>
          </p:cNvGrpSpPr>
          <p:nvPr/>
        </p:nvGrpSpPr>
        <p:grpSpPr bwMode="auto">
          <a:xfrm>
            <a:off x="1885950" y="1657350"/>
            <a:ext cx="5772150" cy="2109788"/>
            <a:chOff x="624" y="1248"/>
            <a:chExt cx="4848" cy="1772"/>
          </a:xfrm>
        </p:grpSpPr>
        <p:sp>
          <p:nvSpPr>
            <p:cNvPr id="20488" name="Text Box 6"/>
            <p:cNvSpPr txBox="1">
              <a:spLocks noChangeArrowheads="1"/>
            </p:cNvSpPr>
            <p:nvPr/>
          </p:nvSpPr>
          <p:spPr bwMode="auto">
            <a:xfrm>
              <a:off x="2537" y="1296"/>
              <a:ext cx="415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1500" b="1">
                  <a:latin typeface="Times New Roman" pitchFamily="18" charset="0"/>
                </a:rPr>
                <a:t>DS</a:t>
              </a:r>
            </a:p>
          </p:txBody>
        </p:sp>
        <p:grpSp>
          <p:nvGrpSpPr>
            <p:cNvPr id="20489" name="Group 7"/>
            <p:cNvGrpSpPr>
              <a:grpSpLocks/>
            </p:cNvGrpSpPr>
            <p:nvPr/>
          </p:nvGrpSpPr>
          <p:grpSpPr bwMode="auto">
            <a:xfrm>
              <a:off x="967" y="1600"/>
              <a:ext cx="1326" cy="1256"/>
              <a:chOff x="2804" y="10294"/>
              <a:chExt cx="2010" cy="1980"/>
            </a:xfrm>
          </p:grpSpPr>
          <p:sp>
            <p:nvSpPr>
              <p:cNvPr id="20520" name="Text Box 8"/>
              <p:cNvSpPr txBox="1">
                <a:spLocks noChangeArrowheads="1"/>
              </p:cNvSpPr>
              <p:nvPr/>
            </p:nvSpPr>
            <p:spPr bwMode="auto">
              <a:xfrm>
                <a:off x="2814" y="10474"/>
                <a:ext cx="630" cy="468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1500" b="1">
                    <a:latin typeface="Times New Roman" pitchFamily="18" charset="0"/>
                  </a:rPr>
                  <a:t>CU</a:t>
                </a:r>
                <a:r>
                  <a:rPr kumimoji="1" lang="en-US" altLang="zh-CN" sz="1500" b="1" baseline="-25000">
                    <a:latin typeface="Times New Roman" pitchFamily="18" charset="0"/>
                  </a:rPr>
                  <a:t>1</a:t>
                </a:r>
                <a:endParaRPr kumimoji="1" lang="en-US" altLang="zh-CN" sz="1500" b="1">
                  <a:latin typeface="Times New Roman" pitchFamily="18" charset="0"/>
                </a:endParaRPr>
              </a:p>
            </p:txBody>
          </p:sp>
          <p:sp>
            <p:nvSpPr>
              <p:cNvPr id="20521" name="Text Box 9"/>
              <p:cNvSpPr txBox="1">
                <a:spLocks noChangeArrowheads="1"/>
              </p:cNvSpPr>
              <p:nvPr/>
            </p:nvSpPr>
            <p:spPr bwMode="auto">
              <a:xfrm>
                <a:off x="4134" y="10474"/>
                <a:ext cx="680" cy="4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1500" b="1">
                    <a:latin typeface="Times New Roman" pitchFamily="18" charset="0"/>
                  </a:rPr>
                  <a:t>PE</a:t>
                </a:r>
                <a:r>
                  <a:rPr kumimoji="1" lang="en-US" altLang="zh-CN" sz="1500" b="1" baseline="-25000">
                    <a:latin typeface="Times New Roman" pitchFamily="18" charset="0"/>
                  </a:rPr>
                  <a:t>1</a:t>
                </a:r>
                <a:endParaRPr kumimoji="1" lang="en-US" altLang="zh-CN" sz="1500" b="1">
                  <a:latin typeface="Times New Roman" pitchFamily="18" charset="0"/>
                </a:endParaRPr>
              </a:p>
            </p:txBody>
          </p:sp>
          <p:grpSp>
            <p:nvGrpSpPr>
              <p:cNvPr id="20522" name="Group 10"/>
              <p:cNvGrpSpPr>
                <a:grpSpLocks/>
              </p:cNvGrpSpPr>
              <p:nvPr/>
            </p:nvGrpSpPr>
            <p:grpSpPr bwMode="auto">
              <a:xfrm>
                <a:off x="3454" y="10294"/>
                <a:ext cx="700" cy="468"/>
                <a:chOff x="3574" y="2214"/>
                <a:chExt cx="700" cy="468"/>
              </a:xfrm>
            </p:grpSpPr>
            <p:sp>
              <p:nvSpPr>
                <p:cNvPr id="20533" name="Line 11"/>
                <p:cNvSpPr>
                  <a:spLocks noChangeShapeType="1"/>
                </p:cNvSpPr>
                <p:nvPr/>
              </p:nvSpPr>
              <p:spPr bwMode="auto">
                <a:xfrm>
                  <a:off x="3574" y="2634"/>
                  <a:ext cx="67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20534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3644" y="2214"/>
                  <a:ext cx="630" cy="4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 anchorCtr="1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9pPr>
                </a:lstStyle>
                <a:p>
                  <a:pPr algn="just" eaLnBrk="1" hangingPunct="1"/>
                  <a:r>
                    <a:rPr kumimoji="1" lang="en-US" altLang="zh-CN" sz="1500" b="1">
                      <a:latin typeface="Times New Roman" pitchFamily="18" charset="0"/>
                    </a:rPr>
                    <a:t>IS</a:t>
                  </a:r>
                </a:p>
              </p:txBody>
            </p:sp>
          </p:grpSp>
          <p:sp>
            <p:nvSpPr>
              <p:cNvPr id="20523" name="Text Box 13"/>
              <p:cNvSpPr txBox="1">
                <a:spLocks noChangeArrowheads="1"/>
              </p:cNvSpPr>
              <p:nvPr/>
            </p:nvSpPr>
            <p:spPr bwMode="auto">
              <a:xfrm>
                <a:off x="4134" y="11806"/>
                <a:ext cx="680" cy="46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1500" b="1">
                    <a:latin typeface="Times New Roman" pitchFamily="18" charset="0"/>
                  </a:rPr>
                  <a:t>PE</a:t>
                </a:r>
                <a:r>
                  <a:rPr kumimoji="1" lang="en-US" altLang="zh-CN" sz="1500" b="1" baseline="-25000">
                    <a:latin typeface="Times New Roman" pitchFamily="18" charset="0"/>
                  </a:rPr>
                  <a:t>n</a:t>
                </a:r>
                <a:endParaRPr kumimoji="1" lang="en-US" altLang="zh-CN" sz="1500" b="1">
                  <a:latin typeface="Times New Roman" pitchFamily="18" charset="0"/>
                </a:endParaRPr>
              </a:p>
            </p:txBody>
          </p:sp>
          <p:sp>
            <p:nvSpPr>
              <p:cNvPr id="20524" name="Text Box 14"/>
              <p:cNvSpPr txBox="1">
                <a:spLocks noChangeArrowheads="1"/>
              </p:cNvSpPr>
              <p:nvPr/>
            </p:nvSpPr>
            <p:spPr bwMode="auto">
              <a:xfrm>
                <a:off x="2804" y="11806"/>
                <a:ext cx="630" cy="468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1500" b="1">
                    <a:latin typeface="Times New Roman" pitchFamily="18" charset="0"/>
                  </a:rPr>
                  <a:t>CU</a:t>
                </a:r>
                <a:r>
                  <a:rPr kumimoji="1" lang="en-US" altLang="zh-CN" sz="1500" b="1" baseline="-25000">
                    <a:latin typeface="Times New Roman" pitchFamily="18" charset="0"/>
                  </a:rPr>
                  <a:t>n</a:t>
                </a:r>
                <a:endParaRPr kumimoji="1" lang="en-US" altLang="zh-CN" sz="1500" b="1">
                  <a:latin typeface="Times New Roman" pitchFamily="18" charset="0"/>
                </a:endParaRPr>
              </a:p>
            </p:txBody>
          </p:sp>
          <p:sp>
            <p:nvSpPr>
              <p:cNvPr id="20525" name="Text Box 15"/>
              <p:cNvSpPr txBox="1">
                <a:spLocks noChangeArrowheads="1"/>
              </p:cNvSpPr>
              <p:nvPr/>
            </p:nvSpPr>
            <p:spPr bwMode="auto">
              <a:xfrm>
                <a:off x="2934" y="11034"/>
                <a:ext cx="460" cy="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sz="1500" b="1">
                    <a:latin typeface="Times New Roman" pitchFamily="18" charset="0"/>
                  </a:rPr>
                  <a:t>……</a:t>
                </a:r>
              </a:p>
            </p:txBody>
          </p:sp>
          <p:grpSp>
            <p:nvGrpSpPr>
              <p:cNvPr id="20526" name="Group 16"/>
              <p:cNvGrpSpPr>
                <a:grpSpLocks/>
              </p:cNvGrpSpPr>
              <p:nvPr/>
            </p:nvGrpSpPr>
            <p:grpSpPr bwMode="auto">
              <a:xfrm>
                <a:off x="3454" y="11626"/>
                <a:ext cx="700" cy="468"/>
                <a:chOff x="3574" y="2214"/>
                <a:chExt cx="700" cy="468"/>
              </a:xfrm>
            </p:grpSpPr>
            <p:sp>
              <p:nvSpPr>
                <p:cNvPr id="20531" name="Line 17"/>
                <p:cNvSpPr>
                  <a:spLocks noChangeShapeType="1"/>
                </p:cNvSpPr>
                <p:nvPr/>
              </p:nvSpPr>
              <p:spPr bwMode="auto">
                <a:xfrm>
                  <a:off x="3574" y="2634"/>
                  <a:ext cx="67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20532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3644" y="2214"/>
                  <a:ext cx="630" cy="4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 anchorCtr="1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9pPr>
                </a:lstStyle>
                <a:p>
                  <a:pPr algn="just" eaLnBrk="1" hangingPunct="1"/>
                  <a:r>
                    <a:rPr kumimoji="1" lang="en-US" altLang="zh-CN" sz="1500" b="1">
                      <a:latin typeface="Times New Roman" pitchFamily="18" charset="0"/>
                    </a:rPr>
                    <a:t>IS</a:t>
                  </a:r>
                </a:p>
              </p:txBody>
            </p:sp>
          </p:grpSp>
          <p:grpSp>
            <p:nvGrpSpPr>
              <p:cNvPr id="20527" name="Group 19"/>
              <p:cNvGrpSpPr>
                <a:grpSpLocks/>
              </p:cNvGrpSpPr>
              <p:nvPr/>
            </p:nvGrpSpPr>
            <p:grpSpPr bwMode="auto">
              <a:xfrm>
                <a:off x="4314" y="10954"/>
                <a:ext cx="480" cy="860"/>
                <a:chOff x="4314" y="10954"/>
                <a:chExt cx="480" cy="860"/>
              </a:xfrm>
            </p:grpSpPr>
            <p:sp>
              <p:nvSpPr>
                <p:cNvPr id="20528" name="Line 20"/>
                <p:cNvSpPr>
                  <a:spLocks noChangeShapeType="1"/>
                </p:cNvSpPr>
                <p:nvPr/>
              </p:nvSpPr>
              <p:spPr bwMode="auto">
                <a:xfrm>
                  <a:off x="4514" y="10954"/>
                  <a:ext cx="20" cy="2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20529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4314" y="11194"/>
                  <a:ext cx="480" cy="3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 anchorCtr="1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9pPr>
                </a:lstStyle>
                <a:p>
                  <a:pPr algn="just" eaLnBrk="1" hangingPunct="1"/>
                  <a:r>
                    <a:rPr kumimoji="1" lang="en-US" altLang="zh-CN" sz="1500" b="1">
                      <a:latin typeface="Times New Roman" pitchFamily="18" charset="0"/>
                    </a:rPr>
                    <a:t>…</a:t>
                  </a:r>
                </a:p>
              </p:txBody>
            </p:sp>
            <p:sp>
              <p:nvSpPr>
                <p:cNvPr id="20530" name="Line 22"/>
                <p:cNvSpPr>
                  <a:spLocks noChangeShapeType="1"/>
                </p:cNvSpPr>
                <p:nvPr/>
              </p:nvSpPr>
              <p:spPr bwMode="auto">
                <a:xfrm>
                  <a:off x="4514" y="11534"/>
                  <a:ext cx="0" cy="28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0490" name="Group 23"/>
            <p:cNvGrpSpPr>
              <a:grpSpLocks/>
            </p:cNvGrpSpPr>
            <p:nvPr/>
          </p:nvGrpSpPr>
          <p:grpSpPr bwMode="auto">
            <a:xfrm>
              <a:off x="2985" y="2044"/>
              <a:ext cx="1689" cy="469"/>
              <a:chOff x="5754" y="10994"/>
              <a:chExt cx="2560" cy="740"/>
            </a:xfrm>
          </p:grpSpPr>
          <p:grpSp>
            <p:nvGrpSpPr>
              <p:cNvPr id="20511" name="Group 24"/>
              <p:cNvGrpSpPr>
                <a:grpSpLocks/>
              </p:cNvGrpSpPr>
              <p:nvPr/>
            </p:nvGrpSpPr>
            <p:grpSpPr bwMode="auto">
              <a:xfrm>
                <a:off x="5914" y="11154"/>
                <a:ext cx="2240" cy="480"/>
                <a:chOff x="5914" y="11154"/>
                <a:chExt cx="2240" cy="480"/>
              </a:xfrm>
            </p:grpSpPr>
            <p:sp>
              <p:nvSpPr>
                <p:cNvPr id="20517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5914" y="11154"/>
                  <a:ext cx="815" cy="460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1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9pPr>
                </a:lstStyle>
                <a:p>
                  <a:pPr algn="just" eaLnBrk="1" hangingPunct="1"/>
                  <a:r>
                    <a:rPr kumimoji="1" lang="en-US" altLang="zh-CN" sz="1500" b="1">
                      <a:latin typeface="Times New Roman" pitchFamily="18" charset="0"/>
                    </a:rPr>
                    <a:t>MM</a:t>
                  </a:r>
                  <a:r>
                    <a:rPr kumimoji="1" lang="en-US" altLang="zh-CN" sz="1500" b="1" baseline="-25000">
                      <a:latin typeface="Times New Roman" pitchFamily="18" charset="0"/>
                    </a:rPr>
                    <a:t>1</a:t>
                  </a:r>
                  <a:endParaRPr kumimoji="1" lang="en-US" altLang="zh-CN" sz="1500" b="1">
                    <a:latin typeface="Times New Roman" pitchFamily="18" charset="0"/>
                  </a:endParaRPr>
                </a:p>
              </p:txBody>
            </p:sp>
            <p:sp>
              <p:nvSpPr>
                <p:cNvPr id="20518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7354" y="11174"/>
                  <a:ext cx="800" cy="460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 anchorCtr="1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9pPr>
                </a:lstStyle>
                <a:p>
                  <a:pPr algn="just" eaLnBrk="1" hangingPunct="1"/>
                  <a:r>
                    <a:rPr kumimoji="1" lang="en-US" altLang="zh-CN" sz="1500" b="1">
                      <a:latin typeface="Times New Roman" pitchFamily="18" charset="0"/>
                    </a:rPr>
                    <a:t>MM</a:t>
                  </a:r>
                  <a:r>
                    <a:rPr kumimoji="1" lang="en-US" altLang="zh-CN" sz="1500" b="1" baseline="-25000">
                      <a:latin typeface="Times New Roman" pitchFamily="18" charset="0"/>
                    </a:rPr>
                    <a:t>n</a:t>
                  </a:r>
                  <a:endParaRPr kumimoji="1" lang="en-US" altLang="zh-CN" sz="1500" b="1">
                    <a:latin typeface="Times New Roman" pitchFamily="18" charset="0"/>
                  </a:endParaRPr>
                </a:p>
              </p:txBody>
            </p:sp>
            <p:sp>
              <p:nvSpPr>
                <p:cNvPr id="20519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6774" y="11174"/>
                  <a:ext cx="540" cy="4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 anchorCtr="1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9pPr>
                </a:lstStyle>
                <a:p>
                  <a:pPr algn="just" eaLnBrk="1" hangingPunct="1"/>
                  <a:r>
                    <a:rPr kumimoji="1" lang="en-US" altLang="zh-CN" sz="1500" b="1">
                      <a:latin typeface="Times New Roman" pitchFamily="18" charset="0"/>
                    </a:rPr>
                    <a:t>…</a:t>
                  </a:r>
                </a:p>
              </p:txBody>
            </p:sp>
          </p:grpSp>
          <p:grpSp>
            <p:nvGrpSpPr>
              <p:cNvPr id="20512" name="Group 28"/>
              <p:cNvGrpSpPr>
                <a:grpSpLocks/>
              </p:cNvGrpSpPr>
              <p:nvPr/>
            </p:nvGrpSpPr>
            <p:grpSpPr bwMode="auto">
              <a:xfrm>
                <a:off x="5754" y="10994"/>
                <a:ext cx="2560" cy="740"/>
                <a:chOff x="5754" y="10994"/>
                <a:chExt cx="2560" cy="740"/>
              </a:xfrm>
            </p:grpSpPr>
            <p:sp>
              <p:nvSpPr>
                <p:cNvPr id="20513" name="Line 29"/>
                <p:cNvSpPr>
                  <a:spLocks noChangeShapeType="1"/>
                </p:cNvSpPr>
                <p:nvPr/>
              </p:nvSpPr>
              <p:spPr bwMode="auto">
                <a:xfrm>
                  <a:off x="5754" y="11014"/>
                  <a:ext cx="0" cy="7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20514" name="Line 30"/>
                <p:cNvSpPr>
                  <a:spLocks noChangeShapeType="1"/>
                </p:cNvSpPr>
                <p:nvPr/>
              </p:nvSpPr>
              <p:spPr bwMode="auto">
                <a:xfrm>
                  <a:off x="5754" y="11734"/>
                  <a:ext cx="256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20515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8314" y="10994"/>
                  <a:ext cx="0" cy="7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zh-CN" altLang="en-US"/>
                </a:p>
              </p:txBody>
            </p:sp>
            <p:sp>
              <p:nvSpPr>
                <p:cNvPr id="20516" name="Line 32"/>
                <p:cNvSpPr>
                  <a:spLocks noChangeShapeType="1"/>
                </p:cNvSpPr>
                <p:nvPr/>
              </p:nvSpPr>
              <p:spPr bwMode="auto">
                <a:xfrm>
                  <a:off x="5754" y="11014"/>
                  <a:ext cx="256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 anchorCtr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0491" name="Group 33"/>
            <p:cNvGrpSpPr>
              <a:grpSpLocks/>
            </p:cNvGrpSpPr>
            <p:nvPr/>
          </p:nvGrpSpPr>
          <p:grpSpPr bwMode="auto">
            <a:xfrm>
              <a:off x="2101" y="1524"/>
              <a:ext cx="1095" cy="533"/>
              <a:chOff x="4474" y="10494"/>
              <a:chExt cx="1660" cy="840"/>
            </a:xfrm>
          </p:grpSpPr>
          <p:sp>
            <p:nvSpPr>
              <p:cNvPr id="20508" name="Line 34"/>
              <p:cNvSpPr>
                <a:spLocks noChangeShapeType="1"/>
              </p:cNvSpPr>
              <p:nvPr/>
            </p:nvSpPr>
            <p:spPr bwMode="auto">
              <a:xfrm>
                <a:off x="4474" y="10494"/>
                <a:ext cx="0" cy="3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  <p:sp>
            <p:nvSpPr>
              <p:cNvPr id="20509" name="Line 35"/>
              <p:cNvSpPr>
                <a:spLocks noChangeShapeType="1"/>
              </p:cNvSpPr>
              <p:nvPr/>
            </p:nvSpPr>
            <p:spPr bwMode="auto">
              <a:xfrm>
                <a:off x="4474" y="10494"/>
                <a:ext cx="16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  <p:sp>
            <p:nvSpPr>
              <p:cNvPr id="20510" name="Line 36"/>
              <p:cNvSpPr>
                <a:spLocks noChangeShapeType="1"/>
              </p:cNvSpPr>
              <p:nvPr/>
            </p:nvSpPr>
            <p:spPr bwMode="auto">
              <a:xfrm>
                <a:off x="6134" y="10494"/>
                <a:ext cx="0" cy="8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</p:grpSp>
        <p:grpSp>
          <p:nvGrpSpPr>
            <p:cNvPr id="20492" name="Group 37"/>
            <p:cNvGrpSpPr>
              <a:grpSpLocks/>
            </p:cNvGrpSpPr>
            <p:nvPr/>
          </p:nvGrpSpPr>
          <p:grpSpPr bwMode="auto">
            <a:xfrm>
              <a:off x="2075" y="2513"/>
              <a:ext cx="1108" cy="444"/>
              <a:chOff x="4434" y="12054"/>
              <a:chExt cx="1680" cy="700"/>
            </a:xfrm>
          </p:grpSpPr>
          <p:sp>
            <p:nvSpPr>
              <p:cNvPr id="20505" name="Line 38"/>
              <p:cNvSpPr>
                <a:spLocks noChangeShapeType="1"/>
              </p:cNvSpPr>
              <p:nvPr/>
            </p:nvSpPr>
            <p:spPr bwMode="auto">
              <a:xfrm>
                <a:off x="4434" y="12594"/>
                <a:ext cx="0" cy="1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  <p:sp>
            <p:nvSpPr>
              <p:cNvPr id="20506" name="Line 39"/>
              <p:cNvSpPr>
                <a:spLocks noChangeShapeType="1"/>
              </p:cNvSpPr>
              <p:nvPr/>
            </p:nvSpPr>
            <p:spPr bwMode="auto">
              <a:xfrm>
                <a:off x="4434" y="12754"/>
                <a:ext cx="16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  <p:sp>
            <p:nvSpPr>
              <p:cNvPr id="20507" name="Line 40"/>
              <p:cNvSpPr>
                <a:spLocks noChangeShapeType="1"/>
              </p:cNvSpPr>
              <p:nvPr/>
            </p:nvSpPr>
            <p:spPr bwMode="auto">
              <a:xfrm flipV="1">
                <a:off x="6114" y="12054"/>
                <a:ext cx="0" cy="7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 anchorCtr="1"/>
              <a:lstStyle/>
              <a:p>
                <a:endParaRPr lang="zh-CN" altLang="en-US"/>
              </a:p>
            </p:txBody>
          </p:sp>
        </p:grpSp>
        <p:sp>
          <p:nvSpPr>
            <p:cNvPr id="20493" name="Line 41"/>
            <p:cNvSpPr>
              <a:spLocks noChangeShapeType="1"/>
            </p:cNvSpPr>
            <p:nvPr/>
          </p:nvSpPr>
          <p:spPr bwMode="auto">
            <a:xfrm flipH="1" flipV="1">
              <a:off x="768" y="1872"/>
              <a:ext cx="2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/>
            <a:p>
              <a:endParaRPr lang="zh-CN" altLang="en-US"/>
            </a:p>
          </p:txBody>
        </p:sp>
        <p:sp>
          <p:nvSpPr>
            <p:cNvPr id="20494" name="Line 42"/>
            <p:cNvSpPr>
              <a:spLocks noChangeShapeType="1"/>
            </p:cNvSpPr>
            <p:nvPr/>
          </p:nvSpPr>
          <p:spPr bwMode="auto">
            <a:xfrm flipH="1" flipV="1">
              <a:off x="768" y="1344"/>
              <a:ext cx="0" cy="5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/>
            <a:p>
              <a:endParaRPr lang="zh-CN" altLang="en-US"/>
            </a:p>
          </p:txBody>
        </p:sp>
        <p:sp>
          <p:nvSpPr>
            <p:cNvPr id="20495" name="Line 43"/>
            <p:cNvSpPr>
              <a:spLocks noChangeShapeType="1"/>
            </p:cNvSpPr>
            <p:nvPr/>
          </p:nvSpPr>
          <p:spPr bwMode="auto">
            <a:xfrm flipV="1">
              <a:off x="768" y="1344"/>
              <a:ext cx="273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/>
            <a:p>
              <a:endParaRPr lang="zh-CN" altLang="en-US"/>
            </a:p>
          </p:txBody>
        </p:sp>
        <p:sp>
          <p:nvSpPr>
            <p:cNvPr id="20496" name="Line 44"/>
            <p:cNvSpPr>
              <a:spLocks noChangeShapeType="1"/>
            </p:cNvSpPr>
            <p:nvPr/>
          </p:nvSpPr>
          <p:spPr bwMode="auto">
            <a:xfrm flipH="1" flipV="1">
              <a:off x="3504" y="1344"/>
              <a:ext cx="0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/>
            <a:p>
              <a:endParaRPr lang="zh-CN" altLang="en-US"/>
            </a:p>
          </p:txBody>
        </p:sp>
        <p:sp>
          <p:nvSpPr>
            <p:cNvPr id="20497" name="Line 45"/>
            <p:cNvSpPr>
              <a:spLocks noChangeShapeType="1"/>
            </p:cNvSpPr>
            <p:nvPr/>
          </p:nvSpPr>
          <p:spPr bwMode="auto">
            <a:xfrm flipH="1" flipV="1">
              <a:off x="624" y="2736"/>
              <a:ext cx="35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/>
            <a:p>
              <a:endParaRPr lang="zh-CN" altLang="en-US"/>
            </a:p>
          </p:txBody>
        </p:sp>
        <p:sp>
          <p:nvSpPr>
            <p:cNvPr id="20498" name="Line 46"/>
            <p:cNvSpPr>
              <a:spLocks noChangeShapeType="1"/>
            </p:cNvSpPr>
            <p:nvPr/>
          </p:nvSpPr>
          <p:spPr bwMode="auto">
            <a:xfrm flipV="1">
              <a:off x="624" y="1248"/>
              <a:ext cx="374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/>
            <a:p>
              <a:endParaRPr lang="zh-CN" altLang="en-US"/>
            </a:p>
          </p:txBody>
        </p:sp>
        <p:sp>
          <p:nvSpPr>
            <p:cNvPr id="20499" name="Line 47"/>
            <p:cNvSpPr>
              <a:spLocks noChangeShapeType="1"/>
            </p:cNvSpPr>
            <p:nvPr/>
          </p:nvSpPr>
          <p:spPr bwMode="auto">
            <a:xfrm flipV="1">
              <a:off x="624" y="1248"/>
              <a:ext cx="0" cy="14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/>
            <a:p>
              <a:endParaRPr lang="zh-CN" altLang="en-US"/>
            </a:p>
          </p:txBody>
        </p:sp>
        <p:sp>
          <p:nvSpPr>
            <p:cNvPr id="20500" name="Line 48"/>
            <p:cNvSpPr>
              <a:spLocks noChangeShapeType="1"/>
            </p:cNvSpPr>
            <p:nvPr/>
          </p:nvSpPr>
          <p:spPr bwMode="auto">
            <a:xfrm>
              <a:off x="4368" y="1248"/>
              <a:ext cx="0" cy="8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/>
            <a:p>
              <a:endParaRPr lang="zh-CN" altLang="en-US"/>
            </a:p>
          </p:txBody>
        </p:sp>
        <p:sp>
          <p:nvSpPr>
            <p:cNvPr id="20501" name="Text Box 49"/>
            <p:cNvSpPr txBox="1">
              <a:spLocks noChangeArrowheads="1"/>
            </p:cNvSpPr>
            <p:nvPr/>
          </p:nvSpPr>
          <p:spPr bwMode="auto">
            <a:xfrm>
              <a:off x="3645" y="2729"/>
              <a:ext cx="5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1500" b="1">
                  <a:latin typeface="Times New Roman" pitchFamily="18" charset="0"/>
                </a:rPr>
                <a:t>……</a:t>
              </a:r>
            </a:p>
          </p:txBody>
        </p:sp>
        <p:sp>
          <p:nvSpPr>
            <p:cNvPr id="20502" name="Text Box 50"/>
            <p:cNvSpPr txBox="1">
              <a:spLocks noChangeArrowheads="1"/>
            </p:cNvSpPr>
            <p:nvPr/>
          </p:nvSpPr>
          <p:spPr bwMode="auto">
            <a:xfrm>
              <a:off x="2458" y="2665"/>
              <a:ext cx="415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1500" b="1">
                  <a:latin typeface="Times New Roman" pitchFamily="18" charset="0"/>
                </a:rPr>
                <a:t>DS</a:t>
              </a:r>
            </a:p>
          </p:txBody>
        </p:sp>
        <p:sp>
          <p:nvSpPr>
            <p:cNvPr id="20503" name="Line 51"/>
            <p:cNvSpPr>
              <a:spLocks noChangeShapeType="1"/>
            </p:cNvSpPr>
            <p:nvPr/>
          </p:nvSpPr>
          <p:spPr bwMode="auto">
            <a:xfrm>
              <a:off x="4687" y="2285"/>
              <a:ext cx="55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/>
            <a:p>
              <a:endParaRPr lang="zh-CN" altLang="en-US"/>
            </a:p>
          </p:txBody>
        </p:sp>
        <p:sp>
          <p:nvSpPr>
            <p:cNvPr id="20504" name="Text Box 52"/>
            <p:cNvSpPr txBox="1">
              <a:spLocks noChangeArrowheads="1"/>
            </p:cNvSpPr>
            <p:nvPr/>
          </p:nvSpPr>
          <p:spPr bwMode="auto">
            <a:xfrm>
              <a:off x="5056" y="2044"/>
              <a:ext cx="416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9pPr>
            </a:lstStyle>
            <a:p>
              <a:pPr algn="just" eaLnBrk="1" hangingPunct="1"/>
              <a:r>
                <a:rPr kumimoji="1" lang="en-US" altLang="zh-CN" sz="1500" b="1">
                  <a:latin typeface="Times New Roman" pitchFamily="18" charset="0"/>
                </a:rPr>
                <a:t>I/O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28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Currently, the most common type of parallel computer. Most modern computers fall into this category. </a:t>
            </a:r>
          </a:p>
          <a:p>
            <a:r>
              <a:rPr lang="en-US" altLang="zh-CN"/>
              <a:t>Multiple Instruction: every processor may be executing a different instruction stream </a:t>
            </a:r>
          </a:p>
          <a:p>
            <a:r>
              <a:rPr lang="en-US" altLang="zh-CN"/>
              <a:t>Multiple Data: every processor may be working with a different data stream </a:t>
            </a:r>
          </a:p>
          <a:p>
            <a:r>
              <a:rPr lang="en-US" altLang="zh-CN"/>
              <a:t>Execution can be synchronous or asynchronous, deterministic or non-deterministic </a:t>
            </a:r>
          </a:p>
          <a:p>
            <a:r>
              <a:rPr lang="en-US" altLang="zh-CN"/>
              <a:t>Examples: most current supercomputers, networked parallel computer "grids" and multi-processor SMP computers - including some types of PCs. </a:t>
            </a: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MIMD</a:t>
            </a:r>
          </a:p>
        </p:txBody>
      </p:sp>
      <p:pic>
        <p:nvPicPr>
          <p:cNvPr id="123908" name="Picture 4" descr="MIM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085" y="1221581"/>
            <a:ext cx="6003131" cy="323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3958" name="Group 54"/>
          <p:cNvGrpSpPr>
            <a:grpSpLocks/>
          </p:cNvGrpSpPr>
          <p:nvPr/>
        </p:nvGrpSpPr>
        <p:grpSpPr bwMode="auto">
          <a:xfrm>
            <a:off x="1485900" y="1600200"/>
            <a:ext cx="6229350" cy="2686050"/>
            <a:chOff x="0" y="1920"/>
            <a:chExt cx="5754" cy="2400"/>
          </a:xfrm>
        </p:grpSpPr>
        <p:sp>
          <p:nvSpPr>
            <p:cNvPr id="21512" name="Text Box 55"/>
            <p:cNvSpPr txBox="1">
              <a:spLocks noChangeArrowheads="1"/>
            </p:cNvSpPr>
            <p:nvPr/>
          </p:nvSpPr>
          <p:spPr bwMode="auto">
            <a:xfrm>
              <a:off x="3696" y="2698"/>
              <a:ext cx="2058" cy="8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 anchor="ctr" anchorCtr="1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9pPr>
            </a:lstStyle>
            <a:p>
              <a:pPr algn="l" eaLnBrk="1" hangingPunct="1"/>
              <a:endParaRPr kumimoji="1" lang="zh-CN" altLang="zh-CN" b="1">
                <a:latin typeface="Times New Roman" pitchFamily="18" charset="0"/>
              </a:endParaRPr>
            </a:p>
          </p:txBody>
        </p:sp>
        <p:grpSp>
          <p:nvGrpSpPr>
            <p:cNvPr id="21513" name="Group 56"/>
            <p:cNvGrpSpPr>
              <a:grpSpLocks/>
            </p:cNvGrpSpPr>
            <p:nvPr/>
          </p:nvGrpSpPr>
          <p:grpSpPr bwMode="auto">
            <a:xfrm>
              <a:off x="0" y="1920"/>
              <a:ext cx="4259" cy="2400"/>
              <a:chOff x="1034" y="11734"/>
              <a:chExt cx="6080" cy="2528"/>
            </a:xfrm>
          </p:grpSpPr>
          <p:sp>
            <p:nvSpPr>
              <p:cNvPr id="21514" name="Text Box 57"/>
              <p:cNvSpPr txBox="1">
                <a:spLocks noChangeArrowheads="1"/>
              </p:cNvSpPr>
              <p:nvPr/>
            </p:nvSpPr>
            <p:spPr bwMode="auto">
              <a:xfrm>
                <a:off x="1034" y="13254"/>
                <a:ext cx="63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b="1">
                    <a:latin typeface="Times New Roman" pitchFamily="18" charset="0"/>
                  </a:rPr>
                  <a:t>I/O</a:t>
                </a:r>
              </a:p>
            </p:txBody>
          </p:sp>
          <p:grpSp>
            <p:nvGrpSpPr>
              <p:cNvPr id="21515" name="Group 58"/>
              <p:cNvGrpSpPr>
                <a:grpSpLocks/>
              </p:cNvGrpSpPr>
              <p:nvPr/>
            </p:nvGrpSpPr>
            <p:grpSpPr bwMode="auto">
              <a:xfrm>
                <a:off x="1634" y="11734"/>
                <a:ext cx="5480" cy="2528"/>
                <a:chOff x="1974" y="11794"/>
                <a:chExt cx="5480" cy="2528"/>
              </a:xfrm>
            </p:grpSpPr>
            <p:grpSp>
              <p:nvGrpSpPr>
                <p:cNvPr id="21519" name="Group 59"/>
                <p:cNvGrpSpPr>
                  <a:grpSpLocks/>
                </p:cNvGrpSpPr>
                <p:nvPr/>
              </p:nvGrpSpPr>
              <p:grpSpPr bwMode="auto">
                <a:xfrm>
                  <a:off x="1974" y="11934"/>
                  <a:ext cx="5480" cy="2280"/>
                  <a:chOff x="2024" y="11574"/>
                  <a:chExt cx="5480" cy="2280"/>
                </a:xfrm>
              </p:grpSpPr>
              <p:grpSp>
                <p:nvGrpSpPr>
                  <p:cNvPr id="21522" name="Group 60"/>
                  <p:cNvGrpSpPr>
                    <a:grpSpLocks/>
                  </p:cNvGrpSpPr>
                  <p:nvPr/>
                </p:nvGrpSpPr>
                <p:grpSpPr bwMode="auto">
                  <a:xfrm>
                    <a:off x="2394" y="11914"/>
                    <a:ext cx="2030" cy="648"/>
                    <a:chOff x="2394" y="11914"/>
                    <a:chExt cx="2030" cy="648"/>
                  </a:xfrm>
                </p:grpSpPr>
                <p:sp>
                  <p:nvSpPr>
                    <p:cNvPr id="21555" name="Text Box 61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394" y="12094"/>
                      <a:ext cx="660" cy="468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lIns="0" rIns="0" anchor="ctr" anchorCtr="1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9pPr>
                    </a:lstStyle>
                    <a:p>
                      <a:pPr algn="just" eaLnBrk="1" hangingPunct="1"/>
                      <a:r>
                        <a:rPr kumimoji="1" lang="en-US" altLang="zh-CN" b="1">
                          <a:latin typeface="Times New Roman" pitchFamily="18" charset="0"/>
                        </a:rPr>
                        <a:t>CU</a:t>
                      </a:r>
                      <a:r>
                        <a:rPr kumimoji="1" lang="en-US" altLang="zh-CN" b="1" baseline="-25000">
                          <a:latin typeface="Times New Roman" pitchFamily="18" charset="0"/>
                        </a:rPr>
                        <a:t>1</a:t>
                      </a:r>
                      <a:endParaRPr kumimoji="1" lang="en-US" altLang="zh-CN" b="1">
                        <a:latin typeface="Times New Roman" pitchFamily="18" charset="0"/>
                      </a:endParaRPr>
                    </a:p>
                  </p:txBody>
                </p:sp>
                <p:sp>
                  <p:nvSpPr>
                    <p:cNvPr id="21556" name="Text Box 6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744" y="12094"/>
                      <a:ext cx="680" cy="46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lIns="0" rIns="0" anchor="ctr" anchorCtr="1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9pPr>
                    </a:lstStyle>
                    <a:p>
                      <a:pPr algn="just" eaLnBrk="1" hangingPunct="1"/>
                      <a:r>
                        <a:rPr kumimoji="1" lang="en-US" altLang="zh-CN" b="1">
                          <a:latin typeface="Times New Roman" pitchFamily="18" charset="0"/>
                        </a:rPr>
                        <a:t>PE</a:t>
                      </a:r>
                      <a:r>
                        <a:rPr kumimoji="1" lang="en-US" altLang="zh-CN" b="1" baseline="-25000">
                          <a:latin typeface="Times New Roman" pitchFamily="18" charset="0"/>
                        </a:rPr>
                        <a:t>1</a:t>
                      </a:r>
                      <a:endParaRPr kumimoji="1" lang="en-US" altLang="zh-CN" b="1">
                        <a:latin typeface="Times New Roman" pitchFamily="18" charset="0"/>
                      </a:endParaRPr>
                    </a:p>
                  </p:txBody>
                </p:sp>
                <p:grpSp>
                  <p:nvGrpSpPr>
                    <p:cNvPr id="21557" name="Group 6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064" y="11914"/>
                      <a:ext cx="700" cy="468"/>
                      <a:chOff x="3574" y="2214"/>
                      <a:chExt cx="700" cy="468"/>
                    </a:xfrm>
                  </p:grpSpPr>
                  <p:sp>
                    <p:nvSpPr>
                      <p:cNvPr id="21558" name="Line 6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574" y="2634"/>
                        <a:ext cx="675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 type="triangle" w="sm" len="lg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lIns="0" rIns="0" anchor="ctr" anchorCtr="1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1559" name="Text Box 65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3644" y="2214"/>
                        <a:ext cx="630" cy="4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lIns="0" rIns="0" anchor="ctr" anchorCtr="1"/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Tahoma" pitchFamily="34" charset="0"/>
                            <a:ea typeface="SimSun" pitchFamily="2" charset="-122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Tahoma" pitchFamily="34" charset="0"/>
                            <a:ea typeface="SimSun" pitchFamily="2" charset="-122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Tahoma" pitchFamily="34" charset="0"/>
                            <a:ea typeface="SimSun" pitchFamily="2" charset="-122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Tahoma" pitchFamily="34" charset="0"/>
                            <a:ea typeface="SimSun" pitchFamily="2" charset="-122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Tahoma" pitchFamily="34" charset="0"/>
                            <a:ea typeface="SimSun" pitchFamily="2" charset="-122"/>
                          </a:defRPr>
                        </a:lvl5pPr>
                        <a:lvl6pPr marL="25146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Tahoma" pitchFamily="34" charset="0"/>
                            <a:ea typeface="SimSun" pitchFamily="2" charset="-122"/>
                          </a:defRPr>
                        </a:lvl6pPr>
                        <a:lvl7pPr marL="29718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Tahoma" pitchFamily="34" charset="0"/>
                            <a:ea typeface="SimSun" pitchFamily="2" charset="-122"/>
                          </a:defRPr>
                        </a:lvl7pPr>
                        <a:lvl8pPr marL="34290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Tahoma" pitchFamily="34" charset="0"/>
                            <a:ea typeface="SimSun" pitchFamily="2" charset="-122"/>
                          </a:defRPr>
                        </a:lvl8pPr>
                        <a:lvl9pPr marL="38862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Tahoma" pitchFamily="34" charset="0"/>
                            <a:ea typeface="SimSun" pitchFamily="2" charset="-122"/>
                          </a:defRPr>
                        </a:lvl9pPr>
                      </a:lstStyle>
                      <a:p>
                        <a:pPr algn="just" eaLnBrk="1" hangingPunct="1"/>
                        <a:r>
                          <a:rPr kumimoji="1" lang="en-US" altLang="zh-CN" b="1">
                            <a:latin typeface="Times New Roman" pitchFamily="18" charset="0"/>
                          </a:rPr>
                          <a:t>IS</a:t>
                        </a:r>
                      </a:p>
                    </p:txBody>
                  </p:sp>
                </p:grpSp>
              </p:grpSp>
              <p:grpSp>
                <p:nvGrpSpPr>
                  <p:cNvPr id="21523" name="Group 66"/>
                  <p:cNvGrpSpPr>
                    <a:grpSpLocks/>
                  </p:cNvGrpSpPr>
                  <p:nvPr/>
                </p:nvGrpSpPr>
                <p:grpSpPr bwMode="auto">
                  <a:xfrm>
                    <a:off x="2374" y="12854"/>
                    <a:ext cx="2050" cy="648"/>
                    <a:chOff x="2374" y="13246"/>
                    <a:chExt cx="2050" cy="648"/>
                  </a:xfrm>
                </p:grpSpPr>
                <p:sp>
                  <p:nvSpPr>
                    <p:cNvPr id="21550" name="Text Box 6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744" y="13426"/>
                      <a:ext cx="680" cy="46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lIns="0" rIns="0" anchor="ctr" anchorCtr="1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9pPr>
                    </a:lstStyle>
                    <a:p>
                      <a:pPr algn="just" eaLnBrk="1" hangingPunct="1"/>
                      <a:r>
                        <a:rPr kumimoji="1" lang="en-US" altLang="zh-CN" b="1">
                          <a:latin typeface="Times New Roman" pitchFamily="18" charset="0"/>
                        </a:rPr>
                        <a:t>PE</a:t>
                      </a:r>
                      <a:r>
                        <a:rPr kumimoji="1" lang="en-US" altLang="zh-CN" b="1" baseline="-25000">
                          <a:latin typeface="Times New Roman" pitchFamily="18" charset="0"/>
                        </a:rPr>
                        <a:t>n</a:t>
                      </a:r>
                      <a:endParaRPr kumimoji="1" lang="en-US" altLang="zh-CN" b="1">
                        <a:latin typeface="Times New Roman" pitchFamily="18" charset="0"/>
                      </a:endParaRPr>
                    </a:p>
                  </p:txBody>
                </p:sp>
                <p:sp>
                  <p:nvSpPr>
                    <p:cNvPr id="21551" name="Text Box 68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374" y="13426"/>
                      <a:ext cx="670" cy="468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lIns="0" rIns="0" anchor="ctr" anchorCtr="1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9pPr>
                    </a:lstStyle>
                    <a:p>
                      <a:pPr algn="just" eaLnBrk="1" hangingPunct="1"/>
                      <a:r>
                        <a:rPr kumimoji="1" lang="en-US" altLang="zh-CN" b="1">
                          <a:latin typeface="Times New Roman" pitchFamily="18" charset="0"/>
                        </a:rPr>
                        <a:t>CU</a:t>
                      </a:r>
                      <a:r>
                        <a:rPr kumimoji="1" lang="en-US" altLang="zh-CN" b="1" baseline="-25000">
                          <a:latin typeface="Times New Roman" pitchFamily="18" charset="0"/>
                        </a:rPr>
                        <a:t>n</a:t>
                      </a:r>
                      <a:endParaRPr kumimoji="1" lang="en-US" altLang="zh-CN" b="1">
                        <a:latin typeface="Times New Roman" pitchFamily="18" charset="0"/>
                      </a:endParaRPr>
                    </a:p>
                  </p:txBody>
                </p:sp>
                <p:grpSp>
                  <p:nvGrpSpPr>
                    <p:cNvPr id="21552" name="Group 6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064" y="13246"/>
                      <a:ext cx="700" cy="468"/>
                      <a:chOff x="3574" y="2214"/>
                      <a:chExt cx="700" cy="468"/>
                    </a:xfrm>
                  </p:grpSpPr>
                  <p:sp>
                    <p:nvSpPr>
                      <p:cNvPr id="21553" name="Line 7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574" y="2634"/>
                        <a:ext cx="675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 type="triangle" w="sm" len="lg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lIns="0" rIns="0" anchor="ctr" anchorCtr="1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1554" name="Text Box 7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3644" y="2214"/>
                        <a:ext cx="630" cy="4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lIns="0" rIns="0" anchor="ctr" anchorCtr="1"/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Tahoma" pitchFamily="34" charset="0"/>
                            <a:ea typeface="SimSun" pitchFamily="2" charset="-122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Tahoma" pitchFamily="34" charset="0"/>
                            <a:ea typeface="SimSun" pitchFamily="2" charset="-122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Tahoma" pitchFamily="34" charset="0"/>
                            <a:ea typeface="SimSun" pitchFamily="2" charset="-122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Tahoma" pitchFamily="34" charset="0"/>
                            <a:ea typeface="SimSun" pitchFamily="2" charset="-122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Tahoma" pitchFamily="34" charset="0"/>
                            <a:ea typeface="SimSun" pitchFamily="2" charset="-122"/>
                          </a:defRPr>
                        </a:lvl5pPr>
                        <a:lvl6pPr marL="25146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Tahoma" pitchFamily="34" charset="0"/>
                            <a:ea typeface="SimSun" pitchFamily="2" charset="-122"/>
                          </a:defRPr>
                        </a:lvl6pPr>
                        <a:lvl7pPr marL="29718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Tahoma" pitchFamily="34" charset="0"/>
                            <a:ea typeface="SimSun" pitchFamily="2" charset="-122"/>
                          </a:defRPr>
                        </a:lvl7pPr>
                        <a:lvl8pPr marL="34290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Tahoma" pitchFamily="34" charset="0"/>
                            <a:ea typeface="SimSun" pitchFamily="2" charset="-122"/>
                          </a:defRPr>
                        </a:lvl8pPr>
                        <a:lvl9pPr marL="3886200" indent="-228600" algn="ctr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Tahoma" pitchFamily="34" charset="0"/>
                            <a:ea typeface="SimSun" pitchFamily="2" charset="-122"/>
                          </a:defRPr>
                        </a:lvl9pPr>
                      </a:lstStyle>
                      <a:p>
                        <a:pPr algn="just" eaLnBrk="1" hangingPunct="1"/>
                        <a:r>
                          <a:rPr kumimoji="1" lang="en-US" altLang="zh-CN" b="1">
                            <a:latin typeface="Times New Roman" pitchFamily="18" charset="0"/>
                          </a:rPr>
                          <a:t>IS</a:t>
                        </a:r>
                      </a:p>
                    </p:txBody>
                  </p:sp>
                </p:grpSp>
              </p:grpSp>
              <p:sp>
                <p:nvSpPr>
                  <p:cNvPr id="21524" name="Text Box 7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94" y="12614"/>
                    <a:ext cx="480" cy="3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rIns="0" anchor="ctr" anchorCtr="1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9pPr>
                  </a:lstStyle>
                  <a:p>
                    <a:pPr algn="just" eaLnBrk="1" hangingPunct="1"/>
                    <a:r>
                      <a:rPr kumimoji="1" lang="en-US" altLang="zh-CN" b="1">
                        <a:latin typeface="Times New Roman" pitchFamily="18" charset="0"/>
                      </a:rPr>
                      <a:t>…</a:t>
                    </a:r>
                  </a:p>
                </p:txBody>
              </p:sp>
              <p:sp>
                <p:nvSpPr>
                  <p:cNvPr id="21525" name="Text Box 7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874" y="11574"/>
                    <a:ext cx="630" cy="46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rIns="0" anchor="ctr" anchorCtr="1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9pPr>
                  </a:lstStyle>
                  <a:p>
                    <a:pPr algn="just" eaLnBrk="1" hangingPunct="1"/>
                    <a:r>
                      <a:rPr kumimoji="1" lang="en-US" altLang="zh-CN" b="1">
                        <a:latin typeface="Times New Roman" pitchFamily="18" charset="0"/>
                      </a:rPr>
                      <a:t>SM</a:t>
                    </a:r>
                  </a:p>
                </p:txBody>
              </p:sp>
              <p:sp>
                <p:nvSpPr>
                  <p:cNvPr id="21526" name="Text Box 7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34" y="12594"/>
                    <a:ext cx="480" cy="3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rIns="0" anchor="ctr" anchorCtr="1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ahoma" pitchFamily="34" charset="0"/>
                        <a:ea typeface="SimSun" pitchFamily="2" charset="-122"/>
                      </a:defRPr>
                    </a:lvl9pPr>
                  </a:lstStyle>
                  <a:p>
                    <a:pPr algn="just" eaLnBrk="1" hangingPunct="1"/>
                    <a:r>
                      <a:rPr kumimoji="1" lang="en-US" altLang="zh-CN" b="1">
                        <a:latin typeface="Times New Roman" pitchFamily="18" charset="0"/>
                      </a:rPr>
                      <a:t>…</a:t>
                    </a:r>
                  </a:p>
                </p:txBody>
              </p:sp>
              <p:grpSp>
                <p:nvGrpSpPr>
                  <p:cNvPr id="21527" name="Group 75"/>
                  <p:cNvGrpSpPr>
                    <a:grpSpLocks/>
                  </p:cNvGrpSpPr>
                  <p:nvPr/>
                </p:nvGrpSpPr>
                <p:grpSpPr bwMode="auto">
                  <a:xfrm>
                    <a:off x="5294" y="11934"/>
                    <a:ext cx="1220" cy="1780"/>
                    <a:chOff x="5314" y="11934"/>
                    <a:chExt cx="1220" cy="1780"/>
                  </a:xfrm>
                </p:grpSpPr>
                <p:sp>
                  <p:nvSpPr>
                    <p:cNvPr id="21542" name="Text Box 76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514" y="12114"/>
                      <a:ext cx="815" cy="46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lIns="0" rIns="0" anchor="ctr" anchorCtr="1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9pPr>
                    </a:lstStyle>
                    <a:p>
                      <a:pPr algn="just" eaLnBrk="1" hangingPunct="1"/>
                      <a:r>
                        <a:rPr kumimoji="1" lang="en-US" altLang="zh-CN" b="1">
                          <a:latin typeface="Times New Roman" pitchFamily="18" charset="0"/>
                        </a:rPr>
                        <a:t>MM</a:t>
                      </a:r>
                      <a:r>
                        <a:rPr kumimoji="1" lang="en-US" altLang="zh-CN" b="1" baseline="-25000">
                          <a:latin typeface="Times New Roman" pitchFamily="18" charset="0"/>
                        </a:rPr>
                        <a:t>1</a:t>
                      </a:r>
                      <a:endParaRPr kumimoji="1" lang="en-US" altLang="zh-CN" b="1">
                        <a:latin typeface="Times New Roman" pitchFamily="18" charset="0"/>
                      </a:endParaRPr>
                    </a:p>
                  </p:txBody>
                </p:sp>
                <p:sp>
                  <p:nvSpPr>
                    <p:cNvPr id="21543" name="Text Box 77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534" y="13054"/>
                      <a:ext cx="800" cy="460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lIns="0" rIns="0" anchor="ctr" anchorCtr="1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9pPr>
                    </a:lstStyle>
                    <a:p>
                      <a:pPr algn="just" eaLnBrk="1" hangingPunct="1"/>
                      <a:r>
                        <a:rPr kumimoji="1" lang="en-US" altLang="zh-CN" b="1">
                          <a:latin typeface="Times New Roman" pitchFamily="18" charset="0"/>
                        </a:rPr>
                        <a:t>MM</a:t>
                      </a:r>
                      <a:r>
                        <a:rPr kumimoji="1" lang="en-US" altLang="zh-CN" b="1" baseline="-25000">
                          <a:latin typeface="Times New Roman" pitchFamily="18" charset="0"/>
                        </a:rPr>
                        <a:t>n</a:t>
                      </a:r>
                      <a:endParaRPr kumimoji="1" lang="en-US" altLang="zh-CN" b="1">
                        <a:latin typeface="Times New Roman" pitchFamily="18" charset="0"/>
                      </a:endParaRPr>
                    </a:p>
                  </p:txBody>
                </p:sp>
                <p:grpSp>
                  <p:nvGrpSpPr>
                    <p:cNvPr id="21544" name="Group 7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314" y="11934"/>
                      <a:ext cx="1220" cy="1780"/>
                      <a:chOff x="5274" y="11934"/>
                      <a:chExt cx="1220" cy="1780"/>
                    </a:xfrm>
                  </p:grpSpPr>
                  <p:sp>
                    <p:nvSpPr>
                      <p:cNvPr id="21546" name="Line 7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274" y="11954"/>
                        <a:ext cx="0" cy="176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lIns="0" rIns="0" anchor="ctr" anchorCtr="1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1547" name="Line 8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294" y="13694"/>
                        <a:ext cx="1180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lIns="0" rIns="0" anchor="ctr" anchorCtr="1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1548" name="Line 81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6474" y="11934"/>
                        <a:ext cx="0" cy="176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lIns="0" rIns="0" anchor="ctr" anchorCtr="1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1549" name="Line 8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274" y="11934"/>
                        <a:ext cx="1220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lIns="0" rIns="0" anchor="ctr" anchorCtr="1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21545" name="Text Box 8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714" y="12654"/>
                      <a:ext cx="480" cy="38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0" rIns="0" anchor="ctr" anchorCtr="1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itchFamily="34" charset="0"/>
                          <a:ea typeface="SimSun" pitchFamily="2" charset="-122"/>
                        </a:defRPr>
                      </a:lvl9pPr>
                    </a:lstStyle>
                    <a:p>
                      <a:pPr algn="just" eaLnBrk="1" hangingPunct="1"/>
                      <a:r>
                        <a:rPr kumimoji="1" lang="en-US" altLang="zh-CN" b="1">
                          <a:latin typeface="Times New Roman" pitchFamily="18" charset="0"/>
                        </a:rPr>
                        <a:t>…</a:t>
                      </a:r>
                    </a:p>
                  </p:txBody>
                </p:sp>
              </p:grpSp>
              <p:sp>
                <p:nvSpPr>
                  <p:cNvPr id="21528" name="Line 84"/>
                  <p:cNvSpPr>
                    <a:spLocks noChangeShapeType="1"/>
                  </p:cNvSpPr>
                  <p:nvPr/>
                </p:nvSpPr>
                <p:spPr bwMode="auto">
                  <a:xfrm>
                    <a:off x="4434" y="12334"/>
                    <a:ext cx="88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 type="triangle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0" rIns="0" anchor="ctr" anchorCtr="1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529" name="Line 85"/>
                  <p:cNvSpPr>
                    <a:spLocks noChangeShapeType="1"/>
                  </p:cNvSpPr>
                  <p:nvPr/>
                </p:nvSpPr>
                <p:spPr bwMode="auto">
                  <a:xfrm>
                    <a:off x="4434" y="13274"/>
                    <a:ext cx="88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 type="triangle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lIns="0" rIns="0" anchor="ctr" anchorCtr="1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21530" name="Group 86"/>
                  <p:cNvGrpSpPr>
                    <a:grpSpLocks/>
                  </p:cNvGrpSpPr>
                  <p:nvPr/>
                </p:nvGrpSpPr>
                <p:grpSpPr bwMode="auto">
                  <a:xfrm>
                    <a:off x="2034" y="11774"/>
                    <a:ext cx="4780" cy="580"/>
                    <a:chOff x="2034" y="11774"/>
                    <a:chExt cx="4780" cy="580"/>
                  </a:xfrm>
                </p:grpSpPr>
                <p:sp>
                  <p:nvSpPr>
                    <p:cNvPr id="21537" name="Line 87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064" y="12294"/>
                      <a:ext cx="34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 type="triangle" w="med" len="med"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0" rIns="0" anchor="ctr" anchorCtr="1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1538" name="Line 88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054" y="11794"/>
                      <a:ext cx="0" cy="5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0" rIns="0" anchor="ctr" anchorCtr="1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1539" name="Line 8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034" y="11794"/>
                      <a:ext cx="47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0" rIns="0" anchor="ctr" anchorCtr="1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1540" name="Line 9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814" y="11774"/>
                      <a:ext cx="0" cy="5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0" rIns="0" anchor="ctr" anchorCtr="1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1541" name="Line 91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6514" y="12342"/>
                      <a:ext cx="2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0" rIns="0" anchor="ctr" anchorCtr="1"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21531" name="Group 92"/>
                  <p:cNvGrpSpPr>
                    <a:grpSpLocks/>
                  </p:cNvGrpSpPr>
                  <p:nvPr/>
                </p:nvGrpSpPr>
                <p:grpSpPr bwMode="auto">
                  <a:xfrm>
                    <a:off x="2024" y="13254"/>
                    <a:ext cx="4770" cy="600"/>
                    <a:chOff x="2024" y="13254"/>
                    <a:chExt cx="4770" cy="600"/>
                  </a:xfrm>
                </p:grpSpPr>
                <p:sp>
                  <p:nvSpPr>
                    <p:cNvPr id="21532" name="Line 93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024" y="13254"/>
                      <a:ext cx="34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 type="triangle" w="med" len="med"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0" rIns="0" anchor="ctr" anchorCtr="1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1533" name="Line 9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034" y="13282"/>
                      <a:ext cx="0" cy="552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0" rIns="0" anchor="ctr" anchorCtr="1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1534" name="Line 9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034" y="13834"/>
                      <a:ext cx="476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0" rIns="0" anchor="ctr" anchorCtr="1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1535" name="Line 9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74" y="13302"/>
                      <a:ext cx="0" cy="552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0" rIns="0" anchor="ctr" anchorCtr="1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1536" name="Line 97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6494" y="13302"/>
                      <a:ext cx="28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0" rIns="0" anchor="ctr" anchorCtr="1"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21520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3094" y="11794"/>
                  <a:ext cx="630" cy="4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 anchorCtr="1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9pPr>
                </a:lstStyle>
                <a:p>
                  <a:pPr algn="just" eaLnBrk="1" hangingPunct="1"/>
                  <a:r>
                    <a:rPr kumimoji="1" lang="en-US" altLang="zh-CN" b="1">
                      <a:latin typeface="Times New Roman" pitchFamily="18" charset="0"/>
                    </a:rPr>
                    <a:t>IS</a:t>
                  </a:r>
                </a:p>
              </p:txBody>
            </p:sp>
            <p:sp>
              <p:nvSpPr>
                <p:cNvPr id="21521" name="Text Box 99"/>
                <p:cNvSpPr txBox="1">
                  <a:spLocks noChangeArrowheads="1"/>
                </p:cNvSpPr>
                <p:nvPr/>
              </p:nvSpPr>
              <p:spPr bwMode="auto">
                <a:xfrm>
                  <a:off x="3074" y="13854"/>
                  <a:ext cx="630" cy="4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rIns="0" anchor="ctr" anchorCtr="1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SimSun" pitchFamily="2" charset="-122"/>
                    </a:defRPr>
                  </a:lvl9pPr>
                </a:lstStyle>
                <a:p>
                  <a:pPr algn="just" eaLnBrk="1" hangingPunct="1"/>
                  <a:r>
                    <a:rPr kumimoji="1" lang="en-US" altLang="zh-CN" b="1">
                      <a:latin typeface="Times New Roman" pitchFamily="18" charset="0"/>
                    </a:rPr>
                    <a:t>IS</a:t>
                  </a:r>
                </a:p>
              </p:txBody>
            </p:sp>
          </p:grpSp>
          <p:sp>
            <p:nvSpPr>
              <p:cNvPr id="21516" name="Line 100"/>
              <p:cNvSpPr>
                <a:spLocks noChangeShapeType="1"/>
              </p:cNvSpPr>
              <p:nvPr/>
            </p:nvSpPr>
            <p:spPr bwMode="auto">
              <a:xfrm>
                <a:off x="1494" y="13394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 anchor="ctr" anchorCtr="1"/>
              <a:lstStyle/>
              <a:p>
                <a:endParaRPr lang="zh-CN" altLang="en-US"/>
              </a:p>
            </p:txBody>
          </p:sp>
          <p:sp>
            <p:nvSpPr>
              <p:cNvPr id="21517" name="Line 101"/>
              <p:cNvSpPr>
                <a:spLocks noChangeShapeType="1"/>
              </p:cNvSpPr>
              <p:nvPr/>
            </p:nvSpPr>
            <p:spPr bwMode="auto">
              <a:xfrm>
                <a:off x="1614" y="12774"/>
                <a:ext cx="4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 anchor="ctr" anchorCtr="1"/>
              <a:lstStyle/>
              <a:p>
                <a:endParaRPr lang="zh-CN" altLang="en-US"/>
              </a:p>
            </p:txBody>
          </p:sp>
          <p:sp>
            <p:nvSpPr>
              <p:cNvPr id="21518" name="Text Box 102"/>
              <p:cNvSpPr txBox="1">
                <a:spLocks noChangeArrowheads="1"/>
              </p:cNvSpPr>
              <p:nvPr/>
            </p:nvSpPr>
            <p:spPr bwMode="auto">
              <a:xfrm>
                <a:off x="1074" y="12594"/>
                <a:ext cx="63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rIns="0" anchor="ctr" anchorCtr="1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SimSun" pitchFamily="2" charset="-122"/>
                  </a:defRPr>
                </a:lvl9pPr>
              </a:lstStyle>
              <a:p>
                <a:pPr algn="just" eaLnBrk="1" hangingPunct="1"/>
                <a:r>
                  <a:rPr kumimoji="1" lang="en-US" altLang="zh-CN" b="1">
                    <a:latin typeface="Times New Roman" pitchFamily="18" charset="0"/>
                  </a:rPr>
                  <a:t>I/O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39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Classification-market</a:t>
            </a:r>
          </a:p>
        </p:txBody>
      </p:sp>
      <p:sp>
        <p:nvSpPr>
          <p:cNvPr id="22533" name="Rectangle 3"/>
          <p:cNvSpPr>
            <a:spLocks noChangeArrowheads="1"/>
          </p:cNvSpPr>
          <p:nvPr/>
        </p:nvSpPr>
        <p:spPr bwMode="auto">
          <a:xfrm>
            <a:off x="6770311" y="2942035"/>
            <a:ext cx="406362" cy="34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eaLnBrk="0" hangingPunct="0"/>
            <a:r>
              <a:rPr kumimoji="1" lang="en-US" altLang="zh-CN" b="1">
                <a:latin typeface="Comic Sans MS" pitchFamily="66" charset="0"/>
              </a:rPr>
              <a:t>PC</a:t>
            </a:r>
          </a:p>
        </p:txBody>
      </p:sp>
      <p:sp>
        <p:nvSpPr>
          <p:cNvPr id="22534" name="Rectangle 4"/>
          <p:cNvSpPr>
            <a:spLocks noChangeArrowheads="1"/>
          </p:cNvSpPr>
          <p:nvPr/>
        </p:nvSpPr>
        <p:spPr bwMode="auto">
          <a:xfrm>
            <a:off x="5922169" y="2936082"/>
            <a:ext cx="1276350" cy="117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eaLnBrk="0" hangingPunct="0"/>
            <a:r>
              <a:rPr kumimoji="1" lang="en-US" altLang="zh-CN" b="1">
                <a:solidFill>
                  <a:srgbClr val="3333FF"/>
                </a:solidFill>
                <a:latin typeface="Comic Sans MS" pitchFamily="66" charset="0"/>
              </a:rPr>
              <a:t>Work-</a:t>
            </a:r>
          </a:p>
          <a:p>
            <a:pPr eaLnBrk="0" hangingPunct="0"/>
            <a:r>
              <a:rPr kumimoji="1" lang="en-US" altLang="zh-CN" b="1">
                <a:solidFill>
                  <a:srgbClr val="3333FF"/>
                </a:solidFill>
                <a:latin typeface="Comic Sans MS" pitchFamily="66" charset="0"/>
              </a:rPr>
              <a:t>Station</a:t>
            </a:r>
          </a:p>
          <a:p>
            <a:pPr eaLnBrk="0" hangingPunct="0"/>
            <a:r>
              <a:rPr kumimoji="1" lang="en-US" altLang="zh-CN" b="1">
                <a:solidFill>
                  <a:srgbClr val="3333FF"/>
                </a:solidFill>
                <a:latin typeface="Comic Sans MS" pitchFamily="66" charset="0"/>
              </a:rPr>
              <a:t>1980s-2000s</a:t>
            </a:r>
          </a:p>
        </p:txBody>
      </p:sp>
      <p:sp>
        <p:nvSpPr>
          <p:cNvPr id="22535" name="Rectangle 5"/>
          <p:cNvSpPr>
            <a:spLocks noChangeArrowheads="1"/>
          </p:cNvSpPr>
          <p:nvPr/>
        </p:nvSpPr>
        <p:spPr bwMode="auto">
          <a:xfrm>
            <a:off x="5060264" y="2768204"/>
            <a:ext cx="1167789" cy="89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eaLnBrk="0" hangingPunct="0"/>
            <a:r>
              <a:rPr kumimoji="1" lang="en-US" altLang="zh-CN">
                <a:latin typeface="Comic Sans MS" pitchFamily="66" charset="0"/>
              </a:rPr>
              <a:t>Mini-</a:t>
            </a:r>
          </a:p>
          <a:p>
            <a:pPr eaLnBrk="0" hangingPunct="0"/>
            <a:r>
              <a:rPr kumimoji="1" lang="en-US" altLang="zh-CN">
                <a:latin typeface="Comic Sans MS" pitchFamily="66" charset="0"/>
              </a:rPr>
              <a:t>Computer</a:t>
            </a:r>
          </a:p>
          <a:p>
            <a:pPr eaLnBrk="0" hangingPunct="0"/>
            <a:r>
              <a:rPr kumimoji="1" lang="en-US" altLang="zh-CN">
                <a:latin typeface="Comic Sans MS" pitchFamily="66" charset="0"/>
              </a:rPr>
              <a:t>1970s</a:t>
            </a:r>
          </a:p>
        </p:txBody>
      </p:sp>
      <p:sp>
        <p:nvSpPr>
          <p:cNvPr id="22536" name="Rectangle 6"/>
          <p:cNvSpPr>
            <a:spLocks noChangeArrowheads="1"/>
          </p:cNvSpPr>
          <p:nvPr/>
        </p:nvSpPr>
        <p:spPr bwMode="auto">
          <a:xfrm>
            <a:off x="2650613" y="1682354"/>
            <a:ext cx="1296029" cy="89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eaLnBrk="0" hangingPunct="0"/>
            <a:r>
              <a:rPr kumimoji="1" lang="en-US" altLang="zh-CN">
                <a:latin typeface="Comic Sans MS" pitchFamily="66" charset="0"/>
              </a:rPr>
              <a:t>Mainframe</a:t>
            </a:r>
          </a:p>
          <a:p>
            <a:pPr eaLnBrk="0" hangingPunct="0"/>
            <a:r>
              <a:rPr kumimoji="1" lang="en-US" altLang="zh-CN">
                <a:latin typeface="Comic Sans MS" pitchFamily="66" charset="0"/>
              </a:rPr>
              <a:t>1960s</a:t>
            </a:r>
          </a:p>
          <a:p>
            <a:pPr eaLnBrk="0" hangingPunct="0"/>
            <a:endParaRPr kumimoji="1" lang="en-US" altLang="zh-CN">
              <a:latin typeface="Comic Sans MS" pitchFamily="66" charset="0"/>
            </a:endParaRPr>
          </a:p>
        </p:txBody>
      </p:sp>
      <p:sp>
        <p:nvSpPr>
          <p:cNvPr id="22537" name="Rectangle 7"/>
          <p:cNvSpPr>
            <a:spLocks noChangeArrowheads="1"/>
          </p:cNvSpPr>
          <p:nvPr/>
        </p:nvSpPr>
        <p:spPr bwMode="auto">
          <a:xfrm>
            <a:off x="3426703" y="2825354"/>
            <a:ext cx="1788152" cy="89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eaLnBrk="0" hangingPunct="0"/>
            <a:r>
              <a:rPr kumimoji="1" lang="en-US" altLang="zh-CN">
                <a:latin typeface="Comic Sans MS" pitchFamily="66" charset="0"/>
              </a:rPr>
              <a:t>Mini-</a:t>
            </a:r>
          </a:p>
          <a:p>
            <a:pPr eaLnBrk="0" hangingPunct="0"/>
            <a:r>
              <a:rPr kumimoji="1" lang="en-US" altLang="zh-CN">
                <a:latin typeface="Comic Sans MS" pitchFamily="66" charset="0"/>
              </a:rPr>
              <a:t>Supercomputer</a:t>
            </a:r>
          </a:p>
          <a:p>
            <a:pPr eaLnBrk="0" hangingPunct="0"/>
            <a:r>
              <a:rPr kumimoji="1" lang="en-US" altLang="zh-CN">
                <a:latin typeface="Comic Sans MS" pitchFamily="66" charset="0"/>
              </a:rPr>
              <a:t>1970s</a:t>
            </a:r>
          </a:p>
        </p:txBody>
      </p:sp>
      <p:sp>
        <p:nvSpPr>
          <p:cNvPr id="22538" name="Rectangle 8"/>
          <p:cNvSpPr>
            <a:spLocks noChangeArrowheads="1"/>
          </p:cNvSpPr>
          <p:nvPr/>
        </p:nvSpPr>
        <p:spPr bwMode="auto">
          <a:xfrm>
            <a:off x="1832456" y="2882504"/>
            <a:ext cx="1788152" cy="89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eaLnBrk="0" hangingPunct="0"/>
            <a:r>
              <a:rPr kumimoji="1" lang="en-US" altLang="zh-CN">
                <a:latin typeface="Comic Sans MS" pitchFamily="66" charset="0"/>
              </a:rPr>
              <a:t>Supercomputer</a:t>
            </a:r>
          </a:p>
          <a:p>
            <a:pPr eaLnBrk="0" hangingPunct="0"/>
            <a:r>
              <a:rPr kumimoji="1" lang="en-US" altLang="zh-CN">
                <a:latin typeface="Comic Sans MS" pitchFamily="66" charset="0"/>
              </a:rPr>
              <a:t>1970s</a:t>
            </a:r>
          </a:p>
          <a:p>
            <a:pPr eaLnBrk="0" hangingPunct="0"/>
            <a:endParaRPr kumimoji="1" lang="en-US" altLang="zh-CN">
              <a:latin typeface="Comic Sans MS" pitchFamily="66" charset="0"/>
            </a:endParaRPr>
          </a:p>
        </p:txBody>
      </p:sp>
      <p:sp>
        <p:nvSpPr>
          <p:cNvPr id="22539" name="Freeform 9" descr="50%"/>
          <p:cNvSpPr>
            <a:spLocks/>
          </p:cNvSpPr>
          <p:nvPr/>
        </p:nvSpPr>
        <p:spPr bwMode="auto">
          <a:xfrm>
            <a:off x="2197894" y="2738438"/>
            <a:ext cx="226219" cy="161925"/>
          </a:xfrm>
          <a:custGeom>
            <a:avLst/>
            <a:gdLst>
              <a:gd name="T0" fmla="*/ 0 w 184"/>
              <a:gd name="T1" fmla="*/ 0 h 136"/>
              <a:gd name="T2" fmla="*/ 11475 w 184"/>
              <a:gd name="T3" fmla="*/ 22225 h 136"/>
              <a:gd name="T4" fmla="*/ 26228 w 184"/>
              <a:gd name="T5" fmla="*/ 44450 h 136"/>
              <a:gd name="T6" fmla="*/ 44260 w 184"/>
              <a:gd name="T7" fmla="*/ 68263 h 136"/>
              <a:gd name="T8" fmla="*/ 62292 w 184"/>
              <a:gd name="T9" fmla="*/ 87313 h 136"/>
              <a:gd name="T10" fmla="*/ 85242 w 184"/>
              <a:gd name="T11" fmla="*/ 111125 h 136"/>
              <a:gd name="T12" fmla="*/ 108192 w 184"/>
              <a:gd name="T13" fmla="*/ 134938 h 136"/>
              <a:gd name="T14" fmla="*/ 126224 w 184"/>
              <a:gd name="T15" fmla="*/ 152400 h 136"/>
              <a:gd name="T16" fmla="*/ 147534 w 184"/>
              <a:gd name="T17" fmla="*/ 168275 h 136"/>
              <a:gd name="T18" fmla="*/ 168844 w 184"/>
              <a:gd name="T19" fmla="*/ 180975 h 136"/>
              <a:gd name="T20" fmla="*/ 191794 w 184"/>
              <a:gd name="T21" fmla="*/ 192088 h 136"/>
              <a:gd name="T22" fmla="*/ 214744 w 184"/>
              <a:gd name="T23" fmla="*/ 201613 h 136"/>
              <a:gd name="T24" fmla="*/ 239333 w 184"/>
              <a:gd name="T25" fmla="*/ 209550 h 136"/>
              <a:gd name="T26" fmla="*/ 265561 w 184"/>
              <a:gd name="T27" fmla="*/ 214313 h 136"/>
              <a:gd name="T28" fmla="*/ 288511 w 184"/>
              <a:gd name="T29" fmla="*/ 214313 h 136"/>
              <a:gd name="T30" fmla="*/ 299986 w 184"/>
              <a:gd name="T31" fmla="*/ 212725 h 136"/>
              <a:gd name="T32" fmla="*/ 285232 w 184"/>
              <a:gd name="T33" fmla="*/ 198438 h 136"/>
              <a:gd name="T34" fmla="*/ 268840 w 184"/>
              <a:gd name="T35" fmla="*/ 179388 h 136"/>
              <a:gd name="T36" fmla="*/ 252447 w 184"/>
              <a:gd name="T37" fmla="*/ 160338 h 136"/>
              <a:gd name="T38" fmla="*/ 236054 w 184"/>
              <a:gd name="T39" fmla="*/ 138113 h 136"/>
              <a:gd name="T40" fmla="*/ 221301 w 184"/>
              <a:gd name="T41" fmla="*/ 115888 h 136"/>
              <a:gd name="T42" fmla="*/ 209826 w 184"/>
              <a:gd name="T43" fmla="*/ 95250 h 136"/>
              <a:gd name="T44" fmla="*/ 203269 w 184"/>
              <a:gd name="T45" fmla="*/ 76200 h 136"/>
              <a:gd name="T46" fmla="*/ 195073 w 184"/>
              <a:gd name="T47" fmla="*/ 44450 h 136"/>
              <a:gd name="T48" fmla="*/ 195073 w 184"/>
              <a:gd name="T49" fmla="*/ 20638 h 136"/>
              <a:gd name="T50" fmla="*/ 195073 w 184"/>
              <a:gd name="T51" fmla="*/ 3175 h 136"/>
              <a:gd name="T52" fmla="*/ 0 w 184"/>
              <a:gd name="T53" fmla="*/ 0 h 1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184" h="136">
                <a:moveTo>
                  <a:pt x="0" y="0"/>
                </a:moveTo>
                <a:lnTo>
                  <a:pt x="7" y="14"/>
                </a:lnTo>
                <a:lnTo>
                  <a:pt x="16" y="28"/>
                </a:lnTo>
                <a:lnTo>
                  <a:pt x="27" y="43"/>
                </a:lnTo>
                <a:lnTo>
                  <a:pt x="38" y="55"/>
                </a:lnTo>
                <a:lnTo>
                  <a:pt x="52" y="70"/>
                </a:lnTo>
                <a:lnTo>
                  <a:pt x="66" y="85"/>
                </a:lnTo>
                <a:lnTo>
                  <a:pt x="77" y="96"/>
                </a:lnTo>
                <a:lnTo>
                  <a:pt x="90" y="106"/>
                </a:lnTo>
                <a:lnTo>
                  <a:pt x="103" y="114"/>
                </a:lnTo>
                <a:lnTo>
                  <a:pt x="117" y="121"/>
                </a:lnTo>
                <a:lnTo>
                  <a:pt x="131" y="127"/>
                </a:lnTo>
                <a:lnTo>
                  <a:pt x="146" y="132"/>
                </a:lnTo>
                <a:lnTo>
                  <a:pt x="162" y="135"/>
                </a:lnTo>
                <a:lnTo>
                  <a:pt x="176" y="135"/>
                </a:lnTo>
                <a:lnTo>
                  <a:pt x="183" y="134"/>
                </a:lnTo>
                <a:lnTo>
                  <a:pt x="174" y="125"/>
                </a:lnTo>
                <a:lnTo>
                  <a:pt x="164" y="113"/>
                </a:lnTo>
                <a:lnTo>
                  <a:pt x="154" y="101"/>
                </a:lnTo>
                <a:lnTo>
                  <a:pt x="144" y="87"/>
                </a:lnTo>
                <a:lnTo>
                  <a:pt x="135" y="73"/>
                </a:lnTo>
                <a:lnTo>
                  <a:pt x="128" y="60"/>
                </a:lnTo>
                <a:lnTo>
                  <a:pt x="124" y="48"/>
                </a:lnTo>
                <a:lnTo>
                  <a:pt x="119" y="28"/>
                </a:lnTo>
                <a:lnTo>
                  <a:pt x="119" y="13"/>
                </a:lnTo>
                <a:lnTo>
                  <a:pt x="119" y="2"/>
                </a:lnTo>
                <a:lnTo>
                  <a:pt x="0" y="0"/>
                </a:lnTo>
              </a:path>
            </a:pathLst>
          </a:custGeom>
          <a:pattFill prst="pct50">
            <a:fgClr>
              <a:schemeClr val="tx1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0" name="Freeform 10" descr="50%"/>
          <p:cNvSpPr>
            <a:spLocks/>
          </p:cNvSpPr>
          <p:nvPr/>
        </p:nvSpPr>
        <p:spPr bwMode="auto">
          <a:xfrm>
            <a:off x="1710928" y="2344341"/>
            <a:ext cx="1927622" cy="523875"/>
          </a:xfrm>
          <a:custGeom>
            <a:avLst/>
            <a:gdLst>
              <a:gd name="T0" fmla="*/ 27883 w 1567"/>
              <a:gd name="T1" fmla="*/ 414338 h 440"/>
              <a:gd name="T2" fmla="*/ 104972 w 1567"/>
              <a:gd name="T3" fmla="*/ 387350 h 440"/>
              <a:gd name="T4" fmla="*/ 224705 w 1567"/>
              <a:gd name="T5" fmla="*/ 352425 h 440"/>
              <a:gd name="T6" fmla="*/ 350999 w 1567"/>
              <a:gd name="T7" fmla="*/ 328613 h 440"/>
              <a:gd name="T8" fmla="*/ 474012 w 1567"/>
              <a:gd name="T9" fmla="*/ 306388 h 440"/>
              <a:gd name="T10" fmla="*/ 601946 w 1567"/>
              <a:gd name="T11" fmla="*/ 284163 h 440"/>
              <a:gd name="T12" fmla="*/ 706918 w 1567"/>
              <a:gd name="T13" fmla="*/ 265113 h 440"/>
              <a:gd name="T14" fmla="*/ 767604 w 1567"/>
              <a:gd name="T15" fmla="*/ 233363 h 440"/>
              <a:gd name="T16" fmla="*/ 826651 w 1567"/>
              <a:gd name="T17" fmla="*/ 177800 h 440"/>
              <a:gd name="T18" fmla="*/ 915220 w 1567"/>
              <a:gd name="T19" fmla="*/ 98425 h 440"/>
              <a:gd name="T20" fmla="*/ 1005430 w 1567"/>
              <a:gd name="T21" fmla="*/ 25400 h 440"/>
              <a:gd name="T22" fmla="*/ 1069397 w 1567"/>
              <a:gd name="T23" fmla="*/ 84138 h 440"/>
              <a:gd name="T24" fmla="*/ 1105481 w 1567"/>
              <a:gd name="T25" fmla="*/ 207963 h 440"/>
              <a:gd name="T26" fmla="*/ 1128444 w 1567"/>
              <a:gd name="T27" fmla="*/ 255588 h 440"/>
              <a:gd name="T28" fmla="*/ 1276060 w 1567"/>
              <a:gd name="T29" fmla="*/ 279400 h 440"/>
              <a:gd name="T30" fmla="*/ 1426957 w 1567"/>
              <a:gd name="T31" fmla="*/ 304800 h 440"/>
              <a:gd name="T32" fmla="*/ 1538489 w 1567"/>
              <a:gd name="T33" fmla="*/ 304800 h 440"/>
              <a:gd name="T34" fmla="*/ 1658222 w 1567"/>
              <a:gd name="T35" fmla="*/ 282575 h 440"/>
              <a:gd name="T36" fmla="*/ 1750072 w 1567"/>
              <a:gd name="T37" fmla="*/ 341313 h 440"/>
              <a:gd name="T38" fmla="*/ 1840282 w 1567"/>
              <a:gd name="T39" fmla="*/ 365125 h 440"/>
              <a:gd name="T40" fmla="*/ 1953454 w 1567"/>
              <a:gd name="T41" fmla="*/ 363538 h 440"/>
              <a:gd name="T42" fmla="*/ 2074828 w 1567"/>
              <a:gd name="T43" fmla="*/ 322263 h 440"/>
              <a:gd name="T44" fmla="*/ 2207682 w 1567"/>
              <a:gd name="T45" fmla="*/ 219075 h 440"/>
              <a:gd name="T46" fmla="*/ 2363499 w 1567"/>
              <a:gd name="T47" fmla="*/ 100013 h 440"/>
              <a:gd name="T48" fmla="*/ 2519316 w 1567"/>
              <a:gd name="T49" fmla="*/ 52388 h 440"/>
              <a:gd name="T50" fmla="*/ 2525877 w 1567"/>
              <a:gd name="T51" fmla="*/ 93663 h 440"/>
              <a:gd name="T52" fmla="*/ 2450429 w 1567"/>
              <a:gd name="T53" fmla="*/ 177800 h 440"/>
              <a:gd name="T54" fmla="*/ 2363499 w 1567"/>
              <a:gd name="T55" fmla="*/ 261938 h 440"/>
              <a:gd name="T56" fmla="*/ 2307733 w 1567"/>
              <a:gd name="T57" fmla="*/ 346075 h 440"/>
              <a:gd name="T58" fmla="*/ 2307733 w 1567"/>
              <a:gd name="T59" fmla="*/ 433388 h 440"/>
              <a:gd name="T60" fmla="*/ 2368420 w 1567"/>
              <a:gd name="T61" fmla="*/ 522288 h 440"/>
              <a:gd name="T62" fmla="*/ 2447149 w 1567"/>
              <a:gd name="T63" fmla="*/ 588963 h 440"/>
              <a:gd name="T64" fmla="*/ 2516036 w 1567"/>
              <a:gd name="T65" fmla="*/ 642938 h 440"/>
              <a:gd name="T66" fmla="*/ 2519316 w 1567"/>
              <a:gd name="T67" fmla="*/ 671513 h 440"/>
              <a:gd name="T68" fmla="*/ 2422546 w 1567"/>
              <a:gd name="T69" fmla="*/ 668338 h 440"/>
              <a:gd name="T70" fmla="*/ 2335616 w 1567"/>
              <a:gd name="T71" fmla="*/ 647700 h 440"/>
              <a:gd name="T72" fmla="*/ 2255247 w 1567"/>
              <a:gd name="T73" fmla="*/ 609600 h 440"/>
              <a:gd name="T74" fmla="*/ 2119113 w 1567"/>
              <a:gd name="T75" fmla="*/ 531813 h 440"/>
              <a:gd name="T76" fmla="*/ 1953454 w 1567"/>
              <a:gd name="T77" fmla="*/ 519113 h 440"/>
              <a:gd name="T78" fmla="*/ 1753352 w 1567"/>
              <a:gd name="T79" fmla="*/ 539750 h 440"/>
              <a:gd name="T80" fmla="*/ 1627059 w 1567"/>
              <a:gd name="T81" fmla="*/ 585788 h 440"/>
              <a:gd name="T82" fmla="*/ 1584414 w 1567"/>
              <a:gd name="T83" fmla="*/ 641350 h 440"/>
              <a:gd name="T84" fmla="*/ 1405634 w 1567"/>
              <a:gd name="T85" fmla="*/ 635000 h 440"/>
              <a:gd name="T86" fmla="*/ 1254738 w 1567"/>
              <a:gd name="T87" fmla="*/ 679450 h 440"/>
              <a:gd name="T88" fmla="*/ 695436 w 1567"/>
              <a:gd name="T89" fmla="*/ 696913 h 440"/>
              <a:gd name="T90" fmla="*/ 373961 w 1567"/>
              <a:gd name="T91" fmla="*/ 666750 h 440"/>
              <a:gd name="T92" fmla="*/ 91850 w 1567"/>
              <a:gd name="T93" fmla="*/ 579438 h 440"/>
              <a:gd name="T94" fmla="*/ 91850 w 1567"/>
              <a:gd name="T95" fmla="*/ 534988 h 440"/>
              <a:gd name="T96" fmla="*/ 29523 w 1567"/>
              <a:gd name="T97" fmla="*/ 481013 h 440"/>
              <a:gd name="T98" fmla="*/ 4921 w 1567"/>
              <a:gd name="T99" fmla="*/ 444500 h 440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567" h="440">
                <a:moveTo>
                  <a:pt x="0" y="272"/>
                </a:moveTo>
                <a:lnTo>
                  <a:pt x="5" y="268"/>
                </a:lnTo>
                <a:lnTo>
                  <a:pt x="17" y="261"/>
                </a:lnTo>
                <a:lnTo>
                  <a:pt x="35" y="254"/>
                </a:lnTo>
                <a:lnTo>
                  <a:pt x="49" y="250"/>
                </a:lnTo>
                <a:lnTo>
                  <a:pt x="64" y="244"/>
                </a:lnTo>
                <a:lnTo>
                  <a:pt x="89" y="236"/>
                </a:lnTo>
                <a:lnTo>
                  <a:pt x="114" y="229"/>
                </a:lnTo>
                <a:lnTo>
                  <a:pt x="137" y="222"/>
                </a:lnTo>
                <a:lnTo>
                  <a:pt x="161" y="217"/>
                </a:lnTo>
                <a:lnTo>
                  <a:pt x="186" y="212"/>
                </a:lnTo>
                <a:lnTo>
                  <a:pt x="214" y="207"/>
                </a:lnTo>
                <a:lnTo>
                  <a:pt x="241" y="202"/>
                </a:lnTo>
                <a:lnTo>
                  <a:pt x="265" y="197"/>
                </a:lnTo>
                <a:lnTo>
                  <a:pt x="289" y="193"/>
                </a:lnTo>
                <a:lnTo>
                  <a:pt x="311" y="189"/>
                </a:lnTo>
                <a:lnTo>
                  <a:pt x="342" y="183"/>
                </a:lnTo>
                <a:lnTo>
                  <a:pt x="367" y="179"/>
                </a:lnTo>
                <a:lnTo>
                  <a:pt x="391" y="175"/>
                </a:lnTo>
                <a:lnTo>
                  <a:pt x="412" y="172"/>
                </a:lnTo>
                <a:lnTo>
                  <a:pt x="431" y="167"/>
                </a:lnTo>
                <a:lnTo>
                  <a:pt x="446" y="161"/>
                </a:lnTo>
                <a:lnTo>
                  <a:pt x="457" y="155"/>
                </a:lnTo>
                <a:lnTo>
                  <a:pt x="468" y="147"/>
                </a:lnTo>
                <a:lnTo>
                  <a:pt x="478" y="138"/>
                </a:lnTo>
                <a:lnTo>
                  <a:pt x="490" y="126"/>
                </a:lnTo>
                <a:lnTo>
                  <a:pt x="504" y="112"/>
                </a:lnTo>
                <a:lnTo>
                  <a:pt x="522" y="95"/>
                </a:lnTo>
                <a:lnTo>
                  <a:pt x="539" y="78"/>
                </a:lnTo>
                <a:lnTo>
                  <a:pt x="558" y="62"/>
                </a:lnTo>
                <a:lnTo>
                  <a:pt x="574" y="45"/>
                </a:lnTo>
                <a:lnTo>
                  <a:pt x="593" y="31"/>
                </a:lnTo>
                <a:lnTo>
                  <a:pt x="613" y="16"/>
                </a:lnTo>
                <a:lnTo>
                  <a:pt x="636" y="0"/>
                </a:lnTo>
                <a:lnTo>
                  <a:pt x="643" y="28"/>
                </a:lnTo>
                <a:lnTo>
                  <a:pt x="652" y="53"/>
                </a:lnTo>
                <a:lnTo>
                  <a:pt x="661" y="80"/>
                </a:lnTo>
                <a:lnTo>
                  <a:pt x="669" y="108"/>
                </a:lnTo>
                <a:lnTo>
                  <a:pt x="674" y="131"/>
                </a:lnTo>
                <a:lnTo>
                  <a:pt x="673" y="145"/>
                </a:lnTo>
                <a:lnTo>
                  <a:pt x="663" y="157"/>
                </a:lnTo>
                <a:lnTo>
                  <a:pt x="688" y="161"/>
                </a:lnTo>
                <a:lnTo>
                  <a:pt x="713" y="165"/>
                </a:lnTo>
                <a:lnTo>
                  <a:pt x="744" y="171"/>
                </a:lnTo>
                <a:lnTo>
                  <a:pt x="778" y="176"/>
                </a:lnTo>
                <a:lnTo>
                  <a:pt x="813" y="183"/>
                </a:lnTo>
                <a:lnTo>
                  <a:pt x="841" y="188"/>
                </a:lnTo>
                <a:lnTo>
                  <a:pt x="870" y="192"/>
                </a:lnTo>
                <a:lnTo>
                  <a:pt x="896" y="195"/>
                </a:lnTo>
                <a:lnTo>
                  <a:pt x="920" y="197"/>
                </a:lnTo>
                <a:lnTo>
                  <a:pt x="938" y="192"/>
                </a:lnTo>
                <a:lnTo>
                  <a:pt x="955" y="183"/>
                </a:lnTo>
                <a:lnTo>
                  <a:pt x="972" y="172"/>
                </a:lnTo>
                <a:lnTo>
                  <a:pt x="1011" y="178"/>
                </a:lnTo>
                <a:lnTo>
                  <a:pt x="1053" y="188"/>
                </a:lnTo>
                <a:lnTo>
                  <a:pt x="1089" y="194"/>
                </a:lnTo>
                <a:lnTo>
                  <a:pt x="1067" y="215"/>
                </a:lnTo>
                <a:lnTo>
                  <a:pt x="1080" y="219"/>
                </a:lnTo>
                <a:lnTo>
                  <a:pt x="1100" y="225"/>
                </a:lnTo>
                <a:lnTo>
                  <a:pt x="1122" y="230"/>
                </a:lnTo>
                <a:lnTo>
                  <a:pt x="1146" y="234"/>
                </a:lnTo>
                <a:lnTo>
                  <a:pt x="1168" y="231"/>
                </a:lnTo>
                <a:lnTo>
                  <a:pt x="1191" y="229"/>
                </a:lnTo>
                <a:lnTo>
                  <a:pt x="1216" y="225"/>
                </a:lnTo>
                <a:lnTo>
                  <a:pt x="1242" y="217"/>
                </a:lnTo>
                <a:lnTo>
                  <a:pt x="1265" y="203"/>
                </a:lnTo>
                <a:lnTo>
                  <a:pt x="1295" y="183"/>
                </a:lnTo>
                <a:lnTo>
                  <a:pt x="1317" y="165"/>
                </a:lnTo>
                <a:lnTo>
                  <a:pt x="1346" y="138"/>
                </a:lnTo>
                <a:lnTo>
                  <a:pt x="1376" y="108"/>
                </a:lnTo>
                <a:lnTo>
                  <a:pt x="1411" y="82"/>
                </a:lnTo>
                <a:lnTo>
                  <a:pt x="1441" y="63"/>
                </a:lnTo>
                <a:lnTo>
                  <a:pt x="1471" y="48"/>
                </a:lnTo>
                <a:lnTo>
                  <a:pt x="1500" y="38"/>
                </a:lnTo>
                <a:lnTo>
                  <a:pt x="1536" y="33"/>
                </a:lnTo>
                <a:lnTo>
                  <a:pt x="1566" y="35"/>
                </a:lnTo>
                <a:lnTo>
                  <a:pt x="1550" y="48"/>
                </a:lnTo>
                <a:lnTo>
                  <a:pt x="1540" y="59"/>
                </a:lnTo>
                <a:lnTo>
                  <a:pt x="1534" y="68"/>
                </a:lnTo>
                <a:lnTo>
                  <a:pt x="1511" y="98"/>
                </a:lnTo>
                <a:lnTo>
                  <a:pt x="1494" y="112"/>
                </a:lnTo>
                <a:lnTo>
                  <a:pt x="1474" y="128"/>
                </a:lnTo>
                <a:lnTo>
                  <a:pt x="1456" y="147"/>
                </a:lnTo>
                <a:lnTo>
                  <a:pt x="1441" y="165"/>
                </a:lnTo>
                <a:lnTo>
                  <a:pt x="1428" y="183"/>
                </a:lnTo>
                <a:lnTo>
                  <a:pt x="1416" y="202"/>
                </a:lnTo>
                <a:lnTo>
                  <a:pt x="1407" y="218"/>
                </a:lnTo>
                <a:lnTo>
                  <a:pt x="1401" y="235"/>
                </a:lnTo>
                <a:lnTo>
                  <a:pt x="1399" y="254"/>
                </a:lnTo>
                <a:lnTo>
                  <a:pt x="1407" y="273"/>
                </a:lnTo>
                <a:lnTo>
                  <a:pt x="1416" y="294"/>
                </a:lnTo>
                <a:lnTo>
                  <a:pt x="1429" y="311"/>
                </a:lnTo>
                <a:lnTo>
                  <a:pt x="1444" y="329"/>
                </a:lnTo>
                <a:lnTo>
                  <a:pt x="1459" y="343"/>
                </a:lnTo>
                <a:lnTo>
                  <a:pt x="1475" y="356"/>
                </a:lnTo>
                <a:lnTo>
                  <a:pt x="1492" y="371"/>
                </a:lnTo>
                <a:lnTo>
                  <a:pt x="1511" y="387"/>
                </a:lnTo>
                <a:lnTo>
                  <a:pt x="1522" y="397"/>
                </a:lnTo>
                <a:lnTo>
                  <a:pt x="1534" y="405"/>
                </a:lnTo>
                <a:lnTo>
                  <a:pt x="1546" y="413"/>
                </a:lnTo>
                <a:lnTo>
                  <a:pt x="1554" y="422"/>
                </a:lnTo>
                <a:lnTo>
                  <a:pt x="1536" y="423"/>
                </a:lnTo>
                <a:lnTo>
                  <a:pt x="1514" y="423"/>
                </a:lnTo>
                <a:lnTo>
                  <a:pt x="1494" y="423"/>
                </a:lnTo>
                <a:lnTo>
                  <a:pt x="1477" y="421"/>
                </a:lnTo>
                <a:lnTo>
                  <a:pt x="1455" y="419"/>
                </a:lnTo>
                <a:lnTo>
                  <a:pt x="1439" y="414"/>
                </a:lnTo>
                <a:lnTo>
                  <a:pt x="1424" y="408"/>
                </a:lnTo>
                <a:lnTo>
                  <a:pt x="1408" y="401"/>
                </a:lnTo>
                <a:lnTo>
                  <a:pt x="1391" y="393"/>
                </a:lnTo>
                <a:lnTo>
                  <a:pt x="1375" y="384"/>
                </a:lnTo>
                <a:lnTo>
                  <a:pt x="1344" y="363"/>
                </a:lnTo>
                <a:lnTo>
                  <a:pt x="1322" y="350"/>
                </a:lnTo>
                <a:lnTo>
                  <a:pt x="1292" y="335"/>
                </a:lnTo>
                <a:lnTo>
                  <a:pt x="1263" y="330"/>
                </a:lnTo>
                <a:lnTo>
                  <a:pt x="1232" y="331"/>
                </a:lnTo>
                <a:lnTo>
                  <a:pt x="1191" y="327"/>
                </a:lnTo>
                <a:lnTo>
                  <a:pt x="1154" y="331"/>
                </a:lnTo>
                <a:lnTo>
                  <a:pt x="1112" y="333"/>
                </a:lnTo>
                <a:lnTo>
                  <a:pt x="1069" y="340"/>
                </a:lnTo>
                <a:lnTo>
                  <a:pt x="1024" y="350"/>
                </a:lnTo>
                <a:lnTo>
                  <a:pt x="997" y="360"/>
                </a:lnTo>
                <a:lnTo>
                  <a:pt x="992" y="369"/>
                </a:lnTo>
                <a:lnTo>
                  <a:pt x="997" y="378"/>
                </a:lnTo>
                <a:lnTo>
                  <a:pt x="1019" y="391"/>
                </a:lnTo>
                <a:lnTo>
                  <a:pt x="966" y="404"/>
                </a:lnTo>
                <a:lnTo>
                  <a:pt x="893" y="422"/>
                </a:lnTo>
                <a:lnTo>
                  <a:pt x="877" y="409"/>
                </a:lnTo>
                <a:lnTo>
                  <a:pt x="857" y="400"/>
                </a:lnTo>
                <a:lnTo>
                  <a:pt x="837" y="395"/>
                </a:lnTo>
                <a:lnTo>
                  <a:pt x="806" y="394"/>
                </a:lnTo>
                <a:lnTo>
                  <a:pt x="765" y="428"/>
                </a:lnTo>
                <a:lnTo>
                  <a:pt x="731" y="403"/>
                </a:lnTo>
                <a:lnTo>
                  <a:pt x="475" y="437"/>
                </a:lnTo>
                <a:lnTo>
                  <a:pt x="424" y="439"/>
                </a:lnTo>
                <a:lnTo>
                  <a:pt x="376" y="436"/>
                </a:lnTo>
                <a:lnTo>
                  <a:pt x="327" y="432"/>
                </a:lnTo>
                <a:lnTo>
                  <a:pt x="228" y="420"/>
                </a:lnTo>
                <a:lnTo>
                  <a:pt x="139" y="399"/>
                </a:lnTo>
                <a:lnTo>
                  <a:pt x="90" y="382"/>
                </a:lnTo>
                <a:lnTo>
                  <a:pt x="56" y="365"/>
                </a:lnTo>
                <a:lnTo>
                  <a:pt x="92" y="359"/>
                </a:lnTo>
                <a:lnTo>
                  <a:pt x="70" y="346"/>
                </a:lnTo>
                <a:lnTo>
                  <a:pt x="56" y="337"/>
                </a:lnTo>
                <a:lnTo>
                  <a:pt x="31" y="317"/>
                </a:lnTo>
                <a:lnTo>
                  <a:pt x="25" y="311"/>
                </a:lnTo>
                <a:lnTo>
                  <a:pt x="18" y="303"/>
                </a:lnTo>
                <a:lnTo>
                  <a:pt x="13" y="297"/>
                </a:lnTo>
                <a:lnTo>
                  <a:pt x="8" y="287"/>
                </a:lnTo>
                <a:lnTo>
                  <a:pt x="3" y="280"/>
                </a:lnTo>
                <a:lnTo>
                  <a:pt x="0" y="272"/>
                </a:lnTo>
              </a:path>
            </a:pathLst>
          </a:custGeom>
          <a:pattFill prst="pct50">
            <a:fgClr>
              <a:schemeClr val="tx1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2541" name="Group 11"/>
          <p:cNvGrpSpPr>
            <a:grpSpLocks/>
          </p:cNvGrpSpPr>
          <p:nvPr/>
        </p:nvGrpSpPr>
        <p:grpSpPr bwMode="auto">
          <a:xfrm>
            <a:off x="1878807" y="2683669"/>
            <a:ext cx="40481" cy="35719"/>
            <a:chOff x="854" y="2407"/>
            <a:chExt cx="33" cy="30"/>
          </a:xfrm>
        </p:grpSpPr>
        <p:sp>
          <p:nvSpPr>
            <p:cNvPr id="23196" name="Oval 12" descr="50%"/>
            <p:cNvSpPr>
              <a:spLocks noChangeArrowheads="1"/>
            </p:cNvSpPr>
            <p:nvPr/>
          </p:nvSpPr>
          <p:spPr bwMode="auto">
            <a:xfrm>
              <a:off x="854" y="2407"/>
              <a:ext cx="33" cy="30"/>
            </a:xfrm>
            <a:prstGeom prst="ellipse">
              <a:avLst/>
            </a:prstGeom>
            <a:pattFill prst="pct50">
              <a:fgClr>
                <a:schemeClr val="tx1"/>
              </a:fgClr>
              <a:bgClr>
                <a:schemeClr val="bg1"/>
              </a:bgClr>
            </a:pattFill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97" name="Arc 13" descr="50%"/>
            <p:cNvSpPr>
              <a:spLocks/>
            </p:cNvSpPr>
            <p:nvPr/>
          </p:nvSpPr>
          <p:spPr bwMode="auto">
            <a:xfrm>
              <a:off x="860" y="2411"/>
              <a:ext cx="25" cy="23"/>
            </a:xfrm>
            <a:custGeom>
              <a:avLst/>
              <a:gdLst>
                <a:gd name="T0" fmla="*/ 20 w 43200"/>
                <a:gd name="T1" fmla="*/ 2 h 42650"/>
                <a:gd name="T2" fmla="*/ 10 w 43200"/>
                <a:gd name="T3" fmla="*/ 0 h 42650"/>
                <a:gd name="T4" fmla="*/ 13 w 43200"/>
                <a:gd name="T5" fmla="*/ 11 h 426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2650" fill="none" extrusionOk="0">
                  <a:moveTo>
                    <a:pt x="35273" y="4329"/>
                  </a:moveTo>
                  <a:cubicBezTo>
                    <a:pt x="40290" y="8431"/>
                    <a:pt x="43200" y="14569"/>
                    <a:pt x="43200" y="21050"/>
                  </a:cubicBezTo>
                  <a:cubicBezTo>
                    <a:pt x="43200" y="32979"/>
                    <a:pt x="33529" y="42650"/>
                    <a:pt x="21600" y="42650"/>
                  </a:cubicBezTo>
                  <a:cubicBezTo>
                    <a:pt x="9670" y="42650"/>
                    <a:pt x="0" y="32979"/>
                    <a:pt x="0" y="21050"/>
                  </a:cubicBezTo>
                  <a:cubicBezTo>
                    <a:pt x="-1" y="10986"/>
                    <a:pt x="6950" y="2255"/>
                    <a:pt x="16757" y="-1"/>
                  </a:cubicBezTo>
                </a:path>
                <a:path w="43200" h="42650" stroke="0" extrusionOk="0">
                  <a:moveTo>
                    <a:pt x="35273" y="4329"/>
                  </a:moveTo>
                  <a:cubicBezTo>
                    <a:pt x="40290" y="8431"/>
                    <a:pt x="43200" y="14569"/>
                    <a:pt x="43200" y="21050"/>
                  </a:cubicBezTo>
                  <a:cubicBezTo>
                    <a:pt x="43200" y="32979"/>
                    <a:pt x="33529" y="42650"/>
                    <a:pt x="21600" y="42650"/>
                  </a:cubicBezTo>
                  <a:cubicBezTo>
                    <a:pt x="9670" y="42650"/>
                    <a:pt x="0" y="32979"/>
                    <a:pt x="0" y="21050"/>
                  </a:cubicBezTo>
                  <a:cubicBezTo>
                    <a:pt x="-1" y="10986"/>
                    <a:pt x="6950" y="2255"/>
                    <a:pt x="16757" y="-1"/>
                  </a:cubicBezTo>
                  <a:lnTo>
                    <a:pt x="21600" y="21050"/>
                  </a:lnTo>
                  <a:lnTo>
                    <a:pt x="35273" y="4329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542" name="Group 14"/>
          <p:cNvGrpSpPr>
            <a:grpSpLocks/>
          </p:cNvGrpSpPr>
          <p:nvPr/>
        </p:nvGrpSpPr>
        <p:grpSpPr bwMode="auto">
          <a:xfrm>
            <a:off x="1994298" y="2725341"/>
            <a:ext cx="121444" cy="85725"/>
            <a:chOff x="948" y="2442"/>
            <a:chExt cx="99" cy="72"/>
          </a:xfrm>
        </p:grpSpPr>
        <p:sp>
          <p:nvSpPr>
            <p:cNvPr id="23191" name="Arc 15" descr="50%"/>
            <p:cNvSpPr>
              <a:spLocks/>
            </p:cNvSpPr>
            <p:nvPr/>
          </p:nvSpPr>
          <p:spPr bwMode="auto">
            <a:xfrm>
              <a:off x="969" y="2442"/>
              <a:ext cx="13" cy="72"/>
            </a:xfrm>
            <a:custGeom>
              <a:avLst/>
              <a:gdLst>
                <a:gd name="T0" fmla="*/ 1 w 25753"/>
                <a:gd name="T1" fmla="*/ 0 h 43200"/>
                <a:gd name="T2" fmla="*/ 0 w 25753"/>
                <a:gd name="T3" fmla="*/ 71 h 43200"/>
                <a:gd name="T4" fmla="*/ 2 w 25753"/>
                <a:gd name="T5" fmla="*/ 36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753" h="43200" fill="none" extrusionOk="0">
                  <a:moveTo>
                    <a:pt x="2105" y="97"/>
                  </a:moveTo>
                  <a:cubicBezTo>
                    <a:pt x="2785" y="32"/>
                    <a:pt x="3469" y="-1"/>
                    <a:pt x="4153" y="0"/>
                  </a:cubicBezTo>
                  <a:cubicBezTo>
                    <a:pt x="16082" y="0"/>
                    <a:pt x="25753" y="9670"/>
                    <a:pt x="25753" y="21600"/>
                  </a:cubicBezTo>
                  <a:cubicBezTo>
                    <a:pt x="25753" y="33529"/>
                    <a:pt x="16082" y="43200"/>
                    <a:pt x="4153" y="43200"/>
                  </a:cubicBezTo>
                  <a:cubicBezTo>
                    <a:pt x="2758" y="43200"/>
                    <a:pt x="1368" y="43065"/>
                    <a:pt x="0" y="42796"/>
                  </a:cubicBezTo>
                </a:path>
                <a:path w="25753" h="43200" stroke="0" extrusionOk="0">
                  <a:moveTo>
                    <a:pt x="2105" y="97"/>
                  </a:moveTo>
                  <a:cubicBezTo>
                    <a:pt x="2785" y="32"/>
                    <a:pt x="3469" y="-1"/>
                    <a:pt x="4153" y="0"/>
                  </a:cubicBezTo>
                  <a:cubicBezTo>
                    <a:pt x="16082" y="0"/>
                    <a:pt x="25753" y="9670"/>
                    <a:pt x="25753" y="21600"/>
                  </a:cubicBezTo>
                  <a:cubicBezTo>
                    <a:pt x="25753" y="33529"/>
                    <a:pt x="16082" y="43200"/>
                    <a:pt x="4153" y="43200"/>
                  </a:cubicBezTo>
                  <a:cubicBezTo>
                    <a:pt x="2758" y="43200"/>
                    <a:pt x="1368" y="43065"/>
                    <a:pt x="0" y="42796"/>
                  </a:cubicBezTo>
                  <a:lnTo>
                    <a:pt x="4153" y="21600"/>
                  </a:lnTo>
                  <a:lnTo>
                    <a:pt x="2105" y="97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92" name="Arc 16" descr="50%"/>
            <p:cNvSpPr>
              <a:spLocks/>
            </p:cNvSpPr>
            <p:nvPr/>
          </p:nvSpPr>
          <p:spPr bwMode="auto">
            <a:xfrm>
              <a:off x="948" y="2442"/>
              <a:ext cx="14" cy="72"/>
            </a:xfrm>
            <a:custGeom>
              <a:avLst/>
              <a:gdLst>
                <a:gd name="T0" fmla="*/ 2 w 27434"/>
                <a:gd name="T1" fmla="*/ 0 h 43200"/>
                <a:gd name="T2" fmla="*/ 0 w 27434"/>
                <a:gd name="T3" fmla="*/ 71 h 43200"/>
                <a:gd name="T4" fmla="*/ 3 w 27434"/>
                <a:gd name="T5" fmla="*/ 36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434" h="43200" fill="none" extrusionOk="0">
                  <a:moveTo>
                    <a:pt x="3877" y="88"/>
                  </a:moveTo>
                  <a:cubicBezTo>
                    <a:pt x="4528" y="29"/>
                    <a:pt x="5180" y="-1"/>
                    <a:pt x="5834" y="0"/>
                  </a:cubicBezTo>
                  <a:cubicBezTo>
                    <a:pt x="17763" y="0"/>
                    <a:pt x="27434" y="9670"/>
                    <a:pt x="27434" y="21600"/>
                  </a:cubicBezTo>
                  <a:cubicBezTo>
                    <a:pt x="27434" y="33529"/>
                    <a:pt x="17763" y="43200"/>
                    <a:pt x="5834" y="43200"/>
                  </a:cubicBezTo>
                  <a:cubicBezTo>
                    <a:pt x="3861" y="43200"/>
                    <a:pt x="1898" y="42929"/>
                    <a:pt x="-1" y="42397"/>
                  </a:cubicBezTo>
                </a:path>
                <a:path w="27434" h="43200" stroke="0" extrusionOk="0">
                  <a:moveTo>
                    <a:pt x="3877" y="88"/>
                  </a:moveTo>
                  <a:cubicBezTo>
                    <a:pt x="4528" y="29"/>
                    <a:pt x="5180" y="-1"/>
                    <a:pt x="5834" y="0"/>
                  </a:cubicBezTo>
                  <a:cubicBezTo>
                    <a:pt x="17763" y="0"/>
                    <a:pt x="27434" y="9670"/>
                    <a:pt x="27434" y="21600"/>
                  </a:cubicBezTo>
                  <a:cubicBezTo>
                    <a:pt x="27434" y="33529"/>
                    <a:pt x="17763" y="43200"/>
                    <a:pt x="5834" y="43200"/>
                  </a:cubicBezTo>
                  <a:cubicBezTo>
                    <a:pt x="3861" y="43200"/>
                    <a:pt x="1898" y="42929"/>
                    <a:pt x="-1" y="42397"/>
                  </a:cubicBezTo>
                  <a:lnTo>
                    <a:pt x="5834" y="21600"/>
                  </a:lnTo>
                  <a:lnTo>
                    <a:pt x="3877" y="88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93" name="Arc 17" descr="50%"/>
            <p:cNvSpPr>
              <a:spLocks/>
            </p:cNvSpPr>
            <p:nvPr/>
          </p:nvSpPr>
          <p:spPr bwMode="auto">
            <a:xfrm>
              <a:off x="990" y="2442"/>
              <a:ext cx="13" cy="72"/>
            </a:xfrm>
            <a:custGeom>
              <a:avLst/>
              <a:gdLst>
                <a:gd name="T0" fmla="*/ 1 w 25753"/>
                <a:gd name="T1" fmla="*/ 0 h 43200"/>
                <a:gd name="T2" fmla="*/ 0 w 25753"/>
                <a:gd name="T3" fmla="*/ 71 h 43200"/>
                <a:gd name="T4" fmla="*/ 2 w 25753"/>
                <a:gd name="T5" fmla="*/ 36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753" h="43200" fill="none" extrusionOk="0">
                  <a:moveTo>
                    <a:pt x="2105" y="97"/>
                  </a:moveTo>
                  <a:cubicBezTo>
                    <a:pt x="2785" y="32"/>
                    <a:pt x="3469" y="-1"/>
                    <a:pt x="4153" y="0"/>
                  </a:cubicBezTo>
                  <a:cubicBezTo>
                    <a:pt x="16082" y="0"/>
                    <a:pt x="25753" y="9670"/>
                    <a:pt x="25753" y="21600"/>
                  </a:cubicBezTo>
                  <a:cubicBezTo>
                    <a:pt x="25753" y="33529"/>
                    <a:pt x="16082" y="43200"/>
                    <a:pt x="4153" y="43200"/>
                  </a:cubicBezTo>
                  <a:cubicBezTo>
                    <a:pt x="2758" y="43200"/>
                    <a:pt x="1368" y="43065"/>
                    <a:pt x="0" y="42796"/>
                  </a:cubicBezTo>
                </a:path>
                <a:path w="25753" h="43200" stroke="0" extrusionOk="0">
                  <a:moveTo>
                    <a:pt x="2105" y="97"/>
                  </a:moveTo>
                  <a:cubicBezTo>
                    <a:pt x="2785" y="32"/>
                    <a:pt x="3469" y="-1"/>
                    <a:pt x="4153" y="0"/>
                  </a:cubicBezTo>
                  <a:cubicBezTo>
                    <a:pt x="16082" y="0"/>
                    <a:pt x="25753" y="9670"/>
                    <a:pt x="25753" y="21600"/>
                  </a:cubicBezTo>
                  <a:cubicBezTo>
                    <a:pt x="25753" y="33529"/>
                    <a:pt x="16082" y="43200"/>
                    <a:pt x="4153" y="43200"/>
                  </a:cubicBezTo>
                  <a:cubicBezTo>
                    <a:pt x="2758" y="43200"/>
                    <a:pt x="1368" y="43065"/>
                    <a:pt x="0" y="42796"/>
                  </a:cubicBezTo>
                  <a:lnTo>
                    <a:pt x="4153" y="21600"/>
                  </a:lnTo>
                  <a:lnTo>
                    <a:pt x="2105" y="97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94" name="Arc 18" descr="50%"/>
            <p:cNvSpPr>
              <a:spLocks/>
            </p:cNvSpPr>
            <p:nvPr/>
          </p:nvSpPr>
          <p:spPr bwMode="auto">
            <a:xfrm>
              <a:off x="1011" y="2442"/>
              <a:ext cx="13" cy="72"/>
            </a:xfrm>
            <a:custGeom>
              <a:avLst/>
              <a:gdLst>
                <a:gd name="T0" fmla="*/ 1 w 25753"/>
                <a:gd name="T1" fmla="*/ 0 h 43200"/>
                <a:gd name="T2" fmla="*/ 0 w 25753"/>
                <a:gd name="T3" fmla="*/ 71 h 43200"/>
                <a:gd name="T4" fmla="*/ 2 w 25753"/>
                <a:gd name="T5" fmla="*/ 36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753" h="43200" fill="none" extrusionOk="0">
                  <a:moveTo>
                    <a:pt x="2105" y="97"/>
                  </a:moveTo>
                  <a:cubicBezTo>
                    <a:pt x="2785" y="32"/>
                    <a:pt x="3469" y="-1"/>
                    <a:pt x="4153" y="0"/>
                  </a:cubicBezTo>
                  <a:cubicBezTo>
                    <a:pt x="16082" y="0"/>
                    <a:pt x="25753" y="9670"/>
                    <a:pt x="25753" y="21600"/>
                  </a:cubicBezTo>
                  <a:cubicBezTo>
                    <a:pt x="25753" y="33529"/>
                    <a:pt x="16082" y="43200"/>
                    <a:pt x="4153" y="43200"/>
                  </a:cubicBezTo>
                  <a:cubicBezTo>
                    <a:pt x="2758" y="43200"/>
                    <a:pt x="1368" y="43065"/>
                    <a:pt x="0" y="42796"/>
                  </a:cubicBezTo>
                </a:path>
                <a:path w="25753" h="43200" stroke="0" extrusionOk="0">
                  <a:moveTo>
                    <a:pt x="2105" y="97"/>
                  </a:moveTo>
                  <a:cubicBezTo>
                    <a:pt x="2785" y="32"/>
                    <a:pt x="3469" y="-1"/>
                    <a:pt x="4153" y="0"/>
                  </a:cubicBezTo>
                  <a:cubicBezTo>
                    <a:pt x="16082" y="0"/>
                    <a:pt x="25753" y="9670"/>
                    <a:pt x="25753" y="21600"/>
                  </a:cubicBezTo>
                  <a:cubicBezTo>
                    <a:pt x="25753" y="33529"/>
                    <a:pt x="16082" y="43200"/>
                    <a:pt x="4153" y="43200"/>
                  </a:cubicBezTo>
                  <a:cubicBezTo>
                    <a:pt x="2758" y="43200"/>
                    <a:pt x="1368" y="43065"/>
                    <a:pt x="0" y="42796"/>
                  </a:cubicBezTo>
                  <a:lnTo>
                    <a:pt x="4153" y="21600"/>
                  </a:lnTo>
                  <a:lnTo>
                    <a:pt x="2105" y="97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95" name="Arc 19" descr="50%"/>
            <p:cNvSpPr>
              <a:spLocks/>
            </p:cNvSpPr>
            <p:nvPr/>
          </p:nvSpPr>
          <p:spPr bwMode="auto">
            <a:xfrm>
              <a:off x="1034" y="2442"/>
              <a:ext cx="13" cy="72"/>
            </a:xfrm>
            <a:custGeom>
              <a:avLst/>
              <a:gdLst>
                <a:gd name="T0" fmla="*/ 1 w 25753"/>
                <a:gd name="T1" fmla="*/ 0 h 43200"/>
                <a:gd name="T2" fmla="*/ 0 w 25753"/>
                <a:gd name="T3" fmla="*/ 71 h 43200"/>
                <a:gd name="T4" fmla="*/ 2 w 25753"/>
                <a:gd name="T5" fmla="*/ 36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753" h="43200" fill="none" extrusionOk="0">
                  <a:moveTo>
                    <a:pt x="2105" y="97"/>
                  </a:moveTo>
                  <a:cubicBezTo>
                    <a:pt x="2785" y="32"/>
                    <a:pt x="3469" y="-1"/>
                    <a:pt x="4153" y="0"/>
                  </a:cubicBezTo>
                  <a:cubicBezTo>
                    <a:pt x="16082" y="0"/>
                    <a:pt x="25753" y="9670"/>
                    <a:pt x="25753" y="21600"/>
                  </a:cubicBezTo>
                  <a:cubicBezTo>
                    <a:pt x="25753" y="33529"/>
                    <a:pt x="16082" y="43200"/>
                    <a:pt x="4153" y="43200"/>
                  </a:cubicBezTo>
                  <a:cubicBezTo>
                    <a:pt x="2758" y="43200"/>
                    <a:pt x="1368" y="43065"/>
                    <a:pt x="0" y="42796"/>
                  </a:cubicBezTo>
                </a:path>
                <a:path w="25753" h="43200" stroke="0" extrusionOk="0">
                  <a:moveTo>
                    <a:pt x="2105" y="97"/>
                  </a:moveTo>
                  <a:cubicBezTo>
                    <a:pt x="2785" y="32"/>
                    <a:pt x="3469" y="-1"/>
                    <a:pt x="4153" y="0"/>
                  </a:cubicBezTo>
                  <a:cubicBezTo>
                    <a:pt x="16082" y="0"/>
                    <a:pt x="25753" y="9670"/>
                    <a:pt x="25753" y="21600"/>
                  </a:cubicBezTo>
                  <a:cubicBezTo>
                    <a:pt x="25753" y="33529"/>
                    <a:pt x="16082" y="43200"/>
                    <a:pt x="4153" y="43200"/>
                  </a:cubicBezTo>
                  <a:cubicBezTo>
                    <a:pt x="2758" y="43200"/>
                    <a:pt x="1368" y="43065"/>
                    <a:pt x="0" y="42796"/>
                  </a:cubicBezTo>
                  <a:lnTo>
                    <a:pt x="4153" y="21600"/>
                  </a:lnTo>
                  <a:lnTo>
                    <a:pt x="2105" y="97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543" name="Freeform 20" descr="50%"/>
          <p:cNvSpPr>
            <a:spLocks/>
          </p:cNvSpPr>
          <p:nvPr/>
        </p:nvSpPr>
        <p:spPr bwMode="auto">
          <a:xfrm>
            <a:off x="1715691" y="2350294"/>
            <a:ext cx="1910953" cy="347663"/>
          </a:xfrm>
          <a:custGeom>
            <a:avLst/>
            <a:gdLst>
              <a:gd name="T0" fmla="*/ 54142 w 1553"/>
              <a:gd name="T1" fmla="*/ 390525 h 292"/>
              <a:gd name="T2" fmla="*/ 172269 w 1553"/>
              <a:gd name="T3" fmla="*/ 354013 h 292"/>
              <a:gd name="T4" fmla="*/ 342897 w 1553"/>
              <a:gd name="T5" fmla="*/ 317500 h 292"/>
              <a:gd name="T6" fmla="*/ 511884 w 1553"/>
              <a:gd name="T7" fmla="*/ 288925 h 292"/>
              <a:gd name="T8" fmla="*/ 672668 w 1553"/>
              <a:gd name="T9" fmla="*/ 261938 h 292"/>
              <a:gd name="T10" fmla="*/ 767826 w 1553"/>
              <a:gd name="T11" fmla="*/ 222250 h 292"/>
              <a:gd name="T12" fmla="*/ 849859 w 1553"/>
              <a:gd name="T13" fmla="*/ 144463 h 292"/>
              <a:gd name="T14" fmla="*/ 971268 w 1553"/>
              <a:gd name="T15" fmla="*/ 42863 h 292"/>
              <a:gd name="T16" fmla="*/ 1059863 w 1553"/>
              <a:gd name="T17" fmla="*/ 82550 h 292"/>
              <a:gd name="T18" fmla="*/ 1094317 w 1553"/>
              <a:gd name="T19" fmla="*/ 200025 h 292"/>
              <a:gd name="T20" fmla="*/ 1159943 w 1553"/>
              <a:gd name="T21" fmla="*/ 254000 h 292"/>
              <a:gd name="T22" fmla="*/ 1368306 w 1553"/>
              <a:gd name="T23" fmla="*/ 287338 h 292"/>
              <a:gd name="T24" fmla="*/ 1527450 w 1553"/>
              <a:gd name="T25" fmla="*/ 293688 h 292"/>
              <a:gd name="T26" fmla="*/ 1716125 w 1553"/>
              <a:gd name="T27" fmla="*/ 287338 h 292"/>
              <a:gd name="T28" fmla="*/ 1791595 w 1553"/>
              <a:gd name="T29" fmla="*/ 346075 h 292"/>
              <a:gd name="T30" fmla="*/ 1940895 w 1553"/>
              <a:gd name="T31" fmla="*/ 352425 h 292"/>
              <a:gd name="T32" fmla="*/ 2111523 w 1553"/>
              <a:gd name="T33" fmla="*/ 279400 h 292"/>
              <a:gd name="T34" fmla="*/ 2244416 w 1553"/>
              <a:gd name="T35" fmla="*/ 163513 h 292"/>
              <a:gd name="T36" fmla="*/ 2352699 w 1553"/>
              <a:gd name="T37" fmla="*/ 93663 h 292"/>
              <a:gd name="T38" fmla="*/ 2446216 w 1553"/>
              <a:gd name="T39" fmla="*/ 55563 h 292"/>
              <a:gd name="T40" fmla="*/ 2526608 w 1553"/>
              <a:gd name="T41" fmla="*/ 65088 h 292"/>
              <a:gd name="T42" fmla="*/ 2460982 w 1553"/>
              <a:gd name="T43" fmla="*/ 144463 h 292"/>
              <a:gd name="T44" fmla="*/ 2375668 w 1553"/>
              <a:gd name="T45" fmla="*/ 215900 h 292"/>
              <a:gd name="T46" fmla="*/ 2326449 w 1553"/>
              <a:gd name="T47" fmla="*/ 276225 h 292"/>
              <a:gd name="T48" fmla="*/ 2290354 w 1553"/>
              <a:gd name="T49" fmla="*/ 330200 h 292"/>
              <a:gd name="T50" fmla="*/ 2277229 w 1553"/>
              <a:gd name="T51" fmla="*/ 387350 h 292"/>
              <a:gd name="T52" fmla="*/ 2205040 w 1553"/>
              <a:gd name="T53" fmla="*/ 376238 h 292"/>
              <a:gd name="T54" fmla="*/ 2141055 w 1553"/>
              <a:gd name="T55" fmla="*/ 395288 h 292"/>
              <a:gd name="T56" fmla="*/ 2065584 w 1553"/>
              <a:gd name="T57" fmla="*/ 387350 h 292"/>
              <a:gd name="T58" fmla="*/ 1981911 w 1553"/>
              <a:gd name="T59" fmla="*/ 392113 h 292"/>
              <a:gd name="T60" fmla="*/ 1894956 w 1553"/>
              <a:gd name="T61" fmla="*/ 384175 h 292"/>
              <a:gd name="T62" fmla="*/ 1798158 w 1553"/>
              <a:gd name="T63" fmla="*/ 388938 h 292"/>
              <a:gd name="T64" fmla="*/ 1698078 w 1553"/>
              <a:gd name="T65" fmla="*/ 404813 h 292"/>
              <a:gd name="T66" fmla="*/ 1601279 w 1553"/>
              <a:gd name="T67" fmla="*/ 406400 h 292"/>
              <a:gd name="T68" fmla="*/ 1506121 w 1553"/>
              <a:gd name="T69" fmla="*/ 407988 h 292"/>
              <a:gd name="T70" fmla="*/ 1417526 w 1553"/>
              <a:gd name="T71" fmla="*/ 417513 h 292"/>
              <a:gd name="T72" fmla="*/ 1324008 w 1553"/>
              <a:gd name="T73" fmla="*/ 436563 h 292"/>
              <a:gd name="T74" fmla="*/ 1210803 w 1553"/>
              <a:gd name="T75" fmla="*/ 436563 h 292"/>
              <a:gd name="T76" fmla="*/ 1114005 w 1553"/>
              <a:gd name="T77" fmla="*/ 441325 h 292"/>
              <a:gd name="T78" fmla="*/ 1017206 w 1553"/>
              <a:gd name="T79" fmla="*/ 427038 h 292"/>
              <a:gd name="T80" fmla="*/ 923689 w 1553"/>
              <a:gd name="T81" fmla="*/ 436563 h 292"/>
              <a:gd name="T82" fmla="*/ 846578 w 1553"/>
              <a:gd name="T83" fmla="*/ 425450 h 292"/>
              <a:gd name="T84" fmla="*/ 751420 w 1553"/>
              <a:gd name="T85" fmla="*/ 436563 h 292"/>
              <a:gd name="T86" fmla="*/ 651340 w 1553"/>
              <a:gd name="T87" fmla="*/ 441325 h 292"/>
              <a:gd name="T88" fmla="*/ 523369 w 1553"/>
              <a:gd name="T89" fmla="*/ 461963 h 292"/>
              <a:gd name="T90" fmla="*/ 372429 w 1553"/>
              <a:gd name="T91" fmla="*/ 461963 h 292"/>
              <a:gd name="T92" fmla="*/ 249380 w 1553"/>
              <a:gd name="T93" fmla="*/ 444500 h 292"/>
              <a:gd name="T94" fmla="*/ 134534 w 1553"/>
              <a:gd name="T95" fmla="*/ 449263 h 292"/>
              <a:gd name="T96" fmla="*/ 26250 w 1553"/>
              <a:gd name="T97" fmla="*/ 428625 h 29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1553" h="292">
                <a:moveTo>
                  <a:pt x="0" y="262"/>
                </a:moveTo>
                <a:lnTo>
                  <a:pt x="9" y="257"/>
                </a:lnTo>
                <a:lnTo>
                  <a:pt x="20" y="251"/>
                </a:lnTo>
                <a:lnTo>
                  <a:pt x="33" y="246"/>
                </a:lnTo>
                <a:lnTo>
                  <a:pt x="47" y="241"/>
                </a:lnTo>
                <a:lnTo>
                  <a:pt x="63" y="236"/>
                </a:lnTo>
                <a:lnTo>
                  <a:pt x="86" y="230"/>
                </a:lnTo>
                <a:lnTo>
                  <a:pt x="105" y="223"/>
                </a:lnTo>
                <a:lnTo>
                  <a:pt x="129" y="216"/>
                </a:lnTo>
                <a:lnTo>
                  <a:pt x="156" y="210"/>
                </a:lnTo>
                <a:lnTo>
                  <a:pt x="182" y="204"/>
                </a:lnTo>
                <a:lnTo>
                  <a:pt x="209" y="200"/>
                </a:lnTo>
                <a:lnTo>
                  <a:pt x="234" y="196"/>
                </a:lnTo>
                <a:lnTo>
                  <a:pt x="261" y="192"/>
                </a:lnTo>
                <a:lnTo>
                  <a:pt x="286" y="187"/>
                </a:lnTo>
                <a:lnTo>
                  <a:pt x="312" y="182"/>
                </a:lnTo>
                <a:lnTo>
                  <a:pt x="332" y="178"/>
                </a:lnTo>
                <a:lnTo>
                  <a:pt x="362" y="173"/>
                </a:lnTo>
                <a:lnTo>
                  <a:pt x="387" y="169"/>
                </a:lnTo>
                <a:lnTo>
                  <a:pt x="410" y="165"/>
                </a:lnTo>
                <a:lnTo>
                  <a:pt x="428" y="161"/>
                </a:lnTo>
                <a:lnTo>
                  <a:pt x="444" y="155"/>
                </a:lnTo>
                <a:lnTo>
                  <a:pt x="458" y="147"/>
                </a:lnTo>
                <a:lnTo>
                  <a:pt x="468" y="140"/>
                </a:lnTo>
                <a:lnTo>
                  <a:pt x="477" y="130"/>
                </a:lnTo>
                <a:lnTo>
                  <a:pt x="487" y="120"/>
                </a:lnTo>
                <a:lnTo>
                  <a:pt x="503" y="104"/>
                </a:lnTo>
                <a:lnTo>
                  <a:pt x="518" y="91"/>
                </a:lnTo>
                <a:lnTo>
                  <a:pt x="535" y="75"/>
                </a:lnTo>
                <a:lnTo>
                  <a:pt x="553" y="59"/>
                </a:lnTo>
                <a:lnTo>
                  <a:pt x="571" y="42"/>
                </a:lnTo>
                <a:lnTo>
                  <a:pt x="592" y="27"/>
                </a:lnTo>
                <a:lnTo>
                  <a:pt x="612" y="12"/>
                </a:lnTo>
                <a:lnTo>
                  <a:pt x="629" y="0"/>
                </a:lnTo>
                <a:lnTo>
                  <a:pt x="636" y="24"/>
                </a:lnTo>
                <a:lnTo>
                  <a:pt x="646" y="52"/>
                </a:lnTo>
                <a:lnTo>
                  <a:pt x="654" y="78"/>
                </a:lnTo>
                <a:lnTo>
                  <a:pt x="662" y="102"/>
                </a:lnTo>
                <a:lnTo>
                  <a:pt x="665" y="114"/>
                </a:lnTo>
                <a:lnTo>
                  <a:pt x="667" y="126"/>
                </a:lnTo>
                <a:lnTo>
                  <a:pt x="665" y="138"/>
                </a:lnTo>
                <a:lnTo>
                  <a:pt x="655" y="151"/>
                </a:lnTo>
                <a:lnTo>
                  <a:pt x="681" y="156"/>
                </a:lnTo>
                <a:lnTo>
                  <a:pt x="707" y="160"/>
                </a:lnTo>
                <a:lnTo>
                  <a:pt x="738" y="165"/>
                </a:lnTo>
                <a:lnTo>
                  <a:pt x="773" y="170"/>
                </a:lnTo>
                <a:lnTo>
                  <a:pt x="808" y="177"/>
                </a:lnTo>
                <a:lnTo>
                  <a:pt x="834" y="181"/>
                </a:lnTo>
                <a:lnTo>
                  <a:pt x="864" y="185"/>
                </a:lnTo>
                <a:lnTo>
                  <a:pt x="889" y="188"/>
                </a:lnTo>
                <a:lnTo>
                  <a:pt x="912" y="190"/>
                </a:lnTo>
                <a:lnTo>
                  <a:pt x="931" y="185"/>
                </a:lnTo>
                <a:lnTo>
                  <a:pt x="949" y="177"/>
                </a:lnTo>
                <a:lnTo>
                  <a:pt x="965" y="165"/>
                </a:lnTo>
                <a:lnTo>
                  <a:pt x="1004" y="171"/>
                </a:lnTo>
                <a:lnTo>
                  <a:pt x="1046" y="181"/>
                </a:lnTo>
                <a:lnTo>
                  <a:pt x="1077" y="187"/>
                </a:lnTo>
                <a:lnTo>
                  <a:pt x="1058" y="206"/>
                </a:lnTo>
                <a:lnTo>
                  <a:pt x="1072" y="211"/>
                </a:lnTo>
                <a:lnTo>
                  <a:pt x="1092" y="218"/>
                </a:lnTo>
                <a:lnTo>
                  <a:pt x="1114" y="223"/>
                </a:lnTo>
                <a:lnTo>
                  <a:pt x="1138" y="226"/>
                </a:lnTo>
                <a:lnTo>
                  <a:pt x="1160" y="224"/>
                </a:lnTo>
                <a:lnTo>
                  <a:pt x="1183" y="222"/>
                </a:lnTo>
                <a:lnTo>
                  <a:pt x="1207" y="218"/>
                </a:lnTo>
                <a:lnTo>
                  <a:pt x="1234" y="210"/>
                </a:lnTo>
                <a:lnTo>
                  <a:pt x="1258" y="196"/>
                </a:lnTo>
                <a:lnTo>
                  <a:pt x="1287" y="176"/>
                </a:lnTo>
                <a:lnTo>
                  <a:pt x="1310" y="158"/>
                </a:lnTo>
                <a:lnTo>
                  <a:pt x="1337" y="133"/>
                </a:lnTo>
                <a:lnTo>
                  <a:pt x="1349" y="122"/>
                </a:lnTo>
                <a:lnTo>
                  <a:pt x="1368" y="103"/>
                </a:lnTo>
                <a:lnTo>
                  <a:pt x="1386" y="91"/>
                </a:lnTo>
                <a:lnTo>
                  <a:pt x="1402" y="79"/>
                </a:lnTo>
                <a:lnTo>
                  <a:pt x="1419" y="68"/>
                </a:lnTo>
                <a:lnTo>
                  <a:pt x="1434" y="59"/>
                </a:lnTo>
                <a:lnTo>
                  <a:pt x="1449" y="52"/>
                </a:lnTo>
                <a:lnTo>
                  <a:pt x="1463" y="45"/>
                </a:lnTo>
                <a:lnTo>
                  <a:pt x="1476" y="40"/>
                </a:lnTo>
                <a:lnTo>
                  <a:pt x="1491" y="35"/>
                </a:lnTo>
                <a:lnTo>
                  <a:pt x="1506" y="33"/>
                </a:lnTo>
                <a:lnTo>
                  <a:pt x="1524" y="32"/>
                </a:lnTo>
                <a:lnTo>
                  <a:pt x="1552" y="32"/>
                </a:lnTo>
                <a:lnTo>
                  <a:pt x="1540" y="41"/>
                </a:lnTo>
                <a:lnTo>
                  <a:pt x="1528" y="54"/>
                </a:lnTo>
                <a:lnTo>
                  <a:pt x="1522" y="62"/>
                </a:lnTo>
                <a:lnTo>
                  <a:pt x="1511" y="78"/>
                </a:lnTo>
                <a:lnTo>
                  <a:pt x="1500" y="91"/>
                </a:lnTo>
                <a:lnTo>
                  <a:pt x="1485" y="104"/>
                </a:lnTo>
                <a:lnTo>
                  <a:pt x="1466" y="118"/>
                </a:lnTo>
                <a:lnTo>
                  <a:pt x="1456" y="126"/>
                </a:lnTo>
                <a:lnTo>
                  <a:pt x="1448" y="136"/>
                </a:lnTo>
                <a:lnTo>
                  <a:pt x="1438" y="147"/>
                </a:lnTo>
                <a:lnTo>
                  <a:pt x="1432" y="155"/>
                </a:lnTo>
                <a:lnTo>
                  <a:pt x="1425" y="164"/>
                </a:lnTo>
                <a:lnTo>
                  <a:pt x="1418" y="174"/>
                </a:lnTo>
                <a:lnTo>
                  <a:pt x="1412" y="183"/>
                </a:lnTo>
                <a:lnTo>
                  <a:pt x="1406" y="192"/>
                </a:lnTo>
                <a:lnTo>
                  <a:pt x="1401" y="200"/>
                </a:lnTo>
                <a:lnTo>
                  <a:pt x="1396" y="208"/>
                </a:lnTo>
                <a:lnTo>
                  <a:pt x="1392" y="218"/>
                </a:lnTo>
                <a:lnTo>
                  <a:pt x="1390" y="226"/>
                </a:lnTo>
                <a:lnTo>
                  <a:pt x="1389" y="235"/>
                </a:lnTo>
                <a:lnTo>
                  <a:pt x="1388" y="244"/>
                </a:lnTo>
                <a:lnTo>
                  <a:pt x="1380" y="239"/>
                </a:lnTo>
                <a:lnTo>
                  <a:pt x="1366" y="237"/>
                </a:lnTo>
                <a:lnTo>
                  <a:pt x="1355" y="236"/>
                </a:lnTo>
                <a:lnTo>
                  <a:pt x="1344" y="237"/>
                </a:lnTo>
                <a:lnTo>
                  <a:pt x="1334" y="240"/>
                </a:lnTo>
                <a:lnTo>
                  <a:pt x="1325" y="244"/>
                </a:lnTo>
                <a:lnTo>
                  <a:pt x="1315" y="246"/>
                </a:lnTo>
                <a:lnTo>
                  <a:pt x="1305" y="249"/>
                </a:lnTo>
                <a:lnTo>
                  <a:pt x="1294" y="251"/>
                </a:lnTo>
                <a:lnTo>
                  <a:pt x="1279" y="248"/>
                </a:lnTo>
                <a:lnTo>
                  <a:pt x="1268" y="247"/>
                </a:lnTo>
                <a:lnTo>
                  <a:pt x="1259" y="244"/>
                </a:lnTo>
                <a:lnTo>
                  <a:pt x="1248" y="241"/>
                </a:lnTo>
                <a:lnTo>
                  <a:pt x="1237" y="242"/>
                </a:lnTo>
                <a:lnTo>
                  <a:pt x="1222" y="244"/>
                </a:lnTo>
                <a:lnTo>
                  <a:pt x="1208" y="247"/>
                </a:lnTo>
                <a:lnTo>
                  <a:pt x="1198" y="246"/>
                </a:lnTo>
                <a:lnTo>
                  <a:pt x="1183" y="245"/>
                </a:lnTo>
                <a:lnTo>
                  <a:pt x="1169" y="242"/>
                </a:lnTo>
                <a:lnTo>
                  <a:pt x="1155" y="242"/>
                </a:lnTo>
                <a:lnTo>
                  <a:pt x="1143" y="245"/>
                </a:lnTo>
                <a:lnTo>
                  <a:pt x="1124" y="247"/>
                </a:lnTo>
                <a:lnTo>
                  <a:pt x="1112" y="247"/>
                </a:lnTo>
                <a:lnTo>
                  <a:pt x="1096" y="245"/>
                </a:lnTo>
                <a:lnTo>
                  <a:pt x="1082" y="244"/>
                </a:lnTo>
                <a:lnTo>
                  <a:pt x="1066" y="247"/>
                </a:lnTo>
                <a:lnTo>
                  <a:pt x="1053" y="251"/>
                </a:lnTo>
                <a:lnTo>
                  <a:pt x="1035" y="255"/>
                </a:lnTo>
                <a:lnTo>
                  <a:pt x="1021" y="256"/>
                </a:lnTo>
                <a:lnTo>
                  <a:pt x="1005" y="258"/>
                </a:lnTo>
                <a:lnTo>
                  <a:pt x="992" y="258"/>
                </a:lnTo>
                <a:lnTo>
                  <a:pt x="976" y="256"/>
                </a:lnTo>
                <a:lnTo>
                  <a:pt x="960" y="252"/>
                </a:lnTo>
                <a:lnTo>
                  <a:pt x="943" y="256"/>
                </a:lnTo>
                <a:lnTo>
                  <a:pt x="932" y="257"/>
                </a:lnTo>
                <a:lnTo>
                  <a:pt x="918" y="257"/>
                </a:lnTo>
                <a:lnTo>
                  <a:pt x="905" y="256"/>
                </a:lnTo>
                <a:lnTo>
                  <a:pt x="891" y="256"/>
                </a:lnTo>
                <a:lnTo>
                  <a:pt x="877" y="258"/>
                </a:lnTo>
                <a:lnTo>
                  <a:pt x="864" y="263"/>
                </a:lnTo>
                <a:lnTo>
                  <a:pt x="852" y="266"/>
                </a:lnTo>
                <a:lnTo>
                  <a:pt x="837" y="271"/>
                </a:lnTo>
                <a:lnTo>
                  <a:pt x="823" y="273"/>
                </a:lnTo>
                <a:lnTo>
                  <a:pt x="807" y="275"/>
                </a:lnTo>
                <a:lnTo>
                  <a:pt x="791" y="277"/>
                </a:lnTo>
                <a:lnTo>
                  <a:pt x="770" y="275"/>
                </a:lnTo>
                <a:lnTo>
                  <a:pt x="751" y="273"/>
                </a:lnTo>
                <a:lnTo>
                  <a:pt x="738" y="275"/>
                </a:lnTo>
                <a:lnTo>
                  <a:pt x="720" y="277"/>
                </a:lnTo>
                <a:lnTo>
                  <a:pt x="707" y="277"/>
                </a:lnTo>
                <a:lnTo>
                  <a:pt x="692" y="278"/>
                </a:lnTo>
                <a:lnTo>
                  <a:pt x="679" y="278"/>
                </a:lnTo>
                <a:lnTo>
                  <a:pt x="660" y="277"/>
                </a:lnTo>
                <a:lnTo>
                  <a:pt x="644" y="273"/>
                </a:lnTo>
                <a:lnTo>
                  <a:pt x="633" y="269"/>
                </a:lnTo>
                <a:lnTo>
                  <a:pt x="620" y="269"/>
                </a:lnTo>
                <a:lnTo>
                  <a:pt x="606" y="268"/>
                </a:lnTo>
                <a:lnTo>
                  <a:pt x="592" y="271"/>
                </a:lnTo>
                <a:lnTo>
                  <a:pt x="576" y="273"/>
                </a:lnTo>
                <a:lnTo>
                  <a:pt x="563" y="275"/>
                </a:lnTo>
                <a:lnTo>
                  <a:pt x="551" y="275"/>
                </a:lnTo>
                <a:lnTo>
                  <a:pt x="542" y="273"/>
                </a:lnTo>
                <a:lnTo>
                  <a:pt x="529" y="269"/>
                </a:lnTo>
                <a:lnTo>
                  <a:pt x="516" y="268"/>
                </a:lnTo>
                <a:lnTo>
                  <a:pt x="503" y="269"/>
                </a:lnTo>
                <a:lnTo>
                  <a:pt x="491" y="271"/>
                </a:lnTo>
                <a:lnTo>
                  <a:pt x="476" y="273"/>
                </a:lnTo>
                <a:lnTo>
                  <a:pt x="458" y="275"/>
                </a:lnTo>
                <a:lnTo>
                  <a:pt x="443" y="275"/>
                </a:lnTo>
                <a:lnTo>
                  <a:pt x="428" y="273"/>
                </a:lnTo>
                <a:lnTo>
                  <a:pt x="412" y="276"/>
                </a:lnTo>
                <a:lnTo>
                  <a:pt x="397" y="278"/>
                </a:lnTo>
                <a:lnTo>
                  <a:pt x="381" y="282"/>
                </a:lnTo>
                <a:lnTo>
                  <a:pt x="365" y="286"/>
                </a:lnTo>
                <a:lnTo>
                  <a:pt x="343" y="290"/>
                </a:lnTo>
                <a:lnTo>
                  <a:pt x="319" y="291"/>
                </a:lnTo>
                <a:lnTo>
                  <a:pt x="293" y="291"/>
                </a:lnTo>
                <a:lnTo>
                  <a:pt x="270" y="290"/>
                </a:lnTo>
                <a:lnTo>
                  <a:pt x="242" y="291"/>
                </a:lnTo>
                <a:lnTo>
                  <a:pt x="227" y="291"/>
                </a:lnTo>
                <a:lnTo>
                  <a:pt x="213" y="289"/>
                </a:lnTo>
                <a:lnTo>
                  <a:pt x="197" y="291"/>
                </a:lnTo>
                <a:lnTo>
                  <a:pt x="179" y="290"/>
                </a:lnTo>
                <a:lnTo>
                  <a:pt x="152" y="280"/>
                </a:lnTo>
                <a:lnTo>
                  <a:pt x="133" y="281"/>
                </a:lnTo>
                <a:lnTo>
                  <a:pt x="116" y="283"/>
                </a:lnTo>
                <a:lnTo>
                  <a:pt x="98" y="283"/>
                </a:lnTo>
                <a:lnTo>
                  <a:pt x="82" y="283"/>
                </a:lnTo>
                <a:lnTo>
                  <a:pt x="64" y="281"/>
                </a:lnTo>
                <a:lnTo>
                  <a:pt x="47" y="278"/>
                </a:lnTo>
                <a:lnTo>
                  <a:pt x="31" y="273"/>
                </a:lnTo>
                <a:lnTo>
                  <a:pt x="16" y="270"/>
                </a:lnTo>
                <a:lnTo>
                  <a:pt x="1" y="266"/>
                </a:lnTo>
                <a:lnTo>
                  <a:pt x="0" y="262"/>
                </a:lnTo>
              </a:path>
            </a:pathLst>
          </a:custGeom>
          <a:pattFill prst="pct50">
            <a:fgClr>
              <a:schemeClr val="tx1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2544" name="Group 21"/>
          <p:cNvGrpSpPr>
            <a:grpSpLocks/>
          </p:cNvGrpSpPr>
          <p:nvPr/>
        </p:nvGrpSpPr>
        <p:grpSpPr bwMode="auto">
          <a:xfrm>
            <a:off x="2100263" y="2784873"/>
            <a:ext cx="273844" cy="163115"/>
            <a:chOff x="1034" y="2492"/>
            <a:chExt cx="223" cy="137"/>
          </a:xfrm>
        </p:grpSpPr>
        <p:sp>
          <p:nvSpPr>
            <p:cNvPr id="23189" name="Freeform 22" descr="50%"/>
            <p:cNvSpPr>
              <a:spLocks/>
            </p:cNvSpPr>
            <p:nvPr/>
          </p:nvSpPr>
          <p:spPr bwMode="auto">
            <a:xfrm>
              <a:off x="1034" y="2495"/>
              <a:ext cx="223" cy="134"/>
            </a:xfrm>
            <a:custGeom>
              <a:avLst/>
              <a:gdLst>
                <a:gd name="T0" fmla="*/ 208 w 223"/>
                <a:gd name="T1" fmla="*/ 120 h 134"/>
                <a:gd name="T2" fmla="*/ 196 w 223"/>
                <a:gd name="T3" fmla="*/ 108 h 134"/>
                <a:gd name="T4" fmla="*/ 188 w 223"/>
                <a:gd name="T5" fmla="*/ 100 h 134"/>
                <a:gd name="T6" fmla="*/ 182 w 223"/>
                <a:gd name="T7" fmla="*/ 93 h 134"/>
                <a:gd name="T8" fmla="*/ 176 w 223"/>
                <a:gd name="T9" fmla="*/ 86 h 134"/>
                <a:gd name="T10" fmla="*/ 170 w 223"/>
                <a:gd name="T11" fmla="*/ 78 h 134"/>
                <a:gd name="T12" fmla="*/ 164 w 223"/>
                <a:gd name="T13" fmla="*/ 71 h 134"/>
                <a:gd name="T14" fmla="*/ 159 w 223"/>
                <a:gd name="T15" fmla="*/ 63 h 134"/>
                <a:gd name="T16" fmla="*/ 154 w 223"/>
                <a:gd name="T17" fmla="*/ 53 h 134"/>
                <a:gd name="T18" fmla="*/ 150 w 223"/>
                <a:gd name="T19" fmla="*/ 43 h 134"/>
                <a:gd name="T20" fmla="*/ 146 w 223"/>
                <a:gd name="T21" fmla="*/ 33 h 134"/>
                <a:gd name="T22" fmla="*/ 144 w 223"/>
                <a:gd name="T23" fmla="*/ 23 h 134"/>
                <a:gd name="T24" fmla="*/ 144 w 223"/>
                <a:gd name="T25" fmla="*/ 13 h 134"/>
                <a:gd name="T26" fmla="*/ 143 w 223"/>
                <a:gd name="T27" fmla="*/ 0 h 134"/>
                <a:gd name="T28" fmla="*/ 0 w 223"/>
                <a:gd name="T29" fmla="*/ 0 h 134"/>
                <a:gd name="T30" fmla="*/ 4 w 223"/>
                <a:gd name="T31" fmla="*/ 8 h 134"/>
                <a:gd name="T32" fmla="*/ 11 w 223"/>
                <a:gd name="T33" fmla="*/ 19 h 134"/>
                <a:gd name="T34" fmla="*/ 18 w 223"/>
                <a:gd name="T35" fmla="*/ 28 h 134"/>
                <a:gd name="T36" fmla="*/ 26 w 223"/>
                <a:gd name="T37" fmla="*/ 38 h 134"/>
                <a:gd name="T38" fmla="*/ 36 w 223"/>
                <a:gd name="T39" fmla="*/ 48 h 134"/>
                <a:gd name="T40" fmla="*/ 47 w 223"/>
                <a:gd name="T41" fmla="*/ 58 h 134"/>
                <a:gd name="T42" fmla="*/ 58 w 223"/>
                <a:gd name="T43" fmla="*/ 67 h 134"/>
                <a:gd name="T44" fmla="*/ 70 w 223"/>
                <a:gd name="T45" fmla="*/ 76 h 134"/>
                <a:gd name="T46" fmla="*/ 82 w 223"/>
                <a:gd name="T47" fmla="*/ 86 h 134"/>
                <a:gd name="T48" fmla="*/ 98 w 223"/>
                <a:gd name="T49" fmla="*/ 97 h 134"/>
                <a:gd name="T50" fmla="*/ 111 w 223"/>
                <a:gd name="T51" fmla="*/ 104 h 134"/>
                <a:gd name="T52" fmla="*/ 123 w 223"/>
                <a:gd name="T53" fmla="*/ 110 h 134"/>
                <a:gd name="T54" fmla="*/ 135 w 223"/>
                <a:gd name="T55" fmla="*/ 115 h 134"/>
                <a:gd name="T56" fmla="*/ 147 w 223"/>
                <a:gd name="T57" fmla="*/ 120 h 134"/>
                <a:gd name="T58" fmla="*/ 159 w 223"/>
                <a:gd name="T59" fmla="*/ 124 h 134"/>
                <a:gd name="T60" fmla="*/ 173 w 223"/>
                <a:gd name="T61" fmla="*/ 127 h 134"/>
                <a:gd name="T62" fmla="*/ 189 w 223"/>
                <a:gd name="T63" fmla="*/ 130 h 134"/>
                <a:gd name="T64" fmla="*/ 201 w 223"/>
                <a:gd name="T65" fmla="*/ 131 h 134"/>
                <a:gd name="T66" fmla="*/ 213 w 223"/>
                <a:gd name="T67" fmla="*/ 132 h 134"/>
                <a:gd name="T68" fmla="*/ 222 w 223"/>
                <a:gd name="T69" fmla="*/ 133 h 134"/>
                <a:gd name="T70" fmla="*/ 208 w 223"/>
                <a:gd name="T71" fmla="*/ 120 h 1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23" h="134">
                  <a:moveTo>
                    <a:pt x="208" y="120"/>
                  </a:moveTo>
                  <a:lnTo>
                    <a:pt x="196" y="108"/>
                  </a:lnTo>
                  <a:lnTo>
                    <a:pt x="188" y="100"/>
                  </a:lnTo>
                  <a:lnTo>
                    <a:pt x="182" y="93"/>
                  </a:lnTo>
                  <a:lnTo>
                    <a:pt x="176" y="86"/>
                  </a:lnTo>
                  <a:lnTo>
                    <a:pt x="170" y="78"/>
                  </a:lnTo>
                  <a:lnTo>
                    <a:pt x="164" y="71"/>
                  </a:lnTo>
                  <a:lnTo>
                    <a:pt x="159" y="63"/>
                  </a:lnTo>
                  <a:lnTo>
                    <a:pt x="154" y="53"/>
                  </a:lnTo>
                  <a:lnTo>
                    <a:pt x="150" y="43"/>
                  </a:lnTo>
                  <a:lnTo>
                    <a:pt x="146" y="33"/>
                  </a:lnTo>
                  <a:lnTo>
                    <a:pt x="144" y="23"/>
                  </a:lnTo>
                  <a:lnTo>
                    <a:pt x="144" y="13"/>
                  </a:lnTo>
                  <a:lnTo>
                    <a:pt x="143" y="0"/>
                  </a:lnTo>
                  <a:lnTo>
                    <a:pt x="0" y="0"/>
                  </a:lnTo>
                  <a:lnTo>
                    <a:pt x="4" y="8"/>
                  </a:lnTo>
                  <a:lnTo>
                    <a:pt x="11" y="19"/>
                  </a:lnTo>
                  <a:lnTo>
                    <a:pt x="18" y="28"/>
                  </a:lnTo>
                  <a:lnTo>
                    <a:pt x="26" y="38"/>
                  </a:lnTo>
                  <a:lnTo>
                    <a:pt x="36" y="48"/>
                  </a:lnTo>
                  <a:lnTo>
                    <a:pt x="47" y="58"/>
                  </a:lnTo>
                  <a:lnTo>
                    <a:pt x="58" y="67"/>
                  </a:lnTo>
                  <a:lnTo>
                    <a:pt x="70" y="76"/>
                  </a:lnTo>
                  <a:lnTo>
                    <a:pt x="82" y="86"/>
                  </a:lnTo>
                  <a:lnTo>
                    <a:pt x="98" y="97"/>
                  </a:lnTo>
                  <a:lnTo>
                    <a:pt x="111" y="104"/>
                  </a:lnTo>
                  <a:lnTo>
                    <a:pt x="123" y="110"/>
                  </a:lnTo>
                  <a:lnTo>
                    <a:pt x="135" y="115"/>
                  </a:lnTo>
                  <a:lnTo>
                    <a:pt x="147" y="120"/>
                  </a:lnTo>
                  <a:lnTo>
                    <a:pt x="159" y="124"/>
                  </a:lnTo>
                  <a:lnTo>
                    <a:pt x="173" y="127"/>
                  </a:lnTo>
                  <a:lnTo>
                    <a:pt x="189" y="130"/>
                  </a:lnTo>
                  <a:lnTo>
                    <a:pt x="201" y="131"/>
                  </a:lnTo>
                  <a:lnTo>
                    <a:pt x="213" y="132"/>
                  </a:lnTo>
                  <a:lnTo>
                    <a:pt x="222" y="133"/>
                  </a:lnTo>
                  <a:lnTo>
                    <a:pt x="208" y="12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90" name="Freeform 23" descr="50%"/>
            <p:cNvSpPr>
              <a:spLocks/>
            </p:cNvSpPr>
            <p:nvPr/>
          </p:nvSpPr>
          <p:spPr bwMode="auto">
            <a:xfrm>
              <a:off x="1038" y="2492"/>
              <a:ext cx="132" cy="2"/>
            </a:xfrm>
            <a:custGeom>
              <a:avLst/>
              <a:gdLst>
                <a:gd name="T0" fmla="*/ 1 w 132"/>
                <a:gd name="T1" fmla="*/ 0 h 2"/>
                <a:gd name="T2" fmla="*/ 0 w 132"/>
                <a:gd name="T3" fmla="*/ 0 h 2"/>
                <a:gd name="T4" fmla="*/ 3 w 132"/>
                <a:gd name="T5" fmla="*/ 1 h 2"/>
                <a:gd name="T6" fmla="*/ 131 w 132"/>
                <a:gd name="T7" fmla="*/ 1 h 2"/>
                <a:gd name="T8" fmla="*/ 131 w 132"/>
                <a:gd name="T9" fmla="*/ 0 h 2"/>
                <a:gd name="T10" fmla="*/ 1 w 132"/>
                <a:gd name="T11" fmla="*/ 0 h 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2" h="2">
                  <a:moveTo>
                    <a:pt x="1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131" y="1"/>
                  </a:lnTo>
                  <a:lnTo>
                    <a:pt x="131" y="0"/>
                  </a:lnTo>
                  <a:lnTo>
                    <a:pt x="1" y="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45" name="Freeform 24" descr="50%"/>
          <p:cNvSpPr>
            <a:spLocks/>
          </p:cNvSpPr>
          <p:nvPr/>
        </p:nvSpPr>
        <p:spPr bwMode="auto">
          <a:xfrm>
            <a:off x="4012406" y="2657475"/>
            <a:ext cx="152400" cy="110729"/>
          </a:xfrm>
          <a:custGeom>
            <a:avLst/>
            <a:gdLst>
              <a:gd name="T0" fmla="*/ 0 w 124"/>
              <a:gd name="T1" fmla="*/ 0 h 93"/>
              <a:gd name="T2" fmla="*/ 8194 w 124"/>
              <a:gd name="T3" fmla="*/ 14288 h 93"/>
              <a:gd name="T4" fmla="*/ 18026 w 124"/>
              <a:gd name="T5" fmla="*/ 30163 h 93"/>
              <a:gd name="T6" fmla="*/ 29497 w 124"/>
              <a:gd name="T7" fmla="*/ 46038 h 93"/>
              <a:gd name="T8" fmla="*/ 40968 w 124"/>
              <a:gd name="T9" fmla="*/ 60325 h 93"/>
              <a:gd name="T10" fmla="*/ 57355 w 124"/>
              <a:gd name="T11" fmla="*/ 76200 h 93"/>
              <a:gd name="T12" fmla="*/ 72103 w 124"/>
              <a:gd name="T13" fmla="*/ 92075 h 93"/>
              <a:gd name="T14" fmla="*/ 85213 w 124"/>
              <a:gd name="T15" fmla="*/ 103188 h 93"/>
              <a:gd name="T16" fmla="*/ 98323 w 124"/>
              <a:gd name="T17" fmla="*/ 114300 h 93"/>
              <a:gd name="T18" fmla="*/ 113071 w 124"/>
              <a:gd name="T19" fmla="*/ 123825 h 93"/>
              <a:gd name="T20" fmla="*/ 129458 w 124"/>
              <a:gd name="T21" fmla="*/ 131763 h 93"/>
              <a:gd name="T22" fmla="*/ 144206 w 124"/>
              <a:gd name="T23" fmla="*/ 138113 h 93"/>
              <a:gd name="T24" fmla="*/ 160594 w 124"/>
              <a:gd name="T25" fmla="*/ 142875 h 93"/>
              <a:gd name="T26" fmla="*/ 178619 w 124"/>
              <a:gd name="T27" fmla="*/ 146050 h 93"/>
              <a:gd name="T28" fmla="*/ 193368 w 124"/>
              <a:gd name="T29" fmla="*/ 146050 h 93"/>
              <a:gd name="T30" fmla="*/ 201561 w 124"/>
              <a:gd name="T31" fmla="*/ 144463 h 93"/>
              <a:gd name="T32" fmla="*/ 191729 w 124"/>
              <a:gd name="T33" fmla="*/ 134938 h 93"/>
              <a:gd name="T34" fmla="*/ 180258 w 124"/>
              <a:gd name="T35" fmla="*/ 122238 h 93"/>
              <a:gd name="T36" fmla="*/ 170426 w 124"/>
              <a:gd name="T37" fmla="*/ 109538 h 93"/>
              <a:gd name="T38" fmla="*/ 158955 w 124"/>
              <a:gd name="T39" fmla="*/ 93663 h 93"/>
              <a:gd name="T40" fmla="*/ 149123 w 124"/>
              <a:gd name="T41" fmla="*/ 79375 h 93"/>
              <a:gd name="T42" fmla="*/ 140929 w 124"/>
              <a:gd name="T43" fmla="*/ 65088 h 93"/>
              <a:gd name="T44" fmla="*/ 136013 w 124"/>
              <a:gd name="T45" fmla="*/ 50800 h 93"/>
              <a:gd name="T46" fmla="*/ 131097 w 124"/>
              <a:gd name="T47" fmla="*/ 30163 h 93"/>
              <a:gd name="T48" fmla="*/ 131097 w 124"/>
              <a:gd name="T49" fmla="*/ 14288 h 93"/>
              <a:gd name="T50" fmla="*/ 131097 w 124"/>
              <a:gd name="T51" fmla="*/ 1588 h 93"/>
              <a:gd name="T52" fmla="*/ 0 w 124"/>
              <a:gd name="T53" fmla="*/ 0 h 93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124" h="93">
                <a:moveTo>
                  <a:pt x="0" y="0"/>
                </a:moveTo>
                <a:lnTo>
                  <a:pt x="5" y="9"/>
                </a:lnTo>
                <a:lnTo>
                  <a:pt x="11" y="19"/>
                </a:lnTo>
                <a:lnTo>
                  <a:pt x="18" y="29"/>
                </a:lnTo>
                <a:lnTo>
                  <a:pt x="25" y="38"/>
                </a:lnTo>
                <a:lnTo>
                  <a:pt x="35" y="48"/>
                </a:lnTo>
                <a:lnTo>
                  <a:pt x="44" y="58"/>
                </a:lnTo>
                <a:lnTo>
                  <a:pt x="52" y="65"/>
                </a:lnTo>
                <a:lnTo>
                  <a:pt x="60" y="72"/>
                </a:lnTo>
                <a:lnTo>
                  <a:pt x="69" y="78"/>
                </a:lnTo>
                <a:lnTo>
                  <a:pt x="79" y="83"/>
                </a:lnTo>
                <a:lnTo>
                  <a:pt x="88" y="87"/>
                </a:lnTo>
                <a:lnTo>
                  <a:pt x="98" y="90"/>
                </a:lnTo>
                <a:lnTo>
                  <a:pt x="109" y="92"/>
                </a:lnTo>
                <a:lnTo>
                  <a:pt x="118" y="92"/>
                </a:lnTo>
                <a:lnTo>
                  <a:pt x="123" y="91"/>
                </a:lnTo>
                <a:lnTo>
                  <a:pt x="117" y="85"/>
                </a:lnTo>
                <a:lnTo>
                  <a:pt x="110" y="77"/>
                </a:lnTo>
                <a:lnTo>
                  <a:pt x="104" y="69"/>
                </a:lnTo>
                <a:lnTo>
                  <a:pt x="97" y="59"/>
                </a:lnTo>
                <a:lnTo>
                  <a:pt x="91" y="50"/>
                </a:lnTo>
                <a:lnTo>
                  <a:pt x="86" y="41"/>
                </a:lnTo>
                <a:lnTo>
                  <a:pt x="83" y="32"/>
                </a:lnTo>
                <a:lnTo>
                  <a:pt x="80" y="19"/>
                </a:lnTo>
                <a:lnTo>
                  <a:pt x="80" y="9"/>
                </a:lnTo>
                <a:lnTo>
                  <a:pt x="80" y="1"/>
                </a:lnTo>
                <a:lnTo>
                  <a:pt x="0" y="0"/>
                </a:lnTo>
              </a:path>
            </a:pathLst>
          </a:custGeom>
          <a:pattFill prst="pct50">
            <a:fgClr>
              <a:schemeClr val="tx1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6" name="Freeform 25" descr="50%"/>
          <p:cNvSpPr>
            <a:spLocks/>
          </p:cNvSpPr>
          <p:nvPr/>
        </p:nvSpPr>
        <p:spPr bwMode="auto">
          <a:xfrm>
            <a:off x="3684985" y="2389585"/>
            <a:ext cx="1295400" cy="357188"/>
          </a:xfrm>
          <a:custGeom>
            <a:avLst/>
            <a:gdLst>
              <a:gd name="T0" fmla="*/ 18043 w 1053"/>
              <a:gd name="T1" fmla="*/ 282575 h 300"/>
              <a:gd name="T2" fmla="*/ 70531 w 1053"/>
              <a:gd name="T3" fmla="*/ 261938 h 300"/>
              <a:gd name="T4" fmla="*/ 150904 w 1053"/>
              <a:gd name="T5" fmla="*/ 239713 h 300"/>
              <a:gd name="T6" fmla="*/ 234558 w 1053"/>
              <a:gd name="T7" fmla="*/ 222250 h 300"/>
              <a:gd name="T8" fmla="*/ 318212 w 1053"/>
              <a:gd name="T9" fmla="*/ 207963 h 300"/>
              <a:gd name="T10" fmla="*/ 403505 w 1053"/>
              <a:gd name="T11" fmla="*/ 193675 h 300"/>
              <a:gd name="T12" fmla="*/ 474037 w 1053"/>
              <a:gd name="T13" fmla="*/ 179388 h 300"/>
              <a:gd name="T14" fmla="*/ 515043 w 1053"/>
              <a:gd name="T15" fmla="*/ 158750 h 300"/>
              <a:gd name="T16" fmla="*/ 556050 w 1053"/>
              <a:gd name="T17" fmla="*/ 120650 h 300"/>
              <a:gd name="T18" fmla="*/ 615100 w 1053"/>
              <a:gd name="T19" fmla="*/ 65088 h 300"/>
              <a:gd name="T20" fmla="*/ 675790 w 1053"/>
              <a:gd name="T21" fmla="*/ 15875 h 300"/>
              <a:gd name="T22" fmla="*/ 718436 w 1053"/>
              <a:gd name="T23" fmla="*/ 57150 h 300"/>
              <a:gd name="T24" fmla="*/ 743040 w 1053"/>
              <a:gd name="T25" fmla="*/ 139700 h 300"/>
              <a:gd name="T26" fmla="*/ 757803 w 1053"/>
              <a:gd name="T27" fmla="*/ 173038 h 300"/>
              <a:gd name="T28" fmla="*/ 857859 w 1053"/>
              <a:gd name="T29" fmla="*/ 188913 h 300"/>
              <a:gd name="T30" fmla="*/ 957915 w 1053"/>
              <a:gd name="T31" fmla="*/ 206375 h 300"/>
              <a:gd name="T32" fmla="*/ 1033368 w 1053"/>
              <a:gd name="T33" fmla="*/ 206375 h 300"/>
              <a:gd name="T34" fmla="*/ 1113741 w 1053"/>
              <a:gd name="T35" fmla="*/ 192088 h 300"/>
              <a:gd name="T36" fmla="*/ 1176071 w 1053"/>
              <a:gd name="T37" fmla="*/ 231775 h 300"/>
              <a:gd name="T38" fmla="*/ 1236760 w 1053"/>
              <a:gd name="T39" fmla="*/ 247650 h 300"/>
              <a:gd name="T40" fmla="*/ 1312213 w 1053"/>
              <a:gd name="T41" fmla="*/ 247650 h 300"/>
              <a:gd name="T42" fmla="*/ 1392586 w 1053"/>
              <a:gd name="T43" fmla="*/ 219075 h 300"/>
              <a:gd name="T44" fmla="*/ 1482800 w 1053"/>
              <a:gd name="T45" fmla="*/ 149225 h 300"/>
              <a:gd name="T46" fmla="*/ 1587777 w 1053"/>
              <a:gd name="T47" fmla="*/ 68263 h 300"/>
              <a:gd name="T48" fmla="*/ 1692754 w 1053"/>
              <a:gd name="T49" fmla="*/ 34925 h 300"/>
              <a:gd name="T50" fmla="*/ 1696035 w 1053"/>
              <a:gd name="T51" fmla="*/ 61913 h 300"/>
              <a:gd name="T52" fmla="*/ 1646827 w 1053"/>
              <a:gd name="T53" fmla="*/ 120650 h 300"/>
              <a:gd name="T54" fmla="*/ 1587777 w 1053"/>
              <a:gd name="T55" fmla="*/ 177800 h 300"/>
              <a:gd name="T56" fmla="*/ 1550051 w 1053"/>
              <a:gd name="T57" fmla="*/ 234950 h 300"/>
              <a:gd name="T58" fmla="*/ 1550051 w 1053"/>
              <a:gd name="T59" fmla="*/ 293688 h 300"/>
              <a:gd name="T60" fmla="*/ 1591058 w 1053"/>
              <a:gd name="T61" fmla="*/ 355600 h 300"/>
              <a:gd name="T62" fmla="*/ 1643546 w 1053"/>
              <a:gd name="T63" fmla="*/ 400050 h 300"/>
              <a:gd name="T64" fmla="*/ 1691114 w 1053"/>
              <a:gd name="T65" fmla="*/ 438150 h 300"/>
              <a:gd name="T66" fmla="*/ 1692754 w 1053"/>
              <a:gd name="T67" fmla="*/ 455613 h 300"/>
              <a:gd name="T68" fmla="*/ 1627144 w 1053"/>
              <a:gd name="T69" fmla="*/ 454025 h 300"/>
              <a:gd name="T70" fmla="*/ 1569734 w 1053"/>
              <a:gd name="T71" fmla="*/ 441325 h 300"/>
              <a:gd name="T72" fmla="*/ 1513965 w 1053"/>
              <a:gd name="T73" fmla="*/ 414338 h 300"/>
              <a:gd name="T74" fmla="*/ 1423751 w 1053"/>
              <a:gd name="T75" fmla="*/ 360363 h 300"/>
              <a:gd name="T76" fmla="*/ 1312213 w 1053"/>
              <a:gd name="T77" fmla="*/ 352425 h 300"/>
              <a:gd name="T78" fmla="*/ 1177711 w 1053"/>
              <a:gd name="T79" fmla="*/ 366713 h 300"/>
              <a:gd name="T80" fmla="*/ 1092417 w 1053"/>
              <a:gd name="T81" fmla="*/ 398463 h 300"/>
              <a:gd name="T82" fmla="*/ 1064533 w 1053"/>
              <a:gd name="T83" fmla="*/ 434975 h 300"/>
              <a:gd name="T84" fmla="*/ 944793 w 1053"/>
              <a:gd name="T85" fmla="*/ 431800 h 300"/>
              <a:gd name="T86" fmla="*/ 843097 w 1053"/>
              <a:gd name="T87" fmla="*/ 461963 h 300"/>
              <a:gd name="T88" fmla="*/ 467476 w 1053"/>
              <a:gd name="T89" fmla="*/ 474663 h 300"/>
              <a:gd name="T90" fmla="*/ 250961 w 1053"/>
              <a:gd name="T91" fmla="*/ 454025 h 300"/>
              <a:gd name="T92" fmla="*/ 62330 w 1053"/>
              <a:gd name="T93" fmla="*/ 393700 h 300"/>
              <a:gd name="T94" fmla="*/ 62330 w 1053"/>
              <a:gd name="T95" fmla="*/ 363538 h 300"/>
              <a:gd name="T96" fmla="*/ 19683 w 1053"/>
              <a:gd name="T97" fmla="*/ 327025 h 300"/>
              <a:gd name="T98" fmla="*/ 3281 w 1053"/>
              <a:gd name="T99" fmla="*/ 301625 h 300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053" h="300">
                <a:moveTo>
                  <a:pt x="0" y="185"/>
                </a:moveTo>
                <a:lnTo>
                  <a:pt x="4" y="182"/>
                </a:lnTo>
                <a:lnTo>
                  <a:pt x="11" y="178"/>
                </a:lnTo>
                <a:lnTo>
                  <a:pt x="24" y="173"/>
                </a:lnTo>
                <a:lnTo>
                  <a:pt x="33" y="169"/>
                </a:lnTo>
                <a:lnTo>
                  <a:pt x="43" y="165"/>
                </a:lnTo>
                <a:lnTo>
                  <a:pt x="60" y="160"/>
                </a:lnTo>
                <a:lnTo>
                  <a:pt x="76" y="155"/>
                </a:lnTo>
                <a:lnTo>
                  <a:pt x="92" y="151"/>
                </a:lnTo>
                <a:lnTo>
                  <a:pt x="108" y="147"/>
                </a:lnTo>
                <a:lnTo>
                  <a:pt x="125" y="144"/>
                </a:lnTo>
                <a:lnTo>
                  <a:pt x="143" y="140"/>
                </a:lnTo>
                <a:lnTo>
                  <a:pt x="162" y="137"/>
                </a:lnTo>
                <a:lnTo>
                  <a:pt x="178" y="134"/>
                </a:lnTo>
                <a:lnTo>
                  <a:pt x="194" y="131"/>
                </a:lnTo>
                <a:lnTo>
                  <a:pt x="209" y="128"/>
                </a:lnTo>
                <a:lnTo>
                  <a:pt x="229" y="124"/>
                </a:lnTo>
                <a:lnTo>
                  <a:pt x="246" y="122"/>
                </a:lnTo>
                <a:lnTo>
                  <a:pt x="263" y="119"/>
                </a:lnTo>
                <a:lnTo>
                  <a:pt x="277" y="117"/>
                </a:lnTo>
                <a:lnTo>
                  <a:pt x="289" y="113"/>
                </a:lnTo>
                <a:lnTo>
                  <a:pt x="300" y="109"/>
                </a:lnTo>
                <a:lnTo>
                  <a:pt x="307" y="105"/>
                </a:lnTo>
                <a:lnTo>
                  <a:pt x="314" y="100"/>
                </a:lnTo>
                <a:lnTo>
                  <a:pt x="321" y="93"/>
                </a:lnTo>
                <a:lnTo>
                  <a:pt x="329" y="85"/>
                </a:lnTo>
                <a:lnTo>
                  <a:pt x="339" y="76"/>
                </a:lnTo>
                <a:lnTo>
                  <a:pt x="350" y="64"/>
                </a:lnTo>
                <a:lnTo>
                  <a:pt x="362" y="53"/>
                </a:lnTo>
                <a:lnTo>
                  <a:pt x="375" y="41"/>
                </a:lnTo>
                <a:lnTo>
                  <a:pt x="386" y="30"/>
                </a:lnTo>
                <a:lnTo>
                  <a:pt x="399" y="21"/>
                </a:lnTo>
                <a:lnTo>
                  <a:pt x="412" y="10"/>
                </a:lnTo>
                <a:lnTo>
                  <a:pt x="427" y="0"/>
                </a:lnTo>
                <a:lnTo>
                  <a:pt x="432" y="19"/>
                </a:lnTo>
                <a:lnTo>
                  <a:pt x="438" y="36"/>
                </a:lnTo>
                <a:lnTo>
                  <a:pt x="444" y="54"/>
                </a:lnTo>
                <a:lnTo>
                  <a:pt x="450" y="73"/>
                </a:lnTo>
                <a:lnTo>
                  <a:pt x="453" y="88"/>
                </a:lnTo>
                <a:lnTo>
                  <a:pt x="452" y="98"/>
                </a:lnTo>
                <a:lnTo>
                  <a:pt x="446" y="107"/>
                </a:lnTo>
                <a:lnTo>
                  <a:pt x="462" y="109"/>
                </a:lnTo>
                <a:lnTo>
                  <a:pt x="479" y="112"/>
                </a:lnTo>
                <a:lnTo>
                  <a:pt x="500" y="116"/>
                </a:lnTo>
                <a:lnTo>
                  <a:pt x="523" y="119"/>
                </a:lnTo>
                <a:lnTo>
                  <a:pt x="546" y="124"/>
                </a:lnTo>
                <a:lnTo>
                  <a:pt x="565" y="127"/>
                </a:lnTo>
                <a:lnTo>
                  <a:pt x="584" y="130"/>
                </a:lnTo>
                <a:lnTo>
                  <a:pt x="602" y="132"/>
                </a:lnTo>
                <a:lnTo>
                  <a:pt x="618" y="134"/>
                </a:lnTo>
                <a:lnTo>
                  <a:pt x="630" y="130"/>
                </a:lnTo>
                <a:lnTo>
                  <a:pt x="642" y="124"/>
                </a:lnTo>
                <a:lnTo>
                  <a:pt x="653" y="117"/>
                </a:lnTo>
                <a:lnTo>
                  <a:pt x="679" y="121"/>
                </a:lnTo>
                <a:lnTo>
                  <a:pt x="707" y="127"/>
                </a:lnTo>
                <a:lnTo>
                  <a:pt x="731" y="132"/>
                </a:lnTo>
                <a:lnTo>
                  <a:pt x="717" y="146"/>
                </a:lnTo>
                <a:lnTo>
                  <a:pt x="726" y="149"/>
                </a:lnTo>
                <a:lnTo>
                  <a:pt x="739" y="153"/>
                </a:lnTo>
                <a:lnTo>
                  <a:pt x="754" y="156"/>
                </a:lnTo>
                <a:lnTo>
                  <a:pt x="770" y="159"/>
                </a:lnTo>
                <a:lnTo>
                  <a:pt x="784" y="157"/>
                </a:lnTo>
                <a:lnTo>
                  <a:pt x="800" y="156"/>
                </a:lnTo>
                <a:lnTo>
                  <a:pt x="817" y="152"/>
                </a:lnTo>
                <a:lnTo>
                  <a:pt x="834" y="147"/>
                </a:lnTo>
                <a:lnTo>
                  <a:pt x="849" y="138"/>
                </a:lnTo>
                <a:lnTo>
                  <a:pt x="870" y="124"/>
                </a:lnTo>
                <a:lnTo>
                  <a:pt x="885" y="112"/>
                </a:lnTo>
                <a:lnTo>
                  <a:pt x="904" y="94"/>
                </a:lnTo>
                <a:lnTo>
                  <a:pt x="924" y="73"/>
                </a:lnTo>
                <a:lnTo>
                  <a:pt x="948" y="56"/>
                </a:lnTo>
                <a:lnTo>
                  <a:pt x="968" y="43"/>
                </a:lnTo>
                <a:lnTo>
                  <a:pt x="988" y="32"/>
                </a:lnTo>
                <a:lnTo>
                  <a:pt x="1008" y="25"/>
                </a:lnTo>
                <a:lnTo>
                  <a:pt x="1032" y="22"/>
                </a:lnTo>
                <a:lnTo>
                  <a:pt x="1052" y="23"/>
                </a:lnTo>
                <a:lnTo>
                  <a:pt x="1042" y="32"/>
                </a:lnTo>
                <a:lnTo>
                  <a:pt x="1034" y="39"/>
                </a:lnTo>
                <a:lnTo>
                  <a:pt x="1031" y="46"/>
                </a:lnTo>
                <a:lnTo>
                  <a:pt x="1015" y="66"/>
                </a:lnTo>
                <a:lnTo>
                  <a:pt x="1004" y="76"/>
                </a:lnTo>
                <a:lnTo>
                  <a:pt x="990" y="87"/>
                </a:lnTo>
                <a:lnTo>
                  <a:pt x="978" y="100"/>
                </a:lnTo>
                <a:lnTo>
                  <a:pt x="968" y="112"/>
                </a:lnTo>
                <a:lnTo>
                  <a:pt x="959" y="124"/>
                </a:lnTo>
                <a:lnTo>
                  <a:pt x="951" y="137"/>
                </a:lnTo>
                <a:lnTo>
                  <a:pt x="945" y="148"/>
                </a:lnTo>
                <a:lnTo>
                  <a:pt x="941" y="159"/>
                </a:lnTo>
                <a:lnTo>
                  <a:pt x="940" y="172"/>
                </a:lnTo>
                <a:lnTo>
                  <a:pt x="945" y="185"/>
                </a:lnTo>
                <a:lnTo>
                  <a:pt x="951" y="200"/>
                </a:lnTo>
                <a:lnTo>
                  <a:pt x="960" y="212"/>
                </a:lnTo>
                <a:lnTo>
                  <a:pt x="970" y="224"/>
                </a:lnTo>
                <a:lnTo>
                  <a:pt x="980" y="233"/>
                </a:lnTo>
                <a:lnTo>
                  <a:pt x="991" y="242"/>
                </a:lnTo>
                <a:lnTo>
                  <a:pt x="1002" y="252"/>
                </a:lnTo>
                <a:lnTo>
                  <a:pt x="1015" y="263"/>
                </a:lnTo>
                <a:lnTo>
                  <a:pt x="1023" y="270"/>
                </a:lnTo>
                <a:lnTo>
                  <a:pt x="1031" y="276"/>
                </a:lnTo>
                <a:lnTo>
                  <a:pt x="1039" y="281"/>
                </a:lnTo>
                <a:lnTo>
                  <a:pt x="1044" y="287"/>
                </a:lnTo>
                <a:lnTo>
                  <a:pt x="1032" y="287"/>
                </a:lnTo>
                <a:lnTo>
                  <a:pt x="1017" y="287"/>
                </a:lnTo>
                <a:lnTo>
                  <a:pt x="1004" y="288"/>
                </a:lnTo>
                <a:lnTo>
                  <a:pt x="992" y="286"/>
                </a:lnTo>
                <a:lnTo>
                  <a:pt x="978" y="285"/>
                </a:lnTo>
                <a:lnTo>
                  <a:pt x="967" y="281"/>
                </a:lnTo>
                <a:lnTo>
                  <a:pt x="957" y="278"/>
                </a:lnTo>
                <a:lnTo>
                  <a:pt x="946" y="273"/>
                </a:lnTo>
                <a:lnTo>
                  <a:pt x="934" y="267"/>
                </a:lnTo>
                <a:lnTo>
                  <a:pt x="923" y="261"/>
                </a:lnTo>
                <a:lnTo>
                  <a:pt x="903" y="247"/>
                </a:lnTo>
                <a:lnTo>
                  <a:pt x="888" y="238"/>
                </a:lnTo>
                <a:lnTo>
                  <a:pt x="868" y="227"/>
                </a:lnTo>
                <a:lnTo>
                  <a:pt x="848" y="225"/>
                </a:lnTo>
                <a:lnTo>
                  <a:pt x="828" y="225"/>
                </a:lnTo>
                <a:lnTo>
                  <a:pt x="800" y="222"/>
                </a:lnTo>
                <a:lnTo>
                  <a:pt x="775" y="225"/>
                </a:lnTo>
                <a:lnTo>
                  <a:pt x="747" y="226"/>
                </a:lnTo>
                <a:lnTo>
                  <a:pt x="718" y="231"/>
                </a:lnTo>
                <a:lnTo>
                  <a:pt x="688" y="238"/>
                </a:lnTo>
                <a:lnTo>
                  <a:pt x="670" y="245"/>
                </a:lnTo>
                <a:lnTo>
                  <a:pt x="666" y="251"/>
                </a:lnTo>
                <a:lnTo>
                  <a:pt x="670" y="257"/>
                </a:lnTo>
                <a:lnTo>
                  <a:pt x="684" y="266"/>
                </a:lnTo>
                <a:lnTo>
                  <a:pt x="649" y="274"/>
                </a:lnTo>
                <a:lnTo>
                  <a:pt x="600" y="287"/>
                </a:lnTo>
                <a:lnTo>
                  <a:pt x="589" y="278"/>
                </a:lnTo>
                <a:lnTo>
                  <a:pt x="576" y="272"/>
                </a:lnTo>
                <a:lnTo>
                  <a:pt x="562" y="269"/>
                </a:lnTo>
                <a:lnTo>
                  <a:pt x="542" y="268"/>
                </a:lnTo>
                <a:lnTo>
                  <a:pt x="514" y="291"/>
                </a:lnTo>
                <a:lnTo>
                  <a:pt x="491" y="274"/>
                </a:lnTo>
                <a:lnTo>
                  <a:pt x="319" y="297"/>
                </a:lnTo>
                <a:lnTo>
                  <a:pt x="285" y="299"/>
                </a:lnTo>
                <a:lnTo>
                  <a:pt x="253" y="296"/>
                </a:lnTo>
                <a:lnTo>
                  <a:pt x="220" y="294"/>
                </a:lnTo>
                <a:lnTo>
                  <a:pt x="153" y="286"/>
                </a:lnTo>
                <a:lnTo>
                  <a:pt x="93" y="271"/>
                </a:lnTo>
                <a:lnTo>
                  <a:pt x="60" y="260"/>
                </a:lnTo>
                <a:lnTo>
                  <a:pt x="38" y="248"/>
                </a:lnTo>
                <a:lnTo>
                  <a:pt x="62" y="244"/>
                </a:lnTo>
                <a:lnTo>
                  <a:pt x="47" y="235"/>
                </a:lnTo>
                <a:lnTo>
                  <a:pt x="38" y="229"/>
                </a:lnTo>
                <a:lnTo>
                  <a:pt x="21" y="215"/>
                </a:lnTo>
                <a:lnTo>
                  <a:pt x="17" y="212"/>
                </a:lnTo>
                <a:lnTo>
                  <a:pt x="12" y="206"/>
                </a:lnTo>
                <a:lnTo>
                  <a:pt x="9" y="202"/>
                </a:lnTo>
                <a:lnTo>
                  <a:pt x="6" y="195"/>
                </a:lnTo>
                <a:lnTo>
                  <a:pt x="2" y="190"/>
                </a:lnTo>
                <a:lnTo>
                  <a:pt x="0" y="185"/>
                </a:lnTo>
              </a:path>
            </a:pathLst>
          </a:custGeom>
          <a:pattFill prst="pct50">
            <a:fgClr>
              <a:schemeClr val="tx1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2547" name="Group 26"/>
          <p:cNvGrpSpPr>
            <a:grpSpLocks/>
          </p:cNvGrpSpPr>
          <p:nvPr/>
        </p:nvGrpSpPr>
        <p:grpSpPr bwMode="auto">
          <a:xfrm>
            <a:off x="3799285" y="2621757"/>
            <a:ext cx="21431" cy="17860"/>
            <a:chOff x="2416" y="2355"/>
            <a:chExt cx="17" cy="15"/>
          </a:xfrm>
        </p:grpSpPr>
        <p:sp>
          <p:nvSpPr>
            <p:cNvPr id="23187" name="Oval 27" descr="50%"/>
            <p:cNvSpPr>
              <a:spLocks noChangeArrowheads="1"/>
            </p:cNvSpPr>
            <p:nvPr/>
          </p:nvSpPr>
          <p:spPr bwMode="auto">
            <a:xfrm>
              <a:off x="2416" y="2355"/>
              <a:ext cx="16" cy="15"/>
            </a:xfrm>
            <a:prstGeom prst="ellipse">
              <a:avLst/>
            </a:prstGeom>
            <a:pattFill prst="pct50">
              <a:fgClr>
                <a:schemeClr val="tx1"/>
              </a:fgClr>
              <a:bgClr>
                <a:schemeClr val="bg1"/>
              </a:bgClr>
            </a:pattFill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88" name="Arc 28" descr="50%"/>
            <p:cNvSpPr>
              <a:spLocks/>
            </p:cNvSpPr>
            <p:nvPr/>
          </p:nvSpPr>
          <p:spPr bwMode="auto">
            <a:xfrm>
              <a:off x="2419" y="2356"/>
              <a:ext cx="14" cy="14"/>
            </a:xfrm>
            <a:custGeom>
              <a:avLst/>
              <a:gdLst>
                <a:gd name="T0" fmla="*/ 11 w 43200"/>
                <a:gd name="T1" fmla="*/ 1 h 42369"/>
                <a:gd name="T2" fmla="*/ 5 w 43200"/>
                <a:gd name="T3" fmla="*/ 0 h 42369"/>
                <a:gd name="T4" fmla="*/ 7 w 43200"/>
                <a:gd name="T5" fmla="*/ 7 h 423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2369" fill="none" extrusionOk="0">
                  <a:moveTo>
                    <a:pt x="33581" y="2797"/>
                  </a:moveTo>
                  <a:cubicBezTo>
                    <a:pt x="39590" y="6803"/>
                    <a:pt x="43200" y="13547"/>
                    <a:pt x="43200" y="20769"/>
                  </a:cubicBezTo>
                  <a:cubicBezTo>
                    <a:pt x="43200" y="32698"/>
                    <a:pt x="33529" y="42369"/>
                    <a:pt x="21600" y="42369"/>
                  </a:cubicBezTo>
                  <a:cubicBezTo>
                    <a:pt x="9670" y="42369"/>
                    <a:pt x="0" y="32698"/>
                    <a:pt x="0" y="20769"/>
                  </a:cubicBezTo>
                  <a:cubicBezTo>
                    <a:pt x="-1" y="11125"/>
                    <a:pt x="6393" y="2649"/>
                    <a:pt x="15666" y="0"/>
                  </a:cubicBezTo>
                </a:path>
                <a:path w="43200" h="42369" stroke="0" extrusionOk="0">
                  <a:moveTo>
                    <a:pt x="33581" y="2797"/>
                  </a:moveTo>
                  <a:cubicBezTo>
                    <a:pt x="39590" y="6803"/>
                    <a:pt x="43200" y="13547"/>
                    <a:pt x="43200" y="20769"/>
                  </a:cubicBezTo>
                  <a:cubicBezTo>
                    <a:pt x="43200" y="32698"/>
                    <a:pt x="33529" y="42369"/>
                    <a:pt x="21600" y="42369"/>
                  </a:cubicBezTo>
                  <a:cubicBezTo>
                    <a:pt x="9670" y="42369"/>
                    <a:pt x="0" y="32698"/>
                    <a:pt x="0" y="20769"/>
                  </a:cubicBezTo>
                  <a:cubicBezTo>
                    <a:pt x="-1" y="11125"/>
                    <a:pt x="6393" y="2649"/>
                    <a:pt x="15666" y="0"/>
                  </a:cubicBezTo>
                  <a:lnTo>
                    <a:pt x="21600" y="20769"/>
                  </a:lnTo>
                  <a:lnTo>
                    <a:pt x="33581" y="2797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548" name="Group 29"/>
          <p:cNvGrpSpPr>
            <a:grpSpLocks/>
          </p:cNvGrpSpPr>
          <p:nvPr/>
        </p:nvGrpSpPr>
        <p:grpSpPr bwMode="auto">
          <a:xfrm>
            <a:off x="3874294" y="2650331"/>
            <a:ext cx="79772" cy="52388"/>
            <a:chOff x="2477" y="2379"/>
            <a:chExt cx="64" cy="44"/>
          </a:xfrm>
        </p:grpSpPr>
        <p:sp>
          <p:nvSpPr>
            <p:cNvPr id="23182" name="Arc 30" descr="50%"/>
            <p:cNvSpPr>
              <a:spLocks/>
            </p:cNvSpPr>
            <p:nvPr/>
          </p:nvSpPr>
          <p:spPr bwMode="auto">
            <a:xfrm>
              <a:off x="2491" y="2379"/>
              <a:ext cx="6" cy="44"/>
            </a:xfrm>
            <a:custGeom>
              <a:avLst/>
              <a:gdLst>
                <a:gd name="T0" fmla="*/ 1 w 30717"/>
                <a:gd name="T1" fmla="*/ 1 h 43200"/>
                <a:gd name="T2" fmla="*/ 0 w 30717"/>
                <a:gd name="T3" fmla="*/ 42 h 43200"/>
                <a:gd name="T4" fmla="*/ 2 w 30717"/>
                <a:gd name="T5" fmla="*/ 22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717" h="43200" fill="none" extrusionOk="0">
                  <a:moveTo>
                    <a:pt x="4431" y="514"/>
                  </a:moveTo>
                  <a:cubicBezTo>
                    <a:pt x="5969" y="172"/>
                    <a:pt x="7540" y="-1"/>
                    <a:pt x="9117" y="0"/>
                  </a:cubicBezTo>
                  <a:cubicBezTo>
                    <a:pt x="21046" y="0"/>
                    <a:pt x="30717" y="9670"/>
                    <a:pt x="30717" y="21600"/>
                  </a:cubicBezTo>
                  <a:cubicBezTo>
                    <a:pt x="30717" y="33529"/>
                    <a:pt x="21046" y="43200"/>
                    <a:pt x="9117" y="43200"/>
                  </a:cubicBezTo>
                  <a:cubicBezTo>
                    <a:pt x="5967" y="43200"/>
                    <a:pt x="2855" y="42511"/>
                    <a:pt x="-1" y="41181"/>
                  </a:cubicBezTo>
                </a:path>
                <a:path w="30717" h="43200" stroke="0" extrusionOk="0">
                  <a:moveTo>
                    <a:pt x="4431" y="514"/>
                  </a:moveTo>
                  <a:cubicBezTo>
                    <a:pt x="5969" y="172"/>
                    <a:pt x="7540" y="-1"/>
                    <a:pt x="9117" y="0"/>
                  </a:cubicBezTo>
                  <a:cubicBezTo>
                    <a:pt x="21046" y="0"/>
                    <a:pt x="30717" y="9670"/>
                    <a:pt x="30717" y="21600"/>
                  </a:cubicBezTo>
                  <a:cubicBezTo>
                    <a:pt x="30717" y="33529"/>
                    <a:pt x="21046" y="43200"/>
                    <a:pt x="9117" y="43200"/>
                  </a:cubicBezTo>
                  <a:cubicBezTo>
                    <a:pt x="5967" y="43200"/>
                    <a:pt x="2855" y="42511"/>
                    <a:pt x="-1" y="41181"/>
                  </a:cubicBezTo>
                  <a:lnTo>
                    <a:pt x="9117" y="21600"/>
                  </a:lnTo>
                  <a:lnTo>
                    <a:pt x="4431" y="514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83" name="Arc 31" descr="50%"/>
            <p:cNvSpPr>
              <a:spLocks/>
            </p:cNvSpPr>
            <p:nvPr/>
          </p:nvSpPr>
          <p:spPr bwMode="auto">
            <a:xfrm>
              <a:off x="2477" y="2379"/>
              <a:ext cx="6" cy="44"/>
            </a:xfrm>
            <a:custGeom>
              <a:avLst/>
              <a:gdLst>
                <a:gd name="T0" fmla="*/ 1 w 30717"/>
                <a:gd name="T1" fmla="*/ 1 h 43200"/>
                <a:gd name="T2" fmla="*/ 0 w 30717"/>
                <a:gd name="T3" fmla="*/ 42 h 43200"/>
                <a:gd name="T4" fmla="*/ 2 w 30717"/>
                <a:gd name="T5" fmla="*/ 22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717" h="43200" fill="none" extrusionOk="0">
                  <a:moveTo>
                    <a:pt x="4431" y="514"/>
                  </a:moveTo>
                  <a:cubicBezTo>
                    <a:pt x="5969" y="172"/>
                    <a:pt x="7540" y="-1"/>
                    <a:pt x="9117" y="0"/>
                  </a:cubicBezTo>
                  <a:cubicBezTo>
                    <a:pt x="21046" y="0"/>
                    <a:pt x="30717" y="9670"/>
                    <a:pt x="30717" y="21600"/>
                  </a:cubicBezTo>
                  <a:cubicBezTo>
                    <a:pt x="30717" y="33529"/>
                    <a:pt x="21046" y="43200"/>
                    <a:pt x="9117" y="43200"/>
                  </a:cubicBezTo>
                  <a:cubicBezTo>
                    <a:pt x="5967" y="43200"/>
                    <a:pt x="2855" y="42511"/>
                    <a:pt x="-1" y="41181"/>
                  </a:cubicBezTo>
                </a:path>
                <a:path w="30717" h="43200" stroke="0" extrusionOk="0">
                  <a:moveTo>
                    <a:pt x="4431" y="514"/>
                  </a:moveTo>
                  <a:cubicBezTo>
                    <a:pt x="5969" y="172"/>
                    <a:pt x="7540" y="-1"/>
                    <a:pt x="9117" y="0"/>
                  </a:cubicBezTo>
                  <a:cubicBezTo>
                    <a:pt x="21046" y="0"/>
                    <a:pt x="30717" y="9670"/>
                    <a:pt x="30717" y="21600"/>
                  </a:cubicBezTo>
                  <a:cubicBezTo>
                    <a:pt x="30717" y="33529"/>
                    <a:pt x="21046" y="43200"/>
                    <a:pt x="9117" y="43200"/>
                  </a:cubicBezTo>
                  <a:cubicBezTo>
                    <a:pt x="5967" y="43200"/>
                    <a:pt x="2855" y="42511"/>
                    <a:pt x="-1" y="41181"/>
                  </a:cubicBezTo>
                  <a:lnTo>
                    <a:pt x="9117" y="21600"/>
                  </a:lnTo>
                  <a:lnTo>
                    <a:pt x="4431" y="514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84" name="Arc 32" descr="50%"/>
            <p:cNvSpPr>
              <a:spLocks/>
            </p:cNvSpPr>
            <p:nvPr/>
          </p:nvSpPr>
          <p:spPr bwMode="auto">
            <a:xfrm>
              <a:off x="2505" y="2379"/>
              <a:ext cx="6" cy="44"/>
            </a:xfrm>
            <a:custGeom>
              <a:avLst/>
              <a:gdLst>
                <a:gd name="T0" fmla="*/ 1 w 30717"/>
                <a:gd name="T1" fmla="*/ 1 h 43200"/>
                <a:gd name="T2" fmla="*/ 0 w 30717"/>
                <a:gd name="T3" fmla="*/ 42 h 43200"/>
                <a:gd name="T4" fmla="*/ 2 w 30717"/>
                <a:gd name="T5" fmla="*/ 22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717" h="43200" fill="none" extrusionOk="0">
                  <a:moveTo>
                    <a:pt x="4431" y="514"/>
                  </a:moveTo>
                  <a:cubicBezTo>
                    <a:pt x="5969" y="172"/>
                    <a:pt x="7540" y="-1"/>
                    <a:pt x="9117" y="0"/>
                  </a:cubicBezTo>
                  <a:cubicBezTo>
                    <a:pt x="21046" y="0"/>
                    <a:pt x="30717" y="9670"/>
                    <a:pt x="30717" y="21600"/>
                  </a:cubicBezTo>
                  <a:cubicBezTo>
                    <a:pt x="30717" y="33529"/>
                    <a:pt x="21046" y="43200"/>
                    <a:pt x="9117" y="43200"/>
                  </a:cubicBezTo>
                  <a:cubicBezTo>
                    <a:pt x="5967" y="43200"/>
                    <a:pt x="2855" y="42511"/>
                    <a:pt x="-1" y="41181"/>
                  </a:cubicBezTo>
                </a:path>
                <a:path w="30717" h="43200" stroke="0" extrusionOk="0">
                  <a:moveTo>
                    <a:pt x="4431" y="514"/>
                  </a:moveTo>
                  <a:cubicBezTo>
                    <a:pt x="5969" y="172"/>
                    <a:pt x="7540" y="-1"/>
                    <a:pt x="9117" y="0"/>
                  </a:cubicBezTo>
                  <a:cubicBezTo>
                    <a:pt x="21046" y="0"/>
                    <a:pt x="30717" y="9670"/>
                    <a:pt x="30717" y="21600"/>
                  </a:cubicBezTo>
                  <a:cubicBezTo>
                    <a:pt x="30717" y="33529"/>
                    <a:pt x="21046" y="43200"/>
                    <a:pt x="9117" y="43200"/>
                  </a:cubicBezTo>
                  <a:cubicBezTo>
                    <a:pt x="5967" y="43200"/>
                    <a:pt x="2855" y="42511"/>
                    <a:pt x="-1" y="41181"/>
                  </a:cubicBezTo>
                  <a:lnTo>
                    <a:pt x="9117" y="21600"/>
                  </a:lnTo>
                  <a:lnTo>
                    <a:pt x="4431" y="514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85" name="Arc 33" descr="50%"/>
            <p:cNvSpPr>
              <a:spLocks/>
            </p:cNvSpPr>
            <p:nvPr/>
          </p:nvSpPr>
          <p:spPr bwMode="auto">
            <a:xfrm>
              <a:off x="2519" y="2379"/>
              <a:ext cx="6" cy="44"/>
            </a:xfrm>
            <a:custGeom>
              <a:avLst/>
              <a:gdLst>
                <a:gd name="T0" fmla="*/ 1 w 30717"/>
                <a:gd name="T1" fmla="*/ 1 h 43200"/>
                <a:gd name="T2" fmla="*/ 0 w 30717"/>
                <a:gd name="T3" fmla="*/ 42 h 43200"/>
                <a:gd name="T4" fmla="*/ 2 w 30717"/>
                <a:gd name="T5" fmla="*/ 22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717" h="43200" fill="none" extrusionOk="0">
                  <a:moveTo>
                    <a:pt x="4431" y="514"/>
                  </a:moveTo>
                  <a:cubicBezTo>
                    <a:pt x="5969" y="172"/>
                    <a:pt x="7540" y="-1"/>
                    <a:pt x="9117" y="0"/>
                  </a:cubicBezTo>
                  <a:cubicBezTo>
                    <a:pt x="21046" y="0"/>
                    <a:pt x="30717" y="9670"/>
                    <a:pt x="30717" y="21600"/>
                  </a:cubicBezTo>
                  <a:cubicBezTo>
                    <a:pt x="30717" y="33529"/>
                    <a:pt x="21046" y="43200"/>
                    <a:pt x="9117" y="43200"/>
                  </a:cubicBezTo>
                  <a:cubicBezTo>
                    <a:pt x="5967" y="43200"/>
                    <a:pt x="2855" y="42511"/>
                    <a:pt x="-1" y="41181"/>
                  </a:cubicBezTo>
                </a:path>
                <a:path w="30717" h="43200" stroke="0" extrusionOk="0">
                  <a:moveTo>
                    <a:pt x="4431" y="514"/>
                  </a:moveTo>
                  <a:cubicBezTo>
                    <a:pt x="5969" y="172"/>
                    <a:pt x="7540" y="-1"/>
                    <a:pt x="9117" y="0"/>
                  </a:cubicBezTo>
                  <a:cubicBezTo>
                    <a:pt x="21046" y="0"/>
                    <a:pt x="30717" y="9670"/>
                    <a:pt x="30717" y="21600"/>
                  </a:cubicBezTo>
                  <a:cubicBezTo>
                    <a:pt x="30717" y="33529"/>
                    <a:pt x="21046" y="43200"/>
                    <a:pt x="9117" y="43200"/>
                  </a:cubicBezTo>
                  <a:cubicBezTo>
                    <a:pt x="5967" y="43200"/>
                    <a:pt x="2855" y="42511"/>
                    <a:pt x="-1" y="41181"/>
                  </a:cubicBezTo>
                  <a:lnTo>
                    <a:pt x="9117" y="21600"/>
                  </a:lnTo>
                  <a:lnTo>
                    <a:pt x="4431" y="514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86" name="Arc 34" descr="50%"/>
            <p:cNvSpPr>
              <a:spLocks/>
            </p:cNvSpPr>
            <p:nvPr/>
          </p:nvSpPr>
          <p:spPr bwMode="auto">
            <a:xfrm>
              <a:off x="2535" y="2379"/>
              <a:ext cx="6" cy="44"/>
            </a:xfrm>
            <a:custGeom>
              <a:avLst/>
              <a:gdLst>
                <a:gd name="T0" fmla="*/ 0 w 26498"/>
                <a:gd name="T1" fmla="*/ 1 h 43200"/>
                <a:gd name="T2" fmla="*/ 0 w 26498"/>
                <a:gd name="T3" fmla="*/ 43 h 43200"/>
                <a:gd name="T4" fmla="*/ 1 w 26498"/>
                <a:gd name="T5" fmla="*/ 22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498" h="43200" fill="none" extrusionOk="0">
                  <a:moveTo>
                    <a:pt x="212" y="514"/>
                  </a:moveTo>
                  <a:cubicBezTo>
                    <a:pt x="1750" y="172"/>
                    <a:pt x="3321" y="-1"/>
                    <a:pt x="4898" y="0"/>
                  </a:cubicBezTo>
                  <a:cubicBezTo>
                    <a:pt x="16827" y="0"/>
                    <a:pt x="26498" y="9670"/>
                    <a:pt x="26498" y="21600"/>
                  </a:cubicBezTo>
                  <a:cubicBezTo>
                    <a:pt x="26498" y="33529"/>
                    <a:pt x="16827" y="43200"/>
                    <a:pt x="4898" y="43200"/>
                  </a:cubicBezTo>
                  <a:cubicBezTo>
                    <a:pt x="3249" y="43200"/>
                    <a:pt x="1605" y="43011"/>
                    <a:pt x="-1" y="42637"/>
                  </a:cubicBezTo>
                </a:path>
                <a:path w="26498" h="43200" stroke="0" extrusionOk="0">
                  <a:moveTo>
                    <a:pt x="212" y="514"/>
                  </a:moveTo>
                  <a:cubicBezTo>
                    <a:pt x="1750" y="172"/>
                    <a:pt x="3321" y="-1"/>
                    <a:pt x="4898" y="0"/>
                  </a:cubicBezTo>
                  <a:cubicBezTo>
                    <a:pt x="16827" y="0"/>
                    <a:pt x="26498" y="9670"/>
                    <a:pt x="26498" y="21600"/>
                  </a:cubicBezTo>
                  <a:cubicBezTo>
                    <a:pt x="26498" y="33529"/>
                    <a:pt x="16827" y="43200"/>
                    <a:pt x="4898" y="43200"/>
                  </a:cubicBezTo>
                  <a:cubicBezTo>
                    <a:pt x="3249" y="43200"/>
                    <a:pt x="1605" y="43011"/>
                    <a:pt x="-1" y="42637"/>
                  </a:cubicBezTo>
                  <a:lnTo>
                    <a:pt x="4898" y="21600"/>
                  </a:lnTo>
                  <a:lnTo>
                    <a:pt x="212" y="514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549" name="Freeform 35" descr="50%"/>
          <p:cNvSpPr>
            <a:spLocks/>
          </p:cNvSpPr>
          <p:nvPr/>
        </p:nvSpPr>
        <p:spPr bwMode="auto">
          <a:xfrm>
            <a:off x="3688557" y="2393156"/>
            <a:ext cx="1279922" cy="234554"/>
          </a:xfrm>
          <a:custGeom>
            <a:avLst/>
            <a:gdLst>
              <a:gd name="T0" fmla="*/ 36100 w 1040"/>
              <a:gd name="T1" fmla="*/ 261938 h 197"/>
              <a:gd name="T2" fmla="*/ 114865 w 1040"/>
              <a:gd name="T3" fmla="*/ 238125 h 197"/>
              <a:gd name="T4" fmla="*/ 228089 w 1040"/>
              <a:gd name="T5" fmla="*/ 214313 h 197"/>
              <a:gd name="T6" fmla="*/ 341313 w 1040"/>
              <a:gd name="T7" fmla="*/ 193675 h 197"/>
              <a:gd name="T8" fmla="*/ 451255 w 1040"/>
              <a:gd name="T9" fmla="*/ 174625 h 197"/>
              <a:gd name="T10" fmla="*/ 513610 w 1040"/>
              <a:gd name="T11" fmla="*/ 149225 h 197"/>
              <a:gd name="T12" fmla="*/ 569401 w 1040"/>
              <a:gd name="T13" fmla="*/ 96838 h 197"/>
              <a:gd name="T14" fmla="*/ 651448 w 1040"/>
              <a:gd name="T15" fmla="*/ 28575 h 197"/>
              <a:gd name="T16" fmla="*/ 708880 w 1040"/>
              <a:gd name="T17" fmla="*/ 55563 h 197"/>
              <a:gd name="T18" fmla="*/ 733494 w 1040"/>
              <a:gd name="T19" fmla="*/ 134938 h 197"/>
              <a:gd name="T20" fmla="*/ 776158 w 1040"/>
              <a:gd name="T21" fmla="*/ 169863 h 197"/>
              <a:gd name="T22" fmla="*/ 917278 w 1040"/>
              <a:gd name="T23" fmla="*/ 193675 h 197"/>
              <a:gd name="T24" fmla="*/ 1022297 w 1040"/>
              <a:gd name="T25" fmla="*/ 196850 h 197"/>
              <a:gd name="T26" fmla="*/ 1150289 w 1040"/>
              <a:gd name="T27" fmla="*/ 193675 h 197"/>
              <a:gd name="T28" fmla="*/ 1199517 w 1040"/>
              <a:gd name="T29" fmla="*/ 231775 h 197"/>
              <a:gd name="T30" fmla="*/ 1301254 w 1040"/>
              <a:gd name="T31" fmla="*/ 236538 h 197"/>
              <a:gd name="T32" fmla="*/ 1414478 w 1040"/>
              <a:gd name="T33" fmla="*/ 187325 h 197"/>
              <a:gd name="T34" fmla="*/ 1504729 w 1040"/>
              <a:gd name="T35" fmla="*/ 109538 h 197"/>
              <a:gd name="T36" fmla="*/ 1576930 w 1040"/>
              <a:gd name="T37" fmla="*/ 61913 h 197"/>
              <a:gd name="T38" fmla="*/ 1637644 w 1040"/>
              <a:gd name="T39" fmla="*/ 36513 h 197"/>
              <a:gd name="T40" fmla="*/ 1693436 w 1040"/>
              <a:gd name="T41" fmla="*/ 42863 h 197"/>
              <a:gd name="T42" fmla="*/ 1649131 w 1040"/>
              <a:gd name="T43" fmla="*/ 96838 h 197"/>
              <a:gd name="T44" fmla="*/ 1591698 w 1040"/>
              <a:gd name="T45" fmla="*/ 144463 h 197"/>
              <a:gd name="T46" fmla="*/ 1558880 w 1040"/>
              <a:gd name="T47" fmla="*/ 185738 h 197"/>
              <a:gd name="T48" fmla="*/ 1534266 w 1040"/>
              <a:gd name="T49" fmla="*/ 220663 h 197"/>
              <a:gd name="T50" fmla="*/ 1526061 w 1040"/>
              <a:gd name="T51" fmla="*/ 260350 h 197"/>
              <a:gd name="T52" fmla="*/ 1478474 w 1040"/>
              <a:gd name="T53" fmla="*/ 252413 h 197"/>
              <a:gd name="T54" fmla="*/ 1434169 w 1040"/>
              <a:gd name="T55" fmla="*/ 265113 h 197"/>
              <a:gd name="T56" fmla="*/ 1383301 w 1040"/>
              <a:gd name="T57" fmla="*/ 260350 h 197"/>
              <a:gd name="T58" fmla="*/ 1327509 w 1040"/>
              <a:gd name="T59" fmla="*/ 263525 h 197"/>
              <a:gd name="T60" fmla="*/ 1270077 w 1040"/>
              <a:gd name="T61" fmla="*/ 258763 h 197"/>
              <a:gd name="T62" fmla="*/ 1204440 w 1040"/>
              <a:gd name="T63" fmla="*/ 260350 h 197"/>
              <a:gd name="T64" fmla="*/ 1137162 w 1040"/>
              <a:gd name="T65" fmla="*/ 271463 h 197"/>
              <a:gd name="T66" fmla="*/ 1073166 w 1040"/>
              <a:gd name="T67" fmla="*/ 273050 h 197"/>
              <a:gd name="T68" fmla="*/ 1009169 w 1040"/>
              <a:gd name="T69" fmla="*/ 274638 h 197"/>
              <a:gd name="T70" fmla="*/ 950096 w 1040"/>
              <a:gd name="T71" fmla="*/ 280988 h 197"/>
              <a:gd name="T72" fmla="*/ 886100 w 1040"/>
              <a:gd name="T73" fmla="*/ 293688 h 197"/>
              <a:gd name="T74" fmla="*/ 810617 w 1040"/>
              <a:gd name="T75" fmla="*/ 292100 h 197"/>
              <a:gd name="T76" fmla="*/ 746621 w 1040"/>
              <a:gd name="T77" fmla="*/ 296863 h 197"/>
              <a:gd name="T78" fmla="*/ 680984 w 1040"/>
              <a:gd name="T79" fmla="*/ 287338 h 197"/>
              <a:gd name="T80" fmla="*/ 618629 w 1040"/>
              <a:gd name="T81" fmla="*/ 292100 h 197"/>
              <a:gd name="T82" fmla="*/ 566119 w 1040"/>
              <a:gd name="T83" fmla="*/ 287338 h 197"/>
              <a:gd name="T84" fmla="*/ 503764 w 1040"/>
              <a:gd name="T85" fmla="*/ 292100 h 197"/>
              <a:gd name="T86" fmla="*/ 436486 w 1040"/>
              <a:gd name="T87" fmla="*/ 296863 h 197"/>
              <a:gd name="T88" fmla="*/ 349517 w 1040"/>
              <a:gd name="T89" fmla="*/ 311150 h 197"/>
              <a:gd name="T90" fmla="*/ 249421 w 1040"/>
              <a:gd name="T91" fmla="*/ 311150 h 197"/>
              <a:gd name="T92" fmla="*/ 165734 w 1040"/>
              <a:gd name="T93" fmla="*/ 298450 h 197"/>
              <a:gd name="T94" fmla="*/ 90251 w 1040"/>
              <a:gd name="T95" fmla="*/ 301625 h 197"/>
              <a:gd name="T96" fmla="*/ 16409 w 1040"/>
              <a:gd name="T97" fmla="*/ 287338 h 197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1040" h="197">
                <a:moveTo>
                  <a:pt x="0" y="176"/>
                </a:moveTo>
                <a:lnTo>
                  <a:pt x="6" y="172"/>
                </a:lnTo>
                <a:lnTo>
                  <a:pt x="13" y="169"/>
                </a:lnTo>
                <a:lnTo>
                  <a:pt x="22" y="165"/>
                </a:lnTo>
                <a:lnTo>
                  <a:pt x="31" y="162"/>
                </a:lnTo>
                <a:lnTo>
                  <a:pt x="42" y="159"/>
                </a:lnTo>
                <a:lnTo>
                  <a:pt x="58" y="154"/>
                </a:lnTo>
                <a:lnTo>
                  <a:pt x="70" y="150"/>
                </a:lnTo>
                <a:lnTo>
                  <a:pt x="86" y="145"/>
                </a:lnTo>
                <a:lnTo>
                  <a:pt x="104" y="141"/>
                </a:lnTo>
                <a:lnTo>
                  <a:pt x="121" y="137"/>
                </a:lnTo>
                <a:lnTo>
                  <a:pt x="139" y="135"/>
                </a:lnTo>
                <a:lnTo>
                  <a:pt x="157" y="132"/>
                </a:lnTo>
                <a:lnTo>
                  <a:pt x="175" y="129"/>
                </a:lnTo>
                <a:lnTo>
                  <a:pt x="191" y="126"/>
                </a:lnTo>
                <a:lnTo>
                  <a:pt x="208" y="122"/>
                </a:lnTo>
                <a:lnTo>
                  <a:pt x="222" y="120"/>
                </a:lnTo>
                <a:lnTo>
                  <a:pt x="242" y="116"/>
                </a:lnTo>
                <a:lnTo>
                  <a:pt x="259" y="113"/>
                </a:lnTo>
                <a:lnTo>
                  <a:pt x="275" y="110"/>
                </a:lnTo>
                <a:lnTo>
                  <a:pt x="286" y="108"/>
                </a:lnTo>
                <a:lnTo>
                  <a:pt x="297" y="104"/>
                </a:lnTo>
                <a:lnTo>
                  <a:pt x="307" y="99"/>
                </a:lnTo>
                <a:lnTo>
                  <a:pt x="313" y="94"/>
                </a:lnTo>
                <a:lnTo>
                  <a:pt x="320" y="87"/>
                </a:lnTo>
                <a:lnTo>
                  <a:pt x="326" y="81"/>
                </a:lnTo>
                <a:lnTo>
                  <a:pt x="336" y="70"/>
                </a:lnTo>
                <a:lnTo>
                  <a:pt x="347" y="61"/>
                </a:lnTo>
                <a:lnTo>
                  <a:pt x="358" y="50"/>
                </a:lnTo>
                <a:lnTo>
                  <a:pt x="370" y="39"/>
                </a:lnTo>
                <a:lnTo>
                  <a:pt x="382" y="28"/>
                </a:lnTo>
                <a:lnTo>
                  <a:pt x="397" y="18"/>
                </a:lnTo>
                <a:lnTo>
                  <a:pt x="410" y="8"/>
                </a:lnTo>
                <a:lnTo>
                  <a:pt x="422" y="0"/>
                </a:lnTo>
                <a:lnTo>
                  <a:pt x="426" y="16"/>
                </a:lnTo>
                <a:lnTo>
                  <a:pt x="432" y="35"/>
                </a:lnTo>
                <a:lnTo>
                  <a:pt x="438" y="52"/>
                </a:lnTo>
                <a:lnTo>
                  <a:pt x="444" y="68"/>
                </a:lnTo>
                <a:lnTo>
                  <a:pt x="445" y="77"/>
                </a:lnTo>
                <a:lnTo>
                  <a:pt x="447" y="85"/>
                </a:lnTo>
                <a:lnTo>
                  <a:pt x="445" y="92"/>
                </a:lnTo>
                <a:lnTo>
                  <a:pt x="439" y="101"/>
                </a:lnTo>
                <a:lnTo>
                  <a:pt x="456" y="105"/>
                </a:lnTo>
                <a:lnTo>
                  <a:pt x="473" y="107"/>
                </a:lnTo>
                <a:lnTo>
                  <a:pt x="494" y="110"/>
                </a:lnTo>
                <a:lnTo>
                  <a:pt x="517" y="114"/>
                </a:lnTo>
                <a:lnTo>
                  <a:pt x="541" y="119"/>
                </a:lnTo>
                <a:lnTo>
                  <a:pt x="559" y="122"/>
                </a:lnTo>
                <a:lnTo>
                  <a:pt x="578" y="124"/>
                </a:lnTo>
                <a:lnTo>
                  <a:pt x="596" y="127"/>
                </a:lnTo>
                <a:lnTo>
                  <a:pt x="611" y="128"/>
                </a:lnTo>
                <a:lnTo>
                  <a:pt x="623" y="124"/>
                </a:lnTo>
                <a:lnTo>
                  <a:pt x="635" y="119"/>
                </a:lnTo>
                <a:lnTo>
                  <a:pt x="646" y="111"/>
                </a:lnTo>
                <a:lnTo>
                  <a:pt x="672" y="115"/>
                </a:lnTo>
                <a:lnTo>
                  <a:pt x="701" y="122"/>
                </a:lnTo>
                <a:lnTo>
                  <a:pt x="721" y="126"/>
                </a:lnTo>
                <a:lnTo>
                  <a:pt x="708" y="138"/>
                </a:lnTo>
                <a:lnTo>
                  <a:pt x="718" y="142"/>
                </a:lnTo>
                <a:lnTo>
                  <a:pt x="731" y="146"/>
                </a:lnTo>
                <a:lnTo>
                  <a:pt x="746" y="150"/>
                </a:lnTo>
                <a:lnTo>
                  <a:pt x="762" y="152"/>
                </a:lnTo>
                <a:lnTo>
                  <a:pt x="777" y="150"/>
                </a:lnTo>
                <a:lnTo>
                  <a:pt x="793" y="149"/>
                </a:lnTo>
                <a:lnTo>
                  <a:pt x="809" y="146"/>
                </a:lnTo>
                <a:lnTo>
                  <a:pt x="826" y="141"/>
                </a:lnTo>
                <a:lnTo>
                  <a:pt x="843" y="132"/>
                </a:lnTo>
                <a:lnTo>
                  <a:pt x="862" y="118"/>
                </a:lnTo>
                <a:lnTo>
                  <a:pt x="877" y="106"/>
                </a:lnTo>
                <a:lnTo>
                  <a:pt x="896" y="89"/>
                </a:lnTo>
                <a:lnTo>
                  <a:pt x="903" y="82"/>
                </a:lnTo>
                <a:lnTo>
                  <a:pt x="917" y="69"/>
                </a:lnTo>
                <a:lnTo>
                  <a:pt x="928" y="61"/>
                </a:lnTo>
                <a:lnTo>
                  <a:pt x="939" y="53"/>
                </a:lnTo>
                <a:lnTo>
                  <a:pt x="950" y="46"/>
                </a:lnTo>
                <a:lnTo>
                  <a:pt x="961" y="39"/>
                </a:lnTo>
                <a:lnTo>
                  <a:pt x="971" y="35"/>
                </a:lnTo>
                <a:lnTo>
                  <a:pt x="980" y="30"/>
                </a:lnTo>
                <a:lnTo>
                  <a:pt x="989" y="27"/>
                </a:lnTo>
                <a:lnTo>
                  <a:pt x="998" y="23"/>
                </a:lnTo>
                <a:lnTo>
                  <a:pt x="1009" y="22"/>
                </a:lnTo>
                <a:lnTo>
                  <a:pt x="1021" y="21"/>
                </a:lnTo>
                <a:lnTo>
                  <a:pt x="1039" y="21"/>
                </a:lnTo>
                <a:lnTo>
                  <a:pt x="1032" y="27"/>
                </a:lnTo>
                <a:lnTo>
                  <a:pt x="1024" y="36"/>
                </a:lnTo>
                <a:lnTo>
                  <a:pt x="1019" y="42"/>
                </a:lnTo>
                <a:lnTo>
                  <a:pt x="1012" y="52"/>
                </a:lnTo>
                <a:lnTo>
                  <a:pt x="1005" y="61"/>
                </a:lnTo>
                <a:lnTo>
                  <a:pt x="995" y="70"/>
                </a:lnTo>
                <a:lnTo>
                  <a:pt x="982" y="79"/>
                </a:lnTo>
                <a:lnTo>
                  <a:pt x="975" y="85"/>
                </a:lnTo>
                <a:lnTo>
                  <a:pt x="970" y="91"/>
                </a:lnTo>
                <a:lnTo>
                  <a:pt x="964" y="99"/>
                </a:lnTo>
                <a:lnTo>
                  <a:pt x="959" y="104"/>
                </a:lnTo>
                <a:lnTo>
                  <a:pt x="954" y="110"/>
                </a:lnTo>
                <a:lnTo>
                  <a:pt x="950" y="117"/>
                </a:lnTo>
                <a:lnTo>
                  <a:pt x="946" y="123"/>
                </a:lnTo>
                <a:lnTo>
                  <a:pt x="942" y="129"/>
                </a:lnTo>
                <a:lnTo>
                  <a:pt x="938" y="135"/>
                </a:lnTo>
                <a:lnTo>
                  <a:pt x="935" y="139"/>
                </a:lnTo>
                <a:lnTo>
                  <a:pt x="933" y="146"/>
                </a:lnTo>
                <a:lnTo>
                  <a:pt x="931" y="152"/>
                </a:lnTo>
                <a:lnTo>
                  <a:pt x="931" y="158"/>
                </a:lnTo>
                <a:lnTo>
                  <a:pt x="930" y="164"/>
                </a:lnTo>
                <a:lnTo>
                  <a:pt x="924" y="160"/>
                </a:lnTo>
                <a:lnTo>
                  <a:pt x="915" y="159"/>
                </a:lnTo>
                <a:lnTo>
                  <a:pt x="908" y="159"/>
                </a:lnTo>
                <a:lnTo>
                  <a:pt x="901" y="159"/>
                </a:lnTo>
                <a:lnTo>
                  <a:pt x="893" y="161"/>
                </a:lnTo>
                <a:lnTo>
                  <a:pt x="887" y="164"/>
                </a:lnTo>
                <a:lnTo>
                  <a:pt x="881" y="165"/>
                </a:lnTo>
                <a:lnTo>
                  <a:pt x="874" y="167"/>
                </a:lnTo>
                <a:lnTo>
                  <a:pt x="867" y="168"/>
                </a:lnTo>
                <a:lnTo>
                  <a:pt x="857" y="167"/>
                </a:lnTo>
                <a:lnTo>
                  <a:pt x="849" y="166"/>
                </a:lnTo>
                <a:lnTo>
                  <a:pt x="843" y="164"/>
                </a:lnTo>
                <a:lnTo>
                  <a:pt x="836" y="162"/>
                </a:lnTo>
                <a:lnTo>
                  <a:pt x="829" y="163"/>
                </a:lnTo>
                <a:lnTo>
                  <a:pt x="818" y="164"/>
                </a:lnTo>
                <a:lnTo>
                  <a:pt x="809" y="166"/>
                </a:lnTo>
                <a:lnTo>
                  <a:pt x="802" y="165"/>
                </a:lnTo>
                <a:lnTo>
                  <a:pt x="793" y="164"/>
                </a:lnTo>
                <a:lnTo>
                  <a:pt x="783" y="163"/>
                </a:lnTo>
                <a:lnTo>
                  <a:pt x="774" y="163"/>
                </a:lnTo>
                <a:lnTo>
                  <a:pt x="766" y="164"/>
                </a:lnTo>
                <a:lnTo>
                  <a:pt x="753" y="166"/>
                </a:lnTo>
                <a:lnTo>
                  <a:pt x="745" y="166"/>
                </a:lnTo>
                <a:lnTo>
                  <a:pt x="734" y="164"/>
                </a:lnTo>
                <a:lnTo>
                  <a:pt x="725" y="164"/>
                </a:lnTo>
                <a:lnTo>
                  <a:pt x="714" y="166"/>
                </a:lnTo>
                <a:lnTo>
                  <a:pt x="706" y="169"/>
                </a:lnTo>
                <a:lnTo>
                  <a:pt x="693" y="171"/>
                </a:lnTo>
                <a:lnTo>
                  <a:pt x="684" y="172"/>
                </a:lnTo>
                <a:lnTo>
                  <a:pt x="673" y="173"/>
                </a:lnTo>
                <a:lnTo>
                  <a:pt x="664" y="174"/>
                </a:lnTo>
                <a:lnTo>
                  <a:pt x="654" y="172"/>
                </a:lnTo>
                <a:lnTo>
                  <a:pt x="643" y="169"/>
                </a:lnTo>
                <a:lnTo>
                  <a:pt x="632" y="172"/>
                </a:lnTo>
                <a:lnTo>
                  <a:pt x="624" y="172"/>
                </a:lnTo>
                <a:lnTo>
                  <a:pt x="615" y="173"/>
                </a:lnTo>
                <a:lnTo>
                  <a:pt x="606" y="172"/>
                </a:lnTo>
                <a:lnTo>
                  <a:pt x="597" y="172"/>
                </a:lnTo>
                <a:lnTo>
                  <a:pt x="587" y="173"/>
                </a:lnTo>
                <a:lnTo>
                  <a:pt x="579" y="177"/>
                </a:lnTo>
                <a:lnTo>
                  <a:pt x="571" y="179"/>
                </a:lnTo>
                <a:lnTo>
                  <a:pt x="561" y="182"/>
                </a:lnTo>
                <a:lnTo>
                  <a:pt x="551" y="184"/>
                </a:lnTo>
                <a:lnTo>
                  <a:pt x="540" y="185"/>
                </a:lnTo>
                <a:lnTo>
                  <a:pt x="530" y="186"/>
                </a:lnTo>
                <a:lnTo>
                  <a:pt x="516" y="184"/>
                </a:lnTo>
                <a:lnTo>
                  <a:pt x="503" y="184"/>
                </a:lnTo>
                <a:lnTo>
                  <a:pt x="494" y="184"/>
                </a:lnTo>
                <a:lnTo>
                  <a:pt x="482" y="186"/>
                </a:lnTo>
                <a:lnTo>
                  <a:pt x="473" y="186"/>
                </a:lnTo>
                <a:lnTo>
                  <a:pt x="463" y="187"/>
                </a:lnTo>
                <a:lnTo>
                  <a:pt x="455" y="187"/>
                </a:lnTo>
                <a:lnTo>
                  <a:pt x="442" y="186"/>
                </a:lnTo>
                <a:lnTo>
                  <a:pt x="431" y="184"/>
                </a:lnTo>
                <a:lnTo>
                  <a:pt x="424" y="181"/>
                </a:lnTo>
                <a:lnTo>
                  <a:pt x="415" y="181"/>
                </a:lnTo>
                <a:lnTo>
                  <a:pt x="406" y="181"/>
                </a:lnTo>
                <a:lnTo>
                  <a:pt x="397" y="182"/>
                </a:lnTo>
                <a:lnTo>
                  <a:pt x="386" y="184"/>
                </a:lnTo>
                <a:lnTo>
                  <a:pt x="377" y="184"/>
                </a:lnTo>
                <a:lnTo>
                  <a:pt x="369" y="184"/>
                </a:lnTo>
                <a:lnTo>
                  <a:pt x="363" y="183"/>
                </a:lnTo>
                <a:lnTo>
                  <a:pt x="354" y="181"/>
                </a:lnTo>
                <a:lnTo>
                  <a:pt x="345" y="181"/>
                </a:lnTo>
                <a:lnTo>
                  <a:pt x="336" y="181"/>
                </a:lnTo>
                <a:lnTo>
                  <a:pt x="328" y="182"/>
                </a:lnTo>
                <a:lnTo>
                  <a:pt x="319" y="183"/>
                </a:lnTo>
                <a:lnTo>
                  <a:pt x="307" y="184"/>
                </a:lnTo>
                <a:lnTo>
                  <a:pt x="296" y="184"/>
                </a:lnTo>
                <a:lnTo>
                  <a:pt x="286" y="184"/>
                </a:lnTo>
                <a:lnTo>
                  <a:pt x="276" y="185"/>
                </a:lnTo>
                <a:lnTo>
                  <a:pt x="266" y="187"/>
                </a:lnTo>
                <a:lnTo>
                  <a:pt x="255" y="190"/>
                </a:lnTo>
                <a:lnTo>
                  <a:pt x="245" y="192"/>
                </a:lnTo>
                <a:lnTo>
                  <a:pt x="230" y="195"/>
                </a:lnTo>
                <a:lnTo>
                  <a:pt x="213" y="196"/>
                </a:lnTo>
                <a:lnTo>
                  <a:pt x="196" y="196"/>
                </a:lnTo>
                <a:lnTo>
                  <a:pt x="181" y="195"/>
                </a:lnTo>
                <a:lnTo>
                  <a:pt x="162" y="196"/>
                </a:lnTo>
                <a:lnTo>
                  <a:pt x="152" y="196"/>
                </a:lnTo>
                <a:lnTo>
                  <a:pt x="142" y="194"/>
                </a:lnTo>
                <a:lnTo>
                  <a:pt x="132" y="196"/>
                </a:lnTo>
                <a:lnTo>
                  <a:pt x="120" y="195"/>
                </a:lnTo>
                <a:lnTo>
                  <a:pt x="101" y="188"/>
                </a:lnTo>
                <a:lnTo>
                  <a:pt x="89" y="189"/>
                </a:lnTo>
                <a:lnTo>
                  <a:pt x="77" y="190"/>
                </a:lnTo>
                <a:lnTo>
                  <a:pt x="65" y="190"/>
                </a:lnTo>
                <a:lnTo>
                  <a:pt x="55" y="190"/>
                </a:lnTo>
                <a:lnTo>
                  <a:pt x="43" y="189"/>
                </a:lnTo>
                <a:lnTo>
                  <a:pt x="31" y="187"/>
                </a:lnTo>
                <a:lnTo>
                  <a:pt x="20" y="184"/>
                </a:lnTo>
                <a:lnTo>
                  <a:pt x="10" y="181"/>
                </a:lnTo>
                <a:lnTo>
                  <a:pt x="0" y="179"/>
                </a:lnTo>
                <a:lnTo>
                  <a:pt x="0" y="176"/>
                </a:lnTo>
              </a:path>
            </a:pathLst>
          </a:custGeom>
          <a:pattFill prst="pct50">
            <a:fgClr>
              <a:schemeClr val="tx1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2550" name="Group 36"/>
          <p:cNvGrpSpPr>
            <a:grpSpLocks/>
          </p:cNvGrpSpPr>
          <p:nvPr/>
        </p:nvGrpSpPr>
        <p:grpSpPr bwMode="auto">
          <a:xfrm>
            <a:off x="3945731" y="2687241"/>
            <a:ext cx="185738" cy="113109"/>
            <a:chOff x="2535" y="2410"/>
            <a:chExt cx="151" cy="95"/>
          </a:xfrm>
        </p:grpSpPr>
        <p:sp>
          <p:nvSpPr>
            <p:cNvPr id="23180" name="Freeform 37" descr="50%"/>
            <p:cNvSpPr>
              <a:spLocks/>
            </p:cNvSpPr>
            <p:nvPr/>
          </p:nvSpPr>
          <p:spPr bwMode="auto">
            <a:xfrm>
              <a:off x="2535" y="2413"/>
              <a:ext cx="151" cy="92"/>
            </a:xfrm>
            <a:custGeom>
              <a:avLst/>
              <a:gdLst>
                <a:gd name="T0" fmla="*/ 140 w 151"/>
                <a:gd name="T1" fmla="*/ 82 h 92"/>
                <a:gd name="T2" fmla="*/ 132 w 151"/>
                <a:gd name="T3" fmla="*/ 74 h 92"/>
                <a:gd name="T4" fmla="*/ 127 w 151"/>
                <a:gd name="T5" fmla="*/ 69 h 92"/>
                <a:gd name="T6" fmla="*/ 123 w 151"/>
                <a:gd name="T7" fmla="*/ 64 h 92"/>
                <a:gd name="T8" fmla="*/ 118 w 151"/>
                <a:gd name="T9" fmla="*/ 59 h 92"/>
                <a:gd name="T10" fmla="*/ 114 w 151"/>
                <a:gd name="T11" fmla="*/ 54 h 92"/>
                <a:gd name="T12" fmla="*/ 111 w 151"/>
                <a:gd name="T13" fmla="*/ 49 h 92"/>
                <a:gd name="T14" fmla="*/ 107 w 151"/>
                <a:gd name="T15" fmla="*/ 43 h 92"/>
                <a:gd name="T16" fmla="*/ 104 w 151"/>
                <a:gd name="T17" fmla="*/ 37 h 92"/>
                <a:gd name="T18" fmla="*/ 101 w 151"/>
                <a:gd name="T19" fmla="*/ 30 h 92"/>
                <a:gd name="T20" fmla="*/ 99 w 151"/>
                <a:gd name="T21" fmla="*/ 23 h 92"/>
                <a:gd name="T22" fmla="*/ 97 w 151"/>
                <a:gd name="T23" fmla="*/ 16 h 92"/>
                <a:gd name="T24" fmla="*/ 97 w 151"/>
                <a:gd name="T25" fmla="*/ 9 h 92"/>
                <a:gd name="T26" fmla="*/ 97 w 151"/>
                <a:gd name="T27" fmla="*/ 0 h 92"/>
                <a:gd name="T28" fmla="*/ 0 w 151"/>
                <a:gd name="T29" fmla="*/ 1 h 92"/>
                <a:gd name="T30" fmla="*/ 3 w 151"/>
                <a:gd name="T31" fmla="*/ 6 h 92"/>
                <a:gd name="T32" fmla="*/ 8 w 151"/>
                <a:gd name="T33" fmla="*/ 13 h 92"/>
                <a:gd name="T34" fmla="*/ 13 w 151"/>
                <a:gd name="T35" fmla="*/ 20 h 92"/>
                <a:gd name="T36" fmla="*/ 18 w 151"/>
                <a:gd name="T37" fmla="*/ 26 h 92"/>
                <a:gd name="T38" fmla="*/ 25 w 151"/>
                <a:gd name="T39" fmla="*/ 33 h 92"/>
                <a:gd name="T40" fmla="*/ 32 w 151"/>
                <a:gd name="T41" fmla="*/ 40 h 92"/>
                <a:gd name="T42" fmla="*/ 39 w 151"/>
                <a:gd name="T43" fmla="*/ 46 h 92"/>
                <a:gd name="T44" fmla="*/ 47 w 151"/>
                <a:gd name="T45" fmla="*/ 52 h 92"/>
                <a:gd name="T46" fmla="*/ 56 w 151"/>
                <a:gd name="T47" fmla="*/ 59 h 92"/>
                <a:gd name="T48" fmla="*/ 66 w 151"/>
                <a:gd name="T49" fmla="*/ 67 h 92"/>
                <a:gd name="T50" fmla="*/ 75 w 151"/>
                <a:gd name="T51" fmla="*/ 72 h 92"/>
                <a:gd name="T52" fmla="*/ 83 w 151"/>
                <a:gd name="T53" fmla="*/ 76 h 92"/>
                <a:gd name="T54" fmla="*/ 91 w 151"/>
                <a:gd name="T55" fmla="*/ 79 h 92"/>
                <a:gd name="T56" fmla="*/ 99 w 151"/>
                <a:gd name="T57" fmla="*/ 82 h 92"/>
                <a:gd name="T58" fmla="*/ 107 w 151"/>
                <a:gd name="T59" fmla="*/ 85 h 92"/>
                <a:gd name="T60" fmla="*/ 117 w 151"/>
                <a:gd name="T61" fmla="*/ 87 h 92"/>
                <a:gd name="T62" fmla="*/ 127 w 151"/>
                <a:gd name="T63" fmla="*/ 89 h 92"/>
                <a:gd name="T64" fmla="*/ 135 w 151"/>
                <a:gd name="T65" fmla="*/ 90 h 92"/>
                <a:gd name="T66" fmla="*/ 143 w 151"/>
                <a:gd name="T67" fmla="*/ 91 h 92"/>
                <a:gd name="T68" fmla="*/ 150 w 151"/>
                <a:gd name="T69" fmla="*/ 91 h 92"/>
                <a:gd name="T70" fmla="*/ 140 w 151"/>
                <a:gd name="T71" fmla="*/ 82 h 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51" h="92">
                  <a:moveTo>
                    <a:pt x="140" y="82"/>
                  </a:moveTo>
                  <a:lnTo>
                    <a:pt x="132" y="74"/>
                  </a:lnTo>
                  <a:lnTo>
                    <a:pt x="127" y="69"/>
                  </a:lnTo>
                  <a:lnTo>
                    <a:pt x="123" y="64"/>
                  </a:lnTo>
                  <a:lnTo>
                    <a:pt x="118" y="59"/>
                  </a:lnTo>
                  <a:lnTo>
                    <a:pt x="114" y="54"/>
                  </a:lnTo>
                  <a:lnTo>
                    <a:pt x="111" y="49"/>
                  </a:lnTo>
                  <a:lnTo>
                    <a:pt x="107" y="43"/>
                  </a:lnTo>
                  <a:lnTo>
                    <a:pt x="104" y="37"/>
                  </a:lnTo>
                  <a:lnTo>
                    <a:pt x="101" y="30"/>
                  </a:lnTo>
                  <a:lnTo>
                    <a:pt x="99" y="23"/>
                  </a:lnTo>
                  <a:lnTo>
                    <a:pt x="97" y="16"/>
                  </a:lnTo>
                  <a:lnTo>
                    <a:pt x="97" y="9"/>
                  </a:lnTo>
                  <a:lnTo>
                    <a:pt x="97" y="0"/>
                  </a:lnTo>
                  <a:lnTo>
                    <a:pt x="0" y="1"/>
                  </a:lnTo>
                  <a:lnTo>
                    <a:pt x="3" y="6"/>
                  </a:lnTo>
                  <a:lnTo>
                    <a:pt x="8" y="13"/>
                  </a:lnTo>
                  <a:lnTo>
                    <a:pt x="13" y="20"/>
                  </a:lnTo>
                  <a:lnTo>
                    <a:pt x="18" y="26"/>
                  </a:lnTo>
                  <a:lnTo>
                    <a:pt x="25" y="33"/>
                  </a:lnTo>
                  <a:lnTo>
                    <a:pt x="32" y="40"/>
                  </a:lnTo>
                  <a:lnTo>
                    <a:pt x="39" y="46"/>
                  </a:lnTo>
                  <a:lnTo>
                    <a:pt x="47" y="52"/>
                  </a:lnTo>
                  <a:lnTo>
                    <a:pt x="56" y="59"/>
                  </a:lnTo>
                  <a:lnTo>
                    <a:pt x="66" y="67"/>
                  </a:lnTo>
                  <a:lnTo>
                    <a:pt x="75" y="72"/>
                  </a:lnTo>
                  <a:lnTo>
                    <a:pt x="83" y="76"/>
                  </a:lnTo>
                  <a:lnTo>
                    <a:pt x="91" y="79"/>
                  </a:lnTo>
                  <a:lnTo>
                    <a:pt x="99" y="82"/>
                  </a:lnTo>
                  <a:lnTo>
                    <a:pt x="107" y="85"/>
                  </a:lnTo>
                  <a:lnTo>
                    <a:pt x="117" y="87"/>
                  </a:lnTo>
                  <a:lnTo>
                    <a:pt x="127" y="89"/>
                  </a:lnTo>
                  <a:lnTo>
                    <a:pt x="135" y="90"/>
                  </a:lnTo>
                  <a:lnTo>
                    <a:pt x="143" y="91"/>
                  </a:lnTo>
                  <a:lnTo>
                    <a:pt x="150" y="91"/>
                  </a:lnTo>
                  <a:lnTo>
                    <a:pt x="140" y="82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81" name="Freeform 38" descr="50%"/>
            <p:cNvSpPr>
              <a:spLocks/>
            </p:cNvSpPr>
            <p:nvPr/>
          </p:nvSpPr>
          <p:spPr bwMode="auto">
            <a:xfrm>
              <a:off x="2538" y="2410"/>
              <a:ext cx="86" cy="3"/>
            </a:xfrm>
            <a:custGeom>
              <a:avLst/>
              <a:gdLst>
                <a:gd name="T0" fmla="*/ 0 w 86"/>
                <a:gd name="T1" fmla="*/ 2 h 3"/>
                <a:gd name="T2" fmla="*/ 0 w 86"/>
                <a:gd name="T3" fmla="*/ 1 h 3"/>
                <a:gd name="T4" fmla="*/ 2 w 86"/>
                <a:gd name="T5" fmla="*/ 0 h 3"/>
                <a:gd name="T6" fmla="*/ 85 w 86"/>
                <a:gd name="T7" fmla="*/ 0 h 3"/>
                <a:gd name="T8" fmla="*/ 85 w 86"/>
                <a:gd name="T9" fmla="*/ 2 h 3"/>
                <a:gd name="T10" fmla="*/ 0 w 86"/>
                <a:gd name="T11" fmla="*/ 2 h 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6" h="3">
                  <a:moveTo>
                    <a:pt x="0" y="2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85" y="0"/>
                  </a:lnTo>
                  <a:lnTo>
                    <a:pt x="85" y="2"/>
                  </a:lnTo>
                  <a:lnTo>
                    <a:pt x="0" y="2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51" name="Freeform 39" descr="50%"/>
          <p:cNvSpPr>
            <a:spLocks/>
          </p:cNvSpPr>
          <p:nvPr/>
        </p:nvSpPr>
        <p:spPr bwMode="auto">
          <a:xfrm>
            <a:off x="5385197" y="2643188"/>
            <a:ext cx="103584" cy="76200"/>
          </a:xfrm>
          <a:custGeom>
            <a:avLst/>
            <a:gdLst>
              <a:gd name="T0" fmla="*/ 0 w 84"/>
              <a:gd name="T1" fmla="*/ 0 h 64"/>
              <a:gd name="T2" fmla="*/ 4933 w 84"/>
              <a:gd name="T3" fmla="*/ 9525 h 64"/>
              <a:gd name="T4" fmla="*/ 11509 w 84"/>
              <a:gd name="T5" fmla="*/ 20638 h 64"/>
              <a:gd name="T6" fmla="*/ 19730 w 84"/>
              <a:gd name="T7" fmla="*/ 30163 h 64"/>
              <a:gd name="T8" fmla="*/ 27951 w 84"/>
              <a:gd name="T9" fmla="*/ 39688 h 64"/>
              <a:gd name="T10" fmla="*/ 37816 w 84"/>
              <a:gd name="T11" fmla="*/ 50800 h 64"/>
              <a:gd name="T12" fmla="*/ 47682 w 84"/>
              <a:gd name="T13" fmla="*/ 61913 h 64"/>
              <a:gd name="T14" fmla="*/ 57547 w 84"/>
              <a:gd name="T15" fmla="*/ 69850 h 64"/>
              <a:gd name="T16" fmla="*/ 65768 w 84"/>
              <a:gd name="T17" fmla="*/ 77788 h 64"/>
              <a:gd name="T18" fmla="*/ 75633 w 84"/>
              <a:gd name="T19" fmla="*/ 84138 h 64"/>
              <a:gd name="T20" fmla="*/ 87142 w 84"/>
              <a:gd name="T21" fmla="*/ 88900 h 64"/>
              <a:gd name="T22" fmla="*/ 97007 w 84"/>
              <a:gd name="T23" fmla="*/ 93663 h 64"/>
              <a:gd name="T24" fmla="*/ 108517 w 84"/>
              <a:gd name="T25" fmla="*/ 98425 h 64"/>
              <a:gd name="T26" fmla="*/ 120026 w 84"/>
              <a:gd name="T27" fmla="*/ 100013 h 64"/>
              <a:gd name="T28" fmla="*/ 129891 w 84"/>
              <a:gd name="T29" fmla="*/ 100013 h 64"/>
              <a:gd name="T30" fmla="*/ 136468 w 84"/>
              <a:gd name="T31" fmla="*/ 98425 h 64"/>
              <a:gd name="T32" fmla="*/ 129891 w 84"/>
              <a:gd name="T33" fmla="*/ 92075 h 64"/>
              <a:gd name="T34" fmla="*/ 121670 w 84"/>
              <a:gd name="T35" fmla="*/ 82550 h 64"/>
              <a:gd name="T36" fmla="*/ 115093 w 84"/>
              <a:gd name="T37" fmla="*/ 74613 h 64"/>
              <a:gd name="T38" fmla="*/ 106872 w 84"/>
              <a:gd name="T39" fmla="*/ 63500 h 64"/>
              <a:gd name="T40" fmla="*/ 100296 w 84"/>
              <a:gd name="T41" fmla="*/ 53975 h 64"/>
              <a:gd name="T42" fmla="*/ 95363 w 84"/>
              <a:gd name="T43" fmla="*/ 44450 h 64"/>
              <a:gd name="T44" fmla="*/ 92075 w 84"/>
              <a:gd name="T45" fmla="*/ 34925 h 64"/>
              <a:gd name="T46" fmla="*/ 87142 w 84"/>
              <a:gd name="T47" fmla="*/ 20638 h 64"/>
              <a:gd name="T48" fmla="*/ 87142 w 84"/>
              <a:gd name="T49" fmla="*/ 9525 h 64"/>
              <a:gd name="T50" fmla="*/ 87142 w 84"/>
              <a:gd name="T51" fmla="*/ 0 h 64"/>
              <a:gd name="T52" fmla="*/ 0 w 84"/>
              <a:gd name="T53" fmla="*/ 0 h 64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84" h="64">
                <a:moveTo>
                  <a:pt x="0" y="0"/>
                </a:moveTo>
                <a:lnTo>
                  <a:pt x="3" y="6"/>
                </a:lnTo>
                <a:lnTo>
                  <a:pt x="7" y="13"/>
                </a:lnTo>
                <a:lnTo>
                  <a:pt x="12" y="19"/>
                </a:lnTo>
                <a:lnTo>
                  <a:pt x="17" y="25"/>
                </a:lnTo>
                <a:lnTo>
                  <a:pt x="23" y="32"/>
                </a:lnTo>
                <a:lnTo>
                  <a:pt x="29" y="39"/>
                </a:lnTo>
                <a:lnTo>
                  <a:pt x="35" y="44"/>
                </a:lnTo>
                <a:lnTo>
                  <a:pt x="40" y="49"/>
                </a:lnTo>
                <a:lnTo>
                  <a:pt x="46" y="53"/>
                </a:lnTo>
                <a:lnTo>
                  <a:pt x="53" y="56"/>
                </a:lnTo>
                <a:lnTo>
                  <a:pt x="59" y="59"/>
                </a:lnTo>
                <a:lnTo>
                  <a:pt x="66" y="62"/>
                </a:lnTo>
                <a:lnTo>
                  <a:pt x="73" y="63"/>
                </a:lnTo>
                <a:lnTo>
                  <a:pt x="79" y="63"/>
                </a:lnTo>
                <a:lnTo>
                  <a:pt x="83" y="62"/>
                </a:lnTo>
                <a:lnTo>
                  <a:pt x="79" y="58"/>
                </a:lnTo>
                <a:lnTo>
                  <a:pt x="74" y="52"/>
                </a:lnTo>
                <a:lnTo>
                  <a:pt x="70" y="47"/>
                </a:lnTo>
                <a:lnTo>
                  <a:pt x="65" y="40"/>
                </a:lnTo>
                <a:lnTo>
                  <a:pt x="61" y="34"/>
                </a:lnTo>
                <a:lnTo>
                  <a:pt x="58" y="28"/>
                </a:lnTo>
                <a:lnTo>
                  <a:pt x="56" y="22"/>
                </a:lnTo>
                <a:lnTo>
                  <a:pt x="53" y="13"/>
                </a:lnTo>
                <a:lnTo>
                  <a:pt x="53" y="6"/>
                </a:lnTo>
                <a:lnTo>
                  <a:pt x="53" y="0"/>
                </a:lnTo>
                <a:lnTo>
                  <a:pt x="0" y="0"/>
                </a:lnTo>
              </a:path>
            </a:pathLst>
          </a:custGeom>
          <a:pattFill prst="pct50">
            <a:fgClr>
              <a:schemeClr val="tx1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2" name="Freeform 40" descr="50%"/>
          <p:cNvSpPr>
            <a:spLocks/>
          </p:cNvSpPr>
          <p:nvPr/>
        </p:nvSpPr>
        <p:spPr bwMode="auto">
          <a:xfrm>
            <a:off x="5163741" y="2457450"/>
            <a:ext cx="873919" cy="246460"/>
          </a:xfrm>
          <a:custGeom>
            <a:avLst/>
            <a:gdLst>
              <a:gd name="T0" fmla="*/ 13129 w 710"/>
              <a:gd name="T1" fmla="*/ 195263 h 207"/>
              <a:gd name="T2" fmla="*/ 49235 w 710"/>
              <a:gd name="T3" fmla="*/ 180975 h 207"/>
              <a:gd name="T4" fmla="*/ 101752 w 710"/>
              <a:gd name="T5" fmla="*/ 165100 h 207"/>
              <a:gd name="T6" fmla="*/ 159193 w 710"/>
              <a:gd name="T7" fmla="*/ 153988 h 207"/>
              <a:gd name="T8" fmla="*/ 214992 w 710"/>
              <a:gd name="T9" fmla="*/ 144463 h 207"/>
              <a:gd name="T10" fmla="*/ 272433 w 710"/>
              <a:gd name="T11" fmla="*/ 133350 h 207"/>
              <a:gd name="T12" fmla="*/ 320027 w 710"/>
              <a:gd name="T13" fmla="*/ 123825 h 207"/>
              <a:gd name="T14" fmla="*/ 347926 w 710"/>
              <a:gd name="T15" fmla="*/ 109538 h 207"/>
              <a:gd name="T16" fmla="*/ 375826 w 710"/>
              <a:gd name="T17" fmla="*/ 84138 h 207"/>
              <a:gd name="T18" fmla="*/ 415214 w 710"/>
              <a:gd name="T19" fmla="*/ 46038 h 207"/>
              <a:gd name="T20" fmla="*/ 456243 w 710"/>
              <a:gd name="T21" fmla="*/ 12700 h 207"/>
              <a:gd name="T22" fmla="*/ 484143 w 710"/>
              <a:gd name="T23" fmla="*/ 39688 h 207"/>
              <a:gd name="T24" fmla="*/ 500554 w 710"/>
              <a:gd name="T25" fmla="*/ 96838 h 207"/>
              <a:gd name="T26" fmla="*/ 512043 w 710"/>
              <a:gd name="T27" fmla="*/ 120650 h 207"/>
              <a:gd name="T28" fmla="*/ 579330 w 710"/>
              <a:gd name="T29" fmla="*/ 131763 h 207"/>
              <a:gd name="T30" fmla="*/ 646618 w 710"/>
              <a:gd name="T31" fmla="*/ 142875 h 207"/>
              <a:gd name="T32" fmla="*/ 697494 w 710"/>
              <a:gd name="T33" fmla="*/ 142875 h 207"/>
              <a:gd name="T34" fmla="*/ 751652 w 710"/>
              <a:gd name="T35" fmla="*/ 133350 h 207"/>
              <a:gd name="T36" fmla="*/ 792681 w 710"/>
              <a:gd name="T37" fmla="*/ 160338 h 207"/>
              <a:gd name="T38" fmla="*/ 833710 w 710"/>
              <a:gd name="T39" fmla="*/ 171450 h 207"/>
              <a:gd name="T40" fmla="*/ 886227 w 710"/>
              <a:gd name="T41" fmla="*/ 171450 h 207"/>
              <a:gd name="T42" fmla="*/ 940386 w 710"/>
              <a:gd name="T43" fmla="*/ 150813 h 207"/>
              <a:gd name="T44" fmla="*/ 1001109 w 710"/>
              <a:gd name="T45" fmla="*/ 103188 h 207"/>
              <a:gd name="T46" fmla="*/ 1071679 w 710"/>
              <a:gd name="T47" fmla="*/ 47625 h 207"/>
              <a:gd name="T48" fmla="*/ 1142249 w 710"/>
              <a:gd name="T49" fmla="*/ 25400 h 207"/>
              <a:gd name="T50" fmla="*/ 1143890 w 710"/>
              <a:gd name="T51" fmla="*/ 44450 h 207"/>
              <a:gd name="T52" fmla="*/ 1111067 w 710"/>
              <a:gd name="T53" fmla="*/ 84138 h 207"/>
              <a:gd name="T54" fmla="*/ 1071679 w 710"/>
              <a:gd name="T55" fmla="*/ 123825 h 207"/>
              <a:gd name="T56" fmla="*/ 1045420 w 710"/>
              <a:gd name="T57" fmla="*/ 161925 h 207"/>
              <a:gd name="T58" fmla="*/ 1045420 w 710"/>
              <a:gd name="T59" fmla="*/ 203200 h 207"/>
              <a:gd name="T60" fmla="*/ 1073320 w 710"/>
              <a:gd name="T61" fmla="*/ 246063 h 207"/>
              <a:gd name="T62" fmla="*/ 1109425 w 710"/>
              <a:gd name="T63" fmla="*/ 276225 h 207"/>
              <a:gd name="T64" fmla="*/ 1140608 w 710"/>
              <a:gd name="T65" fmla="*/ 301625 h 207"/>
              <a:gd name="T66" fmla="*/ 1142249 w 710"/>
              <a:gd name="T67" fmla="*/ 315913 h 207"/>
              <a:gd name="T68" fmla="*/ 1097937 w 710"/>
              <a:gd name="T69" fmla="*/ 314325 h 207"/>
              <a:gd name="T70" fmla="*/ 1058549 w 710"/>
              <a:gd name="T71" fmla="*/ 304800 h 207"/>
              <a:gd name="T72" fmla="*/ 1022444 w 710"/>
              <a:gd name="T73" fmla="*/ 285750 h 207"/>
              <a:gd name="T74" fmla="*/ 960080 w 710"/>
              <a:gd name="T75" fmla="*/ 249238 h 207"/>
              <a:gd name="T76" fmla="*/ 886227 w 710"/>
              <a:gd name="T77" fmla="*/ 244475 h 207"/>
              <a:gd name="T78" fmla="*/ 794322 w 710"/>
              <a:gd name="T79" fmla="*/ 254000 h 207"/>
              <a:gd name="T80" fmla="*/ 736882 w 710"/>
              <a:gd name="T81" fmla="*/ 276225 h 207"/>
              <a:gd name="T82" fmla="*/ 718829 w 710"/>
              <a:gd name="T83" fmla="*/ 301625 h 207"/>
              <a:gd name="T84" fmla="*/ 636771 w 710"/>
              <a:gd name="T85" fmla="*/ 298450 h 207"/>
              <a:gd name="T86" fmla="*/ 569483 w 710"/>
              <a:gd name="T87" fmla="*/ 319088 h 207"/>
              <a:gd name="T88" fmla="*/ 315103 w 710"/>
              <a:gd name="T89" fmla="*/ 327025 h 207"/>
              <a:gd name="T90" fmla="*/ 170681 w 710"/>
              <a:gd name="T91" fmla="*/ 312738 h 207"/>
              <a:gd name="T92" fmla="*/ 42670 w 710"/>
              <a:gd name="T93" fmla="*/ 273050 h 207"/>
              <a:gd name="T94" fmla="*/ 42670 w 710"/>
              <a:gd name="T95" fmla="*/ 250825 h 207"/>
              <a:gd name="T96" fmla="*/ 13129 w 710"/>
              <a:gd name="T97" fmla="*/ 225425 h 207"/>
              <a:gd name="T98" fmla="*/ 3282 w 710"/>
              <a:gd name="T99" fmla="*/ 209550 h 207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710" h="207">
                <a:moveTo>
                  <a:pt x="0" y="128"/>
                </a:moveTo>
                <a:lnTo>
                  <a:pt x="3" y="126"/>
                </a:lnTo>
                <a:lnTo>
                  <a:pt x="8" y="123"/>
                </a:lnTo>
                <a:lnTo>
                  <a:pt x="16" y="119"/>
                </a:lnTo>
                <a:lnTo>
                  <a:pt x="22" y="117"/>
                </a:lnTo>
                <a:lnTo>
                  <a:pt x="30" y="114"/>
                </a:lnTo>
                <a:lnTo>
                  <a:pt x="41" y="111"/>
                </a:lnTo>
                <a:lnTo>
                  <a:pt x="52" y="107"/>
                </a:lnTo>
                <a:lnTo>
                  <a:pt x="62" y="104"/>
                </a:lnTo>
                <a:lnTo>
                  <a:pt x="73" y="102"/>
                </a:lnTo>
                <a:lnTo>
                  <a:pt x="84" y="100"/>
                </a:lnTo>
                <a:lnTo>
                  <a:pt x="97" y="97"/>
                </a:lnTo>
                <a:lnTo>
                  <a:pt x="109" y="95"/>
                </a:lnTo>
                <a:lnTo>
                  <a:pt x="120" y="93"/>
                </a:lnTo>
                <a:lnTo>
                  <a:pt x="131" y="91"/>
                </a:lnTo>
                <a:lnTo>
                  <a:pt x="141" y="89"/>
                </a:lnTo>
                <a:lnTo>
                  <a:pt x="155" y="86"/>
                </a:lnTo>
                <a:lnTo>
                  <a:pt x="166" y="84"/>
                </a:lnTo>
                <a:lnTo>
                  <a:pt x="177" y="82"/>
                </a:lnTo>
                <a:lnTo>
                  <a:pt x="187" y="81"/>
                </a:lnTo>
                <a:lnTo>
                  <a:pt x="195" y="78"/>
                </a:lnTo>
                <a:lnTo>
                  <a:pt x="202" y="75"/>
                </a:lnTo>
                <a:lnTo>
                  <a:pt x="207" y="73"/>
                </a:lnTo>
                <a:lnTo>
                  <a:pt x="212" y="69"/>
                </a:lnTo>
                <a:lnTo>
                  <a:pt x="217" y="65"/>
                </a:lnTo>
                <a:lnTo>
                  <a:pt x="222" y="59"/>
                </a:lnTo>
                <a:lnTo>
                  <a:pt x="229" y="53"/>
                </a:lnTo>
                <a:lnTo>
                  <a:pt x="236" y="44"/>
                </a:lnTo>
                <a:lnTo>
                  <a:pt x="244" y="37"/>
                </a:lnTo>
                <a:lnTo>
                  <a:pt x="253" y="29"/>
                </a:lnTo>
                <a:lnTo>
                  <a:pt x="260" y="21"/>
                </a:lnTo>
                <a:lnTo>
                  <a:pt x="269" y="15"/>
                </a:lnTo>
                <a:lnTo>
                  <a:pt x="278" y="8"/>
                </a:lnTo>
                <a:lnTo>
                  <a:pt x="288" y="0"/>
                </a:lnTo>
                <a:lnTo>
                  <a:pt x="292" y="13"/>
                </a:lnTo>
                <a:lnTo>
                  <a:pt x="295" y="25"/>
                </a:lnTo>
                <a:lnTo>
                  <a:pt x="300" y="37"/>
                </a:lnTo>
                <a:lnTo>
                  <a:pt x="303" y="51"/>
                </a:lnTo>
                <a:lnTo>
                  <a:pt x="305" y="61"/>
                </a:lnTo>
                <a:lnTo>
                  <a:pt x="305" y="68"/>
                </a:lnTo>
                <a:lnTo>
                  <a:pt x="301" y="74"/>
                </a:lnTo>
                <a:lnTo>
                  <a:pt x="312" y="76"/>
                </a:lnTo>
                <a:lnTo>
                  <a:pt x="323" y="78"/>
                </a:lnTo>
                <a:lnTo>
                  <a:pt x="337" y="80"/>
                </a:lnTo>
                <a:lnTo>
                  <a:pt x="353" y="83"/>
                </a:lnTo>
                <a:lnTo>
                  <a:pt x="369" y="86"/>
                </a:lnTo>
                <a:lnTo>
                  <a:pt x="381" y="88"/>
                </a:lnTo>
                <a:lnTo>
                  <a:pt x="394" y="90"/>
                </a:lnTo>
                <a:lnTo>
                  <a:pt x="406" y="91"/>
                </a:lnTo>
                <a:lnTo>
                  <a:pt x="417" y="92"/>
                </a:lnTo>
                <a:lnTo>
                  <a:pt x="425" y="90"/>
                </a:lnTo>
                <a:lnTo>
                  <a:pt x="433" y="86"/>
                </a:lnTo>
                <a:lnTo>
                  <a:pt x="440" y="81"/>
                </a:lnTo>
                <a:lnTo>
                  <a:pt x="458" y="84"/>
                </a:lnTo>
                <a:lnTo>
                  <a:pt x="477" y="88"/>
                </a:lnTo>
                <a:lnTo>
                  <a:pt x="493" y="91"/>
                </a:lnTo>
                <a:lnTo>
                  <a:pt x="483" y="101"/>
                </a:lnTo>
                <a:lnTo>
                  <a:pt x="489" y="103"/>
                </a:lnTo>
                <a:lnTo>
                  <a:pt x="498" y="106"/>
                </a:lnTo>
                <a:lnTo>
                  <a:pt x="508" y="108"/>
                </a:lnTo>
                <a:lnTo>
                  <a:pt x="519" y="110"/>
                </a:lnTo>
                <a:lnTo>
                  <a:pt x="529" y="109"/>
                </a:lnTo>
                <a:lnTo>
                  <a:pt x="540" y="108"/>
                </a:lnTo>
                <a:lnTo>
                  <a:pt x="551" y="105"/>
                </a:lnTo>
                <a:lnTo>
                  <a:pt x="562" y="102"/>
                </a:lnTo>
                <a:lnTo>
                  <a:pt x="573" y="95"/>
                </a:lnTo>
                <a:lnTo>
                  <a:pt x="587" y="86"/>
                </a:lnTo>
                <a:lnTo>
                  <a:pt x="596" y="77"/>
                </a:lnTo>
                <a:lnTo>
                  <a:pt x="610" y="65"/>
                </a:lnTo>
                <a:lnTo>
                  <a:pt x="623" y="51"/>
                </a:lnTo>
                <a:lnTo>
                  <a:pt x="639" y="39"/>
                </a:lnTo>
                <a:lnTo>
                  <a:pt x="653" y="30"/>
                </a:lnTo>
                <a:lnTo>
                  <a:pt x="666" y="22"/>
                </a:lnTo>
                <a:lnTo>
                  <a:pt x="679" y="18"/>
                </a:lnTo>
                <a:lnTo>
                  <a:pt x="696" y="16"/>
                </a:lnTo>
                <a:lnTo>
                  <a:pt x="709" y="16"/>
                </a:lnTo>
                <a:lnTo>
                  <a:pt x="702" y="22"/>
                </a:lnTo>
                <a:lnTo>
                  <a:pt x="697" y="28"/>
                </a:lnTo>
                <a:lnTo>
                  <a:pt x="695" y="32"/>
                </a:lnTo>
                <a:lnTo>
                  <a:pt x="685" y="46"/>
                </a:lnTo>
                <a:lnTo>
                  <a:pt x="677" y="53"/>
                </a:lnTo>
                <a:lnTo>
                  <a:pt x="668" y="60"/>
                </a:lnTo>
                <a:lnTo>
                  <a:pt x="659" y="69"/>
                </a:lnTo>
                <a:lnTo>
                  <a:pt x="653" y="78"/>
                </a:lnTo>
                <a:lnTo>
                  <a:pt x="647" y="86"/>
                </a:lnTo>
                <a:lnTo>
                  <a:pt x="641" y="95"/>
                </a:lnTo>
                <a:lnTo>
                  <a:pt x="637" y="102"/>
                </a:lnTo>
                <a:lnTo>
                  <a:pt x="635" y="110"/>
                </a:lnTo>
                <a:lnTo>
                  <a:pt x="634" y="119"/>
                </a:lnTo>
                <a:lnTo>
                  <a:pt x="637" y="128"/>
                </a:lnTo>
                <a:lnTo>
                  <a:pt x="641" y="138"/>
                </a:lnTo>
                <a:lnTo>
                  <a:pt x="647" y="146"/>
                </a:lnTo>
                <a:lnTo>
                  <a:pt x="654" y="155"/>
                </a:lnTo>
                <a:lnTo>
                  <a:pt x="661" y="161"/>
                </a:lnTo>
                <a:lnTo>
                  <a:pt x="668" y="167"/>
                </a:lnTo>
                <a:lnTo>
                  <a:pt x="676" y="174"/>
                </a:lnTo>
                <a:lnTo>
                  <a:pt x="684" y="182"/>
                </a:lnTo>
                <a:lnTo>
                  <a:pt x="689" y="186"/>
                </a:lnTo>
                <a:lnTo>
                  <a:pt x="695" y="190"/>
                </a:lnTo>
                <a:lnTo>
                  <a:pt x="700" y="194"/>
                </a:lnTo>
                <a:lnTo>
                  <a:pt x="704" y="198"/>
                </a:lnTo>
                <a:lnTo>
                  <a:pt x="696" y="199"/>
                </a:lnTo>
                <a:lnTo>
                  <a:pt x="686" y="199"/>
                </a:lnTo>
                <a:lnTo>
                  <a:pt x="677" y="199"/>
                </a:lnTo>
                <a:lnTo>
                  <a:pt x="669" y="198"/>
                </a:lnTo>
                <a:lnTo>
                  <a:pt x="659" y="197"/>
                </a:lnTo>
                <a:lnTo>
                  <a:pt x="652" y="194"/>
                </a:lnTo>
                <a:lnTo>
                  <a:pt x="645" y="192"/>
                </a:lnTo>
                <a:lnTo>
                  <a:pt x="638" y="189"/>
                </a:lnTo>
                <a:lnTo>
                  <a:pt x="630" y="185"/>
                </a:lnTo>
                <a:lnTo>
                  <a:pt x="623" y="180"/>
                </a:lnTo>
                <a:lnTo>
                  <a:pt x="609" y="171"/>
                </a:lnTo>
                <a:lnTo>
                  <a:pt x="599" y="165"/>
                </a:lnTo>
                <a:lnTo>
                  <a:pt x="585" y="157"/>
                </a:lnTo>
                <a:lnTo>
                  <a:pt x="572" y="155"/>
                </a:lnTo>
                <a:lnTo>
                  <a:pt x="558" y="156"/>
                </a:lnTo>
                <a:lnTo>
                  <a:pt x="540" y="154"/>
                </a:lnTo>
                <a:lnTo>
                  <a:pt x="523" y="156"/>
                </a:lnTo>
                <a:lnTo>
                  <a:pt x="504" y="156"/>
                </a:lnTo>
                <a:lnTo>
                  <a:pt x="484" y="160"/>
                </a:lnTo>
                <a:lnTo>
                  <a:pt x="464" y="165"/>
                </a:lnTo>
                <a:lnTo>
                  <a:pt x="452" y="169"/>
                </a:lnTo>
                <a:lnTo>
                  <a:pt x="449" y="174"/>
                </a:lnTo>
                <a:lnTo>
                  <a:pt x="452" y="178"/>
                </a:lnTo>
                <a:lnTo>
                  <a:pt x="461" y="184"/>
                </a:lnTo>
                <a:lnTo>
                  <a:pt x="438" y="190"/>
                </a:lnTo>
                <a:lnTo>
                  <a:pt x="405" y="198"/>
                </a:lnTo>
                <a:lnTo>
                  <a:pt x="397" y="192"/>
                </a:lnTo>
                <a:lnTo>
                  <a:pt x="388" y="188"/>
                </a:lnTo>
                <a:lnTo>
                  <a:pt x="379" y="186"/>
                </a:lnTo>
                <a:lnTo>
                  <a:pt x="365" y="185"/>
                </a:lnTo>
                <a:lnTo>
                  <a:pt x="347" y="201"/>
                </a:lnTo>
                <a:lnTo>
                  <a:pt x="331" y="189"/>
                </a:lnTo>
                <a:lnTo>
                  <a:pt x="215" y="205"/>
                </a:lnTo>
                <a:lnTo>
                  <a:pt x="192" y="206"/>
                </a:lnTo>
                <a:lnTo>
                  <a:pt x="171" y="205"/>
                </a:lnTo>
                <a:lnTo>
                  <a:pt x="148" y="203"/>
                </a:lnTo>
                <a:lnTo>
                  <a:pt x="104" y="197"/>
                </a:lnTo>
                <a:lnTo>
                  <a:pt x="63" y="187"/>
                </a:lnTo>
                <a:lnTo>
                  <a:pt x="41" y="179"/>
                </a:lnTo>
                <a:lnTo>
                  <a:pt x="26" y="172"/>
                </a:lnTo>
                <a:lnTo>
                  <a:pt x="42" y="168"/>
                </a:lnTo>
                <a:lnTo>
                  <a:pt x="32" y="163"/>
                </a:lnTo>
                <a:lnTo>
                  <a:pt x="26" y="158"/>
                </a:lnTo>
                <a:lnTo>
                  <a:pt x="14" y="149"/>
                </a:lnTo>
                <a:lnTo>
                  <a:pt x="12" y="146"/>
                </a:lnTo>
                <a:lnTo>
                  <a:pt x="8" y="142"/>
                </a:lnTo>
                <a:lnTo>
                  <a:pt x="6" y="140"/>
                </a:lnTo>
                <a:lnTo>
                  <a:pt x="4" y="135"/>
                </a:lnTo>
                <a:lnTo>
                  <a:pt x="2" y="132"/>
                </a:lnTo>
                <a:lnTo>
                  <a:pt x="0" y="128"/>
                </a:lnTo>
              </a:path>
            </a:pathLst>
          </a:custGeom>
          <a:pattFill prst="pct50">
            <a:fgClr>
              <a:schemeClr val="tx1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2553" name="Group 41"/>
          <p:cNvGrpSpPr>
            <a:grpSpLocks/>
          </p:cNvGrpSpPr>
          <p:nvPr/>
        </p:nvGrpSpPr>
        <p:grpSpPr bwMode="auto">
          <a:xfrm>
            <a:off x="1885951" y="882254"/>
            <a:ext cx="3231356" cy="891778"/>
            <a:chOff x="668" y="1056"/>
            <a:chExt cx="2714" cy="749"/>
          </a:xfrm>
        </p:grpSpPr>
        <p:sp>
          <p:nvSpPr>
            <p:cNvPr id="23162" name="Freeform 42" descr="50%"/>
            <p:cNvSpPr>
              <a:spLocks/>
            </p:cNvSpPr>
            <p:nvPr/>
          </p:nvSpPr>
          <p:spPr bwMode="auto">
            <a:xfrm>
              <a:off x="1279" y="1546"/>
              <a:ext cx="284" cy="200"/>
            </a:xfrm>
            <a:custGeom>
              <a:avLst/>
              <a:gdLst>
                <a:gd name="T0" fmla="*/ 0 w 275"/>
                <a:gd name="T1" fmla="*/ 0 h 200"/>
                <a:gd name="T2" fmla="*/ 11 w 275"/>
                <a:gd name="T3" fmla="*/ 19 h 200"/>
                <a:gd name="T4" fmla="*/ 25 w 275"/>
                <a:gd name="T5" fmla="*/ 41 h 200"/>
                <a:gd name="T6" fmla="*/ 42 w 275"/>
                <a:gd name="T7" fmla="*/ 62 h 200"/>
                <a:gd name="T8" fmla="*/ 59 w 275"/>
                <a:gd name="T9" fmla="*/ 81 h 200"/>
                <a:gd name="T10" fmla="*/ 81 w 275"/>
                <a:gd name="T11" fmla="*/ 102 h 200"/>
                <a:gd name="T12" fmla="*/ 102 w 275"/>
                <a:gd name="T13" fmla="*/ 124 h 200"/>
                <a:gd name="T14" fmla="*/ 120 w 275"/>
                <a:gd name="T15" fmla="*/ 140 h 200"/>
                <a:gd name="T16" fmla="*/ 139 w 275"/>
                <a:gd name="T17" fmla="*/ 156 h 200"/>
                <a:gd name="T18" fmla="*/ 159 w 275"/>
                <a:gd name="T19" fmla="*/ 167 h 200"/>
                <a:gd name="T20" fmla="*/ 182 w 275"/>
                <a:gd name="T21" fmla="*/ 178 h 200"/>
                <a:gd name="T22" fmla="*/ 203 w 275"/>
                <a:gd name="T23" fmla="*/ 187 h 200"/>
                <a:gd name="T24" fmla="*/ 226 w 275"/>
                <a:gd name="T25" fmla="*/ 194 h 200"/>
                <a:gd name="T26" fmla="*/ 250 w 275"/>
                <a:gd name="T27" fmla="*/ 198 h 200"/>
                <a:gd name="T28" fmla="*/ 272 w 275"/>
                <a:gd name="T29" fmla="*/ 199 h 200"/>
                <a:gd name="T30" fmla="*/ 283 w 275"/>
                <a:gd name="T31" fmla="*/ 197 h 200"/>
                <a:gd name="T32" fmla="*/ 270 w 275"/>
                <a:gd name="T33" fmla="*/ 183 h 200"/>
                <a:gd name="T34" fmla="*/ 254 w 275"/>
                <a:gd name="T35" fmla="*/ 165 h 200"/>
                <a:gd name="T36" fmla="*/ 239 w 275"/>
                <a:gd name="T37" fmla="*/ 148 h 200"/>
                <a:gd name="T38" fmla="*/ 223 w 275"/>
                <a:gd name="T39" fmla="*/ 128 h 200"/>
                <a:gd name="T40" fmla="*/ 210 w 275"/>
                <a:gd name="T41" fmla="*/ 107 h 200"/>
                <a:gd name="T42" fmla="*/ 198 w 275"/>
                <a:gd name="T43" fmla="*/ 88 h 200"/>
                <a:gd name="T44" fmla="*/ 191 w 275"/>
                <a:gd name="T45" fmla="*/ 69 h 200"/>
                <a:gd name="T46" fmla="*/ 184 w 275"/>
                <a:gd name="T47" fmla="*/ 41 h 200"/>
                <a:gd name="T48" fmla="*/ 184 w 275"/>
                <a:gd name="T49" fmla="*/ 18 h 200"/>
                <a:gd name="T50" fmla="*/ 184 w 275"/>
                <a:gd name="T51" fmla="*/ 2 h 200"/>
                <a:gd name="T52" fmla="*/ 0 w 275"/>
                <a:gd name="T53" fmla="*/ 0 h 20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275" h="200">
                  <a:moveTo>
                    <a:pt x="0" y="0"/>
                  </a:moveTo>
                  <a:lnTo>
                    <a:pt x="11" y="19"/>
                  </a:lnTo>
                  <a:lnTo>
                    <a:pt x="24" y="41"/>
                  </a:lnTo>
                  <a:lnTo>
                    <a:pt x="41" y="62"/>
                  </a:lnTo>
                  <a:lnTo>
                    <a:pt x="57" y="81"/>
                  </a:lnTo>
                  <a:lnTo>
                    <a:pt x="78" y="102"/>
                  </a:lnTo>
                  <a:lnTo>
                    <a:pt x="99" y="124"/>
                  </a:lnTo>
                  <a:lnTo>
                    <a:pt x="116" y="140"/>
                  </a:lnTo>
                  <a:lnTo>
                    <a:pt x="135" y="156"/>
                  </a:lnTo>
                  <a:lnTo>
                    <a:pt x="154" y="167"/>
                  </a:lnTo>
                  <a:lnTo>
                    <a:pt x="176" y="178"/>
                  </a:lnTo>
                  <a:lnTo>
                    <a:pt x="197" y="187"/>
                  </a:lnTo>
                  <a:lnTo>
                    <a:pt x="219" y="194"/>
                  </a:lnTo>
                  <a:lnTo>
                    <a:pt x="242" y="198"/>
                  </a:lnTo>
                  <a:lnTo>
                    <a:pt x="263" y="199"/>
                  </a:lnTo>
                  <a:lnTo>
                    <a:pt x="274" y="197"/>
                  </a:lnTo>
                  <a:lnTo>
                    <a:pt x="261" y="183"/>
                  </a:lnTo>
                  <a:lnTo>
                    <a:pt x="246" y="165"/>
                  </a:lnTo>
                  <a:lnTo>
                    <a:pt x="231" y="148"/>
                  </a:lnTo>
                  <a:lnTo>
                    <a:pt x="216" y="128"/>
                  </a:lnTo>
                  <a:lnTo>
                    <a:pt x="203" y="107"/>
                  </a:lnTo>
                  <a:lnTo>
                    <a:pt x="192" y="88"/>
                  </a:lnTo>
                  <a:lnTo>
                    <a:pt x="185" y="69"/>
                  </a:lnTo>
                  <a:lnTo>
                    <a:pt x="178" y="41"/>
                  </a:lnTo>
                  <a:lnTo>
                    <a:pt x="178" y="18"/>
                  </a:lnTo>
                  <a:lnTo>
                    <a:pt x="178" y="2"/>
                  </a:lnTo>
                  <a:lnTo>
                    <a:pt x="0" y="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63" name="Freeform 43" descr="50%"/>
            <p:cNvSpPr>
              <a:spLocks/>
            </p:cNvSpPr>
            <p:nvPr/>
          </p:nvSpPr>
          <p:spPr bwMode="auto">
            <a:xfrm>
              <a:off x="668" y="1056"/>
              <a:ext cx="2417" cy="650"/>
            </a:xfrm>
            <a:custGeom>
              <a:avLst/>
              <a:gdLst>
                <a:gd name="T0" fmla="*/ 27 w 2339"/>
                <a:gd name="T1" fmla="*/ 386 h 650"/>
                <a:gd name="T2" fmla="*/ 100 w 2339"/>
                <a:gd name="T3" fmla="*/ 360 h 650"/>
                <a:gd name="T4" fmla="*/ 212 w 2339"/>
                <a:gd name="T5" fmla="*/ 329 h 650"/>
                <a:gd name="T6" fmla="*/ 330 w 2339"/>
                <a:gd name="T7" fmla="*/ 306 h 650"/>
                <a:gd name="T8" fmla="*/ 446 w 2339"/>
                <a:gd name="T9" fmla="*/ 286 h 650"/>
                <a:gd name="T10" fmla="*/ 566 w 2339"/>
                <a:gd name="T11" fmla="*/ 265 h 650"/>
                <a:gd name="T12" fmla="*/ 664 w 2339"/>
                <a:gd name="T13" fmla="*/ 247 h 650"/>
                <a:gd name="T14" fmla="*/ 722 w 2339"/>
                <a:gd name="T15" fmla="*/ 218 h 650"/>
                <a:gd name="T16" fmla="*/ 778 w 2339"/>
                <a:gd name="T17" fmla="*/ 166 h 650"/>
                <a:gd name="T18" fmla="*/ 861 w 2339"/>
                <a:gd name="T19" fmla="*/ 91 h 650"/>
                <a:gd name="T20" fmla="*/ 946 w 2339"/>
                <a:gd name="T21" fmla="*/ 24 h 650"/>
                <a:gd name="T22" fmla="*/ 1005 w 2339"/>
                <a:gd name="T23" fmla="*/ 79 h 650"/>
                <a:gd name="T24" fmla="*/ 1041 w 2339"/>
                <a:gd name="T25" fmla="*/ 193 h 650"/>
                <a:gd name="T26" fmla="*/ 1061 w 2339"/>
                <a:gd name="T27" fmla="*/ 238 h 650"/>
                <a:gd name="T28" fmla="*/ 1201 w 2339"/>
                <a:gd name="T29" fmla="*/ 260 h 650"/>
                <a:gd name="T30" fmla="*/ 1341 w 2339"/>
                <a:gd name="T31" fmla="*/ 284 h 650"/>
                <a:gd name="T32" fmla="*/ 1448 w 2339"/>
                <a:gd name="T33" fmla="*/ 284 h 650"/>
                <a:gd name="T34" fmla="*/ 1560 w 2339"/>
                <a:gd name="T35" fmla="*/ 263 h 650"/>
                <a:gd name="T36" fmla="*/ 1646 w 2339"/>
                <a:gd name="T37" fmla="*/ 317 h 650"/>
                <a:gd name="T38" fmla="*/ 1731 w 2339"/>
                <a:gd name="T39" fmla="*/ 340 h 650"/>
                <a:gd name="T40" fmla="*/ 1838 w 2339"/>
                <a:gd name="T41" fmla="*/ 339 h 650"/>
                <a:gd name="T42" fmla="*/ 1951 w 2339"/>
                <a:gd name="T43" fmla="*/ 300 h 650"/>
                <a:gd name="T44" fmla="*/ 2076 w 2339"/>
                <a:gd name="T45" fmla="*/ 204 h 650"/>
                <a:gd name="T46" fmla="*/ 2223 w 2339"/>
                <a:gd name="T47" fmla="*/ 94 h 650"/>
                <a:gd name="T48" fmla="*/ 2369 w 2339"/>
                <a:gd name="T49" fmla="*/ 49 h 650"/>
                <a:gd name="T50" fmla="*/ 2376 w 2339"/>
                <a:gd name="T51" fmla="*/ 87 h 650"/>
                <a:gd name="T52" fmla="*/ 2305 w 2339"/>
                <a:gd name="T53" fmla="*/ 166 h 650"/>
                <a:gd name="T54" fmla="*/ 2223 w 2339"/>
                <a:gd name="T55" fmla="*/ 244 h 650"/>
                <a:gd name="T56" fmla="*/ 2170 w 2339"/>
                <a:gd name="T57" fmla="*/ 322 h 650"/>
                <a:gd name="T58" fmla="*/ 2170 w 2339"/>
                <a:gd name="T59" fmla="*/ 403 h 650"/>
                <a:gd name="T60" fmla="*/ 2229 w 2339"/>
                <a:gd name="T61" fmla="*/ 486 h 650"/>
                <a:gd name="T62" fmla="*/ 2301 w 2339"/>
                <a:gd name="T63" fmla="*/ 549 h 650"/>
                <a:gd name="T64" fmla="*/ 2367 w 2339"/>
                <a:gd name="T65" fmla="*/ 599 h 650"/>
                <a:gd name="T66" fmla="*/ 2369 w 2339"/>
                <a:gd name="T67" fmla="*/ 624 h 650"/>
                <a:gd name="T68" fmla="*/ 2279 w 2339"/>
                <a:gd name="T69" fmla="*/ 622 h 650"/>
                <a:gd name="T70" fmla="*/ 2197 w 2339"/>
                <a:gd name="T71" fmla="*/ 603 h 650"/>
                <a:gd name="T72" fmla="*/ 2120 w 2339"/>
                <a:gd name="T73" fmla="*/ 567 h 650"/>
                <a:gd name="T74" fmla="*/ 1993 w 2339"/>
                <a:gd name="T75" fmla="*/ 494 h 650"/>
                <a:gd name="T76" fmla="*/ 1838 w 2339"/>
                <a:gd name="T77" fmla="*/ 483 h 650"/>
                <a:gd name="T78" fmla="*/ 1649 w 2339"/>
                <a:gd name="T79" fmla="*/ 503 h 650"/>
                <a:gd name="T80" fmla="*/ 1530 w 2339"/>
                <a:gd name="T81" fmla="*/ 546 h 650"/>
                <a:gd name="T82" fmla="*/ 1491 w 2339"/>
                <a:gd name="T83" fmla="*/ 596 h 650"/>
                <a:gd name="T84" fmla="*/ 1322 w 2339"/>
                <a:gd name="T85" fmla="*/ 592 h 650"/>
                <a:gd name="T86" fmla="*/ 1181 w 2339"/>
                <a:gd name="T87" fmla="*/ 633 h 650"/>
                <a:gd name="T88" fmla="*/ 654 w 2339"/>
                <a:gd name="T89" fmla="*/ 649 h 650"/>
                <a:gd name="T90" fmla="*/ 352 w 2339"/>
                <a:gd name="T91" fmla="*/ 621 h 650"/>
                <a:gd name="T92" fmla="*/ 87 w 2339"/>
                <a:gd name="T93" fmla="*/ 540 h 650"/>
                <a:gd name="T94" fmla="*/ 87 w 2339"/>
                <a:gd name="T95" fmla="*/ 498 h 650"/>
                <a:gd name="T96" fmla="*/ 28 w 2339"/>
                <a:gd name="T97" fmla="*/ 448 h 650"/>
                <a:gd name="T98" fmla="*/ 5 w 2339"/>
                <a:gd name="T99" fmla="*/ 414 h 65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339" h="650">
                  <a:moveTo>
                    <a:pt x="0" y="402"/>
                  </a:moveTo>
                  <a:lnTo>
                    <a:pt x="8" y="396"/>
                  </a:lnTo>
                  <a:lnTo>
                    <a:pt x="26" y="386"/>
                  </a:lnTo>
                  <a:lnTo>
                    <a:pt x="53" y="375"/>
                  </a:lnTo>
                  <a:lnTo>
                    <a:pt x="73" y="369"/>
                  </a:lnTo>
                  <a:lnTo>
                    <a:pt x="97" y="360"/>
                  </a:lnTo>
                  <a:lnTo>
                    <a:pt x="134" y="348"/>
                  </a:lnTo>
                  <a:lnTo>
                    <a:pt x="170" y="338"/>
                  </a:lnTo>
                  <a:lnTo>
                    <a:pt x="205" y="329"/>
                  </a:lnTo>
                  <a:lnTo>
                    <a:pt x="240" y="320"/>
                  </a:lnTo>
                  <a:lnTo>
                    <a:pt x="278" y="313"/>
                  </a:lnTo>
                  <a:lnTo>
                    <a:pt x="319" y="306"/>
                  </a:lnTo>
                  <a:lnTo>
                    <a:pt x="360" y="298"/>
                  </a:lnTo>
                  <a:lnTo>
                    <a:pt x="396" y="292"/>
                  </a:lnTo>
                  <a:lnTo>
                    <a:pt x="432" y="286"/>
                  </a:lnTo>
                  <a:lnTo>
                    <a:pt x="464" y="280"/>
                  </a:lnTo>
                  <a:lnTo>
                    <a:pt x="510" y="271"/>
                  </a:lnTo>
                  <a:lnTo>
                    <a:pt x="548" y="265"/>
                  </a:lnTo>
                  <a:lnTo>
                    <a:pt x="584" y="259"/>
                  </a:lnTo>
                  <a:lnTo>
                    <a:pt x="615" y="254"/>
                  </a:lnTo>
                  <a:lnTo>
                    <a:pt x="643" y="247"/>
                  </a:lnTo>
                  <a:lnTo>
                    <a:pt x="667" y="237"/>
                  </a:lnTo>
                  <a:lnTo>
                    <a:pt x="683" y="229"/>
                  </a:lnTo>
                  <a:lnTo>
                    <a:pt x="699" y="218"/>
                  </a:lnTo>
                  <a:lnTo>
                    <a:pt x="715" y="204"/>
                  </a:lnTo>
                  <a:lnTo>
                    <a:pt x="732" y="186"/>
                  </a:lnTo>
                  <a:lnTo>
                    <a:pt x="753" y="166"/>
                  </a:lnTo>
                  <a:lnTo>
                    <a:pt x="779" y="140"/>
                  </a:lnTo>
                  <a:lnTo>
                    <a:pt x="804" y="116"/>
                  </a:lnTo>
                  <a:lnTo>
                    <a:pt x="833" y="91"/>
                  </a:lnTo>
                  <a:lnTo>
                    <a:pt x="858" y="67"/>
                  </a:lnTo>
                  <a:lnTo>
                    <a:pt x="886" y="46"/>
                  </a:lnTo>
                  <a:lnTo>
                    <a:pt x="915" y="24"/>
                  </a:lnTo>
                  <a:lnTo>
                    <a:pt x="950" y="0"/>
                  </a:lnTo>
                  <a:lnTo>
                    <a:pt x="961" y="42"/>
                  </a:lnTo>
                  <a:lnTo>
                    <a:pt x="973" y="79"/>
                  </a:lnTo>
                  <a:lnTo>
                    <a:pt x="987" y="118"/>
                  </a:lnTo>
                  <a:lnTo>
                    <a:pt x="999" y="159"/>
                  </a:lnTo>
                  <a:lnTo>
                    <a:pt x="1007" y="193"/>
                  </a:lnTo>
                  <a:lnTo>
                    <a:pt x="1004" y="214"/>
                  </a:lnTo>
                  <a:lnTo>
                    <a:pt x="991" y="233"/>
                  </a:lnTo>
                  <a:lnTo>
                    <a:pt x="1027" y="238"/>
                  </a:lnTo>
                  <a:lnTo>
                    <a:pt x="1064" y="244"/>
                  </a:lnTo>
                  <a:lnTo>
                    <a:pt x="1111" y="252"/>
                  </a:lnTo>
                  <a:lnTo>
                    <a:pt x="1162" y="260"/>
                  </a:lnTo>
                  <a:lnTo>
                    <a:pt x="1215" y="270"/>
                  </a:lnTo>
                  <a:lnTo>
                    <a:pt x="1255" y="278"/>
                  </a:lnTo>
                  <a:lnTo>
                    <a:pt x="1298" y="284"/>
                  </a:lnTo>
                  <a:lnTo>
                    <a:pt x="1339" y="288"/>
                  </a:lnTo>
                  <a:lnTo>
                    <a:pt x="1374" y="291"/>
                  </a:lnTo>
                  <a:lnTo>
                    <a:pt x="1401" y="284"/>
                  </a:lnTo>
                  <a:lnTo>
                    <a:pt x="1426" y="271"/>
                  </a:lnTo>
                  <a:lnTo>
                    <a:pt x="1452" y="254"/>
                  </a:lnTo>
                  <a:lnTo>
                    <a:pt x="1510" y="263"/>
                  </a:lnTo>
                  <a:lnTo>
                    <a:pt x="1572" y="278"/>
                  </a:lnTo>
                  <a:lnTo>
                    <a:pt x="1625" y="287"/>
                  </a:lnTo>
                  <a:lnTo>
                    <a:pt x="1593" y="317"/>
                  </a:lnTo>
                  <a:lnTo>
                    <a:pt x="1613" y="324"/>
                  </a:lnTo>
                  <a:lnTo>
                    <a:pt x="1643" y="333"/>
                  </a:lnTo>
                  <a:lnTo>
                    <a:pt x="1675" y="340"/>
                  </a:lnTo>
                  <a:lnTo>
                    <a:pt x="1711" y="345"/>
                  </a:lnTo>
                  <a:lnTo>
                    <a:pt x="1744" y="342"/>
                  </a:lnTo>
                  <a:lnTo>
                    <a:pt x="1779" y="339"/>
                  </a:lnTo>
                  <a:lnTo>
                    <a:pt x="1816" y="332"/>
                  </a:lnTo>
                  <a:lnTo>
                    <a:pt x="1854" y="320"/>
                  </a:lnTo>
                  <a:lnTo>
                    <a:pt x="1888" y="300"/>
                  </a:lnTo>
                  <a:lnTo>
                    <a:pt x="1934" y="270"/>
                  </a:lnTo>
                  <a:lnTo>
                    <a:pt x="1966" y="243"/>
                  </a:lnTo>
                  <a:lnTo>
                    <a:pt x="2009" y="204"/>
                  </a:lnTo>
                  <a:lnTo>
                    <a:pt x="2054" y="159"/>
                  </a:lnTo>
                  <a:lnTo>
                    <a:pt x="2107" y="122"/>
                  </a:lnTo>
                  <a:lnTo>
                    <a:pt x="2151" y="94"/>
                  </a:lnTo>
                  <a:lnTo>
                    <a:pt x="2197" y="71"/>
                  </a:lnTo>
                  <a:lnTo>
                    <a:pt x="2240" y="56"/>
                  </a:lnTo>
                  <a:lnTo>
                    <a:pt x="2293" y="49"/>
                  </a:lnTo>
                  <a:lnTo>
                    <a:pt x="2338" y="52"/>
                  </a:lnTo>
                  <a:lnTo>
                    <a:pt x="2315" y="71"/>
                  </a:lnTo>
                  <a:lnTo>
                    <a:pt x="2299" y="87"/>
                  </a:lnTo>
                  <a:lnTo>
                    <a:pt x="2291" y="100"/>
                  </a:lnTo>
                  <a:lnTo>
                    <a:pt x="2257" y="145"/>
                  </a:lnTo>
                  <a:lnTo>
                    <a:pt x="2231" y="166"/>
                  </a:lnTo>
                  <a:lnTo>
                    <a:pt x="2200" y="189"/>
                  </a:lnTo>
                  <a:lnTo>
                    <a:pt x="2173" y="217"/>
                  </a:lnTo>
                  <a:lnTo>
                    <a:pt x="2151" y="244"/>
                  </a:lnTo>
                  <a:lnTo>
                    <a:pt x="2132" y="271"/>
                  </a:lnTo>
                  <a:lnTo>
                    <a:pt x="2114" y="299"/>
                  </a:lnTo>
                  <a:lnTo>
                    <a:pt x="2100" y="322"/>
                  </a:lnTo>
                  <a:lnTo>
                    <a:pt x="2092" y="347"/>
                  </a:lnTo>
                  <a:lnTo>
                    <a:pt x="2089" y="375"/>
                  </a:lnTo>
                  <a:lnTo>
                    <a:pt x="2100" y="403"/>
                  </a:lnTo>
                  <a:lnTo>
                    <a:pt x="2114" y="434"/>
                  </a:lnTo>
                  <a:lnTo>
                    <a:pt x="2134" y="460"/>
                  </a:lnTo>
                  <a:lnTo>
                    <a:pt x="2157" y="486"/>
                  </a:lnTo>
                  <a:lnTo>
                    <a:pt x="2178" y="507"/>
                  </a:lnTo>
                  <a:lnTo>
                    <a:pt x="2202" y="526"/>
                  </a:lnTo>
                  <a:lnTo>
                    <a:pt x="2227" y="549"/>
                  </a:lnTo>
                  <a:lnTo>
                    <a:pt x="2256" y="571"/>
                  </a:lnTo>
                  <a:lnTo>
                    <a:pt x="2273" y="586"/>
                  </a:lnTo>
                  <a:lnTo>
                    <a:pt x="2291" y="599"/>
                  </a:lnTo>
                  <a:lnTo>
                    <a:pt x="2308" y="610"/>
                  </a:lnTo>
                  <a:lnTo>
                    <a:pt x="2320" y="623"/>
                  </a:lnTo>
                  <a:lnTo>
                    <a:pt x="2293" y="624"/>
                  </a:lnTo>
                  <a:lnTo>
                    <a:pt x="2261" y="624"/>
                  </a:lnTo>
                  <a:lnTo>
                    <a:pt x="2231" y="625"/>
                  </a:lnTo>
                  <a:lnTo>
                    <a:pt x="2205" y="622"/>
                  </a:lnTo>
                  <a:lnTo>
                    <a:pt x="2173" y="618"/>
                  </a:lnTo>
                  <a:lnTo>
                    <a:pt x="2149" y="611"/>
                  </a:lnTo>
                  <a:lnTo>
                    <a:pt x="2126" y="603"/>
                  </a:lnTo>
                  <a:lnTo>
                    <a:pt x="2103" y="593"/>
                  </a:lnTo>
                  <a:lnTo>
                    <a:pt x="2076" y="581"/>
                  </a:lnTo>
                  <a:lnTo>
                    <a:pt x="2052" y="567"/>
                  </a:lnTo>
                  <a:lnTo>
                    <a:pt x="2006" y="537"/>
                  </a:lnTo>
                  <a:lnTo>
                    <a:pt x="1974" y="518"/>
                  </a:lnTo>
                  <a:lnTo>
                    <a:pt x="1929" y="494"/>
                  </a:lnTo>
                  <a:lnTo>
                    <a:pt x="1886" y="488"/>
                  </a:lnTo>
                  <a:lnTo>
                    <a:pt x="1840" y="490"/>
                  </a:lnTo>
                  <a:lnTo>
                    <a:pt x="1779" y="483"/>
                  </a:lnTo>
                  <a:lnTo>
                    <a:pt x="1722" y="490"/>
                  </a:lnTo>
                  <a:lnTo>
                    <a:pt x="1660" y="492"/>
                  </a:lnTo>
                  <a:lnTo>
                    <a:pt x="1596" y="503"/>
                  </a:lnTo>
                  <a:lnTo>
                    <a:pt x="1529" y="518"/>
                  </a:lnTo>
                  <a:lnTo>
                    <a:pt x="1489" y="533"/>
                  </a:lnTo>
                  <a:lnTo>
                    <a:pt x="1481" y="546"/>
                  </a:lnTo>
                  <a:lnTo>
                    <a:pt x="1489" y="559"/>
                  </a:lnTo>
                  <a:lnTo>
                    <a:pt x="1521" y="578"/>
                  </a:lnTo>
                  <a:lnTo>
                    <a:pt x="1443" y="596"/>
                  </a:lnTo>
                  <a:lnTo>
                    <a:pt x="1333" y="623"/>
                  </a:lnTo>
                  <a:lnTo>
                    <a:pt x="1309" y="604"/>
                  </a:lnTo>
                  <a:lnTo>
                    <a:pt x="1279" y="592"/>
                  </a:lnTo>
                  <a:lnTo>
                    <a:pt x="1250" y="584"/>
                  </a:lnTo>
                  <a:lnTo>
                    <a:pt x="1204" y="583"/>
                  </a:lnTo>
                  <a:lnTo>
                    <a:pt x="1143" y="633"/>
                  </a:lnTo>
                  <a:lnTo>
                    <a:pt x="1092" y="596"/>
                  </a:lnTo>
                  <a:lnTo>
                    <a:pt x="709" y="646"/>
                  </a:lnTo>
                  <a:lnTo>
                    <a:pt x="633" y="649"/>
                  </a:lnTo>
                  <a:lnTo>
                    <a:pt x="562" y="644"/>
                  </a:lnTo>
                  <a:lnTo>
                    <a:pt x="489" y="638"/>
                  </a:lnTo>
                  <a:lnTo>
                    <a:pt x="341" y="621"/>
                  </a:lnTo>
                  <a:lnTo>
                    <a:pt x="208" y="589"/>
                  </a:lnTo>
                  <a:lnTo>
                    <a:pt x="135" y="564"/>
                  </a:lnTo>
                  <a:lnTo>
                    <a:pt x="84" y="540"/>
                  </a:lnTo>
                  <a:lnTo>
                    <a:pt x="138" y="530"/>
                  </a:lnTo>
                  <a:lnTo>
                    <a:pt x="105" y="512"/>
                  </a:lnTo>
                  <a:lnTo>
                    <a:pt x="84" y="498"/>
                  </a:lnTo>
                  <a:lnTo>
                    <a:pt x="47" y="468"/>
                  </a:lnTo>
                  <a:lnTo>
                    <a:pt x="38" y="460"/>
                  </a:lnTo>
                  <a:lnTo>
                    <a:pt x="27" y="448"/>
                  </a:lnTo>
                  <a:lnTo>
                    <a:pt x="19" y="439"/>
                  </a:lnTo>
                  <a:lnTo>
                    <a:pt x="13" y="424"/>
                  </a:lnTo>
                  <a:lnTo>
                    <a:pt x="5" y="414"/>
                  </a:lnTo>
                  <a:lnTo>
                    <a:pt x="0" y="402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164" name="Group 44"/>
            <p:cNvGrpSpPr>
              <a:grpSpLocks/>
            </p:cNvGrpSpPr>
            <p:nvPr/>
          </p:nvGrpSpPr>
          <p:grpSpPr bwMode="auto">
            <a:xfrm>
              <a:off x="876" y="1476"/>
              <a:ext cx="59" cy="51"/>
              <a:chOff x="1008" y="1648"/>
              <a:chExt cx="57" cy="51"/>
            </a:xfrm>
          </p:grpSpPr>
          <p:sp>
            <p:nvSpPr>
              <p:cNvPr id="23178" name="Oval 45" descr="50%"/>
              <p:cNvSpPr>
                <a:spLocks noChangeArrowheads="1"/>
              </p:cNvSpPr>
              <p:nvPr/>
            </p:nvSpPr>
            <p:spPr bwMode="auto">
              <a:xfrm>
                <a:off x="1008" y="1648"/>
                <a:ext cx="57" cy="51"/>
              </a:xfrm>
              <a:prstGeom prst="ellipse">
                <a:avLst/>
              </a:pr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179" name="Arc 46" descr="50%"/>
              <p:cNvSpPr>
                <a:spLocks/>
              </p:cNvSpPr>
              <p:nvPr/>
            </p:nvSpPr>
            <p:spPr bwMode="auto">
              <a:xfrm>
                <a:off x="1019" y="1654"/>
                <a:ext cx="42" cy="38"/>
              </a:xfrm>
              <a:custGeom>
                <a:avLst/>
                <a:gdLst>
                  <a:gd name="T0" fmla="*/ 35 w 43200"/>
                  <a:gd name="T1" fmla="*/ 5 h 42819"/>
                  <a:gd name="T2" fmla="*/ 17 w 43200"/>
                  <a:gd name="T3" fmla="*/ 0 h 42819"/>
                  <a:gd name="T4" fmla="*/ 21 w 43200"/>
                  <a:gd name="T5" fmla="*/ 19 h 428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2819" fill="none" extrusionOk="0">
                    <a:moveTo>
                      <a:pt x="36091" y="5202"/>
                    </a:moveTo>
                    <a:cubicBezTo>
                      <a:pt x="40617" y="9296"/>
                      <a:pt x="43200" y="15115"/>
                      <a:pt x="43200" y="21219"/>
                    </a:cubicBezTo>
                    <a:cubicBezTo>
                      <a:pt x="43200" y="33148"/>
                      <a:pt x="33529" y="42819"/>
                      <a:pt x="21600" y="42819"/>
                    </a:cubicBezTo>
                    <a:cubicBezTo>
                      <a:pt x="9670" y="42819"/>
                      <a:pt x="0" y="33148"/>
                      <a:pt x="0" y="21219"/>
                    </a:cubicBezTo>
                    <a:cubicBezTo>
                      <a:pt x="-1" y="10848"/>
                      <a:pt x="7370" y="1941"/>
                      <a:pt x="17558" y="0"/>
                    </a:cubicBezTo>
                  </a:path>
                  <a:path w="43200" h="42819" stroke="0" extrusionOk="0">
                    <a:moveTo>
                      <a:pt x="36091" y="5202"/>
                    </a:moveTo>
                    <a:cubicBezTo>
                      <a:pt x="40617" y="9296"/>
                      <a:pt x="43200" y="15115"/>
                      <a:pt x="43200" y="21219"/>
                    </a:cubicBezTo>
                    <a:cubicBezTo>
                      <a:pt x="43200" y="33148"/>
                      <a:pt x="33529" y="42819"/>
                      <a:pt x="21600" y="42819"/>
                    </a:cubicBezTo>
                    <a:cubicBezTo>
                      <a:pt x="9670" y="42819"/>
                      <a:pt x="0" y="33148"/>
                      <a:pt x="0" y="21219"/>
                    </a:cubicBezTo>
                    <a:cubicBezTo>
                      <a:pt x="-1" y="10848"/>
                      <a:pt x="7370" y="1941"/>
                      <a:pt x="17558" y="0"/>
                    </a:cubicBezTo>
                    <a:lnTo>
                      <a:pt x="21600" y="21219"/>
                    </a:lnTo>
                    <a:lnTo>
                      <a:pt x="36091" y="5202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165" name="Group 47"/>
            <p:cNvGrpSpPr>
              <a:grpSpLocks/>
            </p:cNvGrpSpPr>
            <p:nvPr/>
          </p:nvGrpSpPr>
          <p:grpSpPr bwMode="auto">
            <a:xfrm>
              <a:off x="1023" y="1526"/>
              <a:ext cx="158" cy="114"/>
              <a:chOff x="1151" y="1698"/>
              <a:chExt cx="153" cy="114"/>
            </a:xfrm>
          </p:grpSpPr>
          <p:sp>
            <p:nvSpPr>
              <p:cNvPr id="23173" name="Arc 48" descr="50%"/>
              <p:cNvSpPr>
                <a:spLocks/>
              </p:cNvSpPr>
              <p:nvPr/>
            </p:nvSpPr>
            <p:spPr bwMode="auto">
              <a:xfrm>
                <a:off x="1183" y="1698"/>
                <a:ext cx="22" cy="114"/>
              </a:xfrm>
              <a:custGeom>
                <a:avLst/>
                <a:gdLst>
                  <a:gd name="T0" fmla="*/ 2 w 25027"/>
                  <a:gd name="T1" fmla="*/ 0 h 43200"/>
                  <a:gd name="T2" fmla="*/ 0 w 25027"/>
                  <a:gd name="T3" fmla="*/ 113 h 43200"/>
                  <a:gd name="T4" fmla="*/ 3 w 25027"/>
                  <a:gd name="T5" fmla="*/ 5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027" h="43200" fill="none" extrusionOk="0">
                    <a:moveTo>
                      <a:pt x="2291" y="29"/>
                    </a:moveTo>
                    <a:cubicBezTo>
                      <a:pt x="2670" y="9"/>
                      <a:pt x="3048" y="-1"/>
                      <a:pt x="3427" y="0"/>
                    </a:cubicBezTo>
                    <a:cubicBezTo>
                      <a:pt x="15356" y="0"/>
                      <a:pt x="25027" y="9670"/>
                      <a:pt x="25027" y="21600"/>
                    </a:cubicBezTo>
                    <a:cubicBezTo>
                      <a:pt x="25027" y="33529"/>
                      <a:pt x="15356" y="43200"/>
                      <a:pt x="3427" y="43200"/>
                    </a:cubicBezTo>
                    <a:cubicBezTo>
                      <a:pt x="2279" y="43200"/>
                      <a:pt x="1133" y="43108"/>
                      <a:pt x="-1" y="42926"/>
                    </a:cubicBezTo>
                  </a:path>
                  <a:path w="25027" h="43200" stroke="0" extrusionOk="0">
                    <a:moveTo>
                      <a:pt x="2291" y="29"/>
                    </a:moveTo>
                    <a:cubicBezTo>
                      <a:pt x="2670" y="9"/>
                      <a:pt x="3048" y="-1"/>
                      <a:pt x="3427" y="0"/>
                    </a:cubicBezTo>
                    <a:cubicBezTo>
                      <a:pt x="15356" y="0"/>
                      <a:pt x="25027" y="9670"/>
                      <a:pt x="25027" y="21600"/>
                    </a:cubicBezTo>
                    <a:cubicBezTo>
                      <a:pt x="25027" y="33529"/>
                      <a:pt x="15356" y="43200"/>
                      <a:pt x="3427" y="43200"/>
                    </a:cubicBezTo>
                    <a:cubicBezTo>
                      <a:pt x="2279" y="43200"/>
                      <a:pt x="1133" y="43108"/>
                      <a:pt x="-1" y="42926"/>
                    </a:cubicBezTo>
                    <a:lnTo>
                      <a:pt x="3427" y="21600"/>
                    </a:lnTo>
                    <a:lnTo>
                      <a:pt x="2291" y="29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174" name="Arc 49" descr="50%"/>
              <p:cNvSpPr>
                <a:spLocks/>
              </p:cNvSpPr>
              <p:nvPr/>
            </p:nvSpPr>
            <p:spPr bwMode="auto">
              <a:xfrm>
                <a:off x="1151" y="1698"/>
                <a:ext cx="26" cy="114"/>
              </a:xfrm>
              <a:custGeom>
                <a:avLst/>
                <a:gdLst>
                  <a:gd name="T0" fmla="*/ 5 w 27870"/>
                  <a:gd name="T1" fmla="*/ 0 h 43200"/>
                  <a:gd name="T2" fmla="*/ 0 w 27870"/>
                  <a:gd name="T3" fmla="*/ 112 h 43200"/>
                  <a:gd name="T4" fmla="*/ 6 w 27870"/>
                  <a:gd name="T5" fmla="*/ 5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870" h="43200" fill="none" extrusionOk="0">
                    <a:moveTo>
                      <a:pt x="5217" y="25"/>
                    </a:moveTo>
                    <a:cubicBezTo>
                      <a:pt x="5568" y="8"/>
                      <a:pt x="5919" y="-1"/>
                      <a:pt x="6270" y="0"/>
                    </a:cubicBezTo>
                    <a:cubicBezTo>
                      <a:pt x="18199" y="0"/>
                      <a:pt x="27870" y="9670"/>
                      <a:pt x="27870" y="21600"/>
                    </a:cubicBezTo>
                    <a:cubicBezTo>
                      <a:pt x="27870" y="33529"/>
                      <a:pt x="18199" y="43200"/>
                      <a:pt x="6270" y="43200"/>
                    </a:cubicBezTo>
                    <a:cubicBezTo>
                      <a:pt x="4145" y="43200"/>
                      <a:pt x="2032" y="42886"/>
                      <a:pt x="0" y="42269"/>
                    </a:cubicBezTo>
                  </a:path>
                  <a:path w="27870" h="43200" stroke="0" extrusionOk="0">
                    <a:moveTo>
                      <a:pt x="5217" y="25"/>
                    </a:moveTo>
                    <a:cubicBezTo>
                      <a:pt x="5568" y="8"/>
                      <a:pt x="5919" y="-1"/>
                      <a:pt x="6270" y="0"/>
                    </a:cubicBezTo>
                    <a:cubicBezTo>
                      <a:pt x="18199" y="0"/>
                      <a:pt x="27870" y="9670"/>
                      <a:pt x="27870" y="21600"/>
                    </a:cubicBezTo>
                    <a:cubicBezTo>
                      <a:pt x="27870" y="33529"/>
                      <a:pt x="18199" y="43200"/>
                      <a:pt x="6270" y="43200"/>
                    </a:cubicBezTo>
                    <a:cubicBezTo>
                      <a:pt x="4145" y="43200"/>
                      <a:pt x="2032" y="42886"/>
                      <a:pt x="0" y="42269"/>
                    </a:cubicBezTo>
                    <a:lnTo>
                      <a:pt x="6270" y="21600"/>
                    </a:lnTo>
                    <a:lnTo>
                      <a:pt x="5217" y="25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175" name="Arc 50" descr="50%"/>
              <p:cNvSpPr>
                <a:spLocks/>
              </p:cNvSpPr>
              <p:nvPr/>
            </p:nvSpPr>
            <p:spPr bwMode="auto">
              <a:xfrm>
                <a:off x="1215" y="1698"/>
                <a:ext cx="23" cy="114"/>
              </a:xfrm>
              <a:custGeom>
                <a:avLst/>
                <a:gdLst>
                  <a:gd name="T0" fmla="*/ 2 w 24942"/>
                  <a:gd name="T1" fmla="*/ 0 h 43200"/>
                  <a:gd name="T2" fmla="*/ 0 w 24942"/>
                  <a:gd name="T3" fmla="*/ 113 h 43200"/>
                  <a:gd name="T4" fmla="*/ 3 w 24942"/>
                  <a:gd name="T5" fmla="*/ 5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942" h="43200" fill="none" extrusionOk="0">
                    <a:moveTo>
                      <a:pt x="2236" y="28"/>
                    </a:moveTo>
                    <a:cubicBezTo>
                      <a:pt x="2604" y="9"/>
                      <a:pt x="2973" y="-1"/>
                      <a:pt x="3342" y="0"/>
                    </a:cubicBezTo>
                    <a:cubicBezTo>
                      <a:pt x="15271" y="0"/>
                      <a:pt x="24942" y="9670"/>
                      <a:pt x="24942" y="21600"/>
                    </a:cubicBezTo>
                    <a:cubicBezTo>
                      <a:pt x="24942" y="33529"/>
                      <a:pt x="15271" y="43200"/>
                      <a:pt x="3342" y="43200"/>
                    </a:cubicBezTo>
                    <a:cubicBezTo>
                      <a:pt x="2222" y="43200"/>
                      <a:pt x="1105" y="43113"/>
                      <a:pt x="0" y="42939"/>
                    </a:cubicBezTo>
                  </a:path>
                  <a:path w="24942" h="43200" stroke="0" extrusionOk="0">
                    <a:moveTo>
                      <a:pt x="2236" y="28"/>
                    </a:moveTo>
                    <a:cubicBezTo>
                      <a:pt x="2604" y="9"/>
                      <a:pt x="2973" y="-1"/>
                      <a:pt x="3342" y="0"/>
                    </a:cubicBezTo>
                    <a:cubicBezTo>
                      <a:pt x="15271" y="0"/>
                      <a:pt x="24942" y="9670"/>
                      <a:pt x="24942" y="21600"/>
                    </a:cubicBezTo>
                    <a:cubicBezTo>
                      <a:pt x="24942" y="33529"/>
                      <a:pt x="15271" y="43200"/>
                      <a:pt x="3342" y="43200"/>
                    </a:cubicBezTo>
                    <a:cubicBezTo>
                      <a:pt x="2222" y="43200"/>
                      <a:pt x="1105" y="43113"/>
                      <a:pt x="0" y="42939"/>
                    </a:cubicBezTo>
                    <a:lnTo>
                      <a:pt x="3342" y="21600"/>
                    </a:lnTo>
                    <a:lnTo>
                      <a:pt x="2236" y="2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176" name="Arc 51" descr="50%"/>
              <p:cNvSpPr>
                <a:spLocks/>
              </p:cNvSpPr>
              <p:nvPr/>
            </p:nvSpPr>
            <p:spPr bwMode="auto">
              <a:xfrm>
                <a:off x="1246" y="1698"/>
                <a:ext cx="23" cy="114"/>
              </a:xfrm>
              <a:custGeom>
                <a:avLst/>
                <a:gdLst>
                  <a:gd name="T0" fmla="*/ 2 w 24942"/>
                  <a:gd name="T1" fmla="*/ 0 h 43200"/>
                  <a:gd name="T2" fmla="*/ 0 w 24942"/>
                  <a:gd name="T3" fmla="*/ 113 h 43200"/>
                  <a:gd name="T4" fmla="*/ 3 w 24942"/>
                  <a:gd name="T5" fmla="*/ 5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942" h="43200" fill="none" extrusionOk="0">
                    <a:moveTo>
                      <a:pt x="2236" y="28"/>
                    </a:moveTo>
                    <a:cubicBezTo>
                      <a:pt x="2604" y="9"/>
                      <a:pt x="2973" y="-1"/>
                      <a:pt x="3342" y="0"/>
                    </a:cubicBezTo>
                    <a:cubicBezTo>
                      <a:pt x="15271" y="0"/>
                      <a:pt x="24942" y="9670"/>
                      <a:pt x="24942" y="21600"/>
                    </a:cubicBezTo>
                    <a:cubicBezTo>
                      <a:pt x="24942" y="33529"/>
                      <a:pt x="15271" y="43200"/>
                      <a:pt x="3342" y="43200"/>
                    </a:cubicBezTo>
                    <a:cubicBezTo>
                      <a:pt x="2222" y="43200"/>
                      <a:pt x="1105" y="43113"/>
                      <a:pt x="0" y="42939"/>
                    </a:cubicBezTo>
                  </a:path>
                  <a:path w="24942" h="43200" stroke="0" extrusionOk="0">
                    <a:moveTo>
                      <a:pt x="2236" y="28"/>
                    </a:moveTo>
                    <a:cubicBezTo>
                      <a:pt x="2604" y="9"/>
                      <a:pt x="2973" y="-1"/>
                      <a:pt x="3342" y="0"/>
                    </a:cubicBezTo>
                    <a:cubicBezTo>
                      <a:pt x="15271" y="0"/>
                      <a:pt x="24942" y="9670"/>
                      <a:pt x="24942" y="21600"/>
                    </a:cubicBezTo>
                    <a:cubicBezTo>
                      <a:pt x="24942" y="33529"/>
                      <a:pt x="15271" y="43200"/>
                      <a:pt x="3342" y="43200"/>
                    </a:cubicBezTo>
                    <a:cubicBezTo>
                      <a:pt x="2222" y="43200"/>
                      <a:pt x="1105" y="43113"/>
                      <a:pt x="0" y="42939"/>
                    </a:cubicBezTo>
                    <a:lnTo>
                      <a:pt x="3342" y="21600"/>
                    </a:lnTo>
                    <a:lnTo>
                      <a:pt x="2236" y="2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177" name="Arc 52" descr="50%"/>
              <p:cNvSpPr>
                <a:spLocks/>
              </p:cNvSpPr>
              <p:nvPr/>
            </p:nvSpPr>
            <p:spPr bwMode="auto">
              <a:xfrm>
                <a:off x="1281" y="1698"/>
                <a:ext cx="23" cy="114"/>
              </a:xfrm>
              <a:custGeom>
                <a:avLst/>
                <a:gdLst>
                  <a:gd name="T0" fmla="*/ 2 w 24942"/>
                  <a:gd name="T1" fmla="*/ 0 h 43200"/>
                  <a:gd name="T2" fmla="*/ 0 w 24942"/>
                  <a:gd name="T3" fmla="*/ 113 h 43200"/>
                  <a:gd name="T4" fmla="*/ 3 w 24942"/>
                  <a:gd name="T5" fmla="*/ 57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942" h="43200" fill="none" extrusionOk="0">
                    <a:moveTo>
                      <a:pt x="2236" y="28"/>
                    </a:moveTo>
                    <a:cubicBezTo>
                      <a:pt x="2604" y="9"/>
                      <a:pt x="2973" y="-1"/>
                      <a:pt x="3342" y="0"/>
                    </a:cubicBezTo>
                    <a:cubicBezTo>
                      <a:pt x="15271" y="0"/>
                      <a:pt x="24942" y="9670"/>
                      <a:pt x="24942" y="21600"/>
                    </a:cubicBezTo>
                    <a:cubicBezTo>
                      <a:pt x="24942" y="33529"/>
                      <a:pt x="15271" y="43200"/>
                      <a:pt x="3342" y="43200"/>
                    </a:cubicBezTo>
                    <a:cubicBezTo>
                      <a:pt x="2222" y="43200"/>
                      <a:pt x="1105" y="43113"/>
                      <a:pt x="0" y="42939"/>
                    </a:cubicBezTo>
                  </a:path>
                  <a:path w="24942" h="43200" stroke="0" extrusionOk="0">
                    <a:moveTo>
                      <a:pt x="2236" y="28"/>
                    </a:moveTo>
                    <a:cubicBezTo>
                      <a:pt x="2604" y="9"/>
                      <a:pt x="2973" y="-1"/>
                      <a:pt x="3342" y="0"/>
                    </a:cubicBezTo>
                    <a:cubicBezTo>
                      <a:pt x="15271" y="0"/>
                      <a:pt x="24942" y="9670"/>
                      <a:pt x="24942" y="21600"/>
                    </a:cubicBezTo>
                    <a:cubicBezTo>
                      <a:pt x="24942" y="33529"/>
                      <a:pt x="15271" y="43200"/>
                      <a:pt x="3342" y="43200"/>
                    </a:cubicBezTo>
                    <a:cubicBezTo>
                      <a:pt x="2222" y="43200"/>
                      <a:pt x="1105" y="43113"/>
                      <a:pt x="0" y="42939"/>
                    </a:cubicBezTo>
                    <a:lnTo>
                      <a:pt x="3342" y="21600"/>
                    </a:lnTo>
                    <a:lnTo>
                      <a:pt x="2236" y="28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3166" name="Freeform 53" descr="50%"/>
            <p:cNvSpPr>
              <a:spLocks/>
            </p:cNvSpPr>
            <p:nvPr/>
          </p:nvSpPr>
          <p:spPr bwMode="auto">
            <a:xfrm>
              <a:off x="674" y="1064"/>
              <a:ext cx="2399" cy="434"/>
            </a:xfrm>
            <a:custGeom>
              <a:avLst/>
              <a:gdLst>
                <a:gd name="T0" fmla="*/ 52 w 2322"/>
                <a:gd name="T1" fmla="*/ 367 h 434"/>
                <a:gd name="T2" fmla="*/ 163 w 2322"/>
                <a:gd name="T3" fmla="*/ 331 h 434"/>
                <a:gd name="T4" fmla="*/ 322 w 2322"/>
                <a:gd name="T5" fmla="*/ 297 h 434"/>
                <a:gd name="T6" fmla="*/ 482 w 2322"/>
                <a:gd name="T7" fmla="*/ 271 h 434"/>
                <a:gd name="T8" fmla="*/ 634 w 2322"/>
                <a:gd name="T9" fmla="*/ 245 h 434"/>
                <a:gd name="T10" fmla="*/ 722 w 2322"/>
                <a:gd name="T11" fmla="*/ 208 h 434"/>
                <a:gd name="T12" fmla="*/ 801 w 2322"/>
                <a:gd name="T13" fmla="*/ 135 h 434"/>
                <a:gd name="T14" fmla="*/ 915 w 2322"/>
                <a:gd name="T15" fmla="*/ 40 h 434"/>
                <a:gd name="T16" fmla="*/ 997 w 2322"/>
                <a:gd name="T17" fmla="*/ 77 h 434"/>
                <a:gd name="T18" fmla="*/ 1031 w 2322"/>
                <a:gd name="T19" fmla="*/ 187 h 434"/>
                <a:gd name="T20" fmla="*/ 1092 w 2322"/>
                <a:gd name="T21" fmla="*/ 237 h 434"/>
                <a:gd name="T22" fmla="*/ 1289 w 2322"/>
                <a:gd name="T23" fmla="*/ 270 h 434"/>
                <a:gd name="T24" fmla="*/ 1439 w 2322"/>
                <a:gd name="T25" fmla="*/ 275 h 434"/>
                <a:gd name="T26" fmla="*/ 1616 w 2322"/>
                <a:gd name="T27" fmla="*/ 270 h 434"/>
                <a:gd name="T28" fmla="*/ 1688 w 2322"/>
                <a:gd name="T29" fmla="*/ 324 h 434"/>
                <a:gd name="T30" fmla="*/ 1829 w 2322"/>
                <a:gd name="T31" fmla="*/ 331 h 434"/>
                <a:gd name="T32" fmla="*/ 1989 w 2322"/>
                <a:gd name="T33" fmla="*/ 262 h 434"/>
                <a:gd name="T34" fmla="*/ 2115 w 2322"/>
                <a:gd name="T35" fmla="*/ 152 h 434"/>
                <a:gd name="T36" fmla="*/ 2215 w 2322"/>
                <a:gd name="T37" fmla="*/ 87 h 434"/>
                <a:gd name="T38" fmla="*/ 2303 w 2322"/>
                <a:gd name="T39" fmla="*/ 52 h 434"/>
                <a:gd name="T40" fmla="*/ 2380 w 2322"/>
                <a:gd name="T41" fmla="*/ 60 h 434"/>
                <a:gd name="T42" fmla="*/ 2318 w 2322"/>
                <a:gd name="T43" fmla="*/ 136 h 434"/>
                <a:gd name="T44" fmla="*/ 2237 w 2322"/>
                <a:gd name="T45" fmla="*/ 202 h 434"/>
                <a:gd name="T46" fmla="*/ 2190 w 2322"/>
                <a:gd name="T47" fmla="*/ 258 h 434"/>
                <a:gd name="T48" fmla="*/ 2156 w 2322"/>
                <a:gd name="T49" fmla="*/ 309 h 434"/>
                <a:gd name="T50" fmla="*/ 2145 w 2322"/>
                <a:gd name="T51" fmla="*/ 363 h 434"/>
                <a:gd name="T52" fmla="*/ 2078 w 2322"/>
                <a:gd name="T53" fmla="*/ 353 h 434"/>
                <a:gd name="T54" fmla="*/ 2017 w 2322"/>
                <a:gd name="T55" fmla="*/ 371 h 434"/>
                <a:gd name="T56" fmla="*/ 1945 w 2322"/>
                <a:gd name="T57" fmla="*/ 363 h 434"/>
                <a:gd name="T58" fmla="*/ 1867 w 2322"/>
                <a:gd name="T59" fmla="*/ 367 h 434"/>
                <a:gd name="T60" fmla="*/ 1785 w 2322"/>
                <a:gd name="T61" fmla="*/ 360 h 434"/>
                <a:gd name="T62" fmla="*/ 1694 w 2322"/>
                <a:gd name="T63" fmla="*/ 365 h 434"/>
                <a:gd name="T64" fmla="*/ 1599 w 2322"/>
                <a:gd name="T65" fmla="*/ 379 h 434"/>
                <a:gd name="T66" fmla="*/ 1508 w 2322"/>
                <a:gd name="T67" fmla="*/ 381 h 434"/>
                <a:gd name="T68" fmla="*/ 1419 w 2322"/>
                <a:gd name="T69" fmla="*/ 383 h 434"/>
                <a:gd name="T70" fmla="*/ 1335 w 2322"/>
                <a:gd name="T71" fmla="*/ 391 h 434"/>
                <a:gd name="T72" fmla="*/ 1247 w 2322"/>
                <a:gd name="T73" fmla="*/ 410 h 434"/>
                <a:gd name="T74" fmla="*/ 1142 w 2322"/>
                <a:gd name="T75" fmla="*/ 409 h 434"/>
                <a:gd name="T76" fmla="*/ 1050 w 2322"/>
                <a:gd name="T77" fmla="*/ 415 h 434"/>
                <a:gd name="T78" fmla="*/ 958 w 2322"/>
                <a:gd name="T79" fmla="*/ 400 h 434"/>
                <a:gd name="T80" fmla="*/ 870 w 2322"/>
                <a:gd name="T81" fmla="*/ 409 h 434"/>
                <a:gd name="T82" fmla="*/ 798 w 2322"/>
                <a:gd name="T83" fmla="*/ 399 h 434"/>
                <a:gd name="T84" fmla="*/ 709 w 2322"/>
                <a:gd name="T85" fmla="*/ 409 h 434"/>
                <a:gd name="T86" fmla="*/ 614 w 2322"/>
                <a:gd name="T87" fmla="*/ 414 h 434"/>
                <a:gd name="T88" fmla="*/ 493 w 2322"/>
                <a:gd name="T89" fmla="*/ 433 h 434"/>
                <a:gd name="T90" fmla="*/ 351 w 2322"/>
                <a:gd name="T91" fmla="*/ 433 h 434"/>
                <a:gd name="T92" fmla="*/ 236 w 2322"/>
                <a:gd name="T93" fmla="*/ 417 h 434"/>
                <a:gd name="T94" fmla="*/ 128 w 2322"/>
                <a:gd name="T95" fmla="*/ 421 h 434"/>
                <a:gd name="T96" fmla="*/ 25 w 2322"/>
                <a:gd name="T97" fmla="*/ 401 h 43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322" h="434">
                  <a:moveTo>
                    <a:pt x="0" y="390"/>
                  </a:moveTo>
                  <a:lnTo>
                    <a:pt x="13" y="382"/>
                  </a:lnTo>
                  <a:lnTo>
                    <a:pt x="31" y="374"/>
                  </a:lnTo>
                  <a:lnTo>
                    <a:pt x="50" y="367"/>
                  </a:lnTo>
                  <a:lnTo>
                    <a:pt x="70" y="359"/>
                  </a:lnTo>
                  <a:lnTo>
                    <a:pt x="94" y="351"/>
                  </a:lnTo>
                  <a:lnTo>
                    <a:pt x="129" y="341"/>
                  </a:lnTo>
                  <a:lnTo>
                    <a:pt x="158" y="331"/>
                  </a:lnTo>
                  <a:lnTo>
                    <a:pt x="194" y="321"/>
                  </a:lnTo>
                  <a:lnTo>
                    <a:pt x="233" y="312"/>
                  </a:lnTo>
                  <a:lnTo>
                    <a:pt x="272" y="304"/>
                  </a:lnTo>
                  <a:lnTo>
                    <a:pt x="312" y="297"/>
                  </a:lnTo>
                  <a:lnTo>
                    <a:pt x="351" y="291"/>
                  </a:lnTo>
                  <a:lnTo>
                    <a:pt x="390" y="285"/>
                  </a:lnTo>
                  <a:lnTo>
                    <a:pt x="428" y="278"/>
                  </a:lnTo>
                  <a:lnTo>
                    <a:pt x="467" y="271"/>
                  </a:lnTo>
                  <a:lnTo>
                    <a:pt x="497" y="265"/>
                  </a:lnTo>
                  <a:lnTo>
                    <a:pt x="541" y="257"/>
                  </a:lnTo>
                  <a:lnTo>
                    <a:pt x="579" y="251"/>
                  </a:lnTo>
                  <a:lnTo>
                    <a:pt x="614" y="245"/>
                  </a:lnTo>
                  <a:lnTo>
                    <a:pt x="640" y="239"/>
                  </a:lnTo>
                  <a:lnTo>
                    <a:pt x="664" y="231"/>
                  </a:lnTo>
                  <a:lnTo>
                    <a:pt x="685" y="219"/>
                  </a:lnTo>
                  <a:lnTo>
                    <a:pt x="699" y="208"/>
                  </a:lnTo>
                  <a:lnTo>
                    <a:pt x="714" y="194"/>
                  </a:lnTo>
                  <a:lnTo>
                    <a:pt x="729" y="178"/>
                  </a:lnTo>
                  <a:lnTo>
                    <a:pt x="752" y="155"/>
                  </a:lnTo>
                  <a:lnTo>
                    <a:pt x="775" y="135"/>
                  </a:lnTo>
                  <a:lnTo>
                    <a:pt x="801" y="110"/>
                  </a:lnTo>
                  <a:lnTo>
                    <a:pt x="828" y="87"/>
                  </a:lnTo>
                  <a:lnTo>
                    <a:pt x="854" y="62"/>
                  </a:lnTo>
                  <a:lnTo>
                    <a:pt x="886" y="40"/>
                  </a:lnTo>
                  <a:lnTo>
                    <a:pt x="916" y="17"/>
                  </a:lnTo>
                  <a:lnTo>
                    <a:pt x="941" y="0"/>
                  </a:lnTo>
                  <a:lnTo>
                    <a:pt x="951" y="36"/>
                  </a:lnTo>
                  <a:lnTo>
                    <a:pt x="965" y="77"/>
                  </a:lnTo>
                  <a:lnTo>
                    <a:pt x="979" y="115"/>
                  </a:lnTo>
                  <a:lnTo>
                    <a:pt x="990" y="152"/>
                  </a:lnTo>
                  <a:lnTo>
                    <a:pt x="995" y="170"/>
                  </a:lnTo>
                  <a:lnTo>
                    <a:pt x="998" y="187"/>
                  </a:lnTo>
                  <a:lnTo>
                    <a:pt x="995" y="204"/>
                  </a:lnTo>
                  <a:lnTo>
                    <a:pt x="979" y="224"/>
                  </a:lnTo>
                  <a:lnTo>
                    <a:pt x="1019" y="232"/>
                  </a:lnTo>
                  <a:lnTo>
                    <a:pt x="1057" y="237"/>
                  </a:lnTo>
                  <a:lnTo>
                    <a:pt x="1104" y="245"/>
                  </a:lnTo>
                  <a:lnTo>
                    <a:pt x="1156" y="253"/>
                  </a:lnTo>
                  <a:lnTo>
                    <a:pt x="1208" y="263"/>
                  </a:lnTo>
                  <a:lnTo>
                    <a:pt x="1248" y="270"/>
                  </a:lnTo>
                  <a:lnTo>
                    <a:pt x="1291" y="275"/>
                  </a:lnTo>
                  <a:lnTo>
                    <a:pt x="1331" y="280"/>
                  </a:lnTo>
                  <a:lnTo>
                    <a:pt x="1364" y="283"/>
                  </a:lnTo>
                  <a:lnTo>
                    <a:pt x="1393" y="275"/>
                  </a:lnTo>
                  <a:lnTo>
                    <a:pt x="1419" y="263"/>
                  </a:lnTo>
                  <a:lnTo>
                    <a:pt x="1444" y="246"/>
                  </a:lnTo>
                  <a:lnTo>
                    <a:pt x="1501" y="255"/>
                  </a:lnTo>
                  <a:lnTo>
                    <a:pt x="1564" y="270"/>
                  </a:lnTo>
                  <a:lnTo>
                    <a:pt x="1610" y="279"/>
                  </a:lnTo>
                  <a:lnTo>
                    <a:pt x="1582" y="306"/>
                  </a:lnTo>
                  <a:lnTo>
                    <a:pt x="1603" y="315"/>
                  </a:lnTo>
                  <a:lnTo>
                    <a:pt x="1634" y="324"/>
                  </a:lnTo>
                  <a:lnTo>
                    <a:pt x="1666" y="331"/>
                  </a:lnTo>
                  <a:lnTo>
                    <a:pt x="1702" y="336"/>
                  </a:lnTo>
                  <a:lnTo>
                    <a:pt x="1734" y="333"/>
                  </a:lnTo>
                  <a:lnTo>
                    <a:pt x="1770" y="331"/>
                  </a:lnTo>
                  <a:lnTo>
                    <a:pt x="1805" y="324"/>
                  </a:lnTo>
                  <a:lnTo>
                    <a:pt x="1845" y="312"/>
                  </a:lnTo>
                  <a:lnTo>
                    <a:pt x="1881" y="291"/>
                  </a:lnTo>
                  <a:lnTo>
                    <a:pt x="1925" y="262"/>
                  </a:lnTo>
                  <a:lnTo>
                    <a:pt x="1959" y="235"/>
                  </a:lnTo>
                  <a:lnTo>
                    <a:pt x="2000" y="198"/>
                  </a:lnTo>
                  <a:lnTo>
                    <a:pt x="2017" y="181"/>
                  </a:lnTo>
                  <a:lnTo>
                    <a:pt x="2047" y="152"/>
                  </a:lnTo>
                  <a:lnTo>
                    <a:pt x="2072" y="135"/>
                  </a:lnTo>
                  <a:lnTo>
                    <a:pt x="2097" y="117"/>
                  </a:lnTo>
                  <a:lnTo>
                    <a:pt x="2122" y="101"/>
                  </a:lnTo>
                  <a:lnTo>
                    <a:pt x="2144" y="87"/>
                  </a:lnTo>
                  <a:lnTo>
                    <a:pt x="2167" y="77"/>
                  </a:lnTo>
                  <a:lnTo>
                    <a:pt x="2189" y="66"/>
                  </a:lnTo>
                  <a:lnTo>
                    <a:pt x="2208" y="58"/>
                  </a:lnTo>
                  <a:lnTo>
                    <a:pt x="2229" y="52"/>
                  </a:lnTo>
                  <a:lnTo>
                    <a:pt x="2252" y="49"/>
                  </a:lnTo>
                  <a:lnTo>
                    <a:pt x="2280" y="46"/>
                  </a:lnTo>
                  <a:lnTo>
                    <a:pt x="2321" y="47"/>
                  </a:lnTo>
                  <a:lnTo>
                    <a:pt x="2304" y="60"/>
                  </a:lnTo>
                  <a:lnTo>
                    <a:pt x="2286" y="79"/>
                  </a:lnTo>
                  <a:lnTo>
                    <a:pt x="2276" y="92"/>
                  </a:lnTo>
                  <a:lnTo>
                    <a:pt x="2260" y="115"/>
                  </a:lnTo>
                  <a:lnTo>
                    <a:pt x="2244" y="136"/>
                  </a:lnTo>
                  <a:lnTo>
                    <a:pt x="2221" y="154"/>
                  </a:lnTo>
                  <a:lnTo>
                    <a:pt x="2192" y="175"/>
                  </a:lnTo>
                  <a:lnTo>
                    <a:pt x="2178" y="187"/>
                  </a:lnTo>
                  <a:lnTo>
                    <a:pt x="2165" y="202"/>
                  </a:lnTo>
                  <a:lnTo>
                    <a:pt x="2151" y="219"/>
                  </a:lnTo>
                  <a:lnTo>
                    <a:pt x="2141" y="231"/>
                  </a:lnTo>
                  <a:lnTo>
                    <a:pt x="2130" y="244"/>
                  </a:lnTo>
                  <a:lnTo>
                    <a:pt x="2120" y="258"/>
                  </a:lnTo>
                  <a:lnTo>
                    <a:pt x="2111" y="273"/>
                  </a:lnTo>
                  <a:lnTo>
                    <a:pt x="2103" y="285"/>
                  </a:lnTo>
                  <a:lnTo>
                    <a:pt x="2095" y="297"/>
                  </a:lnTo>
                  <a:lnTo>
                    <a:pt x="2087" y="309"/>
                  </a:lnTo>
                  <a:lnTo>
                    <a:pt x="2082" y="324"/>
                  </a:lnTo>
                  <a:lnTo>
                    <a:pt x="2079" y="336"/>
                  </a:lnTo>
                  <a:lnTo>
                    <a:pt x="2078" y="350"/>
                  </a:lnTo>
                  <a:lnTo>
                    <a:pt x="2076" y="363"/>
                  </a:lnTo>
                  <a:lnTo>
                    <a:pt x="2063" y="355"/>
                  </a:lnTo>
                  <a:lnTo>
                    <a:pt x="2044" y="352"/>
                  </a:lnTo>
                  <a:lnTo>
                    <a:pt x="2027" y="351"/>
                  </a:lnTo>
                  <a:lnTo>
                    <a:pt x="2011" y="353"/>
                  </a:lnTo>
                  <a:lnTo>
                    <a:pt x="1995" y="358"/>
                  </a:lnTo>
                  <a:lnTo>
                    <a:pt x="1982" y="363"/>
                  </a:lnTo>
                  <a:lnTo>
                    <a:pt x="1967" y="367"/>
                  </a:lnTo>
                  <a:lnTo>
                    <a:pt x="1952" y="371"/>
                  </a:lnTo>
                  <a:lnTo>
                    <a:pt x="1936" y="373"/>
                  </a:lnTo>
                  <a:lnTo>
                    <a:pt x="1914" y="370"/>
                  </a:lnTo>
                  <a:lnTo>
                    <a:pt x="1896" y="367"/>
                  </a:lnTo>
                  <a:lnTo>
                    <a:pt x="1883" y="363"/>
                  </a:lnTo>
                  <a:lnTo>
                    <a:pt x="1867" y="359"/>
                  </a:lnTo>
                  <a:lnTo>
                    <a:pt x="1850" y="360"/>
                  </a:lnTo>
                  <a:lnTo>
                    <a:pt x="1827" y="364"/>
                  </a:lnTo>
                  <a:lnTo>
                    <a:pt x="1807" y="367"/>
                  </a:lnTo>
                  <a:lnTo>
                    <a:pt x="1791" y="367"/>
                  </a:lnTo>
                  <a:lnTo>
                    <a:pt x="1770" y="365"/>
                  </a:lnTo>
                  <a:lnTo>
                    <a:pt x="1749" y="360"/>
                  </a:lnTo>
                  <a:lnTo>
                    <a:pt x="1728" y="360"/>
                  </a:lnTo>
                  <a:lnTo>
                    <a:pt x="1710" y="365"/>
                  </a:lnTo>
                  <a:lnTo>
                    <a:pt x="1681" y="368"/>
                  </a:lnTo>
                  <a:lnTo>
                    <a:pt x="1663" y="368"/>
                  </a:lnTo>
                  <a:lnTo>
                    <a:pt x="1640" y="365"/>
                  </a:lnTo>
                  <a:lnTo>
                    <a:pt x="1618" y="363"/>
                  </a:lnTo>
                  <a:lnTo>
                    <a:pt x="1594" y="367"/>
                  </a:lnTo>
                  <a:lnTo>
                    <a:pt x="1575" y="374"/>
                  </a:lnTo>
                  <a:lnTo>
                    <a:pt x="1548" y="379"/>
                  </a:lnTo>
                  <a:lnTo>
                    <a:pt x="1528" y="381"/>
                  </a:lnTo>
                  <a:lnTo>
                    <a:pt x="1503" y="383"/>
                  </a:lnTo>
                  <a:lnTo>
                    <a:pt x="1484" y="385"/>
                  </a:lnTo>
                  <a:lnTo>
                    <a:pt x="1460" y="381"/>
                  </a:lnTo>
                  <a:lnTo>
                    <a:pt x="1436" y="375"/>
                  </a:lnTo>
                  <a:lnTo>
                    <a:pt x="1411" y="381"/>
                  </a:lnTo>
                  <a:lnTo>
                    <a:pt x="1394" y="382"/>
                  </a:lnTo>
                  <a:lnTo>
                    <a:pt x="1373" y="383"/>
                  </a:lnTo>
                  <a:lnTo>
                    <a:pt x="1353" y="381"/>
                  </a:lnTo>
                  <a:lnTo>
                    <a:pt x="1333" y="381"/>
                  </a:lnTo>
                  <a:lnTo>
                    <a:pt x="1312" y="383"/>
                  </a:lnTo>
                  <a:lnTo>
                    <a:pt x="1292" y="391"/>
                  </a:lnTo>
                  <a:lnTo>
                    <a:pt x="1275" y="396"/>
                  </a:lnTo>
                  <a:lnTo>
                    <a:pt x="1252" y="403"/>
                  </a:lnTo>
                  <a:lnTo>
                    <a:pt x="1231" y="406"/>
                  </a:lnTo>
                  <a:lnTo>
                    <a:pt x="1207" y="410"/>
                  </a:lnTo>
                  <a:lnTo>
                    <a:pt x="1183" y="413"/>
                  </a:lnTo>
                  <a:lnTo>
                    <a:pt x="1152" y="409"/>
                  </a:lnTo>
                  <a:lnTo>
                    <a:pt x="1124" y="407"/>
                  </a:lnTo>
                  <a:lnTo>
                    <a:pt x="1105" y="409"/>
                  </a:lnTo>
                  <a:lnTo>
                    <a:pt x="1078" y="412"/>
                  </a:lnTo>
                  <a:lnTo>
                    <a:pt x="1058" y="412"/>
                  </a:lnTo>
                  <a:lnTo>
                    <a:pt x="1035" y="414"/>
                  </a:lnTo>
                  <a:lnTo>
                    <a:pt x="1016" y="415"/>
                  </a:lnTo>
                  <a:lnTo>
                    <a:pt x="987" y="413"/>
                  </a:lnTo>
                  <a:lnTo>
                    <a:pt x="963" y="406"/>
                  </a:lnTo>
                  <a:lnTo>
                    <a:pt x="947" y="401"/>
                  </a:lnTo>
                  <a:lnTo>
                    <a:pt x="927" y="400"/>
                  </a:lnTo>
                  <a:lnTo>
                    <a:pt x="906" y="399"/>
                  </a:lnTo>
                  <a:lnTo>
                    <a:pt x="886" y="403"/>
                  </a:lnTo>
                  <a:lnTo>
                    <a:pt x="862" y="406"/>
                  </a:lnTo>
                  <a:lnTo>
                    <a:pt x="842" y="409"/>
                  </a:lnTo>
                  <a:lnTo>
                    <a:pt x="824" y="409"/>
                  </a:lnTo>
                  <a:lnTo>
                    <a:pt x="812" y="405"/>
                  </a:lnTo>
                  <a:lnTo>
                    <a:pt x="791" y="401"/>
                  </a:lnTo>
                  <a:lnTo>
                    <a:pt x="772" y="399"/>
                  </a:lnTo>
                  <a:lnTo>
                    <a:pt x="752" y="400"/>
                  </a:lnTo>
                  <a:lnTo>
                    <a:pt x="734" y="403"/>
                  </a:lnTo>
                  <a:lnTo>
                    <a:pt x="712" y="405"/>
                  </a:lnTo>
                  <a:lnTo>
                    <a:pt x="686" y="409"/>
                  </a:lnTo>
                  <a:lnTo>
                    <a:pt x="662" y="409"/>
                  </a:lnTo>
                  <a:lnTo>
                    <a:pt x="640" y="406"/>
                  </a:lnTo>
                  <a:lnTo>
                    <a:pt x="616" y="410"/>
                  </a:lnTo>
                  <a:lnTo>
                    <a:pt x="594" y="414"/>
                  </a:lnTo>
                  <a:lnTo>
                    <a:pt x="570" y="421"/>
                  </a:lnTo>
                  <a:lnTo>
                    <a:pt x="547" y="426"/>
                  </a:lnTo>
                  <a:lnTo>
                    <a:pt x="514" y="432"/>
                  </a:lnTo>
                  <a:lnTo>
                    <a:pt x="477" y="433"/>
                  </a:lnTo>
                  <a:lnTo>
                    <a:pt x="439" y="433"/>
                  </a:lnTo>
                  <a:lnTo>
                    <a:pt x="404" y="432"/>
                  </a:lnTo>
                  <a:lnTo>
                    <a:pt x="363" y="433"/>
                  </a:lnTo>
                  <a:lnTo>
                    <a:pt x="340" y="433"/>
                  </a:lnTo>
                  <a:lnTo>
                    <a:pt x="319" y="430"/>
                  </a:lnTo>
                  <a:lnTo>
                    <a:pt x="295" y="433"/>
                  </a:lnTo>
                  <a:lnTo>
                    <a:pt x="268" y="432"/>
                  </a:lnTo>
                  <a:lnTo>
                    <a:pt x="228" y="417"/>
                  </a:lnTo>
                  <a:lnTo>
                    <a:pt x="199" y="419"/>
                  </a:lnTo>
                  <a:lnTo>
                    <a:pt x="174" y="421"/>
                  </a:lnTo>
                  <a:lnTo>
                    <a:pt x="147" y="421"/>
                  </a:lnTo>
                  <a:lnTo>
                    <a:pt x="124" y="421"/>
                  </a:lnTo>
                  <a:lnTo>
                    <a:pt x="96" y="419"/>
                  </a:lnTo>
                  <a:lnTo>
                    <a:pt x="71" y="414"/>
                  </a:lnTo>
                  <a:lnTo>
                    <a:pt x="46" y="407"/>
                  </a:lnTo>
                  <a:lnTo>
                    <a:pt x="24" y="401"/>
                  </a:lnTo>
                  <a:lnTo>
                    <a:pt x="2" y="396"/>
                  </a:lnTo>
                  <a:lnTo>
                    <a:pt x="0" y="39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167" name="Group 54"/>
            <p:cNvGrpSpPr>
              <a:grpSpLocks/>
            </p:cNvGrpSpPr>
            <p:nvPr/>
          </p:nvGrpSpPr>
          <p:grpSpPr bwMode="auto">
            <a:xfrm>
              <a:off x="1156" y="1603"/>
              <a:ext cx="344" cy="202"/>
              <a:chOff x="1279" y="1775"/>
              <a:chExt cx="333" cy="202"/>
            </a:xfrm>
          </p:grpSpPr>
          <p:sp>
            <p:nvSpPr>
              <p:cNvPr id="23171" name="Freeform 55" descr="50%"/>
              <p:cNvSpPr>
                <a:spLocks/>
              </p:cNvSpPr>
              <p:nvPr/>
            </p:nvSpPr>
            <p:spPr bwMode="auto">
              <a:xfrm>
                <a:off x="1279" y="1779"/>
                <a:ext cx="333" cy="198"/>
              </a:xfrm>
              <a:custGeom>
                <a:avLst/>
                <a:gdLst>
                  <a:gd name="T0" fmla="*/ 311 w 333"/>
                  <a:gd name="T1" fmla="*/ 177 h 198"/>
                  <a:gd name="T2" fmla="*/ 293 w 333"/>
                  <a:gd name="T3" fmla="*/ 159 h 198"/>
                  <a:gd name="T4" fmla="*/ 281 w 333"/>
                  <a:gd name="T5" fmla="*/ 148 h 198"/>
                  <a:gd name="T6" fmla="*/ 272 w 333"/>
                  <a:gd name="T7" fmla="*/ 138 h 198"/>
                  <a:gd name="T8" fmla="*/ 262 w 333"/>
                  <a:gd name="T9" fmla="*/ 127 h 198"/>
                  <a:gd name="T10" fmla="*/ 254 w 333"/>
                  <a:gd name="T11" fmla="*/ 116 h 198"/>
                  <a:gd name="T12" fmla="*/ 246 w 333"/>
                  <a:gd name="T13" fmla="*/ 105 h 198"/>
                  <a:gd name="T14" fmla="*/ 237 w 333"/>
                  <a:gd name="T15" fmla="*/ 93 h 198"/>
                  <a:gd name="T16" fmla="*/ 230 w 333"/>
                  <a:gd name="T17" fmla="*/ 78 h 198"/>
                  <a:gd name="T18" fmla="*/ 224 w 333"/>
                  <a:gd name="T19" fmla="*/ 64 h 198"/>
                  <a:gd name="T20" fmla="*/ 219 w 333"/>
                  <a:gd name="T21" fmla="*/ 49 h 198"/>
                  <a:gd name="T22" fmla="*/ 215 w 333"/>
                  <a:gd name="T23" fmla="*/ 34 h 198"/>
                  <a:gd name="T24" fmla="*/ 215 w 333"/>
                  <a:gd name="T25" fmla="*/ 19 h 198"/>
                  <a:gd name="T26" fmla="*/ 214 w 333"/>
                  <a:gd name="T27" fmla="*/ 0 h 198"/>
                  <a:gd name="T28" fmla="*/ 0 w 333"/>
                  <a:gd name="T29" fmla="*/ 0 h 198"/>
                  <a:gd name="T30" fmla="*/ 6 w 333"/>
                  <a:gd name="T31" fmla="*/ 12 h 198"/>
                  <a:gd name="T32" fmla="*/ 17 w 333"/>
                  <a:gd name="T33" fmla="*/ 28 h 198"/>
                  <a:gd name="T34" fmla="*/ 27 w 333"/>
                  <a:gd name="T35" fmla="*/ 42 h 198"/>
                  <a:gd name="T36" fmla="*/ 39 w 333"/>
                  <a:gd name="T37" fmla="*/ 56 h 198"/>
                  <a:gd name="T38" fmla="*/ 54 w 333"/>
                  <a:gd name="T39" fmla="*/ 71 h 198"/>
                  <a:gd name="T40" fmla="*/ 70 w 333"/>
                  <a:gd name="T41" fmla="*/ 86 h 198"/>
                  <a:gd name="T42" fmla="*/ 87 w 333"/>
                  <a:gd name="T43" fmla="*/ 100 h 198"/>
                  <a:gd name="T44" fmla="*/ 104 w 333"/>
                  <a:gd name="T45" fmla="*/ 112 h 198"/>
                  <a:gd name="T46" fmla="*/ 123 w 333"/>
                  <a:gd name="T47" fmla="*/ 127 h 198"/>
                  <a:gd name="T48" fmla="*/ 146 w 333"/>
                  <a:gd name="T49" fmla="*/ 143 h 198"/>
                  <a:gd name="T50" fmla="*/ 166 w 333"/>
                  <a:gd name="T51" fmla="*/ 154 h 198"/>
                  <a:gd name="T52" fmla="*/ 184 w 333"/>
                  <a:gd name="T53" fmla="*/ 163 h 198"/>
                  <a:gd name="T54" fmla="*/ 201 w 333"/>
                  <a:gd name="T55" fmla="*/ 170 h 198"/>
                  <a:gd name="T56" fmla="*/ 219 w 333"/>
                  <a:gd name="T57" fmla="*/ 177 h 198"/>
                  <a:gd name="T58" fmla="*/ 238 w 333"/>
                  <a:gd name="T59" fmla="*/ 184 h 198"/>
                  <a:gd name="T60" fmla="*/ 259 w 333"/>
                  <a:gd name="T61" fmla="*/ 188 h 198"/>
                  <a:gd name="T62" fmla="*/ 282 w 333"/>
                  <a:gd name="T63" fmla="*/ 192 h 198"/>
                  <a:gd name="T64" fmla="*/ 300 w 333"/>
                  <a:gd name="T65" fmla="*/ 194 h 198"/>
                  <a:gd name="T66" fmla="*/ 318 w 333"/>
                  <a:gd name="T67" fmla="*/ 196 h 198"/>
                  <a:gd name="T68" fmla="*/ 332 w 333"/>
                  <a:gd name="T69" fmla="*/ 197 h 198"/>
                  <a:gd name="T70" fmla="*/ 311 w 333"/>
                  <a:gd name="T71" fmla="*/ 177 h 19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33" h="198">
                    <a:moveTo>
                      <a:pt x="311" y="177"/>
                    </a:moveTo>
                    <a:lnTo>
                      <a:pt x="293" y="159"/>
                    </a:lnTo>
                    <a:lnTo>
                      <a:pt x="281" y="148"/>
                    </a:lnTo>
                    <a:lnTo>
                      <a:pt x="272" y="138"/>
                    </a:lnTo>
                    <a:lnTo>
                      <a:pt x="262" y="127"/>
                    </a:lnTo>
                    <a:lnTo>
                      <a:pt x="254" y="116"/>
                    </a:lnTo>
                    <a:lnTo>
                      <a:pt x="246" y="105"/>
                    </a:lnTo>
                    <a:lnTo>
                      <a:pt x="237" y="93"/>
                    </a:lnTo>
                    <a:lnTo>
                      <a:pt x="230" y="78"/>
                    </a:lnTo>
                    <a:lnTo>
                      <a:pt x="224" y="64"/>
                    </a:lnTo>
                    <a:lnTo>
                      <a:pt x="219" y="49"/>
                    </a:lnTo>
                    <a:lnTo>
                      <a:pt x="215" y="34"/>
                    </a:lnTo>
                    <a:lnTo>
                      <a:pt x="215" y="19"/>
                    </a:lnTo>
                    <a:lnTo>
                      <a:pt x="214" y="0"/>
                    </a:lnTo>
                    <a:lnTo>
                      <a:pt x="0" y="0"/>
                    </a:lnTo>
                    <a:lnTo>
                      <a:pt x="6" y="12"/>
                    </a:lnTo>
                    <a:lnTo>
                      <a:pt x="17" y="28"/>
                    </a:lnTo>
                    <a:lnTo>
                      <a:pt x="27" y="42"/>
                    </a:lnTo>
                    <a:lnTo>
                      <a:pt x="39" y="56"/>
                    </a:lnTo>
                    <a:lnTo>
                      <a:pt x="54" y="71"/>
                    </a:lnTo>
                    <a:lnTo>
                      <a:pt x="70" y="86"/>
                    </a:lnTo>
                    <a:lnTo>
                      <a:pt x="87" y="100"/>
                    </a:lnTo>
                    <a:lnTo>
                      <a:pt x="104" y="112"/>
                    </a:lnTo>
                    <a:lnTo>
                      <a:pt x="123" y="127"/>
                    </a:lnTo>
                    <a:lnTo>
                      <a:pt x="146" y="143"/>
                    </a:lnTo>
                    <a:lnTo>
                      <a:pt x="166" y="154"/>
                    </a:lnTo>
                    <a:lnTo>
                      <a:pt x="184" y="163"/>
                    </a:lnTo>
                    <a:lnTo>
                      <a:pt x="201" y="170"/>
                    </a:lnTo>
                    <a:lnTo>
                      <a:pt x="219" y="177"/>
                    </a:lnTo>
                    <a:lnTo>
                      <a:pt x="238" y="184"/>
                    </a:lnTo>
                    <a:lnTo>
                      <a:pt x="259" y="188"/>
                    </a:lnTo>
                    <a:lnTo>
                      <a:pt x="282" y="192"/>
                    </a:lnTo>
                    <a:lnTo>
                      <a:pt x="300" y="194"/>
                    </a:lnTo>
                    <a:lnTo>
                      <a:pt x="318" y="196"/>
                    </a:lnTo>
                    <a:lnTo>
                      <a:pt x="332" y="197"/>
                    </a:lnTo>
                    <a:lnTo>
                      <a:pt x="311" y="177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172" name="Freeform 56" descr="50%"/>
              <p:cNvSpPr>
                <a:spLocks/>
              </p:cNvSpPr>
              <p:nvPr/>
            </p:nvSpPr>
            <p:spPr bwMode="auto">
              <a:xfrm>
                <a:off x="1285" y="1775"/>
                <a:ext cx="201" cy="7"/>
              </a:xfrm>
              <a:custGeom>
                <a:avLst/>
                <a:gdLst>
                  <a:gd name="T0" fmla="*/ 1 w 201"/>
                  <a:gd name="T1" fmla="*/ 0 h 7"/>
                  <a:gd name="T2" fmla="*/ 0 w 201"/>
                  <a:gd name="T3" fmla="*/ 2 h 7"/>
                  <a:gd name="T4" fmla="*/ 4 w 201"/>
                  <a:gd name="T5" fmla="*/ 6 h 7"/>
                  <a:gd name="T6" fmla="*/ 200 w 201"/>
                  <a:gd name="T7" fmla="*/ 6 h 7"/>
                  <a:gd name="T8" fmla="*/ 200 w 201"/>
                  <a:gd name="T9" fmla="*/ 0 h 7"/>
                  <a:gd name="T10" fmla="*/ 1 w 201"/>
                  <a:gd name="T11" fmla="*/ 0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01" h="7">
                    <a:moveTo>
                      <a:pt x="1" y="0"/>
                    </a:moveTo>
                    <a:lnTo>
                      <a:pt x="0" y="2"/>
                    </a:lnTo>
                    <a:lnTo>
                      <a:pt x="4" y="6"/>
                    </a:lnTo>
                    <a:lnTo>
                      <a:pt x="200" y="6"/>
                    </a:lnTo>
                    <a:lnTo>
                      <a:pt x="200" y="0"/>
                    </a:lnTo>
                    <a:lnTo>
                      <a:pt x="1" y="0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168" name="Group 57"/>
            <p:cNvGrpSpPr>
              <a:grpSpLocks/>
            </p:cNvGrpSpPr>
            <p:nvPr/>
          </p:nvGrpSpPr>
          <p:grpSpPr bwMode="auto">
            <a:xfrm>
              <a:off x="3374" y="1797"/>
              <a:ext cx="8" cy="7"/>
              <a:chOff x="3426" y="1969"/>
              <a:chExt cx="8" cy="7"/>
            </a:xfrm>
          </p:grpSpPr>
          <p:sp>
            <p:nvSpPr>
              <p:cNvPr id="23169" name="Oval 58" descr="50%"/>
              <p:cNvSpPr>
                <a:spLocks noChangeArrowheads="1"/>
              </p:cNvSpPr>
              <p:nvPr/>
            </p:nvSpPr>
            <p:spPr bwMode="auto">
              <a:xfrm>
                <a:off x="3426" y="1969"/>
                <a:ext cx="6" cy="6"/>
              </a:xfrm>
              <a:prstGeom prst="ellipse">
                <a:avLst/>
              </a:pr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170" name="Arc 59" descr="50%"/>
              <p:cNvSpPr>
                <a:spLocks/>
              </p:cNvSpPr>
              <p:nvPr/>
            </p:nvSpPr>
            <p:spPr bwMode="auto">
              <a:xfrm>
                <a:off x="3427" y="1969"/>
                <a:ext cx="7" cy="7"/>
              </a:xfrm>
              <a:custGeom>
                <a:avLst/>
                <a:gdLst>
                  <a:gd name="T0" fmla="*/ 4 w 43200"/>
                  <a:gd name="T1" fmla="*/ 0 h 42555"/>
                  <a:gd name="T2" fmla="*/ 2 w 43200"/>
                  <a:gd name="T3" fmla="*/ 0 h 42555"/>
                  <a:gd name="T4" fmla="*/ 4 w 43200"/>
                  <a:gd name="T5" fmla="*/ 3 h 4255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2555" fill="none" extrusionOk="0">
                    <a:moveTo>
                      <a:pt x="26839" y="-1"/>
                    </a:moveTo>
                    <a:cubicBezTo>
                      <a:pt x="36454" y="2403"/>
                      <a:pt x="43200" y="11043"/>
                      <a:pt x="43200" y="20955"/>
                    </a:cubicBezTo>
                    <a:cubicBezTo>
                      <a:pt x="43200" y="32884"/>
                      <a:pt x="33529" y="42555"/>
                      <a:pt x="21600" y="42555"/>
                    </a:cubicBezTo>
                    <a:cubicBezTo>
                      <a:pt x="9670" y="42555"/>
                      <a:pt x="0" y="32884"/>
                      <a:pt x="0" y="20955"/>
                    </a:cubicBezTo>
                    <a:cubicBezTo>
                      <a:pt x="-1" y="12773"/>
                      <a:pt x="4622" y="5294"/>
                      <a:pt x="11940" y="1635"/>
                    </a:cubicBezTo>
                  </a:path>
                  <a:path w="43200" h="42555" stroke="0" extrusionOk="0">
                    <a:moveTo>
                      <a:pt x="26839" y="-1"/>
                    </a:moveTo>
                    <a:cubicBezTo>
                      <a:pt x="36454" y="2403"/>
                      <a:pt x="43200" y="11043"/>
                      <a:pt x="43200" y="20955"/>
                    </a:cubicBezTo>
                    <a:cubicBezTo>
                      <a:pt x="43200" y="32884"/>
                      <a:pt x="33529" y="42555"/>
                      <a:pt x="21600" y="42555"/>
                    </a:cubicBezTo>
                    <a:cubicBezTo>
                      <a:pt x="9670" y="42555"/>
                      <a:pt x="0" y="32884"/>
                      <a:pt x="0" y="20955"/>
                    </a:cubicBezTo>
                    <a:cubicBezTo>
                      <a:pt x="-1" y="12773"/>
                      <a:pt x="4622" y="5294"/>
                      <a:pt x="11940" y="1635"/>
                    </a:cubicBezTo>
                    <a:lnTo>
                      <a:pt x="21600" y="20955"/>
                    </a:lnTo>
                    <a:lnTo>
                      <a:pt x="26839" y="-1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2554" name="Group 60"/>
          <p:cNvGrpSpPr>
            <a:grpSpLocks/>
          </p:cNvGrpSpPr>
          <p:nvPr/>
        </p:nvGrpSpPr>
        <p:grpSpPr bwMode="auto">
          <a:xfrm>
            <a:off x="5292329" y="2639617"/>
            <a:ext cx="46434" cy="29765"/>
            <a:chOff x="3574" y="2370"/>
            <a:chExt cx="38" cy="25"/>
          </a:xfrm>
        </p:grpSpPr>
        <p:sp>
          <p:nvSpPr>
            <p:cNvPr id="23157" name="Arc 61" descr="50%"/>
            <p:cNvSpPr>
              <a:spLocks/>
            </p:cNvSpPr>
            <p:nvPr/>
          </p:nvSpPr>
          <p:spPr bwMode="auto">
            <a:xfrm>
              <a:off x="3583" y="2370"/>
              <a:ext cx="1" cy="25"/>
            </a:xfrm>
            <a:custGeom>
              <a:avLst/>
              <a:gdLst>
                <a:gd name="T0" fmla="*/ 0 w 41371"/>
                <a:gd name="T1" fmla="*/ 7 h 43200"/>
                <a:gd name="T2" fmla="*/ 0 w 41371"/>
                <a:gd name="T3" fmla="*/ 18 h 43200"/>
                <a:gd name="T4" fmla="*/ 0 w 41371"/>
                <a:gd name="T5" fmla="*/ 13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371" h="43200" fill="none" extrusionOk="0">
                  <a:moveTo>
                    <a:pt x="607" y="11635"/>
                  </a:moveTo>
                  <a:cubicBezTo>
                    <a:pt x="4324" y="4485"/>
                    <a:pt x="11712" y="-1"/>
                    <a:pt x="19771" y="0"/>
                  </a:cubicBezTo>
                  <a:cubicBezTo>
                    <a:pt x="31700" y="0"/>
                    <a:pt x="41371" y="9670"/>
                    <a:pt x="41371" y="21600"/>
                  </a:cubicBezTo>
                  <a:cubicBezTo>
                    <a:pt x="41371" y="33529"/>
                    <a:pt x="31700" y="43200"/>
                    <a:pt x="19771" y="43200"/>
                  </a:cubicBezTo>
                  <a:cubicBezTo>
                    <a:pt x="11205" y="43200"/>
                    <a:pt x="3449" y="38138"/>
                    <a:pt x="0" y="30298"/>
                  </a:cubicBezTo>
                </a:path>
                <a:path w="41371" h="43200" stroke="0" extrusionOk="0">
                  <a:moveTo>
                    <a:pt x="607" y="11635"/>
                  </a:moveTo>
                  <a:cubicBezTo>
                    <a:pt x="4324" y="4485"/>
                    <a:pt x="11712" y="-1"/>
                    <a:pt x="19771" y="0"/>
                  </a:cubicBezTo>
                  <a:cubicBezTo>
                    <a:pt x="31700" y="0"/>
                    <a:pt x="41371" y="9670"/>
                    <a:pt x="41371" y="21600"/>
                  </a:cubicBezTo>
                  <a:cubicBezTo>
                    <a:pt x="41371" y="33529"/>
                    <a:pt x="31700" y="43200"/>
                    <a:pt x="19771" y="43200"/>
                  </a:cubicBezTo>
                  <a:cubicBezTo>
                    <a:pt x="11205" y="43200"/>
                    <a:pt x="3449" y="38138"/>
                    <a:pt x="0" y="30298"/>
                  </a:cubicBezTo>
                  <a:lnTo>
                    <a:pt x="19771" y="21600"/>
                  </a:lnTo>
                  <a:lnTo>
                    <a:pt x="607" y="11635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58" name="Arc 62" descr="50%"/>
            <p:cNvSpPr>
              <a:spLocks/>
            </p:cNvSpPr>
            <p:nvPr/>
          </p:nvSpPr>
          <p:spPr bwMode="auto">
            <a:xfrm>
              <a:off x="3574" y="2370"/>
              <a:ext cx="1" cy="25"/>
            </a:xfrm>
            <a:custGeom>
              <a:avLst/>
              <a:gdLst>
                <a:gd name="T0" fmla="*/ 0 w 41371"/>
                <a:gd name="T1" fmla="*/ 7 h 43200"/>
                <a:gd name="T2" fmla="*/ 0 w 41371"/>
                <a:gd name="T3" fmla="*/ 18 h 43200"/>
                <a:gd name="T4" fmla="*/ 0 w 41371"/>
                <a:gd name="T5" fmla="*/ 13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371" h="43200" fill="none" extrusionOk="0">
                  <a:moveTo>
                    <a:pt x="607" y="11635"/>
                  </a:moveTo>
                  <a:cubicBezTo>
                    <a:pt x="4324" y="4485"/>
                    <a:pt x="11712" y="-1"/>
                    <a:pt x="19771" y="0"/>
                  </a:cubicBezTo>
                  <a:cubicBezTo>
                    <a:pt x="31700" y="0"/>
                    <a:pt x="41371" y="9670"/>
                    <a:pt x="41371" y="21600"/>
                  </a:cubicBezTo>
                  <a:cubicBezTo>
                    <a:pt x="41371" y="33529"/>
                    <a:pt x="31700" y="43200"/>
                    <a:pt x="19771" y="43200"/>
                  </a:cubicBezTo>
                  <a:cubicBezTo>
                    <a:pt x="11205" y="43200"/>
                    <a:pt x="3449" y="38138"/>
                    <a:pt x="0" y="30298"/>
                  </a:cubicBezTo>
                </a:path>
                <a:path w="41371" h="43200" stroke="0" extrusionOk="0">
                  <a:moveTo>
                    <a:pt x="607" y="11635"/>
                  </a:moveTo>
                  <a:cubicBezTo>
                    <a:pt x="4324" y="4485"/>
                    <a:pt x="11712" y="-1"/>
                    <a:pt x="19771" y="0"/>
                  </a:cubicBezTo>
                  <a:cubicBezTo>
                    <a:pt x="31700" y="0"/>
                    <a:pt x="41371" y="9670"/>
                    <a:pt x="41371" y="21600"/>
                  </a:cubicBezTo>
                  <a:cubicBezTo>
                    <a:pt x="41371" y="33529"/>
                    <a:pt x="31700" y="43200"/>
                    <a:pt x="19771" y="43200"/>
                  </a:cubicBezTo>
                  <a:cubicBezTo>
                    <a:pt x="11205" y="43200"/>
                    <a:pt x="3449" y="38138"/>
                    <a:pt x="0" y="30298"/>
                  </a:cubicBezTo>
                  <a:lnTo>
                    <a:pt x="19771" y="21600"/>
                  </a:lnTo>
                  <a:lnTo>
                    <a:pt x="607" y="11635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59" name="Arc 63" descr="50%"/>
            <p:cNvSpPr>
              <a:spLocks/>
            </p:cNvSpPr>
            <p:nvPr/>
          </p:nvSpPr>
          <p:spPr bwMode="auto">
            <a:xfrm>
              <a:off x="3592" y="2370"/>
              <a:ext cx="0" cy="25"/>
            </a:xfrm>
            <a:custGeom>
              <a:avLst/>
              <a:gdLst>
                <a:gd name="T0" fmla="*/ 1 w 43200"/>
                <a:gd name="T1" fmla="*/ 13 h 43200"/>
                <a:gd name="T2" fmla="*/ 1 w 43200"/>
                <a:gd name="T3" fmla="*/ 13 h 43200"/>
                <a:gd name="T4" fmla="*/ 1 w 43200"/>
                <a:gd name="T5" fmla="*/ 13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43200" y="21600"/>
                  </a:move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43200" stroke="0" extrusionOk="0">
                  <a:moveTo>
                    <a:pt x="43200" y="21600"/>
                  </a:move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43200" y="21600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60" name="Arc 64" descr="50%"/>
            <p:cNvSpPr>
              <a:spLocks/>
            </p:cNvSpPr>
            <p:nvPr/>
          </p:nvSpPr>
          <p:spPr bwMode="auto">
            <a:xfrm>
              <a:off x="3602" y="2370"/>
              <a:ext cx="1" cy="25"/>
            </a:xfrm>
            <a:custGeom>
              <a:avLst/>
              <a:gdLst>
                <a:gd name="T0" fmla="*/ 0 w 41371"/>
                <a:gd name="T1" fmla="*/ 7 h 43200"/>
                <a:gd name="T2" fmla="*/ 0 w 41371"/>
                <a:gd name="T3" fmla="*/ 18 h 43200"/>
                <a:gd name="T4" fmla="*/ 0 w 41371"/>
                <a:gd name="T5" fmla="*/ 13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371" h="43200" fill="none" extrusionOk="0">
                  <a:moveTo>
                    <a:pt x="607" y="11635"/>
                  </a:moveTo>
                  <a:cubicBezTo>
                    <a:pt x="4324" y="4485"/>
                    <a:pt x="11712" y="-1"/>
                    <a:pt x="19771" y="0"/>
                  </a:cubicBezTo>
                  <a:cubicBezTo>
                    <a:pt x="31700" y="0"/>
                    <a:pt x="41371" y="9670"/>
                    <a:pt x="41371" y="21600"/>
                  </a:cubicBezTo>
                  <a:cubicBezTo>
                    <a:pt x="41371" y="33529"/>
                    <a:pt x="31700" y="43200"/>
                    <a:pt x="19771" y="43200"/>
                  </a:cubicBezTo>
                  <a:cubicBezTo>
                    <a:pt x="11205" y="43200"/>
                    <a:pt x="3449" y="38138"/>
                    <a:pt x="0" y="30298"/>
                  </a:cubicBezTo>
                </a:path>
                <a:path w="41371" h="43200" stroke="0" extrusionOk="0">
                  <a:moveTo>
                    <a:pt x="607" y="11635"/>
                  </a:moveTo>
                  <a:cubicBezTo>
                    <a:pt x="4324" y="4485"/>
                    <a:pt x="11712" y="-1"/>
                    <a:pt x="19771" y="0"/>
                  </a:cubicBezTo>
                  <a:cubicBezTo>
                    <a:pt x="31700" y="0"/>
                    <a:pt x="41371" y="9670"/>
                    <a:pt x="41371" y="21600"/>
                  </a:cubicBezTo>
                  <a:cubicBezTo>
                    <a:pt x="41371" y="33529"/>
                    <a:pt x="31700" y="43200"/>
                    <a:pt x="19771" y="43200"/>
                  </a:cubicBezTo>
                  <a:cubicBezTo>
                    <a:pt x="11205" y="43200"/>
                    <a:pt x="3449" y="38138"/>
                    <a:pt x="0" y="30298"/>
                  </a:cubicBezTo>
                  <a:lnTo>
                    <a:pt x="19771" y="21600"/>
                  </a:lnTo>
                  <a:lnTo>
                    <a:pt x="607" y="11635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61" name="Arc 65" descr="50%"/>
            <p:cNvSpPr>
              <a:spLocks/>
            </p:cNvSpPr>
            <p:nvPr/>
          </p:nvSpPr>
          <p:spPr bwMode="auto">
            <a:xfrm>
              <a:off x="3612" y="2370"/>
              <a:ext cx="0" cy="25"/>
            </a:xfrm>
            <a:custGeom>
              <a:avLst/>
              <a:gdLst>
                <a:gd name="T0" fmla="*/ 1 w 43200"/>
                <a:gd name="T1" fmla="*/ 13 h 43200"/>
                <a:gd name="T2" fmla="*/ 1 w 43200"/>
                <a:gd name="T3" fmla="*/ 13 h 43200"/>
                <a:gd name="T4" fmla="*/ 1 w 43200"/>
                <a:gd name="T5" fmla="*/ 13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43200" y="21600"/>
                  </a:move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43200" stroke="0" extrusionOk="0">
                  <a:moveTo>
                    <a:pt x="43200" y="21600"/>
                  </a:move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43200" y="21600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555" name="Freeform 66" descr="50%"/>
          <p:cNvSpPr>
            <a:spLocks/>
          </p:cNvSpPr>
          <p:nvPr/>
        </p:nvSpPr>
        <p:spPr bwMode="auto">
          <a:xfrm>
            <a:off x="5167313" y="2459832"/>
            <a:ext cx="859631" cy="159544"/>
          </a:xfrm>
          <a:custGeom>
            <a:avLst/>
            <a:gdLst>
              <a:gd name="T0" fmla="*/ 24596 w 699"/>
              <a:gd name="T1" fmla="*/ 177800 h 134"/>
              <a:gd name="T2" fmla="*/ 77068 w 699"/>
              <a:gd name="T3" fmla="*/ 161925 h 134"/>
              <a:gd name="T4" fmla="*/ 154135 w 699"/>
              <a:gd name="T5" fmla="*/ 144463 h 134"/>
              <a:gd name="T6" fmla="*/ 229563 w 699"/>
              <a:gd name="T7" fmla="*/ 131763 h 134"/>
              <a:gd name="T8" fmla="*/ 303351 w 699"/>
              <a:gd name="T9" fmla="*/ 119063 h 134"/>
              <a:gd name="T10" fmla="*/ 345984 w 699"/>
              <a:gd name="T11" fmla="*/ 101600 h 134"/>
              <a:gd name="T12" fmla="*/ 382058 w 699"/>
              <a:gd name="T13" fmla="*/ 66675 h 134"/>
              <a:gd name="T14" fmla="*/ 437809 w 699"/>
              <a:gd name="T15" fmla="*/ 19050 h 134"/>
              <a:gd name="T16" fmla="*/ 477163 w 699"/>
              <a:gd name="T17" fmla="*/ 38100 h 134"/>
              <a:gd name="T18" fmla="*/ 491921 w 699"/>
              <a:gd name="T19" fmla="*/ 92075 h 134"/>
              <a:gd name="T20" fmla="*/ 521436 w 699"/>
              <a:gd name="T21" fmla="*/ 115888 h 134"/>
              <a:gd name="T22" fmla="*/ 616540 w 699"/>
              <a:gd name="T23" fmla="*/ 131763 h 134"/>
              <a:gd name="T24" fmla="*/ 687049 w 699"/>
              <a:gd name="T25" fmla="*/ 134938 h 134"/>
              <a:gd name="T26" fmla="*/ 772315 w 699"/>
              <a:gd name="T27" fmla="*/ 131763 h 134"/>
              <a:gd name="T28" fmla="*/ 805110 w 699"/>
              <a:gd name="T29" fmla="*/ 157163 h 134"/>
              <a:gd name="T30" fmla="*/ 872339 w 699"/>
              <a:gd name="T31" fmla="*/ 161925 h 134"/>
              <a:gd name="T32" fmla="*/ 949407 w 699"/>
              <a:gd name="T33" fmla="*/ 127000 h 134"/>
              <a:gd name="T34" fmla="*/ 1010077 w 699"/>
              <a:gd name="T35" fmla="*/ 74613 h 134"/>
              <a:gd name="T36" fmla="*/ 1057629 w 699"/>
              <a:gd name="T37" fmla="*/ 42863 h 134"/>
              <a:gd name="T38" fmla="*/ 1100262 w 699"/>
              <a:gd name="T39" fmla="*/ 25400 h 134"/>
              <a:gd name="T40" fmla="*/ 1136337 w 699"/>
              <a:gd name="T41" fmla="*/ 30163 h 134"/>
              <a:gd name="T42" fmla="*/ 1106821 w 699"/>
              <a:gd name="T43" fmla="*/ 66675 h 134"/>
              <a:gd name="T44" fmla="*/ 1069107 w 699"/>
              <a:gd name="T45" fmla="*/ 98425 h 134"/>
              <a:gd name="T46" fmla="*/ 1046151 w 699"/>
              <a:gd name="T47" fmla="*/ 125413 h 134"/>
              <a:gd name="T48" fmla="*/ 1029754 w 699"/>
              <a:gd name="T49" fmla="*/ 150813 h 134"/>
              <a:gd name="T50" fmla="*/ 1024835 w 699"/>
              <a:gd name="T51" fmla="*/ 176213 h 134"/>
              <a:gd name="T52" fmla="*/ 992040 w 699"/>
              <a:gd name="T53" fmla="*/ 171450 h 134"/>
              <a:gd name="T54" fmla="*/ 962525 w 699"/>
              <a:gd name="T55" fmla="*/ 180975 h 134"/>
              <a:gd name="T56" fmla="*/ 929730 w 699"/>
              <a:gd name="T57" fmla="*/ 176213 h 134"/>
              <a:gd name="T58" fmla="*/ 892016 w 699"/>
              <a:gd name="T59" fmla="*/ 177800 h 134"/>
              <a:gd name="T60" fmla="*/ 852662 w 699"/>
              <a:gd name="T61" fmla="*/ 174625 h 134"/>
              <a:gd name="T62" fmla="*/ 808390 w 699"/>
              <a:gd name="T63" fmla="*/ 177800 h 134"/>
              <a:gd name="T64" fmla="*/ 764117 w 699"/>
              <a:gd name="T65" fmla="*/ 184150 h 134"/>
              <a:gd name="T66" fmla="*/ 719844 w 699"/>
              <a:gd name="T67" fmla="*/ 185738 h 134"/>
              <a:gd name="T68" fmla="*/ 677211 w 699"/>
              <a:gd name="T69" fmla="*/ 185738 h 134"/>
              <a:gd name="T70" fmla="*/ 637857 w 699"/>
              <a:gd name="T71" fmla="*/ 190500 h 134"/>
              <a:gd name="T72" fmla="*/ 595224 w 699"/>
              <a:gd name="T73" fmla="*/ 198438 h 134"/>
              <a:gd name="T74" fmla="*/ 544392 w 699"/>
              <a:gd name="T75" fmla="*/ 198438 h 134"/>
              <a:gd name="T76" fmla="*/ 500119 w 699"/>
              <a:gd name="T77" fmla="*/ 201613 h 134"/>
              <a:gd name="T78" fmla="*/ 457486 w 699"/>
              <a:gd name="T79" fmla="*/ 195263 h 134"/>
              <a:gd name="T80" fmla="*/ 414853 w 699"/>
              <a:gd name="T81" fmla="*/ 198438 h 134"/>
              <a:gd name="T82" fmla="*/ 380419 w 699"/>
              <a:gd name="T83" fmla="*/ 195263 h 134"/>
              <a:gd name="T84" fmla="*/ 339425 w 699"/>
              <a:gd name="T85" fmla="*/ 198438 h 134"/>
              <a:gd name="T86" fmla="*/ 293513 w 699"/>
              <a:gd name="T87" fmla="*/ 201613 h 134"/>
              <a:gd name="T88" fmla="*/ 234482 w 699"/>
              <a:gd name="T89" fmla="*/ 211138 h 134"/>
              <a:gd name="T90" fmla="*/ 167253 w 699"/>
              <a:gd name="T91" fmla="*/ 211138 h 134"/>
              <a:gd name="T92" fmla="*/ 111502 w 699"/>
              <a:gd name="T93" fmla="*/ 201613 h 134"/>
              <a:gd name="T94" fmla="*/ 60670 w 699"/>
              <a:gd name="T95" fmla="*/ 204788 h 134"/>
              <a:gd name="T96" fmla="*/ 11478 w 699"/>
              <a:gd name="T97" fmla="*/ 195263 h 134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699" h="134">
                <a:moveTo>
                  <a:pt x="0" y="120"/>
                </a:moveTo>
                <a:lnTo>
                  <a:pt x="4" y="117"/>
                </a:lnTo>
                <a:lnTo>
                  <a:pt x="9" y="115"/>
                </a:lnTo>
                <a:lnTo>
                  <a:pt x="15" y="112"/>
                </a:lnTo>
                <a:lnTo>
                  <a:pt x="21" y="110"/>
                </a:lnTo>
                <a:lnTo>
                  <a:pt x="29" y="108"/>
                </a:lnTo>
                <a:lnTo>
                  <a:pt x="39" y="105"/>
                </a:lnTo>
                <a:lnTo>
                  <a:pt x="47" y="102"/>
                </a:lnTo>
                <a:lnTo>
                  <a:pt x="58" y="99"/>
                </a:lnTo>
                <a:lnTo>
                  <a:pt x="70" y="96"/>
                </a:lnTo>
                <a:lnTo>
                  <a:pt x="82" y="93"/>
                </a:lnTo>
                <a:lnTo>
                  <a:pt x="94" y="91"/>
                </a:lnTo>
                <a:lnTo>
                  <a:pt x="106" y="90"/>
                </a:lnTo>
                <a:lnTo>
                  <a:pt x="118" y="88"/>
                </a:lnTo>
                <a:lnTo>
                  <a:pt x="129" y="85"/>
                </a:lnTo>
                <a:lnTo>
                  <a:pt x="140" y="83"/>
                </a:lnTo>
                <a:lnTo>
                  <a:pt x="149" y="81"/>
                </a:lnTo>
                <a:lnTo>
                  <a:pt x="163" y="79"/>
                </a:lnTo>
                <a:lnTo>
                  <a:pt x="174" y="77"/>
                </a:lnTo>
                <a:lnTo>
                  <a:pt x="185" y="75"/>
                </a:lnTo>
                <a:lnTo>
                  <a:pt x="193" y="74"/>
                </a:lnTo>
                <a:lnTo>
                  <a:pt x="200" y="71"/>
                </a:lnTo>
                <a:lnTo>
                  <a:pt x="206" y="67"/>
                </a:lnTo>
                <a:lnTo>
                  <a:pt x="211" y="64"/>
                </a:lnTo>
                <a:lnTo>
                  <a:pt x="215" y="59"/>
                </a:lnTo>
                <a:lnTo>
                  <a:pt x="219" y="55"/>
                </a:lnTo>
                <a:lnTo>
                  <a:pt x="226" y="48"/>
                </a:lnTo>
                <a:lnTo>
                  <a:pt x="233" y="42"/>
                </a:lnTo>
                <a:lnTo>
                  <a:pt x="241" y="34"/>
                </a:lnTo>
                <a:lnTo>
                  <a:pt x="249" y="27"/>
                </a:lnTo>
                <a:lnTo>
                  <a:pt x="257" y="19"/>
                </a:lnTo>
                <a:lnTo>
                  <a:pt x="267" y="12"/>
                </a:lnTo>
                <a:lnTo>
                  <a:pt x="276" y="6"/>
                </a:lnTo>
                <a:lnTo>
                  <a:pt x="283" y="0"/>
                </a:lnTo>
                <a:lnTo>
                  <a:pt x="286" y="11"/>
                </a:lnTo>
                <a:lnTo>
                  <a:pt x="291" y="24"/>
                </a:lnTo>
                <a:lnTo>
                  <a:pt x="295" y="36"/>
                </a:lnTo>
                <a:lnTo>
                  <a:pt x="298" y="47"/>
                </a:lnTo>
                <a:lnTo>
                  <a:pt x="300" y="52"/>
                </a:lnTo>
                <a:lnTo>
                  <a:pt x="300" y="58"/>
                </a:lnTo>
                <a:lnTo>
                  <a:pt x="300" y="63"/>
                </a:lnTo>
                <a:lnTo>
                  <a:pt x="295" y="69"/>
                </a:lnTo>
                <a:lnTo>
                  <a:pt x="306" y="72"/>
                </a:lnTo>
                <a:lnTo>
                  <a:pt x="318" y="73"/>
                </a:lnTo>
                <a:lnTo>
                  <a:pt x="332" y="75"/>
                </a:lnTo>
                <a:lnTo>
                  <a:pt x="348" y="78"/>
                </a:lnTo>
                <a:lnTo>
                  <a:pt x="364" y="81"/>
                </a:lnTo>
                <a:lnTo>
                  <a:pt x="376" y="83"/>
                </a:lnTo>
                <a:lnTo>
                  <a:pt x="389" y="85"/>
                </a:lnTo>
                <a:lnTo>
                  <a:pt x="400" y="86"/>
                </a:lnTo>
                <a:lnTo>
                  <a:pt x="410" y="87"/>
                </a:lnTo>
                <a:lnTo>
                  <a:pt x="419" y="85"/>
                </a:lnTo>
                <a:lnTo>
                  <a:pt x="427" y="81"/>
                </a:lnTo>
                <a:lnTo>
                  <a:pt x="434" y="75"/>
                </a:lnTo>
                <a:lnTo>
                  <a:pt x="452" y="78"/>
                </a:lnTo>
                <a:lnTo>
                  <a:pt x="471" y="83"/>
                </a:lnTo>
                <a:lnTo>
                  <a:pt x="484" y="86"/>
                </a:lnTo>
                <a:lnTo>
                  <a:pt x="476" y="94"/>
                </a:lnTo>
                <a:lnTo>
                  <a:pt x="482" y="96"/>
                </a:lnTo>
                <a:lnTo>
                  <a:pt x="491" y="99"/>
                </a:lnTo>
                <a:lnTo>
                  <a:pt x="501" y="102"/>
                </a:lnTo>
                <a:lnTo>
                  <a:pt x="512" y="103"/>
                </a:lnTo>
                <a:lnTo>
                  <a:pt x="522" y="102"/>
                </a:lnTo>
                <a:lnTo>
                  <a:pt x="532" y="102"/>
                </a:lnTo>
                <a:lnTo>
                  <a:pt x="543" y="99"/>
                </a:lnTo>
                <a:lnTo>
                  <a:pt x="555" y="96"/>
                </a:lnTo>
                <a:lnTo>
                  <a:pt x="566" y="90"/>
                </a:lnTo>
                <a:lnTo>
                  <a:pt x="579" y="80"/>
                </a:lnTo>
                <a:lnTo>
                  <a:pt x="589" y="72"/>
                </a:lnTo>
                <a:lnTo>
                  <a:pt x="602" y="61"/>
                </a:lnTo>
                <a:lnTo>
                  <a:pt x="607" y="56"/>
                </a:lnTo>
                <a:lnTo>
                  <a:pt x="616" y="47"/>
                </a:lnTo>
                <a:lnTo>
                  <a:pt x="624" y="42"/>
                </a:lnTo>
                <a:lnTo>
                  <a:pt x="631" y="36"/>
                </a:lnTo>
                <a:lnTo>
                  <a:pt x="639" y="31"/>
                </a:lnTo>
                <a:lnTo>
                  <a:pt x="645" y="27"/>
                </a:lnTo>
                <a:lnTo>
                  <a:pt x="652" y="24"/>
                </a:lnTo>
                <a:lnTo>
                  <a:pt x="658" y="21"/>
                </a:lnTo>
                <a:lnTo>
                  <a:pt x="664" y="18"/>
                </a:lnTo>
                <a:lnTo>
                  <a:pt x="671" y="16"/>
                </a:lnTo>
                <a:lnTo>
                  <a:pt x="677" y="15"/>
                </a:lnTo>
                <a:lnTo>
                  <a:pt x="686" y="15"/>
                </a:lnTo>
                <a:lnTo>
                  <a:pt x="698" y="15"/>
                </a:lnTo>
                <a:lnTo>
                  <a:pt x="693" y="19"/>
                </a:lnTo>
                <a:lnTo>
                  <a:pt x="688" y="25"/>
                </a:lnTo>
                <a:lnTo>
                  <a:pt x="685" y="29"/>
                </a:lnTo>
                <a:lnTo>
                  <a:pt x="680" y="36"/>
                </a:lnTo>
                <a:lnTo>
                  <a:pt x="675" y="42"/>
                </a:lnTo>
                <a:lnTo>
                  <a:pt x="668" y="48"/>
                </a:lnTo>
                <a:lnTo>
                  <a:pt x="659" y="54"/>
                </a:lnTo>
                <a:lnTo>
                  <a:pt x="655" y="58"/>
                </a:lnTo>
                <a:lnTo>
                  <a:pt x="652" y="62"/>
                </a:lnTo>
                <a:lnTo>
                  <a:pt x="647" y="67"/>
                </a:lnTo>
                <a:lnTo>
                  <a:pt x="645" y="71"/>
                </a:lnTo>
                <a:lnTo>
                  <a:pt x="641" y="75"/>
                </a:lnTo>
                <a:lnTo>
                  <a:pt x="638" y="79"/>
                </a:lnTo>
                <a:lnTo>
                  <a:pt x="636" y="84"/>
                </a:lnTo>
                <a:lnTo>
                  <a:pt x="633" y="88"/>
                </a:lnTo>
                <a:lnTo>
                  <a:pt x="630" y="91"/>
                </a:lnTo>
                <a:lnTo>
                  <a:pt x="628" y="95"/>
                </a:lnTo>
                <a:lnTo>
                  <a:pt x="627" y="99"/>
                </a:lnTo>
                <a:lnTo>
                  <a:pt x="626" y="103"/>
                </a:lnTo>
                <a:lnTo>
                  <a:pt x="625" y="108"/>
                </a:lnTo>
                <a:lnTo>
                  <a:pt x="625" y="111"/>
                </a:lnTo>
                <a:lnTo>
                  <a:pt x="621" y="109"/>
                </a:lnTo>
                <a:lnTo>
                  <a:pt x="615" y="108"/>
                </a:lnTo>
                <a:lnTo>
                  <a:pt x="610" y="108"/>
                </a:lnTo>
                <a:lnTo>
                  <a:pt x="605" y="108"/>
                </a:lnTo>
                <a:lnTo>
                  <a:pt x="600" y="110"/>
                </a:lnTo>
                <a:lnTo>
                  <a:pt x="596" y="111"/>
                </a:lnTo>
                <a:lnTo>
                  <a:pt x="592" y="112"/>
                </a:lnTo>
                <a:lnTo>
                  <a:pt x="587" y="114"/>
                </a:lnTo>
                <a:lnTo>
                  <a:pt x="582" y="114"/>
                </a:lnTo>
                <a:lnTo>
                  <a:pt x="576" y="113"/>
                </a:lnTo>
                <a:lnTo>
                  <a:pt x="570" y="112"/>
                </a:lnTo>
                <a:lnTo>
                  <a:pt x="567" y="111"/>
                </a:lnTo>
                <a:lnTo>
                  <a:pt x="562" y="110"/>
                </a:lnTo>
                <a:lnTo>
                  <a:pt x="557" y="110"/>
                </a:lnTo>
                <a:lnTo>
                  <a:pt x="550" y="111"/>
                </a:lnTo>
                <a:lnTo>
                  <a:pt x="544" y="112"/>
                </a:lnTo>
                <a:lnTo>
                  <a:pt x="539" y="112"/>
                </a:lnTo>
                <a:lnTo>
                  <a:pt x="532" y="112"/>
                </a:lnTo>
                <a:lnTo>
                  <a:pt x="526" y="110"/>
                </a:lnTo>
                <a:lnTo>
                  <a:pt x="520" y="110"/>
                </a:lnTo>
                <a:lnTo>
                  <a:pt x="514" y="112"/>
                </a:lnTo>
                <a:lnTo>
                  <a:pt x="506" y="113"/>
                </a:lnTo>
                <a:lnTo>
                  <a:pt x="500" y="113"/>
                </a:lnTo>
                <a:lnTo>
                  <a:pt x="493" y="112"/>
                </a:lnTo>
                <a:lnTo>
                  <a:pt x="487" y="111"/>
                </a:lnTo>
                <a:lnTo>
                  <a:pt x="480" y="112"/>
                </a:lnTo>
                <a:lnTo>
                  <a:pt x="474" y="115"/>
                </a:lnTo>
                <a:lnTo>
                  <a:pt x="466" y="116"/>
                </a:lnTo>
                <a:lnTo>
                  <a:pt x="460" y="117"/>
                </a:lnTo>
                <a:lnTo>
                  <a:pt x="453" y="118"/>
                </a:lnTo>
                <a:lnTo>
                  <a:pt x="447" y="118"/>
                </a:lnTo>
                <a:lnTo>
                  <a:pt x="439" y="117"/>
                </a:lnTo>
                <a:lnTo>
                  <a:pt x="432" y="115"/>
                </a:lnTo>
                <a:lnTo>
                  <a:pt x="424" y="117"/>
                </a:lnTo>
                <a:lnTo>
                  <a:pt x="419" y="117"/>
                </a:lnTo>
                <a:lnTo>
                  <a:pt x="413" y="117"/>
                </a:lnTo>
                <a:lnTo>
                  <a:pt x="407" y="117"/>
                </a:lnTo>
                <a:lnTo>
                  <a:pt x="401" y="117"/>
                </a:lnTo>
                <a:lnTo>
                  <a:pt x="394" y="118"/>
                </a:lnTo>
                <a:lnTo>
                  <a:pt x="389" y="120"/>
                </a:lnTo>
                <a:lnTo>
                  <a:pt x="384" y="122"/>
                </a:lnTo>
                <a:lnTo>
                  <a:pt x="377" y="124"/>
                </a:lnTo>
                <a:lnTo>
                  <a:pt x="371" y="125"/>
                </a:lnTo>
                <a:lnTo>
                  <a:pt x="363" y="125"/>
                </a:lnTo>
                <a:lnTo>
                  <a:pt x="356" y="126"/>
                </a:lnTo>
                <a:lnTo>
                  <a:pt x="347" y="125"/>
                </a:lnTo>
                <a:lnTo>
                  <a:pt x="338" y="125"/>
                </a:lnTo>
                <a:lnTo>
                  <a:pt x="332" y="125"/>
                </a:lnTo>
                <a:lnTo>
                  <a:pt x="324" y="126"/>
                </a:lnTo>
                <a:lnTo>
                  <a:pt x="318" y="126"/>
                </a:lnTo>
                <a:lnTo>
                  <a:pt x="311" y="127"/>
                </a:lnTo>
                <a:lnTo>
                  <a:pt x="305" y="127"/>
                </a:lnTo>
                <a:lnTo>
                  <a:pt x="297" y="126"/>
                </a:lnTo>
                <a:lnTo>
                  <a:pt x="290" y="125"/>
                </a:lnTo>
                <a:lnTo>
                  <a:pt x="285" y="123"/>
                </a:lnTo>
                <a:lnTo>
                  <a:pt x="279" y="123"/>
                </a:lnTo>
                <a:lnTo>
                  <a:pt x="273" y="123"/>
                </a:lnTo>
                <a:lnTo>
                  <a:pt x="267" y="124"/>
                </a:lnTo>
                <a:lnTo>
                  <a:pt x="259" y="125"/>
                </a:lnTo>
                <a:lnTo>
                  <a:pt x="253" y="125"/>
                </a:lnTo>
                <a:lnTo>
                  <a:pt x="248" y="125"/>
                </a:lnTo>
                <a:lnTo>
                  <a:pt x="244" y="125"/>
                </a:lnTo>
                <a:lnTo>
                  <a:pt x="238" y="123"/>
                </a:lnTo>
                <a:lnTo>
                  <a:pt x="232" y="123"/>
                </a:lnTo>
                <a:lnTo>
                  <a:pt x="226" y="123"/>
                </a:lnTo>
                <a:lnTo>
                  <a:pt x="221" y="124"/>
                </a:lnTo>
                <a:lnTo>
                  <a:pt x="215" y="125"/>
                </a:lnTo>
                <a:lnTo>
                  <a:pt x="207" y="125"/>
                </a:lnTo>
                <a:lnTo>
                  <a:pt x="199" y="125"/>
                </a:lnTo>
                <a:lnTo>
                  <a:pt x="193" y="125"/>
                </a:lnTo>
                <a:lnTo>
                  <a:pt x="186" y="126"/>
                </a:lnTo>
                <a:lnTo>
                  <a:pt x="179" y="127"/>
                </a:lnTo>
                <a:lnTo>
                  <a:pt x="172" y="129"/>
                </a:lnTo>
                <a:lnTo>
                  <a:pt x="165" y="130"/>
                </a:lnTo>
                <a:lnTo>
                  <a:pt x="155" y="132"/>
                </a:lnTo>
                <a:lnTo>
                  <a:pt x="143" y="133"/>
                </a:lnTo>
                <a:lnTo>
                  <a:pt x="132" y="133"/>
                </a:lnTo>
                <a:lnTo>
                  <a:pt x="122" y="132"/>
                </a:lnTo>
                <a:lnTo>
                  <a:pt x="109" y="133"/>
                </a:lnTo>
                <a:lnTo>
                  <a:pt x="102" y="133"/>
                </a:lnTo>
                <a:lnTo>
                  <a:pt x="96" y="132"/>
                </a:lnTo>
                <a:lnTo>
                  <a:pt x="89" y="133"/>
                </a:lnTo>
                <a:lnTo>
                  <a:pt x="81" y="132"/>
                </a:lnTo>
                <a:lnTo>
                  <a:pt x="68" y="127"/>
                </a:lnTo>
                <a:lnTo>
                  <a:pt x="60" y="128"/>
                </a:lnTo>
                <a:lnTo>
                  <a:pt x="52" y="129"/>
                </a:lnTo>
                <a:lnTo>
                  <a:pt x="44" y="129"/>
                </a:lnTo>
                <a:lnTo>
                  <a:pt x="37" y="129"/>
                </a:lnTo>
                <a:lnTo>
                  <a:pt x="29" y="128"/>
                </a:lnTo>
                <a:lnTo>
                  <a:pt x="22" y="127"/>
                </a:lnTo>
                <a:lnTo>
                  <a:pt x="14" y="125"/>
                </a:lnTo>
                <a:lnTo>
                  <a:pt x="7" y="123"/>
                </a:lnTo>
                <a:lnTo>
                  <a:pt x="1" y="122"/>
                </a:lnTo>
                <a:lnTo>
                  <a:pt x="0" y="120"/>
                </a:lnTo>
              </a:path>
            </a:pathLst>
          </a:custGeom>
          <a:pattFill prst="pct50">
            <a:fgClr>
              <a:schemeClr val="tx1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2556" name="Group 67"/>
          <p:cNvGrpSpPr>
            <a:grpSpLocks/>
          </p:cNvGrpSpPr>
          <p:nvPr/>
        </p:nvGrpSpPr>
        <p:grpSpPr bwMode="auto">
          <a:xfrm>
            <a:off x="5339954" y="2659856"/>
            <a:ext cx="126206" cy="82154"/>
            <a:chOff x="3613" y="2387"/>
            <a:chExt cx="102" cy="69"/>
          </a:xfrm>
        </p:grpSpPr>
        <p:sp>
          <p:nvSpPr>
            <p:cNvPr id="23155" name="Freeform 68" descr="50%"/>
            <p:cNvSpPr>
              <a:spLocks/>
            </p:cNvSpPr>
            <p:nvPr/>
          </p:nvSpPr>
          <p:spPr bwMode="auto">
            <a:xfrm>
              <a:off x="3613" y="2392"/>
              <a:ext cx="102" cy="64"/>
            </a:xfrm>
            <a:custGeom>
              <a:avLst/>
              <a:gdLst>
                <a:gd name="T0" fmla="*/ 95 w 102"/>
                <a:gd name="T1" fmla="*/ 57 h 64"/>
                <a:gd name="T2" fmla="*/ 89 w 102"/>
                <a:gd name="T3" fmla="*/ 51 h 64"/>
                <a:gd name="T4" fmla="*/ 86 w 102"/>
                <a:gd name="T5" fmla="*/ 47 h 64"/>
                <a:gd name="T6" fmla="*/ 83 w 102"/>
                <a:gd name="T7" fmla="*/ 44 h 64"/>
                <a:gd name="T8" fmla="*/ 80 w 102"/>
                <a:gd name="T9" fmla="*/ 41 h 64"/>
                <a:gd name="T10" fmla="*/ 77 w 102"/>
                <a:gd name="T11" fmla="*/ 37 h 64"/>
                <a:gd name="T12" fmla="*/ 75 w 102"/>
                <a:gd name="T13" fmla="*/ 34 h 64"/>
                <a:gd name="T14" fmla="*/ 72 w 102"/>
                <a:gd name="T15" fmla="*/ 30 h 64"/>
                <a:gd name="T16" fmla="*/ 70 w 102"/>
                <a:gd name="T17" fmla="*/ 25 h 64"/>
                <a:gd name="T18" fmla="*/ 68 w 102"/>
                <a:gd name="T19" fmla="*/ 21 h 64"/>
                <a:gd name="T20" fmla="*/ 67 w 102"/>
                <a:gd name="T21" fmla="*/ 16 h 64"/>
                <a:gd name="T22" fmla="*/ 66 w 102"/>
                <a:gd name="T23" fmla="*/ 11 h 64"/>
                <a:gd name="T24" fmla="*/ 66 w 102"/>
                <a:gd name="T25" fmla="*/ 6 h 64"/>
                <a:gd name="T26" fmla="*/ 65 w 102"/>
                <a:gd name="T27" fmla="*/ 0 h 64"/>
                <a:gd name="T28" fmla="*/ 0 w 102"/>
                <a:gd name="T29" fmla="*/ 0 h 64"/>
                <a:gd name="T30" fmla="*/ 2 w 102"/>
                <a:gd name="T31" fmla="*/ 4 h 64"/>
                <a:gd name="T32" fmla="*/ 5 w 102"/>
                <a:gd name="T33" fmla="*/ 9 h 64"/>
                <a:gd name="T34" fmla="*/ 9 w 102"/>
                <a:gd name="T35" fmla="*/ 14 h 64"/>
                <a:gd name="T36" fmla="*/ 12 w 102"/>
                <a:gd name="T37" fmla="*/ 18 h 64"/>
                <a:gd name="T38" fmla="*/ 17 w 102"/>
                <a:gd name="T39" fmla="*/ 23 h 64"/>
                <a:gd name="T40" fmla="*/ 22 w 102"/>
                <a:gd name="T41" fmla="*/ 28 h 64"/>
                <a:gd name="T42" fmla="*/ 27 w 102"/>
                <a:gd name="T43" fmla="*/ 32 h 64"/>
                <a:gd name="T44" fmla="*/ 32 w 102"/>
                <a:gd name="T45" fmla="*/ 36 h 64"/>
                <a:gd name="T46" fmla="*/ 38 w 102"/>
                <a:gd name="T47" fmla="*/ 41 h 64"/>
                <a:gd name="T48" fmla="*/ 45 w 102"/>
                <a:gd name="T49" fmla="*/ 46 h 64"/>
                <a:gd name="T50" fmla="*/ 51 w 102"/>
                <a:gd name="T51" fmla="*/ 49 h 64"/>
                <a:gd name="T52" fmla="*/ 56 w 102"/>
                <a:gd name="T53" fmla="*/ 52 h 64"/>
                <a:gd name="T54" fmla="*/ 61 w 102"/>
                <a:gd name="T55" fmla="*/ 54 h 64"/>
                <a:gd name="T56" fmla="*/ 67 w 102"/>
                <a:gd name="T57" fmla="*/ 57 h 64"/>
                <a:gd name="T58" fmla="*/ 72 w 102"/>
                <a:gd name="T59" fmla="*/ 59 h 64"/>
                <a:gd name="T60" fmla="*/ 79 w 102"/>
                <a:gd name="T61" fmla="*/ 60 h 64"/>
                <a:gd name="T62" fmla="*/ 86 w 102"/>
                <a:gd name="T63" fmla="*/ 61 h 64"/>
                <a:gd name="T64" fmla="*/ 91 w 102"/>
                <a:gd name="T65" fmla="*/ 62 h 64"/>
                <a:gd name="T66" fmla="*/ 97 w 102"/>
                <a:gd name="T67" fmla="*/ 62 h 64"/>
                <a:gd name="T68" fmla="*/ 101 w 102"/>
                <a:gd name="T69" fmla="*/ 63 h 64"/>
                <a:gd name="T70" fmla="*/ 95 w 102"/>
                <a:gd name="T71" fmla="*/ 57 h 6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02" h="64">
                  <a:moveTo>
                    <a:pt x="95" y="57"/>
                  </a:moveTo>
                  <a:lnTo>
                    <a:pt x="89" y="51"/>
                  </a:lnTo>
                  <a:lnTo>
                    <a:pt x="86" y="47"/>
                  </a:lnTo>
                  <a:lnTo>
                    <a:pt x="83" y="44"/>
                  </a:lnTo>
                  <a:lnTo>
                    <a:pt x="80" y="41"/>
                  </a:lnTo>
                  <a:lnTo>
                    <a:pt x="77" y="37"/>
                  </a:lnTo>
                  <a:lnTo>
                    <a:pt x="75" y="34"/>
                  </a:lnTo>
                  <a:lnTo>
                    <a:pt x="72" y="30"/>
                  </a:lnTo>
                  <a:lnTo>
                    <a:pt x="70" y="25"/>
                  </a:lnTo>
                  <a:lnTo>
                    <a:pt x="68" y="21"/>
                  </a:lnTo>
                  <a:lnTo>
                    <a:pt x="67" y="16"/>
                  </a:lnTo>
                  <a:lnTo>
                    <a:pt x="66" y="11"/>
                  </a:lnTo>
                  <a:lnTo>
                    <a:pt x="66" y="6"/>
                  </a:lnTo>
                  <a:lnTo>
                    <a:pt x="65" y="0"/>
                  </a:lnTo>
                  <a:lnTo>
                    <a:pt x="0" y="0"/>
                  </a:lnTo>
                  <a:lnTo>
                    <a:pt x="2" y="4"/>
                  </a:lnTo>
                  <a:lnTo>
                    <a:pt x="5" y="9"/>
                  </a:lnTo>
                  <a:lnTo>
                    <a:pt x="9" y="14"/>
                  </a:lnTo>
                  <a:lnTo>
                    <a:pt x="12" y="18"/>
                  </a:lnTo>
                  <a:lnTo>
                    <a:pt x="17" y="23"/>
                  </a:lnTo>
                  <a:lnTo>
                    <a:pt x="22" y="28"/>
                  </a:lnTo>
                  <a:lnTo>
                    <a:pt x="27" y="32"/>
                  </a:lnTo>
                  <a:lnTo>
                    <a:pt x="32" y="36"/>
                  </a:lnTo>
                  <a:lnTo>
                    <a:pt x="38" y="41"/>
                  </a:lnTo>
                  <a:lnTo>
                    <a:pt x="45" y="46"/>
                  </a:lnTo>
                  <a:lnTo>
                    <a:pt x="51" y="49"/>
                  </a:lnTo>
                  <a:lnTo>
                    <a:pt x="56" y="52"/>
                  </a:lnTo>
                  <a:lnTo>
                    <a:pt x="61" y="54"/>
                  </a:lnTo>
                  <a:lnTo>
                    <a:pt x="67" y="57"/>
                  </a:lnTo>
                  <a:lnTo>
                    <a:pt x="72" y="59"/>
                  </a:lnTo>
                  <a:lnTo>
                    <a:pt x="79" y="60"/>
                  </a:lnTo>
                  <a:lnTo>
                    <a:pt x="86" y="61"/>
                  </a:lnTo>
                  <a:lnTo>
                    <a:pt x="91" y="62"/>
                  </a:lnTo>
                  <a:lnTo>
                    <a:pt x="97" y="62"/>
                  </a:lnTo>
                  <a:lnTo>
                    <a:pt x="101" y="63"/>
                  </a:lnTo>
                  <a:lnTo>
                    <a:pt x="95" y="57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56" name="Freeform 69" descr="50%"/>
            <p:cNvSpPr>
              <a:spLocks/>
            </p:cNvSpPr>
            <p:nvPr/>
          </p:nvSpPr>
          <p:spPr bwMode="auto">
            <a:xfrm>
              <a:off x="3615" y="2387"/>
              <a:ext cx="56" cy="5"/>
            </a:xfrm>
            <a:custGeom>
              <a:avLst/>
              <a:gdLst>
                <a:gd name="T0" fmla="*/ 0 w 56"/>
                <a:gd name="T1" fmla="*/ 4 h 5"/>
                <a:gd name="T2" fmla="*/ 0 w 56"/>
                <a:gd name="T3" fmla="*/ 3 h 5"/>
                <a:gd name="T4" fmla="*/ 1 w 56"/>
                <a:gd name="T5" fmla="*/ 0 h 5"/>
                <a:gd name="T6" fmla="*/ 55 w 56"/>
                <a:gd name="T7" fmla="*/ 0 h 5"/>
                <a:gd name="T8" fmla="*/ 55 w 56"/>
                <a:gd name="T9" fmla="*/ 4 h 5"/>
                <a:gd name="T10" fmla="*/ 0 w 56"/>
                <a:gd name="T11" fmla="*/ 4 h 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6" h="5">
                  <a:moveTo>
                    <a:pt x="0" y="4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55" y="0"/>
                  </a:lnTo>
                  <a:lnTo>
                    <a:pt x="55" y="4"/>
                  </a:lnTo>
                  <a:lnTo>
                    <a:pt x="0" y="4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57" name="Freeform 70" descr="50%"/>
          <p:cNvSpPr>
            <a:spLocks/>
          </p:cNvSpPr>
          <p:nvPr/>
        </p:nvSpPr>
        <p:spPr bwMode="auto">
          <a:xfrm>
            <a:off x="6276975" y="2921794"/>
            <a:ext cx="71438" cy="54769"/>
          </a:xfrm>
          <a:custGeom>
            <a:avLst/>
            <a:gdLst>
              <a:gd name="T0" fmla="*/ 0 w 58"/>
              <a:gd name="T1" fmla="*/ 0 h 46"/>
              <a:gd name="T2" fmla="*/ 3284 w 58"/>
              <a:gd name="T3" fmla="*/ 7938 h 46"/>
              <a:gd name="T4" fmla="*/ 8211 w 58"/>
              <a:gd name="T5" fmla="*/ 14288 h 46"/>
              <a:gd name="T6" fmla="*/ 14780 w 58"/>
              <a:gd name="T7" fmla="*/ 22225 h 46"/>
              <a:gd name="T8" fmla="*/ 19707 w 58"/>
              <a:gd name="T9" fmla="*/ 28575 h 46"/>
              <a:gd name="T10" fmla="*/ 26276 w 58"/>
              <a:gd name="T11" fmla="*/ 36513 h 46"/>
              <a:gd name="T12" fmla="*/ 34487 w 58"/>
              <a:gd name="T13" fmla="*/ 44450 h 46"/>
              <a:gd name="T14" fmla="*/ 39414 w 58"/>
              <a:gd name="T15" fmla="*/ 50800 h 46"/>
              <a:gd name="T16" fmla="*/ 45983 w 58"/>
              <a:gd name="T17" fmla="*/ 55563 h 46"/>
              <a:gd name="T18" fmla="*/ 52552 w 58"/>
              <a:gd name="T19" fmla="*/ 60325 h 46"/>
              <a:gd name="T20" fmla="*/ 59121 w 58"/>
              <a:gd name="T21" fmla="*/ 63500 h 46"/>
              <a:gd name="T22" fmla="*/ 67332 w 58"/>
              <a:gd name="T23" fmla="*/ 66675 h 46"/>
              <a:gd name="T24" fmla="*/ 73901 w 58"/>
              <a:gd name="T25" fmla="*/ 69850 h 46"/>
              <a:gd name="T26" fmla="*/ 82112 w 58"/>
              <a:gd name="T27" fmla="*/ 71438 h 46"/>
              <a:gd name="T28" fmla="*/ 88681 w 58"/>
              <a:gd name="T29" fmla="*/ 71438 h 46"/>
              <a:gd name="T30" fmla="*/ 93608 w 58"/>
              <a:gd name="T31" fmla="*/ 69850 h 46"/>
              <a:gd name="T32" fmla="*/ 88681 w 58"/>
              <a:gd name="T33" fmla="*/ 65088 h 46"/>
              <a:gd name="T34" fmla="*/ 83754 w 58"/>
              <a:gd name="T35" fmla="*/ 58738 h 46"/>
              <a:gd name="T36" fmla="*/ 78828 w 58"/>
              <a:gd name="T37" fmla="*/ 52388 h 46"/>
              <a:gd name="T38" fmla="*/ 73901 w 58"/>
              <a:gd name="T39" fmla="*/ 46038 h 46"/>
              <a:gd name="T40" fmla="*/ 68974 w 58"/>
              <a:gd name="T41" fmla="*/ 38100 h 46"/>
              <a:gd name="T42" fmla="*/ 65690 w 58"/>
              <a:gd name="T43" fmla="*/ 31750 h 46"/>
              <a:gd name="T44" fmla="*/ 62405 w 58"/>
              <a:gd name="T45" fmla="*/ 25400 h 46"/>
              <a:gd name="T46" fmla="*/ 60763 w 58"/>
              <a:gd name="T47" fmla="*/ 15875 h 46"/>
              <a:gd name="T48" fmla="*/ 60763 w 58"/>
              <a:gd name="T49" fmla="*/ 7938 h 46"/>
              <a:gd name="T50" fmla="*/ 60763 w 58"/>
              <a:gd name="T51" fmla="*/ 1588 h 46"/>
              <a:gd name="T52" fmla="*/ 0 w 58"/>
              <a:gd name="T53" fmla="*/ 0 h 4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58" h="46">
                <a:moveTo>
                  <a:pt x="0" y="0"/>
                </a:moveTo>
                <a:lnTo>
                  <a:pt x="2" y="5"/>
                </a:lnTo>
                <a:lnTo>
                  <a:pt x="5" y="9"/>
                </a:lnTo>
                <a:lnTo>
                  <a:pt x="9" y="14"/>
                </a:lnTo>
                <a:lnTo>
                  <a:pt x="12" y="18"/>
                </a:lnTo>
                <a:lnTo>
                  <a:pt x="16" y="23"/>
                </a:lnTo>
                <a:lnTo>
                  <a:pt x="21" y="28"/>
                </a:lnTo>
                <a:lnTo>
                  <a:pt x="24" y="32"/>
                </a:lnTo>
                <a:lnTo>
                  <a:pt x="28" y="35"/>
                </a:lnTo>
                <a:lnTo>
                  <a:pt x="32" y="38"/>
                </a:lnTo>
                <a:lnTo>
                  <a:pt x="36" y="40"/>
                </a:lnTo>
                <a:lnTo>
                  <a:pt x="41" y="42"/>
                </a:lnTo>
                <a:lnTo>
                  <a:pt x="45" y="44"/>
                </a:lnTo>
                <a:lnTo>
                  <a:pt x="50" y="45"/>
                </a:lnTo>
                <a:lnTo>
                  <a:pt x="54" y="45"/>
                </a:lnTo>
                <a:lnTo>
                  <a:pt x="57" y="44"/>
                </a:lnTo>
                <a:lnTo>
                  <a:pt x="54" y="41"/>
                </a:lnTo>
                <a:lnTo>
                  <a:pt x="51" y="37"/>
                </a:lnTo>
                <a:lnTo>
                  <a:pt x="48" y="33"/>
                </a:lnTo>
                <a:lnTo>
                  <a:pt x="45" y="29"/>
                </a:lnTo>
                <a:lnTo>
                  <a:pt x="42" y="24"/>
                </a:lnTo>
                <a:lnTo>
                  <a:pt x="40" y="20"/>
                </a:lnTo>
                <a:lnTo>
                  <a:pt x="38" y="16"/>
                </a:lnTo>
                <a:lnTo>
                  <a:pt x="37" y="10"/>
                </a:lnTo>
                <a:lnTo>
                  <a:pt x="37" y="5"/>
                </a:lnTo>
                <a:lnTo>
                  <a:pt x="37" y="1"/>
                </a:lnTo>
                <a:lnTo>
                  <a:pt x="0" y="0"/>
                </a:lnTo>
              </a:path>
            </a:pathLst>
          </a:custGeom>
          <a:pattFill prst="pct50">
            <a:fgClr>
              <a:schemeClr val="tx1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8" name="Freeform 71" descr="50%"/>
          <p:cNvSpPr>
            <a:spLocks/>
          </p:cNvSpPr>
          <p:nvPr/>
        </p:nvSpPr>
        <p:spPr bwMode="auto">
          <a:xfrm>
            <a:off x="6128148" y="2793206"/>
            <a:ext cx="591740" cy="172641"/>
          </a:xfrm>
          <a:custGeom>
            <a:avLst/>
            <a:gdLst>
              <a:gd name="T0" fmla="*/ 8202 w 481"/>
              <a:gd name="T1" fmla="*/ 134938 h 145"/>
              <a:gd name="T2" fmla="*/ 32806 w 481"/>
              <a:gd name="T3" fmla="*/ 127000 h 145"/>
              <a:gd name="T4" fmla="*/ 68893 w 481"/>
              <a:gd name="T5" fmla="*/ 115888 h 145"/>
              <a:gd name="T6" fmla="*/ 106620 w 481"/>
              <a:gd name="T7" fmla="*/ 107950 h 145"/>
              <a:gd name="T8" fmla="*/ 145987 w 481"/>
              <a:gd name="T9" fmla="*/ 100013 h 145"/>
              <a:gd name="T10" fmla="*/ 183714 w 481"/>
              <a:gd name="T11" fmla="*/ 92075 h 145"/>
              <a:gd name="T12" fmla="*/ 216520 w 481"/>
              <a:gd name="T13" fmla="*/ 85725 h 145"/>
              <a:gd name="T14" fmla="*/ 234564 w 481"/>
              <a:gd name="T15" fmla="*/ 76200 h 145"/>
              <a:gd name="T16" fmla="*/ 254247 w 481"/>
              <a:gd name="T17" fmla="*/ 58738 h 145"/>
              <a:gd name="T18" fmla="*/ 280492 w 481"/>
              <a:gd name="T19" fmla="*/ 31750 h 145"/>
              <a:gd name="T20" fmla="*/ 308377 w 481"/>
              <a:gd name="T21" fmla="*/ 7938 h 145"/>
              <a:gd name="T22" fmla="*/ 328061 w 481"/>
              <a:gd name="T23" fmla="*/ 26988 h 145"/>
              <a:gd name="T24" fmla="*/ 339543 w 481"/>
              <a:gd name="T25" fmla="*/ 68263 h 145"/>
              <a:gd name="T26" fmla="*/ 346104 w 481"/>
              <a:gd name="T27" fmla="*/ 84138 h 145"/>
              <a:gd name="T28" fmla="*/ 392033 w 481"/>
              <a:gd name="T29" fmla="*/ 90488 h 145"/>
              <a:gd name="T30" fmla="*/ 437962 w 481"/>
              <a:gd name="T31" fmla="*/ 100013 h 145"/>
              <a:gd name="T32" fmla="*/ 472408 w 481"/>
              <a:gd name="T33" fmla="*/ 100013 h 145"/>
              <a:gd name="T34" fmla="*/ 508495 w 481"/>
              <a:gd name="T35" fmla="*/ 92075 h 145"/>
              <a:gd name="T36" fmla="*/ 536380 w 481"/>
              <a:gd name="T37" fmla="*/ 111125 h 145"/>
              <a:gd name="T38" fmla="*/ 564265 w 481"/>
              <a:gd name="T39" fmla="*/ 119063 h 145"/>
              <a:gd name="T40" fmla="*/ 598712 w 481"/>
              <a:gd name="T41" fmla="*/ 119063 h 145"/>
              <a:gd name="T42" fmla="*/ 636439 w 481"/>
              <a:gd name="T43" fmla="*/ 104775 h 145"/>
              <a:gd name="T44" fmla="*/ 677446 w 481"/>
              <a:gd name="T45" fmla="*/ 71438 h 145"/>
              <a:gd name="T46" fmla="*/ 725015 w 481"/>
              <a:gd name="T47" fmla="*/ 31750 h 145"/>
              <a:gd name="T48" fmla="*/ 772584 w 481"/>
              <a:gd name="T49" fmla="*/ 17463 h 145"/>
              <a:gd name="T50" fmla="*/ 774224 w 481"/>
              <a:gd name="T51" fmla="*/ 30163 h 145"/>
              <a:gd name="T52" fmla="*/ 751260 w 481"/>
              <a:gd name="T53" fmla="*/ 58738 h 145"/>
              <a:gd name="T54" fmla="*/ 725015 w 481"/>
              <a:gd name="T55" fmla="*/ 85725 h 145"/>
              <a:gd name="T56" fmla="*/ 706972 w 481"/>
              <a:gd name="T57" fmla="*/ 112713 h 145"/>
              <a:gd name="T58" fmla="*/ 706972 w 481"/>
              <a:gd name="T59" fmla="*/ 141288 h 145"/>
              <a:gd name="T60" fmla="*/ 726655 w 481"/>
              <a:gd name="T61" fmla="*/ 171450 h 145"/>
              <a:gd name="T62" fmla="*/ 749620 w 481"/>
              <a:gd name="T63" fmla="*/ 193675 h 145"/>
              <a:gd name="T64" fmla="*/ 770944 w 481"/>
              <a:gd name="T65" fmla="*/ 211138 h 145"/>
              <a:gd name="T66" fmla="*/ 772584 w 481"/>
              <a:gd name="T67" fmla="*/ 219075 h 145"/>
              <a:gd name="T68" fmla="*/ 743058 w 481"/>
              <a:gd name="T69" fmla="*/ 219075 h 145"/>
              <a:gd name="T70" fmla="*/ 716814 w 481"/>
              <a:gd name="T71" fmla="*/ 212725 h 145"/>
              <a:gd name="T72" fmla="*/ 690569 w 481"/>
              <a:gd name="T73" fmla="*/ 200025 h 145"/>
              <a:gd name="T74" fmla="*/ 649561 w 481"/>
              <a:gd name="T75" fmla="*/ 173038 h 145"/>
              <a:gd name="T76" fmla="*/ 598712 w 481"/>
              <a:gd name="T77" fmla="*/ 169863 h 145"/>
              <a:gd name="T78" fmla="*/ 538020 w 481"/>
              <a:gd name="T79" fmla="*/ 176213 h 145"/>
              <a:gd name="T80" fmla="*/ 498653 w 481"/>
              <a:gd name="T81" fmla="*/ 192088 h 145"/>
              <a:gd name="T82" fmla="*/ 485530 w 481"/>
              <a:gd name="T83" fmla="*/ 209550 h 145"/>
              <a:gd name="T84" fmla="*/ 431400 w 481"/>
              <a:gd name="T85" fmla="*/ 207963 h 145"/>
              <a:gd name="T86" fmla="*/ 385472 w 481"/>
              <a:gd name="T87" fmla="*/ 222250 h 145"/>
              <a:gd name="T88" fmla="*/ 213240 w 481"/>
              <a:gd name="T89" fmla="*/ 228600 h 145"/>
              <a:gd name="T90" fmla="*/ 114821 w 481"/>
              <a:gd name="T91" fmla="*/ 219075 h 145"/>
              <a:gd name="T92" fmla="*/ 27885 w 481"/>
              <a:gd name="T93" fmla="*/ 190500 h 145"/>
              <a:gd name="T94" fmla="*/ 27885 w 481"/>
              <a:gd name="T95" fmla="*/ 174625 h 145"/>
              <a:gd name="T96" fmla="*/ 8202 w 481"/>
              <a:gd name="T97" fmla="*/ 157163 h 145"/>
              <a:gd name="T98" fmla="*/ 1640 w 481"/>
              <a:gd name="T99" fmla="*/ 146050 h 145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481" h="145">
                <a:moveTo>
                  <a:pt x="0" y="89"/>
                </a:moveTo>
                <a:lnTo>
                  <a:pt x="2" y="88"/>
                </a:lnTo>
                <a:lnTo>
                  <a:pt x="5" y="85"/>
                </a:lnTo>
                <a:lnTo>
                  <a:pt x="11" y="83"/>
                </a:lnTo>
                <a:lnTo>
                  <a:pt x="15" y="82"/>
                </a:lnTo>
                <a:lnTo>
                  <a:pt x="20" y="80"/>
                </a:lnTo>
                <a:lnTo>
                  <a:pt x="27" y="77"/>
                </a:lnTo>
                <a:lnTo>
                  <a:pt x="35" y="75"/>
                </a:lnTo>
                <a:lnTo>
                  <a:pt x="42" y="73"/>
                </a:lnTo>
                <a:lnTo>
                  <a:pt x="49" y="71"/>
                </a:lnTo>
                <a:lnTo>
                  <a:pt x="57" y="69"/>
                </a:lnTo>
                <a:lnTo>
                  <a:pt x="65" y="68"/>
                </a:lnTo>
                <a:lnTo>
                  <a:pt x="74" y="66"/>
                </a:lnTo>
                <a:lnTo>
                  <a:pt x="81" y="64"/>
                </a:lnTo>
                <a:lnTo>
                  <a:pt x="89" y="63"/>
                </a:lnTo>
                <a:lnTo>
                  <a:pt x="95" y="62"/>
                </a:lnTo>
                <a:lnTo>
                  <a:pt x="105" y="60"/>
                </a:lnTo>
                <a:lnTo>
                  <a:pt x="112" y="58"/>
                </a:lnTo>
                <a:lnTo>
                  <a:pt x="120" y="57"/>
                </a:lnTo>
                <a:lnTo>
                  <a:pt x="126" y="56"/>
                </a:lnTo>
                <a:lnTo>
                  <a:pt x="132" y="54"/>
                </a:lnTo>
                <a:lnTo>
                  <a:pt x="137" y="52"/>
                </a:lnTo>
                <a:lnTo>
                  <a:pt x="140" y="51"/>
                </a:lnTo>
                <a:lnTo>
                  <a:pt x="143" y="48"/>
                </a:lnTo>
                <a:lnTo>
                  <a:pt x="147" y="45"/>
                </a:lnTo>
                <a:lnTo>
                  <a:pt x="150" y="41"/>
                </a:lnTo>
                <a:lnTo>
                  <a:pt x="155" y="37"/>
                </a:lnTo>
                <a:lnTo>
                  <a:pt x="160" y="31"/>
                </a:lnTo>
                <a:lnTo>
                  <a:pt x="165" y="25"/>
                </a:lnTo>
                <a:lnTo>
                  <a:pt x="171" y="20"/>
                </a:lnTo>
                <a:lnTo>
                  <a:pt x="176" y="14"/>
                </a:lnTo>
                <a:lnTo>
                  <a:pt x="182" y="10"/>
                </a:lnTo>
                <a:lnTo>
                  <a:pt x="188" y="5"/>
                </a:lnTo>
                <a:lnTo>
                  <a:pt x="195" y="0"/>
                </a:lnTo>
                <a:lnTo>
                  <a:pt x="197" y="9"/>
                </a:lnTo>
                <a:lnTo>
                  <a:pt x="200" y="17"/>
                </a:lnTo>
                <a:lnTo>
                  <a:pt x="203" y="26"/>
                </a:lnTo>
                <a:lnTo>
                  <a:pt x="205" y="35"/>
                </a:lnTo>
                <a:lnTo>
                  <a:pt x="207" y="43"/>
                </a:lnTo>
                <a:lnTo>
                  <a:pt x="206" y="47"/>
                </a:lnTo>
                <a:lnTo>
                  <a:pt x="203" y="51"/>
                </a:lnTo>
                <a:lnTo>
                  <a:pt x="211" y="53"/>
                </a:lnTo>
                <a:lnTo>
                  <a:pt x="218" y="54"/>
                </a:lnTo>
                <a:lnTo>
                  <a:pt x="228" y="56"/>
                </a:lnTo>
                <a:lnTo>
                  <a:pt x="239" y="57"/>
                </a:lnTo>
                <a:lnTo>
                  <a:pt x="249" y="60"/>
                </a:lnTo>
                <a:lnTo>
                  <a:pt x="258" y="61"/>
                </a:lnTo>
                <a:lnTo>
                  <a:pt x="267" y="63"/>
                </a:lnTo>
                <a:lnTo>
                  <a:pt x="275" y="64"/>
                </a:lnTo>
                <a:lnTo>
                  <a:pt x="282" y="64"/>
                </a:lnTo>
                <a:lnTo>
                  <a:pt x="288" y="63"/>
                </a:lnTo>
                <a:lnTo>
                  <a:pt x="293" y="60"/>
                </a:lnTo>
                <a:lnTo>
                  <a:pt x="298" y="56"/>
                </a:lnTo>
                <a:lnTo>
                  <a:pt x="310" y="58"/>
                </a:lnTo>
                <a:lnTo>
                  <a:pt x="323" y="61"/>
                </a:lnTo>
                <a:lnTo>
                  <a:pt x="334" y="63"/>
                </a:lnTo>
                <a:lnTo>
                  <a:pt x="327" y="70"/>
                </a:lnTo>
                <a:lnTo>
                  <a:pt x="331" y="72"/>
                </a:lnTo>
                <a:lnTo>
                  <a:pt x="337" y="74"/>
                </a:lnTo>
                <a:lnTo>
                  <a:pt x="344" y="75"/>
                </a:lnTo>
                <a:lnTo>
                  <a:pt x="351" y="76"/>
                </a:lnTo>
                <a:lnTo>
                  <a:pt x="358" y="76"/>
                </a:lnTo>
                <a:lnTo>
                  <a:pt x="365" y="75"/>
                </a:lnTo>
                <a:lnTo>
                  <a:pt x="373" y="73"/>
                </a:lnTo>
                <a:lnTo>
                  <a:pt x="381" y="71"/>
                </a:lnTo>
                <a:lnTo>
                  <a:pt x="388" y="66"/>
                </a:lnTo>
                <a:lnTo>
                  <a:pt x="397" y="60"/>
                </a:lnTo>
                <a:lnTo>
                  <a:pt x="404" y="54"/>
                </a:lnTo>
                <a:lnTo>
                  <a:pt x="413" y="45"/>
                </a:lnTo>
                <a:lnTo>
                  <a:pt x="422" y="35"/>
                </a:lnTo>
                <a:lnTo>
                  <a:pt x="433" y="27"/>
                </a:lnTo>
                <a:lnTo>
                  <a:pt x="442" y="20"/>
                </a:lnTo>
                <a:lnTo>
                  <a:pt x="451" y="15"/>
                </a:lnTo>
                <a:lnTo>
                  <a:pt x="460" y="12"/>
                </a:lnTo>
                <a:lnTo>
                  <a:pt x="471" y="11"/>
                </a:lnTo>
                <a:lnTo>
                  <a:pt x="480" y="11"/>
                </a:lnTo>
                <a:lnTo>
                  <a:pt x="475" y="15"/>
                </a:lnTo>
                <a:lnTo>
                  <a:pt x="472" y="19"/>
                </a:lnTo>
                <a:lnTo>
                  <a:pt x="470" y="22"/>
                </a:lnTo>
                <a:lnTo>
                  <a:pt x="463" y="32"/>
                </a:lnTo>
                <a:lnTo>
                  <a:pt x="458" y="37"/>
                </a:lnTo>
                <a:lnTo>
                  <a:pt x="452" y="42"/>
                </a:lnTo>
                <a:lnTo>
                  <a:pt x="446" y="48"/>
                </a:lnTo>
                <a:lnTo>
                  <a:pt x="442" y="54"/>
                </a:lnTo>
                <a:lnTo>
                  <a:pt x="438" y="60"/>
                </a:lnTo>
                <a:lnTo>
                  <a:pt x="434" y="66"/>
                </a:lnTo>
                <a:lnTo>
                  <a:pt x="431" y="71"/>
                </a:lnTo>
                <a:lnTo>
                  <a:pt x="430" y="77"/>
                </a:lnTo>
                <a:lnTo>
                  <a:pt x="429" y="83"/>
                </a:lnTo>
                <a:lnTo>
                  <a:pt x="431" y="89"/>
                </a:lnTo>
                <a:lnTo>
                  <a:pt x="434" y="96"/>
                </a:lnTo>
                <a:lnTo>
                  <a:pt x="438" y="102"/>
                </a:lnTo>
                <a:lnTo>
                  <a:pt x="443" y="108"/>
                </a:lnTo>
                <a:lnTo>
                  <a:pt x="447" y="112"/>
                </a:lnTo>
                <a:lnTo>
                  <a:pt x="452" y="116"/>
                </a:lnTo>
                <a:lnTo>
                  <a:pt x="457" y="122"/>
                </a:lnTo>
                <a:lnTo>
                  <a:pt x="463" y="127"/>
                </a:lnTo>
                <a:lnTo>
                  <a:pt x="467" y="130"/>
                </a:lnTo>
                <a:lnTo>
                  <a:pt x="470" y="133"/>
                </a:lnTo>
                <a:lnTo>
                  <a:pt x="474" y="135"/>
                </a:lnTo>
                <a:lnTo>
                  <a:pt x="476" y="138"/>
                </a:lnTo>
                <a:lnTo>
                  <a:pt x="471" y="138"/>
                </a:lnTo>
                <a:lnTo>
                  <a:pt x="464" y="138"/>
                </a:lnTo>
                <a:lnTo>
                  <a:pt x="458" y="138"/>
                </a:lnTo>
                <a:lnTo>
                  <a:pt x="453" y="138"/>
                </a:lnTo>
                <a:lnTo>
                  <a:pt x="446" y="137"/>
                </a:lnTo>
                <a:lnTo>
                  <a:pt x="441" y="135"/>
                </a:lnTo>
                <a:lnTo>
                  <a:pt x="437" y="134"/>
                </a:lnTo>
                <a:lnTo>
                  <a:pt x="432" y="131"/>
                </a:lnTo>
                <a:lnTo>
                  <a:pt x="426" y="129"/>
                </a:lnTo>
                <a:lnTo>
                  <a:pt x="421" y="126"/>
                </a:lnTo>
                <a:lnTo>
                  <a:pt x="412" y="119"/>
                </a:lnTo>
                <a:lnTo>
                  <a:pt x="405" y="115"/>
                </a:lnTo>
                <a:lnTo>
                  <a:pt x="396" y="109"/>
                </a:lnTo>
                <a:lnTo>
                  <a:pt x="387" y="108"/>
                </a:lnTo>
                <a:lnTo>
                  <a:pt x="378" y="108"/>
                </a:lnTo>
                <a:lnTo>
                  <a:pt x="365" y="107"/>
                </a:lnTo>
                <a:lnTo>
                  <a:pt x="354" y="108"/>
                </a:lnTo>
                <a:lnTo>
                  <a:pt x="341" y="109"/>
                </a:lnTo>
                <a:lnTo>
                  <a:pt x="328" y="111"/>
                </a:lnTo>
                <a:lnTo>
                  <a:pt x="314" y="115"/>
                </a:lnTo>
                <a:lnTo>
                  <a:pt x="306" y="118"/>
                </a:lnTo>
                <a:lnTo>
                  <a:pt x="304" y="121"/>
                </a:lnTo>
                <a:lnTo>
                  <a:pt x="306" y="124"/>
                </a:lnTo>
                <a:lnTo>
                  <a:pt x="312" y="128"/>
                </a:lnTo>
                <a:lnTo>
                  <a:pt x="296" y="132"/>
                </a:lnTo>
                <a:lnTo>
                  <a:pt x="274" y="138"/>
                </a:lnTo>
                <a:lnTo>
                  <a:pt x="269" y="134"/>
                </a:lnTo>
                <a:lnTo>
                  <a:pt x="263" y="131"/>
                </a:lnTo>
                <a:lnTo>
                  <a:pt x="257" y="129"/>
                </a:lnTo>
                <a:lnTo>
                  <a:pt x="247" y="129"/>
                </a:lnTo>
                <a:lnTo>
                  <a:pt x="235" y="140"/>
                </a:lnTo>
                <a:lnTo>
                  <a:pt x="224" y="132"/>
                </a:lnTo>
                <a:lnTo>
                  <a:pt x="145" y="143"/>
                </a:lnTo>
                <a:lnTo>
                  <a:pt x="130" y="144"/>
                </a:lnTo>
                <a:lnTo>
                  <a:pt x="115" y="143"/>
                </a:lnTo>
                <a:lnTo>
                  <a:pt x="100" y="141"/>
                </a:lnTo>
                <a:lnTo>
                  <a:pt x="70" y="138"/>
                </a:lnTo>
                <a:lnTo>
                  <a:pt x="42" y="130"/>
                </a:lnTo>
                <a:lnTo>
                  <a:pt x="27" y="125"/>
                </a:lnTo>
                <a:lnTo>
                  <a:pt x="17" y="120"/>
                </a:lnTo>
                <a:lnTo>
                  <a:pt x="28" y="117"/>
                </a:lnTo>
                <a:lnTo>
                  <a:pt x="21" y="113"/>
                </a:lnTo>
                <a:lnTo>
                  <a:pt x="17" y="110"/>
                </a:lnTo>
                <a:lnTo>
                  <a:pt x="9" y="104"/>
                </a:lnTo>
                <a:lnTo>
                  <a:pt x="8" y="102"/>
                </a:lnTo>
                <a:lnTo>
                  <a:pt x="5" y="99"/>
                </a:lnTo>
                <a:lnTo>
                  <a:pt x="4" y="97"/>
                </a:lnTo>
                <a:lnTo>
                  <a:pt x="2" y="94"/>
                </a:lnTo>
                <a:lnTo>
                  <a:pt x="1" y="92"/>
                </a:lnTo>
                <a:lnTo>
                  <a:pt x="0" y="89"/>
                </a:lnTo>
              </a:path>
            </a:pathLst>
          </a:custGeom>
          <a:pattFill prst="pct50">
            <a:fgClr>
              <a:schemeClr val="tx1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2559" name="Group 72"/>
          <p:cNvGrpSpPr>
            <a:grpSpLocks/>
          </p:cNvGrpSpPr>
          <p:nvPr/>
        </p:nvGrpSpPr>
        <p:grpSpPr bwMode="auto">
          <a:xfrm>
            <a:off x="6178154" y="2902744"/>
            <a:ext cx="8334" cy="8335"/>
            <a:chOff x="4253" y="2349"/>
            <a:chExt cx="7" cy="7"/>
          </a:xfrm>
        </p:grpSpPr>
        <p:sp>
          <p:nvSpPr>
            <p:cNvPr id="23153" name="Oval 73" descr="50%"/>
            <p:cNvSpPr>
              <a:spLocks noChangeArrowheads="1"/>
            </p:cNvSpPr>
            <p:nvPr/>
          </p:nvSpPr>
          <p:spPr bwMode="auto">
            <a:xfrm>
              <a:off x="4253" y="2349"/>
              <a:ext cx="7" cy="7"/>
            </a:xfrm>
            <a:prstGeom prst="ellipse">
              <a:avLst/>
            </a:prstGeom>
            <a:pattFill prst="pct50">
              <a:fgClr>
                <a:schemeClr val="tx1"/>
              </a:fgClr>
              <a:bgClr>
                <a:schemeClr val="bg1"/>
              </a:bgClr>
            </a:pattFill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54" name="Arc 74" descr="50%"/>
            <p:cNvSpPr>
              <a:spLocks/>
            </p:cNvSpPr>
            <p:nvPr/>
          </p:nvSpPr>
          <p:spPr bwMode="auto">
            <a:xfrm>
              <a:off x="4257" y="2352"/>
              <a:ext cx="2" cy="2"/>
            </a:xfrm>
            <a:custGeom>
              <a:avLst/>
              <a:gdLst>
                <a:gd name="T0" fmla="*/ 1 w 43200"/>
                <a:gd name="T1" fmla="*/ 0 h 43200"/>
                <a:gd name="T2" fmla="*/ 0 w 43200"/>
                <a:gd name="T3" fmla="*/ 0 h 43200"/>
                <a:gd name="T4" fmla="*/ 1 w 43200"/>
                <a:gd name="T5" fmla="*/ 1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5871"/>
                    <a:pt x="2275" y="10377"/>
                    <a:pt x="6326" y="6326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5871"/>
                    <a:pt x="2275" y="10377"/>
                    <a:pt x="6326" y="6326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560" name="Group 75"/>
          <p:cNvGrpSpPr>
            <a:grpSpLocks/>
          </p:cNvGrpSpPr>
          <p:nvPr/>
        </p:nvGrpSpPr>
        <p:grpSpPr bwMode="auto">
          <a:xfrm>
            <a:off x="6210300" y="2921794"/>
            <a:ext cx="36910" cy="15479"/>
            <a:chOff x="4280" y="2365"/>
            <a:chExt cx="30" cy="13"/>
          </a:xfrm>
        </p:grpSpPr>
        <p:sp>
          <p:nvSpPr>
            <p:cNvPr id="23148" name="Arc 76" descr="50%"/>
            <p:cNvSpPr>
              <a:spLocks/>
            </p:cNvSpPr>
            <p:nvPr/>
          </p:nvSpPr>
          <p:spPr bwMode="auto">
            <a:xfrm>
              <a:off x="4288" y="2365"/>
              <a:ext cx="2" cy="13"/>
            </a:xfrm>
            <a:custGeom>
              <a:avLst/>
              <a:gdLst>
                <a:gd name="T0" fmla="*/ 0 w 35746"/>
                <a:gd name="T1" fmla="*/ 1 h 43200"/>
                <a:gd name="T2" fmla="*/ 0 w 35746"/>
                <a:gd name="T3" fmla="*/ 11 h 43200"/>
                <a:gd name="T4" fmla="*/ 1 w 35746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746" h="43200" fill="none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</a:path>
                <a:path w="35746" h="43200" stroke="0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  <a:lnTo>
                    <a:pt x="14146" y="21600"/>
                  </a:lnTo>
                  <a:lnTo>
                    <a:pt x="2777" y="3234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49" name="Arc 77" descr="50%"/>
            <p:cNvSpPr>
              <a:spLocks/>
            </p:cNvSpPr>
            <p:nvPr/>
          </p:nvSpPr>
          <p:spPr bwMode="auto">
            <a:xfrm>
              <a:off x="4280" y="2365"/>
              <a:ext cx="3" cy="13"/>
            </a:xfrm>
            <a:custGeom>
              <a:avLst/>
              <a:gdLst>
                <a:gd name="T0" fmla="*/ 0 w 33372"/>
                <a:gd name="T1" fmla="*/ 1 h 43200"/>
                <a:gd name="T2" fmla="*/ 0 w 33372"/>
                <a:gd name="T3" fmla="*/ 12 h 43200"/>
                <a:gd name="T4" fmla="*/ 1 w 33372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372" h="43200" fill="none" extrusionOk="0">
                  <a:moveTo>
                    <a:pt x="2675" y="2008"/>
                  </a:moveTo>
                  <a:cubicBezTo>
                    <a:pt x="5525" y="685"/>
                    <a:pt x="8629" y="-1"/>
                    <a:pt x="11772" y="0"/>
                  </a:cubicBezTo>
                  <a:cubicBezTo>
                    <a:pt x="23701" y="0"/>
                    <a:pt x="33372" y="9670"/>
                    <a:pt x="33372" y="21600"/>
                  </a:cubicBezTo>
                  <a:cubicBezTo>
                    <a:pt x="33372" y="33529"/>
                    <a:pt x="23701" y="43200"/>
                    <a:pt x="11772" y="43200"/>
                  </a:cubicBezTo>
                  <a:cubicBezTo>
                    <a:pt x="7592" y="43200"/>
                    <a:pt x="3503" y="41987"/>
                    <a:pt x="-1" y="39710"/>
                  </a:cubicBezTo>
                </a:path>
                <a:path w="33372" h="43200" stroke="0" extrusionOk="0">
                  <a:moveTo>
                    <a:pt x="2675" y="2008"/>
                  </a:moveTo>
                  <a:cubicBezTo>
                    <a:pt x="5525" y="685"/>
                    <a:pt x="8629" y="-1"/>
                    <a:pt x="11772" y="0"/>
                  </a:cubicBezTo>
                  <a:cubicBezTo>
                    <a:pt x="23701" y="0"/>
                    <a:pt x="33372" y="9670"/>
                    <a:pt x="33372" y="21600"/>
                  </a:cubicBezTo>
                  <a:cubicBezTo>
                    <a:pt x="33372" y="33529"/>
                    <a:pt x="23701" y="43200"/>
                    <a:pt x="11772" y="43200"/>
                  </a:cubicBezTo>
                  <a:cubicBezTo>
                    <a:pt x="7592" y="43200"/>
                    <a:pt x="3503" y="41987"/>
                    <a:pt x="-1" y="39710"/>
                  </a:cubicBezTo>
                  <a:lnTo>
                    <a:pt x="11772" y="21600"/>
                  </a:lnTo>
                  <a:lnTo>
                    <a:pt x="2675" y="2008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50" name="Arc 78" descr="50%"/>
            <p:cNvSpPr>
              <a:spLocks/>
            </p:cNvSpPr>
            <p:nvPr/>
          </p:nvSpPr>
          <p:spPr bwMode="auto">
            <a:xfrm>
              <a:off x="4293" y="2365"/>
              <a:ext cx="3" cy="13"/>
            </a:xfrm>
            <a:custGeom>
              <a:avLst/>
              <a:gdLst>
                <a:gd name="T0" fmla="*/ 0 w 33372"/>
                <a:gd name="T1" fmla="*/ 1 h 43200"/>
                <a:gd name="T2" fmla="*/ 0 w 33372"/>
                <a:gd name="T3" fmla="*/ 12 h 43200"/>
                <a:gd name="T4" fmla="*/ 1 w 33372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372" h="43200" fill="none" extrusionOk="0">
                  <a:moveTo>
                    <a:pt x="2675" y="2008"/>
                  </a:moveTo>
                  <a:cubicBezTo>
                    <a:pt x="5525" y="685"/>
                    <a:pt x="8629" y="-1"/>
                    <a:pt x="11772" y="0"/>
                  </a:cubicBezTo>
                  <a:cubicBezTo>
                    <a:pt x="23701" y="0"/>
                    <a:pt x="33372" y="9670"/>
                    <a:pt x="33372" y="21600"/>
                  </a:cubicBezTo>
                  <a:cubicBezTo>
                    <a:pt x="33372" y="33529"/>
                    <a:pt x="23701" y="43200"/>
                    <a:pt x="11772" y="43200"/>
                  </a:cubicBezTo>
                  <a:cubicBezTo>
                    <a:pt x="7592" y="43200"/>
                    <a:pt x="3503" y="41987"/>
                    <a:pt x="-1" y="39710"/>
                  </a:cubicBezTo>
                </a:path>
                <a:path w="33372" h="43200" stroke="0" extrusionOk="0">
                  <a:moveTo>
                    <a:pt x="2675" y="2008"/>
                  </a:moveTo>
                  <a:cubicBezTo>
                    <a:pt x="5525" y="685"/>
                    <a:pt x="8629" y="-1"/>
                    <a:pt x="11772" y="0"/>
                  </a:cubicBezTo>
                  <a:cubicBezTo>
                    <a:pt x="23701" y="0"/>
                    <a:pt x="33372" y="9670"/>
                    <a:pt x="33372" y="21600"/>
                  </a:cubicBezTo>
                  <a:cubicBezTo>
                    <a:pt x="33372" y="33529"/>
                    <a:pt x="23701" y="43200"/>
                    <a:pt x="11772" y="43200"/>
                  </a:cubicBezTo>
                  <a:cubicBezTo>
                    <a:pt x="7592" y="43200"/>
                    <a:pt x="3503" y="41987"/>
                    <a:pt x="-1" y="39710"/>
                  </a:cubicBezTo>
                  <a:lnTo>
                    <a:pt x="11772" y="21600"/>
                  </a:lnTo>
                  <a:lnTo>
                    <a:pt x="2675" y="2008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51" name="Arc 79" descr="50%"/>
            <p:cNvSpPr>
              <a:spLocks/>
            </p:cNvSpPr>
            <p:nvPr/>
          </p:nvSpPr>
          <p:spPr bwMode="auto">
            <a:xfrm>
              <a:off x="4301" y="2365"/>
              <a:ext cx="2" cy="13"/>
            </a:xfrm>
            <a:custGeom>
              <a:avLst/>
              <a:gdLst>
                <a:gd name="T0" fmla="*/ 0 w 35746"/>
                <a:gd name="T1" fmla="*/ 1 h 43200"/>
                <a:gd name="T2" fmla="*/ 0 w 35746"/>
                <a:gd name="T3" fmla="*/ 11 h 43200"/>
                <a:gd name="T4" fmla="*/ 1 w 35746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746" h="43200" fill="none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</a:path>
                <a:path w="35746" h="43200" stroke="0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  <a:lnTo>
                    <a:pt x="14146" y="21600"/>
                  </a:lnTo>
                  <a:lnTo>
                    <a:pt x="2777" y="3234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52" name="Arc 80" descr="50%"/>
            <p:cNvSpPr>
              <a:spLocks/>
            </p:cNvSpPr>
            <p:nvPr/>
          </p:nvSpPr>
          <p:spPr bwMode="auto">
            <a:xfrm>
              <a:off x="4308" y="2365"/>
              <a:ext cx="2" cy="13"/>
            </a:xfrm>
            <a:custGeom>
              <a:avLst/>
              <a:gdLst>
                <a:gd name="T0" fmla="*/ 0 w 35746"/>
                <a:gd name="T1" fmla="*/ 1 h 43200"/>
                <a:gd name="T2" fmla="*/ 0 w 35746"/>
                <a:gd name="T3" fmla="*/ 11 h 43200"/>
                <a:gd name="T4" fmla="*/ 1 w 35746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746" h="43200" fill="none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</a:path>
                <a:path w="35746" h="43200" stroke="0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  <a:lnTo>
                    <a:pt x="14146" y="21600"/>
                  </a:lnTo>
                  <a:lnTo>
                    <a:pt x="2777" y="3234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561" name="Freeform 81" descr="50%"/>
          <p:cNvSpPr>
            <a:spLocks/>
          </p:cNvSpPr>
          <p:nvPr/>
        </p:nvSpPr>
        <p:spPr bwMode="auto">
          <a:xfrm>
            <a:off x="6129338" y="2794397"/>
            <a:ext cx="579835" cy="108347"/>
          </a:xfrm>
          <a:custGeom>
            <a:avLst/>
            <a:gdLst>
              <a:gd name="T0" fmla="*/ 16414 w 471"/>
              <a:gd name="T1" fmla="*/ 120650 h 91"/>
              <a:gd name="T2" fmla="*/ 52526 w 471"/>
              <a:gd name="T3" fmla="*/ 109537 h 91"/>
              <a:gd name="T4" fmla="*/ 103410 w 471"/>
              <a:gd name="T5" fmla="*/ 98425 h 91"/>
              <a:gd name="T6" fmla="*/ 154294 w 471"/>
              <a:gd name="T7" fmla="*/ 90487 h 91"/>
              <a:gd name="T8" fmla="*/ 205179 w 471"/>
              <a:gd name="T9" fmla="*/ 80962 h 91"/>
              <a:gd name="T10" fmla="*/ 233083 w 471"/>
              <a:gd name="T11" fmla="*/ 68262 h 91"/>
              <a:gd name="T12" fmla="*/ 257704 w 471"/>
              <a:gd name="T13" fmla="*/ 44450 h 91"/>
              <a:gd name="T14" fmla="*/ 295457 w 471"/>
              <a:gd name="T15" fmla="*/ 12700 h 91"/>
              <a:gd name="T16" fmla="*/ 321720 w 471"/>
              <a:gd name="T17" fmla="*/ 26987 h 91"/>
              <a:gd name="T18" fmla="*/ 333210 w 471"/>
              <a:gd name="T19" fmla="*/ 61912 h 91"/>
              <a:gd name="T20" fmla="*/ 351266 w 471"/>
              <a:gd name="T21" fmla="*/ 79375 h 91"/>
              <a:gd name="T22" fmla="*/ 415282 w 471"/>
              <a:gd name="T23" fmla="*/ 88900 h 91"/>
              <a:gd name="T24" fmla="*/ 462883 w 471"/>
              <a:gd name="T25" fmla="*/ 92075 h 91"/>
              <a:gd name="T26" fmla="*/ 520333 w 471"/>
              <a:gd name="T27" fmla="*/ 88900 h 91"/>
              <a:gd name="T28" fmla="*/ 543313 w 471"/>
              <a:gd name="T29" fmla="*/ 107950 h 91"/>
              <a:gd name="T30" fmla="*/ 589273 w 471"/>
              <a:gd name="T31" fmla="*/ 109537 h 91"/>
              <a:gd name="T32" fmla="*/ 640157 w 471"/>
              <a:gd name="T33" fmla="*/ 87312 h 91"/>
              <a:gd name="T34" fmla="*/ 681193 w 471"/>
              <a:gd name="T35" fmla="*/ 50800 h 91"/>
              <a:gd name="T36" fmla="*/ 714022 w 471"/>
              <a:gd name="T37" fmla="*/ 28575 h 91"/>
              <a:gd name="T38" fmla="*/ 741926 w 471"/>
              <a:gd name="T39" fmla="*/ 17462 h 91"/>
              <a:gd name="T40" fmla="*/ 766547 w 471"/>
              <a:gd name="T41" fmla="*/ 20637 h 91"/>
              <a:gd name="T42" fmla="*/ 746850 w 471"/>
              <a:gd name="T43" fmla="*/ 44450 h 91"/>
              <a:gd name="T44" fmla="*/ 720587 w 471"/>
              <a:gd name="T45" fmla="*/ 66675 h 91"/>
              <a:gd name="T46" fmla="*/ 705814 w 471"/>
              <a:gd name="T47" fmla="*/ 85725 h 91"/>
              <a:gd name="T48" fmla="*/ 694324 w 471"/>
              <a:gd name="T49" fmla="*/ 101600 h 91"/>
              <a:gd name="T50" fmla="*/ 691042 w 471"/>
              <a:gd name="T51" fmla="*/ 120650 h 91"/>
              <a:gd name="T52" fmla="*/ 669703 w 471"/>
              <a:gd name="T53" fmla="*/ 115887 h 91"/>
              <a:gd name="T54" fmla="*/ 648364 w 471"/>
              <a:gd name="T55" fmla="*/ 122237 h 91"/>
              <a:gd name="T56" fmla="*/ 627026 w 471"/>
              <a:gd name="T57" fmla="*/ 120650 h 91"/>
              <a:gd name="T58" fmla="*/ 600763 w 471"/>
              <a:gd name="T59" fmla="*/ 122237 h 91"/>
              <a:gd name="T60" fmla="*/ 574500 w 471"/>
              <a:gd name="T61" fmla="*/ 119062 h 91"/>
              <a:gd name="T62" fmla="*/ 544954 w 471"/>
              <a:gd name="T63" fmla="*/ 120650 h 91"/>
              <a:gd name="T64" fmla="*/ 515409 w 471"/>
              <a:gd name="T65" fmla="*/ 125412 h 91"/>
              <a:gd name="T66" fmla="*/ 485863 w 471"/>
              <a:gd name="T67" fmla="*/ 127000 h 91"/>
              <a:gd name="T68" fmla="*/ 456317 w 471"/>
              <a:gd name="T69" fmla="*/ 127000 h 91"/>
              <a:gd name="T70" fmla="*/ 430054 w 471"/>
              <a:gd name="T71" fmla="*/ 130175 h 91"/>
              <a:gd name="T72" fmla="*/ 402150 w 471"/>
              <a:gd name="T73" fmla="*/ 134937 h 91"/>
              <a:gd name="T74" fmla="*/ 367680 w 471"/>
              <a:gd name="T75" fmla="*/ 134937 h 91"/>
              <a:gd name="T76" fmla="*/ 338134 w 471"/>
              <a:gd name="T77" fmla="*/ 136525 h 91"/>
              <a:gd name="T78" fmla="*/ 308589 w 471"/>
              <a:gd name="T79" fmla="*/ 133350 h 91"/>
              <a:gd name="T80" fmla="*/ 280684 w 471"/>
              <a:gd name="T81" fmla="*/ 134937 h 91"/>
              <a:gd name="T82" fmla="*/ 256063 w 471"/>
              <a:gd name="T83" fmla="*/ 133350 h 91"/>
              <a:gd name="T84" fmla="*/ 228159 w 471"/>
              <a:gd name="T85" fmla="*/ 134937 h 91"/>
              <a:gd name="T86" fmla="*/ 196971 w 471"/>
              <a:gd name="T87" fmla="*/ 136525 h 91"/>
              <a:gd name="T88" fmla="*/ 157577 w 471"/>
              <a:gd name="T89" fmla="*/ 142875 h 91"/>
              <a:gd name="T90" fmla="*/ 113259 w 471"/>
              <a:gd name="T91" fmla="*/ 142875 h 91"/>
              <a:gd name="T92" fmla="*/ 75506 w 471"/>
              <a:gd name="T93" fmla="*/ 138112 h 91"/>
              <a:gd name="T94" fmla="*/ 41036 w 471"/>
              <a:gd name="T95" fmla="*/ 139700 h 91"/>
              <a:gd name="T96" fmla="*/ 8207 w 471"/>
              <a:gd name="T97" fmla="*/ 133350 h 9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471" h="91">
                <a:moveTo>
                  <a:pt x="0" y="82"/>
                </a:moveTo>
                <a:lnTo>
                  <a:pt x="3" y="80"/>
                </a:lnTo>
                <a:lnTo>
                  <a:pt x="6" y="78"/>
                </a:lnTo>
                <a:lnTo>
                  <a:pt x="10" y="76"/>
                </a:lnTo>
                <a:lnTo>
                  <a:pt x="14" y="75"/>
                </a:lnTo>
                <a:lnTo>
                  <a:pt x="19" y="73"/>
                </a:lnTo>
                <a:lnTo>
                  <a:pt x="27" y="72"/>
                </a:lnTo>
                <a:lnTo>
                  <a:pt x="32" y="69"/>
                </a:lnTo>
                <a:lnTo>
                  <a:pt x="39" y="67"/>
                </a:lnTo>
                <a:lnTo>
                  <a:pt x="47" y="65"/>
                </a:lnTo>
                <a:lnTo>
                  <a:pt x="55" y="63"/>
                </a:lnTo>
                <a:lnTo>
                  <a:pt x="63" y="62"/>
                </a:lnTo>
                <a:lnTo>
                  <a:pt x="71" y="61"/>
                </a:lnTo>
                <a:lnTo>
                  <a:pt x="79" y="60"/>
                </a:lnTo>
                <a:lnTo>
                  <a:pt x="87" y="58"/>
                </a:lnTo>
                <a:lnTo>
                  <a:pt x="94" y="57"/>
                </a:lnTo>
                <a:lnTo>
                  <a:pt x="101" y="55"/>
                </a:lnTo>
                <a:lnTo>
                  <a:pt x="110" y="54"/>
                </a:lnTo>
                <a:lnTo>
                  <a:pt x="117" y="52"/>
                </a:lnTo>
                <a:lnTo>
                  <a:pt x="125" y="51"/>
                </a:lnTo>
                <a:lnTo>
                  <a:pt x="130" y="50"/>
                </a:lnTo>
                <a:lnTo>
                  <a:pt x="135" y="49"/>
                </a:lnTo>
                <a:lnTo>
                  <a:pt x="139" y="46"/>
                </a:lnTo>
                <a:lnTo>
                  <a:pt x="142" y="43"/>
                </a:lnTo>
                <a:lnTo>
                  <a:pt x="145" y="40"/>
                </a:lnTo>
                <a:lnTo>
                  <a:pt x="147" y="38"/>
                </a:lnTo>
                <a:lnTo>
                  <a:pt x="152" y="33"/>
                </a:lnTo>
                <a:lnTo>
                  <a:pt x="157" y="28"/>
                </a:lnTo>
                <a:lnTo>
                  <a:pt x="162" y="23"/>
                </a:lnTo>
                <a:lnTo>
                  <a:pt x="168" y="18"/>
                </a:lnTo>
                <a:lnTo>
                  <a:pt x="173" y="13"/>
                </a:lnTo>
                <a:lnTo>
                  <a:pt x="180" y="8"/>
                </a:lnTo>
                <a:lnTo>
                  <a:pt x="186" y="4"/>
                </a:lnTo>
                <a:lnTo>
                  <a:pt x="191" y="0"/>
                </a:lnTo>
                <a:lnTo>
                  <a:pt x="193" y="8"/>
                </a:lnTo>
                <a:lnTo>
                  <a:pt x="196" y="17"/>
                </a:lnTo>
                <a:lnTo>
                  <a:pt x="199" y="24"/>
                </a:lnTo>
                <a:lnTo>
                  <a:pt x="201" y="32"/>
                </a:lnTo>
                <a:lnTo>
                  <a:pt x="202" y="36"/>
                </a:lnTo>
                <a:lnTo>
                  <a:pt x="203" y="39"/>
                </a:lnTo>
                <a:lnTo>
                  <a:pt x="202" y="43"/>
                </a:lnTo>
                <a:lnTo>
                  <a:pt x="199" y="47"/>
                </a:lnTo>
                <a:lnTo>
                  <a:pt x="206" y="49"/>
                </a:lnTo>
                <a:lnTo>
                  <a:pt x="214" y="50"/>
                </a:lnTo>
                <a:lnTo>
                  <a:pt x="224" y="51"/>
                </a:lnTo>
                <a:lnTo>
                  <a:pt x="234" y="53"/>
                </a:lnTo>
                <a:lnTo>
                  <a:pt x="245" y="55"/>
                </a:lnTo>
                <a:lnTo>
                  <a:pt x="253" y="56"/>
                </a:lnTo>
                <a:lnTo>
                  <a:pt x="262" y="58"/>
                </a:lnTo>
                <a:lnTo>
                  <a:pt x="269" y="59"/>
                </a:lnTo>
                <a:lnTo>
                  <a:pt x="276" y="59"/>
                </a:lnTo>
                <a:lnTo>
                  <a:pt x="282" y="58"/>
                </a:lnTo>
                <a:lnTo>
                  <a:pt x="288" y="55"/>
                </a:lnTo>
                <a:lnTo>
                  <a:pt x="293" y="51"/>
                </a:lnTo>
                <a:lnTo>
                  <a:pt x="305" y="53"/>
                </a:lnTo>
                <a:lnTo>
                  <a:pt x="317" y="56"/>
                </a:lnTo>
                <a:lnTo>
                  <a:pt x="326" y="58"/>
                </a:lnTo>
                <a:lnTo>
                  <a:pt x="321" y="64"/>
                </a:lnTo>
                <a:lnTo>
                  <a:pt x="325" y="66"/>
                </a:lnTo>
                <a:lnTo>
                  <a:pt x="331" y="68"/>
                </a:lnTo>
                <a:lnTo>
                  <a:pt x="338" y="69"/>
                </a:lnTo>
                <a:lnTo>
                  <a:pt x="345" y="70"/>
                </a:lnTo>
                <a:lnTo>
                  <a:pt x="352" y="70"/>
                </a:lnTo>
                <a:lnTo>
                  <a:pt x="359" y="69"/>
                </a:lnTo>
                <a:lnTo>
                  <a:pt x="366" y="68"/>
                </a:lnTo>
                <a:lnTo>
                  <a:pt x="374" y="65"/>
                </a:lnTo>
                <a:lnTo>
                  <a:pt x="382" y="61"/>
                </a:lnTo>
                <a:lnTo>
                  <a:pt x="390" y="55"/>
                </a:lnTo>
                <a:lnTo>
                  <a:pt x="397" y="49"/>
                </a:lnTo>
                <a:lnTo>
                  <a:pt x="405" y="41"/>
                </a:lnTo>
                <a:lnTo>
                  <a:pt x="409" y="38"/>
                </a:lnTo>
                <a:lnTo>
                  <a:pt x="415" y="32"/>
                </a:lnTo>
                <a:lnTo>
                  <a:pt x="420" y="28"/>
                </a:lnTo>
                <a:lnTo>
                  <a:pt x="425" y="25"/>
                </a:lnTo>
                <a:lnTo>
                  <a:pt x="430" y="21"/>
                </a:lnTo>
                <a:lnTo>
                  <a:pt x="435" y="18"/>
                </a:lnTo>
                <a:lnTo>
                  <a:pt x="440" y="17"/>
                </a:lnTo>
                <a:lnTo>
                  <a:pt x="443" y="14"/>
                </a:lnTo>
                <a:lnTo>
                  <a:pt x="447" y="13"/>
                </a:lnTo>
                <a:lnTo>
                  <a:pt x="452" y="11"/>
                </a:lnTo>
                <a:lnTo>
                  <a:pt x="456" y="11"/>
                </a:lnTo>
                <a:lnTo>
                  <a:pt x="462" y="10"/>
                </a:lnTo>
                <a:lnTo>
                  <a:pt x="470" y="10"/>
                </a:lnTo>
                <a:lnTo>
                  <a:pt x="467" y="13"/>
                </a:lnTo>
                <a:lnTo>
                  <a:pt x="463" y="17"/>
                </a:lnTo>
                <a:lnTo>
                  <a:pt x="461" y="19"/>
                </a:lnTo>
                <a:lnTo>
                  <a:pt x="458" y="24"/>
                </a:lnTo>
                <a:lnTo>
                  <a:pt x="455" y="28"/>
                </a:lnTo>
                <a:lnTo>
                  <a:pt x="450" y="32"/>
                </a:lnTo>
                <a:lnTo>
                  <a:pt x="444" y="37"/>
                </a:lnTo>
                <a:lnTo>
                  <a:pt x="441" y="39"/>
                </a:lnTo>
                <a:lnTo>
                  <a:pt x="439" y="42"/>
                </a:lnTo>
                <a:lnTo>
                  <a:pt x="436" y="46"/>
                </a:lnTo>
                <a:lnTo>
                  <a:pt x="434" y="49"/>
                </a:lnTo>
                <a:lnTo>
                  <a:pt x="432" y="51"/>
                </a:lnTo>
                <a:lnTo>
                  <a:pt x="430" y="54"/>
                </a:lnTo>
                <a:lnTo>
                  <a:pt x="428" y="57"/>
                </a:lnTo>
                <a:lnTo>
                  <a:pt x="426" y="60"/>
                </a:lnTo>
                <a:lnTo>
                  <a:pt x="425" y="62"/>
                </a:lnTo>
                <a:lnTo>
                  <a:pt x="423" y="64"/>
                </a:lnTo>
                <a:lnTo>
                  <a:pt x="422" y="68"/>
                </a:lnTo>
                <a:lnTo>
                  <a:pt x="422" y="70"/>
                </a:lnTo>
                <a:lnTo>
                  <a:pt x="421" y="73"/>
                </a:lnTo>
                <a:lnTo>
                  <a:pt x="421" y="76"/>
                </a:lnTo>
                <a:lnTo>
                  <a:pt x="418" y="74"/>
                </a:lnTo>
                <a:lnTo>
                  <a:pt x="414" y="73"/>
                </a:lnTo>
                <a:lnTo>
                  <a:pt x="411" y="73"/>
                </a:lnTo>
                <a:lnTo>
                  <a:pt x="408" y="73"/>
                </a:lnTo>
                <a:lnTo>
                  <a:pt x="404" y="74"/>
                </a:lnTo>
                <a:lnTo>
                  <a:pt x="402" y="76"/>
                </a:lnTo>
                <a:lnTo>
                  <a:pt x="399" y="76"/>
                </a:lnTo>
                <a:lnTo>
                  <a:pt x="395" y="77"/>
                </a:lnTo>
                <a:lnTo>
                  <a:pt x="392" y="78"/>
                </a:lnTo>
                <a:lnTo>
                  <a:pt x="388" y="77"/>
                </a:lnTo>
                <a:lnTo>
                  <a:pt x="384" y="77"/>
                </a:lnTo>
                <a:lnTo>
                  <a:pt x="382" y="76"/>
                </a:lnTo>
                <a:lnTo>
                  <a:pt x="379" y="75"/>
                </a:lnTo>
                <a:lnTo>
                  <a:pt x="375" y="75"/>
                </a:lnTo>
                <a:lnTo>
                  <a:pt x="371" y="76"/>
                </a:lnTo>
                <a:lnTo>
                  <a:pt x="366" y="77"/>
                </a:lnTo>
                <a:lnTo>
                  <a:pt x="363" y="76"/>
                </a:lnTo>
                <a:lnTo>
                  <a:pt x="359" y="76"/>
                </a:lnTo>
                <a:lnTo>
                  <a:pt x="355" y="75"/>
                </a:lnTo>
                <a:lnTo>
                  <a:pt x="350" y="75"/>
                </a:lnTo>
                <a:lnTo>
                  <a:pt x="347" y="76"/>
                </a:lnTo>
                <a:lnTo>
                  <a:pt x="341" y="77"/>
                </a:lnTo>
                <a:lnTo>
                  <a:pt x="337" y="77"/>
                </a:lnTo>
                <a:lnTo>
                  <a:pt x="332" y="76"/>
                </a:lnTo>
                <a:lnTo>
                  <a:pt x="328" y="76"/>
                </a:lnTo>
                <a:lnTo>
                  <a:pt x="323" y="77"/>
                </a:lnTo>
                <a:lnTo>
                  <a:pt x="320" y="78"/>
                </a:lnTo>
                <a:lnTo>
                  <a:pt x="314" y="79"/>
                </a:lnTo>
                <a:lnTo>
                  <a:pt x="310" y="80"/>
                </a:lnTo>
                <a:lnTo>
                  <a:pt x="305" y="80"/>
                </a:lnTo>
                <a:lnTo>
                  <a:pt x="301" y="80"/>
                </a:lnTo>
                <a:lnTo>
                  <a:pt x="296" y="80"/>
                </a:lnTo>
                <a:lnTo>
                  <a:pt x="291" y="78"/>
                </a:lnTo>
                <a:lnTo>
                  <a:pt x="286" y="80"/>
                </a:lnTo>
                <a:lnTo>
                  <a:pt x="282" y="80"/>
                </a:lnTo>
                <a:lnTo>
                  <a:pt x="278" y="80"/>
                </a:lnTo>
                <a:lnTo>
                  <a:pt x="274" y="80"/>
                </a:lnTo>
                <a:lnTo>
                  <a:pt x="270" y="80"/>
                </a:lnTo>
                <a:lnTo>
                  <a:pt x="266" y="80"/>
                </a:lnTo>
                <a:lnTo>
                  <a:pt x="262" y="82"/>
                </a:lnTo>
                <a:lnTo>
                  <a:pt x="259" y="83"/>
                </a:lnTo>
                <a:lnTo>
                  <a:pt x="254" y="84"/>
                </a:lnTo>
                <a:lnTo>
                  <a:pt x="250" y="84"/>
                </a:lnTo>
                <a:lnTo>
                  <a:pt x="245" y="85"/>
                </a:lnTo>
                <a:lnTo>
                  <a:pt x="240" y="86"/>
                </a:lnTo>
                <a:lnTo>
                  <a:pt x="234" y="85"/>
                </a:lnTo>
                <a:lnTo>
                  <a:pt x="228" y="85"/>
                </a:lnTo>
                <a:lnTo>
                  <a:pt x="224" y="85"/>
                </a:lnTo>
                <a:lnTo>
                  <a:pt x="218" y="86"/>
                </a:lnTo>
                <a:lnTo>
                  <a:pt x="214" y="86"/>
                </a:lnTo>
                <a:lnTo>
                  <a:pt x="210" y="86"/>
                </a:lnTo>
                <a:lnTo>
                  <a:pt x="206" y="86"/>
                </a:lnTo>
                <a:lnTo>
                  <a:pt x="201" y="86"/>
                </a:lnTo>
                <a:lnTo>
                  <a:pt x="196" y="84"/>
                </a:lnTo>
                <a:lnTo>
                  <a:pt x="192" y="84"/>
                </a:lnTo>
                <a:lnTo>
                  <a:pt x="188" y="84"/>
                </a:lnTo>
                <a:lnTo>
                  <a:pt x="184" y="84"/>
                </a:lnTo>
                <a:lnTo>
                  <a:pt x="180" y="84"/>
                </a:lnTo>
                <a:lnTo>
                  <a:pt x="175" y="84"/>
                </a:lnTo>
                <a:lnTo>
                  <a:pt x="171" y="85"/>
                </a:lnTo>
                <a:lnTo>
                  <a:pt x="167" y="85"/>
                </a:lnTo>
                <a:lnTo>
                  <a:pt x="164" y="84"/>
                </a:lnTo>
                <a:lnTo>
                  <a:pt x="160" y="84"/>
                </a:lnTo>
                <a:lnTo>
                  <a:pt x="156" y="84"/>
                </a:lnTo>
                <a:lnTo>
                  <a:pt x="152" y="84"/>
                </a:lnTo>
                <a:lnTo>
                  <a:pt x="149" y="84"/>
                </a:lnTo>
                <a:lnTo>
                  <a:pt x="145" y="84"/>
                </a:lnTo>
                <a:lnTo>
                  <a:pt x="139" y="85"/>
                </a:lnTo>
                <a:lnTo>
                  <a:pt x="135" y="85"/>
                </a:lnTo>
                <a:lnTo>
                  <a:pt x="130" y="84"/>
                </a:lnTo>
                <a:lnTo>
                  <a:pt x="125" y="85"/>
                </a:lnTo>
                <a:lnTo>
                  <a:pt x="120" y="86"/>
                </a:lnTo>
                <a:lnTo>
                  <a:pt x="116" y="88"/>
                </a:lnTo>
                <a:lnTo>
                  <a:pt x="111" y="89"/>
                </a:lnTo>
                <a:lnTo>
                  <a:pt x="104" y="90"/>
                </a:lnTo>
                <a:lnTo>
                  <a:pt x="96" y="90"/>
                </a:lnTo>
                <a:lnTo>
                  <a:pt x="89" y="90"/>
                </a:lnTo>
                <a:lnTo>
                  <a:pt x="82" y="90"/>
                </a:lnTo>
                <a:lnTo>
                  <a:pt x="74" y="90"/>
                </a:lnTo>
                <a:lnTo>
                  <a:pt x="69" y="90"/>
                </a:lnTo>
                <a:lnTo>
                  <a:pt x="65" y="90"/>
                </a:lnTo>
                <a:lnTo>
                  <a:pt x="60" y="90"/>
                </a:lnTo>
                <a:lnTo>
                  <a:pt x="54" y="90"/>
                </a:lnTo>
                <a:lnTo>
                  <a:pt x="46" y="87"/>
                </a:lnTo>
                <a:lnTo>
                  <a:pt x="40" y="87"/>
                </a:lnTo>
                <a:lnTo>
                  <a:pt x="35" y="88"/>
                </a:lnTo>
                <a:lnTo>
                  <a:pt x="29" y="88"/>
                </a:lnTo>
                <a:lnTo>
                  <a:pt x="25" y="88"/>
                </a:lnTo>
                <a:lnTo>
                  <a:pt x="20" y="87"/>
                </a:lnTo>
                <a:lnTo>
                  <a:pt x="15" y="86"/>
                </a:lnTo>
                <a:lnTo>
                  <a:pt x="10" y="85"/>
                </a:lnTo>
                <a:lnTo>
                  <a:pt x="5" y="84"/>
                </a:lnTo>
                <a:lnTo>
                  <a:pt x="0" y="83"/>
                </a:lnTo>
                <a:lnTo>
                  <a:pt x="0" y="82"/>
                </a:lnTo>
              </a:path>
            </a:pathLst>
          </a:custGeom>
          <a:pattFill prst="pct50">
            <a:fgClr>
              <a:schemeClr val="tx1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2562" name="Group 82"/>
          <p:cNvGrpSpPr>
            <a:grpSpLocks/>
          </p:cNvGrpSpPr>
          <p:nvPr/>
        </p:nvGrpSpPr>
        <p:grpSpPr bwMode="auto">
          <a:xfrm>
            <a:off x="6246019" y="2936082"/>
            <a:ext cx="85725" cy="60722"/>
            <a:chOff x="4310" y="2373"/>
            <a:chExt cx="69" cy="51"/>
          </a:xfrm>
        </p:grpSpPr>
        <p:sp>
          <p:nvSpPr>
            <p:cNvPr id="23146" name="Freeform 83" descr="50%"/>
            <p:cNvSpPr>
              <a:spLocks/>
            </p:cNvSpPr>
            <p:nvPr/>
          </p:nvSpPr>
          <p:spPr bwMode="auto">
            <a:xfrm>
              <a:off x="4310" y="2379"/>
              <a:ext cx="69" cy="45"/>
            </a:xfrm>
            <a:custGeom>
              <a:avLst/>
              <a:gdLst>
                <a:gd name="T0" fmla="*/ 64 w 69"/>
                <a:gd name="T1" fmla="*/ 39 h 45"/>
                <a:gd name="T2" fmla="*/ 60 w 69"/>
                <a:gd name="T3" fmla="*/ 35 h 45"/>
                <a:gd name="T4" fmla="*/ 58 w 69"/>
                <a:gd name="T5" fmla="*/ 33 h 45"/>
                <a:gd name="T6" fmla="*/ 56 w 69"/>
                <a:gd name="T7" fmla="*/ 31 h 45"/>
                <a:gd name="T8" fmla="*/ 54 w 69"/>
                <a:gd name="T9" fmla="*/ 28 h 45"/>
                <a:gd name="T10" fmla="*/ 52 w 69"/>
                <a:gd name="T11" fmla="*/ 26 h 45"/>
                <a:gd name="T12" fmla="*/ 50 w 69"/>
                <a:gd name="T13" fmla="*/ 23 h 45"/>
                <a:gd name="T14" fmla="*/ 48 w 69"/>
                <a:gd name="T15" fmla="*/ 21 h 45"/>
                <a:gd name="T16" fmla="*/ 47 w 69"/>
                <a:gd name="T17" fmla="*/ 17 h 45"/>
                <a:gd name="T18" fmla="*/ 46 w 69"/>
                <a:gd name="T19" fmla="*/ 14 h 45"/>
                <a:gd name="T20" fmla="*/ 45 w 69"/>
                <a:gd name="T21" fmla="*/ 11 h 45"/>
                <a:gd name="T22" fmla="*/ 44 w 69"/>
                <a:gd name="T23" fmla="*/ 8 h 45"/>
                <a:gd name="T24" fmla="*/ 44 w 69"/>
                <a:gd name="T25" fmla="*/ 4 h 45"/>
                <a:gd name="T26" fmla="*/ 44 w 69"/>
                <a:gd name="T27" fmla="*/ 0 h 45"/>
                <a:gd name="T28" fmla="*/ 0 w 69"/>
                <a:gd name="T29" fmla="*/ 0 h 45"/>
                <a:gd name="T30" fmla="*/ 1 w 69"/>
                <a:gd name="T31" fmla="*/ 3 h 45"/>
                <a:gd name="T32" fmla="*/ 3 w 69"/>
                <a:gd name="T33" fmla="*/ 6 h 45"/>
                <a:gd name="T34" fmla="*/ 5 w 69"/>
                <a:gd name="T35" fmla="*/ 9 h 45"/>
                <a:gd name="T36" fmla="*/ 8 w 69"/>
                <a:gd name="T37" fmla="*/ 12 h 45"/>
                <a:gd name="T38" fmla="*/ 11 w 69"/>
                <a:gd name="T39" fmla="*/ 16 h 45"/>
                <a:gd name="T40" fmla="*/ 14 w 69"/>
                <a:gd name="T41" fmla="*/ 19 h 45"/>
                <a:gd name="T42" fmla="*/ 18 w 69"/>
                <a:gd name="T43" fmla="*/ 22 h 45"/>
                <a:gd name="T44" fmla="*/ 21 w 69"/>
                <a:gd name="T45" fmla="*/ 25 h 45"/>
                <a:gd name="T46" fmla="*/ 25 w 69"/>
                <a:gd name="T47" fmla="*/ 28 h 45"/>
                <a:gd name="T48" fmla="*/ 30 w 69"/>
                <a:gd name="T49" fmla="*/ 32 h 45"/>
                <a:gd name="T50" fmla="*/ 34 w 69"/>
                <a:gd name="T51" fmla="*/ 34 h 45"/>
                <a:gd name="T52" fmla="*/ 38 w 69"/>
                <a:gd name="T53" fmla="*/ 36 h 45"/>
                <a:gd name="T54" fmla="*/ 41 w 69"/>
                <a:gd name="T55" fmla="*/ 38 h 45"/>
                <a:gd name="T56" fmla="*/ 45 w 69"/>
                <a:gd name="T57" fmla="*/ 39 h 45"/>
                <a:gd name="T58" fmla="*/ 49 w 69"/>
                <a:gd name="T59" fmla="*/ 41 h 45"/>
                <a:gd name="T60" fmla="*/ 53 w 69"/>
                <a:gd name="T61" fmla="*/ 42 h 45"/>
                <a:gd name="T62" fmla="*/ 58 w 69"/>
                <a:gd name="T63" fmla="*/ 43 h 45"/>
                <a:gd name="T64" fmla="*/ 62 w 69"/>
                <a:gd name="T65" fmla="*/ 43 h 45"/>
                <a:gd name="T66" fmla="*/ 65 w 69"/>
                <a:gd name="T67" fmla="*/ 43 h 45"/>
                <a:gd name="T68" fmla="*/ 68 w 69"/>
                <a:gd name="T69" fmla="*/ 44 h 45"/>
                <a:gd name="T70" fmla="*/ 64 w 69"/>
                <a:gd name="T71" fmla="*/ 39 h 4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9" h="45">
                  <a:moveTo>
                    <a:pt x="64" y="39"/>
                  </a:moveTo>
                  <a:lnTo>
                    <a:pt x="60" y="35"/>
                  </a:lnTo>
                  <a:lnTo>
                    <a:pt x="58" y="33"/>
                  </a:lnTo>
                  <a:lnTo>
                    <a:pt x="56" y="31"/>
                  </a:lnTo>
                  <a:lnTo>
                    <a:pt x="54" y="28"/>
                  </a:lnTo>
                  <a:lnTo>
                    <a:pt x="52" y="26"/>
                  </a:lnTo>
                  <a:lnTo>
                    <a:pt x="50" y="23"/>
                  </a:lnTo>
                  <a:lnTo>
                    <a:pt x="48" y="21"/>
                  </a:lnTo>
                  <a:lnTo>
                    <a:pt x="47" y="17"/>
                  </a:lnTo>
                  <a:lnTo>
                    <a:pt x="46" y="14"/>
                  </a:lnTo>
                  <a:lnTo>
                    <a:pt x="45" y="11"/>
                  </a:lnTo>
                  <a:lnTo>
                    <a:pt x="44" y="8"/>
                  </a:lnTo>
                  <a:lnTo>
                    <a:pt x="44" y="4"/>
                  </a:lnTo>
                  <a:lnTo>
                    <a:pt x="44" y="0"/>
                  </a:lnTo>
                  <a:lnTo>
                    <a:pt x="0" y="0"/>
                  </a:lnTo>
                  <a:lnTo>
                    <a:pt x="1" y="3"/>
                  </a:lnTo>
                  <a:lnTo>
                    <a:pt x="3" y="6"/>
                  </a:lnTo>
                  <a:lnTo>
                    <a:pt x="5" y="9"/>
                  </a:lnTo>
                  <a:lnTo>
                    <a:pt x="8" y="12"/>
                  </a:lnTo>
                  <a:lnTo>
                    <a:pt x="11" y="16"/>
                  </a:lnTo>
                  <a:lnTo>
                    <a:pt x="14" y="19"/>
                  </a:lnTo>
                  <a:lnTo>
                    <a:pt x="18" y="22"/>
                  </a:lnTo>
                  <a:lnTo>
                    <a:pt x="21" y="25"/>
                  </a:lnTo>
                  <a:lnTo>
                    <a:pt x="25" y="28"/>
                  </a:lnTo>
                  <a:lnTo>
                    <a:pt x="30" y="32"/>
                  </a:lnTo>
                  <a:lnTo>
                    <a:pt x="34" y="34"/>
                  </a:lnTo>
                  <a:lnTo>
                    <a:pt x="38" y="36"/>
                  </a:lnTo>
                  <a:lnTo>
                    <a:pt x="41" y="38"/>
                  </a:lnTo>
                  <a:lnTo>
                    <a:pt x="45" y="39"/>
                  </a:lnTo>
                  <a:lnTo>
                    <a:pt x="49" y="41"/>
                  </a:lnTo>
                  <a:lnTo>
                    <a:pt x="53" y="42"/>
                  </a:lnTo>
                  <a:lnTo>
                    <a:pt x="58" y="43"/>
                  </a:lnTo>
                  <a:lnTo>
                    <a:pt x="62" y="43"/>
                  </a:lnTo>
                  <a:lnTo>
                    <a:pt x="65" y="43"/>
                  </a:lnTo>
                  <a:lnTo>
                    <a:pt x="68" y="44"/>
                  </a:lnTo>
                  <a:lnTo>
                    <a:pt x="64" y="39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47" name="Freeform 84" descr="50%"/>
            <p:cNvSpPr>
              <a:spLocks/>
            </p:cNvSpPr>
            <p:nvPr/>
          </p:nvSpPr>
          <p:spPr bwMode="auto">
            <a:xfrm>
              <a:off x="4311" y="2373"/>
              <a:ext cx="36" cy="6"/>
            </a:xfrm>
            <a:custGeom>
              <a:avLst/>
              <a:gdLst>
                <a:gd name="T0" fmla="*/ 0 w 36"/>
                <a:gd name="T1" fmla="*/ 5 h 6"/>
                <a:gd name="T2" fmla="*/ 0 w 36"/>
                <a:gd name="T3" fmla="*/ 3 h 6"/>
                <a:gd name="T4" fmla="*/ 1 w 36"/>
                <a:gd name="T5" fmla="*/ 0 h 6"/>
                <a:gd name="T6" fmla="*/ 35 w 36"/>
                <a:gd name="T7" fmla="*/ 0 h 6"/>
                <a:gd name="T8" fmla="*/ 35 w 36"/>
                <a:gd name="T9" fmla="*/ 5 h 6"/>
                <a:gd name="T10" fmla="*/ 0 w 36"/>
                <a:gd name="T11" fmla="*/ 5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6">
                  <a:moveTo>
                    <a:pt x="0" y="5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35" y="0"/>
                  </a:lnTo>
                  <a:lnTo>
                    <a:pt x="35" y="5"/>
                  </a:lnTo>
                  <a:lnTo>
                    <a:pt x="0" y="5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563" name="Group 85"/>
          <p:cNvGrpSpPr>
            <a:grpSpLocks/>
          </p:cNvGrpSpPr>
          <p:nvPr/>
        </p:nvGrpSpPr>
        <p:grpSpPr bwMode="auto">
          <a:xfrm>
            <a:off x="6762750" y="2830117"/>
            <a:ext cx="395288" cy="134540"/>
            <a:chOff x="4729" y="2288"/>
            <a:chExt cx="321" cy="113"/>
          </a:xfrm>
        </p:grpSpPr>
        <p:sp>
          <p:nvSpPr>
            <p:cNvPr id="23131" name="Freeform 86" descr="50%"/>
            <p:cNvSpPr>
              <a:spLocks/>
            </p:cNvSpPr>
            <p:nvPr/>
          </p:nvSpPr>
          <p:spPr bwMode="auto">
            <a:xfrm>
              <a:off x="4810" y="2361"/>
              <a:ext cx="38" cy="31"/>
            </a:xfrm>
            <a:custGeom>
              <a:avLst/>
              <a:gdLst>
                <a:gd name="T0" fmla="*/ 0 w 38"/>
                <a:gd name="T1" fmla="*/ 0 h 31"/>
                <a:gd name="T2" fmla="*/ 1 w 38"/>
                <a:gd name="T3" fmla="*/ 3 h 31"/>
                <a:gd name="T4" fmla="*/ 3 w 38"/>
                <a:gd name="T5" fmla="*/ 6 h 31"/>
                <a:gd name="T6" fmla="*/ 5 w 38"/>
                <a:gd name="T7" fmla="*/ 9 h 31"/>
                <a:gd name="T8" fmla="*/ 7 w 38"/>
                <a:gd name="T9" fmla="*/ 12 h 31"/>
                <a:gd name="T10" fmla="*/ 10 w 38"/>
                <a:gd name="T11" fmla="*/ 15 h 31"/>
                <a:gd name="T12" fmla="*/ 13 w 38"/>
                <a:gd name="T13" fmla="*/ 19 h 31"/>
                <a:gd name="T14" fmla="*/ 15 w 38"/>
                <a:gd name="T15" fmla="*/ 21 h 31"/>
                <a:gd name="T16" fmla="*/ 18 w 38"/>
                <a:gd name="T17" fmla="*/ 23 h 31"/>
                <a:gd name="T18" fmla="*/ 21 w 38"/>
                <a:gd name="T19" fmla="*/ 25 h 31"/>
                <a:gd name="T20" fmla="*/ 24 w 38"/>
                <a:gd name="T21" fmla="*/ 27 h 31"/>
                <a:gd name="T22" fmla="*/ 26 w 38"/>
                <a:gd name="T23" fmla="*/ 28 h 31"/>
                <a:gd name="T24" fmla="*/ 29 w 38"/>
                <a:gd name="T25" fmla="*/ 29 h 31"/>
                <a:gd name="T26" fmla="*/ 33 w 38"/>
                <a:gd name="T27" fmla="*/ 30 h 31"/>
                <a:gd name="T28" fmla="*/ 36 w 38"/>
                <a:gd name="T29" fmla="*/ 30 h 31"/>
                <a:gd name="T30" fmla="*/ 37 w 38"/>
                <a:gd name="T31" fmla="*/ 29 h 31"/>
                <a:gd name="T32" fmla="*/ 35 w 38"/>
                <a:gd name="T33" fmla="*/ 27 h 31"/>
                <a:gd name="T34" fmla="*/ 33 w 38"/>
                <a:gd name="T35" fmla="*/ 25 h 31"/>
                <a:gd name="T36" fmla="*/ 31 w 38"/>
                <a:gd name="T37" fmla="*/ 22 h 31"/>
                <a:gd name="T38" fmla="*/ 29 w 38"/>
                <a:gd name="T39" fmla="*/ 19 h 31"/>
                <a:gd name="T40" fmla="*/ 27 w 38"/>
                <a:gd name="T41" fmla="*/ 16 h 31"/>
                <a:gd name="T42" fmla="*/ 26 w 38"/>
                <a:gd name="T43" fmla="*/ 13 h 31"/>
                <a:gd name="T44" fmla="*/ 25 w 38"/>
                <a:gd name="T45" fmla="*/ 11 h 31"/>
                <a:gd name="T46" fmla="*/ 24 w 38"/>
                <a:gd name="T47" fmla="*/ 6 h 31"/>
                <a:gd name="T48" fmla="*/ 24 w 38"/>
                <a:gd name="T49" fmla="*/ 3 h 31"/>
                <a:gd name="T50" fmla="*/ 24 w 38"/>
                <a:gd name="T51" fmla="*/ 1 h 31"/>
                <a:gd name="T52" fmla="*/ 0 w 38"/>
                <a:gd name="T53" fmla="*/ 0 h 31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8" h="31">
                  <a:moveTo>
                    <a:pt x="0" y="0"/>
                  </a:moveTo>
                  <a:lnTo>
                    <a:pt x="1" y="3"/>
                  </a:lnTo>
                  <a:lnTo>
                    <a:pt x="3" y="6"/>
                  </a:lnTo>
                  <a:lnTo>
                    <a:pt x="5" y="9"/>
                  </a:lnTo>
                  <a:lnTo>
                    <a:pt x="7" y="12"/>
                  </a:lnTo>
                  <a:lnTo>
                    <a:pt x="10" y="15"/>
                  </a:lnTo>
                  <a:lnTo>
                    <a:pt x="13" y="19"/>
                  </a:lnTo>
                  <a:lnTo>
                    <a:pt x="15" y="21"/>
                  </a:lnTo>
                  <a:lnTo>
                    <a:pt x="18" y="23"/>
                  </a:lnTo>
                  <a:lnTo>
                    <a:pt x="21" y="25"/>
                  </a:lnTo>
                  <a:lnTo>
                    <a:pt x="24" y="27"/>
                  </a:lnTo>
                  <a:lnTo>
                    <a:pt x="26" y="28"/>
                  </a:lnTo>
                  <a:lnTo>
                    <a:pt x="29" y="29"/>
                  </a:lnTo>
                  <a:lnTo>
                    <a:pt x="33" y="30"/>
                  </a:lnTo>
                  <a:lnTo>
                    <a:pt x="36" y="30"/>
                  </a:lnTo>
                  <a:lnTo>
                    <a:pt x="37" y="29"/>
                  </a:lnTo>
                  <a:lnTo>
                    <a:pt x="35" y="27"/>
                  </a:lnTo>
                  <a:lnTo>
                    <a:pt x="33" y="25"/>
                  </a:lnTo>
                  <a:lnTo>
                    <a:pt x="31" y="22"/>
                  </a:lnTo>
                  <a:lnTo>
                    <a:pt x="29" y="19"/>
                  </a:lnTo>
                  <a:lnTo>
                    <a:pt x="27" y="16"/>
                  </a:lnTo>
                  <a:lnTo>
                    <a:pt x="26" y="13"/>
                  </a:lnTo>
                  <a:lnTo>
                    <a:pt x="25" y="11"/>
                  </a:lnTo>
                  <a:lnTo>
                    <a:pt x="24" y="6"/>
                  </a:lnTo>
                  <a:lnTo>
                    <a:pt x="24" y="3"/>
                  </a:lnTo>
                  <a:lnTo>
                    <a:pt x="24" y="1"/>
                  </a:lnTo>
                  <a:lnTo>
                    <a:pt x="0" y="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32" name="Freeform 87" descr="50%"/>
            <p:cNvSpPr>
              <a:spLocks/>
            </p:cNvSpPr>
            <p:nvPr/>
          </p:nvSpPr>
          <p:spPr bwMode="auto">
            <a:xfrm>
              <a:off x="4729" y="2288"/>
              <a:ext cx="321" cy="98"/>
            </a:xfrm>
            <a:custGeom>
              <a:avLst/>
              <a:gdLst>
                <a:gd name="T0" fmla="*/ 3 w 321"/>
                <a:gd name="T1" fmla="*/ 58 h 98"/>
                <a:gd name="T2" fmla="*/ 13 w 321"/>
                <a:gd name="T3" fmla="*/ 54 h 98"/>
                <a:gd name="T4" fmla="*/ 28 w 321"/>
                <a:gd name="T5" fmla="*/ 49 h 98"/>
                <a:gd name="T6" fmla="*/ 43 w 321"/>
                <a:gd name="T7" fmla="*/ 46 h 98"/>
                <a:gd name="T8" fmla="*/ 59 w 321"/>
                <a:gd name="T9" fmla="*/ 43 h 98"/>
                <a:gd name="T10" fmla="*/ 75 w 321"/>
                <a:gd name="T11" fmla="*/ 40 h 98"/>
                <a:gd name="T12" fmla="*/ 88 w 321"/>
                <a:gd name="T13" fmla="*/ 37 h 98"/>
                <a:gd name="T14" fmla="*/ 95 w 321"/>
                <a:gd name="T15" fmla="*/ 33 h 98"/>
                <a:gd name="T16" fmla="*/ 103 w 321"/>
                <a:gd name="T17" fmla="*/ 25 h 98"/>
                <a:gd name="T18" fmla="*/ 114 w 321"/>
                <a:gd name="T19" fmla="*/ 14 h 98"/>
                <a:gd name="T20" fmla="*/ 125 w 321"/>
                <a:gd name="T21" fmla="*/ 4 h 98"/>
                <a:gd name="T22" fmla="*/ 133 w 321"/>
                <a:gd name="T23" fmla="*/ 12 h 98"/>
                <a:gd name="T24" fmla="*/ 137 w 321"/>
                <a:gd name="T25" fmla="*/ 29 h 98"/>
                <a:gd name="T26" fmla="*/ 140 w 321"/>
                <a:gd name="T27" fmla="*/ 36 h 98"/>
                <a:gd name="T28" fmla="*/ 159 w 321"/>
                <a:gd name="T29" fmla="*/ 39 h 98"/>
                <a:gd name="T30" fmla="*/ 177 w 321"/>
                <a:gd name="T31" fmla="*/ 43 h 98"/>
                <a:gd name="T32" fmla="*/ 191 w 321"/>
                <a:gd name="T33" fmla="*/ 43 h 98"/>
                <a:gd name="T34" fmla="*/ 206 w 321"/>
                <a:gd name="T35" fmla="*/ 39 h 98"/>
                <a:gd name="T36" fmla="*/ 218 w 321"/>
                <a:gd name="T37" fmla="*/ 48 h 98"/>
                <a:gd name="T38" fmla="*/ 229 w 321"/>
                <a:gd name="T39" fmla="*/ 51 h 98"/>
                <a:gd name="T40" fmla="*/ 243 w 321"/>
                <a:gd name="T41" fmla="*/ 51 h 98"/>
                <a:gd name="T42" fmla="*/ 258 w 321"/>
                <a:gd name="T43" fmla="*/ 45 h 98"/>
                <a:gd name="T44" fmla="*/ 275 w 321"/>
                <a:gd name="T45" fmla="*/ 31 h 98"/>
                <a:gd name="T46" fmla="*/ 294 w 321"/>
                <a:gd name="T47" fmla="*/ 14 h 98"/>
                <a:gd name="T48" fmla="*/ 314 w 321"/>
                <a:gd name="T49" fmla="*/ 8 h 98"/>
                <a:gd name="T50" fmla="*/ 314 w 321"/>
                <a:gd name="T51" fmla="*/ 13 h 98"/>
                <a:gd name="T52" fmla="*/ 305 w 321"/>
                <a:gd name="T53" fmla="*/ 25 h 98"/>
                <a:gd name="T54" fmla="*/ 294 w 321"/>
                <a:gd name="T55" fmla="*/ 37 h 98"/>
                <a:gd name="T56" fmla="*/ 287 w 321"/>
                <a:gd name="T57" fmla="*/ 48 h 98"/>
                <a:gd name="T58" fmla="*/ 287 w 321"/>
                <a:gd name="T59" fmla="*/ 60 h 98"/>
                <a:gd name="T60" fmla="*/ 295 w 321"/>
                <a:gd name="T61" fmla="*/ 73 h 98"/>
                <a:gd name="T62" fmla="*/ 305 w 321"/>
                <a:gd name="T63" fmla="*/ 82 h 98"/>
                <a:gd name="T64" fmla="*/ 313 w 321"/>
                <a:gd name="T65" fmla="*/ 89 h 98"/>
                <a:gd name="T66" fmla="*/ 314 w 321"/>
                <a:gd name="T67" fmla="*/ 93 h 98"/>
                <a:gd name="T68" fmla="*/ 302 w 321"/>
                <a:gd name="T69" fmla="*/ 93 h 98"/>
                <a:gd name="T70" fmla="*/ 291 w 321"/>
                <a:gd name="T71" fmla="*/ 90 h 98"/>
                <a:gd name="T72" fmla="*/ 281 w 321"/>
                <a:gd name="T73" fmla="*/ 85 h 98"/>
                <a:gd name="T74" fmla="*/ 264 w 321"/>
                <a:gd name="T75" fmla="*/ 74 h 98"/>
                <a:gd name="T76" fmla="*/ 243 w 321"/>
                <a:gd name="T77" fmla="*/ 72 h 98"/>
                <a:gd name="T78" fmla="*/ 218 w 321"/>
                <a:gd name="T79" fmla="*/ 75 h 98"/>
                <a:gd name="T80" fmla="*/ 202 w 321"/>
                <a:gd name="T81" fmla="*/ 82 h 98"/>
                <a:gd name="T82" fmla="*/ 197 w 321"/>
                <a:gd name="T83" fmla="*/ 89 h 98"/>
                <a:gd name="T84" fmla="*/ 175 w 321"/>
                <a:gd name="T85" fmla="*/ 88 h 98"/>
                <a:gd name="T86" fmla="*/ 156 w 321"/>
                <a:gd name="T87" fmla="*/ 94 h 98"/>
                <a:gd name="T88" fmla="*/ 86 w 321"/>
                <a:gd name="T89" fmla="*/ 97 h 98"/>
                <a:gd name="T90" fmla="*/ 46 w 321"/>
                <a:gd name="T91" fmla="*/ 93 h 98"/>
                <a:gd name="T92" fmla="*/ 11 w 321"/>
                <a:gd name="T93" fmla="*/ 81 h 98"/>
                <a:gd name="T94" fmla="*/ 11 w 321"/>
                <a:gd name="T95" fmla="*/ 74 h 98"/>
                <a:gd name="T96" fmla="*/ 3 w 321"/>
                <a:gd name="T97" fmla="*/ 67 h 98"/>
                <a:gd name="T98" fmla="*/ 0 w 321"/>
                <a:gd name="T99" fmla="*/ 62 h 9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321" h="98">
                  <a:moveTo>
                    <a:pt x="0" y="60"/>
                  </a:moveTo>
                  <a:lnTo>
                    <a:pt x="1" y="59"/>
                  </a:lnTo>
                  <a:lnTo>
                    <a:pt x="3" y="58"/>
                  </a:lnTo>
                  <a:lnTo>
                    <a:pt x="7" y="56"/>
                  </a:lnTo>
                  <a:lnTo>
                    <a:pt x="10" y="55"/>
                  </a:lnTo>
                  <a:lnTo>
                    <a:pt x="13" y="54"/>
                  </a:lnTo>
                  <a:lnTo>
                    <a:pt x="18" y="52"/>
                  </a:lnTo>
                  <a:lnTo>
                    <a:pt x="23" y="51"/>
                  </a:lnTo>
                  <a:lnTo>
                    <a:pt x="28" y="49"/>
                  </a:lnTo>
                  <a:lnTo>
                    <a:pt x="32" y="48"/>
                  </a:lnTo>
                  <a:lnTo>
                    <a:pt x="38" y="47"/>
                  </a:lnTo>
                  <a:lnTo>
                    <a:pt x="43" y="46"/>
                  </a:lnTo>
                  <a:lnTo>
                    <a:pt x="49" y="45"/>
                  </a:lnTo>
                  <a:lnTo>
                    <a:pt x="54" y="44"/>
                  </a:lnTo>
                  <a:lnTo>
                    <a:pt x="59" y="43"/>
                  </a:lnTo>
                  <a:lnTo>
                    <a:pt x="63" y="42"/>
                  </a:lnTo>
                  <a:lnTo>
                    <a:pt x="69" y="41"/>
                  </a:lnTo>
                  <a:lnTo>
                    <a:pt x="75" y="40"/>
                  </a:lnTo>
                  <a:lnTo>
                    <a:pt x="80" y="39"/>
                  </a:lnTo>
                  <a:lnTo>
                    <a:pt x="84" y="38"/>
                  </a:lnTo>
                  <a:lnTo>
                    <a:pt x="88" y="37"/>
                  </a:lnTo>
                  <a:lnTo>
                    <a:pt x="91" y="36"/>
                  </a:lnTo>
                  <a:lnTo>
                    <a:pt x="93" y="34"/>
                  </a:lnTo>
                  <a:lnTo>
                    <a:pt x="95" y="33"/>
                  </a:lnTo>
                  <a:lnTo>
                    <a:pt x="97" y="31"/>
                  </a:lnTo>
                  <a:lnTo>
                    <a:pt x="100" y="28"/>
                  </a:lnTo>
                  <a:lnTo>
                    <a:pt x="103" y="25"/>
                  </a:lnTo>
                  <a:lnTo>
                    <a:pt x="106" y="21"/>
                  </a:lnTo>
                  <a:lnTo>
                    <a:pt x="110" y="18"/>
                  </a:lnTo>
                  <a:lnTo>
                    <a:pt x="114" y="14"/>
                  </a:lnTo>
                  <a:lnTo>
                    <a:pt x="117" y="10"/>
                  </a:lnTo>
                  <a:lnTo>
                    <a:pt x="121" y="7"/>
                  </a:lnTo>
                  <a:lnTo>
                    <a:pt x="125" y="4"/>
                  </a:lnTo>
                  <a:lnTo>
                    <a:pt x="130" y="0"/>
                  </a:lnTo>
                  <a:lnTo>
                    <a:pt x="131" y="7"/>
                  </a:lnTo>
                  <a:lnTo>
                    <a:pt x="133" y="12"/>
                  </a:lnTo>
                  <a:lnTo>
                    <a:pt x="135" y="18"/>
                  </a:lnTo>
                  <a:lnTo>
                    <a:pt x="136" y="24"/>
                  </a:lnTo>
                  <a:lnTo>
                    <a:pt x="137" y="29"/>
                  </a:lnTo>
                  <a:lnTo>
                    <a:pt x="137" y="32"/>
                  </a:lnTo>
                  <a:lnTo>
                    <a:pt x="135" y="35"/>
                  </a:lnTo>
                  <a:lnTo>
                    <a:pt x="140" y="36"/>
                  </a:lnTo>
                  <a:lnTo>
                    <a:pt x="145" y="37"/>
                  </a:lnTo>
                  <a:lnTo>
                    <a:pt x="152" y="38"/>
                  </a:lnTo>
                  <a:lnTo>
                    <a:pt x="159" y="39"/>
                  </a:lnTo>
                  <a:lnTo>
                    <a:pt x="166" y="41"/>
                  </a:lnTo>
                  <a:lnTo>
                    <a:pt x="171" y="42"/>
                  </a:lnTo>
                  <a:lnTo>
                    <a:pt x="177" y="43"/>
                  </a:lnTo>
                  <a:lnTo>
                    <a:pt x="183" y="43"/>
                  </a:lnTo>
                  <a:lnTo>
                    <a:pt x="188" y="44"/>
                  </a:lnTo>
                  <a:lnTo>
                    <a:pt x="191" y="43"/>
                  </a:lnTo>
                  <a:lnTo>
                    <a:pt x="195" y="41"/>
                  </a:lnTo>
                  <a:lnTo>
                    <a:pt x="198" y="38"/>
                  </a:lnTo>
                  <a:lnTo>
                    <a:pt x="206" y="39"/>
                  </a:lnTo>
                  <a:lnTo>
                    <a:pt x="215" y="42"/>
                  </a:lnTo>
                  <a:lnTo>
                    <a:pt x="222" y="43"/>
                  </a:lnTo>
                  <a:lnTo>
                    <a:pt x="218" y="48"/>
                  </a:lnTo>
                  <a:lnTo>
                    <a:pt x="220" y="49"/>
                  </a:lnTo>
                  <a:lnTo>
                    <a:pt x="225" y="50"/>
                  </a:lnTo>
                  <a:lnTo>
                    <a:pt x="229" y="51"/>
                  </a:lnTo>
                  <a:lnTo>
                    <a:pt x="234" y="52"/>
                  </a:lnTo>
                  <a:lnTo>
                    <a:pt x="238" y="51"/>
                  </a:lnTo>
                  <a:lnTo>
                    <a:pt x="243" y="51"/>
                  </a:lnTo>
                  <a:lnTo>
                    <a:pt x="248" y="50"/>
                  </a:lnTo>
                  <a:lnTo>
                    <a:pt x="253" y="48"/>
                  </a:lnTo>
                  <a:lnTo>
                    <a:pt x="258" y="45"/>
                  </a:lnTo>
                  <a:lnTo>
                    <a:pt x="264" y="41"/>
                  </a:lnTo>
                  <a:lnTo>
                    <a:pt x="269" y="37"/>
                  </a:lnTo>
                  <a:lnTo>
                    <a:pt x="275" y="31"/>
                  </a:lnTo>
                  <a:lnTo>
                    <a:pt x="281" y="24"/>
                  </a:lnTo>
                  <a:lnTo>
                    <a:pt x="288" y="19"/>
                  </a:lnTo>
                  <a:lnTo>
                    <a:pt x="294" y="14"/>
                  </a:lnTo>
                  <a:lnTo>
                    <a:pt x="300" y="11"/>
                  </a:lnTo>
                  <a:lnTo>
                    <a:pt x="306" y="9"/>
                  </a:lnTo>
                  <a:lnTo>
                    <a:pt x="314" y="8"/>
                  </a:lnTo>
                  <a:lnTo>
                    <a:pt x="320" y="8"/>
                  </a:lnTo>
                  <a:lnTo>
                    <a:pt x="317" y="11"/>
                  </a:lnTo>
                  <a:lnTo>
                    <a:pt x="314" y="13"/>
                  </a:lnTo>
                  <a:lnTo>
                    <a:pt x="313" y="15"/>
                  </a:lnTo>
                  <a:lnTo>
                    <a:pt x="309" y="22"/>
                  </a:lnTo>
                  <a:lnTo>
                    <a:pt x="305" y="25"/>
                  </a:lnTo>
                  <a:lnTo>
                    <a:pt x="301" y="28"/>
                  </a:lnTo>
                  <a:lnTo>
                    <a:pt x="297" y="33"/>
                  </a:lnTo>
                  <a:lnTo>
                    <a:pt x="294" y="37"/>
                  </a:lnTo>
                  <a:lnTo>
                    <a:pt x="292" y="41"/>
                  </a:lnTo>
                  <a:lnTo>
                    <a:pt x="289" y="45"/>
                  </a:lnTo>
                  <a:lnTo>
                    <a:pt x="287" y="48"/>
                  </a:lnTo>
                  <a:lnTo>
                    <a:pt x="286" y="52"/>
                  </a:lnTo>
                  <a:lnTo>
                    <a:pt x="286" y="56"/>
                  </a:lnTo>
                  <a:lnTo>
                    <a:pt x="287" y="60"/>
                  </a:lnTo>
                  <a:lnTo>
                    <a:pt x="289" y="65"/>
                  </a:lnTo>
                  <a:lnTo>
                    <a:pt x="292" y="69"/>
                  </a:lnTo>
                  <a:lnTo>
                    <a:pt x="295" y="73"/>
                  </a:lnTo>
                  <a:lnTo>
                    <a:pt x="298" y="76"/>
                  </a:lnTo>
                  <a:lnTo>
                    <a:pt x="301" y="79"/>
                  </a:lnTo>
                  <a:lnTo>
                    <a:pt x="305" y="82"/>
                  </a:lnTo>
                  <a:lnTo>
                    <a:pt x="309" y="85"/>
                  </a:lnTo>
                  <a:lnTo>
                    <a:pt x="311" y="87"/>
                  </a:lnTo>
                  <a:lnTo>
                    <a:pt x="313" y="89"/>
                  </a:lnTo>
                  <a:lnTo>
                    <a:pt x="316" y="91"/>
                  </a:lnTo>
                  <a:lnTo>
                    <a:pt x="317" y="93"/>
                  </a:lnTo>
                  <a:lnTo>
                    <a:pt x="314" y="93"/>
                  </a:lnTo>
                  <a:lnTo>
                    <a:pt x="309" y="93"/>
                  </a:lnTo>
                  <a:lnTo>
                    <a:pt x="305" y="93"/>
                  </a:lnTo>
                  <a:lnTo>
                    <a:pt x="302" y="93"/>
                  </a:lnTo>
                  <a:lnTo>
                    <a:pt x="297" y="92"/>
                  </a:lnTo>
                  <a:lnTo>
                    <a:pt x="294" y="91"/>
                  </a:lnTo>
                  <a:lnTo>
                    <a:pt x="291" y="90"/>
                  </a:lnTo>
                  <a:lnTo>
                    <a:pt x="288" y="88"/>
                  </a:lnTo>
                  <a:lnTo>
                    <a:pt x="284" y="87"/>
                  </a:lnTo>
                  <a:lnTo>
                    <a:pt x="281" y="85"/>
                  </a:lnTo>
                  <a:lnTo>
                    <a:pt x="274" y="80"/>
                  </a:lnTo>
                  <a:lnTo>
                    <a:pt x="270" y="77"/>
                  </a:lnTo>
                  <a:lnTo>
                    <a:pt x="264" y="74"/>
                  </a:lnTo>
                  <a:lnTo>
                    <a:pt x="258" y="73"/>
                  </a:lnTo>
                  <a:lnTo>
                    <a:pt x="252" y="73"/>
                  </a:lnTo>
                  <a:lnTo>
                    <a:pt x="243" y="72"/>
                  </a:lnTo>
                  <a:lnTo>
                    <a:pt x="235" y="73"/>
                  </a:lnTo>
                  <a:lnTo>
                    <a:pt x="227" y="74"/>
                  </a:lnTo>
                  <a:lnTo>
                    <a:pt x="218" y="75"/>
                  </a:lnTo>
                  <a:lnTo>
                    <a:pt x="209" y="77"/>
                  </a:lnTo>
                  <a:lnTo>
                    <a:pt x="203" y="80"/>
                  </a:lnTo>
                  <a:lnTo>
                    <a:pt x="202" y="82"/>
                  </a:lnTo>
                  <a:lnTo>
                    <a:pt x="203" y="83"/>
                  </a:lnTo>
                  <a:lnTo>
                    <a:pt x="208" y="86"/>
                  </a:lnTo>
                  <a:lnTo>
                    <a:pt x="197" y="89"/>
                  </a:lnTo>
                  <a:lnTo>
                    <a:pt x="182" y="93"/>
                  </a:lnTo>
                  <a:lnTo>
                    <a:pt x="179" y="90"/>
                  </a:lnTo>
                  <a:lnTo>
                    <a:pt x="175" y="88"/>
                  </a:lnTo>
                  <a:lnTo>
                    <a:pt x="171" y="87"/>
                  </a:lnTo>
                  <a:lnTo>
                    <a:pt x="164" y="87"/>
                  </a:lnTo>
                  <a:lnTo>
                    <a:pt x="156" y="94"/>
                  </a:lnTo>
                  <a:lnTo>
                    <a:pt x="149" y="89"/>
                  </a:lnTo>
                  <a:lnTo>
                    <a:pt x="97" y="96"/>
                  </a:lnTo>
                  <a:lnTo>
                    <a:pt x="86" y="97"/>
                  </a:lnTo>
                  <a:lnTo>
                    <a:pt x="77" y="96"/>
                  </a:lnTo>
                  <a:lnTo>
                    <a:pt x="66" y="95"/>
                  </a:lnTo>
                  <a:lnTo>
                    <a:pt x="46" y="93"/>
                  </a:lnTo>
                  <a:lnTo>
                    <a:pt x="28" y="88"/>
                  </a:lnTo>
                  <a:lnTo>
                    <a:pt x="18" y="84"/>
                  </a:lnTo>
                  <a:lnTo>
                    <a:pt x="11" y="81"/>
                  </a:lnTo>
                  <a:lnTo>
                    <a:pt x="18" y="79"/>
                  </a:lnTo>
                  <a:lnTo>
                    <a:pt x="14" y="76"/>
                  </a:lnTo>
                  <a:lnTo>
                    <a:pt x="11" y="74"/>
                  </a:lnTo>
                  <a:lnTo>
                    <a:pt x="6" y="70"/>
                  </a:lnTo>
                  <a:lnTo>
                    <a:pt x="5" y="69"/>
                  </a:lnTo>
                  <a:lnTo>
                    <a:pt x="3" y="67"/>
                  </a:lnTo>
                  <a:lnTo>
                    <a:pt x="2" y="66"/>
                  </a:lnTo>
                  <a:lnTo>
                    <a:pt x="1" y="63"/>
                  </a:lnTo>
                  <a:lnTo>
                    <a:pt x="0" y="62"/>
                  </a:lnTo>
                  <a:lnTo>
                    <a:pt x="0" y="60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133" name="Group 88"/>
            <p:cNvGrpSpPr>
              <a:grpSpLocks/>
            </p:cNvGrpSpPr>
            <p:nvPr/>
          </p:nvGrpSpPr>
          <p:grpSpPr bwMode="auto">
            <a:xfrm>
              <a:off x="4756" y="2350"/>
              <a:ext cx="2" cy="3"/>
              <a:chOff x="4756" y="2350"/>
              <a:chExt cx="2" cy="3"/>
            </a:xfrm>
          </p:grpSpPr>
          <p:sp>
            <p:nvSpPr>
              <p:cNvPr id="23144" name="Oval 89" descr="50%"/>
              <p:cNvSpPr>
                <a:spLocks noChangeArrowheads="1"/>
              </p:cNvSpPr>
              <p:nvPr/>
            </p:nvSpPr>
            <p:spPr bwMode="auto">
              <a:xfrm>
                <a:off x="4756" y="2350"/>
                <a:ext cx="2" cy="2"/>
              </a:xfrm>
              <a:prstGeom prst="ellipse">
                <a:avLst/>
              </a:pr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145" name="Arc 90" descr="50%"/>
              <p:cNvSpPr>
                <a:spLocks/>
              </p:cNvSpPr>
              <p:nvPr/>
            </p:nvSpPr>
            <p:spPr bwMode="auto">
              <a:xfrm>
                <a:off x="4757" y="2351"/>
                <a:ext cx="1" cy="2"/>
              </a:xfrm>
              <a:custGeom>
                <a:avLst/>
                <a:gdLst>
                  <a:gd name="T0" fmla="*/ 0 w 43200"/>
                  <a:gd name="T1" fmla="*/ 1 h 43200"/>
                  <a:gd name="T2" fmla="*/ 0 w 43200"/>
                  <a:gd name="T3" fmla="*/ 1 h 43200"/>
                  <a:gd name="T4" fmla="*/ 1 w 43200"/>
                  <a:gd name="T5" fmla="*/ 1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2280" y="11940"/>
                    </a:moveTo>
                  </a:path>
                  <a:path w="43200" h="43200" stroke="0" extrusionOk="0">
                    <a:moveTo>
                      <a:pt x="2280" y="11940"/>
                    </a:moveTo>
                    <a:lnTo>
                      <a:pt x="21600" y="21600"/>
                    </a:lnTo>
                    <a:lnTo>
                      <a:pt x="2280" y="11940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134" name="Group 91"/>
            <p:cNvGrpSpPr>
              <a:grpSpLocks/>
            </p:cNvGrpSpPr>
            <p:nvPr/>
          </p:nvGrpSpPr>
          <p:grpSpPr bwMode="auto">
            <a:xfrm>
              <a:off x="4773" y="2362"/>
              <a:ext cx="23" cy="4"/>
              <a:chOff x="4773" y="2362"/>
              <a:chExt cx="23" cy="4"/>
            </a:xfrm>
          </p:grpSpPr>
          <p:sp>
            <p:nvSpPr>
              <p:cNvPr id="23139" name="Arc 92" descr="50%"/>
              <p:cNvSpPr>
                <a:spLocks/>
              </p:cNvSpPr>
              <p:nvPr/>
            </p:nvSpPr>
            <p:spPr bwMode="auto">
              <a:xfrm>
                <a:off x="4777" y="2362"/>
                <a:ext cx="0" cy="4"/>
              </a:xfrm>
              <a:custGeom>
                <a:avLst/>
                <a:gdLst>
                  <a:gd name="T0" fmla="*/ 1 w 43200"/>
                  <a:gd name="T1" fmla="*/ 2 h 43200"/>
                  <a:gd name="T2" fmla="*/ 1 w 43200"/>
                  <a:gd name="T3" fmla="*/ 2 h 43200"/>
                  <a:gd name="T4" fmla="*/ 1 w 43200"/>
                  <a:gd name="T5" fmla="*/ 2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43200" stroke="0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lnTo>
                      <a:pt x="43200" y="21600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140" name="Arc 93" descr="50%"/>
              <p:cNvSpPr>
                <a:spLocks/>
              </p:cNvSpPr>
              <p:nvPr/>
            </p:nvSpPr>
            <p:spPr bwMode="auto">
              <a:xfrm>
                <a:off x="4773" y="2362"/>
                <a:ext cx="0" cy="4"/>
              </a:xfrm>
              <a:custGeom>
                <a:avLst/>
                <a:gdLst>
                  <a:gd name="T0" fmla="*/ 1 w 43200"/>
                  <a:gd name="T1" fmla="*/ 2 h 43200"/>
                  <a:gd name="T2" fmla="*/ 1 w 43200"/>
                  <a:gd name="T3" fmla="*/ 2 h 43200"/>
                  <a:gd name="T4" fmla="*/ 1 w 43200"/>
                  <a:gd name="T5" fmla="*/ 2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00" h="43200" fill="none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43200" stroke="0" extrusionOk="0">
                    <a:moveTo>
                      <a:pt x="43200" y="21600"/>
                    </a:move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lnTo>
                      <a:pt x="43200" y="21600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141" name="Arc 94" descr="50%"/>
              <p:cNvSpPr>
                <a:spLocks/>
              </p:cNvSpPr>
              <p:nvPr/>
            </p:nvSpPr>
            <p:spPr bwMode="auto">
              <a:xfrm>
                <a:off x="4780" y="2362"/>
                <a:ext cx="7" cy="4"/>
              </a:xfrm>
              <a:custGeom>
                <a:avLst/>
                <a:gdLst>
                  <a:gd name="T0" fmla="*/ 2 w 35950"/>
                  <a:gd name="T1" fmla="*/ 0 h 43200"/>
                  <a:gd name="T2" fmla="*/ 0 w 35950"/>
                  <a:gd name="T3" fmla="*/ 3 h 43200"/>
                  <a:gd name="T4" fmla="*/ 3 w 35950"/>
                  <a:gd name="T5" fmla="*/ 2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950" h="43200" fill="none" extrusionOk="0">
                    <a:moveTo>
                      <a:pt x="9664" y="514"/>
                    </a:moveTo>
                    <a:cubicBezTo>
                      <a:pt x="11202" y="172"/>
                      <a:pt x="12773" y="-1"/>
                      <a:pt x="14350" y="0"/>
                    </a:cubicBezTo>
                    <a:cubicBezTo>
                      <a:pt x="26279" y="0"/>
                      <a:pt x="35950" y="9670"/>
                      <a:pt x="35950" y="21600"/>
                    </a:cubicBezTo>
                    <a:cubicBezTo>
                      <a:pt x="35950" y="33529"/>
                      <a:pt x="26279" y="43200"/>
                      <a:pt x="14350" y="43200"/>
                    </a:cubicBezTo>
                    <a:cubicBezTo>
                      <a:pt x="9059" y="43200"/>
                      <a:pt x="3953" y="41258"/>
                      <a:pt x="-1" y="37744"/>
                    </a:cubicBezTo>
                  </a:path>
                  <a:path w="35950" h="43200" stroke="0" extrusionOk="0">
                    <a:moveTo>
                      <a:pt x="9664" y="514"/>
                    </a:moveTo>
                    <a:cubicBezTo>
                      <a:pt x="11202" y="172"/>
                      <a:pt x="12773" y="-1"/>
                      <a:pt x="14350" y="0"/>
                    </a:cubicBezTo>
                    <a:cubicBezTo>
                      <a:pt x="26279" y="0"/>
                      <a:pt x="35950" y="9670"/>
                      <a:pt x="35950" y="21600"/>
                    </a:cubicBezTo>
                    <a:cubicBezTo>
                      <a:pt x="35950" y="33529"/>
                      <a:pt x="26279" y="43200"/>
                      <a:pt x="14350" y="43200"/>
                    </a:cubicBezTo>
                    <a:cubicBezTo>
                      <a:pt x="9059" y="43200"/>
                      <a:pt x="3953" y="41258"/>
                      <a:pt x="-1" y="37744"/>
                    </a:cubicBezTo>
                    <a:lnTo>
                      <a:pt x="14350" y="21600"/>
                    </a:lnTo>
                    <a:lnTo>
                      <a:pt x="9664" y="51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142" name="Arc 95" descr="50%"/>
              <p:cNvSpPr>
                <a:spLocks/>
              </p:cNvSpPr>
              <p:nvPr/>
            </p:nvSpPr>
            <p:spPr bwMode="auto">
              <a:xfrm>
                <a:off x="4784" y="2362"/>
                <a:ext cx="7" cy="4"/>
              </a:xfrm>
              <a:custGeom>
                <a:avLst/>
                <a:gdLst>
                  <a:gd name="T0" fmla="*/ 2 w 35950"/>
                  <a:gd name="T1" fmla="*/ 0 h 43200"/>
                  <a:gd name="T2" fmla="*/ 0 w 35950"/>
                  <a:gd name="T3" fmla="*/ 3 h 43200"/>
                  <a:gd name="T4" fmla="*/ 3 w 35950"/>
                  <a:gd name="T5" fmla="*/ 2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950" h="43200" fill="none" extrusionOk="0">
                    <a:moveTo>
                      <a:pt x="9664" y="514"/>
                    </a:moveTo>
                    <a:cubicBezTo>
                      <a:pt x="11202" y="172"/>
                      <a:pt x="12773" y="-1"/>
                      <a:pt x="14350" y="0"/>
                    </a:cubicBezTo>
                    <a:cubicBezTo>
                      <a:pt x="26279" y="0"/>
                      <a:pt x="35950" y="9670"/>
                      <a:pt x="35950" y="21600"/>
                    </a:cubicBezTo>
                    <a:cubicBezTo>
                      <a:pt x="35950" y="33529"/>
                      <a:pt x="26279" y="43200"/>
                      <a:pt x="14350" y="43200"/>
                    </a:cubicBezTo>
                    <a:cubicBezTo>
                      <a:pt x="9059" y="43200"/>
                      <a:pt x="3953" y="41258"/>
                      <a:pt x="-1" y="37744"/>
                    </a:cubicBezTo>
                  </a:path>
                  <a:path w="35950" h="43200" stroke="0" extrusionOk="0">
                    <a:moveTo>
                      <a:pt x="9664" y="514"/>
                    </a:moveTo>
                    <a:cubicBezTo>
                      <a:pt x="11202" y="172"/>
                      <a:pt x="12773" y="-1"/>
                      <a:pt x="14350" y="0"/>
                    </a:cubicBezTo>
                    <a:cubicBezTo>
                      <a:pt x="26279" y="0"/>
                      <a:pt x="35950" y="9670"/>
                      <a:pt x="35950" y="21600"/>
                    </a:cubicBezTo>
                    <a:cubicBezTo>
                      <a:pt x="35950" y="33529"/>
                      <a:pt x="26279" y="43200"/>
                      <a:pt x="14350" y="43200"/>
                    </a:cubicBezTo>
                    <a:cubicBezTo>
                      <a:pt x="9059" y="43200"/>
                      <a:pt x="3953" y="41258"/>
                      <a:pt x="-1" y="37744"/>
                    </a:cubicBezTo>
                    <a:lnTo>
                      <a:pt x="14350" y="21600"/>
                    </a:lnTo>
                    <a:lnTo>
                      <a:pt x="9664" y="51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143" name="Arc 96" descr="50%"/>
              <p:cNvSpPr>
                <a:spLocks/>
              </p:cNvSpPr>
              <p:nvPr/>
            </p:nvSpPr>
            <p:spPr bwMode="auto">
              <a:xfrm>
                <a:off x="4790" y="2362"/>
                <a:ext cx="6" cy="4"/>
              </a:xfrm>
              <a:custGeom>
                <a:avLst/>
                <a:gdLst>
                  <a:gd name="T0" fmla="*/ 1 w 30373"/>
                  <a:gd name="T1" fmla="*/ 0 h 43200"/>
                  <a:gd name="T2" fmla="*/ 0 w 30373"/>
                  <a:gd name="T3" fmla="*/ 4 h 43200"/>
                  <a:gd name="T4" fmla="*/ 2 w 30373"/>
                  <a:gd name="T5" fmla="*/ 2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373" h="43200" fill="none" extrusionOk="0">
                    <a:moveTo>
                      <a:pt x="4087" y="514"/>
                    </a:moveTo>
                    <a:cubicBezTo>
                      <a:pt x="5625" y="172"/>
                      <a:pt x="7196" y="-1"/>
                      <a:pt x="8773" y="0"/>
                    </a:cubicBezTo>
                    <a:cubicBezTo>
                      <a:pt x="20702" y="0"/>
                      <a:pt x="30373" y="9670"/>
                      <a:pt x="30373" y="21600"/>
                    </a:cubicBezTo>
                    <a:cubicBezTo>
                      <a:pt x="30373" y="33529"/>
                      <a:pt x="20702" y="43200"/>
                      <a:pt x="8773" y="43200"/>
                    </a:cubicBezTo>
                    <a:cubicBezTo>
                      <a:pt x="5750" y="43200"/>
                      <a:pt x="2761" y="42565"/>
                      <a:pt x="-1" y="41338"/>
                    </a:cubicBezTo>
                  </a:path>
                  <a:path w="30373" h="43200" stroke="0" extrusionOk="0">
                    <a:moveTo>
                      <a:pt x="4087" y="514"/>
                    </a:moveTo>
                    <a:cubicBezTo>
                      <a:pt x="5625" y="172"/>
                      <a:pt x="7196" y="-1"/>
                      <a:pt x="8773" y="0"/>
                    </a:cubicBezTo>
                    <a:cubicBezTo>
                      <a:pt x="20702" y="0"/>
                      <a:pt x="30373" y="9670"/>
                      <a:pt x="30373" y="21600"/>
                    </a:cubicBezTo>
                    <a:cubicBezTo>
                      <a:pt x="30373" y="33529"/>
                      <a:pt x="20702" y="43200"/>
                      <a:pt x="8773" y="43200"/>
                    </a:cubicBezTo>
                    <a:cubicBezTo>
                      <a:pt x="5750" y="43200"/>
                      <a:pt x="2761" y="42565"/>
                      <a:pt x="-1" y="41338"/>
                    </a:cubicBezTo>
                    <a:lnTo>
                      <a:pt x="8773" y="21600"/>
                    </a:lnTo>
                    <a:lnTo>
                      <a:pt x="4087" y="514"/>
                    </a:lnTo>
                    <a:close/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3135" name="Freeform 97" descr="50%"/>
            <p:cNvSpPr>
              <a:spLocks/>
            </p:cNvSpPr>
            <p:nvPr/>
          </p:nvSpPr>
          <p:spPr bwMode="auto">
            <a:xfrm>
              <a:off x="4729" y="2290"/>
              <a:ext cx="312" cy="58"/>
            </a:xfrm>
            <a:custGeom>
              <a:avLst/>
              <a:gdLst>
                <a:gd name="T0" fmla="*/ 7 w 312"/>
                <a:gd name="T1" fmla="*/ 48 h 58"/>
                <a:gd name="T2" fmla="*/ 21 w 312"/>
                <a:gd name="T3" fmla="*/ 44 h 58"/>
                <a:gd name="T4" fmla="*/ 42 w 312"/>
                <a:gd name="T5" fmla="*/ 39 h 58"/>
                <a:gd name="T6" fmla="*/ 63 w 312"/>
                <a:gd name="T7" fmla="*/ 36 h 58"/>
                <a:gd name="T8" fmla="*/ 83 w 312"/>
                <a:gd name="T9" fmla="*/ 32 h 58"/>
                <a:gd name="T10" fmla="*/ 94 w 312"/>
                <a:gd name="T11" fmla="*/ 27 h 58"/>
                <a:gd name="T12" fmla="*/ 104 w 312"/>
                <a:gd name="T13" fmla="*/ 18 h 58"/>
                <a:gd name="T14" fmla="*/ 119 w 312"/>
                <a:gd name="T15" fmla="*/ 5 h 58"/>
                <a:gd name="T16" fmla="*/ 130 w 312"/>
                <a:gd name="T17" fmla="*/ 10 h 58"/>
                <a:gd name="T18" fmla="*/ 134 w 312"/>
                <a:gd name="T19" fmla="*/ 25 h 58"/>
                <a:gd name="T20" fmla="*/ 142 w 312"/>
                <a:gd name="T21" fmla="*/ 31 h 58"/>
                <a:gd name="T22" fmla="*/ 168 w 312"/>
                <a:gd name="T23" fmla="*/ 35 h 58"/>
                <a:gd name="T24" fmla="*/ 187 w 312"/>
                <a:gd name="T25" fmla="*/ 36 h 58"/>
                <a:gd name="T26" fmla="*/ 210 w 312"/>
                <a:gd name="T27" fmla="*/ 35 h 58"/>
                <a:gd name="T28" fmla="*/ 219 w 312"/>
                <a:gd name="T29" fmla="*/ 43 h 58"/>
                <a:gd name="T30" fmla="*/ 238 w 312"/>
                <a:gd name="T31" fmla="*/ 44 h 58"/>
                <a:gd name="T32" fmla="*/ 258 w 312"/>
                <a:gd name="T33" fmla="*/ 34 h 58"/>
                <a:gd name="T34" fmla="*/ 275 w 312"/>
                <a:gd name="T35" fmla="*/ 20 h 58"/>
                <a:gd name="T36" fmla="*/ 288 w 312"/>
                <a:gd name="T37" fmla="*/ 11 h 58"/>
                <a:gd name="T38" fmla="*/ 299 w 312"/>
                <a:gd name="T39" fmla="*/ 6 h 58"/>
                <a:gd name="T40" fmla="*/ 309 w 312"/>
                <a:gd name="T41" fmla="*/ 8 h 58"/>
                <a:gd name="T42" fmla="*/ 301 w 312"/>
                <a:gd name="T43" fmla="*/ 18 h 58"/>
                <a:gd name="T44" fmla="*/ 291 w 312"/>
                <a:gd name="T45" fmla="*/ 26 h 58"/>
                <a:gd name="T46" fmla="*/ 285 w 312"/>
                <a:gd name="T47" fmla="*/ 34 h 58"/>
                <a:gd name="T48" fmla="*/ 280 w 312"/>
                <a:gd name="T49" fmla="*/ 40 h 58"/>
                <a:gd name="T50" fmla="*/ 279 w 312"/>
                <a:gd name="T51" fmla="*/ 48 h 58"/>
                <a:gd name="T52" fmla="*/ 270 w 312"/>
                <a:gd name="T53" fmla="*/ 46 h 58"/>
                <a:gd name="T54" fmla="*/ 262 w 312"/>
                <a:gd name="T55" fmla="*/ 49 h 58"/>
                <a:gd name="T56" fmla="*/ 253 w 312"/>
                <a:gd name="T57" fmla="*/ 48 h 58"/>
                <a:gd name="T58" fmla="*/ 243 w 312"/>
                <a:gd name="T59" fmla="*/ 48 h 58"/>
                <a:gd name="T60" fmla="*/ 232 w 312"/>
                <a:gd name="T61" fmla="*/ 47 h 58"/>
                <a:gd name="T62" fmla="*/ 220 w 312"/>
                <a:gd name="T63" fmla="*/ 48 h 58"/>
                <a:gd name="T64" fmla="*/ 208 w 312"/>
                <a:gd name="T65" fmla="*/ 50 h 58"/>
                <a:gd name="T66" fmla="*/ 196 w 312"/>
                <a:gd name="T67" fmla="*/ 50 h 58"/>
                <a:gd name="T68" fmla="*/ 184 w 312"/>
                <a:gd name="T69" fmla="*/ 50 h 58"/>
                <a:gd name="T70" fmla="*/ 174 w 312"/>
                <a:gd name="T71" fmla="*/ 52 h 58"/>
                <a:gd name="T72" fmla="*/ 162 w 312"/>
                <a:gd name="T73" fmla="*/ 54 h 58"/>
                <a:gd name="T74" fmla="*/ 148 w 312"/>
                <a:gd name="T75" fmla="*/ 54 h 58"/>
                <a:gd name="T76" fmla="*/ 136 w 312"/>
                <a:gd name="T77" fmla="*/ 54 h 58"/>
                <a:gd name="T78" fmla="*/ 125 w 312"/>
                <a:gd name="T79" fmla="*/ 53 h 58"/>
                <a:gd name="T80" fmla="*/ 113 w 312"/>
                <a:gd name="T81" fmla="*/ 54 h 58"/>
                <a:gd name="T82" fmla="*/ 104 w 312"/>
                <a:gd name="T83" fmla="*/ 53 h 58"/>
                <a:gd name="T84" fmla="*/ 93 w 312"/>
                <a:gd name="T85" fmla="*/ 54 h 58"/>
                <a:gd name="T86" fmla="*/ 80 w 312"/>
                <a:gd name="T87" fmla="*/ 54 h 58"/>
                <a:gd name="T88" fmla="*/ 64 w 312"/>
                <a:gd name="T89" fmla="*/ 57 h 58"/>
                <a:gd name="T90" fmla="*/ 46 w 312"/>
                <a:gd name="T91" fmla="*/ 57 h 58"/>
                <a:gd name="T92" fmla="*/ 31 w 312"/>
                <a:gd name="T93" fmla="*/ 55 h 58"/>
                <a:gd name="T94" fmla="*/ 17 w 312"/>
                <a:gd name="T95" fmla="*/ 55 h 58"/>
                <a:gd name="T96" fmla="*/ 4 w 312"/>
                <a:gd name="T97" fmla="*/ 53 h 58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312" h="58">
                  <a:moveTo>
                    <a:pt x="0" y="52"/>
                  </a:moveTo>
                  <a:lnTo>
                    <a:pt x="2" y="50"/>
                  </a:lnTo>
                  <a:lnTo>
                    <a:pt x="5" y="49"/>
                  </a:lnTo>
                  <a:lnTo>
                    <a:pt x="7" y="48"/>
                  </a:lnTo>
                  <a:lnTo>
                    <a:pt x="10" y="47"/>
                  </a:lnTo>
                  <a:lnTo>
                    <a:pt x="13" y="46"/>
                  </a:lnTo>
                  <a:lnTo>
                    <a:pt x="18" y="45"/>
                  </a:lnTo>
                  <a:lnTo>
                    <a:pt x="21" y="44"/>
                  </a:lnTo>
                  <a:lnTo>
                    <a:pt x="26" y="42"/>
                  </a:lnTo>
                  <a:lnTo>
                    <a:pt x="31" y="41"/>
                  </a:lnTo>
                  <a:lnTo>
                    <a:pt x="37" y="40"/>
                  </a:lnTo>
                  <a:lnTo>
                    <a:pt x="42" y="39"/>
                  </a:lnTo>
                  <a:lnTo>
                    <a:pt x="48" y="39"/>
                  </a:lnTo>
                  <a:lnTo>
                    <a:pt x="53" y="38"/>
                  </a:lnTo>
                  <a:lnTo>
                    <a:pt x="58" y="37"/>
                  </a:lnTo>
                  <a:lnTo>
                    <a:pt x="63" y="36"/>
                  </a:lnTo>
                  <a:lnTo>
                    <a:pt x="67" y="35"/>
                  </a:lnTo>
                  <a:lnTo>
                    <a:pt x="73" y="34"/>
                  </a:lnTo>
                  <a:lnTo>
                    <a:pt x="78" y="33"/>
                  </a:lnTo>
                  <a:lnTo>
                    <a:pt x="83" y="32"/>
                  </a:lnTo>
                  <a:lnTo>
                    <a:pt x="86" y="32"/>
                  </a:lnTo>
                  <a:lnTo>
                    <a:pt x="90" y="30"/>
                  </a:lnTo>
                  <a:lnTo>
                    <a:pt x="92" y="29"/>
                  </a:lnTo>
                  <a:lnTo>
                    <a:pt x="94" y="27"/>
                  </a:lnTo>
                  <a:lnTo>
                    <a:pt x="96" y="25"/>
                  </a:lnTo>
                  <a:lnTo>
                    <a:pt x="98" y="23"/>
                  </a:lnTo>
                  <a:lnTo>
                    <a:pt x="101" y="20"/>
                  </a:lnTo>
                  <a:lnTo>
                    <a:pt x="104" y="18"/>
                  </a:lnTo>
                  <a:lnTo>
                    <a:pt x="107" y="14"/>
                  </a:lnTo>
                  <a:lnTo>
                    <a:pt x="111" y="11"/>
                  </a:lnTo>
                  <a:lnTo>
                    <a:pt x="115" y="8"/>
                  </a:lnTo>
                  <a:lnTo>
                    <a:pt x="119" y="5"/>
                  </a:lnTo>
                  <a:lnTo>
                    <a:pt x="123" y="2"/>
                  </a:lnTo>
                  <a:lnTo>
                    <a:pt x="127" y="0"/>
                  </a:lnTo>
                  <a:lnTo>
                    <a:pt x="128" y="4"/>
                  </a:lnTo>
                  <a:lnTo>
                    <a:pt x="130" y="10"/>
                  </a:lnTo>
                  <a:lnTo>
                    <a:pt x="132" y="15"/>
                  </a:lnTo>
                  <a:lnTo>
                    <a:pt x="133" y="20"/>
                  </a:lnTo>
                  <a:lnTo>
                    <a:pt x="134" y="22"/>
                  </a:lnTo>
                  <a:lnTo>
                    <a:pt x="134" y="25"/>
                  </a:lnTo>
                  <a:lnTo>
                    <a:pt x="134" y="27"/>
                  </a:lnTo>
                  <a:lnTo>
                    <a:pt x="132" y="29"/>
                  </a:lnTo>
                  <a:lnTo>
                    <a:pt x="137" y="31"/>
                  </a:lnTo>
                  <a:lnTo>
                    <a:pt x="142" y="31"/>
                  </a:lnTo>
                  <a:lnTo>
                    <a:pt x="148" y="32"/>
                  </a:lnTo>
                  <a:lnTo>
                    <a:pt x="155" y="33"/>
                  </a:lnTo>
                  <a:lnTo>
                    <a:pt x="162" y="34"/>
                  </a:lnTo>
                  <a:lnTo>
                    <a:pt x="168" y="35"/>
                  </a:lnTo>
                  <a:lnTo>
                    <a:pt x="174" y="36"/>
                  </a:lnTo>
                  <a:lnTo>
                    <a:pt x="178" y="37"/>
                  </a:lnTo>
                  <a:lnTo>
                    <a:pt x="183" y="37"/>
                  </a:lnTo>
                  <a:lnTo>
                    <a:pt x="187" y="36"/>
                  </a:lnTo>
                  <a:lnTo>
                    <a:pt x="190" y="34"/>
                  </a:lnTo>
                  <a:lnTo>
                    <a:pt x="194" y="32"/>
                  </a:lnTo>
                  <a:lnTo>
                    <a:pt x="202" y="33"/>
                  </a:lnTo>
                  <a:lnTo>
                    <a:pt x="210" y="35"/>
                  </a:lnTo>
                  <a:lnTo>
                    <a:pt x="216" y="37"/>
                  </a:lnTo>
                  <a:lnTo>
                    <a:pt x="213" y="40"/>
                  </a:lnTo>
                  <a:lnTo>
                    <a:pt x="215" y="41"/>
                  </a:lnTo>
                  <a:lnTo>
                    <a:pt x="219" y="43"/>
                  </a:lnTo>
                  <a:lnTo>
                    <a:pt x="223" y="44"/>
                  </a:lnTo>
                  <a:lnTo>
                    <a:pt x="228" y="44"/>
                  </a:lnTo>
                  <a:lnTo>
                    <a:pt x="233" y="44"/>
                  </a:lnTo>
                  <a:lnTo>
                    <a:pt x="238" y="44"/>
                  </a:lnTo>
                  <a:lnTo>
                    <a:pt x="242" y="43"/>
                  </a:lnTo>
                  <a:lnTo>
                    <a:pt x="248" y="41"/>
                  </a:lnTo>
                  <a:lnTo>
                    <a:pt x="253" y="39"/>
                  </a:lnTo>
                  <a:lnTo>
                    <a:pt x="258" y="34"/>
                  </a:lnTo>
                  <a:lnTo>
                    <a:pt x="263" y="31"/>
                  </a:lnTo>
                  <a:lnTo>
                    <a:pt x="268" y="26"/>
                  </a:lnTo>
                  <a:lnTo>
                    <a:pt x="271" y="24"/>
                  </a:lnTo>
                  <a:lnTo>
                    <a:pt x="275" y="20"/>
                  </a:lnTo>
                  <a:lnTo>
                    <a:pt x="278" y="18"/>
                  </a:lnTo>
                  <a:lnTo>
                    <a:pt x="282" y="15"/>
                  </a:lnTo>
                  <a:lnTo>
                    <a:pt x="285" y="13"/>
                  </a:lnTo>
                  <a:lnTo>
                    <a:pt x="288" y="11"/>
                  </a:lnTo>
                  <a:lnTo>
                    <a:pt x="291" y="10"/>
                  </a:lnTo>
                  <a:lnTo>
                    <a:pt x="293" y="9"/>
                  </a:lnTo>
                  <a:lnTo>
                    <a:pt x="296" y="7"/>
                  </a:lnTo>
                  <a:lnTo>
                    <a:pt x="299" y="6"/>
                  </a:lnTo>
                  <a:lnTo>
                    <a:pt x="302" y="6"/>
                  </a:lnTo>
                  <a:lnTo>
                    <a:pt x="306" y="6"/>
                  </a:lnTo>
                  <a:lnTo>
                    <a:pt x="311" y="6"/>
                  </a:lnTo>
                  <a:lnTo>
                    <a:pt x="309" y="8"/>
                  </a:lnTo>
                  <a:lnTo>
                    <a:pt x="307" y="11"/>
                  </a:lnTo>
                  <a:lnTo>
                    <a:pt x="305" y="12"/>
                  </a:lnTo>
                  <a:lnTo>
                    <a:pt x="303" y="15"/>
                  </a:lnTo>
                  <a:lnTo>
                    <a:pt x="301" y="18"/>
                  </a:lnTo>
                  <a:lnTo>
                    <a:pt x="298" y="20"/>
                  </a:lnTo>
                  <a:lnTo>
                    <a:pt x="294" y="23"/>
                  </a:lnTo>
                  <a:lnTo>
                    <a:pt x="292" y="25"/>
                  </a:lnTo>
                  <a:lnTo>
                    <a:pt x="291" y="26"/>
                  </a:lnTo>
                  <a:lnTo>
                    <a:pt x="289" y="29"/>
                  </a:lnTo>
                  <a:lnTo>
                    <a:pt x="288" y="30"/>
                  </a:lnTo>
                  <a:lnTo>
                    <a:pt x="286" y="32"/>
                  </a:lnTo>
                  <a:lnTo>
                    <a:pt x="285" y="34"/>
                  </a:lnTo>
                  <a:lnTo>
                    <a:pt x="284" y="36"/>
                  </a:lnTo>
                  <a:lnTo>
                    <a:pt x="282" y="38"/>
                  </a:lnTo>
                  <a:lnTo>
                    <a:pt x="281" y="39"/>
                  </a:lnTo>
                  <a:lnTo>
                    <a:pt x="280" y="40"/>
                  </a:lnTo>
                  <a:lnTo>
                    <a:pt x="280" y="43"/>
                  </a:lnTo>
                  <a:lnTo>
                    <a:pt x="279" y="44"/>
                  </a:lnTo>
                  <a:lnTo>
                    <a:pt x="279" y="46"/>
                  </a:lnTo>
                  <a:lnTo>
                    <a:pt x="279" y="48"/>
                  </a:lnTo>
                  <a:lnTo>
                    <a:pt x="277" y="46"/>
                  </a:lnTo>
                  <a:lnTo>
                    <a:pt x="274" y="46"/>
                  </a:lnTo>
                  <a:lnTo>
                    <a:pt x="272" y="46"/>
                  </a:lnTo>
                  <a:lnTo>
                    <a:pt x="270" y="46"/>
                  </a:lnTo>
                  <a:lnTo>
                    <a:pt x="268" y="47"/>
                  </a:lnTo>
                  <a:lnTo>
                    <a:pt x="266" y="48"/>
                  </a:lnTo>
                  <a:lnTo>
                    <a:pt x="264" y="48"/>
                  </a:lnTo>
                  <a:lnTo>
                    <a:pt x="262" y="49"/>
                  </a:lnTo>
                  <a:lnTo>
                    <a:pt x="259" y="49"/>
                  </a:lnTo>
                  <a:lnTo>
                    <a:pt x="256" y="49"/>
                  </a:lnTo>
                  <a:lnTo>
                    <a:pt x="254" y="48"/>
                  </a:lnTo>
                  <a:lnTo>
                    <a:pt x="253" y="48"/>
                  </a:lnTo>
                  <a:lnTo>
                    <a:pt x="251" y="47"/>
                  </a:lnTo>
                  <a:lnTo>
                    <a:pt x="249" y="47"/>
                  </a:lnTo>
                  <a:lnTo>
                    <a:pt x="245" y="48"/>
                  </a:lnTo>
                  <a:lnTo>
                    <a:pt x="243" y="48"/>
                  </a:lnTo>
                  <a:lnTo>
                    <a:pt x="241" y="48"/>
                  </a:lnTo>
                  <a:lnTo>
                    <a:pt x="238" y="48"/>
                  </a:lnTo>
                  <a:lnTo>
                    <a:pt x="235" y="47"/>
                  </a:lnTo>
                  <a:lnTo>
                    <a:pt x="232" y="47"/>
                  </a:lnTo>
                  <a:lnTo>
                    <a:pt x="229" y="48"/>
                  </a:lnTo>
                  <a:lnTo>
                    <a:pt x="225" y="48"/>
                  </a:lnTo>
                  <a:lnTo>
                    <a:pt x="223" y="48"/>
                  </a:lnTo>
                  <a:lnTo>
                    <a:pt x="220" y="48"/>
                  </a:lnTo>
                  <a:lnTo>
                    <a:pt x="217" y="48"/>
                  </a:lnTo>
                  <a:lnTo>
                    <a:pt x="214" y="48"/>
                  </a:lnTo>
                  <a:lnTo>
                    <a:pt x="212" y="49"/>
                  </a:lnTo>
                  <a:lnTo>
                    <a:pt x="208" y="50"/>
                  </a:lnTo>
                  <a:lnTo>
                    <a:pt x="205" y="50"/>
                  </a:lnTo>
                  <a:lnTo>
                    <a:pt x="202" y="51"/>
                  </a:lnTo>
                  <a:lnTo>
                    <a:pt x="199" y="51"/>
                  </a:lnTo>
                  <a:lnTo>
                    <a:pt x="196" y="50"/>
                  </a:lnTo>
                  <a:lnTo>
                    <a:pt x="193" y="49"/>
                  </a:lnTo>
                  <a:lnTo>
                    <a:pt x="189" y="50"/>
                  </a:lnTo>
                  <a:lnTo>
                    <a:pt x="187" y="50"/>
                  </a:lnTo>
                  <a:lnTo>
                    <a:pt x="184" y="50"/>
                  </a:lnTo>
                  <a:lnTo>
                    <a:pt x="181" y="50"/>
                  </a:lnTo>
                  <a:lnTo>
                    <a:pt x="179" y="50"/>
                  </a:lnTo>
                  <a:lnTo>
                    <a:pt x="176" y="51"/>
                  </a:lnTo>
                  <a:lnTo>
                    <a:pt x="174" y="52"/>
                  </a:lnTo>
                  <a:lnTo>
                    <a:pt x="171" y="52"/>
                  </a:lnTo>
                  <a:lnTo>
                    <a:pt x="168" y="53"/>
                  </a:lnTo>
                  <a:lnTo>
                    <a:pt x="165" y="53"/>
                  </a:lnTo>
                  <a:lnTo>
                    <a:pt x="162" y="54"/>
                  </a:lnTo>
                  <a:lnTo>
                    <a:pt x="159" y="54"/>
                  </a:lnTo>
                  <a:lnTo>
                    <a:pt x="155" y="54"/>
                  </a:lnTo>
                  <a:lnTo>
                    <a:pt x="151" y="53"/>
                  </a:lnTo>
                  <a:lnTo>
                    <a:pt x="148" y="54"/>
                  </a:lnTo>
                  <a:lnTo>
                    <a:pt x="145" y="54"/>
                  </a:lnTo>
                  <a:lnTo>
                    <a:pt x="142" y="54"/>
                  </a:lnTo>
                  <a:lnTo>
                    <a:pt x="139" y="54"/>
                  </a:lnTo>
                  <a:lnTo>
                    <a:pt x="136" y="54"/>
                  </a:lnTo>
                  <a:lnTo>
                    <a:pt x="133" y="54"/>
                  </a:lnTo>
                  <a:lnTo>
                    <a:pt x="130" y="53"/>
                  </a:lnTo>
                  <a:lnTo>
                    <a:pt x="128" y="53"/>
                  </a:lnTo>
                  <a:lnTo>
                    <a:pt x="125" y="53"/>
                  </a:lnTo>
                  <a:lnTo>
                    <a:pt x="122" y="53"/>
                  </a:lnTo>
                  <a:lnTo>
                    <a:pt x="119" y="53"/>
                  </a:lnTo>
                  <a:lnTo>
                    <a:pt x="116" y="53"/>
                  </a:lnTo>
                  <a:lnTo>
                    <a:pt x="113" y="54"/>
                  </a:lnTo>
                  <a:lnTo>
                    <a:pt x="111" y="54"/>
                  </a:lnTo>
                  <a:lnTo>
                    <a:pt x="109" y="53"/>
                  </a:lnTo>
                  <a:lnTo>
                    <a:pt x="106" y="53"/>
                  </a:lnTo>
                  <a:lnTo>
                    <a:pt x="104" y="53"/>
                  </a:lnTo>
                  <a:lnTo>
                    <a:pt x="101" y="53"/>
                  </a:lnTo>
                  <a:lnTo>
                    <a:pt x="98" y="53"/>
                  </a:lnTo>
                  <a:lnTo>
                    <a:pt x="96" y="53"/>
                  </a:lnTo>
                  <a:lnTo>
                    <a:pt x="93" y="54"/>
                  </a:lnTo>
                  <a:lnTo>
                    <a:pt x="89" y="54"/>
                  </a:lnTo>
                  <a:lnTo>
                    <a:pt x="86" y="53"/>
                  </a:lnTo>
                  <a:lnTo>
                    <a:pt x="83" y="54"/>
                  </a:lnTo>
                  <a:lnTo>
                    <a:pt x="80" y="54"/>
                  </a:lnTo>
                  <a:lnTo>
                    <a:pt x="77" y="55"/>
                  </a:lnTo>
                  <a:lnTo>
                    <a:pt x="74" y="56"/>
                  </a:lnTo>
                  <a:lnTo>
                    <a:pt x="69" y="57"/>
                  </a:lnTo>
                  <a:lnTo>
                    <a:pt x="64" y="57"/>
                  </a:lnTo>
                  <a:lnTo>
                    <a:pt x="59" y="57"/>
                  </a:lnTo>
                  <a:lnTo>
                    <a:pt x="55" y="57"/>
                  </a:lnTo>
                  <a:lnTo>
                    <a:pt x="49" y="57"/>
                  </a:lnTo>
                  <a:lnTo>
                    <a:pt x="46" y="57"/>
                  </a:lnTo>
                  <a:lnTo>
                    <a:pt x="43" y="57"/>
                  </a:lnTo>
                  <a:lnTo>
                    <a:pt x="40" y="57"/>
                  </a:lnTo>
                  <a:lnTo>
                    <a:pt x="36" y="57"/>
                  </a:lnTo>
                  <a:lnTo>
                    <a:pt x="31" y="55"/>
                  </a:lnTo>
                  <a:lnTo>
                    <a:pt x="27" y="55"/>
                  </a:lnTo>
                  <a:lnTo>
                    <a:pt x="23" y="55"/>
                  </a:lnTo>
                  <a:lnTo>
                    <a:pt x="20" y="55"/>
                  </a:lnTo>
                  <a:lnTo>
                    <a:pt x="17" y="55"/>
                  </a:lnTo>
                  <a:lnTo>
                    <a:pt x="13" y="55"/>
                  </a:lnTo>
                  <a:lnTo>
                    <a:pt x="10" y="54"/>
                  </a:lnTo>
                  <a:lnTo>
                    <a:pt x="7" y="53"/>
                  </a:lnTo>
                  <a:lnTo>
                    <a:pt x="4" y="53"/>
                  </a:lnTo>
                  <a:lnTo>
                    <a:pt x="1" y="52"/>
                  </a:lnTo>
                  <a:lnTo>
                    <a:pt x="0" y="52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136" name="Group 98"/>
            <p:cNvGrpSpPr>
              <a:grpSpLocks/>
            </p:cNvGrpSpPr>
            <p:nvPr/>
          </p:nvGrpSpPr>
          <p:grpSpPr bwMode="auto">
            <a:xfrm>
              <a:off x="4793" y="2364"/>
              <a:ext cx="47" cy="37"/>
              <a:chOff x="4793" y="2364"/>
              <a:chExt cx="47" cy="37"/>
            </a:xfrm>
          </p:grpSpPr>
          <p:sp>
            <p:nvSpPr>
              <p:cNvPr id="23137" name="Freeform 99" descr="50%"/>
              <p:cNvSpPr>
                <a:spLocks/>
              </p:cNvSpPr>
              <p:nvPr/>
            </p:nvSpPr>
            <p:spPr bwMode="auto">
              <a:xfrm>
                <a:off x="4793" y="2370"/>
                <a:ext cx="47" cy="31"/>
              </a:xfrm>
              <a:custGeom>
                <a:avLst/>
                <a:gdLst>
                  <a:gd name="T0" fmla="*/ 43 w 47"/>
                  <a:gd name="T1" fmla="*/ 27 h 31"/>
                  <a:gd name="T2" fmla="*/ 40 w 47"/>
                  <a:gd name="T3" fmla="*/ 24 h 31"/>
                  <a:gd name="T4" fmla="*/ 39 w 47"/>
                  <a:gd name="T5" fmla="*/ 22 h 31"/>
                  <a:gd name="T6" fmla="*/ 37 w 47"/>
                  <a:gd name="T7" fmla="*/ 21 h 31"/>
                  <a:gd name="T8" fmla="*/ 36 w 47"/>
                  <a:gd name="T9" fmla="*/ 19 h 31"/>
                  <a:gd name="T10" fmla="*/ 35 w 47"/>
                  <a:gd name="T11" fmla="*/ 17 h 31"/>
                  <a:gd name="T12" fmla="*/ 34 w 47"/>
                  <a:gd name="T13" fmla="*/ 16 h 31"/>
                  <a:gd name="T14" fmla="*/ 33 w 47"/>
                  <a:gd name="T15" fmla="*/ 14 h 31"/>
                  <a:gd name="T16" fmla="*/ 32 w 47"/>
                  <a:gd name="T17" fmla="*/ 12 h 31"/>
                  <a:gd name="T18" fmla="*/ 31 w 47"/>
                  <a:gd name="T19" fmla="*/ 10 h 31"/>
                  <a:gd name="T20" fmla="*/ 30 w 47"/>
                  <a:gd name="T21" fmla="*/ 7 h 31"/>
                  <a:gd name="T22" fmla="*/ 30 w 47"/>
                  <a:gd name="T23" fmla="*/ 5 h 31"/>
                  <a:gd name="T24" fmla="*/ 30 w 47"/>
                  <a:gd name="T25" fmla="*/ 3 h 31"/>
                  <a:gd name="T26" fmla="*/ 30 w 47"/>
                  <a:gd name="T27" fmla="*/ 0 h 31"/>
                  <a:gd name="T28" fmla="*/ 0 w 47"/>
                  <a:gd name="T29" fmla="*/ 0 h 31"/>
                  <a:gd name="T30" fmla="*/ 1 w 47"/>
                  <a:gd name="T31" fmla="*/ 2 h 31"/>
                  <a:gd name="T32" fmla="*/ 2 w 47"/>
                  <a:gd name="T33" fmla="*/ 4 h 31"/>
                  <a:gd name="T34" fmla="*/ 4 w 47"/>
                  <a:gd name="T35" fmla="*/ 6 h 31"/>
                  <a:gd name="T36" fmla="*/ 6 w 47"/>
                  <a:gd name="T37" fmla="*/ 9 h 31"/>
                  <a:gd name="T38" fmla="*/ 8 w 47"/>
                  <a:gd name="T39" fmla="*/ 11 h 31"/>
                  <a:gd name="T40" fmla="*/ 10 w 47"/>
                  <a:gd name="T41" fmla="*/ 13 h 31"/>
                  <a:gd name="T42" fmla="*/ 12 w 47"/>
                  <a:gd name="T43" fmla="*/ 15 h 31"/>
                  <a:gd name="T44" fmla="*/ 14 w 47"/>
                  <a:gd name="T45" fmla="*/ 17 h 31"/>
                  <a:gd name="T46" fmla="*/ 17 w 47"/>
                  <a:gd name="T47" fmla="*/ 19 h 31"/>
                  <a:gd name="T48" fmla="*/ 20 w 47"/>
                  <a:gd name="T49" fmla="*/ 22 h 31"/>
                  <a:gd name="T50" fmla="*/ 23 w 47"/>
                  <a:gd name="T51" fmla="*/ 23 h 31"/>
                  <a:gd name="T52" fmla="*/ 25 w 47"/>
                  <a:gd name="T53" fmla="*/ 24 h 31"/>
                  <a:gd name="T54" fmla="*/ 28 w 47"/>
                  <a:gd name="T55" fmla="*/ 26 h 31"/>
                  <a:gd name="T56" fmla="*/ 30 w 47"/>
                  <a:gd name="T57" fmla="*/ 27 h 31"/>
                  <a:gd name="T58" fmla="*/ 33 w 47"/>
                  <a:gd name="T59" fmla="*/ 28 h 31"/>
                  <a:gd name="T60" fmla="*/ 36 w 47"/>
                  <a:gd name="T61" fmla="*/ 28 h 31"/>
                  <a:gd name="T62" fmla="*/ 39 w 47"/>
                  <a:gd name="T63" fmla="*/ 29 h 31"/>
                  <a:gd name="T64" fmla="*/ 41 w 47"/>
                  <a:gd name="T65" fmla="*/ 29 h 31"/>
                  <a:gd name="T66" fmla="*/ 44 w 47"/>
                  <a:gd name="T67" fmla="*/ 29 h 31"/>
                  <a:gd name="T68" fmla="*/ 46 w 47"/>
                  <a:gd name="T69" fmla="*/ 30 h 31"/>
                  <a:gd name="T70" fmla="*/ 43 w 47"/>
                  <a:gd name="T71" fmla="*/ 27 h 31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47" h="31">
                    <a:moveTo>
                      <a:pt x="43" y="27"/>
                    </a:moveTo>
                    <a:lnTo>
                      <a:pt x="40" y="24"/>
                    </a:lnTo>
                    <a:lnTo>
                      <a:pt x="39" y="22"/>
                    </a:lnTo>
                    <a:lnTo>
                      <a:pt x="37" y="21"/>
                    </a:lnTo>
                    <a:lnTo>
                      <a:pt x="36" y="19"/>
                    </a:lnTo>
                    <a:lnTo>
                      <a:pt x="35" y="17"/>
                    </a:lnTo>
                    <a:lnTo>
                      <a:pt x="34" y="16"/>
                    </a:lnTo>
                    <a:lnTo>
                      <a:pt x="33" y="14"/>
                    </a:lnTo>
                    <a:lnTo>
                      <a:pt x="32" y="12"/>
                    </a:lnTo>
                    <a:lnTo>
                      <a:pt x="31" y="10"/>
                    </a:lnTo>
                    <a:lnTo>
                      <a:pt x="30" y="7"/>
                    </a:lnTo>
                    <a:lnTo>
                      <a:pt x="30" y="5"/>
                    </a:lnTo>
                    <a:lnTo>
                      <a:pt x="30" y="3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1" y="2"/>
                    </a:lnTo>
                    <a:lnTo>
                      <a:pt x="2" y="4"/>
                    </a:lnTo>
                    <a:lnTo>
                      <a:pt x="4" y="6"/>
                    </a:lnTo>
                    <a:lnTo>
                      <a:pt x="6" y="9"/>
                    </a:lnTo>
                    <a:lnTo>
                      <a:pt x="8" y="11"/>
                    </a:lnTo>
                    <a:lnTo>
                      <a:pt x="10" y="13"/>
                    </a:lnTo>
                    <a:lnTo>
                      <a:pt x="12" y="15"/>
                    </a:lnTo>
                    <a:lnTo>
                      <a:pt x="14" y="17"/>
                    </a:lnTo>
                    <a:lnTo>
                      <a:pt x="17" y="19"/>
                    </a:lnTo>
                    <a:lnTo>
                      <a:pt x="20" y="22"/>
                    </a:lnTo>
                    <a:lnTo>
                      <a:pt x="23" y="23"/>
                    </a:lnTo>
                    <a:lnTo>
                      <a:pt x="25" y="24"/>
                    </a:lnTo>
                    <a:lnTo>
                      <a:pt x="28" y="26"/>
                    </a:lnTo>
                    <a:lnTo>
                      <a:pt x="30" y="27"/>
                    </a:lnTo>
                    <a:lnTo>
                      <a:pt x="33" y="28"/>
                    </a:lnTo>
                    <a:lnTo>
                      <a:pt x="36" y="28"/>
                    </a:lnTo>
                    <a:lnTo>
                      <a:pt x="39" y="29"/>
                    </a:lnTo>
                    <a:lnTo>
                      <a:pt x="41" y="29"/>
                    </a:lnTo>
                    <a:lnTo>
                      <a:pt x="44" y="29"/>
                    </a:lnTo>
                    <a:lnTo>
                      <a:pt x="46" y="30"/>
                    </a:lnTo>
                    <a:lnTo>
                      <a:pt x="43" y="27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138" name="Freeform 100" descr="50%"/>
              <p:cNvSpPr>
                <a:spLocks/>
              </p:cNvSpPr>
              <p:nvPr/>
            </p:nvSpPr>
            <p:spPr bwMode="auto">
              <a:xfrm>
                <a:off x="4794" y="2364"/>
                <a:ext cx="21" cy="7"/>
              </a:xfrm>
              <a:custGeom>
                <a:avLst/>
                <a:gdLst>
                  <a:gd name="T0" fmla="*/ 0 w 21"/>
                  <a:gd name="T1" fmla="*/ 6 h 7"/>
                  <a:gd name="T2" fmla="*/ 0 w 21"/>
                  <a:gd name="T3" fmla="*/ 6 h 7"/>
                  <a:gd name="T4" fmla="*/ 1 w 21"/>
                  <a:gd name="T5" fmla="*/ 0 h 7"/>
                  <a:gd name="T6" fmla="*/ 20 w 21"/>
                  <a:gd name="T7" fmla="*/ 0 h 7"/>
                  <a:gd name="T8" fmla="*/ 20 w 21"/>
                  <a:gd name="T9" fmla="*/ 6 h 7"/>
                  <a:gd name="T10" fmla="*/ 0 w 21"/>
                  <a:gd name="T11" fmla="*/ 6 h 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1" h="7">
                    <a:moveTo>
                      <a:pt x="0" y="6"/>
                    </a:moveTo>
                    <a:lnTo>
                      <a:pt x="0" y="6"/>
                    </a:lnTo>
                    <a:lnTo>
                      <a:pt x="1" y="0"/>
                    </a:lnTo>
                    <a:lnTo>
                      <a:pt x="20" y="0"/>
                    </a:lnTo>
                    <a:lnTo>
                      <a:pt x="20" y="6"/>
                    </a:lnTo>
                    <a:lnTo>
                      <a:pt x="0" y="6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2564" name="Rectangle 101"/>
          <p:cNvSpPr>
            <a:spLocks noChangeArrowheads="1"/>
          </p:cNvSpPr>
          <p:nvPr/>
        </p:nvSpPr>
        <p:spPr bwMode="auto">
          <a:xfrm>
            <a:off x="2343151" y="4425554"/>
            <a:ext cx="1613297" cy="117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/>
          <a:p>
            <a:pPr eaLnBrk="0" hangingPunct="0"/>
            <a:r>
              <a:rPr kumimoji="1" lang="en-US" altLang="zh-CN">
                <a:latin typeface="Comic Sans MS" pitchFamily="66" charset="0"/>
              </a:rPr>
              <a:t>Massively Parallel Processors</a:t>
            </a:r>
          </a:p>
          <a:p>
            <a:pPr eaLnBrk="0" hangingPunct="0"/>
            <a:r>
              <a:rPr kumimoji="1" lang="en-US" altLang="zh-CN">
                <a:latin typeface="Comic Sans MS" pitchFamily="66" charset="0"/>
              </a:rPr>
              <a:t>1980s</a:t>
            </a:r>
          </a:p>
        </p:txBody>
      </p:sp>
      <p:grpSp>
        <p:nvGrpSpPr>
          <p:cNvPr id="22565" name="Group 102"/>
          <p:cNvGrpSpPr>
            <a:grpSpLocks/>
          </p:cNvGrpSpPr>
          <p:nvPr/>
        </p:nvGrpSpPr>
        <p:grpSpPr bwMode="auto">
          <a:xfrm>
            <a:off x="1943100" y="3796904"/>
            <a:ext cx="2609850" cy="591740"/>
            <a:chOff x="1093" y="2864"/>
            <a:chExt cx="2121" cy="497"/>
          </a:xfrm>
        </p:grpSpPr>
        <p:grpSp>
          <p:nvGrpSpPr>
            <p:cNvPr id="22645" name="Group 103"/>
            <p:cNvGrpSpPr>
              <a:grpSpLocks/>
            </p:cNvGrpSpPr>
            <p:nvPr/>
          </p:nvGrpSpPr>
          <p:grpSpPr bwMode="auto">
            <a:xfrm>
              <a:off x="1093" y="2864"/>
              <a:ext cx="321" cy="497"/>
              <a:chOff x="1093" y="2864"/>
              <a:chExt cx="321" cy="497"/>
            </a:xfrm>
          </p:grpSpPr>
          <p:grpSp>
            <p:nvGrpSpPr>
              <p:cNvPr id="23051" name="Group 104"/>
              <p:cNvGrpSpPr>
                <a:grpSpLocks/>
              </p:cNvGrpSpPr>
              <p:nvPr/>
            </p:nvGrpSpPr>
            <p:grpSpPr bwMode="auto">
              <a:xfrm>
                <a:off x="1093" y="2864"/>
                <a:ext cx="321" cy="113"/>
                <a:chOff x="1093" y="2864"/>
                <a:chExt cx="321" cy="113"/>
              </a:xfrm>
            </p:grpSpPr>
            <p:sp>
              <p:nvSpPr>
                <p:cNvPr id="23116" name="Freeform 105" descr="50%"/>
                <p:cNvSpPr>
                  <a:spLocks/>
                </p:cNvSpPr>
                <p:nvPr/>
              </p:nvSpPr>
              <p:spPr bwMode="auto">
                <a:xfrm>
                  <a:off x="1174" y="2937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17" name="Freeform 106" descr="50%"/>
                <p:cNvSpPr>
                  <a:spLocks/>
                </p:cNvSpPr>
                <p:nvPr/>
              </p:nvSpPr>
              <p:spPr bwMode="auto">
                <a:xfrm>
                  <a:off x="1093" y="2864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3118" name="Group 107"/>
                <p:cNvGrpSpPr>
                  <a:grpSpLocks/>
                </p:cNvGrpSpPr>
                <p:nvPr/>
              </p:nvGrpSpPr>
              <p:grpSpPr bwMode="auto">
                <a:xfrm>
                  <a:off x="1120" y="2926"/>
                  <a:ext cx="2" cy="3"/>
                  <a:chOff x="1120" y="2926"/>
                  <a:chExt cx="2" cy="3"/>
                </a:xfrm>
              </p:grpSpPr>
              <p:sp>
                <p:nvSpPr>
                  <p:cNvPr id="23129" name="Oval 108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1120" y="2926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30" name="Arc 109" descr="50%"/>
                  <p:cNvSpPr>
                    <a:spLocks/>
                  </p:cNvSpPr>
                  <p:nvPr/>
                </p:nvSpPr>
                <p:spPr bwMode="auto">
                  <a:xfrm>
                    <a:off x="1121" y="2927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3119" name="Group 110"/>
                <p:cNvGrpSpPr>
                  <a:grpSpLocks/>
                </p:cNvGrpSpPr>
                <p:nvPr/>
              </p:nvGrpSpPr>
              <p:grpSpPr bwMode="auto">
                <a:xfrm>
                  <a:off x="1137" y="2938"/>
                  <a:ext cx="23" cy="4"/>
                  <a:chOff x="1137" y="2938"/>
                  <a:chExt cx="23" cy="4"/>
                </a:xfrm>
              </p:grpSpPr>
              <p:sp>
                <p:nvSpPr>
                  <p:cNvPr id="23124" name="Arc 111" descr="50%"/>
                  <p:cNvSpPr>
                    <a:spLocks/>
                  </p:cNvSpPr>
                  <p:nvPr/>
                </p:nvSpPr>
                <p:spPr bwMode="auto">
                  <a:xfrm>
                    <a:off x="1141" y="2938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25" name="Arc 112" descr="50%"/>
                  <p:cNvSpPr>
                    <a:spLocks/>
                  </p:cNvSpPr>
                  <p:nvPr/>
                </p:nvSpPr>
                <p:spPr bwMode="auto">
                  <a:xfrm>
                    <a:off x="1137" y="2938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26" name="Arc 113" descr="50%"/>
                  <p:cNvSpPr>
                    <a:spLocks/>
                  </p:cNvSpPr>
                  <p:nvPr/>
                </p:nvSpPr>
                <p:spPr bwMode="auto">
                  <a:xfrm>
                    <a:off x="1144" y="2938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27" name="Arc 114" descr="50%"/>
                  <p:cNvSpPr>
                    <a:spLocks/>
                  </p:cNvSpPr>
                  <p:nvPr/>
                </p:nvSpPr>
                <p:spPr bwMode="auto">
                  <a:xfrm>
                    <a:off x="1148" y="2938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28" name="Arc 115" descr="50%"/>
                  <p:cNvSpPr>
                    <a:spLocks/>
                  </p:cNvSpPr>
                  <p:nvPr/>
                </p:nvSpPr>
                <p:spPr bwMode="auto">
                  <a:xfrm>
                    <a:off x="1154" y="2938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3120" name="Freeform 116" descr="50%"/>
                <p:cNvSpPr>
                  <a:spLocks/>
                </p:cNvSpPr>
                <p:nvPr/>
              </p:nvSpPr>
              <p:spPr bwMode="auto">
                <a:xfrm>
                  <a:off x="1093" y="2866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3121" name="Group 117"/>
                <p:cNvGrpSpPr>
                  <a:grpSpLocks/>
                </p:cNvGrpSpPr>
                <p:nvPr/>
              </p:nvGrpSpPr>
              <p:grpSpPr bwMode="auto">
                <a:xfrm>
                  <a:off x="1157" y="2940"/>
                  <a:ext cx="47" cy="37"/>
                  <a:chOff x="1157" y="2940"/>
                  <a:chExt cx="47" cy="37"/>
                </a:xfrm>
              </p:grpSpPr>
              <p:sp>
                <p:nvSpPr>
                  <p:cNvPr id="23122" name="Freeform 118" descr="50%"/>
                  <p:cNvSpPr>
                    <a:spLocks/>
                  </p:cNvSpPr>
                  <p:nvPr/>
                </p:nvSpPr>
                <p:spPr bwMode="auto">
                  <a:xfrm>
                    <a:off x="1157" y="2946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23" name="Freeform 119" descr="50%"/>
                  <p:cNvSpPr>
                    <a:spLocks/>
                  </p:cNvSpPr>
                  <p:nvPr/>
                </p:nvSpPr>
                <p:spPr bwMode="auto">
                  <a:xfrm>
                    <a:off x="1158" y="2940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3052" name="Group 120"/>
              <p:cNvGrpSpPr>
                <a:grpSpLocks/>
              </p:cNvGrpSpPr>
              <p:nvPr/>
            </p:nvGrpSpPr>
            <p:grpSpPr bwMode="auto">
              <a:xfrm>
                <a:off x="1093" y="2960"/>
                <a:ext cx="321" cy="113"/>
                <a:chOff x="1093" y="2960"/>
                <a:chExt cx="321" cy="113"/>
              </a:xfrm>
            </p:grpSpPr>
            <p:sp>
              <p:nvSpPr>
                <p:cNvPr id="23101" name="Freeform 121" descr="50%"/>
                <p:cNvSpPr>
                  <a:spLocks/>
                </p:cNvSpPr>
                <p:nvPr/>
              </p:nvSpPr>
              <p:spPr bwMode="auto">
                <a:xfrm>
                  <a:off x="1174" y="3033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02" name="Freeform 122" descr="50%"/>
                <p:cNvSpPr>
                  <a:spLocks/>
                </p:cNvSpPr>
                <p:nvPr/>
              </p:nvSpPr>
              <p:spPr bwMode="auto">
                <a:xfrm>
                  <a:off x="1093" y="2960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3103" name="Group 123"/>
                <p:cNvGrpSpPr>
                  <a:grpSpLocks/>
                </p:cNvGrpSpPr>
                <p:nvPr/>
              </p:nvGrpSpPr>
              <p:grpSpPr bwMode="auto">
                <a:xfrm>
                  <a:off x="1120" y="3022"/>
                  <a:ext cx="2" cy="3"/>
                  <a:chOff x="1120" y="3022"/>
                  <a:chExt cx="2" cy="3"/>
                </a:xfrm>
              </p:grpSpPr>
              <p:sp>
                <p:nvSpPr>
                  <p:cNvPr id="23114" name="Oval 124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1120" y="3022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15" name="Arc 125" descr="50%"/>
                  <p:cNvSpPr>
                    <a:spLocks/>
                  </p:cNvSpPr>
                  <p:nvPr/>
                </p:nvSpPr>
                <p:spPr bwMode="auto">
                  <a:xfrm>
                    <a:off x="1121" y="3023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3104" name="Group 126"/>
                <p:cNvGrpSpPr>
                  <a:grpSpLocks/>
                </p:cNvGrpSpPr>
                <p:nvPr/>
              </p:nvGrpSpPr>
              <p:grpSpPr bwMode="auto">
                <a:xfrm>
                  <a:off x="1137" y="3034"/>
                  <a:ext cx="23" cy="4"/>
                  <a:chOff x="1137" y="3034"/>
                  <a:chExt cx="23" cy="4"/>
                </a:xfrm>
              </p:grpSpPr>
              <p:sp>
                <p:nvSpPr>
                  <p:cNvPr id="23109" name="Arc 127" descr="50%"/>
                  <p:cNvSpPr>
                    <a:spLocks/>
                  </p:cNvSpPr>
                  <p:nvPr/>
                </p:nvSpPr>
                <p:spPr bwMode="auto">
                  <a:xfrm>
                    <a:off x="1141" y="3034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10" name="Arc 128" descr="50%"/>
                  <p:cNvSpPr>
                    <a:spLocks/>
                  </p:cNvSpPr>
                  <p:nvPr/>
                </p:nvSpPr>
                <p:spPr bwMode="auto">
                  <a:xfrm>
                    <a:off x="1137" y="3034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11" name="Arc 129" descr="50%"/>
                  <p:cNvSpPr>
                    <a:spLocks/>
                  </p:cNvSpPr>
                  <p:nvPr/>
                </p:nvSpPr>
                <p:spPr bwMode="auto">
                  <a:xfrm>
                    <a:off x="1144" y="3034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12" name="Arc 130" descr="50%"/>
                  <p:cNvSpPr>
                    <a:spLocks/>
                  </p:cNvSpPr>
                  <p:nvPr/>
                </p:nvSpPr>
                <p:spPr bwMode="auto">
                  <a:xfrm>
                    <a:off x="1148" y="3034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13" name="Arc 131" descr="50%"/>
                  <p:cNvSpPr>
                    <a:spLocks/>
                  </p:cNvSpPr>
                  <p:nvPr/>
                </p:nvSpPr>
                <p:spPr bwMode="auto">
                  <a:xfrm>
                    <a:off x="1154" y="3034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3105" name="Freeform 132" descr="50%"/>
                <p:cNvSpPr>
                  <a:spLocks/>
                </p:cNvSpPr>
                <p:nvPr/>
              </p:nvSpPr>
              <p:spPr bwMode="auto">
                <a:xfrm>
                  <a:off x="1093" y="2962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3106" name="Group 133"/>
                <p:cNvGrpSpPr>
                  <a:grpSpLocks/>
                </p:cNvGrpSpPr>
                <p:nvPr/>
              </p:nvGrpSpPr>
              <p:grpSpPr bwMode="auto">
                <a:xfrm>
                  <a:off x="1157" y="3036"/>
                  <a:ext cx="47" cy="37"/>
                  <a:chOff x="1157" y="3036"/>
                  <a:chExt cx="47" cy="37"/>
                </a:xfrm>
              </p:grpSpPr>
              <p:sp>
                <p:nvSpPr>
                  <p:cNvPr id="23107" name="Freeform 134" descr="50%"/>
                  <p:cNvSpPr>
                    <a:spLocks/>
                  </p:cNvSpPr>
                  <p:nvPr/>
                </p:nvSpPr>
                <p:spPr bwMode="auto">
                  <a:xfrm>
                    <a:off x="1157" y="3042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08" name="Freeform 135" descr="50%"/>
                  <p:cNvSpPr>
                    <a:spLocks/>
                  </p:cNvSpPr>
                  <p:nvPr/>
                </p:nvSpPr>
                <p:spPr bwMode="auto">
                  <a:xfrm>
                    <a:off x="1158" y="3036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3053" name="Group 136"/>
              <p:cNvGrpSpPr>
                <a:grpSpLocks/>
              </p:cNvGrpSpPr>
              <p:nvPr/>
            </p:nvGrpSpPr>
            <p:grpSpPr bwMode="auto">
              <a:xfrm>
                <a:off x="1093" y="3056"/>
                <a:ext cx="321" cy="113"/>
                <a:chOff x="1093" y="3056"/>
                <a:chExt cx="321" cy="113"/>
              </a:xfrm>
            </p:grpSpPr>
            <p:sp>
              <p:nvSpPr>
                <p:cNvPr id="23086" name="Freeform 137" descr="50%"/>
                <p:cNvSpPr>
                  <a:spLocks/>
                </p:cNvSpPr>
                <p:nvPr/>
              </p:nvSpPr>
              <p:spPr bwMode="auto">
                <a:xfrm>
                  <a:off x="1174" y="3129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87" name="Freeform 138" descr="50%"/>
                <p:cNvSpPr>
                  <a:spLocks/>
                </p:cNvSpPr>
                <p:nvPr/>
              </p:nvSpPr>
              <p:spPr bwMode="auto">
                <a:xfrm>
                  <a:off x="1093" y="3056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3088" name="Group 139"/>
                <p:cNvGrpSpPr>
                  <a:grpSpLocks/>
                </p:cNvGrpSpPr>
                <p:nvPr/>
              </p:nvGrpSpPr>
              <p:grpSpPr bwMode="auto">
                <a:xfrm>
                  <a:off x="1120" y="3118"/>
                  <a:ext cx="2" cy="3"/>
                  <a:chOff x="1120" y="3118"/>
                  <a:chExt cx="2" cy="3"/>
                </a:xfrm>
              </p:grpSpPr>
              <p:sp>
                <p:nvSpPr>
                  <p:cNvPr id="23099" name="Oval 140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1120" y="3118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00" name="Arc 141" descr="50%"/>
                  <p:cNvSpPr>
                    <a:spLocks/>
                  </p:cNvSpPr>
                  <p:nvPr/>
                </p:nvSpPr>
                <p:spPr bwMode="auto">
                  <a:xfrm>
                    <a:off x="1121" y="3119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3089" name="Group 142"/>
                <p:cNvGrpSpPr>
                  <a:grpSpLocks/>
                </p:cNvGrpSpPr>
                <p:nvPr/>
              </p:nvGrpSpPr>
              <p:grpSpPr bwMode="auto">
                <a:xfrm>
                  <a:off x="1137" y="3130"/>
                  <a:ext cx="23" cy="4"/>
                  <a:chOff x="1137" y="3130"/>
                  <a:chExt cx="23" cy="4"/>
                </a:xfrm>
              </p:grpSpPr>
              <p:sp>
                <p:nvSpPr>
                  <p:cNvPr id="23094" name="Arc 143" descr="50%"/>
                  <p:cNvSpPr>
                    <a:spLocks/>
                  </p:cNvSpPr>
                  <p:nvPr/>
                </p:nvSpPr>
                <p:spPr bwMode="auto">
                  <a:xfrm>
                    <a:off x="1141" y="3130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95" name="Arc 144" descr="50%"/>
                  <p:cNvSpPr>
                    <a:spLocks/>
                  </p:cNvSpPr>
                  <p:nvPr/>
                </p:nvSpPr>
                <p:spPr bwMode="auto">
                  <a:xfrm>
                    <a:off x="1137" y="3130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96" name="Arc 145" descr="50%"/>
                  <p:cNvSpPr>
                    <a:spLocks/>
                  </p:cNvSpPr>
                  <p:nvPr/>
                </p:nvSpPr>
                <p:spPr bwMode="auto">
                  <a:xfrm>
                    <a:off x="1144" y="3130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97" name="Arc 146" descr="50%"/>
                  <p:cNvSpPr>
                    <a:spLocks/>
                  </p:cNvSpPr>
                  <p:nvPr/>
                </p:nvSpPr>
                <p:spPr bwMode="auto">
                  <a:xfrm>
                    <a:off x="1148" y="3130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98" name="Arc 147" descr="50%"/>
                  <p:cNvSpPr>
                    <a:spLocks/>
                  </p:cNvSpPr>
                  <p:nvPr/>
                </p:nvSpPr>
                <p:spPr bwMode="auto">
                  <a:xfrm>
                    <a:off x="1154" y="3130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3090" name="Freeform 148" descr="50%"/>
                <p:cNvSpPr>
                  <a:spLocks/>
                </p:cNvSpPr>
                <p:nvPr/>
              </p:nvSpPr>
              <p:spPr bwMode="auto">
                <a:xfrm>
                  <a:off x="1093" y="3058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3091" name="Group 149"/>
                <p:cNvGrpSpPr>
                  <a:grpSpLocks/>
                </p:cNvGrpSpPr>
                <p:nvPr/>
              </p:nvGrpSpPr>
              <p:grpSpPr bwMode="auto">
                <a:xfrm>
                  <a:off x="1157" y="3132"/>
                  <a:ext cx="47" cy="37"/>
                  <a:chOff x="1157" y="3132"/>
                  <a:chExt cx="47" cy="37"/>
                </a:xfrm>
              </p:grpSpPr>
              <p:sp>
                <p:nvSpPr>
                  <p:cNvPr id="23092" name="Freeform 150" descr="50%"/>
                  <p:cNvSpPr>
                    <a:spLocks/>
                  </p:cNvSpPr>
                  <p:nvPr/>
                </p:nvSpPr>
                <p:spPr bwMode="auto">
                  <a:xfrm>
                    <a:off x="1157" y="3138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93" name="Freeform 151" descr="50%"/>
                  <p:cNvSpPr>
                    <a:spLocks/>
                  </p:cNvSpPr>
                  <p:nvPr/>
                </p:nvSpPr>
                <p:spPr bwMode="auto">
                  <a:xfrm>
                    <a:off x="1158" y="3132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3054" name="Group 152"/>
              <p:cNvGrpSpPr>
                <a:grpSpLocks/>
              </p:cNvGrpSpPr>
              <p:nvPr/>
            </p:nvGrpSpPr>
            <p:grpSpPr bwMode="auto">
              <a:xfrm>
                <a:off x="1093" y="3152"/>
                <a:ext cx="321" cy="113"/>
                <a:chOff x="1093" y="3152"/>
                <a:chExt cx="321" cy="113"/>
              </a:xfrm>
            </p:grpSpPr>
            <p:sp>
              <p:nvSpPr>
                <p:cNvPr id="23071" name="Freeform 153" descr="50%"/>
                <p:cNvSpPr>
                  <a:spLocks/>
                </p:cNvSpPr>
                <p:nvPr/>
              </p:nvSpPr>
              <p:spPr bwMode="auto">
                <a:xfrm>
                  <a:off x="1174" y="3225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72" name="Freeform 154" descr="50%"/>
                <p:cNvSpPr>
                  <a:spLocks/>
                </p:cNvSpPr>
                <p:nvPr/>
              </p:nvSpPr>
              <p:spPr bwMode="auto">
                <a:xfrm>
                  <a:off x="1093" y="3152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3073" name="Group 155"/>
                <p:cNvGrpSpPr>
                  <a:grpSpLocks/>
                </p:cNvGrpSpPr>
                <p:nvPr/>
              </p:nvGrpSpPr>
              <p:grpSpPr bwMode="auto">
                <a:xfrm>
                  <a:off x="1120" y="3214"/>
                  <a:ext cx="2" cy="3"/>
                  <a:chOff x="1120" y="3214"/>
                  <a:chExt cx="2" cy="3"/>
                </a:xfrm>
              </p:grpSpPr>
              <p:sp>
                <p:nvSpPr>
                  <p:cNvPr id="23084" name="Oval 156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1120" y="3214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85" name="Arc 157" descr="50%"/>
                  <p:cNvSpPr>
                    <a:spLocks/>
                  </p:cNvSpPr>
                  <p:nvPr/>
                </p:nvSpPr>
                <p:spPr bwMode="auto">
                  <a:xfrm>
                    <a:off x="1121" y="3215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3074" name="Group 158"/>
                <p:cNvGrpSpPr>
                  <a:grpSpLocks/>
                </p:cNvGrpSpPr>
                <p:nvPr/>
              </p:nvGrpSpPr>
              <p:grpSpPr bwMode="auto">
                <a:xfrm>
                  <a:off x="1137" y="3226"/>
                  <a:ext cx="23" cy="4"/>
                  <a:chOff x="1137" y="3226"/>
                  <a:chExt cx="23" cy="4"/>
                </a:xfrm>
              </p:grpSpPr>
              <p:sp>
                <p:nvSpPr>
                  <p:cNvPr id="23079" name="Arc 159" descr="50%"/>
                  <p:cNvSpPr>
                    <a:spLocks/>
                  </p:cNvSpPr>
                  <p:nvPr/>
                </p:nvSpPr>
                <p:spPr bwMode="auto">
                  <a:xfrm>
                    <a:off x="1141" y="3226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80" name="Arc 160" descr="50%"/>
                  <p:cNvSpPr>
                    <a:spLocks/>
                  </p:cNvSpPr>
                  <p:nvPr/>
                </p:nvSpPr>
                <p:spPr bwMode="auto">
                  <a:xfrm>
                    <a:off x="1137" y="3226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81" name="Arc 161" descr="50%"/>
                  <p:cNvSpPr>
                    <a:spLocks/>
                  </p:cNvSpPr>
                  <p:nvPr/>
                </p:nvSpPr>
                <p:spPr bwMode="auto">
                  <a:xfrm>
                    <a:off x="1144" y="3226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82" name="Arc 162" descr="50%"/>
                  <p:cNvSpPr>
                    <a:spLocks/>
                  </p:cNvSpPr>
                  <p:nvPr/>
                </p:nvSpPr>
                <p:spPr bwMode="auto">
                  <a:xfrm>
                    <a:off x="1148" y="3226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83" name="Arc 163" descr="50%"/>
                  <p:cNvSpPr>
                    <a:spLocks/>
                  </p:cNvSpPr>
                  <p:nvPr/>
                </p:nvSpPr>
                <p:spPr bwMode="auto">
                  <a:xfrm>
                    <a:off x="1154" y="3226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3075" name="Freeform 164" descr="50%"/>
                <p:cNvSpPr>
                  <a:spLocks/>
                </p:cNvSpPr>
                <p:nvPr/>
              </p:nvSpPr>
              <p:spPr bwMode="auto">
                <a:xfrm>
                  <a:off x="1093" y="3154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3076" name="Group 165"/>
                <p:cNvGrpSpPr>
                  <a:grpSpLocks/>
                </p:cNvGrpSpPr>
                <p:nvPr/>
              </p:nvGrpSpPr>
              <p:grpSpPr bwMode="auto">
                <a:xfrm>
                  <a:off x="1157" y="3228"/>
                  <a:ext cx="47" cy="37"/>
                  <a:chOff x="1157" y="3228"/>
                  <a:chExt cx="47" cy="37"/>
                </a:xfrm>
              </p:grpSpPr>
              <p:sp>
                <p:nvSpPr>
                  <p:cNvPr id="23077" name="Freeform 166" descr="50%"/>
                  <p:cNvSpPr>
                    <a:spLocks/>
                  </p:cNvSpPr>
                  <p:nvPr/>
                </p:nvSpPr>
                <p:spPr bwMode="auto">
                  <a:xfrm>
                    <a:off x="1157" y="3234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78" name="Freeform 167" descr="50%"/>
                  <p:cNvSpPr>
                    <a:spLocks/>
                  </p:cNvSpPr>
                  <p:nvPr/>
                </p:nvSpPr>
                <p:spPr bwMode="auto">
                  <a:xfrm>
                    <a:off x="1158" y="3228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3055" name="Group 168"/>
              <p:cNvGrpSpPr>
                <a:grpSpLocks/>
              </p:cNvGrpSpPr>
              <p:nvPr/>
            </p:nvGrpSpPr>
            <p:grpSpPr bwMode="auto">
              <a:xfrm>
                <a:off x="1093" y="3248"/>
                <a:ext cx="321" cy="113"/>
                <a:chOff x="1093" y="3248"/>
                <a:chExt cx="321" cy="113"/>
              </a:xfrm>
            </p:grpSpPr>
            <p:sp>
              <p:nvSpPr>
                <p:cNvPr id="23056" name="Freeform 169" descr="50%"/>
                <p:cNvSpPr>
                  <a:spLocks/>
                </p:cNvSpPr>
                <p:nvPr/>
              </p:nvSpPr>
              <p:spPr bwMode="auto">
                <a:xfrm>
                  <a:off x="1174" y="3321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57" name="Freeform 170" descr="50%"/>
                <p:cNvSpPr>
                  <a:spLocks/>
                </p:cNvSpPr>
                <p:nvPr/>
              </p:nvSpPr>
              <p:spPr bwMode="auto">
                <a:xfrm>
                  <a:off x="1093" y="3248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3058" name="Group 171"/>
                <p:cNvGrpSpPr>
                  <a:grpSpLocks/>
                </p:cNvGrpSpPr>
                <p:nvPr/>
              </p:nvGrpSpPr>
              <p:grpSpPr bwMode="auto">
                <a:xfrm>
                  <a:off x="1120" y="3310"/>
                  <a:ext cx="2" cy="3"/>
                  <a:chOff x="1120" y="3310"/>
                  <a:chExt cx="2" cy="3"/>
                </a:xfrm>
              </p:grpSpPr>
              <p:sp>
                <p:nvSpPr>
                  <p:cNvPr id="23069" name="Oval 172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1120" y="3310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70" name="Arc 173" descr="50%"/>
                  <p:cNvSpPr>
                    <a:spLocks/>
                  </p:cNvSpPr>
                  <p:nvPr/>
                </p:nvSpPr>
                <p:spPr bwMode="auto">
                  <a:xfrm>
                    <a:off x="1121" y="3311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3059" name="Group 174"/>
                <p:cNvGrpSpPr>
                  <a:grpSpLocks/>
                </p:cNvGrpSpPr>
                <p:nvPr/>
              </p:nvGrpSpPr>
              <p:grpSpPr bwMode="auto">
                <a:xfrm>
                  <a:off x="1137" y="3322"/>
                  <a:ext cx="23" cy="4"/>
                  <a:chOff x="1137" y="3322"/>
                  <a:chExt cx="23" cy="4"/>
                </a:xfrm>
              </p:grpSpPr>
              <p:sp>
                <p:nvSpPr>
                  <p:cNvPr id="23064" name="Arc 175" descr="50%"/>
                  <p:cNvSpPr>
                    <a:spLocks/>
                  </p:cNvSpPr>
                  <p:nvPr/>
                </p:nvSpPr>
                <p:spPr bwMode="auto">
                  <a:xfrm>
                    <a:off x="1141" y="3322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65" name="Arc 176" descr="50%"/>
                  <p:cNvSpPr>
                    <a:spLocks/>
                  </p:cNvSpPr>
                  <p:nvPr/>
                </p:nvSpPr>
                <p:spPr bwMode="auto">
                  <a:xfrm>
                    <a:off x="1137" y="3322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66" name="Arc 177" descr="50%"/>
                  <p:cNvSpPr>
                    <a:spLocks/>
                  </p:cNvSpPr>
                  <p:nvPr/>
                </p:nvSpPr>
                <p:spPr bwMode="auto">
                  <a:xfrm>
                    <a:off x="1144" y="3322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67" name="Arc 178" descr="50%"/>
                  <p:cNvSpPr>
                    <a:spLocks/>
                  </p:cNvSpPr>
                  <p:nvPr/>
                </p:nvSpPr>
                <p:spPr bwMode="auto">
                  <a:xfrm>
                    <a:off x="1148" y="3322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68" name="Arc 179" descr="50%"/>
                  <p:cNvSpPr>
                    <a:spLocks/>
                  </p:cNvSpPr>
                  <p:nvPr/>
                </p:nvSpPr>
                <p:spPr bwMode="auto">
                  <a:xfrm>
                    <a:off x="1154" y="3322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3060" name="Freeform 180" descr="50%"/>
                <p:cNvSpPr>
                  <a:spLocks/>
                </p:cNvSpPr>
                <p:nvPr/>
              </p:nvSpPr>
              <p:spPr bwMode="auto">
                <a:xfrm>
                  <a:off x="1093" y="3250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3061" name="Group 181"/>
                <p:cNvGrpSpPr>
                  <a:grpSpLocks/>
                </p:cNvGrpSpPr>
                <p:nvPr/>
              </p:nvGrpSpPr>
              <p:grpSpPr bwMode="auto">
                <a:xfrm>
                  <a:off x="1157" y="3324"/>
                  <a:ext cx="47" cy="37"/>
                  <a:chOff x="1157" y="3324"/>
                  <a:chExt cx="47" cy="37"/>
                </a:xfrm>
              </p:grpSpPr>
              <p:sp>
                <p:nvSpPr>
                  <p:cNvPr id="23062" name="Freeform 182" descr="50%"/>
                  <p:cNvSpPr>
                    <a:spLocks/>
                  </p:cNvSpPr>
                  <p:nvPr/>
                </p:nvSpPr>
                <p:spPr bwMode="auto">
                  <a:xfrm>
                    <a:off x="1157" y="3330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63" name="Freeform 183" descr="50%"/>
                  <p:cNvSpPr>
                    <a:spLocks/>
                  </p:cNvSpPr>
                  <p:nvPr/>
                </p:nvSpPr>
                <p:spPr bwMode="auto">
                  <a:xfrm>
                    <a:off x="1158" y="3324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22646" name="Group 184"/>
            <p:cNvGrpSpPr>
              <a:grpSpLocks/>
            </p:cNvGrpSpPr>
            <p:nvPr/>
          </p:nvGrpSpPr>
          <p:grpSpPr bwMode="auto">
            <a:xfrm>
              <a:off x="1441" y="2864"/>
              <a:ext cx="321" cy="497"/>
              <a:chOff x="1441" y="2864"/>
              <a:chExt cx="321" cy="497"/>
            </a:xfrm>
          </p:grpSpPr>
          <p:grpSp>
            <p:nvGrpSpPr>
              <p:cNvPr id="22971" name="Group 185"/>
              <p:cNvGrpSpPr>
                <a:grpSpLocks/>
              </p:cNvGrpSpPr>
              <p:nvPr/>
            </p:nvGrpSpPr>
            <p:grpSpPr bwMode="auto">
              <a:xfrm>
                <a:off x="1441" y="2864"/>
                <a:ext cx="321" cy="113"/>
                <a:chOff x="1441" y="2864"/>
                <a:chExt cx="321" cy="113"/>
              </a:xfrm>
            </p:grpSpPr>
            <p:sp>
              <p:nvSpPr>
                <p:cNvPr id="23036" name="Freeform 186" descr="50%"/>
                <p:cNvSpPr>
                  <a:spLocks/>
                </p:cNvSpPr>
                <p:nvPr/>
              </p:nvSpPr>
              <p:spPr bwMode="auto">
                <a:xfrm>
                  <a:off x="1522" y="2937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37" name="Freeform 187" descr="50%"/>
                <p:cNvSpPr>
                  <a:spLocks/>
                </p:cNvSpPr>
                <p:nvPr/>
              </p:nvSpPr>
              <p:spPr bwMode="auto">
                <a:xfrm>
                  <a:off x="1441" y="2864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3038" name="Group 188"/>
                <p:cNvGrpSpPr>
                  <a:grpSpLocks/>
                </p:cNvGrpSpPr>
                <p:nvPr/>
              </p:nvGrpSpPr>
              <p:grpSpPr bwMode="auto">
                <a:xfrm>
                  <a:off x="1468" y="2926"/>
                  <a:ext cx="2" cy="3"/>
                  <a:chOff x="1468" y="2926"/>
                  <a:chExt cx="2" cy="3"/>
                </a:xfrm>
              </p:grpSpPr>
              <p:sp>
                <p:nvSpPr>
                  <p:cNvPr id="23049" name="Oval 189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1468" y="2926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50" name="Arc 190" descr="50%"/>
                  <p:cNvSpPr>
                    <a:spLocks/>
                  </p:cNvSpPr>
                  <p:nvPr/>
                </p:nvSpPr>
                <p:spPr bwMode="auto">
                  <a:xfrm>
                    <a:off x="1469" y="2927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3039" name="Group 191"/>
                <p:cNvGrpSpPr>
                  <a:grpSpLocks/>
                </p:cNvGrpSpPr>
                <p:nvPr/>
              </p:nvGrpSpPr>
              <p:grpSpPr bwMode="auto">
                <a:xfrm>
                  <a:off x="1485" y="2938"/>
                  <a:ext cx="23" cy="4"/>
                  <a:chOff x="1485" y="2938"/>
                  <a:chExt cx="23" cy="4"/>
                </a:xfrm>
              </p:grpSpPr>
              <p:sp>
                <p:nvSpPr>
                  <p:cNvPr id="23044" name="Arc 192" descr="50%"/>
                  <p:cNvSpPr>
                    <a:spLocks/>
                  </p:cNvSpPr>
                  <p:nvPr/>
                </p:nvSpPr>
                <p:spPr bwMode="auto">
                  <a:xfrm>
                    <a:off x="1489" y="2938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45" name="Arc 193" descr="50%"/>
                  <p:cNvSpPr>
                    <a:spLocks/>
                  </p:cNvSpPr>
                  <p:nvPr/>
                </p:nvSpPr>
                <p:spPr bwMode="auto">
                  <a:xfrm>
                    <a:off x="1485" y="2938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46" name="Arc 194" descr="50%"/>
                  <p:cNvSpPr>
                    <a:spLocks/>
                  </p:cNvSpPr>
                  <p:nvPr/>
                </p:nvSpPr>
                <p:spPr bwMode="auto">
                  <a:xfrm>
                    <a:off x="1492" y="2938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47" name="Arc 195" descr="50%"/>
                  <p:cNvSpPr>
                    <a:spLocks/>
                  </p:cNvSpPr>
                  <p:nvPr/>
                </p:nvSpPr>
                <p:spPr bwMode="auto">
                  <a:xfrm>
                    <a:off x="1496" y="2938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48" name="Arc 196" descr="50%"/>
                  <p:cNvSpPr>
                    <a:spLocks/>
                  </p:cNvSpPr>
                  <p:nvPr/>
                </p:nvSpPr>
                <p:spPr bwMode="auto">
                  <a:xfrm>
                    <a:off x="1502" y="2938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3040" name="Freeform 197" descr="50%"/>
                <p:cNvSpPr>
                  <a:spLocks/>
                </p:cNvSpPr>
                <p:nvPr/>
              </p:nvSpPr>
              <p:spPr bwMode="auto">
                <a:xfrm>
                  <a:off x="1441" y="2866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3041" name="Group 198"/>
                <p:cNvGrpSpPr>
                  <a:grpSpLocks/>
                </p:cNvGrpSpPr>
                <p:nvPr/>
              </p:nvGrpSpPr>
              <p:grpSpPr bwMode="auto">
                <a:xfrm>
                  <a:off x="1505" y="2940"/>
                  <a:ext cx="47" cy="37"/>
                  <a:chOff x="1505" y="2940"/>
                  <a:chExt cx="47" cy="37"/>
                </a:xfrm>
              </p:grpSpPr>
              <p:sp>
                <p:nvSpPr>
                  <p:cNvPr id="23042" name="Freeform 199" descr="50%"/>
                  <p:cNvSpPr>
                    <a:spLocks/>
                  </p:cNvSpPr>
                  <p:nvPr/>
                </p:nvSpPr>
                <p:spPr bwMode="auto">
                  <a:xfrm>
                    <a:off x="1505" y="2946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43" name="Freeform 200" descr="50%"/>
                  <p:cNvSpPr>
                    <a:spLocks/>
                  </p:cNvSpPr>
                  <p:nvPr/>
                </p:nvSpPr>
                <p:spPr bwMode="auto">
                  <a:xfrm>
                    <a:off x="1506" y="2940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2972" name="Group 201"/>
              <p:cNvGrpSpPr>
                <a:grpSpLocks/>
              </p:cNvGrpSpPr>
              <p:nvPr/>
            </p:nvGrpSpPr>
            <p:grpSpPr bwMode="auto">
              <a:xfrm>
                <a:off x="1441" y="2960"/>
                <a:ext cx="321" cy="113"/>
                <a:chOff x="1441" y="2960"/>
                <a:chExt cx="321" cy="113"/>
              </a:xfrm>
            </p:grpSpPr>
            <p:sp>
              <p:nvSpPr>
                <p:cNvPr id="23021" name="Freeform 202" descr="50%"/>
                <p:cNvSpPr>
                  <a:spLocks/>
                </p:cNvSpPr>
                <p:nvPr/>
              </p:nvSpPr>
              <p:spPr bwMode="auto">
                <a:xfrm>
                  <a:off x="1522" y="3033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22" name="Freeform 203" descr="50%"/>
                <p:cNvSpPr>
                  <a:spLocks/>
                </p:cNvSpPr>
                <p:nvPr/>
              </p:nvSpPr>
              <p:spPr bwMode="auto">
                <a:xfrm>
                  <a:off x="1441" y="2960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3023" name="Group 204"/>
                <p:cNvGrpSpPr>
                  <a:grpSpLocks/>
                </p:cNvGrpSpPr>
                <p:nvPr/>
              </p:nvGrpSpPr>
              <p:grpSpPr bwMode="auto">
                <a:xfrm>
                  <a:off x="1468" y="3022"/>
                  <a:ext cx="2" cy="3"/>
                  <a:chOff x="1468" y="3022"/>
                  <a:chExt cx="2" cy="3"/>
                </a:xfrm>
              </p:grpSpPr>
              <p:sp>
                <p:nvSpPr>
                  <p:cNvPr id="23034" name="Oval 205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1468" y="3022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35" name="Arc 206" descr="50%"/>
                  <p:cNvSpPr>
                    <a:spLocks/>
                  </p:cNvSpPr>
                  <p:nvPr/>
                </p:nvSpPr>
                <p:spPr bwMode="auto">
                  <a:xfrm>
                    <a:off x="1469" y="3023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3024" name="Group 207"/>
                <p:cNvGrpSpPr>
                  <a:grpSpLocks/>
                </p:cNvGrpSpPr>
                <p:nvPr/>
              </p:nvGrpSpPr>
              <p:grpSpPr bwMode="auto">
                <a:xfrm>
                  <a:off x="1485" y="3034"/>
                  <a:ext cx="23" cy="4"/>
                  <a:chOff x="1485" y="3034"/>
                  <a:chExt cx="23" cy="4"/>
                </a:xfrm>
              </p:grpSpPr>
              <p:sp>
                <p:nvSpPr>
                  <p:cNvPr id="23029" name="Arc 208" descr="50%"/>
                  <p:cNvSpPr>
                    <a:spLocks/>
                  </p:cNvSpPr>
                  <p:nvPr/>
                </p:nvSpPr>
                <p:spPr bwMode="auto">
                  <a:xfrm>
                    <a:off x="1489" y="3034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30" name="Arc 209" descr="50%"/>
                  <p:cNvSpPr>
                    <a:spLocks/>
                  </p:cNvSpPr>
                  <p:nvPr/>
                </p:nvSpPr>
                <p:spPr bwMode="auto">
                  <a:xfrm>
                    <a:off x="1485" y="3034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31" name="Arc 210" descr="50%"/>
                  <p:cNvSpPr>
                    <a:spLocks/>
                  </p:cNvSpPr>
                  <p:nvPr/>
                </p:nvSpPr>
                <p:spPr bwMode="auto">
                  <a:xfrm>
                    <a:off x="1492" y="3034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32" name="Arc 211" descr="50%"/>
                  <p:cNvSpPr>
                    <a:spLocks/>
                  </p:cNvSpPr>
                  <p:nvPr/>
                </p:nvSpPr>
                <p:spPr bwMode="auto">
                  <a:xfrm>
                    <a:off x="1496" y="3034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33" name="Arc 212" descr="50%"/>
                  <p:cNvSpPr>
                    <a:spLocks/>
                  </p:cNvSpPr>
                  <p:nvPr/>
                </p:nvSpPr>
                <p:spPr bwMode="auto">
                  <a:xfrm>
                    <a:off x="1502" y="3034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3025" name="Freeform 213" descr="50%"/>
                <p:cNvSpPr>
                  <a:spLocks/>
                </p:cNvSpPr>
                <p:nvPr/>
              </p:nvSpPr>
              <p:spPr bwMode="auto">
                <a:xfrm>
                  <a:off x="1441" y="2962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3026" name="Group 214"/>
                <p:cNvGrpSpPr>
                  <a:grpSpLocks/>
                </p:cNvGrpSpPr>
                <p:nvPr/>
              </p:nvGrpSpPr>
              <p:grpSpPr bwMode="auto">
                <a:xfrm>
                  <a:off x="1505" y="3036"/>
                  <a:ext cx="47" cy="37"/>
                  <a:chOff x="1505" y="3036"/>
                  <a:chExt cx="47" cy="37"/>
                </a:xfrm>
              </p:grpSpPr>
              <p:sp>
                <p:nvSpPr>
                  <p:cNvPr id="23027" name="Freeform 215" descr="50%"/>
                  <p:cNvSpPr>
                    <a:spLocks/>
                  </p:cNvSpPr>
                  <p:nvPr/>
                </p:nvSpPr>
                <p:spPr bwMode="auto">
                  <a:xfrm>
                    <a:off x="1505" y="3042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28" name="Freeform 216" descr="50%"/>
                  <p:cNvSpPr>
                    <a:spLocks/>
                  </p:cNvSpPr>
                  <p:nvPr/>
                </p:nvSpPr>
                <p:spPr bwMode="auto">
                  <a:xfrm>
                    <a:off x="1506" y="3036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2973" name="Group 217"/>
              <p:cNvGrpSpPr>
                <a:grpSpLocks/>
              </p:cNvGrpSpPr>
              <p:nvPr/>
            </p:nvGrpSpPr>
            <p:grpSpPr bwMode="auto">
              <a:xfrm>
                <a:off x="1441" y="3056"/>
                <a:ext cx="321" cy="113"/>
                <a:chOff x="1441" y="3056"/>
                <a:chExt cx="321" cy="113"/>
              </a:xfrm>
            </p:grpSpPr>
            <p:sp>
              <p:nvSpPr>
                <p:cNvPr id="23006" name="Freeform 218" descr="50%"/>
                <p:cNvSpPr>
                  <a:spLocks/>
                </p:cNvSpPr>
                <p:nvPr/>
              </p:nvSpPr>
              <p:spPr bwMode="auto">
                <a:xfrm>
                  <a:off x="1522" y="3129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07" name="Freeform 219" descr="50%"/>
                <p:cNvSpPr>
                  <a:spLocks/>
                </p:cNvSpPr>
                <p:nvPr/>
              </p:nvSpPr>
              <p:spPr bwMode="auto">
                <a:xfrm>
                  <a:off x="1441" y="3056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3008" name="Group 220"/>
                <p:cNvGrpSpPr>
                  <a:grpSpLocks/>
                </p:cNvGrpSpPr>
                <p:nvPr/>
              </p:nvGrpSpPr>
              <p:grpSpPr bwMode="auto">
                <a:xfrm>
                  <a:off x="1468" y="3118"/>
                  <a:ext cx="2" cy="3"/>
                  <a:chOff x="1468" y="3118"/>
                  <a:chExt cx="2" cy="3"/>
                </a:xfrm>
              </p:grpSpPr>
              <p:sp>
                <p:nvSpPr>
                  <p:cNvPr id="23019" name="Oval 221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1468" y="3118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20" name="Arc 222" descr="50%"/>
                  <p:cNvSpPr>
                    <a:spLocks/>
                  </p:cNvSpPr>
                  <p:nvPr/>
                </p:nvSpPr>
                <p:spPr bwMode="auto">
                  <a:xfrm>
                    <a:off x="1469" y="3119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3009" name="Group 223"/>
                <p:cNvGrpSpPr>
                  <a:grpSpLocks/>
                </p:cNvGrpSpPr>
                <p:nvPr/>
              </p:nvGrpSpPr>
              <p:grpSpPr bwMode="auto">
                <a:xfrm>
                  <a:off x="1485" y="3130"/>
                  <a:ext cx="23" cy="4"/>
                  <a:chOff x="1485" y="3130"/>
                  <a:chExt cx="23" cy="4"/>
                </a:xfrm>
              </p:grpSpPr>
              <p:sp>
                <p:nvSpPr>
                  <p:cNvPr id="23014" name="Arc 224" descr="50%"/>
                  <p:cNvSpPr>
                    <a:spLocks/>
                  </p:cNvSpPr>
                  <p:nvPr/>
                </p:nvSpPr>
                <p:spPr bwMode="auto">
                  <a:xfrm>
                    <a:off x="1489" y="3130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15" name="Arc 225" descr="50%"/>
                  <p:cNvSpPr>
                    <a:spLocks/>
                  </p:cNvSpPr>
                  <p:nvPr/>
                </p:nvSpPr>
                <p:spPr bwMode="auto">
                  <a:xfrm>
                    <a:off x="1485" y="3130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16" name="Arc 226" descr="50%"/>
                  <p:cNvSpPr>
                    <a:spLocks/>
                  </p:cNvSpPr>
                  <p:nvPr/>
                </p:nvSpPr>
                <p:spPr bwMode="auto">
                  <a:xfrm>
                    <a:off x="1492" y="3130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17" name="Arc 227" descr="50%"/>
                  <p:cNvSpPr>
                    <a:spLocks/>
                  </p:cNvSpPr>
                  <p:nvPr/>
                </p:nvSpPr>
                <p:spPr bwMode="auto">
                  <a:xfrm>
                    <a:off x="1496" y="3130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18" name="Arc 228" descr="50%"/>
                  <p:cNvSpPr>
                    <a:spLocks/>
                  </p:cNvSpPr>
                  <p:nvPr/>
                </p:nvSpPr>
                <p:spPr bwMode="auto">
                  <a:xfrm>
                    <a:off x="1502" y="3130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3010" name="Freeform 229" descr="50%"/>
                <p:cNvSpPr>
                  <a:spLocks/>
                </p:cNvSpPr>
                <p:nvPr/>
              </p:nvSpPr>
              <p:spPr bwMode="auto">
                <a:xfrm>
                  <a:off x="1441" y="3058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3011" name="Group 230"/>
                <p:cNvGrpSpPr>
                  <a:grpSpLocks/>
                </p:cNvGrpSpPr>
                <p:nvPr/>
              </p:nvGrpSpPr>
              <p:grpSpPr bwMode="auto">
                <a:xfrm>
                  <a:off x="1505" y="3132"/>
                  <a:ext cx="47" cy="37"/>
                  <a:chOff x="1505" y="3132"/>
                  <a:chExt cx="47" cy="37"/>
                </a:xfrm>
              </p:grpSpPr>
              <p:sp>
                <p:nvSpPr>
                  <p:cNvPr id="23012" name="Freeform 231" descr="50%"/>
                  <p:cNvSpPr>
                    <a:spLocks/>
                  </p:cNvSpPr>
                  <p:nvPr/>
                </p:nvSpPr>
                <p:spPr bwMode="auto">
                  <a:xfrm>
                    <a:off x="1505" y="3138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13" name="Freeform 232" descr="50%"/>
                  <p:cNvSpPr>
                    <a:spLocks/>
                  </p:cNvSpPr>
                  <p:nvPr/>
                </p:nvSpPr>
                <p:spPr bwMode="auto">
                  <a:xfrm>
                    <a:off x="1506" y="3132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2974" name="Group 233"/>
              <p:cNvGrpSpPr>
                <a:grpSpLocks/>
              </p:cNvGrpSpPr>
              <p:nvPr/>
            </p:nvGrpSpPr>
            <p:grpSpPr bwMode="auto">
              <a:xfrm>
                <a:off x="1441" y="3152"/>
                <a:ext cx="321" cy="113"/>
                <a:chOff x="1441" y="3152"/>
                <a:chExt cx="321" cy="113"/>
              </a:xfrm>
            </p:grpSpPr>
            <p:sp>
              <p:nvSpPr>
                <p:cNvPr id="22991" name="Freeform 234" descr="50%"/>
                <p:cNvSpPr>
                  <a:spLocks/>
                </p:cNvSpPr>
                <p:nvPr/>
              </p:nvSpPr>
              <p:spPr bwMode="auto">
                <a:xfrm>
                  <a:off x="1522" y="3225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92" name="Freeform 235" descr="50%"/>
                <p:cNvSpPr>
                  <a:spLocks/>
                </p:cNvSpPr>
                <p:nvPr/>
              </p:nvSpPr>
              <p:spPr bwMode="auto">
                <a:xfrm>
                  <a:off x="1441" y="3152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993" name="Group 236"/>
                <p:cNvGrpSpPr>
                  <a:grpSpLocks/>
                </p:cNvGrpSpPr>
                <p:nvPr/>
              </p:nvGrpSpPr>
              <p:grpSpPr bwMode="auto">
                <a:xfrm>
                  <a:off x="1468" y="3214"/>
                  <a:ext cx="2" cy="3"/>
                  <a:chOff x="1468" y="3214"/>
                  <a:chExt cx="2" cy="3"/>
                </a:xfrm>
              </p:grpSpPr>
              <p:sp>
                <p:nvSpPr>
                  <p:cNvPr id="23004" name="Oval 237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1468" y="3214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05" name="Arc 238" descr="50%"/>
                  <p:cNvSpPr>
                    <a:spLocks/>
                  </p:cNvSpPr>
                  <p:nvPr/>
                </p:nvSpPr>
                <p:spPr bwMode="auto">
                  <a:xfrm>
                    <a:off x="1469" y="3215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994" name="Group 239"/>
                <p:cNvGrpSpPr>
                  <a:grpSpLocks/>
                </p:cNvGrpSpPr>
                <p:nvPr/>
              </p:nvGrpSpPr>
              <p:grpSpPr bwMode="auto">
                <a:xfrm>
                  <a:off x="1485" y="3226"/>
                  <a:ext cx="23" cy="4"/>
                  <a:chOff x="1485" y="3226"/>
                  <a:chExt cx="23" cy="4"/>
                </a:xfrm>
              </p:grpSpPr>
              <p:sp>
                <p:nvSpPr>
                  <p:cNvPr id="22999" name="Arc 240" descr="50%"/>
                  <p:cNvSpPr>
                    <a:spLocks/>
                  </p:cNvSpPr>
                  <p:nvPr/>
                </p:nvSpPr>
                <p:spPr bwMode="auto">
                  <a:xfrm>
                    <a:off x="1489" y="3226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00" name="Arc 241" descr="50%"/>
                  <p:cNvSpPr>
                    <a:spLocks/>
                  </p:cNvSpPr>
                  <p:nvPr/>
                </p:nvSpPr>
                <p:spPr bwMode="auto">
                  <a:xfrm>
                    <a:off x="1485" y="3226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01" name="Arc 242" descr="50%"/>
                  <p:cNvSpPr>
                    <a:spLocks/>
                  </p:cNvSpPr>
                  <p:nvPr/>
                </p:nvSpPr>
                <p:spPr bwMode="auto">
                  <a:xfrm>
                    <a:off x="1492" y="3226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02" name="Arc 243" descr="50%"/>
                  <p:cNvSpPr>
                    <a:spLocks/>
                  </p:cNvSpPr>
                  <p:nvPr/>
                </p:nvSpPr>
                <p:spPr bwMode="auto">
                  <a:xfrm>
                    <a:off x="1496" y="3226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03" name="Arc 244" descr="50%"/>
                  <p:cNvSpPr>
                    <a:spLocks/>
                  </p:cNvSpPr>
                  <p:nvPr/>
                </p:nvSpPr>
                <p:spPr bwMode="auto">
                  <a:xfrm>
                    <a:off x="1502" y="3226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995" name="Freeform 245" descr="50%"/>
                <p:cNvSpPr>
                  <a:spLocks/>
                </p:cNvSpPr>
                <p:nvPr/>
              </p:nvSpPr>
              <p:spPr bwMode="auto">
                <a:xfrm>
                  <a:off x="1441" y="3154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996" name="Group 246"/>
                <p:cNvGrpSpPr>
                  <a:grpSpLocks/>
                </p:cNvGrpSpPr>
                <p:nvPr/>
              </p:nvGrpSpPr>
              <p:grpSpPr bwMode="auto">
                <a:xfrm>
                  <a:off x="1505" y="3228"/>
                  <a:ext cx="47" cy="37"/>
                  <a:chOff x="1505" y="3228"/>
                  <a:chExt cx="47" cy="37"/>
                </a:xfrm>
              </p:grpSpPr>
              <p:sp>
                <p:nvSpPr>
                  <p:cNvPr id="22997" name="Freeform 247" descr="50%"/>
                  <p:cNvSpPr>
                    <a:spLocks/>
                  </p:cNvSpPr>
                  <p:nvPr/>
                </p:nvSpPr>
                <p:spPr bwMode="auto">
                  <a:xfrm>
                    <a:off x="1505" y="3234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98" name="Freeform 248" descr="50%"/>
                  <p:cNvSpPr>
                    <a:spLocks/>
                  </p:cNvSpPr>
                  <p:nvPr/>
                </p:nvSpPr>
                <p:spPr bwMode="auto">
                  <a:xfrm>
                    <a:off x="1506" y="3228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2975" name="Group 249"/>
              <p:cNvGrpSpPr>
                <a:grpSpLocks/>
              </p:cNvGrpSpPr>
              <p:nvPr/>
            </p:nvGrpSpPr>
            <p:grpSpPr bwMode="auto">
              <a:xfrm>
                <a:off x="1441" y="3248"/>
                <a:ext cx="321" cy="113"/>
                <a:chOff x="1441" y="3248"/>
                <a:chExt cx="321" cy="113"/>
              </a:xfrm>
            </p:grpSpPr>
            <p:sp>
              <p:nvSpPr>
                <p:cNvPr id="22976" name="Freeform 250" descr="50%"/>
                <p:cNvSpPr>
                  <a:spLocks/>
                </p:cNvSpPr>
                <p:nvPr/>
              </p:nvSpPr>
              <p:spPr bwMode="auto">
                <a:xfrm>
                  <a:off x="1522" y="3321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77" name="Freeform 251" descr="50%"/>
                <p:cNvSpPr>
                  <a:spLocks/>
                </p:cNvSpPr>
                <p:nvPr/>
              </p:nvSpPr>
              <p:spPr bwMode="auto">
                <a:xfrm>
                  <a:off x="1441" y="3248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978" name="Group 252"/>
                <p:cNvGrpSpPr>
                  <a:grpSpLocks/>
                </p:cNvGrpSpPr>
                <p:nvPr/>
              </p:nvGrpSpPr>
              <p:grpSpPr bwMode="auto">
                <a:xfrm>
                  <a:off x="1468" y="3310"/>
                  <a:ext cx="2" cy="3"/>
                  <a:chOff x="1468" y="3310"/>
                  <a:chExt cx="2" cy="3"/>
                </a:xfrm>
              </p:grpSpPr>
              <p:sp>
                <p:nvSpPr>
                  <p:cNvPr id="22989" name="Oval 253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1468" y="3310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90" name="Arc 254" descr="50%"/>
                  <p:cNvSpPr>
                    <a:spLocks/>
                  </p:cNvSpPr>
                  <p:nvPr/>
                </p:nvSpPr>
                <p:spPr bwMode="auto">
                  <a:xfrm>
                    <a:off x="1469" y="3311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979" name="Group 255"/>
                <p:cNvGrpSpPr>
                  <a:grpSpLocks/>
                </p:cNvGrpSpPr>
                <p:nvPr/>
              </p:nvGrpSpPr>
              <p:grpSpPr bwMode="auto">
                <a:xfrm>
                  <a:off x="1485" y="3322"/>
                  <a:ext cx="23" cy="4"/>
                  <a:chOff x="1485" y="3322"/>
                  <a:chExt cx="23" cy="4"/>
                </a:xfrm>
              </p:grpSpPr>
              <p:sp>
                <p:nvSpPr>
                  <p:cNvPr id="22984" name="Arc 256" descr="50%"/>
                  <p:cNvSpPr>
                    <a:spLocks/>
                  </p:cNvSpPr>
                  <p:nvPr/>
                </p:nvSpPr>
                <p:spPr bwMode="auto">
                  <a:xfrm>
                    <a:off x="1489" y="3322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85" name="Arc 257" descr="50%"/>
                  <p:cNvSpPr>
                    <a:spLocks/>
                  </p:cNvSpPr>
                  <p:nvPr/>
                </p:nvSpPr>
                <p:spPr bwMode="auto">
                  <a:xfrm>
                    <a:off x="1485" y="3322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86" name="Arc 258" descr="50%"/>
                  <p:cNvSpPr>
                    <a:spLocks/>
                  </p:cNvSpPr>
                  <p:nvPr/>
                </p:nvSpPr>
                <p:spPr bwMode="auto">
                  <a:xfrm>
                    <a:off x="1492" y="3322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87" name="Arc 259" descr="50%"/>
                  <p:cNvSpPr>
                    <a:spLocks/>
                  </p:cNvSpPr>
                  <p:nvPr/>
                </p:nvSpPr>
                <p:spPr bwMode="auto">
                  <a:xfrm>
                    <a:off x="1496" y="3322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88" name="Arc 260" descr="50%"/>
                  <p:cNvSpPr>
                    <a:spLocks/>
                  </p:cNvSpPr>
                  <p:nvPr/>
                </p:nvSpPr>
                <p:spPr bwMode="auto">
                  <a:xfrm>
                    <a:off x="1502" y="3322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980" name="Freeform 261" descr="50%"/>
                <p:cNvSpPr>
                  <a:spLocks/>
                </p:cNvSpPr>
                <p:nvPr/>
              </p:nvSpPr>
              <p:spPr bwMode="auto">
                <a:xfrm>
                  <a:off x="1441" y="3250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981" name="Group 262"/>
                <p:cNvGrpSpPr>
                  <a:grpSpLocks/>
                </p:cNvGrpSpPr>
                <p:nvPr/>
              </p:nvGrpSpPr>
              <p:grpSpPr bwMode="auto">
                <a:xfrm>
                  <a:off x="1505" y="3324"/>
                  <a:ext cx="47" cy="37"/>
                  <a:chOff x="1505" y="3324"/>
                  <a:chExt cx="47" cy="37"/>
                </a:xfrm>
              </p:grpSpPr>
              <p:sp>
                <p:nvSpPr>
                  <p:cNvPr id="22982" name="Freeform 263" descr="50%"/>
                  <p:cNvSpPr>
                    <a:spLocks/>
                  </p:cNvSpPr>
                  <p:nvPr/>
                </p:nvSpPr>
                <p:spPr bwMode="auto">
                  <a:xfrm>
                    <a:off x="1505" y="3330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83" name="Freeform 264" descr="50%"/>
                  <p:cNvSpPr>
                    <a:spLocks/>
                  </p:cNvSpPr>
                  <p:nvPr/>
                </p:nvSpPr>
                <p:spPr bwMode="auto">
                  <a:xfrm>
                    <a:off x="1506" y="3324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22647" name="Group 265"/>
            <p:cNvGrpSpPr>
              <a:grpSpLocks/>
            </p:cNvGrpSpPr>
            <p:nvPr/>
          </p:nvGrpSpPr>
          <p:grpSpPr bwMode="auto">
            <a:xfrm>
              <a:off x="1789" y="2864"/>
              <a:ext cx="321" cy="497"/>
              <a:chOff x="1789" y="2864"/>
              <a:chExt cx="321" cy="497"/>
            </a:xfrm>
          </p:grpSpPr>
          <p:grpSp>
            <p:nvGrpSpPr>
              <p:cNvPr id="22891" name="Group 266"/>
              <p:cNvGrpSpPr>
                <a:grpSpLocks/>
              </p:cNvGrpSpPr>
              <p:nvPr/>
            </p:nvGrpSpPr>
            <p:grpSpPr bwMode="auto">
              <a:xfrm>
                <a:off x="1789" y="2864"/>
                <a:ext cx="321" cy="113"/>
                <a:chOff x="1789" y="2864"/>
                <a:chExt cx="321" cy="113"/>
              </a:xfrm>
            </p:grpSpPr>
            <p:sp>
              <p:nvSpPr>
                <p:cNvPr id="22956" name="Freeform 267" descr="50%"/>
                <p:cNvSpPr>
                  <a:spLocks/>
                </p:cNvSpPr>
                <p:nvPr/>
              </p:nvSpPr>
              <p:spPr bwMode="auto">
                <a:xfrm>
                  <a:off x="1870" y="2937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57" name="Freeform 268" descr="50%"/>
                <p:cNvSpPr>
                  <a:spLocks/>
                </p:cNvSpPr>
                <p:nvPr/>
              </p:nvSpPr>
              <p:spPr bwMode="auto">
                <a:xfrm>
                  <a:off x="1789" y="2864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958" name="Group 269"/>
                <p:cNvGrpSpPr>
                  <a:grpSpLocks/>
                </p:cNvGrpSpPr>
                <p:nvPr/>
              </p:nvGrpSpPr>
              <p:grpSpPr bwMode="auto">
                <a:xfrm>
                  <a:off x="1816" y="2926"/>
                  <a:ext cx="2" cy="3"/>
                  <a:chOff x="1816" y="2926"/>
                  <a:chExt cx="2" cy="3"/>
                </a:xfrm>
              </p:grpSpPr>
              <p:sp>
                <p:nvSpPr>
                  <p:cNvPr id="22969" name="Oval 270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1816" y="2926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70" name="Arc 271" descr="50%"/>
                  <p:cNvSpPr>
                    <a:spLocks/>
                  </p:cNvSpPr>
                  <p:nvPr/>
                </p:nvSpPr>
                <p:spPr bwMode="auto">
                  <a:xfrm>
                    <a:off x="1817" y="2927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959" name="Group 272"/>
                <p:cNvGrpSpPr>
                  <a:grpSpLocks/>
                </p:cNvGrpSpPr>
                <p:nvPr/>
              </p:nvGrpSpPr>
              <p:grpSpPr bwMode="auto">
                <a:xfrm>
                  <a:off x="1833" y="2938"/>
                  <a:ext cx="23" cy="4"/>
                  <a:chOff x="1833" y="2938"/>
                  <a:chExt cx="23" cy="4"/>
                </a:xfrm>
              </p:grpSpPr>
              <p:sp>
                <p:nvSpPr>
                  <p:cNvPr id="22964" name="Arc 273" descr="50%"/>
                  <p:cNvSpPr>
                    <a:spLocks/>
                  </p:cNvSpPr>
                  <p:nvPr/>
                </p:nvSpPr>
                <p:spPr bwMode="auto">
                  <a:xfrm>
                    <a:off x="1837" y="2938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65" name="Arc 274" descr="50%"/>
                  <p:cNvSpPr>
                    <a:spLocks/>
                  </p:cNvSpPr>
                  <p:nvPr/>
                </p:nvSpPr>
                <p:spPr bwMode="auto">
                  <a:xfrm>
                    <a:off x="1833" y="2938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66" name="Arc 275" descr="50%"/>
                  <p:cNvSpPr>
                    <a:spLocks/>
                  </p:cNvSpPr>
                  <p:nvPr/>
                </p:nvSpPr>
                <p:spPr bwMode="auto">
                  <a:xfrm>
                    <a:off x="1840" y="2938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67" name="Arc 276" descr="50%"/>
                  <p:cNvSpPr>
                    <a:spLocks/>
                  </p:cNvSpPr>
                  <p:nvPr/>
                </p:nvSpPr>
                <p:spPr bwMode="auto">
                  <a:xfrm>
                    <a:off x="1844" y="2938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68" name="Arc 277" descr="50%"/>
                  <p:cNvSpPr>
                    <a:spLocks/>
                  </p:cNvSpPr>
                  <p:nvPr/>
                </p:nvSpPr>
                <p:spPr bwMode="auto">
                  <a:xfrm>
                    <a:off x="1850" y="2938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960" name="Freeform 278" descr="50%"/>
                <p:cNvSpPr>
                  <a:spLocks/>
                </p:cNvSpPr>
                <p:nvPr/>
              </p:nvSpPr>
              <p:spPr bwMode="auto">
                <a:xfrm>
                  <a:off x="1789" y="2866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961" name="Group 279"/>
                <p:cNvGrpSpPr>
                  <a:grpSpLocks/>
                </p:cNvGrpSpPr>
                <p:nvPr/>
              </p:nvGrpSpPr>
              <p:grpSpPr bwMode="auto">
                <a:xfrm>
                  <a:off x="1853" y="2940"/>
                  <a:ext cx="47" cy="37"/>
                  <a:chOff x="1853" y="2940"/>
                  <a:chExt cx="47" cy="37"/>
                </a:xfrm>
              </p:grpSpPr>
              <p:sp>
                <p:nvSpPr>
                  <p:cNvPr id="22962" name="Freeform 280" descr="50%"/>
                  <p:cNvSpPr>
                    <a:spLocks/>
                  </p:cNvSpPr>
                  <p:nvPr/>
                </p:nvSpPr>
                <p:spPr bwMode="auto">
                  <a:xfrm>
                    <a:off x="1853" y="2946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63" name="Freeform 281" descr="50%"/>
                  <p:cNvSpPr>
                    <a:spLocks/>
                  </p:cNvSpPr>
                  <p:nvPr/>
                </p:nvSpPr>
                <p:spPr bwMode="auto">
                  <a:xfrm>
                    <a:off x="1854" y="2940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2892" name="Group 282"/>
              <p:cNvGrpSpPr>
                <a:grpSpLocks/>
              </p:cNvGrpSpPr>
              <p:nvPr/>
            </p:nvGrpSpPr>
            <p:grpSpPr bwMode="auto">
              <a:xfrm>
                <a:off x="1789" y="2960"/>
                <a:ext cx="321" cy="113"/>
                <a:chOff x="1789" y="2960"/>
                <a:chExt cx="321" cy="113"/>
              </a:xfrm>
            </p:grpSpPr>
            <p:sp>
              <p:nvSpPr>
                <p:cNvPr id="22941" name="Freeform 283" descr="50%"/>
                <p:cNvSpPr>
                  <a:spLocks/>
                </p:cNvSpPr>
                <p:nvPr/>
              </p:nvSpPr>
              <p:spPr bwMode="auto">
                <a:xfrm>
                  <a:off x="1870" y="3033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42" name="Freeform 284" descr="50%"/>
                <p:cNvSpPr>
                  <a:spLocks/>
                </p:cNvSpPr>
                <p:nvPr/>
              </p:nvSpPr>
              <p:spPr bwMode="auto">
                <a:xfrm>
                  <a:off x="1789" y="2960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943" name="Group 285"/>
                <p:cNvGrpSpPr>
                  <a:grpSpLocks/>
                </p:cNvGrpSpPr>
                <p:nvPr/>
              </p:nvGrpSpPr>
              <p:grpSpPr bwMode="auto">
                <a:xfrm>
                  <a:off x="1816" y="3022"/>
                  <a:ext cx="2" cy="3"/>
                  <a:chOff x="1816" y="3022"/>
                  <a:chExt cx="2" cy="3"/>
                </a:xfrm>
              </p:grpSpPr>
              <p:sp>
                <p:nvSpPr>
                  <p:cNvPr id="22954" name="Oval 286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1816" y="3022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55" name="Arc 287" descr="50%"/>
                  <p:cNvSpPr>
                    <a:spLocks/>
                  </p:cNvSpPr>
                  <p:nvPr/>
                </p:nvSpPr>
                <p:spPr bwMode="auto">
                  <a:xfrm>
                    <a:off x="1817" y="3023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944" name="Group 288"/>
                <p:cNvGrpSpPr>
                  <a:grpSpLocks/>
                </p:cNvGrpSpPr>
                <p:nvPr/>
              </p:nvGrpSpPr>
              <p:grpSpPr bwMode="auto">
                <a:xfrm>
                  <a:off x="1833" y="3034"/>
                  <a:ext cx="23" cy="4"/>
                  <a:chOff x="1833" y="3034"/>
                  <a:chExt cx="23" cy="4"/>
                </a:xfrm>
              </p:grpSpPr>
              <p:sp>
                <p:nvSpPr>
                  <p:cNvPr id="22949" name="Arc 289" descr="50%"/>
                  <p:cNvSpPr>
                    <a:spLocks/>
                  </p:cNvSpPr>
                  <p:nvPr/>
                </p:nvSpPr>
                <p:spPr bwMode="auto">
                  <a:xfrm>
                    <a:off x="1837" y="3034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50" name="Arc 290" descr="50%"/>
                  <p:cNvSpPr>
                    <a:spLocks/>
                  </p:cNvSpPr>
                  <p:nvPr/>
                </p:nvSpPr>
                <p:spPr bwMode="auto">
                  <a:xfrm>
                    <a:off x="1833" y="3034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51" name="Arc 291" descr="50%"/>
                  <p:cNvSpPr>
                    <a:spLocks/>
                  </p:cNvSpPr>
                  <p:nvPr/>
                </p:nvSpPr>
                <p:spPr bwMode="auto">
                  <a:xfrm>
                    <a:off x="1840" y="3034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52" name="Arc 292" descr="50%"/>
                  <p:cNvSpPr>
                    <a:spLocks/>
                  </p:cNvSpPr>
                  <p:nvPr/>
                </p:nvSpPr>
                <p:spPr bwMode="auto">
                  <a:xfrm>
                    <a:off x="1844" y="3034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53" name="Arc 293" descr="50%"/>
                  <p:cNvSpPr>
                    <a:spLocks/>
                  </p:cNvSpPr>
                  <p:nvPr/>
                </p:nvSpPr>
                <p:spPr bwMode="auto">
                  <a:xfrm>
                    <a:off x="1850" y="3034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945" name="Freeform 294" descr="50%"/>
                <p:cNvSpPr>
                  <a:spLocks/>
                </p:cNvSpPr>
                <p:nvPr/>
              </p:nvSpPr>
              <p:spPr bwMode="auto">
                <a:xfrm>
                  <a:off x="1789" y="2962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946" name="Group 295"/>
                <p:cNvGrpSpPr>
                  <a:grpSpLocks/>
                </p:cNvGrpSpPr>
                <p:nvPr/>
              </p:nvGrpSpPr>
              <p:grpSpPr bwMode="auto">
                <a:xfrm>
                  <a:off x="1853" y="3036"/>
                  <a:ext cx="47" cy="37"/>
                  <a:chOff x="1853" y="3036"/>
                  <a:chExt cx="47" cy="37"/>
                </a:xfrm>
              </p:grpSpPr>
              <p:sp>
                <p:nvSpPr>
                  <p:cNvPr id="22947" name="Freeform 296" descr="50%"/>
                  <p:cNvSpPr>
                    <a:spLocks/>
                  </p:cNvSpPr>
                  <p:nvPr/>
                </p:nvSpPr>
                <p:spPr bwMode="auto">
                  <a:xfrm>
                    <a:off x="1853" y="3042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48" name="Freeform 297" descr="50%"/>
                  <p:cNvSpPr>
                    <a:spLocks/>
                  </p:cNvSpPr>
                  <p:nvPr/>
                </p:nvSpPr>
                <p:spPr bwMode="auto">
                  <a:xfrm>
                    <a:off x="1854" y="3036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2893" name="Group 298"/>
              <p:cNvGrpSpPr>
                <a:grpSpLocks/>
              </p:cNvGrpSpPr>
              <p:nvPr/>
            </p:nvGrpSpPr>
            <p:grpSpPr bwMode="auto">
              <a:xfrm>
                <a:off x="1789" y="3056"/>
                <a:ext cx="321" cy="113"/>
                <a:chOff x="1789" y="3056"/>
                <a:chExt cx="321" cy="113"/>
              </a:xfrm>
            </p:grpSpPr>
            <p:sp>
              <p:nvSpPr>
                <p:cNvPr id="22926" name="Freeform 299" descr="50%"/>
                <p:cNvSpPr>
                  <a:spLocks/>
                </p:cNvSpPr>
                <p:nvPr/>
              </p:nvSpPr>
              <p:spPr bwMode="auto">
                <a:xfrm>
                  <a:off x="1870" y="3129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27" name="Freeform 300" descr="50%"/>
                <p:cNvSpPr>
                  <a:spLocks/>
                </p:cNvSpPr>
                <p:nvPr/>
              </p:nvSpPr>
              <p:spPr bwMode="auto">
                <a:xfrm>
                  <a:off x="1789" y="3056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928" name="Group 301"/>
                <p:cNvGrpSpPr>
                  <a:grpSpLocks/>
                </p:cNvGrpSpPr>
                <p:nvPr/>
              </p:nvGrpSpPr>
              <p:grpSpPr bwMode="auto">
                <a:xfrm>
                  <a:off x="1816" y="3118"/>
                  <a:ext cx="2" cy="3"/>
                  <a:chOff x="1816" y="3118"/>
                  <a:chExt cx="2" cy="3"/>
                </a:xfrm>
              </p:grpSpPr>
              <p:sp>
                <p:nvSpPr>
                  <p:cNvPr id="22939" name="Oval 302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1816" y="3118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40" name="Arc 303" descr="50%"/>
                  <p:cNvSpPr>
                    <a:spLocks/>
                  </p:cNvSpPr>
                  <p:nvPr/>
                </p:nvSpPr>
                <p:spPr bwMode="auto">
                  <a:xfrm>
                    <a:off x="1817" y="3119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929" name="Group 304"/>
                <p:cNvGrpSpPr>
                  <a:grpSpLocks/>
                </p:cNvGrpSpPr>
                <p:nvPr/>
              </p:nvGrpSpPr>
              <p:grpSpPr bwMode="auto">
                <a:xfrm>
                  <a:off x="1833" y="3130"/>
                  <a:ext cx="23" cy="4"/>
                  <a:chOff x="1833" y="3130"/>
                  <a:chExt cx="23" cy="4"/>
                </a:xfrm>
              </p:grpSpPr>
              <p:sp>
                <p:nvSpPr>
                  <p:cNvPr id="22934" name="Arc 305" descr="50%"/>
                  <p:cNvSpPr>
                    <a:spLocks/>
                  </p:cNvSpPr>
                  <p:nvPr/>
                </p:nvSpPr>
                <p:spPr bwMode="auto">
                  <a:xfrm>
                    <a:off x="1837" y="3130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35" name="Arc 306" descr="50%"/>
                  <p:cNvSpPr>
                    <a:spLocks/>
                  </p:cNvSpPr>
                  <p:nvPr/>
                </p:nvSpPr>
                <p:spPr bwMode="auto">
                  <a:xfrm>
                    <a:off x="1833" y="3130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36" name="Arc 307" descr="50%"/>
                  <p:cNvSpPr>
                    <a:spLocks/>
                  </p:cNvSpPr>
                  <p:nvPr/>
                </p:nvSpPr>
                <p:spPr bwMode="auto">
                  <a:xfrm>
                    <a:off x="1840" y="3130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37" name="Arc 308" descr="50%"/>
                  <p:cNvSpPr>
                    <a:spLocks/>
                  </p:cNvSpPr>
                  <p:nvPr/>
                </p:nvSpPr>
                <p:spPr bwMode="auto">
                  <a:xfrm>
                    <a:off x="1844" y="3130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38" name="Arc 309" descr="50%"/>
                  <p:cNvSpPr>
                    <a:spLocks/>
                  </p:cNvSpPr>
                  <p:nvPr/>
                </p:nvSpPr>
                <p:spPr bwMode="auto">
                  <a:xfrm>
                    <a:off x="1850" y="3130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930" name="Freeform 310" descr="50%"/>
                <p:cNvSpPr>
                  <a:spLocks/>
                </p:cNvSpPr>
                <p:nvPr/>
              </p:nvSpPr>
              <p:spPr bwMode="auto">
                <a:xfrm>
                  <a:off x="1789" y="3058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931" name="Group 311"/>
                <p:cNvGrpSpPr>
                  <a:grpSpLocks/>
                </p:cNvGrpSpPr>
                <p:nvPr/>
              </p:nvGrpSpPr>
              <p:grpSpPr bwMode="auto">
                <a:xfrm>
                  <a:off x="1853" y="3132"/>
                  <a:ext cx="47" cy="37"/>
                  <a:chOff x="1853" y="3132"/>
                  <a:chExt cx="47" cy="37"/>
                </a:xfrm>
              </p:grpSpPr>
              <p:sp>
                <p:nvSpPr>
                  <p:cNvPr id="22932" name="Freeform 312" descr="50%"/>
                  <p:cNvSpPr>
                    <a:spLocks/>
                  </p:cNvSpPr>
                  <p:nvPr/>
                </p:nvSpPr>
                <p:spPr bwMode="auto">
                  <a:xfrm>
                    <a:off x="1853" y="3138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33" name="Freeform 313" descr="50%"/>
                  <p:cNvSpPr>
                    <a:spLocks/>
                  </p:cNvSpPr>
                  <p:nvPr/>
                </p:nvSpPr>
                <p:spPr bwMode="auto">
                  <a:xfrm>
                    <a:off x="1854" y="3132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2894" name="Group 314"/>
              <p:cNvGrpSpPr>
                <a:grpSpLocks/>
              </p:cNvGrpSpPr>
              <p:nvPr/>
            </p:nvGrpSpPr>
            <p:grpSpPr bwMode="auto">
              <a:xfrm>
                <a:off x="1789" y="3152"/>
                <a:ext cx="321" cy="113"/>
                <a:chOff x="1789" y="3152"/>
                <a:chExt cx="321" cy="113"/>
              </a:xfrm>
            </p:grpSpPr>
            <p:sp>
              <p:nvSpPr>
                <p:cNvPr id="22911" name="Freeform 315" descr="50%"/>
                <p:cNvSpPr>
                  <a:spLocks/>
                </p:cNvSpPr>
                <p:nvPr/>
              </p:nvSpPr>
              <p:spPr bwMode="auto">
                <a:xfrm>
                  <a:off x="1870" y="3225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12" name="Freeform 316" descr="50%"/>
                <p:cNvSpPr>
                  <a:spLocks/>
                </p:cNvSpPr>
                <p:nvPr/>
              </p:nvSpPr>
              <p:spPr bwMode="auto">
                <a:xfrm>
                  <a:off x="1789" y="3152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913" name="Group 317"/>
                <p:cNvGrpSpPr>
                  <a:grpSpLocks/>
                </p:cNvGrpSpPr>
                <p:nvPr/>
              </p:nvGrpSpPr>
              <p:grpSpPr bwMode="auto">
                <a:xfrm>
                  <a:off x="1816" y="3214"/>
                  <a:ext cx="2" cy="3"/>
                  <a:chOff x="1816" y="3214"/>
                  <a:chExt cx="2" cy="3"/>
                </a:xfrm>
              </p:grpSpPr>
              <p:sp>
                <p:nvSpPr>
                  <p:cNvPr id="22924" name="Oval 318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1816" y="3214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25" name="Arc 319" descr="50%"/>
                  <p:cNvSpPr>
                    <a:spLocks/>
                  </p:cNvSpPr>
                  <p:nvPr/>
                </p:nvSpPr>
                <p:spPr bwMode="auto">
                  <a:xfrm>
                    <a:off x="1817" y="3215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914" name="Group 320"/>
                <p:cNvGrpSpPr>
                  <a:grpSpLocks/>
                </p:cNvGrpSpPr>
                <p:nvPr/>
              </p:nvGrpSpPr>
              <p:grpSpPr bwMode="auto">
                <a:xfrm>
                  <a:off x="1833" y="3226"/>
                  <a:ext cx="23" cy="4"/>
                  <a:chOff x="1833" y="3226"/>
                  <a:chExt cx="23" cy="4"/>
                </a:xfrm>
              </p:grpSpPr>
              <p:sp>
                <p:nvSpPr>
                  <p:cNvPr id="22919" name="Arc 321" descr="50%"/>
                  <p:cNvSpPr>
                    <a:spLocks/>
                  </p:cNvSpPr>
                  <p:nvPr/>
                </p:nvSpPr>
                <p:spPr bwMode="auto">
                  <a:xfrm>
                    <a:off x="1837" y="3226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20" name="Arc 322" descr="50%"/>
                  <p:cNvSpPr>
                    <a:spLocks/>
                  </p:cNvSpPr>
                  <p:nvPr/>
                </p:nvSpPr>
                <p:spPr bwMode="auto">
                  <a:xfrm>
                    <a:off x="1833" y="3226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21" name="Arc 323" descr="50%"/>
                  <p:cNvSpPr>
                    <a:spLocks/>
                  </p:cNvSpPr>
                  <p:nvPr/>
                </p:nvSpPr>
                <p:spPr bwMode="auto">
                  <a:xfrm>
                    <a:off x="1840" y="3226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22" name="Arc 324" descr="50%"/>
                  <p:cNvSpPr>
                    <a:spLocks/>
                  </p:cNvSpPr>
                  <p:nvPr/>
                </p:nvSpPr>
                <p:spPr bwMode="auto">
                  <a:xfrm>
                    <a:off x="1844" y="3226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23" name="Arc 325" descr="50%"/>
                  <p:cNvSpPr>
                    <a:spLocks/>
                  </p:cNvSpPr>
                  <p:nvPr/>
                </p:nvSpPr>
                <p:spPr bwMode="auto">
                  <a:xfrm>
                    <a:off x="1850" y="3226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915" name="Freeform 326" descr="50%"/>
                <p:cNvSpPr>
                  <a:spLocks/>
                </p:cNvSpPr>
                <p:nvPr/>
              </p:nvSpPr>
              <p:spPr bwMode="auto">
                <a:xfrm>
                  <a:off x="1789" y="3154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916" name="Group 327"/>
                <p:cNvGrpSpPr>
                  <a:grpSpLocks/>
                </p:cNvGrpSpPr>
                <p:nvPr/>
              </p:nvGrpSpPr>
              <p:grpSpPr bwMode="auto">
                <a:xfrm>
                  <a:off x="1853" y="3228"/>
                  <a:ext cx="47" cy="37"/>
                  <a:chOff x="1853" y="3228"/>
                  <a:chExt cx="47" cy="37"/>
                </a:xfrm>
              </p:grpSpPr>
              <p:sp>
                <p:nvSpPr>
                  <p:cNvPr id="22917" name="Freeform 328" descr="50%"/>
                  <p:cNvSpPr>
                    <a:spLocks/>
                  </p:cNvSpPr>
                  <p:nvPr/>
                </p:nvSpPr>
                <p:spPr bwMode="auto">
                  <a:xfrm>
                    <a:off x="1853" y="3234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18" name="Freeform 329" descr="50%"/>
                  <p:cNvSpPr>
                    <a:spLocks/>
                  </p:cNvSpPr>
                  <p:nvPr/>
                </p:nvSpPr>
                <p:spPr bwMode="auto">
                  <a:xfrm>
                    <a:off x="1854" y="3228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2895" name="Group 330"/>
              <p:cNvGrpSpPr>
                <a:grpSpLocks/>
              </p:cNvGrpSpPr>
              <p:nvPr/>
            </p:nvGrpSpPr>
            <p:grpSpPr bwMode="auto">
              <a:xfrm>
                <a:off x="1789" y="3248"/>
                <a:ext cx="321" cy="113"/>
                <a:chOff x="1789" y="3248"/>
                <a:chExt cx="321" cy="113"/>
              </a:xfrm>
            </p:grpSpPr>
            <p:sp>
              <p:nvSpPr>
                <p:cNvPr id="22896" name="Freeform 331" descr="50%"/>
                <p:cNvSpPr>
                  <a:spLocks/>
                </p:cNvSpPr>
                <p:nvPr/>
              </p:nvSpPr>
              <p:spPr bwMode="auto">
                <a:xfrm>
                  <a:off x="1870" y="3321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97" name="Freeform 332" descr="50%"/>
                <p:cNvSpPr>
                  <a:spLocks/>
                </p:cNvSpPr>
                <p:nvPr/>
              </p:nvSpPr>
              <p:spPr bwMode="auto">
                <a:xfrm>
                  <a:off x="1789" y="3248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898" name="Group 333"/>
                <p:cNvGrpSpPr>
                  <a:grpSpLocks/>
                </p:cNvGrpSpPr>
                <p:nvPr/>
              </p:nvGrpSpPr>
              <p:grpSpPr bwMode="auto">
                <a:xfrm>
                  <a:off x="1816" y="3310"/>
                  <a:ext cx="2" cy="3"/>
                  <a:chOff x="1816" y="3310"/>
                  <a:chExt cx="2" cy="3"/>
                </a:xfrm>
              </p:grpSpPr>
              <p:sp>
                <p:nvSpPr>
                  <p:cNvPr id="22909" name="Oval 334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1816" y="3310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10" name="Arc 335" descr="50%"/>
                  <p:cNvSpPr>
                    <a:spLocks/>
                  </p:cNvSpPr>
                  <p:nvPr/>
                </p:nvSpPr>
                <p:spPr bwMode="auto">
                  <a:xfrm>
                    <a:off x="1817" y="3311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899" name="Group 336"/>
                <p:cNvGrpSpPr>
                  <a:grpSpLocks/>
                </p:cNvGrpSpPr>
                <p:nvPr/>
              </p:nvGrpSpPr>
              <p:grpSpPr bwMode="auto">
                <a:xfrm>
                  <a:off x="1833" y="3322"/>
                  <a:ext cx="23" cy="4"/>
                  <a:chOff x="1833" y="3322"/>
                  <a:chExt cx="23" cy="4"/>
                </a:xfrm>
              </p:grpSpPr>
              <p:sp>
                <p:nvSpPr>
                  <p:cNvPr id="22904" name="Arc 337" descr="50%"/>
                  <p:cNvSpPr>
                    <a:spLocks/>
                  </p:cNvSpPr>
                  <p:nvPr/>
                </p:nvSpPr>
                <p:spPr bwMode="auto">
                  <a:xfrm>
                    <a:off x="1837" y="3322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05" name="Arc 338" descr="50%"/>
                  <p:cNvSpPr>
                    <a:spLocks/>
                  </p:cNvSpPr>
                  <p:nvPr/>
                </p:nvSpPr>
                <p:spPr bwMode="auto">
                  <a:xfrm>
                    <a:off x="1833" y="3322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06" name="Arc 339" descr="50%"/>
                  <p:cNvSpPr>
                    <a:spLocks/>
                  </p:cNvSpPr>
                  <p:nvPr/>
                </p:nvSpPr>
                <p:spPr bwMode="auto">
                  <a:xfrm>
                    <a:off x="1840" y="3322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07" name="Arc 340" descr="50%"/>
                  <p:cNvSpPr>
                    <a:spLocks/>
                  </p:cNvSpPr>
                  <p:nvPr/>
                </p:nvSpPr>
                <p:spPr bwMode="auto">
                  <a:xfrm>
                    <a:off x="1844" y="3322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08" name="Arc 341" descr="50%"/>
                  <p:cNvSpPr>
                    <a:spLocks/>
                  </p:cNvSpPr>
                  <p:nvPr/>
                </p:nvSpPr>
                <p:spPr bwMode="auto">
                  <a:xfrm>
                    <a:off x="1850" y="3322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900" name="Freeform 342" descr="50%"/>
                <p:cNvSpPr>
                  <a:spLocks/>
                </p:cNvSpPr>
                <p:nvPr/>
              </p:nvSpPr>
              <p:spPr bwMode="auto">
                <a:xfrm>
                  <a:off x="1789" y="3250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901" name="Group 343"/>
                <p:cNvGrpSpPr>
                  <a:grpSpLocks/>
                </p:cNvGrpSpPr>
                <p:nvPr/>
              </p:nvGrpSpPr>
              <p:grpSpPr bwMode="auto">
                <a:xfrm>
                  <a:off x="1853" y="3324"/>
                  <a:ext cx="47" cy="37"/>
                  <a:chOff x="1853" y="3324"/>
                  <a:chExt cx="47" cy="37"/>
                </a:xfrm>
              </p:grpSpPr>
              <p:sp>
                <p:nvSpPr>
                  <p:cNvPr id="22902" name="Freeform 344" descr="50%"/>
                  <p:cNvSpPr>
                    <a:spLocks/>
                  </p:cNvSpPr>
                  <p:nvPr/>
                </p:nvSpPr>
                <p:spPr bwMode="auto">
                  <a:xfrm>
                    <a:off x="1853" y="3330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03" name="Freeform 345" descr="50%"/>
                  <p:cNvSpPr>
                    <a:spLocks/>
                  </p:cNvSpPr>
                  <p:nvPr/>
                </p:nvSpPr>
                <p:spPr bwMode="auto">
                  <a:xfrm>
                    <a:off x="1854" y="3324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22648" name="Group 346"/>
            <p:cNvGrpSpPr>
              <a:grpSpLocks/>
            </p:cNvGrpSpPr>
            <p:nvPr/>
          </p:nvGrpSpPr>
          <p:grpSpPr bwMode="auto">
            <a:xfrm>
              <a:off x="2137" y="2864"/>
              <a:ext cx="321" cy="497"/>
              <a:chOff x="2137" y="2864"/>
              <a:chExt cx="321" cy="497"/>
            </a:xfrm>
          </p:grpSpPr>
          <p:grpSp>
            <p:nvGrpSpPr>
              <p:cNvPr id="22811" name="Group 347"/>
              <p:cNvGrpSpPr>
                <a:grpSpLocks/>
              </p:cNvGrpSpPr>
              <p:nvPr/>
            </p:nvGrpSpPr>
            <p:grpSpPr bwMode="auto">
              <a:xfrm>
                <a:off x="2137" y="2864"/>
                <a:ext cx="321" cy="113"/>
                <a:chOff x="2137" y="2864"/>
                <a:chExt cx="321" cy="113"/>
              </a:xfrm>
            </p:grpSpPr>
            <p:sp>
              <p:nvSpPr>
                <p:cNvPr id="22876" name="Freeform 348" descr="50%"/>
                <p:cNvSpPr>
                  <a:spLocks/>
                </p:cNvSpPr>
                <p:nvPr/>
              </p:nvSpPr>
              <p:spPr bwMode="auto">
                <a:xfrm>
                  <a:off x="2218" y="2937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77" name="Freeform 349" descr="50%"/>
                <p:cNvSpPr>
                  <a:spLocks/>
                </p:cNvSpPr>
                <p:nvPr/>
              </p:nvSpPr>
              <p:spPr bwMode="auto">
                <a:xfrm>
                  <a:off x="2137" y="2864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878" name="Group 350"/>
                <p:cNvGrpSpPr>
                  <a:grpSpLocks/>
                </p:cNvGrpSpPr>
                <p:nvPr/>
              </p:nvGrpSpPr>
              <p:grpSpPr bwMode="auto">
                <a:xfrm>
                  <a:off x="2164" y="2926"/>
                  <a:ext cx="2" cy="3"/>
                  <a:chOff x="2164" y="2926"/>
                  <a:chExt cx="2" cy="3"/>
                </a:xfrm>
              </p:grpSpPr>
              <p:sp>
                <p:nvSpPr>
                  <p:cNvPr id="22889" name="Oval 351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2164" y="2926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90" name="Arc 352" descr="50%"/>
                  <p:cNvSpPr>
                    <a:spLocks/>
                  </p:cNvSpPr>
                  <p:nvPr/>
                </p:nvSpPr>
                <p:spPr bwMode="auto">
                  <a:xfrm>
                    <a:off x="2165" y="2927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879" name="Group 353"/>
                <p:cNvGrpSpPr>
                  <a:grpSpLocks/>
                </p:cNvGrpSpPr>
                <p:nvPr/>
              </p:nvGrpSpPr>
              <p:grpSpPr bwMode="auto">
                <a:xfrm>
                  <a:off x="2181" y="2938"/>
                  <a:ext cx="23" cy="4"/>
                  <a:chOff x="2181" y="2938"/>
                  <a:chExt cx="23" cy="4"/>
                </a:xfrm>
              </p:grpSpPr>
              <p:sp>
                <p:nvSpPr>
                  <p:cNvPr id="22884" name="Arc 354" descr="50%"/>
                  <p:cNvSpPr>
                    <a:spLocks/>
                  </p:cNvSpPr>
                  <p:nvPr/>
                </p:nvSpPr>
                <p:spPr bwMode="auto">
                  <a:xfrm>
                    <a:off x="2185" y="2938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85" name="Arc 355" descr="50%"/>
                  <p:cNvSpPr>
                    <a:spLocks/>
                  </p:cNvSpPr>
                  <p:nvPr/>
                </p:nvSpPr>
                <p:spPr bwMode="auto">
                  <a:xfrm>
                    <a:off x="2181" y="2938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86" name="Arc 356" descr="50%"/>
                  <p:cNvSpPr>
                    <a:spLocks/>
                  </p:cNvSpPr>
                  <p:nvPr/>
                </p:nvSpPr>
                <p:spPr bwMode="auto">
                  <a:xfrm>
                    <a:off x="2188" y="2938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87" name="Arc 357" descr="50%"/>
                  <p:cNvSpPr>
                    <a:spLocks/>
                  </p:cNvSpPr>
                  <p:nvPr/>
                </p:nvSpPr>
                <p:spPr bwMode="auto">
                  <a:xfrm>
                    <a:off x="2192" y="2938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88" name="Arc 358" descr="50%"/>
                  <p:cNvSpPr>
                    <a:spLocks/>
                  </p:cNvSpPr>
                  <p:nvPr/>
                </p:nvSpPr>
                <p:spPr bwMode="auto">
                  <a:xfrm>
                    <a:off x="2198" y="2938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880" name="Freeform 359" descr="50%"/>
                <p:cNvSpPr>
                  <a:spLocks/>
                </p:cNvSpPr>
                <p:nvPr/>
              </p:nvSpPr>
              <p:spPr bwMode="auto">
                <a:xfrm>
                  <a:off x="2137" y="2866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881" name="Group 360"/>
                <p:cNvGrpSpPr>
                  <a:grpSpLocks/>
                </p:cNvGrpSpPr>
                <p:nvPr/>
              </p:nvGrpSpPr>
              <p:grpSpPr bwMode="auto">
                <a:xfrm>
                  <a:off x="2201" y="2940"/>
                  <a:ext cx="47" cy="37"/>
                  <a:chOff x="2201" y="2940"/>
                  <a:chExt cx="47" cy="37"/>
                </a:xfrm>
              </p:grpSpPr>
              <p:sp>
                <p:nvSpPr>
                  <p:cNvPr id="22882" name="Freeform 361" descr="50%"/>
                  <p:cNvSpPr>
                    <a:spLocks/>
                  </p:cNvSpPr>
                  <p:nvPr/>
                </p:nvSpPr>
                <p:spPr bwMode="auto">
                  <a:xfrm>
                    <a:off x="2201" y="2946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83" name="Freeform 362" descr="50%"/>
                  <p:cNvSpPr>
                    <a:spLocks/>
                  </p:cNvSpPr>
                  <p:nvPr/>
                </p:nvSpPr>
                <p:spPr bwMode="auto">
                  <a:xfrm>
                    <a:off x="2202" y="2940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2812" name="Group 363"/>
              <p:cNvGrpSpPr>
                <a:grpSpLocks/>
              </p:cNvGrpSpPr>
              <p:nvPr/>
            </p:nvGrpSpPr>
            <p:grpSpPr bwMode="auto">
              <a:xfrm>
                <a:off x="2137" y="2960"/>
                <a:ext cx="321" cy="113"/>
                <a:chOff x="2137" y="2960"/>
                <a:chExt cx="321" cy="113"/>
              </a:xfrm>
            </p:grpSpPr>
            <p:sp>
              <p:nvSpPr>
                <p:cNvPr id="22861" name="Freeform 364" descr="50%"/>
                <p:cNvSpPr>
                  <a:spLocks/>
                </p:cNvSpPr>
                <p:nvPr/>
              </p:nvSpPr>
              <p:spPr bwMode="auto">
                <a:xfrm>
                  <a:off x="2218" y="3033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62" name="Freeform 365" descr="50%"/>
                <p:cNvSpPr>
                  <a:spLocks/>
                </p:cNvSpPr>
                <p:nvPr/>
              </p:nvSpPr>
              <p:spPr bwMode="auto">
                <a:xfrm>
                  <a:off x="2137" y="2960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863" name="Group 366"/>
                <p:cNvGrpSpPr>
                  <a:grpSpLocks/>
                </p:cNvGrpSpPr>
                <p:nvPr/>
              </p:nvGrpSpPr>
              <p:grpSpPr bwMode="auto">
                <a:xfrm>
                  <a:off x="2164" y="3022"/>
                  <a:ext cx="2" cy="3"/>
                  <a:chOff x="2164" y="3022"/>
                  <a:chExt cx="2" cy="3"/>
                </a:xfrm>
              </p:grpSpPr>
              <p:sp>
                <p:nvSpPr>
                  <p:cNvPr id="22874" name="Oval 367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2164" y="3022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75" name="Arc 368" descr="50%"/>
                  <p:cNvSpPr>
                    <a:spLocks/>
                  </p:cNvSpPr>
                  <p:nvPr/>
                </p:nvSpPr>
                <p:spPr bwMode="auto">
                  <a:xfrm>
                    <a:off x="2165" y="3023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864" name="Group 369"/>
                <p:cNvGrpSpPr>
                  <a:grpSpLocks/>
                </p:cNvGrpSpPr>
                <p:nvPr/>
              </p:nvGrpSpPr>
              <p:grpSpPr bwMode="auto">
                <a:xfrm>
                  <a:off x="2181" y="3034"/>
                  <a:ext cx="23" cy="4"/>
                  <a:chOff x="2181" y="3034"/>
                  <a:chExt cx="23" cy="4"/>
                </a:xfrm>
              </p:grpSpPr>
              <p:sp>
                <p:nvSpPr>
                  <p:cNvPr id="22869" name="Arc 370" descr="50%"/>
                  <p:cNvSpPr>
                    <a:spLocks/>
                  </p:cNvSpPr>
                  <p:nvPr/>
                </p:nvSpPr>
                <p:spPr bwMode="auto">
                  <a:xfrm>
                    <a:off x="2185" y="3034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70" name="Arc 371" descr="50%"/>
                  <p:cNvSpPr>
                    <a:spLocks/>
                  </p:cNvSpPr>
                  <p:nvPr/>
                </p:nvSpPr>
                <p:spPr bwMode="auto">
                  <a:xfrm>
                    <a:off x="2181" y="3034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71" name="Arc 372" descr="50%"/>
                  <p:cNvSpPr>
                    <a:spLocks/>
                  </p:cNvSpPr>
                  <p:nvPr/>
                </p:nvSpPr>
                <p:spPr bwMode="auto">
                  <a:xfrm>
                    <a:off x="2188" y="3034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72" name="Arc 373" descr="50%"/>
                  <p:cNvSpPr>
                    <a:spLocks/>
                  </p:cNvSpPr>
                  <p:nvPr/>
                </p:nvSpPr>
                <p:spPr bwMode="auto">
                  <a:xfrm>
                    <a:off x="2192" y="3034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73" name="Arc 374" descr="50%"/>
                  <p:cNvSpPr>
                    <a:spLocks/>
                  </p:cNvSpPr>
                  <p:nvPr/>
                </p:nvSpPr>
                <p:spPr bwMode="auto">
                  <a:xfrm>
                    <a:off x="2198" y="3034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865" name="Freeform 375" descr="50%"/>
                <p:cNvSpPr>
                  <a:spLocks/>
                </p:cNvSpPr>
                <p:nvPr/>
              </p:nvSpPr>
              <p:spPr bwMode="auto">
                <a:xfrm>
                  <a:off x="2137" y="2962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866" name="Group 376"/>
                <p:cNvGrpSpPr>
                  <a:grpSpLocks/>
                </p:cNvGrpSpPr>
                <p:nvPr/>
              </p:nvGrpSpPr>
              <p:grpSpPr bwMode="auto">
                <a:xfrm>
                  <a:off x="2201" y="3036"/>
                  <a:ext cx="47" cy="37"/>
                  <a:chOff x="2201" y="3036"/>
                  <a:chExt cx="47" cy="37"/>
                </a:xfrm>
              </p:grpSpPr>
              <p:sp>
                <p:nvSpPr>
                  <p:cNvPr id="22867" name="Freeform 377" descr="50%"/>
                  <p:cNvSpPr>
                    <a:spLocks/>
                  </p:cNvSpPr>
                  <p:nvPr/>
                </p:nvSpPr>
                <p:spPr bwMode="auto">
                  <a:xfrm>
                    <a:off x="2201" y="3042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68" name="Freeform 378" descr="50%"/>
                  <p:cNvSpPr>
                    <a:spLocks/>
                  </p:cNvSpPr>
                  <p:nvPr/>
                </p:nvSpPr>
                <p:spPr bwMode="auto">
                  <a:xfrm>
                    <a:off x="2202" y="3036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2813" name="Group 379"/>
              <p:cNvGrpSpPr>
                <a:grpSpLocks/>
              </p:cNvGrpSpPr>
              <p:nvPr/>
            </p:nvGrpSpPr>
            <p:grpSpPr bwMode="auto">
              <a:xfrm>
                <a:off x="2137" y="3056"/>
                <a:ext cx="321" cy="113"/>
                <a:chOff x="2137" y="3056"/>
                <a:chExt cx="321" cy="113"/>
              </a:xfrm>
            </p:grpSpPr>
            <p:sp>
              <p:nvSpPr>
                <p:cNvPr id="22846" name="Freeform 380" descr="50%"/>
                <p:cNvSpPr>
                  <a:spLocks/>
                </p:cNvSpPr>
                <p:nvPr/>
              </p:nvSpPr>
              <p:spPr bwMode="auto">
                <a:xfrm>
                  <a:off x="2218" y="3129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47" name="Freeform 381" descr="50%"/>
                <p:cNvSpPr>
                  <a:spLocks/>
                </p:cNvSpPr>
                <p:nvPr/>
              </p:nvSpPr>
              <p:spPr bwMode="auto">
                <a:xfrm>
                  <a:off x="2137" y="3056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848" name="Group 382"/>
                <p:cNvGrpSpPr>
                  <a:grpSpLocks/>
                </p:cNvGrpSpPr>
                <p:nvPr/>
              </p:nvGrpSpPr>
              <p:grpSpPr bwMode="auto">
                <a:xfrm>
                  <a:off x="2164" y="3118"/>
                  <a:ext cx="2" cy="3"/>
                  <a:chOff x="2164" y="3118"/>
                  <a:chExt cx="2" cy="3"/>
                </a:xfrm>
              </p:grpSpPr>
              <p:sp>
                <p:nvSpPr>
                  <p:cNvPr id="22859" name="Oval 383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2164" y="3118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60" name="Arc 384" descr="50%"/>
                  <p:cNvSpPr>
                    <a:spLocks/>
                  </p:cNvSpPr>
                  <p:nvPr/>
                </p:nvSpPr>
                <p:spPr bwMode="auto">
                  <a:xfrm>
                    <a:off x="2165" y="3119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849" name="Group 385"/>
                <p:cNvGrpSpPr>
                  <a:grpSpLocks/>
                </p:cNvGrpSpPr>
                <p:nvPr/>
              </p:nvGrpSpPr>
              <p:grpSpPr bwMode="auto">
                <a:xfrm>
                  <a:off x="2181" y="3130"/>
                  <a:ext cx="23" cy="4"/>
                  <a:chOff x="2181" y="3130"/>
                  <a:chExt cx="23" cy="4"/>
                </a:xfrm>
              </p:grpSpPr>
              <p:sp>
                <p:nvSpPr>
                  <p:cNvPr id="22854" name="Arc 386" descr="50%"/>
                  <p:cNvSpPr>
                    <a:spLocks/>
                  </p:cNvSpPr>
                  <p:nvPr/>
                </p:nvSpPr>
                <p:spPr bwMode="auto">
                  <a:xfrm>
                    <a:off x="2185" y="3130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55" name="Arc 387" descr="50%"/>
                  <p:cNvSpPr>
                    <a:spLocks/>
                  </p:cNvSpPr>
                  <p:nvPr/>
                </p:nvSpPr>
                <p:spPr bwMode="auto">
                  <a:xfrm>
                    <a:off x="2181" y="3130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56" name="Arc 388" descr="50%"/>
                  <p:cNvSpPr>
                    <a:spLocks/>
                  </p:cNvSpPr>
                  <p:nvPr/>
                </p:nvSpPr>
                <p:spPr bwMode="auto">
                  <a:xfrm>
                    <a:off x="2188" y="3130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57" name="Arc 389" descr="50%"/>
                  <p:cNvSpPr>
                    <a:spLocks/>
                  </p:cNvSpPr>
                  <p:nvPr/>
                </p:nvSpPr>
                <p:spPr bwMode="auto">
                  <a:xfrm>
                    <a:off x="2192" y="3130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58" name="Arc 390" descr="50%"/>
                  <p:cNvSpPr>
                    <a:spLocks/>
                  </p:cNvSpPr>
                  <p:nvPr/>
                </p:nvSpPr>
                <p:spPr bwMode="auto">
                  <a:xfrm>
                    <a:off x="2198" y="3130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850" name="Freeform 391" descr="50%"/>
                <p:cNvSpPr>
                  <a:spLocks/>
                </p:cNvSpPr>
                <p:nvPr/>
              </p:nvSpPr>
              <p:spPr bwMode="auto">
                <a:xfrm>
                  <a:off x="2137" y="3058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851" name="Group 392"/>
                <p:cNvGrpSpPr>
                  <a:grpSpLocks/>
                </p:cNvGrpSpPr>
                <p:nvPr/>
              </p:nvGrpSpPr>
              <p:grpSpPr bwMode="auto">
                <a:xfrm>
                  <a:off x="2201" y="3132"/>
                  <a:ext cx="47" cy="37"/>
                  <a:chOff x="2201" y="3132"/>
                  <a:chExt cx="47" cy="37"/>
                </a:xfrm>
              </p:grpSpPr>
              <p:sp>
                <p:nvSpPr>
                  <p:cNvPr id="22852" name="Freeform 393" descr="50%"/>
                  <p:cNvSpPr>
                    <a:spLocks/>
                  </p:cNvSpPr>
                  <p:nvPr/>
                </p:nvSpPr>
                <p:spPr bwMode="auto">
                  <a:xfrm>
                    <a:off x="2201" y="3138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53" name="Freeform 394" descr="50%"/>
                  <p:cNvSpPr>
                    <a:spLocks/>
                  </p:cNvSpPr>
                  <p:nvPr/>
                </p:nvSpPr>
                <p:spPr bwMode="auto">
                  <a:xfrm>
                    <a:off x="2202" y="3132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2814" name="Group 395"/>
              <p:cNvGrpSpPr>
                <a:grpSpLocks/>
              </p:cNvGrpSpPr>
              <p:nvPr/>
            </p:nvGrpSpPr>
            <p:grpSpPr bwMode="auto">
              <a:xfrm>
                <a:off x="2137" y="3152"/>
                <a:ext cx="321" cy="113"/>
                <a:chOff x="2137" y="3152"/>
                <a:chExt cx="321" cy="113"/>
              </a:xfrm>
            </p:grpSpPr>
            <p:sp>
              <p:nvSpPr>
                <p:cNvPr id="22831" name="Freeform 396" descr="50%"/>
                <p:cNvSpPr>
                  <a:spLocks/>
                </p:cNvSpPr>
                <p:nvPr/>
              </p:nvSpPr>
              <p:spPr bwMode="auto">
                <a:xfrm>
                  <a:off x="2218" y="3225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32" name="Freeform 397" descr="50%"/>
                <p:cNvSpPr>
                  <a:spLocks/>
                </p:cNvSpPr>
                <p:nvPr/>
              </p:nvSpPr>
              <p:spPr bwMode="auto">
                <a:xfrm>
                  <a:off x="2137" y="3152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833" name="Group 398"/>
                <p:cNvGrpSpPr>
                  <a:grpSpLocks/>
                </p:cNvGrpSpPr>
                <p:nvPr/>
              </p:nvGrpSpPr>
              <p:grpSpPr bwMode="auto">
                <a:xfrm>
                  <a:off x="2164" y="3214"/>
                  <a:ext cx="2" cy="3"/>
                  <a:chOff x="2164" y="3214"/>
                  <a:chExt cx="2" cy="3"/>
                </a:xfrm>
              </p:grpSpPr>
              <p:sp>
                <p:nvSpPr>
                  <p:cNvPr id="22844" name="Oval 399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2164" y="3214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45" name="Arc 400" descr="50%"/>
                  <p:cNvSpPr>
                    <a:spLocks/>
                  </p:cNvSpPr>
                  <p:nvPr/>
                </p:nvSpPr>
                <p:spPr bwMode="auto">
                  <a:xfrm>
                    <a:off x="2165" y="3215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834" name="Group 401"/>
                <p:cNvGrpSpPr>
                  <a:grpSpLocks/>
                </p:cNvGrpSpPr>
                <p:nvPr/>
              </p:nvGrpSpPr>
              <p:grpSpPr bwMode="auto">
                <a:xfrm>
                  <a:off x="2181" y="3226"/>
                  <a:ext cx="23" cy="4"/>
                  <a:chOff x="2181" y="3226"/>
                  <a:chExt cx="23" cy="4"/>
                </a:xfrm>
              </p:grpSpPr>
              <p:sp>
                <p:nvSpPr>
                  <p:cNvPr id="22839" name="Arc 402" descr="50%"/>
                  <p:cNvSpPr>
                    <a:spLocks/>
                  </p:cNvSpPr>
                  <p:nvPr/>
                </p:nvSpPr>
                <p:spPr bwMode="auto">
                  <a:xfrm>
                    <a:off x="2185" y="3226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40" name="Arc 403" descr="50%"/>
                  <p:cNvSpPr>
                    <a:spLocks/>
                  </p:cNvSpPr>
                  <p:nvPr/>
                </p:nvSpPr>
                <p:spPr bwMode="auto">
                  <a:xfrm>
                    <a:off x="2181" y="3226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41" name="Arc 404" descr="50%"/>
                  <p:cNvSpPr>
                    <a:spLocks/>
                  </p:cNvSpPr>
                  <p:nvPr/>
                </p:nvSpPr>
                <p:spPr bwMode="auto">
                  <a:xfrm>
                    <a:off x="2188" y="3226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42" name="Arc 405" descr="50%"/>
                  <p:cNvSpPr>
                    <a:spLocks/>
                  </p:cNvSpPr>
                  <p:nvPr/>
                </p:nvSpPr>
                <p:spPr bwMode="auto">
                  <a:xfrm>
                    <a:off x="2192" y="3226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43" name="Arc 406" descr="50%"/>
                  <p:cNvSpPr>
                    <a:spLocks/>
                  </p:cNvSpPr>
                  <p:nvPr/>
                </p:nvSpPr>
                <p:spPr bwMode="auto">
                  <a:xfrm>
                    <a:off x="2198" y="3226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835" name="Freeform 407" descr="50%"/>
                <p:cNvSpPr>
                  <a:spLocks/>
                </p:cNvSpPr>
                <p:nvPr/>
              </p:nvSpPr>
              <p:spPr bwMode="auto">
                <a:xfrm>
                  <a:off x="2137" y="3154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836" name="Group 408"/>
                <p:cNvGrpSpPr>
                  <a:grpSpLocks/>
                </p:cNvGrpSpPr>
                <p:nvPr/>
              </p:nvGrpSpPr>
              <p:grpSpPr bwMode="auto">
                <a:xfrm>
                  <a:off x="2201" y="3228"/>
                  <a:ext cx="47" cy="37"/>
                  <a:chOff x="2201" y="3228"/>
                  <a:chExt cx="47" cy="37"/>
                </a:xfrm>
              </p:grpSpPr>
              <p:sp>
                <p:nvSpPr>
                  <p:cNvPr id="22837" name="Freeform 409" descr="50%"/>
                  <p:cNvSpPr>
                    <a:spLocks/>
                  </p:cNvSpPr>
                  <p:nvPr/>
                </p:nvSpPr>
                <p:spPr bwMode="auto">
                  <a:xfrm>
                    <a:off x="2201" y="3234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38" name="Freeform 410" descr="50%"/>
                  <p:cNvSpPr>
                    <a:spLocks/>
                  </p:cNvSpPr>
                  <p:nvPr/>
                </p:nvSpPr>
                <p:spPr bwMode="auto">
                  <a:xfrm>
                    <a:off x="2202" y="3228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2815" name="Group 411"/>
              <p:cNvGrpSpPr>
                <a:grpSpLocks/>
              </p:cNvGrpSpPr>
              <p:nvPr/>
            </p:nvGrpSpPr>
            <p:grpSpPr bwMode="auto">
              <a:xfrm>
                <a:off x="2137" y="3248"/>
                <a:ext cx="321" cy="113"/>
                <a:chOff x="2137" y="3248"/>
                <a:chExt cx="321" cy="113"/>
              </a:xfrm>
            </p:grpSpPr>
            <p:sp>
              <p:nvSpPr>
                <p:cNvPr id="22816" name="Freeform 412" descr="50%"/>
                <p:cNvSpPr>
                  <a:spLocks/>
                </p:cNvSpPr>
                <p:nvPr/>
              </p:nvSpPr>
              <p:spPr bwMode="auto">
                <a:xfrm>
                  <a:off x="2218" y="3321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17" name="Freeform 413" descr="50%"/>
                <p:cNvSpPr>
                  <a:spLocks/>
                </p:cNvSpPr>
                <p:nvPr/>
              </p:nvSpPr>
              <p:spPr bwMode="auto">
                <a:xfrm>
                  <a:off x="2137" y="3248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818" name="Group 414"/>
                <p:cNvGrpSpPr>
                  <a:grpSpLocks/>
                </p:cNvGrpSpPr>
                <p:nvPr/>
              </p:nvGrpSpPr>
              <p:grpSpPr bwMode="auto">
                <a:xfrm>
                  <a:off x="2164" y="3310"/>
                  <a:ext cx="2" cy="3"/>
                  <a:chOff x="2164" y="3310"/>
                  <a:chExt cx="2" cy="3"/>
                </a:xfrm>
              </p:grpSpPr>
              <p:sp>
                <p:nvSpPr>
                  <p:cNvPr id="22829" name="Oval 415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2164" y="3310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30" name="Arc 416" descr="50%"/>
                  <p:cNvSpPr>
                    <a:spLocks/>
                  </p:cNvSpPr>
                  <p:nvPr/>
                </p:nvSpPr>
                <p:spPr bwMode="auto">
                  <a:xfrm>
                    <a:off x="2165" y="3311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819" name="Group 417"/>
                <p:cNvGrpSpPr>
                  <a:grpSpLocks/>
                </p:cNvGrpSpPr>
                <p:nvPr/>
              </p:nvGrpSpPr>
              <p:grpSpPr bwMode="auto">
                <a:xfrm>
                  <a:off x="2181" y="3322"/>
                  <a:ext cx="23" cy="4"/>
                  <a:chOff x="2181" y="3322"/>
                  <a:chExt cx="23" cy="4"/>
                </a:xfrm>
              </p:grpSpPr>
              <p:sp>
                <p:nvSpPr>
                  <p:cNvPr id="22824" name="Arc 418" descr="50%"/>
                  <p:cNvSpPr>
                    <a:spLocks/>
                  </p:cNvSpPr>
                  <p:nvPr/>
                </p:nvSpPr>
                <p:spPr bwMode="auto">
                  <a:xfrm>
                    <a:off x="2185" y="3322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25" name="Arc 419" descr="50%"/>
                  <p:cNvSpPr>
                    <a:spLocks/>
                  </p:cNvSpPr>
                  <p:nvPr/>
                </p:nvSpPr>
                <p:spPr bwMode="auto">
                  <a:xfrm>
                    <a:off x="2181" y="3322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26" name="Arc 420" descr="50%"/>
                  <p:cNvSpPr>
                    <a:spLocks/>
                  </p:cNvSpPr>
                  <p:nvPr/>
                </p:nvSpPr>
                <p:spPr bwMode="auto">
                  <a:xfrm>
                    <a:off x="2188" y="3322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27" name="Arc 421" descr="50%"/>
                  <p:cNvSpPr>
                    <a:spLocks/>
                  </p:cNvSpPr>
                  <p:nvPr/>
                </p:nvSpPr>
                <p:spPr bwMode="auto">
                  <a:xfrm>
                    <a:off x="2192" y="3322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28" name="Arc 422" descr="50%"/>
                  <p:cNvSpPr>
                    <a:spLocks/>
                  </p:cNvSpPr>
                  <p:nvPr/>
                </p:nvSpPr>
                <p:spPr bwMode="auto">
                  <a:xfrm>
                    <a:off x="2198" y="3322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820" name="Freeform 423" descr="50%"/>
                <p:cNvSpPr>
                  <a:spLocks/>
                </p:cNvSpPr>
                <p:nvPr/>
              </p:nvSpPr>
              <p:spPr bwMode="auto">
                <a:xfrm>
                  <a:off x="2137" y="3250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821" name="Group 424"/>
                <p:cNvGrpSpPr>
                  <a:grpSpLocks/>
                </p:cNvGrpSpPr>
                <p:nvPr/>
              </p:nvGrpSpPr>
              <p:grpSpPr bwMode="auto">
                <a:xfrm>
                  <a:off x="2201" y="3324"/>
                  <a:ext cx="47" cy="37"/>
                  <a:chOff x="2201" y="3324"/>
                  <a:chExt cx="47" cy="37"/>
                </a:xfrm>
              </p:grpSpPr>
              <p:sp>
                <p:nvSpPr>
                  <p:cNvPr id="22822" name="Freeform 425" descr="50%"/>
                  <p:cNvSpPr>
                    <a:spLocks/>
                  </p:cNvSpPr>
                  <p:nvPr/>
                </p:nvSpPr>
                <p:spPr bwMode="auto">
                  <a:xfrm>
                    <a:off x="2201" y="3330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23" name="Freeform 426" descr="50%"/>
                  <p:cNvSpPr>
                    <a:spLocks/>
                  </p:cNvSpPr>
                  <p:nvPr/>
                </p:nvSpPr>
                <p:spPr bwMode="auto">
                  <a:xfrm>
                    <a:off x="2202" y="3324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22649" name="Group 427"/>
            <p:cNvGrpSpPr>
              <a:grpSpLocks/>
            </p:cNvGrpSpPr>
            <p:nvPr/>
          </p:nvGrpSpPr>
          <p:grpSpPr bwMode="auto">
            <a:xfrm>
              <a:off x="2509" y="2864"/>
              <a:ext cx="321" cy="497"/>
              <a:chOff x="2509" y="2864"/>
              <a:chExt cx="321" cy="497"/>
            </a:xfrm>
          </p:grpSpPr>
          <p:grpSp>
            <p:nvGrpSpPr>
              <p:cNvPr id="22731" name="Group 428"/>
              <p:cNvGrpSpPr>
                <a:grpSpLocks/>
              </p:cNvGrpSpPr>
              <p:nvPr/>
            </p:nvGrpSpPr>
            <p:grpSpPr bwMode="auto">
              <a:xfrm>
                <a:off x="2509" y="2864"/>
                <a:ext cx="321" cy="113"/>
                <a:chOff x="2509" y="2864"/>
                <a:chExt cx="321" cy="113"/>
              </a:xfrm>
            </p:grpSpPr>
            <p:sp>
              <p:nvSpPr>
                <p:cNvPr id="22796" name="Freeform 429" descr="50%"/>
                <p:cNvSpPr>
                  <a:spLocks/>
                </p:cNvSpPr>
                <p:nvPr/>
              </p:nvSpPr>
              <p:spPr bwMode="auto">
                <a:xfrm>
                  <a:off x="2590" y="2937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97" name="Freeform 430" descr="50%"/>
                <p:cNvSpPr>
                  <a:spLocks/>
                </p:cNvSpPr>
                <p:nvPr/>
              </p:nvSpPr>
              <p:spPr bwMode="auto">
                <a:xfrm>
                  <a:off x="2509" y="2864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798" name="Group 431"/>
                <p:cNvGrpSpPr>
                  <a:grpSpLocks/>
                </p:cNvGrpSpPr>
                <p:nvPr/>
              </p:nvGrpSpPr>
              <p:grpSpPr bwMode="auto">
                <a:xfrm>
                  <a:off x="2536" y="2926"/>
                  <a:ext cx="2" cy="3"/>
                  <a:chOff x="2536" y="2926"/>
                  <a:chExt cx="2" cy="3"/>
                </a:xfrm>
              </p:grpSpPr>
              <p:sp>
                <p:nvSpPr>
                  <p:cNvPr id="22809" name="Oval 432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2536" y="2926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10" name="Arc 433" descr="50%"/>
                  <p:cNvSpPr>
                    <a:spLocks/>
                  </p:cNvSpPr>
                  <p:nvPr/>
                </p:nvSpPr>
                <p:spPr bwMode="auto">
                  <a:xfrm>
                    <a:off x="2537" y="2927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799" name="Group 434"/>
                <p:cNvGrpSpPr>
                  <a:grpSpLocks/>
                </p:cNvGrpSpPr>
                <p:nvPr/>
              </p:nvGrpSpPr>
              <p:grpSpPr bwMode="auto">
                <a:xfrm>
                  <a:off x="2553" y="2938"/>
                  <a:ext cx="23" cy="4"/>
                  <a:chOff x="2553" y="2938"/>
                  <a:chExt cx="23" cy="4"/>
                </a:xfrm>
              </p:grpSpPr>
              <p:sp>
                <p:nvSpPr>
                  <p:cNvPr id="22804" name="Arc 435" descr="50%"/>
                  <p:cNvSpPr>
                    <a:spLocks/>
                  </p:cNvSpPr>
                  <p:nvPr/>
                </p:nvSpPr>
                <p:spPr bwMode="auto">
                  <a:xfrm>
                    <a:off x="2557" y="2938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05" name="Arc 436" descr="50%"/>
                  <p:cNvSpPr>
                    <a:spLocks/>
                  </p:cNvSpPr>
                  <p:nvPr/>
                </p:nvSpPr>
                <p:spPr bwMode="auto">
                  <a:xfrm>
                    <a:off x="2553" y="2938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06" name="Arc 437" descr="50%"/>
                  <p:cNvSpPr>
                    <a:spLocks/>
                  </p:cNvSpPr>
                  <p:nvPr/>
                </p:nvSpPr>
                <p:spPr bwMode="auto">
                  <a:xfrm>
                    <a:off x="2560" y="2938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07" name="Arc 438" descr="50%"/>
                  <p:cNvSpPr>
                    <a:spLocks/>
                  </p:cNvSpPr>
                  <p:nvPr/>
                </p:nvSpPr>
                <p:spPr bwMode="auto">
                  <a:xfrm>
                    <a:off x="2564" y="2938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08" name="Arc 439" descr="50%"/>
                  <p:cNvSpPr>
                    <a:spLocks/>
                  </p:cNvSpPr>
                  <p:nvPr/>
                </p:nvSpPr>
                <p:spPr bwMode="auto">
                  <a:xfrm>
                    <a:off x="2570" y="2938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800" name="Freeform 440" descr="50%"/>
                <p:cNvSpPr>
                  <a:spLocks/>
                </p:cNvSpPr>
                <p:nvPr/>
              </p:nvSpPr>
              <p:spPr bwMode="auto">
                <a:xfrm>
                  <a:off x="2509" y="2866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801" name="Group 441"/>
                <p:cNvGrpSpPr>
                  <a:grpSpLocks/>
                </p:cNvGrpSpPr>
                <p:nvPr/>
              </p:nvGrpSpPr>
              <p:grpSpPr bwMode="auto">
                <a:xfrm>
                  <a:off x="2573" y="2940"/>
                  <a:ext cx="47" cy="37"/>
                  <a:chOff x="2573" y="2940"/>
                  <a:chExt cx="47" cy="37"/>
                </a:xfrm>
              </p:grpSpPr>
              <p:sp>
                <p:nvSpPr>
                  <p:cNvPr id="22802" name="Freeform 442" descr="50%"/>
                  <p:cNvSpPr>
                    <a:spLocks/>
                  </p:cNvSpPr>
                  <p:nvPr/>
                </p:nvSpPr>
                <p:spPr bwMode="auto">
                  <a:xfrm>
                    <a:off x="2573" y="2946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03" name="Freeform 443" descr="50%"/>
                  <p:cNvSpPr>
                    <a:spLocks/>
                  </p:cNvSpPr>
                  <p:nvPr/>
                </p:nvSpPr>
                <p:spPr bwMode="auto">
                  <a:xfrm>
                    <a:off x="2574" y="2940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2732" name="Group 444"/>
              <p:cNvGrpSpPr>
                <a:grpSpLocks/>
              </p:cNvGrpSpPr>
              <p:nvPr/>
            </p:nvGrpSpPr>
            <p:grpSpPr bwMode="auto">
              <a:xfrm>
                <a:off x="2509" y="2960"/>
                <a:ext cx="321" cy="113"/>
                <a:chOff x="2509" y="2960"/>
                <a:chExt cx="321" cy="113"/>
              </a:xfrm>
            </p:grpSpPr>
            <p:sp>
              <p:nvSpPr>
                <p:cNvPr id="22781" name="Freeform 445" descr="50%"/>
                <p:cNvSpPr>
                  <a:spLocks/>
                </p:cNvSpPr>
                <p:nvPr/>
              </p:nvSpPr>
              <p:spPr bwMode="auto">
                <a:xfrm>
                  <a:off x="2590" y="3033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82" name="Freeform 446" descr="50%"/>
                <p:cNvSpPr>
                  <a:spLocks/>
                </p:cNvSpPr>
                <p:nvPr/>
              </p:nvSpPr>
              <p:spPr bwMode="auto">
                <a:xfrm>
                  <a:off x="2509" y="2960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783" name="Group 447"/>
                <p:cNvGrpSpPr>
                  <a:grpSpLocks/>
                </p:cNvGrpSpPr>
                <p:nvPr/>
              </p:nvGrpSpPr>
              <p:grpSpPr bwMode="auto">
                <a:xfrm>
                  <a:off x="2536" y="3022"/>
                  <a:ext cx="2" cy="3"/>
                  <a:chOff x="2536" y="3022"/>
                  <a:chExt cx="2" cy="3"/>
                </a:xfrm>
              </p:grpSpPr>
              <p:sp>
                <p:nvSpPr>
                  <p:cNvPr id="22794" name="Oval 448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2536" y="3022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95" name="Arc 449" descr="50%"/>
                  <p:cNvSpPr>
                    <a:spLocks/>
                  </p:cNvSpPr>
                  <p:nvPr/>
                </p:nvSpPr>
                <p:spPr bwMode="auto">
                  <a:xfrm>
                    <a:off x="2537" y="3023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784" name="Group 450"/>
                <p:cNvGrpSpPr>
                  <a:grpSpLocks/>
                </p:cNvGrpSpPr>
                <p:nvPr/>
              </p:nvGrpSpPr>
              <p:grpSpPr bwMode="auto">
                <a:xfrm>
                  <a:off x="2553" y="3034"/>
                  <a:ext cx="23" cy="4"/>
                  <a:chOff x="2553" y="3034"/>
                  <a:chExt cx="23" cy="4"/>
                </a:xfrm>
              </p:grpSpPr>
              <p:sp>
                <p:nvSpPr>
                  <p:cNvPr id="22789" name="Arc 451" descr="50%"/>
                  <p:cNvSpPr>
                    <a:spLocks/>
                  </p:cNvSpPr>
                  <p:nvPr/>
                </p:nvSpPr>
                <p:spPr bwMode="auto">
                  <a:xfrm>
                    <a:off x="2557" y="3034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90" name="Arc 452" descr="50%"/>
                  <p:cNvSpPr>
                    <a:spLocks/>
                  </p:cNvSpPr>
                  <p:nvPr/>
                </p:nvSpPr>
                <p:spPr bwMode="auto">
                  <a:xfrm>
                    <a:off x="2553" y="3034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91" name="Arc 453" descr="50%"/>
                  <p:cNvSpPr>
                    <a:spLocks/>
                  </p:cNvSpPr>
                  <p:nvPr/>
                </p:nvSpPr>
                <p:spPr bwMode="auto">
                  <a:xfrm>
                    <a:off x="2560" y="3034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92" name="Arc 454" descr="50%"/>
                  <p:cNvSpPr>
                    <a:spLocks/>
                  </p:cNvSpPr>
                  <p:nvPr/>
                </p:nvSpPr>
                <p:spPr bwMode="auto">
                  <a:xfrm>
                    <a:off x="2564" y="3034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93" name="Arc 455" descr="50%"/>
                  <p:cNvSpPr>
                    <a:spLocks/>
                  </p:cNvSpPr>
                  <p:nvPr/>
                </p:nvSpPr>
                <p:spPr bwMode="auto">
                  <a:xfrm>
                    <a:off x="2570" y="3034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785" name="Freeform 456" descr="50%"/>
                <p:cNvSpPr>
                  <a:spLocks/>
                </p:cNvSpPr>
                <p:nvPr/>
              </p:nvSpPr>
              <p:spPr bwMode="auto">
                <a:xfrm>
                  <a:off x="2509" y="2962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786" name="Group 457"/>
                <p:cNvGrpSpPr>
                  <a:grpSpLocks/>
                </p:cNvGrpSpPr>
                <p:nvPr/>
              </p:nvGrpSpPr>
              <p:grpSpPr bwMode="auto">
                <a:xfrm>
                  <a:off x="2573" y="3036"/>
                  <a:ext cx="47" cy="37"/>
                  <a:chOff x="2573" y="3036"/>
                  <a:chExt cx="47" cy="37"/>
                </a:xfrm>
              </p:grpSpPr>
              <p:sp>
                <p:nvSpPr>
                  <p:cNvPr id="22787" name="Freeform 458" descr="50%"/>
                  <p:cNvSpPr>
                    <a:spLocks/>
                  </p:cNvSpPr>
                  <p:nvPr/>
                </p:nvSpPr>
                <p:spPr bwMode="auto">
                  <a:xfrm>
                    <a:off x="2573" y="3042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88" name="Freeform 459" descr="50%"/>
                  <p:cNvSpPr>
                    <a:spLocks/>
                  </p:cNvSpPr>
                  <p:nvPr/>
                </p:nvSpPr>
                <p:spPr bwMode="auto">
                  <a:xfrm>
                    <a:off x="2574" y="3036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2733" name="Group 460"/>
              <p:cNvGrpSpPr>
                <a:grpSpLocks/>
              </p:cNvGrpSpPr>
              <p:nvPr/>
            </p:nvGrpSpPr>
            <p:grpSpPr bwMode="auto">
              <a:xfrm>
                <a:off x="2509" y="3056"/>
                <a:ext cx="321" cy="113"/>
                <a:chOff x="2509" y="3056"/>
                <a:chExt cx="321" cy="113"/>
              </a:xfrm>
            </p:grpSpPr>
            <p:sp>
              <p:nvSpPr>
                <p:cNvPr id="22766" name="Freeform 461" descr="50%"/>
                <p:cNvSpPr>
                  <a:spLocks/>
                </p:cNvSpPr>
                <p:nvPr/>
              </p:nvSpPr>
              <p:spPr bwMode="auto">
                <a:xfrm>
                  <a:off x="2590" y="3129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67" name="Freeform 462" descr="50%"/>
                <p:cNvSpPr>
                  <a:spLocks/>
                </p:cNvSpPr>
                <p:nvPr/>
              </p:nvSpPr>
              <p:spPr bwMode="auto">
                <a:xfrm>
                  <a:off x="2509" y="3056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768" name="Group 463"/>
                <p:cNvGrpSpPr>
                  <a:grpSpLocks/>
                </p:cNvGrpSpPr>
                <p:nvPr/>
              </p:nvGrpSpPr>
              <p:grpSpPr bwMode="auto">
                <a:xfrm>
                  <a:off x="2536" y="3118"/>
                  <a:ext cx="2" cy="3"/>
                  <a:chOff x="2536" y="3118"/>
                  <a:chExt cx="2" cy="3"/>
                </a:xfrm>
              </p:grpSpPr>
              <p:sp>
                <p:nvSpPr>
                  <p:cNvPr id="22779" name="Oval 464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2536" y="3118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80" name="Arc 465" descr="50%"/>
                  <p:cNvSpPr>
                    <a:spLocks/>
                  </p:cNvSpPr>
                  <p:nvPr/>
                </p:nvSpPr>
                <p:spPr bwMode="auto">
                  <a:xfrm>
                    <a:off x="2537" y="3119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769" name="Group 466"/>
                <p:cNvGrpSpPr>
                  <a:grpSpLocks/>
                </p:cNvGrpSpPr>
                <p:nvPr/>
              </p:nvGrpSpPr>
              <p:grpSpPr bwMode="auto">
                <a:xfrm>
                  <a:off x="2553" y="3130"/>
                  <a:ext cx="23" cy="4"/>
                  <a:chOff x="2553" y="3130"/>
                  <a:chExt cx="23" cy="4"/>
                </a:xfrm>
              </p:grpSpPr>
              <p:sp>
                <p:nvSpPr>
                  <p:cNvPr id="22774" name="Arc 467" descr="50%"/>
                  <p:cNvSpPr>
                    <a:spLocks/>
                  </p:cNvSpPr>
                  <p:nvPr/>
                </p:nvSpPr>
                <p:spPr bwMode="auto">
                  <a:xfrm>
                    <a:off x="2557" y="3130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75" name="Arc 468" descr="50%"/>
                  <p:cNvSpPr>
                    <a:spLocks/>
                  </p:cNvSpPr>
                  <p:nvPr/>
                </p:nvSpPr>
                <p:spPr bwMode="auto">
                  <a:xfrm>
                    <a:off x="2553" y="3130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76" name="Arc 469" descr="50%"/>
                  <p:cNvSpPr>
                    <a:spLocks/>
                  </p:cNvSpPr>
                  <p:nvPr/>
                </p:nvSpPr>
                <p:spPr bwMode="auto">
                  <a:xfrm>
                    <a:off x="2560" y="3130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77" name="Arc 470" descr="50%"/>
                  <p:cNvSpPr>
                    <a:spLocks/>
                  </p:cNvSpPr>
                  <p:nvPr/>
                </p:nvSpPr>
                <p:spPr bwMode="auto">
                  <a:xfrm>
                    <a:off x="2564" y="3130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78" name="Arc 471" descr="50%"/>
                  <p:cNvSpPr>
                    <a:spLocks/>
                  </p:cNvSpPr>
                  <p:nvPr/>
                </p:nvSpPr>
                <p:spPr bwMode="auto">
                  <a:xfrm>
                    <a:off x="2570" y="3130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770" name="Freeform 472" descr="50%"/>
                <p:cNvSpPr>
                  <a:spLocks/>
                </p:cNvSpPr>
                <p:nvPr/>
              </p:nvSpPr>
              <p:spPr bwMode="auto">
                <a:xfrm>
                  <a:off x="2509" y="3058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771" name="Group 473"/>
                <p:cNvGrpSpPr>
                  <a:grpSpLocks/>
                </p:cNvGrpSpPr>
                <p:nvPr/>
              </p:nvGrpSpPr>
              <p:grpSpPr bwMode="auto">
                <a:xfrm>
                  <a:off x="2573" y="3132"/>
                  <a:ext cx="47" cy="37"/>
                  <a:chOff x="2573" y="3132"/>
                  <a:chExt cx="47" cy="37"/>
                </a:xfrm>
              </p:grpSpPr>
              <p:sp>
                <p:nvSpPr>
                  <p:cNvPr id="22772" name="Freeform 474" descr="50%"/>
                  <p:cNvSpPr>
                    <a:spLocks/>
                  </p:cNvSpPr>
                  <p:nvPr/>
                </p:nvSpPr>
                <p:spPr bwMode="auto">
                  <a:xfrm>
                    <a:off x="2573" y="3138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73" name="Freeform 475" descr="50%"/>
                  <p:cNvSpPr>
                    <a:spLocks/>
                  </p:cNvSpPr>
                  <p:nvPr/>
                </p:nvSpPr>
                <p:spPr bwMode="auto">
                  <a:xfrm>
                    <a:off x="2574" y="3132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2734" name="Group 476"/>
              <p:cNvGrpSpPr>
                <a:grpSpLocks/>
              </p:cNvGrpSpPr>
              <p:nvPr/>
            </p:nvGrpSpPr>
            <p:grpSpPr bwMode="auto">
              <a:xfrm>
                <a:off x="2509" y="3152"/>
                <a:ext cx="321" cy="113"/>
                <a:chOff x="2509" y="3152"/>
                <a:chExt cx="321" cy="113"/>
              </a:xfrm>
            </p:grpSpPr>
            <p:sp>
              <p:nvSpPr>
                <p:cNvPr id="22751" name="Freeform 477" descr="50%"/>
                <p:cNvSpPr>
                  <a:spLocks/>
                </p:cNvSpPr>
                <p:nvPr/>
              </p:nvSpPr>
              <p:spPr bwMode="auto">
                <a:xfrm>
                  <a:off x="2590" y="3225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52" name="Freeform 478" descr="50%"/>
                <p:cNvSpPr>
                  <a:spLocks/>
                </p:cNvSpPr>
                <p:nvPr/>
              </p:nvSpPr>
              <p:spPr bwMode="auto">
                <a:xfrm>
                  <a:off x="2509" y="3152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753" name="Group 479"/>
                <p:cNvGrpSpPr>
                  <a:grpSpLocks/>
                </p:cNvGrpSpPr>
                <p:nvPr/>
              </p:nvGrpSpPr>
              <p:grpSpPr bwMode="auto">
                <a:xfrm>
                  <a:off x="2536" y="3214"/>
                  <a:ext cx="2" cy="3"/>
                  <a:chOff x="2536" y="3214"/>
                  <a:chExt cx="2" cy="3"/>
                </a:xfrm>
              </p:grpSpPr>
              <p:sp>
                <p:nvSpPr>
                  <p:cNvPr id="22764" name="Oval 480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2536" y="3214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65" name="Arc 481" descr="50%"/>
                  <p:cNvSpPr>
                    <a:spLocks/>
                  </p:cNvSpPr>
                  <p:nvPr/>
                </p:nvSpPr>
                <p:spPr bwMode="auto">
                  <a:xfrm>
                    <a:off x="2537" y="3215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754" name="Group 482"/>
                <p:cNvGrpSpPr>
                  <a:grpSpLocks/>
                </p:cNvGrpSpPr>
                <p:nvPr/>
              </p:nvGrpSpPr>
              <p:grpSpPr bwMode="auto">
                <a:xfrm>
                  <a:off x="2553" y="3226"/>
                  <a:ext cx="23" cy="4"/>
                  <a:chOff x="2553" y="3226"/>
                  <a:chExt cx="23" cy="4"/>
                </a:xfrm>
              </p:grpSpPr>
              <p:sp>
                <p:nvSpPr>
                  <p:cNvPr id="22759" name="Arc 483" descr="50%"/>
                  <p:cNvSpPr>
                    <a:spLocks/>
                  </p:cNvSpPr>
                  <p:nvPr/>
                </p:nvSpPr>
                <p:spPr bwMode="auto">
                  <a:xfrm>
                    <a:off x="2557" y="3226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60" name="Arc 484" descr="50%"/>
                  <p:cNvSpPr>
                    <a:spLocks/>
                  </p:cNvSpPr>
                  <p:nvPr/>
                </p:nvSpPr>
                <p:spPr bwMode="auto">
                  <a:xfrm>
                    <a:off x="2553" y="3226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61" name="Arc 485" descr="50%"/>
                  <p:cNvSpPr>
                    <a:spLocks/>
                  </p:cNvSpPr>
                  <p:nvPr/>
                </p:nvSpPr>
                <p:spPr bwMode="auto">
                  <a:xfrm>
                    <a:off x="2560" y="3226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62" name="Arc 486" descr="50%"/>
                  <p:cNvSpPr>
                    <a:spLocks/>
                  </p:cNvSpPr>
                  <p:nvPr/>
                </p:nvSpPr>
                <p:spPr bwMode="auto">
                  <a:xfrm>
                    <a:off x="2564" y="3226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63" name="Arc 487" descr="50%"/>
                  <p:cNvSpPr>
                    <a:spLocks/>
                  </p:cNvSpPr>
                  <p:nvPr/>
                </p:nvSpPr>
                <p:spPr bwMode="auto">
                  <a:xfrm>
                    <a:off x="2570" y="3226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755" name="Freeform 488" descr="50%"/>
                <p:cNvSpPr>
                  <a:spLocks/>
                </p:cNvSpPr>
                <p:nvPr/>
              </p:nvSpPr>
              <p:spPr bwMode="auto">
                <a:xfrm>
                  <a:off x="2509" y="3154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756" name="Group 489"/>
                <p:cNvGrpSpPr>
                  <a:grpSpLocks/>
                </p:cNvGrpSpPr>
                <p:nvPr/>
              </p:nvGrpSpPr>
              <p:grpSpPr bwMode="auto">
                <a:xfrm>
                  <a:off x="2573" y="3228"/>
                  <a:ext cx="47" cy="37"/>
                  <a:chOff x="2573" y="3228"/>
                  <a:chExt cx="47" cy="37"/>
                </a:xfrm>
              </p:grpSpPr>
              <p:sp>
                <p:nvSpPr>
                  <p:cNvPr id="22757" name="Freeform 490" descr="50%"/>
                  <p:cNvSpPr>
                    <a:spLocks/>
                  </p:cNvSpPr>
                  <p:nvPr/>
                </p:nvSpPr>
                <p:spPr bwMode="auto">
                  <a:xfrm>
                    <a:off x="2573" y="3234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58" name="Freeform 491" descr="50%"/>
                  <p:cNvSpPr>
                    <a:spLocks/>
                  </p:cNvSpPr>
                  <p:nvPr/>
                </p:nvSpPr>
                <p:spPr bwMode="auto">
                  <a:xfrm>
                    <a:off x="2574" y="3228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2735" name="Group 492"/>
              <p:cNvGrpSpPr>
                <a:grpSpLocks/>
              </p:cNvGrpSpPr>
              <p:nvPr/>
            </p:nvGrpSpPr>
            <p:grpSpPr bwMode="auto">
              <a:xfrm>
                <a:off x="2509" y="3248"/>
                <a:ext cx="321" cy="113"/>
                <a:chOff x="2509" y="3248"/>
                <a:chExt cx="321" cy="113"/>
              </a:xfrm>
            </p:grpSpPr>
            <p:sp>
              <p:nvSpPr>
                <p:cNvPr id="22736" name="Freeform 493" descr="50%"/>
                <p:cNvSpPr>
                  <a:spLocks/>
                </p:cNvSpPr>
                <p:nvPr/>
              </p:nvSpPr>
              <p:spPr bwMode="auto">
                <a:xfrm>
                  <a:off x="2590" y="3321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37" name="Freeform 494" descr="50%"/>
                <p:cNvSpPr>
                  <a:spLocks/>
                </p:cNvSpPr>
                <p:nvPr/>
              </p:nvSpPr>
              <p:spPr bwMode="auto">
                <a:xfrm>
                  <a:off x="2509" y="3248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738" name="Group 495"/>
                <p:cNvGrpSpPr>
                  <a:grpSpLocks/>
                </p:cNvGrpSpPr>
                <p:nvPr/>
              </p:nvGrpSpPr>
              <p:grpSpPr bwMode="auto">
                <a:xfrm>
                  <a:off x="2536" y="3310"/>
                  <a:ext cx="2" cy="3"/>
                  <a:chOff x="2536" y="3310"/>
                  <a:chExt cx="2" cy="3"/>
                </a:xfrm>
              </p:grpSpPr>
              <p:sp>
                <p:nvSpPr>
                  <p:cNvPr id="22749" name="Oval 496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2536" y="3310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50" name="Arc 497" descr="50%"/>
                  <p:cNvSpPr>
                    <a:spLocks/>
                  </p:cNvSpPr>
                  <p:nvPr/>
                </p:nvSpPr>
                <p:spPr bwMode="auto">
                  <a:xfrm>
                    <a:off x="2537" y="3311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739" name="Group 498"/>
                <p:cNvGrpSpPr>
                  <a:grpSpLocks/>
                </p:cNvGrpSpPr>
                <p:nvPr/>
              </p:nvGrpSpPr>
              <p:grpSpPr bwMode="auto">
                <a:xfrm>
                  <a:off x="2553" y="3322"/>
                  <a:ext cx="23" cy="4"/>
                  <a:chOff x="2553" y="3322"/>
                  <a:chExt cx="23" cy="4"/>
                </a:xfrm>
              </p:grpSpPr>
              <p:sp>
                <p:nvSpPr>
                  <p:cNvPr id="22744" name="Arc 499" descr="50%"/>
                  <p:cNvSpPr>
                    <a:spLocks/>
                  </p:cNvSpPr>
                  <p:nvPr/>
                </p:nvSpPr>
                <p:spPr bwMode="auto">
                  <a:xfrm>
                    <a:off x="2557" y="3322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45" name="Arc 500" descr="50%"/>
                  <p:cNvSpPr>
                    <a:spLocks/>
                  </p:cNvSpPr>
                  <p:nvPr/>
                </p:nvSpPr>
                <p:spPr bwMode="auto">
                  <a:xfrm>
                    <a:off x="2553" y="3322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46" name="Arc 501" descr="50%"/>
                  <p:cNvSpPr>
                    <a:spLocks/>
                  </p:cNvSpPr>
                  <p:nvPr/>
                </p:nvSpPr>
                <p:spPr bwMode="auto">
                  <a:xfrm>
                    <a:off x="2560" y="3322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47" name="Arc 502" descr="50%"/>
                  <p:cNvSpPr>
                    <a:spLocks/>
                  </p:cNvSpPr>
                  <p:nvPr/>
                </p:nvSpPr>
                <p:spPr bwMode="auto">
                  <a:xfrm>
                    <a:off x="2564" y="3322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48" name="Arc 503" descr="50%"/>
                  <p:cNvSpPr>
                    <a:spLocks/>
                  </p:cNvSpPr>
                  <p:nvPr/>
                </p:nvSpPr>
                <p:spPr bwMode="auto">
                  <a:xfrm>
                    <a:off x="2570" y="3322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740" name="Freeform 504" descr="50%"/>
                <p:cNvSpPr>
                  <a:spLocks/>
                </p:cNvSpPr>
                <p:nvPr/>
              </p:nvSpPr>
              <p:spPr bwMode="auto">
                <a:xfrm>
                  <a:off x="2509" y="3250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741" name="Group 505"/>
                <p:cNvGrpSpPr>
                  <a:grpSpLocks/>
                </p:cNvGrpSpPr>
                <p:nvPr/>
              </p:nvGrpSpPr>
              <p:grpSpPr bwMode="auto">
                <a:xfrm>
                  <a:off x="2573" y="3324"/>
                  <a:ext cx="47" cy="37"/>
                  <a:chOff x="2573" y="3324"/>
                  <a:chExt cx="47" cy="37"/>
                </a:xfrm>
              </p:grpSpPr>
              <p:sp>
                <p:nvSpPr>
                  <p:cNvPr id="22742" name="Freeform 506" descr="50%"/>
                  <p:cNvSpPr>
                    <a:spLocks/>
                  </p:cNvSpPr>
                  <p:nvPr/>
                </p:nvSpPr>
                <p:spPr bwMode="auto">
                  <a:xfrm>
                    <a:off x="2573" y="3330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43" name="Freeform 507" descr="50%"/>
                  <p:cNvSpPr>
                    <a:spLocks/>
                  </p:cNvSpPr>
                  <p:nvPr/>
                </p:nvSpPr>
                <p:spPr bwMode="auto">
                  <a:xfrm>
                    <a:off x="2574" y="3324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22650" name="Group 508"/>
            <p:cNvGrpSpPr>
              <a:grpSpLocks/>
            </p:cNvGrpSpPr>
            <p:nvPr/>
          </p:nvGrpSpPr>
          <p:grpSpPr bwMode="auto">
            <a:xfrm>
              <a:off x="2893" y="2864"/>
              <a:ext cx="321" cy="497"/>
              <a:chOff x="2893" y="2864"/>
              <a:chExt cx="321" cy="497"/>
            </a:xfrm>
          </p:grpSpPr>
          <p:grpSp>
            <p:nvGrpSpPr>
              <p:cNvPr id="22651" name="Group 509"/>
              <p:cNvGrpSpPr>
                <a:grpSpLocks/>
              </p:cNvGrpSpPr>
              <p:nvPr/>
            </p:nvGrpSpPr>
            <p:grpSpPr bwMode="auto">
              <a:xfrm>
                <a:off x="2893" y="2864"/>
                <a:ext cx="321" cy="113"/>
                <a:chOff x="2893" y="2864"/>
                <a:chExt cx="321" cy="113"/>
              </a:xfrm>
            </p:grpSpPr>
            <p:sp>
              <p:nvSpPr>
                <p:cNvPr id="22716" name="Freeform 510" descr="50%"/>
                <p:cNvSpPr>
                  <a:spLocks/>
                </p:cNvSpPr>
                <p:nvPr/>
              </p:nvSpPr>
              <p:spPr bwMode="auto">
                <a:xfrm>
                  <a:off x="2974" y="2937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17" name="Freeform 511" descr="50%"/>
                <p:cNvSpPr>
                  <a:spLocks/>
                </p:cNvSpPr>
                <p:nvPr/>
              </p:nvSpPr>
              <p:spPr bwMode="auto">
                <a:xfrm>
                  <a:off x="2893" y="2864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718" name="Group 512"/>
                <p:cNvGrpSpPr>
                  <a:grpSpLocks/>
                </p:cNvGrpSpPr>
                <p:nvPr/>
              </p:nvGrpSpPr>
              <p:grpSpPr bwMode="auto">
                <a:xfrm>
                  <a:off x="2920" y="2926"/>
                  <a:ext cx="2" cy="3"/>
                  <a:chOff x="2920" y="2926"/>
                  <a:chExt cx="2" cy="3"/>
                </a:xfrm>
              </p:grpSpPr>
              <p:sp>
                <p:nvSpPr>
                  <p:cNvPr id="22729" name="Oval 513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2920" y="2926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30" name="Arc 514" descr="50%"/>
                  <p:cNvSpPr>
                    <a:spLocks/>
                  </p:cNvSpPr>
                  <p:nvPr/>
                </p:nvSpPr>
                <p:spPr bwMode="auto">
                  <a:xfrm>
                    <a:off x="2921" y="2927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719" name="Group 515"/>
                <p:cNvGrpSpPr>
                  <a:grpSpLocks/>
                </p:cNvGrpSpPr>
                <p:nvPr/>
              </p:nvGrpSpPr>
              <p:grpSpPr bwMode="auto">
                <a:xfrm>
                  <a:off x="2937" y="2938"/>
                  <a:ext cx="23" cy="4"/>
                  <a:chOff x="2937" y="2938"/>
                  <a:chExt cx="23" cy="4"/>
                </a:xfrm>
              </p:grpSpPr>
              <p:sp>
                <p:nvSpPr>
                  <p:cNvPr id="22724" name="Arc 516" descr="50%"/>
                  <p:cNvSpPr>
                    <a:spLocks/>
                  </p:cNvSpPr>
                  <p:nvPr/>
                </p:nvSpPr>
                <p:spPr bwMode="auto">
                  <a:xfrm>
                    <a:off x="2941" y="2938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25" name="Arc 517" descr="50%"/>
                  <p:cNvSpPr>
                    <a:spLocks/>
                  </p:cNvSpPr>
                  <p:nvPr/>
                </p:nvSpPr>
                <p:spPr bwMode="auto">
                  <a:xfrm>
                    <a:off x="2937" y="2938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26" name="Arc 518" descr="50%"/>
                  <p:cNvSpPr>
                    <a:spLocks/>
                  </p:cNvSpPr>
                  <p:nvPr/>
                </p:nvSpPr>
                <p:spPr bwMode="auto">
                  <a:xfrm>
                    <a:off x="2944" y="2938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27" name="Arc 519" descr="50%"/>
                  <p:cNvSpPr>
                    <a:spLocks/>
                  </p:cNvSpPr>
                  <p:nvPr/>
                </p:nvSpPr>
                <p:spPr bwMode="auto">
                  <a:xfrm>
                    <a:off x="2948" y="2938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28" name="Arc 520" descr="50%"/>
                  <p:cNvSpPr>
                    <a:spLocks/>
                  </p:cNvSpPr>
                  <p:nvPr/>
                </p:nvSpPr>
                <p:spPr bwMode="auto">
                  <a:xfrm>
                    <a:off x="2954" y="2938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720" name="Freeform 521" descr="50%"/>
                <p:cNvSpPr>
                  <a:spLocks/>
                </p:cNvSpPr>
                <p:nvPr/>
              </p:nvSpPr>
              <p:spPr bwMode="auto">
                <a:xfrm>
                  <a:off x="2893" y="2866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721" name="Group 522"/>
                <p:cNvGrpSpPr>
                  <a:grpSpLocks/>
                </p:cNvGrpSpPr>
                <p:nvPr/>
              </p:nvGrpSpPr>
              <p:grpSpPr bwMode="auto">
                <a:xfrm>
                  <a:off x="2957" y="2940"/>
                  <a:ext cx="47" cy="37"/>
                  <a:chOff x="2957" y="2940"/>
                  <a:chExt cx="47" cy="37"/>
                </a:xfrm>
              </p:grpSpPr>
              <p:sp>
                <p:nvSpPr>
                  <p:cNvPr id="22722" name="Freeform 523" descr="50%"/>
                  <p:cNvSpPr>
                    <a:spLocks/>
                  </p:cNvSpPr>
                  <p:nvPr/>
                </p:nvSpPr>
                <p:spPr bwMode="auto">
                  <a:xfrm>
                    <a:off x="2957" y="2946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23" name="Freeform 524" descr="50%"/>
                  <p:cNvSpPr>
                    <a:spLocks/>
                  </p:cNvSpPr>
                  <p:nvPr/>
                </p:nvSpPr>
                <p:spPr bwMode="auto">
                  <a:xfrm>
                    <a:off x="2958" y="2940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2652" name="Group 525"/>
              <p:cNvGrpSpPr>
                <a:grpSpLocks/>
              </p:cNvGrpSpPr>
              <p:nvPr/>
            </p:nvGrpSpPr>
            <p:grpSpPr bwMode="auto">
              <a:xfrm>
                <a:off x="2893" y="2960"/>
                <a:ext cx="321" cy="113"/>
                <a:chOff x="2893" y="2960"/>
                <a:chExt cx="321" cy="113"/>
              </a:xfrm>
            </p:grpSpPr>
            <p:sp>
              <p:nvSpPr>
                <p:cNvPr id="22701" name="Freeform 526" descr="50%"/>
                <p:cNvSpPr>
                  <a:spLocks/>
                </p:cNvSpPr>
                <p:nvPr/>
              </p:nvSpPr>
              <p:spPr bwMode="auto">
                <a:xfrm>
                  <a:off x="2974" y="3033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02" name="Freeform 527" descr="50%"/>
                <p:cNvSpPr>
                  <a:spLocks/>
                </p:cNvSpPr>
                <p:nvPr/>
              </p:nvSpPr>
              <p:spPr bwMode="auto">
                <a:xfrm>
                  <a:off x="2893" y="2960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703" name="Group 528"/>
                <p:cNvGrpSpPr>
                  <a:grpSpLocks/>
                </p:cNvGrpSpPr>
                <p:nvPr/>
              </p:nvGrpSpPr>
              <p:grpSpPr bwMode="auto">
                <a:xfrm>
                  <a:off x="2920" y="3022"/>
                  <a:ext cx="2" cy="3"/>
                  <a:chOff x="2920" y="3022"/>
                  <a:chExt cx="2" cy="3"/>
                </a:xfrm>
              </p:grpSpPr>
              <p:sp>
                <p:nvSpPr>
                  <p:cNvPr id="22714" name="Oval 529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2920" y="3022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15" name="Arc 530" descr="50%"/>
                  <p:cNvSpPr>
                    <a:spLocks/>
                  </p:cNvSpPr>
                  <p:nvPr/>
                </p:nvSpPr>
                <p:spPr bwMode="auto">
                  <a:xfrm>
                    <a:off x="2921" y="3023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704" name="Group 531"/>
                <p:cNvGrpSpPr>
                  <a:grpSpLocks/>
                </p:cNvGrpSpPr>
                <p:nvPr/>
              </p:nvGrpSpPr>
              <p:grpSpPr bwMode="auto">
                <a:xfrm>
                  <a:off x="2937" y="3034"/>
                  <a:ext cx="23" cy="4"/>
                  <a:chOff x="2937" y="3034"/>
                  <a:chExt cx="23" cy="4"/>
                </a:xfrm>
              </p:grpSpPr>
              <p:sp>
                <p:nvSpPr>
                  <p:cNvPr id="22709" name="Arc 532" descr="50%"/>
                  <p:cNvSpPr>
                    <a:spLocks/>
                  </p:cNvSpPr>
                  <p:nvPr/>
                </p:nvSpPr>
                <p:spPr bwMode="auto">
                  <a:xfrm>
                    <a:off x="2941" y="3034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10" name="Arc 533" descr="50%"/>
                  <p:cNvSpPr>
                    <a:spLocks/>
                  </p:cNvSpPr>
                  <p:nvPr/>
                </p:nvSpPr>
                <p:spPr bwMode="auto">
                  <a:xfrm>
                    <a:off x="2937" y="3034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11" name="Arc 534" descr="50%"/>
                  <p:cNvSpPr>
                    <a:spLocks/>
                  </p:cNvSpPr>
                  <p:nvPr/>
                </p:nvSpPr>
                <p:spPr bwMode="auto">
                  <a:xfrm>
                    <a:off x="2944" y="3034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12" name="Arc 535" descr="50%"/>
                  <p:cNvSpPr>
                    <a:spLocks/>
                  </p:cNvSpPr>
                  <p:nvPr/>
                </p:nvSpPr>
                <p:spPr bwMode="auto">
                  <a:xfrm>
                    <a:off x="2948" y="3034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13" name="Arc 536" descr="50%"/>
                  <p:cNvSpPr>
                    <a:spLocks/>
                  </p:cNvSpPr>
                  <p:nvPr/>
                </p:nvSpPr>
                <p:spPr bwMode="auto">
                  <a:xfrm>
                    <a:off x="2954" y="3034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705" name="Freeform 537" descr="50%"/>
                <p:cNvSpPr>
                  <a:spLocks/>
                </p:cNvSpPr>
                <p:nvPr/>
              </p:nvSpPr>
              <p:spPr bwMode="auto">
                <a:xfrm>
                  <a:off x="2893" y="2962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706" name="Group 538"/>
                <p:cNvGrpSpPr>
                  <a:grpSpLocks/>
                </p:cNvGrpSpPr>
                <p:nvPr/>
              </p:nvGrpSpPr>
              <p:grpSpPr bwMode="auto">
                <a:xfrm>
                  <a:off x="2957" y="3036"/>
                  <a:ext cx="47" cy="37"/>
                  <a:chOff x="2957" y="3036"/>
                  <a:chExt cx="47" cy="37"/>
                </a:xfrm>
              </p:grpSpPr>
              <p:sp>
                <p:nvSpPr>
                  <p:cNvPr id="22707" name="Freeform 539" descr="50%"/>
                  <p:cNvSpPr>
                    <a:spLocks/>
                  </p:cNvSpPr>
                  <p:nvPr/>
                </p:nvSpPr>
                <p:spPr bwMode="auto">
                  <a:xfrm>
                    <a:off x="2957" y="3042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08" name="Freeform 540" descr="50%"/>
                  <p:cNvSpPr>
                    <a:spLocks/>
                  </p:cNvSpPr>
                  <p:nvPr/>
                </p:nvSpPr>
                <p:spPr bwMode="auto">
                  <a:xfrm>
                    <a:off x="2958" y="3036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2653" name="Group 541"/>
              <p:cNvGrpSpPr>
                <a:grpSpLocks/>
              </p:cNvGrpSpPr>
              <p:nvPr/>
            </p:nvGrpSpPr>
            <p:grpSpPr bwMode="auto">
              <a:xfrm>
                <a:off x="2893" y="3056"/>
                <a:ext cx="321" cy="113"/>
                <a:chOff x="2893" y="3056"/>
                <a:chExt cx="321" cy="113"/>
              </a:xfrm>
            </p:grpSpPr>
            <p:sp>
              <p:nvSpPr>
                <p:cNvPr id="22686" name="Freeform 542" descr="50%"/>
                <p:cNvSpPr>
                  <a:spLocks/>
                </p:cNvSpPr>
                <p:nvPr/>
              </p:nvSpPr>
              <p:spPr bwMode="auto">
                <a:xfrm>
                  <a:off x="2974" y="3129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87" name="Freeform 543" descr="50%"/>
                <p:cNvSpPr>
                  <a:spLocks/>
                </p:cNvSpPr>
                <p:nvPr/>
              </p:nvSpPr>
              <p:spPr bwMode="auto">
                <a:xfrm>
                  <a:off x="2893" y="3056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688" name="Group 544"/>
                <p:cNvGrpSpPr>
                  <a:grpSpLocks/>
                </p:cNvGrpSpPr>
                <p:nvPr/>
              </p:nvGrpSpPr>
              <p:grpSpPr bwMode="auto">
                <a:xfrm>
                  <a:off x="2920" y="3118"/>
                  <a:ext cx="2" cy="3"/>
                  <a:chOff x="2920" y="3118"/>
                  <a:chExt cx="2" cy="3"/>
                </a:xfrm>
              </p:grpSpPr>
              <p:sp>
                <p:nvSpPr>
                  <p:cNvPr id="22699" name="Oval 545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2920" y="3118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00" name="Arc 546" descr="50%"/>
                  <p:cNvSpPr>
                    <a:spLocks/>
                  </p:cNvSpPr>
                  <p:nvPr/>
                </p:nvSpPr>
                <p:spPr bwMode="auto">
                  <a:xfrm>
                    <a:off x="2921" y="3119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689" name="Group 547"/>
                <p:cNvGrpSpPr>
                  <a:grpSpLocks/>
                </p:cNvGrpSpPr>
                <p:nvPr/>
              </p:nvGrpSpPr>
              <p:grpSpPr bwMode="auto">
                <a:xfrm>
                  <a:off x="2937" y="3130"/>
                  <a:ext cx="23" cy="4"/>
                  <a:chOff x="2937" y="3130"/>
                  <a:chExt cx="23" cy="4"/>
                </a:xfrm>
              </p:grpSpPr>
              <p:sp>
                <p:nvSpPr>
                  <p:cNvPr id="22694" name="Arc 548" descr="50%"/>
                  <p:cNvSpPr>
                    <a:spLocks/>
                  </p:cNvSpPr>
                  <p:nvPr/>
                </p:nvSpPr>
                <p:spPr bwMode="auto">
                  <a:xfrm>
                    <a:off x="2941" y="3130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95" name="Arc 549" descr="50%"/>
                  <p:cNvSpPr>
                    <a:spLocks/>
                  </p:cNvSpPr>
                  <p:nvPr/>
                </p:nvSpPr>
                <p:spPr bwMode="auto">
                  <a:xfrm>
                    <a:off x="2937" y="3130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96" name="Arc 550" descr="50%"/>
                  <p:cNvSpPr>
                    <a:spLocks/>
                  </p:cNvSpPr>
                  <p:nvPr/>
                </p:nvSpPr>
                <p:spPr bwMode="auto">
                  <a:xfrm>
                    <a:off x="2944" y="3130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97" name="Arc 551" descr="50%"/>
                  <p:cNvSpPr>
                    <a:spLocks/>
                  </p:cNvSpPr>
                  <p:nvPr/>
                </p:nvSpPr>
                <p:spPr bwMode="auto">
                  <a:xfrm>
                    <a:off x="2948" y="3130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98" name="Arc 552" descr="50%"/>
                  <p:cNvSpPr>
                    <a:spLocks/>
                  </p:cNvSpPr>
                  <p:nvPr/>
                </p:nvSpPr>
                <p:spPr bwMode="auto">
                  <a:xfrm>
                    <a:off x="2954" y="3130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690" name="Freeform 553" descr="50%"/>
                <p:cNvSpPr>
                  <a:spLocks/>
                </p:cNvSpPr>
                <p:nvPr/>
              </p:nvSpPr>
              <p:spPr bwMode="auto">
                <a:xfrm>
                  <a:off x="2893" y="3058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691" name="Group 554"/>
                <p:cNvGrpSpPr>
                  <a:grpSpLocks/>
                </p:cNvGrpSpPr>
                <p:nvPr/>
              </p:nvGrpSpPr>
              <p:grpSpPr bwMode="auto">
                <a:xfrm>
                  <a:off x="2957" y="3132"/>
                  <a:ext cx="47" cy="37"/>
                  <a:chOff x="2957" y="3132"/>
                  <a:chExt cx="47" cy="37"/>
                </a:xfrm>
              </p:grpSpPr>
              <p:sp>
                <p:nvSpPr>
                  <p:cNvPr id="22692" name="Freeform 555" descr="50%"/>
                  <p:cNvSpPr>
                    <a:spLocks/>
                  </p:cNvSpPr>
                  <p:nvPr/>
                </p:nvSpPr>
                <p:spPr bwMode="auto">
                  <a:xfrm>
                    <a:off x="2957" y="3138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93" name="Freeform 556" descr="50%"/>
                  <p:cNvSpPr>
                    <a:spLocks/>
                  </p:cNvSpPr>
                  <p:nvPr/>
                </p:nvSpPr>
                <p:spPr bwMode="auto">
                  <a:xfrm>
                    <a:off x="2958" y="3132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2654" name="Group 557"/>
              <p:cNvGrpSpPr>
                <a:grpSpLocks/>
              </p:cNvGrpSpPr>
              <p:nvPr/>
            </p:nvGrpSpPr>
            <p:grpSpPr bwMode="auto">
              <a:xfrm>
                <a:off x="2893" y="3152"/>
                <a:ext cx="321" cy="113"/>
                <a:chOff x="2893" y="3152"/>
                <a:chExt cx="321" cy="113"/>
              </a:xfrm>
            </p:grpSpPr>
            <p:sp>
              <p:nvSpPr>
                <p:cNvPr id="22671" name="Freeform 558" descr="50%"/>
                <p:cNvSpPr>
                  <a:spLocks/>
                </p:cNvSpPr>
                <p:nvPr/>
              </p:nvSpPr>
              <p:spPr bwMode="auto">
                <a:xfrm>
                  <a:off x="2974" y="3225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72" name="Freeform 559" descr="50%"/>
                <p:cNvSpPr>
                  <a:spLocks/>
                </p:cNvSpPr>
                <p:nvPr/>
              </p:nvSpPr>
              <p:spPr bwMode="auto">
                <a:xfrm>
                  <a:off x="2893" y="3152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673" name="Group 560"/>
                <p:cNvGrpSpPr>
                  <a:grpSpLocks/>
                </p:cNvGrpSpPr>
                <p:nvPr/>
              </p:nvGrpSpPr>
              <p:grpSpPr bwMode="auto">
                <a:xfrm>
                  <a:off x="2920" y="3214"/>
                  <a:ext cx="2" cy="3"/>
                  <a:chOff x="2920" y="3214"/>
                  <a:chExt cx="2" cy="3"/>
                </a:xfrm>
              </p:grpSpPr>
              <p:sp>
                <p:nvSpPr>
                  <p:cNvPr id="22684" name="Oval 561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2920" y="3214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85" name="Arc 562" descr="50%"/>
                  <p:cNvSpPr>
                    <a:spLocks/>
                  </p:cNvSpPr>
                  <p:nvPr/>
                </p:nvSpPr>
                <p:spPr bwMode="auto">
                  <a:xfrm>
                    <a:off x="2921" y="3215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674" name="Group 563"/>
                <p:cNvGrpSpPr>
                  <a:grpSpLocks/>
                </p:cNvGrpSpPr>
                <p:nvPr/>
              </p:nvGrpSpPr>
              <p:grpSpPr bwMode="auto">
                <a:xfrm>
                  <a:off x="2937" y="3226"/>
                  <a:ext cx="23" cy="4"/>
                  <a:chOff x="2937" y="3226"/>
                  <a:chExt cx="23" cy="4"/>
                </a:xfrm>
              </p:grpSpPr>
              <p:sp>
                <p:nvSpPr>
                  <p:cNvPr id="22679" name="Arc 564" descr="50%"/>
                  <p:cNvSpPr>
                    <a:spLocks/>
                  </p:cNvSpPr>
                  <p:nvPr/>
                </p:nvSpPr>
                <p:spPr bwMode="auto">
                  <a:xfrm>
                    <a:off x="2941" y="3226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80" name="Arc 565" descr="50%"/>
                  <p:cNvSpPr>
                    <a:spLocks/>
                  </p:cNvSpPr>
                  <p:nvPr/>
                </p:nvSpPr>
                <p:spPr bwMode="auto">
                  <a:xfrm>
                    <a:off x="2937" y="3226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81" name="Arc 566" descr="50%"/>
                  <p:cNvSpPr>
                    <a:spLocks/>
                  </p:cNvSpPr>
                  <p:nvPr/>
                </p:nvSpPr>
                <p:spPr bwMode="auto">
                  <a:xfrm>
                    <a:off x="2944" y="3226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82" name="Arc 567" descr="50%"/>
                  <p:cNvSpPr>
                    <a:spLocks/>
                  </p:cNvSpPr>
                  <p:nvPr/>
                </p:nvSpPr>
                <p:spPr bwMode="auto">
                  <a:xfrm>
                    <a:off x="2948" y="3226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83" name="Arc 568" descr="50%"/>
                  <p:cNvSpPr>
                    <a:spLocks/>
                  </p:cNvSpPr>
                  <p:nvPr/>
                </p:nvSpPr>
                <p:spPr bwMode="auto">
                  <a:xfrm>
                    <a:off x="2954" y="3226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675" name="Freeform 569" descr="50%"/>
                <p:cNvSpPr>
                  <a:spLocks/>
                </p:cNvSpPr>
                <p:nvPr/>
              </p:nvSpPr>
              <p:spPr bwMode="auto">
                <a:xfrm>
                  <a:off x="2893" y="3154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676" name="Group 570"/>
                <p:cNvGrpSpPr>
                  <a:grpSpLocks/>
                </p:cNvGrpSpPr>
                <p:nvPr/>
              </p:nvGrpSpPr>
              <p:grpSpPr bwMode="auto">
                <a:xfrm>
                  <a:off x="2957" y="3228"/>
                  <a:ext cx="47" cy="37"/>
                  <a:chOff x="2957" y="3228"/>
                  <a:chExt cx="47" cy="37"/>
                </a:xfrm>
              </p:grpSpPr>
              <p:sp>
                <p:nvSpPr>
                  <p:cNvPr id="22677" name="Freeform 571" descr="50%"/>
                  <p:cNvSpPr>
                    <a:spLocks/>
                  </p:cNvSpPr>
                  <p:nvPr/>
                </p:nvSpPr>
                <p:spPr bwMode="auto">
                  <a:xfrm>
                    <a:off x="2957" y="3234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78" name="Freeform 572" descr="50%"/>
                  <p:cNvSpPr>
                    <a:spLocks/>
                  </p:cNvSpPr>
                  <p:nvPr/>
                </p:nvSpPr>
                <p:spPr bwMode="auto">
                  <a:xfrm>
                    <a:off x="2958" y="3228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2655" name="Group 573"/>
              <p:cNvGrpSpPr>
                <a:grpSpLocks/>
              </p:cNvGrpSpPr>
              <p:nvPr/>
            </p:nvGrpSpPr>
            <p:grpSpPr bwMode="auto">
              <a:xfrm>
                <a:off x="2893" y="3248"/>
                <a:ext cx="321" cy="113"/>
                <a:chOff x="2893" y="3248"/>
                <a:chExt cx="321" cy="113"/>
              </a:xfrm>
            </p:grpSpPr>
            <p:sp>
              <p:nvSpPr>
                <p:cNvPr id="22656" name="Freeform 574" descr="50%"/>
                <p:cNvSpPr>
                  <a:spLocks/>
                </p:cNvSpPr>
                <p:nvPr/>
              </p:nvSpPr>
              <p:spPr bwMode="auto">
                <a:xfrm>
                  <a:off x="2974" y="3321"/>
                  <a:ext cx="38" cy="31"/>
                </a:xfrm>
                <a:custGeom>
                  <a:avLst/>
                  <a:gdLst>
                    <a:gd name="T0" fmla="*/ 0 w 38"/>
                    <a:gd name="T1" fmla="*/ 0 h 31"/>
                    <a:gd name="T2" fmla="*/ 1 w 38"/>
                    <a:gd name="T3" fmla="*/ 3 h 31"/>
                    <a:gd name="T4" fmla="*/ 3 w 38"/>
                    <a:gd name="T5" fmla="*/ 6 h 31"/>
                    <a:gd name="T6" fmla="*/ 5 w 38"/>
                    <a:gd name="T7" fmla="*/ 9 h 31"/>
                    <a:gd name="T8" fmla="*/ 7 w 38"/>
                    <a:gd name="T9" fmla="*/ 12 h 31"/>
                    <a:gd name="T10" fmla="*/ 10 w 38"/>
                    <a:gd name="T11" fmla="*/ 15 h 31"/>
                    <a:gd name="T12" fmla="*/ 13 w 38"/>
                    <a:gd name="T13" fmla="*/ 19 h 31"/>
                    <a:gd name="T14" fmla="*/ 15 w 38"/>
                    <a:gd name="T15" fmla="*/ 21 h 31"/>
                    <a:gd name="T16" fmla="*/ 18 w 38"/>
                    <a:gd name="T17" fmla="*/ 23 h 31"/>
                    <a:gd name="T18" fmla="*/ 21 w 38"/>
                    <a:gd name="T19" fmla="*/ 25 h 31"/>
                    <a:gd name="T20" fmla="*/ 24 w 38"/>
                    <a:gd name="T21" fmla="*/ 27 h 31"/>
                    <a:gd name="T22" fmla="*/ 26 w 38"/>
                    <a:gd name="T23" fmla="*/ 28 h 31"/>
                    <a:gd name="T24" fmla="*/ 29 w 38"/>
                    <a:gd name="T25" fmla="*/ 29 h 31"/>
                    <a:gd name="T26" fmla="*/ 33 w 38"/>
                    <a:gd name="T27" fmla="*/ 30 h 31"/>
                    <a:gd name="T28" fmla="*/ 36 w 38"/>
                    <a:gd name="T29" fmla="*/ 30 h 31"/>
                    <a:gd name="T30" fmla="*/ 37 w 38"/>
                    <a:gd name="T31" fmla="*/ 29 h 31"/>
                    <a:gd name="T32" fmla="*/ 35 w 38"/>
                    <a:gd name="T33" fmla="*/ 27 h 31"/>
                    <a:gd name="T34" fmla="*/ 33 w 38"/>
                    <a:gd name="T35" fmla="*/ 25 h 31"/>
                    <a:gd name="T36" fmla="*/ 31 w 38"/>
                    <a:gd name="T37" fmla="*/ 22 h 31"/>
                    <a:gd name="T38" fmla="*/ 29 w 38"/>
                    <a:gd name="T39" fmla="*/ 19 h 31"/>
                    <a:gd name="T40" fmla="*/ 27 w 38"/>
                    <a:gd name="T41" fmla="*/ 16 h 31"/>
                    <a:gd name="T42" fmla="*/ 26 w 38"/>
                    <a:gd name="T43" fmla="*/ 13 h 31"/>
                    <a:gd name="T44" fmla="*/ 25 w 38"/>
                    <a:gd name="T45" fmla="*/ 11 h 31"/>
                    <a:gd name="T46" fmla="*/ 24 w 38"/>
                    <a:gd name="T47" fmla="*/ 6 h 31"/>
                    <a:gd name="T48" fmla="*/ 24 w 38"/>
                    <a:gd name="T49" fmla="*/ 3 h 31"/>
                    <a:gd name="T50" fmla="*/ 24 w 38"/>
                    <a:gd name="T51" fmla="*/ 1 h 31"/>
                    <a:gd name="T52" fmla="*/ 0 w 38"/>
                    <a:gd name="T53" fmla="*/ 0 h 31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8" h="31">
                      <a:moveTo>
                        <a:pt x="0" y="0"/>
                      </a:moveTo>
                      <a:lnTo>
                        <a:pt x="1" y="3"/>
                      </a:lnTo>
                      <a:lnTo>
                        <a:pt x="3" y="6"/>
                      </a:lnTo>
                      <a:lnTo>
                        <a:pt x="5" y="9"/>
                      </a:lnTo>
                      <a:lnTo>
                        <a:pt x="7" y="12"/>
                      </a:lnTo>
                      <a:lnTo>
                        <a:pt x="10" y="15"/>
                      </a:lnTo>
                      <a:lnTo>
                        <a:pt x="13" y="19"/>
                      </a:lnTo>
                      <a:lnTo>
                        <a:pt x="15" y="21"/>
                      </a:lnTo>
                      <a:lnTo>
                        <a:pt x="18" y="23"/>
                      </a:lnTo>
                      <a:lnTo>
                        <a:pt x="21" y="25"/>
                      </a:lnTo>
                      <a:lnTo>
                        <a:pt x="24" y="27"/>
                      </a:lnTo>
                      <a:lnTo>
                        <a:pt x="26" y="28"/>
                      </a:lnTo>
                      <a:lnTo>
                        <a:pt x="29" y="29"/>
                      </a:lnTo>
                      <a:lnTo>
                        <a:pt x="33" y="30"/>
                      </a:lnTo>
                      <a:lnTo>
                        <a:pt x="36" y="30"/>
                      </a:lnTo>
                      <a:lnTo>
                        <a:pt x="37" y="29"/>
                      </a:lnTo>
                      <a:lnTo>
                        <a:pt x="35" y="27"/>
                      </a:lnTo>
                      <a:lnTo>
                        <a:pt x="33" y="25"/>
                      </a:lnTo>
                      <a:lnTo>
                        <a:pt x="31" y="22"/>
                      </a:lnTo>
                      <a:lnTo>
                        <a:pt x="29" y="19"/>
                      </a:lnTo>
                      <a:lnTo>
                        <a:pt x="27" y="16"/>
                      </a:lnTo>
                      <a:lnTo>
                        <a:pt x="26" y="13"/>
                      </a:lnTo>
                      <a:lnTo>
                        <a:pt x="25" y="11"/>
                      </a:lnTo>
                      <a:lnTo>
                        <a:pt x="24" y="6"/>
                      </a:lnTo>
                      <a:lnTo>
                        <a:pt x="24" y="3"/>
                      </a:lnTo>
                      <a:lnTo>
                        <a:pt x="24" y="1"/>
                      </a:lnTo>
                      <a:lnTo>
                        <a:pt x="0" y="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57" name="Freeform 575" descr="50%"/>
                <p:cNvSpPr>
                  <a:spLocks/>
                </p:cNvSpPr>
                <p:nvPr/>
              </p:nvSpPr>
              <p:spPr bwMode="auto">
                <a:xfrm>
                  <a:off x="2893" y="3248"/>
                  <a:ext cx="321" cy="98"/>
                </a:xfrm>
                <a:custGeom>
                  <a:avLst/>
                  <a:gdLst>
                    <a:gd name="T0" fmla="*/ 3 w 321"/>
                    <a:gd name="T1" fmla="*/ 58 h 98"/>
                    <a:gd name="T2" fmla="*/ 13 w 321"/>
                    <a:gd name="T3" fmla="*/ 54 h 98"/>
                    <a:gd name="T4" fmla="*/ 28 w 321"/>
                    <a:gd name="T5" fmla="*/ 49 h 98"/>
                    <a:gd name="T6" fmla="*/ 43 w 321"/>
                    <a:gd name="T7" fmla="*/ 46 h 98"/>
                    <a:gd name="T8" fmla="*/ 59 w 321"/>
                    <a:gd name="T9" fmla="*/ 43 h 98"/>
                    <a:gd name="T10" fmla="*/ 75 w 321"/>
                    <a:gd name="T11" fmla="*/ 40 h 98"/>
                    <a:gd name="T12" fmla="*/ 88 w 321"/>
                    <a:gd name="T13" fmla="*/ 37 h 98"/>
                    <a:gd name="T14" fmla="*/ 95 w 321"/>
                    <a:gd name="T15" fmla="*/ 33 h 98"/>
                    <a:gd name="T16" fmla="*/ 103 w 321"/>
                    <a:gd name="T17" fmla="*/ 25 h 98"/>
                    <a:gd name="T18" fmla="*/ 114 w 321"/>
                    <a:gd name="T19" fmla="*/ 14 h 98"/>
                    <a:gd name="T20" fmla="*/ 125 w 321"/>
                    <a:gd name="T21" fmla="*/ 4 h 98"/>
                    <a:gd name="T22" fmla="*/ 133 w 321"/>
                    <a:gd name="T23" fmla="*/ 12 h 98"/>
                    <a:gd name="T24" fmla="*/ 137 w 321"/>
                    <a:gd name="T25" fmla="*/ 29 h 98"/>
                    <a:gd name="T26" fmla="*/ 140 w 321"/>
                    <a:gd name="T27" fmla="*/ 36 h 98"/>
                    <a:gd name="T28" fmla="*/ 159 w 321"/>
                    <a:gd name="T29" fmla="*/ 39 h 98"/>
                    <a:gd name="T30" fmla="*/ 177 w 321"/>
                    <a:gd name="T31" fmla="*/ 43 h 98"/>
                    <a:gd name="T32" fmla="*/ 191 w 321"/>
                    <a:gd name="T33" fmla="*/ 43 h 98"/>
                    <a:gd name="T34" fmla="*/ 206 w 321"/>
                    <a:gd name="T35" fmla="*/ 39 h 98"/>
                    <a:gd name="T36" fmla="*/ 218 w 321"/>
                    <a:gd name="T37" fmla="*/ 48 h 98"/>
                    <a:gd name="T38" fmla="*/ 229 w 321"/>
                    <a:gd name="T39" fmla="*/ 51 h 98"/>
                    <a:gd name="T40" fmla="*/ 243 w 321"/>
                    <a:gd name="T41" fmla="*/ 51 h 98"/>
                    <a:gd name="T42" fmla="*/ 258 w 321"/>
                    <a:gd name="T43" fmla="*/ 45 h 98"/>
                    <a:gd name="T44" fmla="*/ 275 w 321"/>
                    <a:gd name="T45" fmla="*/ 31 h 98"/>
                    <a:gd name="T46" fmla="*/ 294 w 321"/>
                    <a:gd name="T47" fmla="*/ 14 h 98"/>
                    <a:gd name="T48" fmla="*/ 314 w 321"/>
                    <a:gd name="T49" fmla="*/ 8 h 98"/>
                    <a:gd name="T50" fmla="*/ 314 w 321"/>
                    <a:gd name="T51" fmla="*/ 13 h 98"/>
                    <a:gd name="T52" fmla="*/ 305 w 321"/>
                    <a:gd name="T53" fmla="*/ 25 h 98"/>
                    <a:gd name="T54" fmla="*/ 294 w 321"/>
                    <a:gd name="T55" fmla="*/ 37 h 98"/>
                    <a:gd name="T56" fmla="*/ 287 w 321"/>
                    <a:gd name="T57" fmla="*/ 48 h 98"/>
                    <a:gd name="T58" fmla="*/ 287 w 321"/>
                    <a:gd name="T59" fmla="*/ 60 h 98"/>
                    <a:gd name="T60" fmla="*/ 295 w 321"/>
                    <a:gd name="T61" fmla="*/ 73 h 98"/>
                    <a:gd name="T62" fmla="*/ 305 w 321"/>
                    <a:gd name="T63" fmla="*/ 82 h 98"/>
                    <a:gd name="T64" fmla="*/ 313 w 321"/>
                    <a:gd name="T65" fmla="*/ 89 h 98"/>
                    <a:gd name="T66" fmla="*/ 314 w 321"/>
                    <a:gd name="T67" fmla="*/ 93 h 98"/>
                    <a:gd name="T68" fmla="*/ 302 w 321"/>
                    <a:gd name="T69" fmla="*/ 93 h 98"/>
                    <a:gd name="T70" fmla="*/ 291 w 321"/>
                    <a:gd name="T71" fmla="*/ 90 h 98"/>
                    <a:gd name="T72" fmla="*/ 281 w 321"/>
                    <a:gd name="T73" fmla="*/ 85 h 98"/>
                    <a:gd name="T74" fmla="*/ 264 w 321"/>
                    <a:gd name="T75" fmla="*/ 74 h 98"/>
                    <a:gd name="T76" fmla="*/ 243 w 321"/>
                    <a:gd name="T77" fmla="*/ 72 h 98"/>
                    <a:gd name="T78" fmla="*/ 218 w 321"/>
                    <a:gd name="T79" fmla="*/ 75 h 98"/>
                    <a:gd name="T80" fmla="*/ 202 w 321"/>
                    <a:gd name="T81" fmla="*/ 82 h 98"/>
                    <a:gd name="T82" fmla="*/ 197 w 321"/>
                    <a:gd name="T83" fmla="*/ 89 h 98"/>
                    <a:gd name="T84" fmla="*/ 175 w 321"/>
                    <a:gd name="T85" fmla="*/ 88 h 98"/>
                    <a:gd name="T86" fmla="*/ 156 w 321"/>
                    <a:gd name="T87" fmla="*/ 94 h 98"/>
                    <a:gd name="T88" fmla="*/ 86 w 321"/>
                    <a:gd name="T89" fmla="*/ 97 h 98"/>
                    <a:gd name="T90" fmla="*/ 46 w 321"/>
                    <a:gd name="T91" fmla="*/ 93 h 98"/>
                    <a:gd name="T92" fmla="*/ 11 w 321"/>
                    <a:gd name="T93" fmla="*/ 81 h 98"/>
                    <a:gd name="T94" fmla="*/ 11 w 321"/>
                    <a:gd name="T95" fmla="*/ 74 h 98"/>
                    <a:gd name="T96" fmla="*/ 3 w 321"/>
                    <a:gd name="T97" fmla="*/ 67 h 98"/>
                    <a:gd name="T98" fmla="*/ 0 w 321"/>
                    <a:gd name="T99" fmla="*/ 62 h 98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321" h="98">
                      <a:moveTo>
                        <a:pt x="0" y="60"/>
                      </a:moveTo>
                      <a:lnTo>
                        <a:pt x="1" y="59"/>
                      </a:lnTo>
                      <a:lnTo>
                        <a:pt x="3" y="58"/>
                      </a:lnTo>
                      <a:lnTo>
                        <a:pt x="7" y="56"/>
                      </a:lnTo>
                      <a:lnTo>
                        <a:pt x="10" y="55"/>
                      </a:lnTo>
                      <a:lnTo>
                        <a:pt x="13" y="54"/>
                      </a:lnTo>
                      <a:lnTo>
                        <a:pt x="18" y="52"/>
                      </a:lnTo>
                      <a:lnTo>
                        <a:pt x="23" y="51"/>
                      </a:lnTo>
                      <a:lnTo>
                        <a:pt x="28" y="49"/>
                      </a:lnTo>
                      <a:lnTo>
                        <a:pt x="32" y="48"/>
                      </a:lnTo>
                      <a:lnTo>
                        <a:pt x="38" y="47"/>
                      </a:lnTo>
                      <a:lnTo>
                        <a:pt x="43" y="46"/>
                      </a:lnTo>
                      <a:lnTo>
                        <a:pt x="49" y="45"/>
                      </a:lnTo>
                      <a:lnTo>
                        <a:pt x="54" y="44"/>
                      </a:lnTo>
                      <a:lnTo>
                        <a:pt x="59" y="43"/>
                      </a:lnTo>
                      <a:lnTo>
                        <a:pt x="63" y="42"/>
                      </a:lnTo>
                      <a:lnTo>
                        <a:pt x="69" y="41"/>
                      </a:lnTo>
                      <a:lnTo>
                        <a:pt x="75" y="40"/>
                      </a:lnTo>
                      <a:lnTo>
                        <a:pt x="80" y="39"/>
                      </a:lnTo>
                      <a:lnTo>
                        <a:pt x="84" y="38"/>
                      </a:lnTo>
                      <a:lnTo>
                        <a:pt x="88" y="37"/>
                      </a:lnTo>
                      <a:lnTo>
                        <a:pt x="91" y="36"/>
                      </a:lnTo>
                      <a:lnTo>
                        <a:pt x="93" y="34"/>
                      </a:lnTo>
                      <a:lnTo>
                        <a:pt x="95" y="33"/>
                      </a:lnTo>
                      <a:lnTo>
                        <a:pt x="97" y="31"/>
                      </a:lnTo>
                      <a:lnTo>
                        <a:pt x="100" y="28"/>
                      </a:lnTo>
                      <a:lnTo>
                        <a:pt x="103" y="25"/>
                      </a:lnTo>
                      <a:lnTo>
                        <a:pt x="106" y="21"/>
                      </a:lnTo>
                      <a:lnTo>
                        <a:pt x="110" y="18"/>
                      </a:lnTo>
                      <a:lnTo>
                        <a:pt x="114" y="14"/>
                      </a:lnTo>
                      <a:lnTo>
                        <a:pt x="117" y="10"/>
                      </a:lnTo>
                      <a:lnTo>
                        <a:pt x="121" y="7"/>
                      </a:lnTo>
                      <a:lnTo>
                        <a:pt x="125" y="4"/>
                      </a:lnTo>
                      <a:lnTo>
                        <a:pt x="130" y="0"/>
                      </a:lnTo>
                      <a:lnTo>
                        <a:pt x="131" y="7"/>
                      </a:lnTo>
                      <a:lnTo>
                        <a:pt x="133" y="12"/>
                      </a:lnTo>
                      <a:lnTo>
                        <a:pt x="135" y="18"/>
                      </a:lnTo>
                      <a:lnTo>
                        <a:pt x="136" y="24"/>
                      </a:lnTo>
                      <a:lnTo>
                        <a:pt x="137" y="29"/>
                      </a:lnTo>
                      <a:lnTo>
                        <a:pt x="137" y="32"/>
                      </a:lnTo>
                      <a:lnTo>
                        <a:pt x="135" y="35"/>
                      </a:lnTo>
                      <a:lnTo>
                        <a:pt x="140" y="36"/>
                      </a:lnTo>
                      <a:lnTo>
                        <a:pt x="145" y="37"/>
                      </a:lnTo>
                      <a:lnTo>
                        <a:pt x="152" y="38"/>
                      </a:lnTo>
                      <a:lnTo>
                        <a:pt x="159" y="39"/>
                      </a:lnTo>
                      <a:lnTo>
                        <a:pt x="166" y="41"/>
                      </a:lnTo>
                      <a:lnTo>
                        <a:pt x="171" y="42"/>
                      </a:lnTo>
                      <a:lnTo>
                        <a:pt x="177" y="43"/>
                      </a:lnTo>
                      <a:lnTo>
                        <a:pt x="183" y="43"/>
                      </a:lnTo>
                      <a:lnTo>
                        <a:pt x="188" y="44"/>
                      </a:lnTo>
                      <a:lnTo>
                        <a:pt x="191" y="43"/>
                      </a:lnTo>
                      <a:lnTo>
                        <a:pt x="195" y="41"/>
                      </a:lnTo>
                      <a:lnTo>
                        <a:pt x="198" y="38"/>
                      </a:lnTo>
                      <a:lnTo>
                        <a:pt x="206" y="39"/>
                      </a:lnTo>
                      <a:lnTo>
                        <a:pt x="215" y="42"/>
                      </a:lnTo>
                      <a:lnTo>
                        <a:pt x="222" y="43"/>
                      </a:lnTo>
                      <a:lnTo>
                        <a:pt x="218" y="48"/>
                      </a:lnTo>
                      <a:lnTo>
                        <a:pt x="220" y="49"/>
                      </a:lnTo>
                      <a:lnTo>
                        <a:pt x="225" y="50"/>
                      </a:lnTo>
                      <a:lnTo>
                        <a:pt x="229" y="51"/>
                      </a:lnTo>
                      <a:lnTo>
                        <a:pt x="234" y="52"/>
                      </a:lnTo>
                      <a:lnTo>
                        <a:pt x="238" y="51"/>
                      </a:lnTo>
                      <a:lnTo>
                        <a:pt x="243" y="51"/>
                      </a:lnTo>
                      <a:lnTo>
                        <a:pt x="248" y="50"/>
                      </a:lnTo>
                      <a:lnTo>
                        <a:pt x="253" y="48"/>
                      </a:lnTo>
                      <a:lnTo>
                        <a:pt x="258" y="45"/>
                      </a:lnTo>
                      <a:lnTo>
                        <a:pt x="264" y="41"/>
                      </a:lnTo>
                      <a:lnTo>
                        <a:pt x="269" y="37"/>
                      </a:lnTo>
                      <a:lnTo>
                        <a:pt x="275" y="31"/>
                      </a:lnTo>
                      <a:lnTo>
                        <a:pt x="281" y="24"/>
                      </a:lnTo>
                      <a:lnTo>
                        <a:pt x="288" y="19"/>
                      </a:lnTo>
                      <a:lnTo>
                        <a:pt x="294" y="14"/>
                      </a:lnTo>
                      <a:lnTo>
                        <a:pt x="300" y="11"/>
                      </a:lnTo>
                      <a:lnTo>
                        <a:pt x="306" y="9"/>
                      </a:lnTo>
                      <a:lnTo>
                        <a:pt x="314" y="8"/>
                      </a:lnTo>
                      <a:lnTo>
                        <a:pt x="320" y="8"/>
                      </a:lnTo>
                      <a:lnTo>
                        <a:pt x="317" y="11"/>
                      </a:lnTo>
                      <a:lnTo>
                        <a:pt x="314" y="13"/>
                      </a:lnTo>
                      <a:lnTo>
                        <a:pt x="313" y="15"/>
                      </a:lnTo>
                      <a:lnTo>
                        <a:pt x="309" y="22"/>
                      </a:lnTo>
                      <a:lnTo>
                        <a:pt x="305" y="25"/>
                      </a:lnTo>
                      <a:lnTo>
                        <a:pt x="301" y="28"/>
                      </a:lnTo>
                      <a:lnTo>
                        <a:pt x="297" y="33"/>
                      </a:lnTo>
                      <a:lnTo>
                        <a:pt x="294" y="37"/>
                      </a:lnTo>
                      <a:lnTo>
                        <a:pt x="292" y="41"/>
                      </a:lnTo>
                      <a:lnTo>
                        <a:pt x="289" y="45"/>
                      </a:lnTo>
                      <a:lnTo>
                        <a:pt x="287" y="48"/>
                      </a:lnTo>
                      <a:lnTo>
                        <a:pt x="286" y="52"/>
                      </a:lnTo>
                      <a:lnTo>
                        <a:pt x="286" y="56"/>
                      </a:lnTo>
                      <a:lnTo>
                        <a:pt x="287" y="60"/>
                      </a:lnTo>
                      <a:lnTo>
                        <a:pt x="289" y="65"/>
                      </a:lnTo>
                      <a:lnTo>
                        <a:pt x="292" y="69"/>
                      </a:lnTo>
                      <a:lnTo>
                        <a:pt x="295" y="73"/>
                      </a:lnTo>
                      <a:lnTo>
                        <a:pt x="298" y="76"/>
                      </a:lnTo>
                      <a:lnTo>
                        <a:pt x="301" y="79"/>
                      </a:lnTo>
                      <a:lnTo>
                        <a:pt x="305" y="82"/>
                      </a:lnTo>
                      <a:lnTo>
                        <a:pt x="309" y="85"/>
                      </a:lnTo>
                      <a:lnTo>
                        <a:pt x="311" y="87"/>
                      </a:lnTo>
                      <a:lnTo>
                        <a:pt x="313" y="89"/>
                      </a:lnTo>
                      <a:lnTo>
                        <a:pt x="316" y="91"/>
                      </a:lnTo>
                      <a:lnTo>
                        <a:pt x="317" y="93"/>
                      </a:lnTo>
                      <a:lnTo>
                        <a:pt x="314" y="93"/>
                      </a:lnTo>
                      <a:lnTo>
                        <a:pt x="309" y="93"/>
                      </a:lnTo>
                      <a:lnTo>
                        <a:pt x="305" y="93"/>
                      </a:lnTo>
                      <a:lnTo>
                        <a:pt x="302" y="93"/>
                      </a:lnTo>
                      <a:lnTo>
                        <a:pt x="297" y="92"/>
                      </a:lnTo>
                      <a:lnTo>
                        <a:pt x="294" y="91"/>
                      </a:lnTo>
                      <a:lnTo>
                        <a:pt x="291" y="90"/>
                      </a:lnTo>
                      <a:lnTo>
                        <a:pt x="288" y="88"/>
                      </a:lnTo>
                      <a:lnTo>
                        <a:pt x="284" y="87"/>
                      </a:lnTo>
                      <a:lnTo>
                        <a:pt x="281" y="85"/>
                      </a:lnTo>
                      <a:lnTo>
                        <a:pt x="274" y="80"/>
                      </a:lnTo>
                      <a:lnTo>
                        <a:pt x="270" y="77"/>
                      </a:lnTo>
                      <a:lnTo>
                        <a:pt x="264" y="74"/>
                      </a:lnTo>
                      <a:lnTo>
                        <a:pt x="258" y="73"/>
                      </a:lnTo>
                      <a:lnTo>
                        <a:pt x="252" y="73"/>
                      </a:lnTo>
                      <a:lnTo>
                        <a:pt x="243" y="72"/>
                      </a:lnTo>
                      <a:lnTo>
                        <a:pt x="235" y="73"/>
                      </a:lnTo>
                      <a:lnTo>
                        <a:pt x="227" y="74"/>
                      </a:lnTo>
                      <a:lnTo>
                        <a:pt x="218" y="75"/>
                      </a:lnTo>
                      <a:lnTo>
                        <a:pt x="209" y="77"/>
                      </a:lnTo>
                      <a:lnTo>
                        <a:pt x="203" y="80"/>
                      </a:lnTo>
                      <a:lnTo>
                        <a:pt x="202" y="82"/>
                      </a:lnTo>
                      <a:lnTo>
                        <a:pt x="203" y="83"/>
                      </a:lnTo>
                      <a:lnTo>
                        <a:pt x="208" y="86"/>
                      </a:lnTo>
                      <a:lnTo>
                        <a:pt x="197" y="89"/>
                      </a:lnTo>
                      <a:lnTo>
                        <a:pt x="182" y="93"/>
                      </a:lnTo>
                      <a:lnTo>
                        <a:pt x="179" y="90"/>
                      </a:lnTo>
                      <a:lnTo>
                        <a:pt x="175" y="88"/>
                      </a:lnTo>
                      <a:lnTo>
                        <a:pt x="171" y="87"/>
                      </a:lnTo>
                      <a:lnTo>
                        <a:pt x="164" y="87"/>
                      </a:lnTo>
                      <a:lnTo>
                        <a:pt x="156" y="94"/>
                      </a:lnTo>
                      <a:lnTo>
                        <a:pt x="149" y="89"/>
                      </a:lnTo>
                      <a:lnTo>
                        <a:pt x="97" y="96"/>
                      </a:lnTo>
                      <a:lnTo>
                        <a:pt x="86" y="97"/>
                      </a:lnTo>
                      <a:lnTo>
                        <a:pt x="77" y="96"/>
                      </a:lnTo>
                      <a:lnTo>
                        <a:pt x="66" y="95"/>
                      </a:lnTo>
                      <a:lnTo>
                        <a:pt x="46" y="93"/>
                      </a:lnTo>
                      <a:lnTo>
                        <a:pt x="28" y="88"/>
                      </a:lnTo>
                      <a:lnTo>
                        <a:pt x="18" y="84"/>
                      </a:lnTo>
                      <a:lnTo>
                        <a:pt x="11" y="81"/>
                      </a:lnTo>
                      <a:lnTo>
                        <a:pt x="18" y="79"/>
                      </a:lnTo>
                      <a:lnTo>
                        <a:pt x="14" y="76"/>
                      </a:lnTo>
                      <a:lnTo>
                        <a:pt x="11" y="74"/>
                      </a:lnTo>
                      <a:lnTo>
                        <a:pt x="6" y="70"/>
                      </a:lnTo>
                      <a:lnTo>
                        <a:pt x="5" y="69"/>
                      </a:lnTo>
                      <a:lnTo>
                        <a:pt x="3" y="67"/>
                      </a:lnTo>
                      <a:lnTo>
                        <a:pt x="2" y="66"/>
                      </a:lnTo>
                      <a:lnTo>
                        <a:pt x="1" y="63"/>
                      </a:lnTo>
                      <a:lnTo>
                        <a:pt x="0" y="62"/>
                      </a:lnTo>
                      <a:lnTo>
                        <a:pt x="0" y="60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658" name="Group 576"/>
                <p:cNvGrpSpPr>
                  <a:grpSpLocks/>
                </p:cNvGrpSpPr>
                <p:nvPr/>
              </p:nvGrpSpPr>
              <p:grpSpPr bwMode="auto">
                <a:xfrm>
                  <a:off x="2920" y="3310"/>
                  <a:ext cx="2" cy="3"/>
                  <a:chOff x="2920" y="3310"/>
                  <a:chExt cx="2" cy="3"/>
                </a:xfrm>
              </p:grpSpPr>
              <p:sp>
                <p:nvSpPr>
                  <p:cNvPr id="22669" name="Oval 577" descr="50%"/>
                  <p:cNvSpPr>
                    <a:spLocks noChangeArrowheads="1"/>
                  </p:cNvSpPr>
                  <p:nvPr/>
                </p:nvSpPr>
                <p:spPr bwMode="auto">
                  <a:xfrm>
                    <a:off x="2920" y="3310"/>
                    <a:ext cx="2" cy="2"/>
                  </a:xfrm>
                  <a:prstGeom prst="ellipse">
                    <a:avLst/>
                  </a:pr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70" name="Arc 578" descr="50%"/>
                  <p:cNvSpPr>
                    <a:spLocks/>
                  </p:cNvSpPr>
                  <p:nvPr/>
                </p:nvSpPr>
                <p:spPr bwMode="auto">
                  <a:xfrm>
                    <a:off x="2921" y="3311"/>
                    <a:ext cx="1" cy="2"/>
                  </a:xfrm>
                  <a:custGeom>
                    <a:avLst/>
                    <a:gdLst>
                      <a:gd name="T0" fmla="*/ 0 w 43200"/>
                      <a:gd name="T1" fmla="*/ 1 h 43200"/>
                      <a:gd name="T2" fmla="*/ 0 w 43200"/>
                      <a:gd name="T3" fmla="*/ 1 h 43200"/>
                      <a:gd name="T4" fmla="*/ 1 w 43200"/>
                      <a:gd name="T5" fmla="*/ 1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2280" y="11940"/>
                        </a:moveTo>
                      </a:path>
                      <a:path w="43200" h="43200" stroke="0" extrusionOk="0">
                        <a:moveTo>
                          <a:pt x="2280" y="11940"/>
                        </a:moveTo>
                        <a:lnTo>
                          <a:pt x="21600" y="21600"/>
                        </a:lnTo>
                        <a:lnTo>
                          <a:pt x="2280" y="1194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659" name="Group 579"/>
                <p:cNvGrpSpPr>
                  <a:grpSpLocks/>
                </p:cNvGrpSpPr>
                <p:nvPr/>
              </p:nvGrpSpPr>
              <p:grpSpPr bwMode="auto">
                <a:xfrm>
                  <a:off x="2937" y="3322"/>
                  <a:ext cx="23" cy="4"/>
                  <a:chOff x="2937" y="3322"/>
                  <a:chExt cx="23" cy="4"/>
                </a:xfrm>
              </p:grpSpPr>
              <p:sp>
                <p:nvSpPr>
                  <p:cNvPr id="22664" name="Arc 580" descr="50%"/>
                  <p:cNvSpPr>
                    <a:spLocks/>
                  </p:cNvSpPr>
                  <p:nvPr/>
                </p:nvSpPr>
                <p:spPr bwMode="auto">
                  <a:xfrm>
                    <a:off x="2941" y="3322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65" name="Arc 581" descr="50%"/>
                  <p:cNvSpPr>
                    <a:spLocks/>
                  </p:cNvSpPr>
                  <p:nvPr/>
                </p:nvSpPr>
                <p:spPr bwMode="auto">
                  <a:xfrm>
                    <a:off x="2937" y="3322"/>
                    <a:ext cx="0" cy="4"/>
                  </a:xfrm>
                  <a:custGeom>
                    <a:avLst/>
                    <a:gdLst>
                      <a:gd name="T0" fmla="*/ 1 w 43200"/>
                      <a:gd name="T1" fmla="*/ 2 h 43200"/>
                      <a:gd name="T2" fmla="*/ 1 w 43200"/>
                      <a:gd name="T3" fmla="*/ 2 h 43200"/>
                      <a:gd name="T4" fmla="*/ 1 w 4320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3200" h="43200" fill="none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</a:path>
                      <a:path w="43200" h="43200" stroke="0" extrusionOk="0">
                        <a:moveTo>
                          <a:pt x="43200" y="21600"/>
                        </a:move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3529" y="-1"/>
                          <a:pt x="43199" y="9670"/>
                          <a:pt x="43200" y="21599"/>
                        </a:cubicBezTo>
                        <a:lnTo>
                          <a:pt x="21600" y="21600"/>
                        </a:lnTo>
                        <a:lnTo>
                          <a:pt x="43200" y="21600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66" name="Arc 582" descr="50%"/>
                  <p:cNvSpPr>
                    <a:spLocks/>
                  </p:cNvSpPr>
                  <p:nvPr/>
                </p:nvSpPr>
                <p:spPr bwMode="auto">
                  <a:xfrm>
                    <a:off x="2944" y="3322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67" name="Arc 583" descr="50%"/>
                  <p:cNvSpPr>
                    <a:spLocks/>
                  </p:cNvSpPr>
                  <p:nvPr/>
                </p:nvSpPr>
                <p:spPr bwMode="auto">
                  <a:xfrm>
                    <a:off x="2948" y="3322"/>
                    <a:ext cx="7" cy="4"/>
                  </a:xfrm>
                  <a:custGeom>
                    <a:avLst/>
                    <a:gdLst>
                      <a:gd name="T0" fmla="*/ 2 w 35950"/>
                      <a:gd name="T1" fmla="*/ 0 h 43200"/>
                      <a:gd name="T2" fmla="*/ 0 w 35950"/>
                      <a:gd name="T3" fmla="*/ 3 h 43200"/>
                      <a:gd name="T4" fmla="*/ 3 w 35950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5950" h="43200" fill="none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</a:path>
                      <a:path w="35950" h="43200" stroke="0" extrusionOk="0">
                        <a:moveTo>
                          <a:pt x="9664" y="514"/>
                        </a:moveTo>
                        <a:cubicBezTo>
                          <a:pt x="11202" y="172"/>
                          <a:pt x="12773" y="-1"/>
                          <a:pt x="14350" y="0"/>
                        </a:cubicBezTo>
                        <a:cubicBezTo>
                          <a:pt x="26279" y="0"/>
                          <a:pt x="35950" y="9670"/>
                          <a:pt x="35950" y="21600"/>
                        </a:cubicBezTo>
                        <a:cubicBezTo>
                          <a:pt x="35950" y="33529"/>
                          <a:pt x="26279" y="43200"/>
                          <a:pt x="14350" y="43200"/>
                        </a:cubicBezTo>
                        <a:cubicBezTo>
                          <a:pt x="9059" y="43200"/>
                          <a:pt x="3953" y="41258"/>
                          <a:pt x="-1" y="37744"/>
                        </a:cubicBezTo>
                        <a:lnTo>
                          <a:pt x="14350" y="21600"/>
                        </a:lnTo>
                        <a:lnTo>
                          <a:pt x="9664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68" name="Arc 584" descr="50%"/>
                  <p:cNvSpPr>
                    <a:spLocks/>
                  </p:cNvSpPr>
                  <p:nvPr/>
                </p:nvSpPr>
                <p:spPr bwMode="auto">
                  <a:xfrm>
                    <a:off x="2954" y="3322"/>
                    <a:ext cx="6" cy="4"/>
                  </a:xfrm>
                  <a:custGeom>
                    <a:avLst/>
                    <a:gdLst>
                      <a:gd name="T0" fmla="*/ 1 w 30373"/>
                      <a:gd name="T1" fmla="*/ 0 h 43200"/>
                      <a:gd name="T2" fmla="*/ 0 w 30373"/>
                      <a:gd name="T3" fmla="*/ 4 h 43200"/>
                      <a:gd name="T4" fmla="*/ 2 w 30373"/>
                      <a:gd name="T5" fmla="*/ 2 h 432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0373" h="43200" fill="none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</a:path>
                      <a:path w="30373" h="43200" stroke="0" extrusionOk="0">
                        <a:moveTo>
                          <a:pt x="4087" y="514"/>
                        </a:moveTo>
                        <a:cubicBezTo>
                          <a:pt x="5625" y="172"/>
                          <a:pt x="7196" y="-1"/>
                          <a:pt x="8773" y="0"/>
                        </a:cubicBezTo>
                        <a:cubicBezTo>
                          <a:pt x="20702" y="0"/>
                          <a:pt x="30373" y="9670"/>
                          <a:pt x="30373" y="21600"/>
                        </a:cubicBezTo>
                        <a:cubicBezTo>
                          <a:pt x="30373" y="33529"/>
                          <a:pt x="20702" y="43200"/>
                          <a:pt x="8773" y="43200"/>
                        </a:cubicBezTo>
                        <a:cubicBezTo>
                          <a:pt x="5750" y="43200"/>
                          <a:pt x="2761" y="42565"/>
                          <a:pt x="-1" y="41338"/>
                        </a:cubicBezTo>
                        <a:lnTo>
                          <a:pt x="8773" y="21600"/>
                        </a:lnTo>
                        <a:lnTo>
                          <a:pt x="4087" y="514"/>
                        </a:lnTo>
                        <a:close/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660" name="Freeform 585" descr="50%"/>
                <p:cNvSpPr>
                  <a:spLocks/>
                </p:cNvSpPr>
                <p:nvPr/>
              </p:nvSpPr>
              <p:spPr bwMode="auto">
                <a:xfrm>
                  <a:off x="2893" y="3250"/>
                  <a:ext cx="312" cy="58"/>
                </a:xfrm>
                <a:custGeom>
                  <a:avLst/>
                  <a:gdLst>
                    <a:gd name="T0" fmla="*/ 7 w 312"/>
                    <a:gd name="T1" fmla="*/ 48 h 58"/>
                    <a:gd name="T2" fmla="*/ 21 w 312"/>
                    <a:gd name="T3" fmla="*/ 44 h 58"/>
                    <a:gd name="T4" fmla="*/ 42 w 312"/>
                    <a:gd name="T5" fmla="*/ 39 h 58"/>
                    <a:gd name="T6" fmla="*/ 63 w 312"/>
                    <a:gd name="T7" fmla="*/ 36 h 58"/>
                    <a:gd name="T8" fmla="*/ 83 w 312"/>
                    <a:gd name="T9" fmla="*/ 32 h 58"/>
                    <a:gd name="T10" fmla="*/ 94 w 312"/>
                    <a:gd name="T11" fmla="*/ 27 h 58"/>
                    <a:gd name="T12" fmla="*/ 104 w 312"/>
                    <a:gd name="T13" fmla="*/ 18 h 58"/>
                    <a:gd name="T14" fmla="*/ 119 w 312"/>
                    <a:gd name="T15" fmla="*/ 5 h 58"/>
                    <a:gd name="T16" fmla="*/ 130 w 312"/>
                    <a:gd name="T17" fmla="*/ 10 h 58"/>
                    <a:gd name="T18" fmla="*/ 134 w 312"/>
                    <a:gd name="T19" fmla="*/ 25 h 58"/>
                    <a:gd name="T20" fmla="*/ 142 w 312"/>
                    <a:gd name="T21" fmla="*/ 31 h 58"/>
                    <a:gd name="T22" fmla="*/ 168 w 312"/>
                    <a:gd name="T23" fmla="*/ 35 h 58"/>
                    <a:gd name="T24" fmla="*/ 187 w 312"/>
                    <a:gd name="T25" fmla="*/ 36 h 58"/>
                    <a:gd name="T26" fmla="*/ 210 w 312"/>
                    <a:gd name="T27" fmla="*/ 35 h 58"/>
                    <a:gd name="T28" fmla="*/ 219 w 312"/>
                    <a:gd name="T29" fmla="*/ 43 h 58"/>
                    <a:gd name="T30" fmla="*/ 238 w 312"/>
                    <a:gd name="T31" fmla="*/ 44 h 58"/>
                    <a:gd name="T32" fmla="*/ 258 w 312"/>
                    <a:gd name="T33" fmla="*/ 34 h 58"/>
                    <a:gd name="T34" fmla="*/ 275 w 312"/>
                    <a:gd name="T35" fmla="*/ 20 h 58"/>
                    <a:gd name="T36" fmla="*/ 288 w 312"/>
                    <a:gd name="T37" fmla="*/ 11 h 58"/>
                    <a:gd name="T38" fmla="*/ 299 w 312"/>
                    <a:gd name="T39" fmla="*/ 6 h 58"/>
                    <a:gd name="T40" fmla="*/ 309 w 312"/>
                    <a:gd name="T41" fmla="*/ 8 h 58"/>
                    <a:gd name="T42" fmla="*/ 301 w 312"/>
                    <a:gd name="T43" fmla="*/ 18 h 58"/>
                    <a:gd name="T44" fmla="*/ 291 w 312"/>
                    <a:gd name="T45" fmla="*/ 26 h 58"/>
                    <a:gd name="T46" fmla="*/ 285 w 312"/>
                    <a:gd name="T47" fmla="*/ 34 h 58"/>
                    <a:gd name="T48" fmla="*/ 280 w 312"/>
                    <a:gd name="T49" fmla="*/ 40 h 58"/>
                    <a:gd name="T50" fmla="*/ 279 w 312"/>
                    <a:gd name="T51" fmla="*/ 48 h 58"/>
                    <a:gd name="T52" fmla="*/ 270 w 312"/>
                    <a:gd name="T53" fmla="*/ 46 h 58"/>
                    <a:gd name="T54" fmla="*/ 262 w 312"/>
                    <a:gd name="T55" fmla="*/ 49 h 58"/>
                    <a:gd name="T56" fmla="*/ 253 w 312"/>
                    <a:gd name="T57" fmla="*/ 48 h 58"/>
                    <a:gd name="T58" fmla="*/ 243 w 312"/>
                    <a:gd name="T59" fmla="*/ 48 h 58"/>
                    <a:gd name="T60" fmla="*/ 232 w 312"/>
                    <a:gd name="T61" fmla="*/ 47 h 58"/>
                    <a:gd name="T62" fmla="*/ 220 w 312"/>
                    <a:gd name="T63" fmla="*/ 48 h 58"/>
                    <a:gd name="T64" fmla="*/ 208 w 312"/>
                    <a:gd name="T65" fmla="*/ 50 h 58"/>
                    <a:gd name="T66" fmla="*/ 196 w 312"/>
                    <a:gd name="T67" fmla="*/ 50 h 58"/>
                    <a:gd name="T68" fmla="*/ 184 w 312"/>
                    <a:gd name="T69" fmla="*/ 50 h 58"/>
                    <a:gd name="T70" fmla="*/ 174 w 312"/>
                    <a:gd name="T71" fmla="*/ 52 h 58"/>
                    <a:gd name="T72" fmla="*/ 162 w 312"/>
                    <a:gd name="T73" fmla="*/ 54 h 58"/>
                    <a:gd name="T74" fmla="*/ 148 w 312"/>
                    <a:gd name="T75" fmla="*/ 54 h 58"/>
                    <a:gd name="T76" fmla="*/ 136 w 312"/>
                    <a:gd name="T77" fmla="*/ 54 h 58"/>
                    <a:gd name="T78" fmla="*/ 125 w 312"/>
                    <a:gd name="T79" fmla="*/ 53 h 58"/>
                    <a:gd name="T80" fmla="*/ 113 w 312"/>
                    <a:gd name="T81" fmla="*/ 54 h 58"/>
                    <a:gd name="T82" fmla="*/ 104 w 312"/>
                    <a:gd name="T83" fmla="*/ 53 h 58"/>
                    <a:gd name="T84" fmla="*/ 93 w 312"/>
                    <a:gd name="T85" fmla="*/ 54 h 58"/>
                    <a:gd name="T86" fmla="*/ 80 w 312"/>
                    <a:gd name="T87" fmla="*/ 54 h 58"/>
                    <a:gd name="T88" fmla="*/ 64 w 312"/>
                    <a:gd name="T89" fmla="*/ 57 h 58"/>
                    <a:gd name="T90" fmla="*/ 46 w 312"/>
                    <a:gd name="T91" fmla="*/ 57 h 58"/>
                    <a:gd name="T92" fmla="*/ 31 w 312"/>
                    <a:gd name="T93" fmla="*/ 55 h 58"/>
                    <a:gd name="T94" fmla="*/ 17 w 312"/>
                    <a:gd name="T95" fmla="*/ 55 h 58"/>
                    <a:gd name="T96" fmla="*/ 4 w 312"/>
                    <a:gd name="T97" fmla="*/ 53 h 58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0" t="0" r="r" b="b"/>
                  <a:pathLst>
                    <a:path w="312" h="58">
                      <a:moveTo>
                        <a:pt x="0" y="52"/>
                      </a:moveTo>
                      <a:lnTo>
                        <a:pt x="2" y="50"/>
                      </a:lnTo>
                      <a:lnTo>
                        <a:pt x="5" y="49"/>
                      </a:lnTo>
                      <a:lnTo>
                        <a:pt x="7" y="48"/>
                      </a:lnTo>
                      <a:lnTo>
                        <a:pt x="10" y="47"/>
                      </a:lnTo>
                      <a:lnTo>
                        <a:pt x="13" y="46"/>
                      </a:lnTo>
                      <a:lnTo>
                        <a:pt x="18" y="45"/>
                      </a:lnTo>
                      <a:lnTo>
                        <a:pt x="21" y="44"/>
                      </a:lnTo>
                      <a:lnTo>
                        <a:pt x="26" y="42"/>
                      </a:lnTo>
                      <a:lnTo>
                        <a:pt x="31" y="41"/>
                      </a:lnTo>
                      <a:lnTo>
                        <a:pt x="37" y="40"/>
                      </a:lnTo>
                      <a:lnTo>
                        <a:pt x="42" y="39"/>
                      </a:lnTo>
                      <a:lnTo>
                        <a:pt x="48" y="39"/>
                      </a:lnTo>
                      <a:lnTo>
                        <a:pt x="53" y="38"/>
                      </a:lnTo>
                      <a:lnTo>
                        <a:pt x="58" y="37"/>
                      </a:lnTo>
                      <a:lnTo>
                        <a:pt x="63" y="36"/>
                      </a:lnTo>
                      <a:lnTo>
                        <a:pt x="67" y="35"/>
                      </a:lnTo>
                      <a:lnTo>
                        <a:pt x="73" y="34"/>
                      </a:lnTo>
                      <a:lnTo>
                        <a:pt x="78" y="33"/>
                      </a:lnTo>
                      <a:lnTo>
                        <a:pt x="83" y="32"/>
                      </a:lnTo>
                      <a:lnTo>
                        <a:pt x="86" y="32"/>
                      </a:lnTo>
                      <a:lnTo>
                        <a:pt x="90" y="30"/>
                      </a:lnTo>
                      <a:lnTo>
                        <a:pt x="92" y="29"/>
                      </a:lnTo>
                      <a:lnTo>
                        <a:pt x="94" y="27"/>
                      </a:lnTo>
                      <a:lnTo>
                        <a:pt x="96" y="25"/>
                      </a:lnTo>
                      <a:lnTo>
                        <a:pt x="98" y="23"/>
                      </a:lnTo>
                      <a:lnTo>
                        <a:pt x="101" y="20"/>
                      </a:lnTo>
                      <a:lnTo>
                        <a:pt x="104" y="18"/>
                      </a:lnTo>
                      <a:lnTo>
                        <a:pt x="107" y="14"/>
                      </a:lnTo>
                      <a:lnTo>
                        <a:pt x="111" y="11"/>
                      </a:lnTo>
                      <a:lnTo>
                        <a:pt x="115" y="8"/>
                      </a:lnTo>
                      <a:lnTo>
                        <a:pt x="119" y="5"/>
                      </a:lnTo>
                      <a:lnTo>
                        <a:pt x="123" y="2"/>
                      </a:lnTo>
                      <a:lnTo>
                        <a:pt x="127" y="0"/>
                      </a:lnTo>
                      <a:lnTo>
                        <a:pt x="128" y="4"/>
                      </a:lnTo>
                      <a:lnTo>
                        <a:pt x="130" y="10"/>
                      </a:lnTo>
                      <a:lnTo>
                        <a:pt x="132" y="15"/>
                      </a:lnTo>
                      <a:lnTo>
                        <a:pt x="133" y="20"/>
                      </a:lnTo>
                      <a:lnTo>
                        <a:pt x="134" y="22"/>
                      </a:lnTo>
                      <a:lnTo>
                        <a:pt x="134" y="25"/>
                      </a:lnTo>
                      <a:lnTo>
                        <a:pt x="134" y="27"/>
                      </a:lnTo>
                      <a:lnTo>
                        <a:pt x="132" y="29"/>
                      </a:lnTo>
                      <a:lnTo>
                        <a:pt x="137" y="31"/>
                      </a:lnTo>
                      <a:lnTo>
                        <a:pt x="142" y="31"/>
                      </a:lnTo>
                      <a:lnTo>
                        <a:pt x="148" y="32"/>
                      </a:lnTo>
                      <a:lnTo>
                        <a:pt x="155" y="33"/>
                      </a:lnTo>
                      <a:lnTo>
                        <a:pt x="162" y="34"/>
                      </a:lnTo>
                      <a:lnTo>
                        <a:pt x="168" y="35"/>
                      </a:lnTo>
                      <a:lnTo>
                        <a:pt x="174" y="36"/>
                      </a:lnTo>
                      <a:lnTo>
                        <a:pt x="178" y="37"/>
                      </a:lnTo>
                      <a:lnTo>
                        <a:pt x="183" y="37"/>
                      </a:lnTo>
                      <a:lnTo>
                        <a:pt x="187" y="36"/>
                      </a:lnTo>
                      <a:lnTo>
                        <a:pt x="190" y="34"/>
                      </a:lnTo>
                      <a:lnTo>
                        <a:pt x="194" y="32"/>
                      </a:lnTo>
                      <a:lnTo>
                        <a:pt x="202" y="33"/>
                      </a:lnTo>
                      <a:lnTo>
                        <a:pt x="210" y="35"/>
                      </a:lnTo>
                      <a:lnTo>
                        <a:pt x="216" y="37"/>
                      </a:lnTo>
                      <a:lnTo>
                        <a:pt x="213" y="40"/>
                      </a:lnTo>
                      <a:lnTo>
                        <a:pt x="215" y="41"/>
                      </a:lnTo>
                      <a:lnTo>
                        <a:pt x="219" y="43"/>
                      </a:lnTo>
                      <a:lnTo>
                        <a:pt x="223" y="44"/>
                      </a:lnTo>
                      <a:lnTo>
                        <a:pt x="228" y="44"/>
                      </a:lnTo>
                      <a:lnTo>
                        <a:pt x="233" y="44"/>
                      </a:lnTo>
                      <a:lnTo>
                        <a:pt x="238" y="44"/>
                      </a:lnTo>
                      <a:lnTo>
                        <a:pt x="242" y="43"/>
                      </a:lnTo>
                      <a:lnTo>
                        <a:pt x="248" y="41"/>
                      </a:lnTo>
                      <a:lnTo>
                        <a:pt x="253" y="39"/>
                      </a:lnTo>
                      <a:lnTo>
                        <a:pt x="258" y="34"/>
                      </a:lnTo>
                      <a:lnTo>
                        <a:pt x="263" y="31"/>
                      </a:lnTo>
                      <a:lnTo>
                        <a:pt x="268" y="26"/>
                      </a:lnTo>
                      <a:lnTo>
                        <a:pt x="271" y="24"/>
                      </a:lnTo>
                      <a:lnTo>
                        <a:pt x="275" y="20"/>
                      </a:lnTo>
                      <a:lnTo>
                        <a:pt x="278" y="18"/>
                      </a:lnTo>
                      <a:lnTo>
                        <a:pt x="282" y="15"/>
                      </a:lnTo>
                      <a:lnTo>
                        <a:pt x="285" y="13"/>
                      </a:lnTo>
                      <a:lnTo>
                        <a:pt x="288" y="11"/>
                      </a:lnTo>
                      <a:lnTo>
                        <a:pt x="291" y="10"/>
                      </a:lnTo>
                      <a:lnTo>
                        <a:pt x="293" y="9"/>
                      </a:lnTo>
                      <a:lnTo>
                        <a:pt x="296" y="7"/>
                      </a:lnTo>
                      <a:lnTo>
                        <a:pt x="299" y="6"/>
                      </a:lnTo>
                      <a:lnTo>
                        <a:pt x="302" y="6"/>
                      </a:lnTo>
                      <a:lnTo>
                        <a:pt x="306" y="6"/>
                      </a:lnTo>
                      <a:lnTo>
                        <a:pt x="311" y="6"/>
                      </a:lnTo>
                      <a:lnTo>
                        <a:pt x="309" y="8"/>
                      </a:lnTo>
                      <a:lnTo>
                        <a:pt x="307" y="11"/>
                      </a:lnTo>
                      <a:lnTo>
                        <a:pt x="305" y="12"/>
                      </a:lnTo>
                      <a:lnTo>
                        <a:pt x="303" y="15"/>
                      </a:lnTo>
                      <a:lnTo>
                        <a:pt x="301" y="18"/>
                      </a:lnTo>
                      <a:lnTo>
                        <a:pt x="298" y="20"/>
                      </a:lnTo>
                      <a:lnTo>
                        <a:pt x="294" y="23"/>
                      </a:lnTo>
                      <a:lnTo>
                        <a:pt x="292" y="25"/>
                      </a:lnTo>
                      <a:lnTo>
                        <a:pt x="291" y="26"/>
                      </a:lnTo>
                      <a:lnTo>
                        <a:pt x="289" y="29"/>
                      </a:lnTo>
                      <a:lnTo>
                        <a:pt x="288" y="30"/>
                      </a:lnTo>
                      <a:lnTo>
                        <a:pt x="286" y="32"/>
                      </a:lnTo>
                      <a:lnTo>
                        <a:pt x="285" y="34"/>
                      </a:lnTo>
                      <a:lnTo>
                        <a:pt x="284" y="36"/>
                      </a:lnTo>
                      <a:lnTo>
                        <a:pt x="282" y="38"/>
                      </a:lnTo>
                      <a:lnTo>
                        <a:pt x="281" y="39"/>
                      </a:lnTo>
                      <a:lnTo>
                        <a:pt x="280" y="40"/>
                      </a:lnTo>
                      <a:lnTo>
                        <a:pt x="280" y="43"/>
                      </a:lnTo>
                      <a:lnTo>
                        <a:pt x="279" y="44"/>
                      </a:lnTo>
                      <a:lnTo>
                        <a:pt x="279" y="46"/>
                      </a:lnTo>
                      <a:lnTo>
                        <a:pt x="279" y="48"/>
                      </a:lnTo>
                      <a:lnTo>
                        <a:pt x="277" y="46"/>
                      </a:lnTo>
                      <a:lnTo>
                        <a:pt x="274" y="46"/>
                      </a:lnTo>
                      <a:lnTo>
                        <a:pt x="272" y="46"/>
                      </a:lnTo>
                      <a:lnTo>
                        <a:pt x="270" y="46"/>
                      </a:lnTo>
                      <a:lnTo>
                        <a:pt x="268" y="47"/>
                      </a:lnTo>
                      <a:lnTo>
                        <a:pt x="266" y="48"/>
                      </a:lnTo>
                      <a:lnTo>
                        <a:pt x="264" y="48"/>
                      </a:lnTo>
                      <a:lnTo>
                        <a:pt x="262" y="49"/>
                      </a:lnTo>
                      <a:lnTo>
                        <a:pt x="259" y="49"/>
                      </a:lnTo>
                      <a:lnTo>
                        <a:pt x="256" y="49"/>
                      </a:lnTo>
                      <a:lnTo>
                        <a:pt x="254" y="48"/>
                      </a:lnTo>
                      <a:lnTo>
                        <a:pt x="253" y="48"/>
                      </a:lnTo>
                      <a:lnTo>
                        <a:pt x="251" y="47"/>
                      </a:lnTo>
                      <a:lnTo>
                        <a:pt x="249" y="47"/>
                      </a:lnTo>
                      <a:lnTo>
                        <a:pt x="245" y="48"/>
                      </a:lnTo>
                      <a:lnTo>
                        <a:pt x="243" y="48"/>
                      </a:lnTo>
                      <a:lnTo>
                        <a:pt x="241" y="48"/>
                      </a:lnTo>
                      <a:lnTo>
                        <a:pt x="238" y="48"/>
                      </a:lnTo>
                      <a:lnTo>
                        <a:pt x="235" y="47"/>
                      </a:lnTo>
                      <a:lnTo>
                        <a:pt x="232" y="47"/>
                      </a:lnTo>
                      <a:lnTo>
                        <a:pt x="229" y="48"/>
                      </a:lnTo>
                      <a:lnTo>
                        <a:pt x="225" y="48"/>
                      </a:lnTo>
                      <a:lnTo>
                        <a:pt x="223" y="48"/>
                      </a:lnTo>
                      <a:lnTo>
                        <a:pt x="220" y="48"/>
                      </a:lnTo>
                      <a:lnTo>
                        <a:pt x="217" y="48"/>
                      </a:lnTo>
                      <a:lnTo>
                        <a:pt x="214" y="48"/>
                      </a:lnTo>
                      <a:lnTo>
                        <a:pt x="212" y="49"/>
                      </a:lnTo>
                      <a:lnTo>
                        <a:pt x="208" y="50"/>
                      </a:lnTo>
                      <a:lnTo>
                        <a:pt x="205" y="50"/>
                      </a:lnTo>
                      <a:lnTo>
                        <a:pt x="202" y="51"/>
                      </a:lnTo>
                      <a:lnTo>
                        <a:pt x="199" y="51"/>
                      </a:lnTo>
                      <a:lnTo>
                        <a:pt x="196" y="50"/>
                      </a:lnTo>
                      <a:lnTo>
                        <a:pt x="193" y="49"/>
                      </a:lnTo>
                      <a:lnTo>
                        <a:pt x="189" y="50"/>
                      </a:lnTo>
                      <a:lnTo>
                        <a:pt x="187" y="50"/>
                      </a:lnTo>
                      <a:lnTo>
                        <a:pt x="184" y="50"/>
                      </a:lnTo>
                      <a:lnTo>
                        <a:pt x="181" y="50"/>
                      </a:lnTo>
                      <a:lnTo>
                        <a:pt x="179" y="50"/>
                      </a:lnTo>
                      <a:lnTo>
                        <a:pt x="176" y="51"/>
                      </a:lnTo>
                      <a:lnTo>
                        <a:pt x="174" y="52"/>
                      </a:lnTo>
                      <a:lnTo>
                        <a:pt x="171" y="52"/>
                      </a:lnTo>
                      <a:lnTo>
                        <a:pt x="168" y="53"/>
                      </a:lnTo>
                      <a:lnTo>
                        <a:pt x="165" y="53"/>
                      </a:lnTo>
                      <a:lnTo>
                        <a:pt x="162" y="54"/>
                      </a:lnTo>
                      <a:lnTo>
                        <a:pt x="159" y="54"/>
                      </a:lnTo>
                      <a:lnTo>
                        <a:pt x="155" y="54"/>
                      </a:lnTo>
                      <a:lnTo>
                        <a:pt x="151" y="53"/>
                      </a:lnTo>
                      <a:lnTo>
                        <a:pt x="148" y="54"/>
                      </a:lnTo>
                      <a:lnTo>
                        <a:pt x="145" y="54"/>
                      </a:lnTo>
                      <a:lnTo>
                        <a:pt x="142" y="54"/>
                      </a:lnTo>
                      <a:lnTo>
                        <a:pt x="139" y="54"/>
                      </a:lnTo>
                      <a:lnTo>
                        <a:pt x="136" y="54"/>
                      </a:lnTo>
                      <a:lnTo>
                        <a:pt x="133" y="54"/>
                      </a:lnTo>
                      <a:lnTo>
                        <a:pt x="130" y="53"/>
                      </a:lnTo>
                      <a:lnTo>
                        <a:pt x="128" y="53"/>
                      </a:lnTo>
                      <a:lnTo>
                        <a:pt x="125" y="53"/>
                      </a:lnTo>
                      <a:lnTo>
                        <a:pt x="122" y="53"/>
                      </a:lnTo>
                      <a:lnTo>
                        <a:pt x="119" y="53"/>
                      </a:lnTo>
                      <a:lnTo>
                        <a:pt x="116" y="53"/>
                      </a:lnTo>
                      <a:lnTo>
                        <a:pt x="113" y="54"/>
                      </a:lnTo>
                      <a:lnTo>
                        <a:pt x="111" y="54"/>
                      </a:lnTo>
                      <a:lnTo>
                        <a:pt x="109" y="53"/>
                      </a:lnTo>
                      <a:lnTo>
                        <a:pt x="106" y="53"/>
                      </a:lnTo>
                      <a:lnTo>
                        <a:pt x="104" y="53"/>
                      </a:lnTo>
                      <a:lnTo>
                        <a:pt x="101" y="53"/>
                      </a:lnTo>
                      <a:lnTo>
                        <a:pt x="98" y="53"/>
                      </a:lnTo>
                      <a:lnTo>
                        <a:pt x="96" y="53"/>
                      </a:lnTo>
                      <a:lnTo>
                        <a:pt x="93" y="54"/>
                      </a:lnTo>
                      <a:lnTo>
                        <a:pt x="89" y="54"/>
                      </a:lnTo>
                      <a:lnTo>
                        <a:pt x="86" y="53"/>
                      </a:lnTo>
                      <a:lnTo>
                        <a:pt x="83" y="54"/>
                      </a:lnTo>
                      <a:lnTo>
                        <a:pt x="80" y="54"/>
                      </a:lnTo>
                      <a:lnTo>
                        <a:pt x="77" y="55"/>
                      </a:lnTo>
                      <a:lnTo>
                        <a:pt x="74" y="56"/>
                      </a:lnTo>
                      <a:lnTo>
                        <a:pt x="69" y="57"/>
                      </a:lnTo>
                      <a:lnTo>
                        <a:pt x="64" y="57"/>
                      </a:lnTo>
                      <a:lnTo>
                        <a:pt x="59" y="57"/>
                      </a:lnTo>
                      <a:lnTo>
                        <a:pt x="55" y="57"/>
                      </a:lnTo>
                      <a:lnTo>
                        <a:pt x="49" y="57"/>
                      </a:lnTo>
                      <a:lnTo>
                        <a:pt x="46" y="57"/>
                      </a:lnTo>
                      <a:lnTo>
                        <a:pt x="43" y="57"/>
                      </a:lnTo>
                      <a:lnTo>
                        <a:pt x="40" y="57"/>
                      </a:lnTo>
                      <a:lnTo>
                        <a:pt x="36" y="57"/>
                      </a:lnTo>
                      <a:lnTo>
                        <a:pt x="31" y="55"/>
                      </a:lnTo>
                      <a:lnTo>
                        <a:pt x="27" y="55"/>
                      </a:lnTo>
                      <a:lnTo>
                        <a:pt x="23" y="55"/>
                      </a:lnTo>
                      <a:lnTo>
                        <a:pt x="20" y="55"/>
                      </a:lnTo>
                      <a:lnTo>
                        <a:pt x="17" y="55"/>
                      </a:lnTo>
                      <a:lnTo>
                        <a:pt x="13" y="55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1" y="52"/>
                      </a:lnTo>
                      <a:lnTo>
                        <a:pt x="0" y="52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661" name="Group 586"/>
                <p:cNvGrpSpPr>
                  <a:grpSpLocks/>
                </p:cNvGrpSpPr>
                <p:nvPr/>
              </p:nvGrpSpPr>
              <p:grpSpPr bwMode="auto">
                <a:xfrm>
                  <a:off x="2957" y="3324"/>
                  <a:ext cx="47" cy="37"/>
                  <a:chOff x="2957" y="3324"/>
                  <a:chExt cx="47" cy="37"/>
                </a:xfrm>
              </p:grpSpPr>
              <p:sp>
                <p:nvSpPr>
                  <p:cNvPr id="22662" name="Freeform 587" descr="50%"/>
                  <p:cNvSpPr>
                    <a:spLocks/>
                  </p:cNvSpPr>
                  <p:nvPr/>
                </p:nvSpPr>
                <p:spPr bwMode="auto">
                  <a:xfrm>
                    <a:off x="2957" y="3330"/>
                    <a:ext cx="47" cy="31"/>
                  </a:xfrm>
                  <a:custGeom>
                    <a:avLst/>
                    <a:gdLst>
                      <a:gd name="T0" fmla="*/ 43 w 47"/>
                      <a:gd name="T1" fmla="*/ 27 h 31"/>
                      <a:gd name="T2" fmla="*/ 40 w 47"/>
                      <a:gd name="T3" fmla="*/ 24 h 31"/>
                      <a:gd name="T4" fmla="*/ 39 w 47"/>
                      <a:gd name="T5" fmla="*/ 22 h 31"/>
                      <a:gd name="T6" fmla="*/ 37 w 47"/>
                      <a:gd name="T7" fmla="*/ 21 h 31"/>
                      <a:gd name="T8" fmla="*/ 36 w 47"/>
                      <a:gd name="T9" fmla="*/ 19 h 31"/>
                      <a:gd name="T10" fmla="*/ 35 w 47"/>
                      <a:gd name="T11" fmla="*/ 17 h 31"/>
                      <a:gd name="T12" fmla="*/ 34 w 47"/>
                      <a:gd name="T13" fmla="*/ 16 h 31"/>
                      <a:gd name="T14" fmla="*/ 33 w 47"/>
                      <a:gd name="T15" fmla="*/ 14 h 31"/>
                      <a:gd name="T16" fmla="*/ 32 w 47"/>
                      <a:gd name="T17" fmla="*/ 12 h 31"/>
                      <a:gd name="T18" fmla="*/ 31 w 47"/>
                      <a:gd name="T19" fmla="*/ 10 h 31"/>
                      <a:gd name="T20" fmla="*/ 30 w 47"/>
                      <a:gd name="T21" fmla="*/ 7 h 31"/>
                      <a:gd name="T22" fmla="*/ 30 w 47"/>
                      <a:gd name="T23" fmla="*/ 5 h 31"/>
                      <a:gd name="T24" fmla="*/ 30 w 47"/>
                      <a:gd name="T25" fmla="*/ 3 h 31"/>
                      <a:gd name="T26" fmla="*/ 30 w 47"/>
                      <a:gd name="T27" fmla="*/ 0 h 31"/>
                      <a:gd name="T28" fmla="*/ 0 w 47"/>
                      <a:gd name="T29" fmla="*/ 0 h 31"/>
                      <a:gd name="T30" fmla="*/ 1 w 47"/>
                      <a:gd name="T31" fmla="*/ 2 h 31"/>
                      <a:gd name="T32" fmla="*/ 2 w 47"/>
                      <a:gd name="T33" fmla="*/ 4 h 31"/>
                      <a:gd name="T34" fmla="*/ 4 w 47"/>
                      <a:gd name="T35" fmla="*/ 6 h 31"/>
                      <a:gd name="T36" fmla="*/ 6 w 47"/>
                      <a:gd name="T37" fmla="*/ 9 h 31"/>
                      <a:gd name="T38" fmla="*/ 8 w 47"/>
                      <a:gd name="T39" fmla="*/ 11 h 31"/>
                      <a:gd name="T40" fmla="*/ 10 w 47"/>
                      <a:gd name="T41" fmla="*/ 13 h 31"/>
                      <a:gd name="T42" fmla="*/ 12 w 47"/>
                      <a:gd name="T43" fmla="*/ 15 h 31"/>
                      <a:gd name="T44" fmla="*/ 14 w 47"/>
                      <a:gd name="T45" fmla="*/ 17 h 31"/>
                      <a:gd name="T46" fmla="*/ 17 w 47"/>
                      <a:gd name="T47" fmla="*/ 19 h 31"/>
                      <a:gd name="T48" fmla="*/ 20 w 47"/>
                      <a:gd name="T49" fmla="*/ 22 h 31"/>
                      <a:gd name="T50" fmla="*/ 23 w 47"/>
                      <a:gd name="T51" fmla="*/ 23 h 31"/>
                      <a:gd name="T52" fmla="*/ 25 w 47"/>
                      <a:gd name="T53" fmla="*/ 24 h 31"/>
                      <a:gd name="T54" fmla="*/ 28 w 47"/>
                      <a:gd name="T55" fmla="*/ 26 h 31"/>
                      <a:gd name="T56" fmla="*/ 30 w 47"/>
                      <a:gd name="T57" fmla="*/ 27 h 31"/>
                      <a:gd name="T58" fmla="*/ 33 w 47"/>
                      <a:gd name="T59" fmla="*/ 28 h 31"/>
                      <a:gd name="T60" fmla="*/ 36 w 47"/>
                      <a:gd name="T61" fmla="*/ 28 h 31"/>
                      <a:gd name="T62" fmla="*/ 39 w 47"/>
                      <a:gd name="T63" fmla="*/ 29 h 31"/>
                      <a:gd name="T64" fmla="*/ 41 w 47"/>
                      <a:gd name="T65" fmla="*/ 29 h 31"/>
                      <a:gd name="T66" fmla="*/ 44 w 47"/>
                      <a:gd name="T67" fmla="*/ 29 h 31"/>
                      <a:gd name="T68" fmla="*/ 46 w 47"/>
                      <a:gd name="T69" fmla="*/ 30 h 31"/>
                      <a:gd name="T70" fmla="*/ 43 w 47"/>
                      <a:gd name="T71" fmla="*/ 27 h 3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47" h="31">
                        <a:moveTo>
                          <a:pt x="43" y="27"/>
                        </a:moveTo>
                        <a:lnTo>
                          <a:pt x="40" y="24"/>
                        </a:lnTo>
                        <a:lnTo>
                          <a:pt x="39" y="22"/>
                        </a:lnTo>
                        <a:lnTo>
                          <a:pt x="37" y="21"/>
                        </a:lnTo>
                        <a:lnTo>
                          <a:pt x="36" y="19"/>
                        </a:lnTo>
                        <a:lnTo>
                          <a:pt x="35" y="17"/>
                        </a:lnTo>
                        <a:lnTo>
                          <a:pt x="34" y="16"/>
                        </a:lnTo>
                        <a:lnTo>
                          <a:pt x="33" y="14"/>
                        </a:lnTo>
                        <a:lnTo>
                          <a:pt x="32" y="12"/>
                        </a:lnTo>
                        <a:lnTo>
                          <a:pt x="31" y="10"/>
                        </a:lnTo>
                        <a:lnTo>
                          <a:pt x="30" y="7"/>
                        </a:lnTo>
                        <a:lnTo>
                          <a:pt x="30" y="5"/>
                        </a:lnTo>
                        <a:lnTo>
                          <a:pt x="30" y="3"/>
                        </a:lnTo>
                        <a:lnTo>
                          <a:pt x="30" y="0"/>
                        </a:lnTo>
                        <a:lnTo>
                          <a:pt x="0" y="0"/>
                        </a:lnTo>
                        <a:lnTo>
                          <a:pt x="1" y="2"/>
                        </a:lnTo>
                        <a:lnTo>
                          <a:pt x="2" y="4"/>
                        </a:lnTo>
                        <a:lnTo>
                          <a:pt x="4" y="6"/>
                        </a:lnTo>
                        <a:lnTo>
                          <a:pt x="6" y="9"/>
                        </a:lnTo>
                        <a:lnTo>
                          <a:pt x="8" y="11"/>
                        </a:lnTo>
                        <a:lnTo>
                          <a:pt x="10" y="13"/>
                        </a:lnTo>
                        <a:lnTo>
                          <a:pt x="12" y="15"/>
                        </a:lnTo>
                        <a:lnTo>
                          <a:pt x="14" y="17"/>
                        </a:lnTo>
                        <a:lnTo>
                          <a:pt x="17" y="19"/>
                        </a:lnTo>
                        <a:lnTo>
                          <a:pt x="20" y="22"/>
                        </a:lnTo>
                        <a:lnTo>
                          <a:pt x="23" y="23"/>
                        </a:lnTo>
                        <a:lnTo>
                          <a:pt x="25" y="24"/>
                        </a:lnTo>
                        <a:lnTo>
                          <a:pt x="28" y="26"/>
                        </a:lnTo>
                        <a:lnTo>
                          <a:pt x="30" y="27"/>
                        </a:lnTo>
                        <a:lnTo>
                          <a:pt x="33" y="28"/>
                        </a:lnTo>
                        <a:lnTo>
                          <a:pt x="36" y="28"/>
                        </a:lnTo>
                        <a:lnTo>
                          <a:pt x="39" y="29"/>
                        </a:lnTo>
                        <a:lnTo>
                          <a:pt x="41" y="29"/>
                        </a:lnTo>
                        <a:lnTo>
                          <a:pt x="44" y="29"/>
                        </a:lnTo>
                        <a:lnTo>
                          <a:pt x="46" y="30"/>
                        </a:lnTo>
                        <a:lnTo>
                          <a:pt x="43" y="27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63" name="Freeform 588" descr="50%"/>
                  <p:cNvSpPr>
                    <a:spLocks/>
                  </p:cNvSpPr>
                  <p:nvPr/>
                </p:nvSpPr>
                <p:spPr bwMode="auto">
                  <a:xfrm>
                    <a:off x="2958" y="3324"/>
                    <a:ext cx="21" cy="7"/>
                  </a:xfrm>
                  <a:custGeom>
                    <a:avLst/>
                    <a:gdLst>
                      <a:gd name="T0" fmla="*/ 0 w 21"/>
                      <a:gd name="T1" fmla="*/ 6 h 7"/>
                      <a:gd name="T2" fmla="*/ 0 w 21"/>
                      <a:gd name="T3" fmla="*/ 6 h 7"/>
                      <a:gd name="T4" fmla="*/ 1 w 21"/>
                      <a:gd name="T5" fmla="*/ 0 h 7"/>
                      <a:gd name="T6" fmla="*/ 20 w 21"/>
                      <a:gd name="T7" fmla="*/ 0 h 7"/>
                      <a:gd name="T8" fmla="*/ 20 w 21"/>
                      <a:gd name="T9" fmla="*/ 6 h 7"/>
                      <a:gd name="T10" fmla="*/ 0 w 21"/>
                      <a:gd name="T11" fmla="*/ 6 h 7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21" h="7">
                        <a:moveTo>
                          <a:pt x="0" y="6"/>
                        </a:moveTo>
                        <a:lnTo>
                          <a:pt x="0" y="6"/>
                        </a:lnTo>
                        <a:lnTo>
                          <a:pt x="1" y="0"/>
                        </a:lnTo>
                        <a:lnTo>
                          <a:pt x="20" y="0"/>
                        </a:lnTo>
                        <a:lnTo>
                          <a:pt x="20" y="6"/>
                        </a:lnTo>
                        <a:lnTo>
                          <a:pt x="0" y="6"/>
                        </a:lnTo>
                      </a:path>
                    </a:pathLst>
                  </a:custGeom>
                  <a:pattFill prst="pct50">
                    <a:fgClr>
                      <a:schemeClr val="tx1"/>
                    </a:fgClr>
                    <a:bgClr>
                      <a:schemeClr val="bg1"/>
                    </a:bgClr>
                  </a:patt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12700" cap="rnd">
                        <a:pattFill prst="narHorz">
                          <a:fgClr>
                            <a:schemeClr val="tx1"/>
                          </a:fgClr>
                          <a:bgClr>
                            <a:schemeClr val="bg1"/>
                          </a:bgClr>
                        </a:pattFill>
                        <a:round/>
                        <a:headEnd type="none" w="med" len="med"/>
                        <a:tailEnd type="none" w="med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22566" name="Group 589"/>
          <p:cNvGrpSpPr>
            <a:grpSpLocks/>
          </p:cNvGrpSpPr>
          <p:nvPr/>
        </p:nvGrpSpPr>
        <p:grpSpPr bwMode="auto">
          <a:xfrm>
            <a:off x="6629400" y="2082403"/>
            <a:ext cx="1371600" cy="1175146"/>
            <a:chOff x="4176" y="2208"/>
            <a:chExt cx="1152" cy="987"/>
          </a:xfrm>
        </p:grpSpPr>
        <p:grpSp>
          <p:nvGrpSpPr>
            <p:cNvPr id="22628" name="Group 590"/>
            <p:cNvGrpSpPr>
              <a:grpSpLocks/>
            </p:cNvGrpSpPr>
            <p:nvPr/>
          </p:nvGrpSpPr>
          <p:grpSpPr bwMode="auto">
            <a:xfrm>
              <a:off x="4176" y="2400"/>
              <a:ext cx="321" cy="113"/>
              <a:chOff x="4270" y="2440"/>
              <a:chExt cx="321" cy="113"/>
            </a:xfrm>
          </p:grpSpPr>
          <p:sp>
            <p:nvSpPr>
              <p:cNvPr id="22630" name="Freeform 591" descr="50%"/>
              <p:cNvSpPr>
                <a:spLocks/>
              </p:cNvSpPr>
              <p:nvPr/>
            </p:nvSpPr>
            <p:spPr bwMode="auto">
              <a:xfrm>
                <a:off x="4351" y="2513"/>
                <a:ext cx="38" cy="31"/>
              </a:xfrm>
              <a:custGeom>
                <a:avLst/>
                <a:gdLst>
                  <a:gd name="T0" fmla="*/ 0 w 38"/>
                  <a:gd name="T1" fmla="*/ 0 h 31"/>
                  <a:gd name="T2" fmla="*/ 1 w 38"/>
                  <a:gd name="T3" fmla="*/ 3 h 31"/>
                  <a:gd name="T4" fmla="*/ 3 w 38"/>
                  <a:gd name="T5" fmla="*/ 6 h 31"/>
                  <a:gd name="T6" fmla="*/ 5 w 38"/>
                  <a:gd name="T7" fmla="*/ 9 h 31"/>
                  <a:gd name="T8" fmla="*/ 7 w 38"/>
                  <a:gd name="T9" fmla="*/ 12 h 31"/>
                  <a:gd name="T10" fmla="*/ 10 w 38"/>
                  <a:gd name="T11" fmla="*/ 15 h 31"/>
                  <a:gd name="T12" fmla="*/ 13 w 38"/>
                  <a:gd name="T13" fmla="*/ 19 h 31"/>
                  <a:gd name="T14" fmla="*/ 15 w 38"/>
                  <a:gd name="T15" fmla="*/ 21 h 31"/>
                  <a:gd name="T16" fmla="*/ 18 w 38"/>
                  <a:gd name="T17" fmla="*/ 23 h 31"/>
                  <a:gd name="T18" fmla="*/ 21 w 38"/>
                  <a:gd name="T19" fmla="*/ 25 h 31"/>
                  <a:gd name="T20" fmla="*/ 24 w 38"/>
                  <a:gd name="T21" fmla="*/ 27 h 31"/>
                  <a:gd name="T22" fmla="*/ 26 w 38"/>
                  <a:gd name="T23" fmla="*/ 28 h 31"/>
                  <a:gd name="T24" fmla="*/ 29 w 38"/>
                  <a:gd name="T25" fmla="*/ 29 h 31"/>
                  <a:gd name="T26" fmla="*/ 33 w 38"/>
                  <a:gd name="T27" fmla="*/ 30 h 31"/>
                  <a:gd name="T28" fmla="*/ 36 w 38"/>
                  <a:gd name="T29" fmla="*/ 30 h 31"/>
                  <a:gd name="T30" fmla="*/ 37 w 38"/>
                  <a:gd name="T31" fmla="*/ 29 h 31"/>
                  <a:gd name="T32" fmla="*/ 35 w 38"/>
                  <a:gd name="T33" fmla="*/ 27 h 31"/>
                  <a:gd name="T34" fmla="*/ 33 w 38"/>
                  <a:gd name="T35" fmla="*/ 25 h 31"/>
                  <a:gd name="T36" fmla="*/ 31 w 38"/>
                  <a:gd name="T37" fmla="*/ 22 h 31"/>
                  <a:gd name="T38" fmla="*/ 29 w 38"/>
                  <a:gd name="T39" fmla="*/ 19 h 31"/>
                  <a:gd name="T40" fmla="*/ 27 w 38"/>
                  <a:gd name="T41" fmla="*/ 16 h 31"/>
                  <a:gd name="T42" fmla="*/ 26 w 38"/>
                  <a:gd name="T43" fmla="*/ 13 h 31"/>
                  <a:gd name="T44" fmla="*/ 25 w 38"/>
                  <a:gd name="T45" fmla="*/ 11 h 31"/>
                  <a:gd name="T46" fmla="*/ 24 w 38"/>
                  <a:gd name="T47" fmla="*/ 6 h 31"/>
                  <a:gd name="T48" fmla="*/ 24 w 38"/>
                  <a:gd name="T49" fmla="*/ 3 h 31"/>
                  <a:gd name="T50" fmla="*/ 24 w 38"/>
                  <a:gd name="T51" fmla="*/ 1 h 31"/>
                  <a:gd name="T52" fmla="*/ 0 w 38"/>
                  <a:gd name="T53" fmla="*/ 0 h 31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38" h="31">
                    <a:moveTo>
                      <a:pt x="0" y="0"/>
                    </a:moveTo>
                    <a:lnTo>
                      <a:pt x="1" y="3"/>
                    </a:lnTo>
                    <a:lnTo>
                      <a:pt x="3" y="6"/>
                    </a:lnTo>
                    <a:lnTo>
                      <a:pt x="5" y="9"/>
                    </a:lnTo>
                    <a:lnTo>
                      <a:pt x="7" y="12"/>
                    </a:lnTo>
                    <a:lnTo>
                      <a:pt x="10" y="15"/>
                    </a:lnTo>
                    <a:lnTo>
                      <a:pt x="13" y="19"/>
                    </a:lnTo>
                    <a:lnTo>
                      <a:pt x="15" y="21"/>
                    </a:lnTo>
                    <a:lnTo>
                      <a:pt x="18" y="23"/>
                    </a:lnTo>
                    <a:lnTo>
                      <a:pt x="21" y="25"/>
                    </a:lnTo>
                    <a:lnTo>
                      <a:pt x="24" y="27"/>
                    </a:lnTo>
                    <a:lnTo>
                      <a:pt x="26" y="28"/>
                    </a:lnTo>
                    <a:lnTo>
                      <a:pt x="29" y="29"/>
                    </a:lnTo>
                    <a:lnTo>
                      <a:pt x="33" y="30"/>
                    </a:lnTo>
                    <a:lnTo>
                      <a:pt x="36" y="30"/>
                    </a:lnTo>
                    <a:lnTo>
                      <a:pt x="37" y="29"/>
                    </a:lnTo>
                    <a:lnTo>
                      <a:pt x="35" y="27"/>
                    </a:lnTo>
                    <a:lnTo>
                      <a:pt x="33" y="25"/>
                    </a:lnTo>
                    <a:lnTo>
                      <a:pt x="31" y="22"/>
                    </a:lnTo>
                    <a:lnTo>
                      <a:pt x="29" y="19"/>
                    </a:lnTo>
                    <a:lnTo>
                      <a:pt x="27" y="16"/>
                    </a:lnTo>
                    <a:lnTo>
                      <a:pt x="26" y="13"/>
                    </a:lnTo>
                    <a:lnTo>
                      <a:pt x="25" y="11"/>
                    </a:lnTo>
                    <a:lnTo>
                      <a:pt x="24" y="6"/>
                    </a:lnTo>
                    <a:lnTo>
                      <a:pt x="24" y="3"/>
                    </a:lnTo>
                    <a:lnTo>
                      <a:pt x="24" y="1"/>
                    </a:lnTo>
                    <a:lnTo>
                      <a:pt x="0" y="0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31" name="Freeform 592" descr="50%"/>
              <p:cNvSpPr>
                <a:spLocks/>
              </p:cNvSpPr>
              <p:nvPr/>
            </p:nvSpPr>
            <p:spPr bwMode="auto">
              <a:xfrm>
                <a:off x="4270" y="2440"/>
                <a:ext cx="321" cy="98"/>
              </a:xfrm>
              <a:custGeom>
                <a:avLst/>
                <a:gdLst>
                  <a:gd name="T0" fmla="*/ 3 w 321"/>
                  <a:gd name="T1" fmla="*/ 58 h 98"/>
                  <a:gd name="T2" fmla="*/ 13 w 321"/>
                  <a:gd name="T3" fmla="*/ 54 h 98"/>
                  <a:gd name="T4" fmla="*/ 28 w 321"/>
                  <a:gd name="T5" fmla="*/ 49 h 98"/>
                  <a:gd name="T6" fmla="*/ 43 w 321"/>
                  <a:gd name="T7" fmla="*/ 46 h 98"/>
                  <a:gd name="T8" fmla="*/ 59 w 321"/>
                  <a:gd name="T9" fmla="*/ 43 h 98"/>
                  <a:gd name="T10" fmla="*/ 75 w 321"/>
                  <a:gd name="T11" fmla="*/ 40 h 98"/>
                  <a:gd name="T12" fmla="*/ 88 w 321"/>
                  <a:gd name="T13" fmla="*/ 37 h 98"/>
                  <a:gd name="T14" fmla="*/ 95 w 321"/>
                  <a:gd name="T15" fmla="*/ 33 h 98"/>
                  <a:gd name="T16" fmla="*/ 103 w 321"/>
                  <a:gd name="T17" fmla="*/ 25 h 98"/>
                  <a:gd name="T18" fmla="*/ 114 w 321"/>
                  <a:gd name="T19" fmla="*/ 14 h 98"/>
                  <a:gd name="T20" fmla="*/ 125 w 321"/>
                  <a:gd name="T21" fmla="*/ 4 h 98"/>
                  <a:gd name="T22" fmla="*/ 133 w 321"/>
                  <a:gd name="T23" fmla="*/ 12 h 98"/>
                  <a:gd name="T24" fmla="*/ 137 w 321"/>
                  <a:gd name="T25" fmla="*/ 29 h 98"/>
                  <a:gd name="T26" fmla="*/ 140 w 321"/>
                  <a:gd name="T27" fmla="*/ 36 h 98"/>
                  <a:gd name="T28" fmla="*/ 159 w 321"/>
                  <a:gd name="T29" fmla="*/ 39 h 98"/>
                  <a:gd name="T30" fmla="*/ 177 w 321"/>
                  <a:gd name="T31" fmla="*/ 43 h 98"/>
                  <a:gd name="T32" fmla="*/ 191 w 321"/>
                  <a:gd name="T33" fmla="*/ 43 h 98"/>
                  <a:gd name="T34" fmla="*/ 206 w 321"/>
                  <a:gd name="T35" fmla="*/ 39 h 98"/>
                  <a:gd name="T36" fmla="*/ 218 w 321"/>
                  <a:gd name="T37" fmla="*/ 48 h 98"/>
                  <a:gd name="T38" fmla="*/ 229 w 321"/>
                  <a:gd name="T39" fmla="*/ 51 h 98"/>
                  <a:gd name="T40" fmla="*/ 243 w 321"/>
                  <a:gd name="T41" fmla="*/ 51 h 98"/>
                  <a:gd name="T42" fmla="*/ 258 w 321"/>
                  <a:gd name="T43" fmla="*/ 45 h 98"/>
                  <a:gd name="T44" fmla="*/ 275 w 321"/>
                  <a:gd name="T45" fmla="*/ 31 h 98"/>
                  <a:gd name="T46" fmla="*/ 294 w 321"/>
                  <a:gd name="T47" fmla="*/ 14 h 98"/>
                  <a:gd name="T48" fmla="*/ 314 w 321"/>
                  <a:gd name="T49" fmla="*/ 8 h 98"/>
                  <a:gd name="T50" fmla="*/ 314 w 321"/>
                  <a:gd name="T51" fmla="*/ 13 h 98"/>
                  <a:gd name="T52" fmla="*/ 305 w 321"/>
                  <a:gd name="T53" fmla="*/ 25 h 98"/>
                  <a:gd name="T54" fmla="*/ 294 w 321"/>
                  <a:gd name="T55" fmla="*/ 37 h 98"/>
                  <a:gd name="T56" fmla="*/ 287 w 321"/>
                  <a:gd name="T57" fmla="*/ 48 h 98"/>
                  <a:gd name="T58" fmla="*/ 287 w 321"/>
                  <a:gd name="T59" fmla="*/ 60 h 98"/>
                  <a:gd name="T60" fmla="*/ 295 w 321"/>
                  <a:gd name="T61" fmla="*/ 73 h 98"/>
                  <a:gd name="T62" fmla="*/ 305 w 321"/>
                  <a:gd name="T63" fmla="*/ 82 h 98"/>
                  <a:gd name="T64" fmla="*/ 313 w 321"/>
                  <a:gd name="T65" fmla="*/ 89 h 98"/>
                  <a:gd name="T66" fmla="*/ 314 w 321"/>
                  <a:gd name="T67" fmla="*/ 93 h 98"/>
                  <a:gd name="T68" fmla="*/ 302 w 321"/>
                  <a:gd name="T69" fmla="*/ 93 h 98"/>
                  <a:gd name="T70" fmla="*/ 291 w 321"/>
                  <a:gd name="T71" fmla="*/ 90 h 98"/>
                  <a:gd name="T72" fmla="*/ 281 w 321"/>
                  <a:gd name="T73" fmla="*/ 85 h 98"/>
                  <a:gd name="T74" fmla="*/ 264 w 321"/>
                  <a:gd name="T75" fmla="*/ 74 h 98"/>
                  <a:gd name="T76" fmla="*/ 243 w 321"/>
                  <a:gd name="T77" fmla="*/ 72 h 98"/>
                  <a:gd name="T78" fmla="*/ 218 w 321"/>
                  <a:gd name="T79" fmla="*/ 75 h 98"/>
                  <a:gd name="T80" fmla="*/ 202 w 321"/>
                  <a:gd name="T81" fmla="*/ 82 h 98"/>
                  <a:gd name="T82" fmla="*/ 197 w 321"/>
                  <a:gd name="T83" fmla="*/ 89 h 98"/>
                  <a:gd name="T84" fmla="*/ 175 w 321"/>
                  <a:gd name="T85" fmla="*/ 88 h 98"/>
                  <a:gd name="T86" fmla="*/ 156 w 321"/>
                  <a:gd name="T87" fmla="*/ 94 h 98"/>
                  <a:gd name="T88" fmla="*/ 86 w 321"/>
                  <a:gd name="T89" fmla="*/ 97 h 98"/>
                  <a:gd name="T90" fmla="*/ 46 w 321"/>
                  <a:gd name="T91" fmla="*/ 93 h 98"/>
                  <a:gd name="T92" fmla="*/ 11 w 321"/>
                  <a:gd name="T93" fmla="*/ 81 h 98"/>
                  <a:gd name="T94" fmla="*/ 11 w 321"/>
                  <a:gd name="T95" fmla="*/ 74 h 98"/>
                  <a:gd name="T96" fmla="*/ 3 w 321"/>
                  <a:gd name="T97" fmla="*/ 67 h 98"/>
                  <a:gd name="T98" fmla="*/ 0 w 321"/>
                  <a:gd name="T99" fmla="*/ 62 h 98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321" h="98">
                    <a:moveTo>
                      <a:pt x="0" y="60"/>
                    </a:moveTo>
                    <a:lnTo>
                      <a:pt x="1" y="59"/>
                    </a:lnTo>
                    <a:lnTo>
                      <a:pt x="3" y="58"/>
                    </a:lnTo>
                    <a:lnTo>
                      <a:pt x="7" y="56"/>
                    </a:lnTo>
                    <a:lnTo>
                      <a:pt x="10" y="55"/>
                    </a:lnTo>
                    <a:lnTo>
                      <a:pt x="13" y="54"/>
                    </a:lnTo>
                    <a:lnTo>
                      <a:pt x="18" y="52"/>
                    </a:lnTo>
                    <a:lnTo>
                      <a:pt x="23" y="51"/>
                    </a:lnTo>
                    <a:lnTo>
                      <a:pt x="28" y="49"/>
                    </a:lnTo>
                    <a:lnTo>
                      <a:pt x="32" y="48"/>
                    </a:lnTo>
                    <a:lnTo>
                      <a:pt x="38" y="47"/>
                    </a:lnTo>
                    <a:lnTo>
                      <a:pt x="43" y="46"/>
                    </a:lnTo>
                    <a:lnTo>
                      <a:pt x="49" y="45"/>
                    </a:lnTo>
                    <a:lnTo>
                      <a:pt x="54" y="44"/>
                    </a:lnTo>
                    <a:lnTo>
                      <a:pt x="59" y="43"/>
                    </a:lnTo>
                    <a:lnTo>
                      <a:pt x="63" y="42"/>
                    </a:lnTo>
                    <a:lnTo>
                      <a:pt x="69" y="41"/>
                    </a:lnTo>
                    <a:lnTo>
                      <a:pt x="75" y="40"/>
                    </a:lnTo>
                    <a:lnTo>
                      <a:pt x="80" y="39"/>
                    </a:lnTo>
                    <a:lnTo>
                      <a:pt x="84" y="38"/>
                    </a:lnTo>
                    <a:lnTo>
                      <a:pt x="88" y="37"/>
                    </a:lnTo>
                    <a:lnTo>
                      <a:pt x="91" y="36"/>
                    </a:lnTo>
                    <a:lnTo>
                      <a:pt x="93" y="34"/>
                    </a:lnTo>
                    <a:lnTo>
                      <a:pt x="95" y="33"/>
                    </a:lnTo>
                    <a:lnTo>
                      <a:pt x="97" y="31"/>
                    </a:lnTo>
                    <a:lnTo>
                      <a:pt x="100" y="28"/>
                    </a:lnTo>
                    <a:lnTo>
                      <a:pt x="103" y="25"/>
                    </a:lnTo>
                    <a:lnTo>
                      <a:pt x="106" y="21"/>
                    </a:lnTo>
                    <a:lnTo>
                      <a:pt x="110" y="18"/>
                    </a:lnTo>
                    <a:lnTo>
                      <a:pt x="114" y="14"/>
                    </a:lnTo>
                    <a:lnTo>
                      <a:pt x="117" y="10"/>
                    </a:lnTo>
                    <a:lnTo>
                      <a:pt x="121" y="7"/>
                    </a:lnTo>
                    <a:lnTo>
                      <a:pt x="125" y="4"/>
                    </a:lnTo>
                    <a:lnTo>
                      <a:pt x="130" y="0"/>
                    </a:lnTo>
                    <a:lnTo>
                      <a:pt x="131" y="7"/>
                    </a:lnTo>
                    <a:lnTo>
                      <a:pt x="133" y="12"/>
                    </a:lnTo>
                    <a:lnTo>
                      <a:pt x="135" y="18"/>
                    </a:lnTo>
                    <a:lnTo>
                      <a:pt x="136" y="24"/>
                    </a:lnTo>
                    <a:lnTo>
                      <a:pt x="137" y="29"/>
                    </a:lnTo>
                    <a:lnTo>
                      <a:pt x="137" y="32"/>
                    </a:lnTo>
                    <a:lnTo>
                      <a:pt x="135" y="35"/>
                    </a:lnTo>
                    <a:lnTo>
                      <a:pt x="140" y="36"/>
                    </a:lnTo>
                    <a:lnTo>
                      <a:pt x="145" y="37"/>
                    </a:lnTo>
                    <a:lnTo>
                      <a:pt x="152" y="38"/>
                    </a:lnTo>
                    <a:lnTo>
                      <a:pt x="159" y="39"/>
                    </a:lnTo>
                    <a:lnTo>
                      <a:pt x="166" y="41"/>
                    </a:lnTo>
                    <a:lnTo>
                      <a:pt x="171" y="42"/>
                    </a:lnTo>
                    <a:lnTo>
                      <a:pt x="177" y="43"/>
                    </a:lnTo>
                    <a:lnTo>
                      <a:pt x="183" y="43"/>
                    </a:lnTo>
                    <a:lnTo>
                      <a:pt x="188" y="44"/>
                    </a:lnTo>
                    <a:lnTo>
                      <a:pt x="191" y="43"/>
                    </a:lnTo>
                    <a:lnTo>
                      <a:pt x="195" y="41"/>
                    </a:lnTo>
                    <a:lnTo>
                      <a:pt x="198" y="38"/>
                    </a:lnTo>
                    <a:lnTo>
                      <a:pt x="206" y="39"/>
                    </a:lnTo>
                    <a:lnTo>
                      <a:pt x="215" y="42"/>
                    </a:lnTo>
                    <a:lnTo>
                      <a:pt x="222" y="43"/>
                    </a:lnTo>
                    <a:lnTo>
                      <a:pt x="218" y="48"/>
                    </a:lnTo>
                    <a:lnTo>
                      <a:pt x="220" y="49"/>
                    </a:lnTo>
                    <a:lnTo>
                      <a:pt x="225" y="50"/>
                    </a:lnTo>
                    <a:lnTo>
                      <a:pt x="229" y="51"/>
                    </a:lnTo>
                    <a:lnTo>
                      <a:pt x="234" y="52"/>
                    </a:lnTo>
                    <a:lnTo>
                      <a:pt x="238" y="51"/>
                    </a:lnTo>
                    <a:lnTo>
                      <a:pt x="243" y="51"/>
                    </a:lnTo>
                    <a:lnTo>
                      <a:pt x="248" y="50"/>
                    </a:lnTo>
                    <a:lnTo>
                      <a:pt x="253" y="48"/>
                    </a:lnTo>
                    <a:lnTo>
                      <a:pt x="258" y="45"/>
                    </a:lnTo>
                    <a:lnTo>
                      <a:pt x="264" y="41"/>
                    </a:lnTo>
                    <a:lnTo>
                      <a:pt x="269" y="37"/>
                    </a:lnTo>
                    <a:lnTo>
                      <a:pt x="275" y="31"/>
                    </a:lnTo>
                    <a:lnTo>
                      <a:pt x="281" y="24"/>
                    </a:lnTo>
                    <a:lnTo>
                      <a:pt x="288" y="19"/>
                    </a:lnTo>
                    <a:lnTo>
                      <a:pt x="294" y="14"/>
                    </a:lnTo>
                    <a:lnTo>
                      <a:pt x="300" y="11"/>
                    </a:lnTo>
                    <a:lnTo>
                      <a:pt x="306" y="9"/>
                    </a:lnTo>
                    <a:lnTo>
                      <a:pt x="314" y="8"/>
                    </a:lnTo>
                    <a:lnTo>
                      <a:pt x="320" y="8"/>
                    </a:lnTo>
                    <a:lnTo>
                      <a:pt x="317" y="11"/>
                    </a:lnTo>
                    <a:lnTo>
                      <a:pt x="314" y="13"/>
                    </a:lnTo>
                    <a:lnTo>
                      <a:pt x="313" y="15"/>
                    </a:lnTo>
                    <a:lnTo>
                      <a:pt x="309" y="22"/>
                    </a:lnTo>
                    <a:lnTo>
                      <a:pt x="305" y="25"/>
                    </a:lnTo>
                    <a:lnTo>
                      <a:pt x="301" y="28"/>
                    </a:lnTo>
                    <a:lnTo>
                      <a:pt x="297" y="33"/>
                    </a:lnTo>
                    <a:lnTo>
                      <a:pt x="294" y="37"/>
                    </a:lnTo>
                    <a:lnTo>
                      <a:pt x="292" y="41"/>
                    </a:lnTo>
                    <a:lnTo>
                      <a:pt x="289" y="45"/>
                    </a:lnTo>
                    <a:lnTo>
                      <a:pt x="287" y="48"/>
                    </a:lnTo>
                    <a:lnTo>
                      <a:pt x="286" y="52"/>
                    </a:lnTo>
                    <a:lnTo>
                      <a:pt x="286" y="56"/>
                    </a:lnTo>
                    <a:lnTo>
                      <a:pt x="287" y="60"/>
                    </a:lnTo>
                    <a:lnTo>
                      <a:pt x="289" y="65"/>
                    </a:lnTo>
                    <a:lnTo>
                      <a:pt x="292" y="69"/>
                    </a:lnTo>
                    <a:lnTo>
                      <a:pt x="295" y="73"/>
                    </a:lnTo>
                    <a:lnTo>
                      <a:pt x="298" y="76"/>
                    </a:lnTo>
                    <a:lnTo>
                      <a:pt x="301" y="79"/>
                    </a:lnTo>
                    <a:lnTo>
                      <a:pt x="305" y="82"/>
                    </a:lnTo>
                    <a:lnTo>
                      <a:pt x="309" y="85"/>
                    </a:lnTo>
                    <a:lnTo>
                      <a:pt x="311" y="87"/>
                    </a:lnTo>
                    <a:lnTo>
                      <a:pt x="313" y="89"/>
                    </a:lnTo>
                    <a:lnTo>
                      <a:pt x="316" y="91"/>
                    </a:lnTo>
                    <a:lnTo>
                      <a:pt x="317" y="93"/>
                    </a:lnTo>
                    <a:lnTo>
                      <a:pt x="314" y="93"/>
                    </a:lnTo>
                    <a:lnTo>
                      <a:pt x="309" y="93"/>
                    </a:lnTo>
                    <a:lnTo>
                      <a:pt x="305" y="93"/>
                    </a:lnTo>
                    <a:lnTo>
                      <a:pt x="302" y="93"/>
                    </a:lnTo>
                    <a:lnTo>
                      <a:pt x="297" y="92"/>
                    </a:lnTo>
                    <a:lnTo>
                      <a:pt x="294" y="91"/>
                    </a:lnTo>
                    <a:lnTo>
                      <a:pt x="291" y="90"/>
                    </a:lnTo>
                    <a:lnTo>
                      <a:pt x="288" y="88"/>
                    </a:lnTo>
                    <a:lnTo>
                      <a:pt x="284" y="87"/>
                    </a:lnTo>
                    <a:lnTo>
                      <a:pt x="281" y="85"/>
                    </a:lnTo>
                    <a:lnTo>
                      <a:pt x="274" y="80"/>
                    </a:lnTo>
                    <a:lnTo>
                      <a:pt x="270" y="77"/>
                    </a:lnTo>
                    <a:lnTo>
                      <a:pt x="264" y="74"/>
                    </a:lnTo>
                    <a:lnTo>
                      <a:pt x="258" y="73"/>
                    </a:lnTo>
                    <a:lnTo>
                      <a:pt x="252" y="73"/>
                    </a:lnTo>
                    <a:lnTo>
                      <a:pt x="243" y="72"/>
                    </a:lnTo>
                    <a:lnTo>
                      <a:pt x="235" y="73"/>
                    </a:lnTo>
                    <a:lnTo>
                      <a:pt x="227" y="74"/>
                    </a:lnTo>
                    <a:lnTo>
                      <a:pt x="218" y="75"/>
                    </a:lnTo>
                    <a:lnTo>
                      <a:pt x="209" y="77"/>
                    </a:lnTo>
                    <a:lnTo>
                      <a:pt x="203" y="80"/>
                    </a:lnTo>
                    <a:lnTo>
                      <a:pt x="202" y="82"/>
                    </a:lnTo>
                    <a:lnTo>
                      <a:pt x="203" y="83"/>
                    </a:lnTo>
                    <a:lnTo>
                      <a:pt x="208" y="86"/>
                    </a:lnTo>
                    <a:lnTo>
                      <a:pt x="197" y="89"/>
                    </a:lnTo>
                    <a:lnTo>
                      <a:pt x="182" y="93"/>
                    </a:lnTo>
                    <a:lnTo>
                      <a:pt x="179" y="90"/>
                    </a:lnTo>
                    <a:lnTo>
                      <a:pt x="175" y="88"/>
                    </a:lnTo>
                    <a:lnTo>
                      <a:pt x="171" y="87"/>
                    </a:lnTo>
                    <a:lnTo>
                      <a:pt x="164" y="87"/>
                    </a:lnTo>
                    <a:lnTo>
                      <a:pt x="156" y="94"/>
                    </a:lnTo>
                    <a:lnTo>
                      <a:pt x="149" y="89"/>
                    </a:lnTo>
                    <a:lnTo>
                      <a:pt x="97" y="96"/>
                    </a:lnTo>
                    <a:lnTo>
                      <a:pt x="86" y="97"/>
                    </a:lnTo>
                    <a:lnTo>
                      <a:pt x="77" y="96"/>
                    </a:lnTo>
                    <a:lnTo>
                      <a:pt x="66" y="95"/>
                    </a:lnTo>
                    <a:lnTo>
                      <a:pt x="46" y="93"/>
                    </a:lnTo>
                    <a:lnTo>
                      <a:pt x="28" y="88"/>
                    </a:lnTo>
                    <a:lnTo>
                      <a:pt x="18" y="84"/>
                    </a:lnTo>
                    <a:lnTo>
                      <a:pt x="11" y="81"/>
                    </a:lnTo>
                    <a:lnTo>
                      <a:pt x="18" y="79"/>
                    </a:lnTo>
                    <a:lnTo>
                      <a:pt x="14" y="76"/>
                    </a:lnTo>
                    <a:lnTo>
                      <a:pt x="11" y="74"/>
                    </a:lnTo>
                    <a:lnTo>
                      <a:pt x="6" y="70"/>
                    </a:lnTo>
                    <a:lnTo>
                      <a:pt x="5" y="69"/>
                    </a:lnTo>
                    <a:lnTo>
                      <a:pt x="3" y="67"/>
                    </a:lnTo>
                    <a:lnTo>
                      <a:pt x="2" y="66"/>
                    </a:lnTo>
                    <a:lnTo>
                      <a:pt x="1" y="63"/>
                    </a:lnTo>
                    <a:lnTo>
                      <a:pt x="0" y="62"/>
                    </a:lnTo>
                    <a:lnTo>
                      <a:pt x="0" y="60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2632" name="Group 593"/>
              <p:cNvGrpSpPr>
                <a:grpSpLocks/>
              </p:cNvGrpSpPr>
              <p:nvPr/>
            </p:nvGrpSpPr>
            <p:grpSpPr bwMode="auto">
              <a:xfrm>
                <a:off x="4297" y="2502"/>
                <a:ext cx="2" cy="3"/>
                <a:chOff x="4216" y="2686"/>
                <a:chExt cx="2" cy="3"/>
              </a:xfrm>
            </p:grpSpPr>
            <p:sp>
              <p:nvSpPr>
                <p:cNvPr id="22643" name="Oval 594" descr="50%"/>
                <p:cNvSpPr>
                  <a:spLocks noChangeArrowheads="1"/>
                </p:cNvSpPr>
                <p:nvPr/>
              </p:nvSpPr>
              <p:spPr bwMode="auto">
                <a:xfrm>
                  <a:off x="4216" y="2686"/>
                  <a:ext cx="2" cy="2"/>
                </a:xfrm>
                <a:prstGeom prst="ellipse">
                  <a:avLst/>
                </a:pr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644" name="Arc 595" descr="50%"/>
                <p:cNvSpPr>
                  <a:spLocks/>
                </p:cNvSpPr>
                <p:nvPr/>
              </p:nvSpPr>
              <p:spPr bwMode="auto">
                <a:xfrm>
                  <a:off x="4217" y="2687"/>
                  <a:ext cx="1" cy="2"/>
                </a:xfrm>
                <a:custGeom>
                  <a:avLst/>
                  <a:gdLst>
                    <a:gd name="T0" fmla="*/ 0 w 43200"/>
                    <a:gd name="T1" fmla="*/ 1 h 43200"/>
                    <a:gd name="T2" fmla="*/ 0 w 43200"/>
                    <a:gd name="T3" fmla="*/ 1 h 43200"/>
                    <a:gd name="T4" fmla="*/ 1 w 43200"/>
                    <a:gd name="T5" fmla="*/ 1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43200" fill="none" extrusionOk="0">
                      <a:moveTo>
                        <a:pt x="2280" y="11940"/>
                      </a:moveTo>
                    </a:path>
                    <a:path w="43200" h="43200" stroke="0" extrusionOk="0">
                      <a:moveTo>
                        <a:pt x="2280" y="11940"/>
                      </a:moveTo>
                      <a:lnTo>
                        <a:pt x="21600" y="21600"/>
                      </a:lnTo>
                      <a:lnTo>
                        <a:pt x="2280" y="11940"/>
                      </a:lnTo>
                      <a:close/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633" name="Group 596"/>
              <p:cNvGrpSpPr>
                <a:grpSpLocks/>
              </p:cNvGrpSpPr>
              <p:nvPr/>
            </p:nvGrpSpPr>
            <p:grpSpPr bwMode="auto">
              <a:xfrm>
                <a:off x="4314" y="2514"/>
                <a:ext cx="23" cy="4"/>
                <a:chOff x="4233" y="2698"/>
                <a:chExt cx="23" cy="4"/>
              </a:xfrm>
            </p:grpSpPr>
            <p:sp>
              <p:nvSpPr>
                <p:cNvPr id="22638" name="Arc 597" descr="50%"/>
                <p:cNvSpPr>
                  <a:spLocks/>
                </p:cNvSpPr>
                <p:nvPr/>
              </p:nvSpPr>
              <p:spPr bwMode="auto">
                <a:xfrm>
                  <a:off x="4237" y="2698"/>
                  <a:ext cx="0" cy="4"/>
                </a:xfrm>
                <a:custGeom>
                  <a:avLst/>
                  <a:gdLst>
                    <a:gd name="T0" fmla="*/ 1 w 43200"/>
                    <a:gd name="T1" fmla="*/ 2 h 43200"/>
                    <a:gd name="T2" fmla="*/ 1 w 43200"/>
                    <a:gd name="T3" fmla="*/ 2 h 43200"/>
                    <a:gd name="T4" fmla="*/ 1 w 43200"/>
                    <a:gd name="T5" fmla="*/ 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43200" fill="none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43200" stroke="0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lnTo>
                        <a:pt x="43200" y="21600"/>
                      </a:lnTo>
                      <a:close/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639" name="Arc 598" descr="50%"/>
                <p:cNvSpPr>
                  <a:spLocks/>
                </p:cNvSpPr>
                <p:nvPr/>
              </p:nvSpPr>
              <p:spPr bwMode="auto">
                <a:xfrm>
                  <a:off x="4233" y="2698"/>
                  <a:ext cx="0" cy="4"/>
                </a:xfrm>
                <a:custGeom>
                  <a:avLst/>
                  <a:gdLst>
                    <a:gd name="T0" fmla="*/ 1 w 43200"/>
                    <a:gd name="T1" fmla="*/ 2 h 43200"/>
                    <a:gd name="T2" fmla="*/ 1 w 43200"/>
                    <a:gd name="T3" fmla="*/ 2 h 43200"/>
                    <a:gd name="T4" fmla="*/ 1 w 43200"/>
                    <a:gd name="T5" fmla="*/ 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43200" fill="none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43200" stroke="0" extrusionOk="0">
                      <a:moveTo>
                        <a:pt x="43200" y="21600"/>
                      </a:move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lnTo>
                        <a:pt x="43200" y="21600"/>
                      </a:lnTo>
                      <a:close/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640" name="Arc 599" descr="50%"/>
                <p:cNvSpPr>
                  <a:spLocks/>
                </p:cNvSpPr>
                <p:nvPr/>
              </p:nvSpPr>
              <p:spPr bwMode="auto">
                <a:xfrm>
                  <a:off x="4240" y="2698"/>
                  <a:ext cx="7" cy="4"/>
                </a:xfrm>
                <a:custGeom>
                  <a:avLst/>
                  <a:gdLst>
                    <a:gd name="T0" fmla="*/ 2 w 35950"/>
                    <a:gd name="T1" fmla="*/ 0 h 43200"/>
                    <a:gd name="T2" fmla="*/ 0 w 35950"/>
                    <a:gd name="T3" fmla="*/ 3 h 43200"/>
                    <a:gd name="T4" fmla="*/ 3 w 35950"/>
                    <a:gd name="T5" fmla="*/ 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5950" h="43200" fill="none" extrusionOk="0">
                      <a:moveTo>
                        <a:pt x="9664" y="514"/>
                      </a:moveTo>
                      <a:cubicBezTo>
                        <a:pt x="11202" y="172"/>
                        <a:pt x="12773" y="-1"/>
                        <a:pt x="14350" y="0"/>
                      </a:cubicBezTo>
                      <a:cubicBezTo>
                        <a:pt x="26279" y="0"/>
                        <a:pt x="35950" y="9670"/>
                        <a:pt x="35950" y="21600"/>
                      </a:cubicBezTo>
                      <a:cubicBezTo>
                        <a:pt x="35950" y="33529"/>
                        <a:pt x="26279" y="43200"/>
                        <a:pt x="14350" y="43200"/>
                      </a:cubicBezTo>
                      <a:cubicBezTo>
                        <a:pt x="9059" y="43200"/>
                        <a:pt x="3953" y="41258"/>
                        <a:pt x="-1" y="37744"/>
                      </a:cubicBezTo>
                    </a:path>
                    <a:path w="35950" h="43200" stroke="0" extrusionOk="0">
                      <a:moveTo>
                        <a:pt x="9664" y="514"/>
                      </a:moveTo>
                      <a:cubicBezTo>
                        <a:pt x="11202" y="172"/>
                        <a:pt x="12773" y="-1"/>
                        <a:pt x="14350" y="0"/>
                      </a:cubicBezTo>
                      <a:cubicBezTo>
                        <a:pt x="26279" y="0"/>
                        <a:pt x="35950" y="9670"/>
                        <a:pt x="35950" y="21600"/>
                      </a:cubicBezTo>
                      <a:cubicBezTo>
                        <a:pt x="35950" y="33529"/>
                        <a:pt x="26279" y="43200"/>
                        <a:pt x="14350" y="43200"/>
                      </a:cubicBezTo>
                      <a:cubicBezTo>
                        <a:pt x="9059" y="43200"/>
                        <a:pt x="3953" y="41258"/>
                        <a:pt x="-1" y="37744"/>
                      </a:cubicBezTo>
                      <a:lnTo>
                        <a:pt x="14350" y="21600"/>
                      </a:lnTo>
                      <a:lnTo>
                        <a:pt x="9664" y="514"/>
                      </a:lnTo>
                      <a:close/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641" name="Arc 600" descr="50%"/>
                <p:cNvSpPr>
                  <a:spLocks/>
                </p:cNvSpPr>
                <p:nvPr/>
              </p:nvSpPr>
              <p:spPr bwMode="auto">
                <a:xfrm>
                  <a:off x="4244" y="2698"/>
                  <a:ext cx="7" cy="4"/>
                </a:xfrm>
                <a:custGeom>
                  <a:avLst/>
                  <a:gdLst>
                    <a:gd name="T0" fmla="*/ 2 w 35950"/>
                    <a:gd name="T1" fmla="*/ 0 h 43200"/>
                    <a:gd name="T2" fmla="*/ 0 w 35950"/>
                    <a:gd name="T3" fmla="*/ 3 h 43200"/>
                    <a:gd name="T4" fmla="*/ 3 w 35950"/>
                    <a:gd name="T5" fmla="*/ 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5950" h="43200" fill="none" extrusionOk="0">
                      <a:moveTo>
                        <a:pt x="9664" y="514"/>
                      </a:moveTo>
                      <a:cubicBezTo>
                        <a:pt x="11202" y="172"/>
                        <a:pt x="12773" y="-1"/>
                        <a:pt x="14350" y="0"/>
                      </a:cubicBezTo>
                      <a:cubicBezTo>
                        <a:pt x="26279" y="0"/>
                        <a:pt x="35950" y="9670"/>
                        <a:pt x="35950" y="21600"/>
                      </a:cubicBezTo>
                      <a:cubicBezTo>
                        <a:pt x="35950" y="33529"/>
                        <a:pt x="26279" y="43200"/>
                        <a:pt x="14350" y="43200"/>
                      </a:cubicBezTo>
                      <a:cubicBezTo>
                        <a:pt x="9059" y="43200"/>
                        <a:pt x="3953" y="41258"/>
                        <a:pt x="-1" y="37744"/>
                      </a:cubicBezTo>
                    </a:path>
                    <a:path w="35950" h="43200" stroke="0" extrusionOk="0">
                      <a:moveTo>
                        <a:pt x="9664" y="514"/>
                      </a:moveTo>
                      <a:cubicBezTo>
                        <a:pt x="11202" y="172"/>
                        <a:pt x="12773" y="-1"/>
                        <a:pt x="14350" y="0"/>
                      </a:cubicBezTo>
                      <a:cubicBezTo>
                        <a:pt x="26279" y="0"/>
                        <a:pt x="35950" y="9670"/>
                        <a:pt x="35950" y="21600"/>
                      </a:cubicBezTo>
                      <a:cubicBezTo>
                        <a:pt x="35950" y="33529"/>
                        <a:pt x="26279" y="43200"/>
                        <a:pt x="14350" y="43200"/>
                      </a:cubicBezTo>
                      <a:cubicBezTo>
                        <a:pt x="9059" y="43200"/>
                        <a:pt x="3953" y="41258"/>
                        <a:pt x="-1" y="37744"/>
                      </a:cubicBezTo>
                      <a:lnTo>
                        <a:pt x="14350" y="21600"/>
                      </a:lnTo>
                      <a:lnTo>
                        <a:pt x="9664" y="514"/>
                      </a:lnTo>
                      <a:close/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642" name="Arc 601" descr="50%"/>
                <p:cNvSpPr>
                  <a:spLocks/>
                </p:cNvSpPr>
                <p:nvPr/>
              </p:nvSpPr>
              <p:spPr bwMode="auto">
                <a:xfrm>
                  <a:off x="4250" y="2698"/>
                  <a:ext cx="6" cy="4"/>
                </a:xfrm>
                <a:custGeom>
                  <a:avLst/>
                  <a:gdLst>
                    <a:gd name="T0" fmla="*/ 1 w 30373"/>
                    <a:gd name="T1" fmla="*/ 0 h 43200"/>
                    <a:gd name="T2" fmla="*/ 0 w 30373"/>
                    <a:gd name="T3" fmla="*/ 4 h 43200"/>
                    <a:gd name="T4" fmla="*/ 2 w 30373"/>
                    <a:gd name="T5" fmla="*/ 2 h 432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0373" h="43200" fill="none" extrusionOk="0">
                      <a:moveTo>
                        <a:pt x="4087" y="514"/>
                      </a:moveTo>
                      <a:cubicBezTo>
                        <a:pt x="5625" y="172"/>
                        <a:pt x="7196" y="-1"/>
                        <a:pt x="8773" y="0"/>
                      </a:cubicBezTo>
                      <a:cubicBezTo>
                        <a:pt x="20702" y="0"/>
                        <a:pt x="30373" y="9670"/>
                        <a:pt x="30373" y="21600"/>
                      </a:cubicBezTo>
                      <a:cubicBezTo>
                        <a:pt x="30373" y="33529"/>
                        <a:pt x="20702" y="43200"/>
                        <a:pt x="8773" y="43200"/>
                      </a:cubicBezTo>
                      <a:cubicBezTo>
                        <a:pt x="5750" y="43200"/>
                        <a:pt x="2761" y="42565"/>
                        <a:pt x="-1" y="41338"/>
                      </a:cubicBezTo>
                    </a:path>
                    <a:path w="30373" h="43200" stroke="0" extrusionOk="0">
                      <a:moveTo>
                        <a:pt x="4087" y="514"/>
                      </a:moveTo>
                      <a:cubicBezTo>
                        <a:pt x="5625" y="172"/>
                        <a:pt x="7196" y="-1"/>
                        <a:pt x="8773" y="0"/>
                      </a:cubicBezTo>
                      <a:cubicBezTo>
                        <a:pt x="20702" y="0"/>
                        <a:pt x="30373" y="9670"/>
                        <a:pt x="30373" y="21600"/>
                      </a:cubicBezTo>
                      <a:cubicBezTo>
                        <a:pt x="30373" y="33529"/>
                        <a:pt x="20702" y="43200"/>
                        <a:pt x="8773" y="43200"/>
                      </a:cubicBezTo>
                      <a:cubicBezTo>
                        <a:pt x="5750" y="43200"/>
                        <a:pt x="2761" y="42565"/>
                        <a:pt x="-1" y="41338"/>
                      </a:cubicBezTo>
                      <a:lnTo>
                        <a:pt x="8773" y="21600"/>
                      </a:lnTo>
                      <a:lnTo>
                        <a:pt x="4087" y="514"/>
                      </a:lnTo>
                      <a:close/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2634" name="Freeform 602" descr="50%"/>
              <p:cNvSpPr>
                <a:spLocks/>
              </p:cNvSpPr>
              <p:nvPr/>
            </p:nvSpPr>
            <p:spPr bwMode="auto">
              <a:xfrm>
                <a:off x="4270" y="2442"/>
                <a:ext cx="312" cy="58"/>
              </a:xfrm>
              <a:custGeom>
                <a:avLst/>
                <a:gdLst>
                  <a:gd name="T0" fmla="*/ 7 w 312"/>
                  <a:gd name="T1" fmla="*/ 48 h 58"/>
                  <a:gd name="T2" fmla="*/ 21 w 312"/>
                  <a:gd name="T3" fmla="*/ 44 h 58"/>
                  <a:gd name="T4" fmla="*/ 42 w 312"/>
                  <a:gd name="T5" fmla="*/ 39 h 58"/>
                  <a:gd name="T6" fmla="*/ 63 w 312"/>
                  <a:gd name="T7" fmla="*/ 36 h 58"/>
                  <a:gd name="T8" fmla="*/ 83 w 312"/>
                  <a:gd name="T9" fmla="*/ 32 h 58"/>
                  <a:gd name="T10" fmla="*/ 94 w 312"/>
                  <a:gd name="T11" fmla="*/ 27 h 58"/>
                  <a:gd name="T12" fmla="*/ 104 w 312"/>
                  <a:gd name="T13" fmla="*/ 18 h 58"/>
                  <a:gd name="T14" fmla="*/ 119 w 312"/>
                  <a:gd name="T15" fmla="*/ 5 h 58"/>
                  <a:gd name="T16" fmla="*/ 130 w 312"/>
                  <a:gd name="T17" fmla="*/ 10 h 58"/>
                  <a:gd name="T18" fmla="*/ 134 w 312"/>
                  <a:gd name="T19" fmla="*/ 25 h 58"/>
                  <a:gd name="T20" fmla="*/ 142 w 312"/>
                  <a:gd name="T21" fmla="*/ 31 h 58"/>
                  <a:gd name="T22" fmla="*/ 168 w 312"/>
                  <a:gd name="T23" fmla="*/ 35 h 58"/>
                  <a:gd name="T24" fmla="*/ 187 w 312"/>
                  <a:gd name="T25" fmla="*/ 36 h 58"/>
                  <a:gd name="T26" fmla="*/ 210 w 312"/>
                  <a:gd name="T27" fmla="*/ 35 h 58"/>
                  <a:gd name="T28" fmla="*/ 219 w 312"/>
                  <a:gd name="T29" fmla="*/ 43 h 58"/>
                  <a:gd name="T30" fmla="*/ 238 w 312"/>
                  <a:gd name="T31" fmla="*/ 44 h 58"/>
                  <a:gd name="T32" fmla="*/ 258 w 312"/>
                  <a:gd name="T33" fmla="*/ 34 h 58"/>
                  <a:gd name="T34" fmla="*/ 275 w 312"/>
                  <a:gd name="T35" fmla="*/ 20 h 58"/>
                  <a:gd name="T36" fmla="*/ 288 w 312"/>
                  <a:gd name="T37" fmla="*/ 11 h 58"/>
                  <a:gd name="T38" fmla="*/ 299 w 312"/>
                  <a:gd name="T39" fmla="*/ 6 h 58"/>
                  <a:gd name="T40" fmla="*/ 309 w 312"/>
                  <a:gd name="T41" fmla="*/ 8 h 58"/>
                  <a:gd name="T42" fmla="*/ 301 w 312"/>
                  <a:gd name="T43" fmla="*/ 18 h 58"/>
                  <a:gd name="T44" fmla="*/ 291 w 312"/>
                  <a:gd name="T45" fmla="*/ 26 h 58"/>
                  <a:gd name="T46" fmla="*/ 285 w 312"/>
                  <a:gd name="T47" fmla="*/ 34 h 58"/>
                  <a:gd name="T48" fmla="*/ 280 w 312"/>
                  <a:gd name="T49" fmla="*/ 40 h 58"/>
                  <a:gd name="T50" fmla="*/ 279 w 312"/>
                  <a:gd name="T51" fmla="*/ 48 h 58"/>
                  <a:gd name="T52" fmla="*/ 270 w 312"/>
                  <a:gd name="T53" fmla="*/ 46 h 58"/>
                  <a:gd name="T54" fmla="*/ 262 w 312"/>
                  <a:gd name="T55" fmla="*/ 49 h 58"/>
                  <a:gd name="T56" fmla="*/ 253 w 312"/>
                  <a:gd name="T57" fmla="*/ 48 h 58"/>
                  <a:gd name="T58" fmla="*/ 243 w 312"/>
                  <a:gd name="T59" fmla="*/ 48 h 58"/>
                  <a:gd name="T60" fmla="*/ 232 w 312"/>
                  <a:gd name="T61" fmla="*/ 47 h 58"/>
                  <a:gd name="T62" fmla="*/ 220 w 312"/>
                  <a:gd name="T63" fmla="*/ 48 h 58"/>
                  <a:gd name="T64" fmla="*/ 208 w 312"/>
                  <a:gd name="T65" fmla="*/ 50 h 58"/>
                  <a:gd name="T66" fmla="*/ 196 w 312"/>
                  <a:gd name="T67" fmla="*/ 50 h 58"/>
                  <a:gd name="T68" fmla="*/ 184 w 312"/>
                  <a:gd name="T69" fmla="*/ 50 h 58"/>
                  <a:gd name="T70" fmla="*/ 174 w 312"/>
                  <a:gd name="T71" fmla="*/ 52 h 58"/>
                  <a:gd name="T72" fmla="*/ 162 w 312"/>
                  <a:gd name="T73" fmla="*/ 54 h 58"/>
                  <a:gd name="T74" fmla="*/ 148 w 312"/>
                  <a:gd name="T75" fmla="*/ 54 h 58"/>
                  <a:gd name="T76" fmla="*/ 136 w 312"/>
                  <a:gd name="T77" fmla="*/ 54 h 58"/>
                  <a:gd name="T78" fmla="*/ 125 w 312"/>
                  <a:gd name="T79" fmla="*/ 53 h 58"/>
                  <a:gd name="T80" fmla="*/ 113 w 312"/>
                  <a:gd name="T81" fmla="*/ 54 h 58"/>
                  <a:gd name="T82" fmla="*/ 104 w 312"/>
                  <a:gd name="T83" fmla="*/ 53 h 58"/>
                  <a:gd name="T84" fmla="*/ 93 w 312"/>
                  <a:gd name="T85" fmla="*/ 54 h 58"/>
                  <a:gd name="T86" fmla="*/ 80 w 312"/>
                  <a:gd name="T87" fmla="*/ 54 h 58"/>
                  <a:gd name="T88" fmla="*/ 64 w 312"/>
                  <a:gd name="T89" fmla="*/ 57 h 58"/>
                  <a:gd name="T90" fmla="*/ 46 w 312"/>
                  <a:gd name="T91" fmla="*/ 57 h 58"/>
                  <a:gd name="T92" fmla="*/ 31 w 312"/>
                  <a:gd name="T93" fmla="*/ 55 h 58"/>
                  <a:gd name="T94" fmla="*/ 17 w 312"/>
                  <a:gd name="T95" fmla="*/ 55 h 58"/>
                  <a:gd name="T96" fmla="*/ 4 w 312"/>
                  <a:gd name="T97" fmla="*/ 53 h 58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312" h="58">
                    <a:moveTo>
                      <a:pt x="0" y="52"/>
                    </a:moveTo>
                    <a:lnTo>
                      <a:pt x="2" y="50"/>
                    </a:lnTo>
                    <a:lnTo>
                      <a:pt x="5" y="49"/>
                    </a:lnTo>
                    <a:lnTo>
                      <a:pt x="7" y="48"/>
                    </a:lnTo>
                    <a:lnTo>
                      <a:pt x="10" y="47"/>
                    </a:lnTo>
                    <a:lnTo>
                      <a:pt x="13" y="46"/>
                    </a:lnTo>
                    <a:lnTo>
                      <a:pt x="18" y="45"/>
                    </a:lnTo>
                    <a:lnTo>
                      <a:pt x="21" y="44"/>
                    </a:lnTo>
                    <a:lnTo>
                      <a:pt x="26" y="42"/>
                    </a:lnTo>
                    <a:lnTo>
                      <a:pt x="31" y="41"/>
                    </a:lnTo>
                    <a:lnTo>
                      <a:pt x="37" y="40"/>
                    </a:lnTo>
                    <a:lnTo>
                      <a:pt x="42" y="39"/>
                    </a:lnTo>
                    <a:lnTo>
                      <a:pt x="48" y="39"/>
                    </a:lnTo>
                    <a:lnTo>
                      <a:pt x="53" y="38"/>
                    </a:lnTo>
                    <a:lnTo>
                      <a:pt x="58" y="37"/>
                    </a:lnTo>
                    <a:lnTo>
                      <a:pt x="63" y="36"/>
                    </a:lnTo>
                    <a:lnTo>
                      <a:pt x="67" y="35"/>
                    </a:lnTo>
                    <a:lnTo>
                      <a:pt x="73" y="34"/>
                    </a:lnTo>
                    <a:lnTo>
                      <a:pt x="78" y="33"/>
                    </a:lnTo>
                    <a:lnTo>
                      <a:pt x="83" y="32"/>
                    </a:lnTo>
                    <a:lnTo>
                      <a:pt x="86" y="32"/>
                    </a:lnTo>
                    <a:lnTo>
                      <a:pt x="90" y="30"/>
                    </a:lnTo>
                    <a:lnTo>
                      <a:pt x="92" y="29"/>
                    </a:lnTo>
                    <a:lnTo>
                      <a:pt x="94" y="27"/>
                    </a:lnTo>
                    <a:lnTo>
                      <a:pt x="96" y="25"/>
                    </a:lnTo>
                    <a:lnTo>
                      <a:pt x="98" y="23"/>
                    </a:lnTo>
                    <a:lnTo>
                      <a:pt x="101" y="20"/>
                    </a:lnTo>
                    <a:lnTo>
                      <a:pt x="104" y="18"/>
                    </a:lnTo>
                    <a:lnTo>
                      <a:pt x="107" y="14"/>
                    </a:lnTo>
                    <a:lnTo>
                      <a:pt x="111" y="11"/>
                    </a:lnTo>
                    <a:lnTo>
                      <a:pt x="115" y="8"/>
                    </a:lnTo>
                    <a:lnTo>
                      <a:pt x="119" y="5"/>
                    </a:lnTo>
                    <a:lnTo>
                      <a:pt x="123" y="2"/>
                    </a:lnTo>
                    <a:lnTo>
                      <a:pt x="127" y="0"/>
                    </a:lnTo>
                    <a:lnTo>
                      <a:pt x="128" y="4"/>
                    </a:lnTo>
                    <a:lnTo>
                      <a:pt x="130" y="10"/>
                    </a:lnTo>
                    <a:lnTo>
                      <a:pt x="132" y="15"/>
                    </a:lnTo>
                    <a:lnTo>
                      <a:pt x="133" y="20"/>
                    </a:lnTo>
                    <a:lnTo>
                      <a:pt x="134" y="22"/>
                    </a:lnTo>
                    <a:lnTo>
                      <a:pt x="134" y="25"/>
                    </a:lnTo>
                    <a:lnTo>
                      <a:pt x="134" y="27"/>
                    </a:lnTo>
                    <a:lnTo>
                      <a:pt x="132" y="29"/>
                    </a:lnTo>
                    <a:lnTo>
                      <a:pt x="137" y="31"/>
                    </a:lnTo>
                    <a:lnTo>
                      <a:pt x="142" y="31"/>
                    </a:lnTo>
                    <a:lnTo>
                      <a:pt x="148" y="32"/>
                    </a:lnTo>
                    <a:lnTo>
                      <a:pt x="155" y="33"/>
                    </a:lnTo>
                    <a:lnTo>
                      <a:pt x="162" y="34"/>
                    </a:lnTo>
                    <a:lnTo>
                      <a:pt x="168" y="35"/>
                    </a:lnTo>
                    <a:lnTo>
                      <a:pt x="174" y="36"/>
                    </a:lnTo>
                    <a:lnTo>
                      <a:pt x="178" y="37"/>
                    </a:lnTo>
                    <a:lnTo>
                      <a:pt x="183" y="37"/>
                    </a:lnTo>
                    <a:lnTo>
                      <a:pt x="187" y="36"/>
                    </a:lnTo>
                    <a:lnTo>
                      <a:pt x="190" y="34"/>
                    </a:lnTo>
                    <a:lnTo>
                      <a:pt x="194" y="32"/>
                    </a:lnTo>
                    <a:lnTo>
                      <a:pt x="202" y="33"/>
                    </a:lnTo>
                    <a:lnTo>
                      <a:pt x="210" y="35"/>
                    </a:lnTo>
                    <a:lnTo>
                      <a:pt x="216" y="37"/>
                    </a:lnTo>
                    <a:lnTo>
                      <a:pt x="213" y="40"/>
                    </a:lnTo>
                    <a:lnTo>
                      <a:pt x="215" y="41"/>
                    </a:lnTo>
                    <a:lnTo>
                      <a:pt x="219" y="43"/>
                    </a:lnTo>
                    <a:lnTo>
                      <a:pt x="223" y="44"/>
                    </a:lnTo>
                    <a:lnTo>
                      <a:pt x="228" y="44"/>
                    </a:lnTo>
                    <a:lnTo>
                      <a:pt x="233" y="44"/>
                    </a:lnTo>
                    <a:lnTo>
                      <a:pt x="238" y="44"/>
                    </a:lnTo>
                    <a:lnTo>
                      <a:pt x="242" y="43"/>
                    </a:lnTo>
                    <a:lnTo>
                      <a:pt x="248" y="41"/>
                    </a:lnTo>
                    <a:lnTo>
                      <a:pt x="253" y="39"/>
                    </a:lnTo>
                    <a:lnTo>
                      <a:pt x="258" y="34"/>
                    </a:lnTo>
                    <a:lnTo>
                      <a:pt x="263" y="31"/>
                    </a:lnTo>
                    <a:lnTo>
                      <a:pt x="268" y="26"/>
                    </a:lnTo>
                    <a:lnTo>
                      <a:pt x="271" y="24"/>
                    </a:lnTo>
                    <a:lnTo>
                      <a:pt x="275" y="20"/>
                    </a:lnTo>
                    <a:lnTo>
                      <a:pt x="278" y="18"/>
                    </a:lnTo>
                    <a:lnTo>
                      <a:pt x="282" y="15"/>
                    </a:lnTo>
                    <a:lnTo>
                      <a:pt x="285" y="13"/>
                    </a:lnTo>
                    <a:lnTo>
                      <a:pt x="288" y="11"/>
                    </a:lnTo>
                    <a:lnTo>
                      <a:pt x="291" y="10"/>
                    </a:lnTo>
                    <a:lnTo>
                      <a:pt x="293" y="9"/>
                    </a:lnTo>
                    <a:lnTo>
                      <a:pt x="296" y="7"/>
                    </a:lnTo>
                    <a:lnTo>
                      <a:pt x="299" y="6"/>
                    </a:lnTo>
                    <a:lnTo>
                      <a:pt x="302" y="6"/>
                    </a:lnTo>
                    <a:lnTo>
                      <a:pt x="306" y="6"/>
                    </a:lnTo>
                    <a:lnTo>
                      <a:pt x="311" y="6"/>
                    </a:lnTo>
                    <a:lnTo>
                      <a:pt x="309" y="8"/>
                    </a:lnTo>
                    <a:lnTo>
                      <a:pt x="307" y="11"/>
                    </a:lnTo>
                    <a:lnTo>
                      <a:pt x="305" y="12"/>
                    </a:lnTo>
                    <a:lnTo>
                      <a:pt x="303" y="15"/>
                    </a:lnTo>
                    <a:lnTo>
                      <a:pt x="301" y="18"/>
                    </a:lnTo>
                    <a:lnTo>
                      <a:pt x="298" y="20"/>
                    </a:lnTo>
                    <a:lnTo>
                      <a:pt x="294" y="23"/>
                    </a:lnTo>
                    <a:lnTo>
                      <a:pt x="292" y="25"/>
                    </a:lnTo>
                    <a:lnTo>
                      <a:pt x="291" y="26"/>
                    </a:lnTo>
                    <a:lnTo>
                      <a:pt x="289" y="29"/>
                    </a:lnTo>
                    <a:lnTo>
                      <a:pt x="288" y="30"/>
                    </a:lnTo>
                    <a:lnTo>
                      <a:pt x="286" y="32"/>
                    </a:lnTo>
                    <a:lnTo>
                      <a:pt x="285" y="34"/>
                    </a:lnTo>
                    <a:lnTo>
                      <a:pt x="284" y="36"/>
                    </a:lnTo>
                    <a:lnTo>
                      <a:pt x="282" y="38"/>
                    </a:lnTo>
                    <a:lnTo>
                      <a:pt x="281" y="39"/>
                    </a:lnTo>
                    <a:lnTo>
                      <a:pt x="280" y="40"/>
                    </a:lnTo>
                    <a:lnTo>
                      <a:pt x="280" y="43"/>
                    </a:lnTo>
                    <a:lnTo>
                      <a:pt x="279" y="44"/>
                    </a:lnTo>
                    <a:lnTo>
                      <a:pt x="279" y="46"/>
                    </a:lnTo>
                    <a:lnTo>
                      <a:pt x="279" y="48"/>
                    </a:lnTo>
                    <a:lnTo>
                      <a:pt x="277" y="46"/>
                    </a:lnTo>
                    <a:lnTo>
                      <a:pt x="274" y="46"/>
                    </a:lnTo>
                    <a:lnTo>
                      <a:pt x="272" y="46"/>
                    </a:lnTo>
                    <a:lnTo>
                      <a:pt x="270" y="46"/>
                    </a:lnTo>
                    <a:lnTo>
                      <a:pt x="268" y="47"/>
                    </a:lnTo>
                    <a:lnTo>
                      <a:pt x="266" y="48"/>
                    </a:lnTo>
                    <a:lnTo>
                      <a:pt x="264" y="48"/>
                    </a:lnTo>
                    <a:lnTo>
                      <a:pt x="262" y="49"/>
                    </a:lnTo>
                    <a:lnTo>
                      <a:pt x="259" y="49"/>
                    </a:lnTo>
                    <a:lnTo>
                      <a:pt x="256" y="49"/>
                    </a:lnTo>
                    <a:lnTo>
                      <a:pt x="254" y="48"/>
                    </a:lnTo>
                    <a:lnTo>
                      <a:pt x="253" y="48"/>
                    </a:lnTo>
                    <a:lnTo>
                      <a:pt x="251" y="47"/>
                    </a:lnTo>
                    <a:lnTo>
                      <a:pt x="249" y="47"/>
                    </a:lnTo>
                    <a:lnTo>
                      <a:pt x="245" y="48"/>
                    </a:lnTo>
                    <a:lnTo>
                      <a:pt x="243" y="48"/>
                    </a:lnTo>
                    <a:lnTo>
                      <a:pt x="241" y="48"/>
                    </a:lnTo>
                    <a:lnTo>
                      <a:pt x="238" y="48"/>
                    </a:lnTo>
                    <a:lnTo>
                      <a:pt x="235" y="47"/>
                    </a:lnTo>
                    <a:lnTo>
                      <a:pt x="232" y="47"/>
                    </a:lnTo>
                    <a:lnTo>
                      <a:pt x="229" y="48"/>
                    </a:lnTo>
                    <a:lnTo>
                      <a:pt x="225" y="48"/>
                    </a:lnTo>
                    <a:lnTo>
                      <a:pt x="223" y="48"/>
                    </a:lnTo>
                    <a:lnTo>
                      <a:pt x="220" y="48"/>
                    </a:lnTo>
                    <a:lnTo>
                      <a:pt x="217" y="48"/>
                    </a:lnTo>
                    <a:lnTo>
                      <a:pt x="214" y="48"/>
                    </a:lnTo>
                    <a:lnTo>
                      <a:pt x="212" y="49"/>
                    </a:lnTo>
                    <a:lnTo>
                      <a:pt x="208" y="50"/>
                    </a:lnTo>
                    <a:lnTo>
                      <a:pt x="205" y="50"/>
                    </a:lnTo>
                    <a:lnTo>
                      <a:pt x="202" y="51"/>
                    </a:lnTo>
                    <a:lnTo>
                      <a:pt x="199" y="51"/>
                    </a:lnTo>
                    <a:lnTo>
                      <a:pt x="196" y="50"/>
                    </a:lnTo>
                    <a:lnTo>
                      <a:pt x="193" y="49"/>
                    </a:lnTo>
                    <a:lnTo>
                      <a:pt x="189" y="50"/>
                    </a:lnTo>
                    <a:lnTo>
                      <a:pt x="187" y="50"/>
                    </a:lnTo>
                    <a:lnTo>
                      <a:pt x="184" y="50"/>
                    </a:lnTo>
                    <a:lnTo>
                      <a:pt x="181" y="50"/>
                    </a:lnTo>
                    <a:lnTo>
                      <a:pt x="179" y="50"/>
                    </a:lnTo>
                    <a:lnTo>
                      <a:pt x="176" y="51"/>
                    </a:lnTo>
                    <a:lnTo>
                      <a:pt x="174" y="52"/>
                    </a:lnTo>
                    <a:lnTo>
                      <a:pt x="171" y="52"/>
                    </a:lnTo>
                    <a:lnTo>
                      <a:pt x="168" y="53"/>
                    </a:lnTo>
                    <a:lnTo>
                      <a:pt x="165" y="53"/>
                    </a:lnTo>
                    <a:lnTo>
                      <a:pt x="162" y="54"/>
                    </a:lnTo>
                    <a:lnTo>
                      <a:pt x="159" y="54"/>
                    </a:lnTo>
                    <a:lnTo>
                      <a:pt x="155" y="54"/>
                    </a:lnTo>
                    <a:lnTo>
                      <a:pt x="151" y="53"/>
                    </a:lnTo>
                    <a:lnTo>
                      <a:pt x="148" y="54"/>
                    </a:lnTo>
                    <a:lnTo>
                      <a:pt x="145" y="54"/>
                    </a:lnTo>
                    <a:lnTo>
                      <a:pt x="142" y="54"/>
                    </a:lnTo>
                    <a:lnTo>
                      <a:pt x="139" y="54"/>
                    </a:lnTo>
                    <a:lnTo>
                      <a:pt x="136" y="54"/>
                    </a:lnTo>
                    <a:lnTo>
                      <a:pt x="133" y="54"/>
                    </a:lnTo>
                    <a:lnTo>
                      <a:pt x="130" y="53"/>
                    </a:lnTo>
                    <a:lnTo>
                      <a:pt x="128" y="53"/>
                    </a:lnTo>
                    <a:lnTo>
                      <a:pt x="125" y="53"/>
                    </a:lnTo>
                    <a:lnTo>
                      <a:pt x="122" y="53"/>
                    </a:lnTo>
                    <a:lnTo>
                      <a:pt x="119" y="53"/>
                    </a:lnTo>
                    <a:lnTo>
                      <a:pt x="116" y="53"/>
                    </a:lnTo>
                    <a:lnTo>
                      <a:pt x="113" y="54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6" y="53"/>
                    </a:lnTo>
                    <a:lnTo>
                      <a:pt x="104" y="53"/>
                    </a:lnTo>
                    <a:lnTo>
                      <a:pt x="101" y="53"/>
                    </a:lnTo>
                    <a:lnTo>
                      <a:pt x="98" y="53"/>
                    </a:lnTo>
                    <a:lnTo>
                      <a:pt x="96" y="53"/>
                    </a:lnTo>
                    <a:lnTo>
                      <a:pt x="93" y="54"/>
                    </a:lnTo>
                    <a:lnTo>
                      <a:pt x="89" y="54"/>
                    </a:lnTo>
                    <a:lnTo>
                      <a:pt x="86" y="53"/>
                    </a:lnTo>
                    <a:lnTo>
                      <a:pt x="83" y="54"/>
                    </a:lnTo>
                    <a:lnTo>
                      <a:pt x="80" y="54"/>
                    </a:lnTo>
                    <a:lnTo>
                      <a:pt x="77" y="55"/>
                    </a:lnTo>
                    <a:lnTo>
                      <a:pt x="74" y="56"/>
                    </a:lnTo>
                    <a:lnTo>
                      <a:pt x="69" y="57"/>
                    </a:lnTo>
                    <a:lnTo>
                      <a:pt x="64" y="57"/>
                    </a:lnTo>
                    <a:lnTo>
                      <a:pt x="59" y="57"/>
                    </a:lnTo>
                    <a:lnTo>
                      <a:pt x="55" y="57"/>
                    </a:lnTo>
                    <a:lnTo>
                      <a:pt x="49" y="57"/>
                    </a:lnTo>
                    <a:lnTo>
                      <a:pt x="46" y="57"/>
                    </a:lnTo>
                    <a:lnTo>
                      <a:pt x="43" y="57"/>
                    </a:lnTo>
                    <a:lnTo>
                      <a:pt x="40" y="57"/>
                    </a:lnTo>
                    <a:lnTo>
                      <a:pt x="36" y="57"/>
                    </a:lnTo>
                    <a:lnTo>
                      <a:pt x="31" y="55"/>
                    </a:lnTo>
                    <a:lnTo>
                      <a:pt x="27" y="55"/>
                    </a:lnTo>
                    <a:lnTo>
                      <a:pt x="23" y="55"/>
                    </a:lnTo>
                    <a:lnTo>
                      <a:pt x="20" y="55"/>
                    </a:lnTo>
                    <a:lnTo>
                      <a:pt x="17" y="55"/>
                    </a:lnTo>
                    <a:lnTo>
                      <a:pt x="13" y="55"/>
                    </a:lnTo>
                    <a:lnTo>
                      <a:pt x="10" y="54"/>
                    </a:lnTo>
                    <a:lnTo>
                      <a:pt x="7" y="53"/>
                    </a:lnTo>
                    <a:lnTo>
                      <a:pt x="4" y="53"/>
                    </a:lnTo>
                    <a:lnTo>
                      <a:pt x="1" y="52"/>
                    </a:lnTo>
                    <a:lnTo>
                      <a:pt x="0" y="52"/>
                    </a:lnTo>
                  </a:path>
                </a:pathLst>
              </a:custGeom>
              <a:pattFill prst="pct50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2635" name="Group 603"/>
              <p:cNvGrpSpPr>
                <a:grpSpLocks/>
              </p:cNvGrpSpPr>
              <p:nvPr/>
            </p:nvGrpSpPr>
            <p:grpSpPr bwMode="auto">
              <a:xfrm>
                <a:off x="4334" y="2516"/>
                <a:ext cx="47" cy="37"/>
                <a:chOff x="4253" y="2700"/>
                <a:chExt cx="47" cy="37"/>
              </a:xfrm>
            </p:grpSpPr>
            <p:sp>
              <p:nvSpPr>
                <p:cNvPr id="22636" name="Freeform 604" descr="50%"/>
                <p:cNvSpPr>
                  <a:spLocks/>
                </p:cNvSpPr>
                <p:nvPr/>
              </p:nvSpPr>
              <p:spPr bwMode="auto">
                <a:xfrm>
                  <a:off x="4253" y="2706"/>
                  <a:ext cx="47" cy="31"/>
                </a:xfrm>
                <a:custGeom>
                  <a:avLst/>
                  <a:gdLst>
                    <a:gd name="T0" fmla="*/ 43 w 47"/>
                    <a:gd name="T1" fmla="*/ 27 h 31"/>
                    <a:gd name="T2" fmla="*/ 40 w 47"/>
                    <a:gd name="T3" fmla="*/ 24 h 31"/>
                    <a:gd name="T4" fmla="*/ 39 w 47"/>
                    <a:gd name="T5" fmla="*/ 22 h 31"/>
                    <a:gd name="T6" fmla="*/ 37 w 47"/>
                    <a:gd name="T7" fmla="*/ 21 h 31"/>
                    <a:gd name="T8" fmla="*/ 36 w 47"/>
                    <a:gd name="T9" fmla="*/ 19 h 31"/>
                    <a:gd name="T10" fmla="*/ 35 w 47"/>
                    <a:gd name="T11" fmla="*/ 17 h 31"/>
                    <a:gd name="T12" fmla="*/ 34 w 47"/>
                    <a:gd name="T13" fmla="*/ 16 h 31"/>
                    <a:gd name="T14" fmla="*/ 33 w 47"/>
                    <a:gd name="T15" fmla="*/ 14 h 31"/>
                    <a:gd name="T16" fmla="*/ 32 w 47"/>
                    <a:gd name="T17" fmla="*/ 12 h 31"/>
                    <a:gd name="T18" fmla="*/ 31 w 47"/>
                    <a:gd name="T19" fmla="*/ 10 h 31"/>
                    <a:gd name="T20" fmla="*/ 30 w 47"/>
                    <a:gd name="T21" fmla="*/ 7 h 31"/>
                    <a:gd name="T22" fmla="*/ 30 w 47"/>
                    <a:gd name="T23" fmla="*/ 5 h 31"/>
                    <a:gd name="T24" fmla="*/ 30 w 47"/>
                    <a:gd name="T25" fmla="*/ 3 h 31"/>
                    <a:gd name="T26" fmla="*/ 30 w 47"/>
                    <a:gd name="T27" fmla="*/ 0 h 31"/>
                    <a:gd name="T28" fmla="*/ 0 w 47"/>
                    <a:gd name="T29" fmla="*/ 0 h 31"/>
                    <a:gd name="T30" fmla="*/ 1 w 47"/>
                    <a:gd name="T31" fmla="*/ 2 h 31"/>
                    <a:gd name="T32" fmla="*/ 2 w 47"/>
                    <a:gd name="T33" fmla="*/ 4 h 31"/>
                    <a:gd name="T34" fmla="*/ 4 w 47"/>
                    <a:gd name="T35" fmla="*/ 6 h 31"/>
                    <a:gd name="T36" fmla="*/ 6 w 47"/>
                    <a:gd name="T37" fmla="*/ 9 h 31"/>
                    <a:gd name="T38" fmla="*/ 8 w 47"/>
                    <a:gd name="T39" fmla="*/ 11 h 31"/>
                    <a:gd name="T40" fmla="*/ 10 w 47"/>
                    <a:gd name="T41" fmla="*/ 13 h 31"/>
                    <a:gd name="T42" fmla="*/ 12 w 47"/>
                    <a:gd name="T43" fmla="*/ 15 h 31"/>
                    <a:gd name="T44" fmla="*/ 14 w 47"/>
                    <a:gd name="T45" fmla="*/ 17 h 31"/>
                    <a:gd name="T46" fmla="*/ 17 w 47"/>
                    <a:gd name="T47" fmla="*/ 19 h 31"/>
                    <a:gd name="T48" fmla="*/ 20 w 47"/>
                    <a:gd name="T49" fmla="*/ 22 h 31"/>
                    <a:gd name="T50" fmla="*/ 23 w 47"/>
                    <a:gd name="T51" fmla="*/ 23 h 31"/>
                    <a:gd name="T52" fmla="*/ 25 w 47"/>
                    <a:gd name="T53" fmla="*/ 24 h 31"/>
                    <a:gd name="T54" fmla="*/ 28 w 47"/>
                    <a:gd name="T55" fmla="*/ 26 h 31"/>
                    <a:gd name="T56" fmla="*/ 30 w 47"/>
                    <a:gd name="T57" fmla="*/ 27 h 31"/>
                    <a:gd name="T58" fmla="*/ 33 w 47"/>
                    <a:gd name="T59" fmla="*/ 28 h 31"/>
                    <a:gd name="T60" fmla="*/ 36 w 47"/>
                    <a:gd name="T61" fmla="*/ 28 h 31"/>
                    <a:gd name="T62" fmla="*/ 39 w 47"/>
                    <a:gd name="T63" fmla="*/ 29 h 31"/>
                    <a:gd name="T64" fmla="*/ 41 w 47"/>
                    <a:gd name="T65" fmla="*/ 29 h 31"/>
                    <a:gd name="T66" fmla="*/ 44 w 47"/>
                    <a:gd name="T67" fmla="*/ 29 h 31"/>
                    <a:gd name="T68" fmla="*/ 46 w 47"/>
                    <a:gd name="T69" fmla="*/ 30 h 31"/>
                    <a:gd name="T70" fmla="*/ 43 w 47"/>
                    <a:gd name="T71" fmla="*/ 27 h 31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47" h="31">
                      <a:moveTo>
                        <a:pt x="43" y="27"/>
                      </a:moveTo>
                      <a:lnTo>
                        <a:pt x="40" y="24"/>
                      </a:lnTo>
                      <a:lnTo>
                        <a:pt x="39" y="22"/>
                      </a:lnTo>
                      <a:lnTo>
                        <a:pt x="37" y="21"/>
                      </a:lnTo>
                      <a:lnTo>
                        <a:pt x="36" y="19"/>
                      </a:lnTo>
                      <a:lnTo>
                        <a:pt x="35" y="17"/>
                      </a:lnTo>
                      <a:lnTo>
                        <a:pt x="34" y="16"/>
                      </a:lnTo>
                      <a:lnTo>
                        <a:pt x="33" y="14"/>
                      </a:lnTo>
                      <a:lnTo>
                        <a:pt x="32" y="12"/>
                      </a:lnTo>
                      <a:lnTo>
                        <a:pt x="31" y="10"/>
                      </a:lnTo>
                      <a:lnTo>
                        <a:pt x="30" y="7"/>
                      </a:lnTo>
                      <a:lnTo>
                        <a:pt x="30" y="5"/>
                      </a:lnTo>
                      <a:lnTo>
                        <a:pt x="30" y="3"/>
                      </a:lnTo>
                      <a:lnTo>
                        <a:pt x="30" y="0"/>
                      </a:lnTo>
                      <a:lnTo>
                        <a:pt x="0" y="0"/>
                      </a:lnTo>
                      <a:lnTo>
                        <a:pt x="1" y="2"/>
                      </a:lnTo>
                      <a:lnTo>
                        <a:pt x="2" y="4"/>
                      </a:lnTo>
                      <a:lnTo>
                        <a:pt x="4" y="6"/>
                      </a:lnTo>
                      <a:lnTo>
                        <a:pt x="6" y="9"/>
                      </a:lnTo>
                      <a:lnTo>
                        <a:pt x="8" y="11"/>
                      </a:lnTo>
                      <a:lnTo>
                        <a:pt x="10" y="13"/>
                      </a:lnTo>
                      <a:lnTo>
                        <a:pt x="12" y="15"/>
                      </a:lnTo>
                      <a:lnTo>
                        <a:pt x="14" y="17"/>
                      </a:lnTo>
                      <a:lnTo>
                        <a:pt x="17" y="19"/>
                      </a:lnTo>
                      <a:lnTo>
                        <a:pt x="20" y="22"/>
                      </a:lnTo>
                      <a:lnTo>
                        <a:pt x="23" y="23"/>
                      </a:lnTo>
                      <a:lnTo>
                        <a:pt x="25" y="24"/>
                      </a:lnTo>
                      <a:lnTo>
                        <a:pt x="28" y="26"/>
                      </a:lnTo>
                      <a:lnTo>
                        <a:pt x="30" y="27"/>
                      </a:lnTo>
                      <a:lnTo>
                        <a:pt x="33" y="28"/>
                      </a:lnTo>
                      <a:lnTo>
                        <a:pt x="36" y="28"/>
                      </a:lnTo>
                      <a:lnTo>
                        <a:pt x="39" y="29"/>
                      </a:lnTo>
                      <a:lnTo>
                        <a:pt x="41" y="29"/>
                      </a:lnTo>
                      <a:lnTo>
                        <a:pt x="44" y="29"/>
                      </a:lnTo>
                      <a:lnTo>
                        <a:pt x="46" y="30"/>
                      </a:lnTo>
                      <a:lnTo>
                        <a:pt x="43" y="27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37" name="Freeform 605" descr="50%"/>
                <p:cNvSpPr>
                  <a:spLocks/>
                </p:cNvSpPr>
                <p:nvPr/>
              </p:nvSpPr>
              <p:spPr bwMode="auto">
                <a:xfrm>
                  <a:off x="4254" y="2700"/>
                  <a:ext cx="21" cy="7"/>
                </a:xfrm>
                <a:custGeom>
                  <a:avLst/>
                  <a:gdLst>
                    <a:gd name="T0" fmla="*/ 0 w 21"/>
                    <a:gd name="T1" fmla="*/ 6 h 7"/>
                    <a:gd name="T2" fmla="*/ 0 w 21"/>
                    <a:gd name="T3" fmla="*/ 6 h 7"/>
                    <a:gd name="T4" fmla="*/ 1 w 21"/>
                    <a:gd name="T5" fmla="*/ 0 h 7"/>
                    <a:gd name="T6" fmla="*/ 20 w 21"/>
                    <a:gd name="T7" fmla="*/ 0 h 7"/>
                    <a:gd name="T8" fmla="*/ 20 w 21"/>
                    <a:gd name="T9" fmla="*/ 6 h 7"/>
                    <a:gd name="T10" fmla="*/ 0 w 21"/>
                    <a:gd name="T11" fmla="*/ 6 h 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21" h="7">
                      <a:moveTo>
                        <a:pt x="0" y="6"/>
                      </a:moveTo>
                      <a:lnTo>
                        <a:pt x="0" y="6"/>
                      </a:lnTo>
                      <a:lnTo>
                        <a:pt x="1" y="0"/>
                      </a:lnTo>
                      <a:lnTo>
                        <a:pt x="20" y="0"/>
                      </a:lnTo>
                      <a:lnTo>
                        <a:pt x="20" y="6"/>
                      </a:lnTo>
                      <a:lnTo>
                        <a:pt x="0" y="6"/>
                      </a:lnTo>
                    </a:path>
                  </a:pathLst>
                </a:custGeom>
                <a:pattFill prst="pct50">
                  <a:fgClr>
                    <a:schemeClr val="tx1"/>
                  </a:fgClr>
                  <a:bgClr>
                    <a:schemeClr val="bg1"/>
                  </a:bgClr>
                </a:patt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2629" name="Rectangle 606"/>
            <p:cNvSpPr>
              <a:spLocks noChangeArrowheads="1"/>
            </p:cNvSpPr>
            <p:nvPr/>
          </p:nvSpPr>
          <p:spPr bwMode="auto">
            <a:xfrm>
              <a:off x="4416" y="2208"/>
              <a:ext cx="912" cy="9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/>
            <a:p>
              <a:pPr eaLnBrk="0" hangingPunct="0"/>
              <a:r>
                <a:rPr kumimoji="1" lang="en-US" altLang="zh-CN" b="1">
                  <a:solidFill>
                    <a:srgbClr val="0000FF"/>
                  </a:solidFill>
                  <a:latin typeface="Comic Sans MS" pitchFamily="66" charset="0"/>
                </a:rPr>
                <a:t>Embedded system</a:t>
              </a:r>
            </a:p>
            <a:p>
              <a:pPr eaLnBrk="0" hangingPunct="0"/>
              <a:r>
                <a:rPr kumimoji="1" lang="en-US" altLang="zh-CN" b="1">
                  <a:solidFill>
                    <a:srgbClr val="0000FF"/>
                  </a:solidFill>
                  <a:latin typeface="Comic Sans MS" pitchFamily="66" charset="0"/>
                </a:rPr>
                <a:t>2000s</a:t>
              </a:r>
            </a:p>
          </p:txBody>
        </p:sp>
      </p:grpSp>
      <p:sp>
        <p:nvSpPr>
          <p:cNvPr id="22567" name="Freeform 607" descr="50%"/>
          <p:cNvSpPr>
            <a:spLocks/>
          </p:cNvSpPr>
          <p:nvPr/>
        </p:nvSpPr>
        <p:spPr bwMode="auto">
          <a:xfrm>
            <a:off x="5859067" y="3925491"/>
            <a:ext cx="69056" cy="54769"/>
          </a:xfrm>
          <a:custGeom>
            <a:avLst/>
            <a:gdLst>
              <a:gd name="T0" fmla="*/ 0 w 58"/>
              <a:gd name="T1" fmla="*/ 0 h 46"/>
              <a:gd name="T2" fmla="*/ 3175 w 58"/>
              <a:gd name="T3" fmla="*/ 7938 h 46"/>
              <a:gd name="T4" fmla="*/ 7938 w 58"/>
              <a:gd name="T5" fmla="*/ 14288 h 46"/>
              <a:gd name="T6" fmla="*/ 14288 w 58"/>
              <a:gd name="T7" fmla="*/ 22225 h 46"/>
              <a:gd name="T8" fmla="*/ 19050 w 58"/>
              <a:gd name="T9" fmla="*/ 28575 h 46"/>
              <a:gd name="T10" fmla="*/ 25400 w 58"/>
              <a:gd name="T11" fmla="*/ 36513 h 46"/>
              <a:gd name="T12" fmla="*/ 33338 w 58"/>
              <a:gd name="T13" fmla="*/ 44450 h 46"/>
              <a:gd name="T14" fmla="*/ 38100 w 58"/>
              <a:gd name="T15" fmla="*/ 50800 h 46"/>
              <a:gd name="T16" fmla="*/ 44450 w 58"/>
              <a:gd name="T17" fmla="*/ 55563 h 46"/>
              <a:gd name="T18" fmla="*/ 50800 w 58"/>
              <a:gd name="T19" fmla="*/ 60325 h 46"/>
              <a:gd name="T20" fmla="*/ 57150 w 58"/>
              <a:gd name="T21" fmla="*/ 63500 h 46"/>
              <a:gd name="T22" fmla="*/ 65088 w 58"/>
              <a:gd name="T23" fmla="*/ 66675 h 46"/>
              <a:gd name="T24" fmla="*/ 71438 w 58"/>
              <a:gd name="T25" fmla="*/ 69850 h 46"/>
              <a:gd name="T26" fmla="*/ 79375 w 58"/>
              <a:gd name="T27" fmla="*/ 71438 h 46"/>
              <a:gd name="T28" fmla="*/ 85725 w 58"/>
              <a:gd name="T29" fmla="*/ 71438 h 46"/>
              <a:gd name="T30" fmla="*/ 90488 w 58"/>
              <a:gd name="T31" fmla="*/ 69850 h 46"/>
              <a:gd name="T32" fmla="*/ 85725 w 58"/>
              <a:gd name="T33" fmla="*/ 65088 h 46"/>
              <a:gd name="T34" fmla="*/ 80963 w 58"/>
              <a:gd name="T35" fmla="*/ 58738 h 46"/>
              <a:gd name="T36" fmla="*/ 76200 w 58"/>
              <a:gd name="T37" fmla="*/ 52388 h 46"/>
              <a:gd name="T38" fmla="*/ 71438 w 58"/>
              <a:gd name="T39" fmla="*/ 46038 h 46"/>
              <a:gd name="T40" fmla="*/ 66675 w 58"/>
              <a:gd name="T41" fmla="*/ 38100 h 46"/>
              <a:gd name="T42" fmla="*/ 63500 w 58"/>
              <a:gd name="T43" fmla="*/ 31750 h 46"/>
              <a:gd name="T44" fmla="*/ 60325 w 58"/>
              <a:gd name="T45" fmla="*/ 25400 h 46"/>
              <a:gd name="T46" fmla="*/ 58738 w 58"/>
              <a:gd name="T47" fmla="*/ 15875 h 46"/>
              <a:gd name="T48" fmla="*/ 58738 w 58"/>
              <a:gd name="T49" fmla="*/ 7938 h 46"/>
              <a:gd name="T50" fmla="*/ 58738 w 58"/>
              <a:gd name="T51" fmla="*/ 1588 h 46"/>
              <a:gd name="T52" fmla="*/ 0 w 58"/>
              <a:gd name="T53" fmla="*/ 0 h 4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58" h="46">
                <a:moveTo>
                  <a:pt x="0" y="0"/>
                </a:moveTo>
                <a:lnTo>
                  <a:pt x="2" y="5"/>
                </a:lnTo>
                <a:lnTo>
                  <a:pt x="5" y="9"/>
                </a:lnTo>
                <a:lnTo>
                  <a:pt x="9" y="14"/>
                </a:lnTo>
                <a:lnTo>
                  <a:pt x="12" y="18"/>
                </a:lnTo>
                <a:lnTo>
                  <a:pt x="16" y="23"/>
                </a:lnTo>
                <a:lnTo>
                  <a:pt x="21" y="28"/>
                </a:lnTo>
                <a:lnTo>
                  <a:pt x="24" y="32"/>
                </a:lnTo>
                <a:lnTo>
                  <a:pt x="28" y="35"/>
                </a:lnTo>
                <a:lnTo>
                  <a:pt x="32" y="38"/>
                </a:lnTo>
                <a:lnTo>
                  <a:pt x="36" y="40"/>
                </a:lnTo>
                <a:lnTo>
                  <a:pt x="41" y="42"/>
                </a:lnTo>
                <a:lnTo>
                  <a:pt x="45" y="44"/>
                </a:lnTo>
                <a:lnTo>
                  <a:pt x="50" y="45"/>
                </a:lnTo>
                <a:lnTo>
                  <a:pt x="54" y="45"/>
                </a:lnTo>
                <a:lnTo>
                  <a:pt x="57" y="44"/>
                </a:lnTo>
                <a:lnTo>
                  <a:pt x="54" y="41"/>
                </a:lnTo>
                <a:lnTo>
                  <a:pt x="51" y="37"/>
                </a:lnTo>
                <a:lnTo>
                  <a:pt x="48" y="33"/>
                </a:lnTo>
                <a:lnTo>
                  <a:pt x="45" y="29"/>
                </a:lnTo>
                <a:lnTo>
                  <a:pt x="42" y="24"/>
                </a:lnTo>
                <a:lnTo>
                  <a:pt x="40" y="20"/>
                </a:lnTo>
                <a:lnTo>
                  <a:pt x="38" y="16"/>
                </a:lnTo>
                <a:lnTo>
                  <a:pt x="37" y="10"/>
                </a:lnTo>
                <a:lnTo>
                  <a:pt x="37" y="5"/>
                </a:lnTo>
                <a:lnTo>
                  <a:pt x="37" y="1"/>
                </a:lnTo>
                <a:lnTo>
                  <a:pt x="0" y="0"/>
                </a:lnTo>
              </a:path>
            </a:pathLst>
          </a:custGeom>
          <a:pattFill prst="pct50">
            <a:fgClr>
              <a:schemeClr val="tx1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68" name="Freeform 608" descr="50%"/>
          <p:cNvSpPr>
            <a:spLocks/>
          </p:cNvSpPr>
          <p:nvPr/>
        </p:nvSpPr>
        <p:spPr bwMode="auto">
          <a:xfrm>
            <a:off x="5715000" y="3796904"/>
            <a:ext cx="572691" cy="172640"/>
          </a:xfrm>
          <a:custGeom>
            <a:avLst/>
            <a:gdLst>
              <a:gd name="T0" fmla="*/ 7938 w 481"/>
              <a:gd name="T1" fmla="*/ 134937 h 145"/>
              <a:gd name="T2" fmla="*/ 31750 w 481"/>
              <a:gd name="T3" fmla="*/ 127000 h 145"/>
              <a:gd name="T4" fmla="*/ 66675 w 481"/>
              <a:gd name="T5" fmla="*/ 115887 h 145"/>
              <a:gd name="T6" fmla="*/ 103188 w 481"/>
              <a:gd name="T7" fmla="*/ 107950 h 145"/>
              <a:gd name="T8" fmla="*/ 141288 w 481"/>
              <a:gd name="T9" fmla="*/ 100012 h 145"/>
              <a:gd name="T10" fmla="*/ 177800 w 481"/>
              <a:gd name="T11" fmla="*/ 92075 h 145"/>
              <a:gd name="T12" fmla="*/ 209550 w 481"/>
              <a:gd name="T13" fmla="*/ 85725 h 145"/>
              <a:gd name="T14" fmla="*/ 227013 w 481"/>
              <a:gd name="T15" fmla="*/ 76200 h 145"/>
              <a:gd name="T16" fmla="*/ 246063 w 481"/>
              <a:gd name="T17" fmla="*/ 58737 h 145"/>
              <a:gd name="T18" fmla="*/ 271463 w 481"/>
              <a:gd name="T19" fmla="*/ 31750 h 145"/>
              <a:gd name="T20" fmla="*/ 298450 w 481"/>
              <a:gd name="T21" fmla="*/ 7937 h 145"/>
              <a:gd name="T22" fmla="*/ 317500 w 481"/>
              <a:gd name="T23" fmla="*/ 26987 h 145"/>
              <a:gd name="T24" fmla="*/ 328613 w 481"/>
              <a:gd name="T25" fmla="*/ 68262 h 145"/>
              <a:gd name="T26" fmla="*/ 334963 w 481"/>
              <a:gd name="T27" fmla="*/ 84137 h 145"/>
              <a:gd name="T28" fmla="*/ 379413 w 481"/>
              <a:gd name="T29" fmla="*/ 90487 h 145"/>
              <a:gd name="T30" fmla="*/ 423863 w 481"/>
              <a:gd name="T31" fmla="*/ 100012 h 145"/>
              <a:gd name="T32" fmla="*/ 457200 w 481"/>
              <a:gd name="T33" fmla="*/ 100012 h 145"/>
              <a:gd name="T34" fmla="*/ 492125 w 481"/>
              <a:gd name="T35" fmla="*/ 92075 h 145"/>
              <a:gd name="T36" fmla="*/ 519113 w 481"/>
              <a:gd name="T37" fmla="*/ 111125 h 145"/>
              <a:gd name="T38" fmla="*/ 546100 w 481"/>
              <a:gd name="T39" fmla="*/ 119062 h 145"/>
              <a:gd name="T40" fmla="*/ 579438 w 481"/>
              <a:gd name="T41" fmla="*/ 119062 h 145"/>
              <a:gd name="T42" fmla="*/ 615950 w 481"/>
              <a:gd name="T43" fmla="*/ 104775 h 145"/>
              <a:gd name="T44" fmla="*/ 655638 w 481"/>
              <a:gd name="T45" fmla="*/ 71437 h 145"/>
              <a:gd name="T46" fmla="*/ 701675 w 481"/>
              <a:gd name="T47" fmla="*/ 31750 h 145"/>
              <a:gd name="T48" fmla="*/ 747713 w 481"/>
              <a:gd name="T49" fmla="*/ 17462 h 145"/>
              <a:gd name="T50" fmla="*/ 749300 w 481"/>
              <a:gd name="T51" fmla="*/ 30162 h 145"/>
              <a:gd name="T52" fmla="*/ 727075 w 481"/>
              <a:gd name="T53" fmla="*/ 58737 h 145"/>
              <a:gd name="T54" fmla="*/ 701675 w 481"/>
              <a:gd name="T55" fmla="*/ 85725 h 145"/>
              <a:gd name="T56" fmla="*/ 684213 w 481"/>
              <a:gd name="T57" fmla="*/ 112712 h 145"/>
              <a:gd name="T58" fmla="*/ 684213 w 481"/>
              <a:gd name="T59" fmla="*/ 141287 h 145"/>
              <a:gd name="T60" fmla="*/ 703263 w 481"/>
              <a:gd name="T61" fmla="*/ 171450 h 145"/>
              <a:gd name="T62" fmla="*/ 725488 w 481"/>
              <a:gd name="T63" fmla="*/ 193675 h 145"/>
              <a:gd name="T64" fmla="*/ 746125 w 481"/>
              <a:gd name="T65" fmla="*/ 211137 h 145"/>
              <a:gd name="T66" fmla="*/ 747713 w 481"/>
              <a:gd name="T67" fmla="*/ 219075 h 145"/>
              <a:gd name="T68" fmla="*/ 719138 w 481"/>
              <a:gd name="T69" fmla="*/ 219075 h 145"/>
              <a:gd name="T70" fmla="*/ 693738 w 481"/>
              <a:gd name="T71" fmla="*/ 212725 h 145"/>
              <a:gd name="T72" fmla="*/ 668338 w 481"/>
              <a:gd name="T73" fmla="*/ 200025 h 145"/>
              <a:gd name="T74" fmla="*/ 628650 w 481"/>
              <a:gd name="T75" fmla="*/ 173037 h 145"/>
              <a:gd name="T76" fmla="*/ 579438 w 481"/>
              <a:gd name="T77" fmla="*/ 169862 h 145"/>
              <a:gd name="T78" fmla="*/ 520700 w 481"/>
              <a:gd name="T79" fmla="*/ 176212 h 145"/>
              <a:gd name="T80" fmla="*/ 482600 w 481"/>
              <a:gd name="T81" fmla="*/ 192087 h 145"/>
              <a:gd name="T82" fmla="*/ 469900 w 481"/>
              <a:gd name="T83" fmla="*/ 209550 h 145"/>
              <a:gd name="T84" fmla="*/ 417513 w 481"/>
              <a:gd name="T85" fmla="*/ 207962 h 145"/>
              <a:gd name="T86" fmla="*/ 373063 w 481"/>
              <a:gd name="T87" fmla="*/ 222250 h 145"/>
              <a:gd name="T88" fmla="*/ 206375 w 481"/>
              <a:gd name="T89" fmla="*/ 228600 h 145"/>
              <a:gd name="T90" fmla="*/ 111125 w 481"/>
              <a:gd name="T91" fmla="*/ 219075 h 145"/>
              <a:gd name="T92" fmla="*/ 26988 w 481"/>
              <a:gd name="T93" fmla="*/ 190500 h 145"/>
              <a:gd name="T94" fmla="*/ 26988 w 481"/>
              <a:gd name="T95" fmla="*/ 174625 h 145"/>
              <a:gd name="T96" fmla="*/ 7938 w 481"/>
              <a:gd name="T97" fmla="*/ 157162 h 145"/>
              <a:gd name="T98" fmla="*/ 1588 w 481"/>
              <a:gd name="T99" fmla="*/ 146050 h 145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481" h="145">
                <a:moveTo>
                  <a:pt x="0" y="89"/>
                </a:moveTo>
                <a:lnTo>
                  <a:pt x="2" y="88"/>
                </a:lnTo>
                <a:lnTo>
                  <a:pt x="5" y="85"/>
                </a:lnTo>
                <a:lnTo>
                  <a:pt x="11" y="83"/>
                </a:lnTo>
                <a:lnTo>
                  <a:pt x="15" y="82"/>
                </a:lnTo>
                <a:lnTo>
                  <a:pt x="20" y="80"/>
                </a:lnTo>
                <a:lnTo>
                  <a:pt x="27" y="77"/>
                </a:lnTo>
                <a:lnTo>
                  <a:pt x="35" y="75"/>
                </a:lnTo>
                <a:lnTo>
                  <a:pt x="42" y="73"/>
                </a:lnTo>
                <a:lnTo>
                  <a:pt x="49" y="71"/>
                </a:lnTo>
                <a:lnTo>
                  <a:pt x="57" y="69"/>
                </a:lnTo>
                <a:lnTo>
                  <a:pt x="65" y="68"/>
                </a:lnTo>
                <a:lnTo>
                  <a:pt x="74" y="66"/>
                </a:lnTo>
                <a:lnTo>
                  <a:pt x="81" y="64"/>
                </a:lnTo>
                <a:lnTo>
                  <a:pt x="89" y="63"/>
                </a:lnTo>
                <a:lnTo>
                  <a:pt x="95" y="62"/>
                </a:lnTo>
                <a:lnTo>
                  <a:pt x="105" y="60"/>
                </a:lnTo>
                <a:lnTo>
                  <a:pt x="112" y="58"/>
                </a:lnTo>
                <a:lnTo>
                  <a:pt x="120" y="57"/>
                </a:lnTo>
                <a:lnTo>
                  <a:pt x="126" y="56"/>
                </a:lnTo>
                <a:lnTo>
                  <a:pt x="132" y="54"/>
                </a:lnTo>
                <a:lnTo>
                  <a:pt x="137" y="52"/>
                </a:lnTo>
                <a:lnTo>
                  <a:pt x="140" y="51"/>
                </a:lnTo>
                <a:lnTo>
                  <a:pt x="143" y="48"/>
                </a:lnTo>
                <a:lnTo>
                  <a:pt x="147" y="45"/>
                </a:lnTo>
                <a:lnTo>
                  <a:pt x="150" y="41"/>
                </a:lnTo>
                <a:lnTo>
                  <a:pt x="155" y="37"/>
                </a:lnTo>
                <a:lnTo>
                  <a:pt x="160" y="31"/>
                </a:lnTo>
                <a:lnTo>
                  <a:pt x="165" y="25"/>
                </a:lnTo>
                <a:lnTo>
                  <a:pt x="171" y="20"/>
                </a:lnTo>
                <a:lnTo>
                  <a:pt x="176" y="14"/>
                </a:lnTo>
                <a:lnTo>
                  <a:pt x="182" y="10"/>
                </a:lnTo>
                <a:lnTo>
                  <a:pt x="188" y="5"/>
                </a:lnTo>
                <a:lnTo>
                  <a:pt x="195" y="0"/>
                </a:lnTo>
                <a:lnTo>
                  <a:pt x="197" y="9"/>
                </a:lnTo>
                <a:lnTo>
                  <a:pt x="200" y="17"/>
                </a:lnTo>
                <a:lnTo>
                  <a:pt x="203" y="26"/>
                </a:lnTo>
                <a:lnTo>
                  <a:pt x="205" y="35"/>
                </a:lnTo>
                <a:lnTo>
                  <a:pt x="207" y="43"/>
                </a:lnTo>
                <a:lnTo>
                  <a:pt x="206" y="47"/>
                </a:lnTo>
                <a:lnTo>
                  <a:pt x="203" y="51"/>
                </a:lnTo>
                <a:lnTo>
                  <a:pt x="211" y="53"/>
                </a:lnTo>
                <a:lnTo>
                  <a:pt x="218" y="54"/>
                </a:lnTo>
                <a:lnTo>
                  <a:pt x="228" y="56"/>
                </a:lnTo>
                <a:lnTo>
                  <a:pt x="239" y="57"/>
                </a:lnTo>
                <a:lnTo>
                  <a:pt x="249" y="60"/>
                </a:lnTo>
                <a:lnTo>
                  <a:pt x="258" y="61"/>
                </a:lnTo>
                <a:lnTo>
                  <a:pt x="267" y="63"/>
                </a:lnTo>
                <a:lnTo>
                  <a:pt x="275" y="64"/>
                </a:lnTo>
                <a:lnTo>
                  <a:pt x="282" y="64"/>
                </a:lnTo>
                <a:lnTo>
                  <a:pt x="288" y="63"/>
                </a:lnTo>
                <a:lnTo>
                  <a:pt x="293" y="60"/>
                </a:lnTo>
                <a:lnTo>
                  <a:pt x="298" y="56"/>
                </a:lnTo>
                <a:lnTo>
                  <a:pt x="310" y="58"/>
                </a:lnTo>
                <a:lnTo>
                  <a:pt x="323" y="61"/>
                </a:lnTo>
                <a:lnTo>
                  <a:pt x="334" y="63"/>
                </a:lnTo>
                <a:lnTo>
                  <a:pt x="327" y="70"/>
                </a:lnTo>
                <a:lnTo>
                  <a:pt x="331" y="72"/>
                </a:lnTo>
                <a:lnTo>
                  <a:pt x="337" y="74"/>
                </a:lnTo>
                <a:lnTo>
                  <a:pt x="344" y="75"/>
                </a:lnTo>
                <a:lnTo>
                  <a:pt x="351" y="76"/>
                </a:lnTo>
                <a:lnTo>
                  <a:pt x="358" y="76"/>
                </a:lnTo>
                <a:lnTo>
                  <a:pt x="365" y="75"/>
                </a:lnTo>
                <a:lnTo>
                  <a:pt x="373" y="73"/>
                </a:lnTo>
                <a:lnTo>
                  <a:pt x="381" y="71"/>
                </a:lnTo>
                <a:lnTo>
                  <a:pt x="388" y="66"/>
                </a:lnTo>
                <a:lnTo>
                  <a:pt x="397" y="60"/>
                </a:lnTo>
                <a:lnTo>
                  <a:pt x="404" y="54"/>
                </a:lnTo>
                <a:lnTo>
                  <a:pt x="413" y="45"/>
                </a:lnTo>
                <a:lnTo>
                  <a:pt x="422" y="35"/>
                </a:lnTo>
                <a:lnTo>
                  <a:pt x="433" y="27"/>
                </a:lnTo>
                <a:lnTo>
                  <a:pt x="442" y="20"/>
                </a:lnTo>
                <a:lnTo>
                  <a:pt x="451" y="15"/>
                </a:lnTo>
                <a:lnTo>
                  <a:pt x="460" y="12"/>
                </a:lnTo>
                <a:lnTo>
                  <a:pt x="471" y="11"/>
                </a:lnTo>
                <a:lnTo>
                  <a:pt x="480" y="11"/>
                </a:lnTo>
                <a:lnTo>
                  <a:pt x="475" y="15"/>
                </a:lnTo>
                <a:lnTo>
                  <a:pt x="472" y="19"/>
                </a:lnTo>
                <a:lnTo>
                  <a:pt x="470" y="22"/>
                </a:lnTo>
                <a:lnTo>
                  <a:pt x="463" y="32"/>
                </a:lnTo>
                <a:lnTo>
                  <a:pt x="458" y="37"/>
                </a:lnTo>
                <a:lnTo>
                  <a:pt x="452" y="42"/>
                </a:lnTo>
                <a:lnTo>
                  <a:pt x="446" y="48"/>
                </a:lnTo>
                <a:lnTo>
                  <a:pt x="442" y="54"/>
                </a:lnTo>
                <a:lnTo>
                  <a:pt x="438" y="60"/>
                </a:lnTo>
                <a:lnTo>
                  <a:pt x="434" y="66"/>
                </a:lnTo>
                <a:lnTo>
                  <a:pt x="431" y="71"/>
                </a:lnTo>
                <a:lnTo>
                  <a:pt x="430" y="77"/>
                </a:lnTo>
                <a:lnTo>
                  <a:pt x="429" y="83"/>
                </a:lnTo>
                <a:lnTo>
                  <a:pt x="431" y="89"/>
                </a:lnTo>
                <a:lnTo>
                  <a:pt x="434" y="96"/>
                </a:lnTo>
                <a:lnTo>
                  <a:pt x="438" y="102"/>
                </a:lnTo>
                <a:lnTo>
                  <a:pt x="443" y="108"/>
                </a:lnTo>
                <a:lnTo>
                  <a:pt x="447" y="112"/>
                </a:lnTo>
                <a:lnTo>
                  <a:pt x="452" y="116"/>
                </a:lnTo>
                <a:lnTo>
                  <a:pt x="457" y="122"/>
                </a:lnTo>
                <a:lnTo>
                  <a:pt x="463" y="127"/>
                </a:lnTo>
                <a:lnTo>
                  <a:pt x="467" y="130"/>
                </a:lnTo>
                <a:lnTo>
                  <a:pt x="470" y="133"/>
                </a:lnTo>
                <a:lnTo>
                  <a:pt x="474" y="135"/>
                </a:lnTo>
                <a:lnTo>
                  <a:pt x="476" y="138"/>
                </a:lnTo>
                <a:lnTo>
                  <a:pt x="471" y="138"/>
                </a:lnTo>
                <a:lnTo>
                  <a:pt x="464" y="138"/>
                </a:lnTo>
                <a:lnTo>
                  <a:pt x="458" y="138"/>
                </a:lnTo>
                <a:lnTo>
                  <a:pt x="453" y="138"/>
                </a:lnTo>
                <a:lnTo>
                  <a:pt x="446" y="137"/>
                </a:lnTo>
                <a:lnTo>
                  <a:pt x="441" y="135"/>
                </a:lnTo>
                <a:lnTo>
                  <a:pt x="437" y="134"/>
                </a:lnTo>
                <a:lnTo>
                  <a:pt x="432" y="131"/>
                </a:lnTo>
                <a:lnTo>
                  <a:pt x="426" y="129"/>
                </a:lnTo>
                <a:lnTo>
                  <a:pt x="421" y="126"/>
                </a:lnTo>
                <a:lnTo>
                  <a:pt x="412" y="119"/>
                </a:lnTo>
                <a:lnTo>
                  <a:pt x="405" y="115"/>
                </a:lnTo>
                <a:lnTo>
                  <a:pt x="396" y="109"/>
                </a:lnTo>
                <a:lnTo>
                  <a:pt x="387" y="108"/>
                </a:lnTo>
                <a:lnTo>
                  <a:pt x="378" y="108"/>
                </a:lnTo>
                <a:lnTo>
                  <a:pt x="365" y="107"/>
                </a:lnTo>
                <a:lnTo>
                  <a:pt x="354" y="108"/>
                </a:lnTo>
                <a:lnTo>
                  <a:pt x="341" y="109"/>
                </a:lnTo>
                <a:lnTo>
                  <a:pt x="328" y="111"/>
                </a:lnTo>
                <a:lnTo>
                  <a:pt x="314" y="115"/>
                </a:lnTo>
                <a:lnTo>
                  <a:pt x="306" y="118"/>
                </a:lnTo>
                <a:lnTo>
                  <a:pt x="304" y="121"/>
                </a:lnTo>
                <a:lnTo>
                  <a:pt x="306" y="124"/>
                </a:lnTo>
                <a:lnTo>
                  <a:pt x="312" y="128"/>
                </a:lnTo>
                <a:lnTo>
                  <a:pt x="296" y="132"/>
                </a:lnTo>
                <a:lnTo>
                  <a:pt x="274" y="138"/>
                </a:lnTo>
                <a:lnTo>
                  <a:pt x="269" y="134"/>
                </a:lnTo>
                <a:lnTo>
                  <a:pt x="263" y="131"/>
                </a:lnTo>
                <a:lnTo>
                  <a:pt x="257" y="129"/>
                </a:lnTo>
                <a:lnTo>
                  <a:pt x="247" y="129"/>
                </a:lnTo>
                <a:lnTo>
                  <a:pt x="235" y="140"/>
                </a:lnTo>
                <a:lnTo>
                  <a:pt x="224" y="132"/>
                </a:lnTo>
                <a:lnTo>
                  <a:pt x="145" y="143"/>
                </a:lnTo>
                <a:lnTo>
                  <a:pt x="130" y="144"/>
                </a:lnTo>
                <a:lnTo>
                  <a:pt x="115" y="143"/>
                </a:lnTo>
                <a:lnTo>
                  <a:pt x="100" y="141"/>
                </a:lnTo>
                <a:lnTo>
                  <a:pt x="70" y="138"/>
                </a:lnTo>
                <a:lnTo>
                  <a:pt x="42" y="130"/>
                </a:lnTo>
                <a:lnTo>
                  <a:pt x="27" y="125"/>
                </a:lnTo>
                <a:lnTo>
                  <a:pt x="17" y="120"/>
                </a:lnTo>
                <a:lnTo>
                  <a:pt x="28" y="117"/>
                </a:lnTo>
                <a:lnTo>
                  <a:pt x="21" y="113"/>
                </a:lnTo>
                <a:lnTo>
                  <a:pt x="17" y="110"/>
                </a:lnTo>
                <a:lnTo>
                  <a:pt x="9" y="104"/>
                </a:lnTo>
                <a:lnTo>
                  <a:pt x="8" y="102"/>
                </a:lnTo>
                <a:lnTo>
                  <a:pt x="5" y="99"/>
                </a:lnTo>
                <a:lnTo>
                  <a:pt x="4" y="97"/>
                </a:lnTo>
                <a:lnTo>
                  <a:pt x="2" y="94"/>
                </a:lnTo>
                <a:lnTo>
                  <a:pt x="1" y="92"/>
                </a:lnTo>
                <a:lnTo>
                  <a:pt x="0" y="89"/>
                </a:lnTo>
              </a:path>
            </a:pathLst>
          </a:custGeom>
          <a:pattFill prst="pct50">
            <a:fgClr>
              <a:schemeClr val="tx1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2569" name="Group 609"/>
          <p:cNvGrpSpPr>
            <a:grpSpLocks/>
          </p:cNvGrpSpPr>
          <p:nvPr/>
        </p:nvGrpSpPr>
        <p:grpSpPr bwMode="auto">
          <a:xfrm>
            <a:off x="5762625" y="3906441"/>
            <a:ext cx="8335" cy="8334"/>
            <a:chOff x="3113" y="2625"/>
            <a:chExt cx="7" cy="7"/>
          </a:xfrm>
        </p:grpSpPr>
        <p:sp>
          <p:nvSpPr>
            <p:cNvPr id="22626" name="Oval 610" descr="50%"/>
            <p:cNvSpPr>
              <a:spLocks noChangeArrowheads="1"/>
            </p:cNvSpPr>
            <p:nvPr/>
          </p:nvSpPr>
          <p:spPr bwMode="auto">
            <a:xfrm>
              <a:off x="3113" y="2625"/>
              <a:ext cx="7" cy="7"/>
            </a:xfrm>
            <a:prstGeom prst="ellipse">
              <a:avLst/>
            </a:prstGeom>
            <a:pattFill prst="pct50">
              <a:fgClr>
                <a:schemeClr val="tx1"/>
              </a:fgClr>
              <a:bgClr>
                <a:schemeClr val="bg1"/>
              </a:bgClr>
            </a:pattFill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27" name="Arc 611" descr="50%"/>
            <p:cNvSpPr>
              <a:spLocks/>
            </p:cNvSpPr>
            <p:nvPr/>
          </p:nvSpPr>
          <p:spPr bwMode="auto">
            <a:xfrm>
              <a:off x="3117" y="2628"/>
              <a:ext cx="2" cy="2"/>
            </a:xfrm>
            <a:custGeom>
              <a:avLst/>
              <a:gdLst>
                <a:gd name="T0" fmla="*/ 1 w 43200"/>
                <a:gd name="T1" fmla="*/ 0 h 43200"/>
                <a:gd name="T2" fmla="*/ 0 w 43200"/>
                <a:gd name="T3" fmla="*/ 0 h 43200"/>
                <a:gd name="T4" fmla="*/ 1 w 43200"/>
                <a:gd name="T5" fmla="*/ 1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5871"/>
                    <a:pt x="2275" y="10377"/>
                    <a:pt x="6326" y="6326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5871"/>
                    <a:pt x="2275" y="10377"/>
                    <a:pt x="6326" y="6326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570" name="Group 612"/>
          <p:cNvGrpSpPr>
            <a:grpSpLocks/>
          </p:cNvGrpSpPr>
          <p:nvPr/>
        </p:nvGrpSpPr>
        <p:grpSpPr bwMode="auto">
          <a:xfrm>
            <a:off x="5794773" y="3925491"/>
            <a:ext cx="35719" cy="15478"/>
            <a:chOff x="3140" y="2641"/>
            <a:chExt cx="30" cy="13"/>
          </a:xfrm>
        </p:grpSpPr>
        <p:sp>
          <p:nvSpPr>
            <p:cNvPr id="22621" name="Arc 613" descr="50%"/>
            <p:cNvSpPr>
              <a:spLocks/>
            </p:cNvSpPr>
            <p:nvPr/>
          </p:nvSpPr>
          <p:spPr bwMode="auto">
            <a:xfrm>
              <a:off x="3148" y="2641"/>
              <a:ext cx="2" cy="13"/>
            </a:xfrm>
            <a:custGeom>
              <a:avLst/>
              <a:gdLst>
                <a:gd name="T0" fmla="*/ 0 w 35746"/>
                <a:gd name="T1" fmla="*/ 1 h 43200"/>
                <a:gd name="T2" fmla="*/ 0 w 35746"/>
                <a:gd name="T3" fmla="*/ 11 h 43200"/>
                <a:gd name="T4" fmla="*/ 1 w 35746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746" h="43200" fill="none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</a:path>
                <a:path w="35746" h="43200" stroke="0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  <a:lnTo>
                    <a:pt x="14146" y="21600"/>
                  </a:lnTo>
                  <a:lnTo>
                    <a:pt x="2777" y="3234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22" name="Arc 614" descr="50%"/>
            <p:cNvSpPr>
              <a:spLocks/>
            </p:cNvSpPr>
            <p:nvPr/>
          </p:nvSpPr>
          <p:spPr bwMode="auto">
            <a:xfrm>
              <a:off x="3140" y="2641"/>
              <a:ext cx="3" cy="13"/>
            </a:xfrm>
            <a:custGeom>
              <a:avLst/>
              <a:gdLst>
                <a:gd name="T0" fmla="*/ 0 w 33372"/>
                <a:gd name="T1" fmla="*/ 1 h 43200"/>
                <a:gd name="T2" fmla="*/ 0 w 33372"/>
                <a:gd name="T3" fmla="*/ 12 h 43200"/>
                <a:gd name="T4" fmla="*/ 1 w 33372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372" h="43200" fill="none" extrusionOk="0">
                  <a:moveTo>
                    <a:pt x="2675" y="2008"/>
                  </a:moveTo>
                  <a:cubicBezTo>
                    <a:pt x="5525" y="685"/>
                    <a:pt x="8629" y="-1"/>
                    <a:pt x="11772" y="0"/>
                  </a:cubicBezTo>
                  <a:cubicBezTo>
                    <a:pt x="23701" y="0"/>
                    <a:pt x="33372" y="9670"/>
                    <a:pt x="33372" y="21600"/>
                  </a:cubicBezTo>
                  <a:cubicBezTo>
                    <a:pt x="33372" y="33529"/>
                    <a:pt x="23701" y="43200"/>
                    <a:pt x="11772" y="43200"/>
                  </a:cubicBezTo>
                  <a:cubicBezTo>
                    <a:pt x="7592" y="43200"/>
                    <a:pt x="3503" y="41987"/>
                    <a:pt x="-1" y="39710"/>
                  </a:cubicBezTo>
                </a:path>
                <a:path w="33372" h="43200" stroke="0" extrusionOk="0">
                  <a:moveTo>
                    <a:pt x="2675" y="2008"/>
                  </a:moveTo>
                  <a:cubicBezTo>
                    <a:pt x="5525" y="685"/>
                    <a:pt x="8629" y="-1"/>
                    <a:pt x="11772" y="0"/>
                  </a:cubicBezTo>
                  <a:cubicBezTo>
                    <a:pt x="23701" y="0"/>
                    <a:pt x="33372" y="9670"/>
                    <a:pt x="33372" y="21600"/>
                  </a:cubicBezTo>
                  <a:cubicBezTo>
                    <a:pt x="33372" y="33529"/>
                    <a:pt x="23701" y="43200"/>
                    <a:pt x="11772" y="43200"/>
                  </a:cubicBezTo>
                  <a:cubicBezTo>
                    <a:pt x="7592" y="43200"/>
                    <a:pt x="3503" y="41987"/>
                    <a:pt x="-1" y="39710"/>
                  </a:cubicBezTo>
                  <a:lnTo>
                    <a:pt x="11772" y="21600"/>
                  </a:lnTo>
                  <a:lnTo>
                    <a:pt x="2675" y="2008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23" name="Arc 615" descr="50%"/>
            <p:cNvSpPr>
              <a:spLocks/>
            </p:cNvSpPr>
            <p:nvPr/>
          </p:nvSpPr>
          <p:spPr bwMode="auto">
            <a:xfrm>
              <a:off x="3153" y="2641"/>
              <a:ext cx="3" cy="13"/>
            </a:xfrm>
            <a:custGeom>
              <a:avLst/>
              <a:gdLst>
                <a:gd name="T0" fmla="*/ 0 w 33372"/>
                <a:gd name="T1" fmla="*/ 1 h 43200"/>
                <a:gd name="T2" fmla="*/ 0 w 33372"/>
                <a:gd name="T3" fmla="*/ 12 h 43200"/>
                <a:gd name="T4" fmla="*/ 1 w 33372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372" h="43200" fill="none" extrusionOk="0">
                  <a:moveTo>
                    <a:pt x="2675" y="2008"/>
                  </a:moveTo>
                  <a:cubicBezTo>
                    <a:pt x="5525" y="685"/>
                    <a:pt x="8629" y="-1"/>
                    <a:pt x="11772" y="0"/>
                  </a:cubicBezTo>
                  <a:cubicBezTo>
                    <a:pt x="23701" y="0"/>
                    <a:pt x="33372" y="9670"/>
                    <a:pt x="33372" y="21600"/>
                  </a:cubicBezTo>
                  <a:cubicBezTo>
                    <a:pt x="33372" y="33529"/>
                    <a:pt x="23701" y="43200"/>
                    <a:pt x="11772" y="43200"/>
                  </a:cubicBezTo>
                  <a:cubicBezTo>
                    <a:pt x="7592" y="43200"/>
                    <a:pt x="3503" y="41987"/>
                    <a:pt x="-1" y="39710"/>
                  </a:cubicBezTo>
                </a:path>
                <a:path w="33372" h="43200" stroke="0" extrusionOk="0">
                  <a:moveTo>
                    <a:pt x="2675" y="2008"/>
                  </a:moveTo>
                  <a:cubicBezTo>
                    <a:pt x="5525" y="685"/>
                    <a:pt x="8629" y="-1"/>
                    <a:pt x="11772" y="0"/>
                  </a:cubicBezTo>
                  <a:cubicBezTo>
                    <a:pt x="23701" y="0"/>
                    <a:pt x="33372" y="9670"/>
                    <a:pt x="33372" y="21600"/>
                  </a:cubicBezTo>
                  <a:cubicBezTo>
                    <a:pt x="33372" y="33529"/>
                    <a:pt x="23701" y="43200"/>
                    <a:pt x="11772" y="43200"/>
                  </a:cubicBezTo>
                  <a:cubicBezTo>
                    <a:pt x="7592" y="43200"/>
                    <a:pt x="3503" y="41987"/>
                    <a:pt x="-1" y="39710"/>
                  </a:cubicBezTo>
                  <a:lnTo>
                    <a:pt x="11772" y="21600"/>
                  </a:lnTo>
                  <a:lnTo>
                    <a:pt x="2675" y="2008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24" name="Arc 616" descr="50%"/>
            <p:cNvSpPr>
              <a:spLocks/>
            </p:cNvSpPr>
            <p:nvPr/>
          </p:nvSpPr>
          <p:spPr bwMode="auto">
            <a:xfrm>
              <a:off x="3161" y="2641"/>
              <a:ext cx="2" cy="13"/>
            </a:xfrm>
            <a:custGeom>
              <a:avLst/>
              <a:gdLst>
                <a:gd name="T0" fmla="*/ 0 w 35746"/>
                <a:gd name="T1" fmla="*/ 1 h 43200"/>
                <a:gd name="T2" fmla="*/ 0 w 35746"/>
                <a:gd name="T3" fmla="*/ 11 h 43200"/>
                <a:gd name="T4" fmla="*/ 1 w 35746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746" h="43200" fill="none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</a:path>
                <a:path w="35746" h="43200" stroke="0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  <a:lnTo>
                    <a:pt x="14146" y="21600"/>
                  </a:lnTo>
                  <a:lnTo>
                    <a:pt x="2777" y="3234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25" name="Arc 617" descr="50%"/>
            <p:cNvSpPr>
              <a:spLocks/>
            </p:cNvSpPr>
            <p:nvPr/>
          </p:nvSpPr>
          <p:spPr bwMode="auto">
            <a:xfrm>
              <a:off x="3168" y="2641"/>
              <a:ext cx="2" cy="13"/>
            </a:xfrm>
            <a:custGeom>
              <a:avLst/>
              <a:gdLst>
                <a:gd name="T0" fmla="*/ 0 w 35746"/>
                <a:gd name="T1" fmla="*/ 1 h 43200"/>
                <a:gd name="T2" fmla="*/ 0 w 35746"/>
                <a:gd name="T3" fmla="*/ 11 h 43200"/>
                <a:gd name="T4" fmla="*/ 1 w 35746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746" h="43200" fill="none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</a:path>
                <a:path w="35746" h="43200" stroke="0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  <a:lnTo>
                    <a:pt x="14146" y="21600"/>
                  </a:lnTo>
                  <a:lnTo>
                    <a:pt x="2777" y="3234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571" name="Freeform 618" descr="50%"/>
          <p:cNvSpPr>
            <a:spLocks/>
          </p:cNvSpPr>
          <p:nvPr/>
        </p:nvSpPr>
        <p:spPr bwMode="auto">
          <a:xfrm>
            <a:off x="5716191" y="3798094"/>
            <a:ext cx="560784" cy="108347"/>
          </a:xfrm>
          <a:custGeom>
            <a:avLst/>
            <a:gdLst>
              <a:gd name="T0" fmla="*/ 15875 w 471"/>
              <a:gd name="T1" fmla="*/ 120650 h 91"/>
              <a:gd name="T2" fmla="*/ 50800 w 471"/>
              <a:gd name="T3" fmla="*/ 109538 h 91"/>
              <a:gd name="T4" fmla="*/ 100012 w 471"/>
              <a:gd name="T5" fmla="*/ 98425 h 91"/>
              <a:gd name="T6" fmla="*/ 149225 w 471"/>
              <a:gd name="T7" fmla="*/ 90488 h 91"/>
              <a:gd name="T8" fmla="*/ 198437 w 471"/>
              <a:gd name="T9" fmla="*/ 80963 h 91"/>
              <a:gd name="T10" fmla="*/ 225425 w 471"/>
              <a:gd name="T11" fmla="*/ 68263 h 91"/>
              <a:gd name="T12" fmla="*/ 249237 w 471"/>
              <a:gd name="T13" fmla="*/ 44450 h 91"/>
              <a:gd name="T14" fmla="*/ 285750 w 471"/>
              <a:gd name="T15" fmla="*/ 12700 h 91"/>
              <a:gd name="T16" fmla="*/ 311150 w 471"/>
              <a:gd name="T17" fmla="*/ 26988 h 91"/>
              <a:gd name="T18" fmla="*/ 322262 w 471"/>
              <a:gd name="T19" fmla="*/ 61913 h 91"/>
              <a:gd name="T20" fmla="*/ 339725 w 471"/>
              <a:gd name="T21" fmla="*/ 79375 h 91"/>
              <a:gd name="T22" fmla="*/ 401637 w 471"/>
              <a:gd name="T23" fmla="*/ 88900 h 91"/>
              <a:gd name="T24" fmla="*/ 447675 w 471"/>
              <a:gd name="T25" fmla="*/ 92075 h 91"/>
              <a:gd name="T26" fmla="*/ 503237 w 471"/>
              <a:gd name="T27" fmla="*/ 88900 h 91"/>
              <a:gd name="T28" fmla="*/ 525462 w 471"/>
              <a:gd name="T29" fmla="*/ 107950 h 91"/>
              <a:gd name="T30" fmla="*/ 569912 w 471"/>
              <a:gd name="T31" fmla="*/ 109538 h 91"/>
              <a:gd name="T32" fmla="*/ 619125 w 471"/>
              <a:gd name="T33" fmla="*/ 87313 h 91"/>
              <a:gd name="T34" fmla="*/ 658812 w 471"/>
              <a:gd name="T35" fmla="*/ 50800 h 91"/>
              <a:gd name="T36" fmla="*/ 690562 w 471"/>
              <a:gd name="T37" fmla="*/ 28575 h 91"/>
              <a:gd name="T38" fmla="*/ 717550 w 471"/>
              <a:gd name="T39" fmla="*/ 17463 h 91"/>
              <a:gd name="T40" fmla="*/ 741362 w 471"/>
              <a:gd name="T41" fmla="*/ 20638 h 91"/>
              <a:gd name="T42" fmla="*/ 722312 w 471"/>
              <a:gd name="T43" fmla="*/ 44450 h 91"/>
              <a:gd name="T44" fmla="*/ 696912 w 471"/>
              <a:gd name="T45" fmla="*/ 66675 h 91"/>
              <a:gd name="T46" fmla="*/ 682625 w 471"/>
              <a:gd name="T47" fmla="*/ 85725 h 91"/>
              <a:gd name="T48" fmla="*/ 671512 w 471"/>
              <a:gd name="T49" fmla="*/ 101600 h 91"/>
              <a:gd name="T50" fmla="*/ 668337 w 471"/>
              <a:gd name="T51" fmla="*/ 120650 h 91"/>
              <a:gd name="T52" fmla="*/ 647700 w 471"/>
              <a:gd name="T53" fmla="*/ 115888 h 91"/>
              <a:gd name="T54" fmla="*/ 627062 w 471"/>
              <a:gd name="T55" fmla="*/ 122238 h 91"/>
              <a:gd name="T56" fmla="*/ 606425 w 471"/>
              <a:gd name="T57" fmla="*/ 120650 h 91"/>
              <a:gd name="T58" fmla="*/ 581025 w 471"/>
              <a:gd name="T59" fmla="*/ 122238 h 91"/>
              <a:gd name="T60" fmla="*/ 555625 w 471"/>
              <a:gd name="T61" fmla="*/ 119063 h 91"/>
              <a:gd name="T62" fmla="*/ 527050 w 471"/>
              <a:gd name="T63" fmla="*/ 120650 h 91"/>
              <a:gd name="T64" fmla="*/ 498475 w 471"/>
              <a:gd name="T65" fmla="*/ 125413 h 91"/>
              <a:gd name="T66" fmla="*/ 469900 w 471"/>
              <a:gd name="T67" fmla="*/ 127000 h 91"/>
              <a:gd name="T68" fmla="*/ 441325 w 471"/>
              <a:gd name="T69" fmla="*/ 127000 h 91"/>
              <a:gd name="T70" fmla="*/ 415925 w 471"/>
              <a:gd name="T71" fmla="*/ 130175 h 91"/>
              <a:gd name="T72" fmla="*/ 388937 w 471"/>
              <a:gd name="T73" fmla="*/ 134938 h 91"/>
              <a:gd name="T74" fmla="*/ 355600 w 471"/>
              <a:gd name="T75" fmla="*/ 134938 h 91"/>
              <a:gd name="T76" fmla="*/ 327025 w 471"/>
              <a:gd name="T77" fmla="*/ 136525 h 91"/>
              <a:gd name="T78" fmla="*/ 298450 w 471"/>
              <a:gd name="T79" fmla="*/ 133350 h 91"/>
              <a:gd name="T80" fmla="*/ 271462 w 471"/>
              <a:gd name="T81" fmla="*/ 134938 h 91"/>
              <a:gd name="T82" fmla="*/ 247650 w 471"/>
              <a:gd name="T83" fmla="*/ 133350 h 91"/>
              <a:gd name="T84" fmla="*/ 220662 w 471"/>
              <a:gd name="T85" fmla="*/ 134938 h 91"/>
              <a:gd name="T86" fmla="*/ 190500 w 471"/>
              <a:gd name="T87" fmla="*/ 136525 h 91"/>
              <a:gd name="T88" fmla="*/ 152400 w 471"/>
              <a:gd name="T89" fmla="*/ 142875 h 91"/>
              <a:gd name="T90" fmla="*/ 109537 w 471"/>
              <a:gd name="T91" fmla="*/ 142875 h 91"/>
              <a:gd name="T92" fmla="*/ 73025 w 471"/>
              <a:gd name="T93" fmla="*/ 138113 h 91"/>
              <a:gd name="T94" fmla="*/ 39687 w 471"/>
              <a:gd name="T95" fmla="*/ 139700 h 91"/>
              <a:gd name="T96" fmla="*/ 7937 w 471"/>
              <a:gd name="T97" fmla="*/ 133350 h 9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471" h="91">
                <a:moveTo>
                  <a:pt x="0" y="82"/>
                </a:moveTo>
                <a:lnTo>
                  <a:pt x="3" y="80"/>
                </a:lnTo>
                <a:lnTo>
                  <a:pt x="6" y="78"/>
                </a:lnTo>
                <a:lnTo>
                  <a:pt x="10" y="76"/>
                </a:lnTo>
                <a:lnTo>
                  <a:pt x="14" y="75"/>
                </a:lnTo>
                <a:lnTo>
                  <a:pt x="19" y="73"/>
                </a:lnTo>
                <a:lnTo>
                  <a:pt x="27" y="72"/>
                </a:lnTo>
                <a:lnTo>
                  <a:pt x="32" y="69"/>
                </a:lnTo>
                <a:lnTo>
                  <a:pt x="39" y="67"/>
                </a:lnTo>
                <a:lnTo>
                  <a:pt x="47" y="65"/>
                </a:lnTo>
                <a:lnTo>
                  <a:pt x="55" y="63"/>
                </a:lnTo>
                <a:lnTo>
                  <a:pt x="63" y="62"/>
                </a:lnTo>
                <a:lnTo>
                  <a:pt x="71" y="61"/>
                </a:lnTo>
                <a:lnTo>
                  <a:pt x="79" y="60"/>
                </a:lnTo>
                <a:lnTo>
                  <a:pt x="87" y="58"/>
                </a:lnTo>
                <a:lnTo>
                  <a:pt x="94" y="57"/>
                </a:lnTo>
                <a:lnTo>
                  <a:pt x="101" y="55"/>
                </a:lnTo>
                <a:lnTo>
                  <a:pt x="110" y="54"/>
                </a:lnTo>
                <a:lnTo>
                  <a:pt x="117" y="52"/>
                </a:lnTo>
                <a:lnTo>
                  <a:pt x="125" y="51"/>
                </a:lnTo>
                <a:lnTo>
                  <a:pt x="130" y="50"/>
                </a:lnTo>
                <a:lnTo>
                  <a:pt x="135" y="49"/>
                </a:lnTo>
                <a:lnTo>
                  <a:pt x="139" y="46"/>
                </a:lnTo>
                <a:lnTo>
                  <a:pt x="142" y="43"/>
                </a:lnTo>
                <a:lnTo>
                  <a:pt x="145" y="40"/>
                </a:lnTo>
                <a:lnTo>
                  <a:pt x="147" y="38"/>
                </a:lnTo>
                <a:lnTo>
                  <a:pt x="152" y="33"/>
                </a:lnTo>
                <a:lnTo>
                  <a:pt x="157" y="28"/>
                </a:lnTo>
                <a:lnTo>
                  <a:pt x="162" y="23"/>
                </a:lnTo>
                <a:lnTo>
                  <a:pt x="168" y="18"/>
                </a:lnTo>
                <a:lnTo>
                  <a:pt x="173" y="13"/>
                </a:lnTo>
                <a:lnTo>
                  <a:pt x="180" y="8"/>
                </a:lnTo>
                <a:lnTo>
                  <a:pt x="186" y="4"/>
                </a:lnTo>
                <a:lnTo>
                  <a:pt x="191" y="0"/>
                </a:lnTo>
                <a:lnTo>
                  <a:pt x="193" y="8"/>
                </a:lnTo>
                <a:lnTo>
                  <a:pt x="196" y="17"/>
                </a:lnTo>
                <a:lnTo>
                  <a:pt x="199" y="24"/>
                </a:lnTo>
                <a:lnTo>
                  <a:pt x="201" y="32"/>
                </a:lnTo>
                <a:lnTo>
                  <a:pt x="202" y="36"/>
                </a:lnTo>
                <a:lnTo>
                  <a:pt x="203" y="39"/>
                </a:lnTo>
                <a:lnTo>
                  <a:pt x="202" y="43"/>
                </a:lnTo>
                <a:lnTo>
                  <a:pt x="199" y="47"/>
                </a:lnTo>
                <a:lnTo>
                  <a:pt x="206" y="49"/>
                </a:lnTo>
                <a:lnTo>
                  <a:pt x="214" y="50"/>
                </a:lnTo>
                <a:lnTo>
                  <a:pt x="224" y="51"/>
                </a:lnTo>
                <a:lnTo>
                  <a:pt x="234" y="53"/>
                </a:lnTo>
                <a:lnTo>
                  <a:pt x="245" y="55"/>
                </a:lnTo>
                <a:lnTo>
                  <a:pt x="253" y="56"/>
                </a:lnTo>
                <a:lnTo>
                  <a:pt x="262" y="58"/>
                </a:lnTo>
                <a:lnTo>
                  <a:pt x="269" y="59"/>
                </a:lnTo>
                <a:lnTo>
                  <a:pt x="276" y="59"/>
                </a:lnTo>
                <a:lnTo>
                  <a:pt x="282" y="58"/>
                </a:lnTo>
                <a:lnTo>
                  <a:pt x="288" y="55"/>
                </a:lnTo>
                <a:lnTo>
                  <a:pt x="293" y="51"/>
                </a:lnTo>
                <a:lnTo>
                  <a:pt x="305" y="53"/>
                </a:lnTo>
                <a:lnTo>
                  <a:pt x="317" y="56"/>
                </a:lnTo>
                <a:lnTo>
                  <a:pt x="326" y="58"/>
                </a:lnTo>
                <a:lnTo>
                  <a:pt x="321" y="64"/>
                </a:lnTo>
                <a:lnTo>
                  <a:pt x="325" y="66"/>
                </a:lnTo>
                <a:lnTo>
                  <a:pt x="331" y="68"/>
                </a:lnTo>
                <a:lnTo>
                  <a:pt x="338" y="69"/>
                </a:lnTo>
                <a:lnTo>
                  <a:pt x="345" y="70"/>
                </a:lnTo>
                <a:lnTo>
                  <a:pt x="352" y="70"/>
                </a:lnTo>
                <a:lnTo>
                  <a:pt x="359" y="69"/>
                </a:lnTo>
                <a:lnTo>
                  <a:pt x="366" y="68"/>
                </a:lnTo>
                <a:lnTo>
                  <a:pt x="374" y="65"/>
                </a:lnTo>
                <a:lnTo>
                  <a:pt x="382" y="61"/>
                </a:lnTo>
                <a:lnTo>
                  <a:pt x="390" y="55"/>
                </a:lnTo>
                <a:lnTo>
                  <a:pt x="397" y="49"/>
                </a:lnTo>
                <a:lnTo>
                  <a:pt x="405" y="41"/>
                </a:lnTo>
                <a:lnTo>
                  <a:pt x="409" y="38"/>
                </a:lnTo>
                <a:lnTo>
                  <a:pt x="415" y="32"/>
                </a:lnTo>
                <a:lnTo>
                  <a:pt x="420" y="28"/>
                </a:lnTo>
                <a:lnTo>
                  <a:pt x="425" y="25"/>
                </a:lnTo>
                <a:lnTo>
                  <a:pt x="430" y="21"/>
                </a:lnTo>
                <a:lnTo>
                  <a:pt x="435" y="18"/>
                </a:lnTo>
                <a:lnTo>
                  <a:pt x="440" y="17"/>
                </a:lnTo>
                <a:lnTo>
                  <a:pt x="443" y="14"/>
                </a:lnTo>
                <a:lnTo>
                  <a:pt x="447" y="13"/>
                </a:lnTo>
                <a:lnTo>
                  <a:pt x="452" y="11"/>
                </a:lnTo>
                <a:lnTo>
                  <a:pt x="456" y="11"/>
                </a:lnTo>
                <a:lnTo>
                  <a:pt x="462" y="10"/>
                </a:lnTo>
                <a:lnTo>
                  <a:pt x="470" y="10"/>
                </a:lnTo>
                <a:lnTo>
                  <a:pt x="467" y="13"/>
                </a:lnTo>
                <a:lnTo>
                  <a:pt x="463" y="17"/>
                </a:lnTo>
                <a:lnTo>
                  <a:pt x="461" y="19"/>
                </a:lnTo>
                <a:lnTo>
                  <a:pt x="458" y="24"/>
                </a:lnTo>
                <a:lnTo>
                  <a:pt x="455" y="28"/>
                </a:lnTo>
                <a:lnTo>
                  <a:pt x="450" y="32"/>
                </a:lnTo>
                <a:lnTo>
                  <a:pt x="444" y="37"/>
                </a:lnTo>
                <a:lnTo>
                  <a:pt x="441" y="39"/>
                </a:lnTo>
                <a:lnTo>
                  <a:pt x="439" y="42"/>
                </a:lnTo>
                <a:lnTo>
                  <a:pt x="436" y="46"/>
                </a:lnTo>
                <a:lnTo>
                  <a:pt x="434" y="49"/>
                </a:lnTo>
                <a:lnTo>
                  <a:pt x="432" y="51"/>
                </a:lnTo>
                <a:lnTo>
                  <a:pt x="430" y="54"/>
                </a:lnTo>
                <a:lnTo>
                  <a:pt x="428" y="57"/>
                </a:lnTo>
                <a:lnTo>
                  <a:pt x="426" y="60"/>
                </a:lnTo>
                <a:lnTo>
                  <a:pt x="425" y="62"/>
                </a:lnTo>
                <a:lnTo>
                  <a:pt x="423" y="64"/>
                </a:lnTo>
                <a:lnTo>
                  <a:pt x="422" y="68"/>
                </a:lnTo>
                <a:lnTo>
                  <a:pt x="422" y="70"/>
                </a:lnTo>
                <a:lnTo>
                  <a:pt x="421" y="73"/>
                </a:lnTo>
                <a:lnTo>
                  <a:pt x="421" y="76"/>
                </a:lnTo>
                <a:lnTo>
                  <a:pt x="418" y="74"/>
                </a:lnTo>
                <a:lnTo>
                  <a:pt x="414" y="73"/>
                </a:lnTo>
                <a:lnTo>
                  <a:pt x="411" y="73"/>
                </a:lnTo>
                <a:lnTo>
                  <a:pt x="408" y="73"/>
                </a:lnTo>
                <a:lnTo>
                  <a:pt x="404" y="74"/>
                </a:lnTo>
                <a:lnTo>
                  <a:pt x="402" y="76"/>
                </a:lnTo>
                <a:lnTo>
                  <a:pt x="399" y="76"/>
                </a:lnTo>
                <a:lnTo>
                  <a:pt x="395" y="77"/>
                </a:lnTo>
                <a:lnTo>
                  <a:pt x="392" y="78"/>
                </a:lnTo>
                <a:lnTo>
                  <a:pt x="388" y="77"/>
                </a:lnTo>
                <a:lnTo>
                  <a:pt x="384" y="77"/>
                </a:lnTo>
                <a:lnTo>
                  <a:pt x="382" y="76"/>
                </a:lnTo>
                <a:lnTo>
                  <a:pt x="379" y="75"/>
                </a:lnTo>
                <a:lnTo>
                  <a:pt x="375" y="75"/>
                </a:lnTo>
                <a:lnTo>
                  <a:pt x="371" y="76"/>
                </a:lnTo>
                <a:lnTo>
                  <a:pt x="366" y="77"/>
                </a:lnTo>
                <a:lnTo>
                  <a:pt x="363" y="76"/>
                </a:lnTo>
                <a:lnTo>
                  <a:pt x="359" y="76"/>
                </a:lnTo>
                <a:lnTo>
                  <a:pt x="355" y="75"/>
                </a:lnTo>
                <a:lnTo>
                  <a:pt x="350" y="75"/>
                </a:lnTo>
                <a:lnTo>
                  <a:pt x="347" y="76"/>
                </a:lnTo>
                <a:lnTo>
                  <a:pt x="341" y="77"/>
                </a:lnTo>
                <a:lnTo>
                  <a:pt x="337" y="77"/>
                </a:lnTo>
                <a:lnTo>
                  <a:pt x="332" y="76"/>
                </a:lnTo>
                <a:lnTo>
                  <a:pt x="328" y="76"/>
                </a:lnTo>
                <a:lnTo>
                  <a:pt x="323" y="77"/>
                </a:lnTo>
                <a:lnTo>
                  <a:pt x="320" y="78"/>
                </a:lnTo>
                <a:lnTo>
                  <a:pt x="314" y="79"/>
                </a:lnTo>
                <a:lnTo>
                  <a:pt x="310" y="80"/>
                </a:lnTo>
                <a:lnTo>
                  <a:pt x="305" y="80"/>
                </a:lnTo>
                <a:lnTo>
                  <a:pt x="301" y="80"/>
                </a:lnTo>
                <a:lnTo>
                  <a:pt x="296" y="80"/>
                </a:lnTo>
                <a:lnTo>
                  <a:pt x="291" y="78"/>
                </a:lnTo>
                <a:lnTo>
                  <a:pt x="286" y="80"/>
                </a:lnTo>
                <a:lnTo>
                  <a:pt x="282" y="80"/>
                </a:lnTo>
                <a:lnTo>
                  <a:pt x="278" y="80"/>
                </a:lnTo>
                <a:lnTo>
                  <a:pt x="274" y="80"/>
                </a:lnTo>
                <a:lnTo>
                  <a:pt x="270" y="80"/>
                </a:lnTo>
                <a:lnTo>
                  <a:pt x="266" y="80"/>
                </a:lnTo>
                <a:lnTo>
                  <a:pt x="262" y="82"/>
                </a:lnTo>
                <a:lnTo>
                  <a:pt x="259" y="83"/>
                </a:lnTo>
                <a:lnTo>
                  <a:pt x="254" y="84"/>
                </a:lnTo>
                <a:lnTo>
                  <a:pt x="250" y="84"/>
                </a:lnTo>
                <a:lnTo>
                  <a:pt x="245" y="85"/>
                </a:lnTo>
                <a:lnTo>
                  <a:pt x="240" y="86"/>
                </a:lnTo>
                <a:lnTo>
                  <a:pt x="234" y="85"/>
                </a:lnTo>
                <a:lnTo>
                  <a:pt x="228" y="85"/>
                </a:lnTo>
                <a:lnTo>
                  <a:pt x="224" y="85"/>
                </a:lnTo>
                <a:lnTo>
                  <a:pt x="218" y="86"/>
                </a:lnTo>
                <a:lnTo>
                  <a:pt x="214" y="86"/>
                </a:lnTo>
                <a:lnTo>
                  <a:pt x="210" y="86"/>
                </a:lnTo>
                <a:lnTo>
                  <a:pt x="206" y="86"/>
                </a:lnTo>
                <a:lnTo>
                  <a:pt x="201" y="86"/>
                </a:lnTo>
                <a:lnTo>
                  <a:pt x="196" y="84"/>
                </a:lnTo>
                <a:lnTo>
                  <a:pt x="192" y="84"/>
                </a:lnTo>
                <a:lnTo>
                  <a:pt x="188" y="84"/>
                </a:lnTo>
                <a:lnTo>
                  <a:pt x="184" y="84"/>
                </a:lnTo>
                <a:lnTo>
                  <a:pt x="180" y="84"/>
                </a:lnTo>
                <a:lnTo>
                  <a:pt x="175" y="84"/>
                </a:lnTo>
                <a:lnTo>
                  <a:pt x="171" y="85"/>
                </a:lnTo>
                <a:lnTo>
                  <a:pt x="167" y="85"/>
                </a:lnTo>
                <a:lnTo>
                  <a:pt x="164" y="84"/>
                </a:lnTo>
                <a:lnTo>
                  <a:pt x="160" y="84"/>
                </a:lnTo>
                <a:lnTo>
                  <a:pt x="156" y="84"/>
                </a:lnTo>
                <a:lnTo>
                  <a:pt x="152" y="84"/>
                </a:lnTo>
                <a:lnTo>
                  <a:pt x="149" y="84"/>
                </a:lnTo>
                <a:lnTo>
                  <a:pt x="145" y="84"/>
                </a:lnTo>
                <a:lnTo>
                  <a:pt x="139" y="85"/>
                </a:lnTo>
                <a:lnTo>
                  <a:pt x="135" y="85"/>
                </a:lnTo>
                <a:lnTo>
                  <a:pt x="130" y="84"/>
                </a:lnTo>
                <a:lnTo>
                  <a:pt x="125" y="85"/>
                </a:lnTo>
                <a:lnTo>
                  <a:pt x="120" y="86"/>
                </a:lnTo>
                <a:lnTo>
                  <a:pt x="116" y="88"/>
                </a:lnTo>
                <a:lnTo>
                  <a:pt x="111" y="89"/>
                </a:lnTo>
                <a:lnTo>
                  <a:pt x="104" y="90"/>
                </a:lnTo>
                <a:lnTo>
                  <a:pt x="96" y="90"/>
                </a:lnTo>
                <a:lnTo>
                  <a:pt x="89" y="90"/>
                </a:lnTo>
                <a:lnTo>
                  <a:pt x="82" y="90"/>
                </a:lnTo>
                <a:lnTo>
                  <a:pt x="74" y="90"/>
                </a:lnTo>
                <a:lnTo>
                  <a:pt x="69" y="90"/>
                </a:lnTo>
                <a:lnTo>
                  <a:pt x="65" y="90"/>
                </a:lnTo>
                <a:lnTo>
                  <a:pt x="60" y="90"/>
                </a:lnTo>
                <a:lnTo>
                  <a:pt x="54" y="90"/>
                </a:lnTo>
                <a:lnTo>
                  <a:pt x="46" y="87"/>
                </a:lnTo>
                <a:lnTo>
                  <a:pt x="40" y="87"/>
                </a:lnTo>
                <a:lnTo>
                  <a:pt x="35" y="88"/>
                </a:lnTo>
                <a:lnTo>
                  <a:pt x="29" y="88"/>
                </a:lnTo>
                <a:lnTo>
                  <a:pt x="25" y="88"/>
                </a:lnTo>
                <a:lnTo>
                  <a:pt x="20" y="87"/>
                </a:lnTo>
                <a:lnTo>
                  <a:pt x="15" y="86"/>
                </a:lnTo>
                <a:lnTo>
                  <a:pt x="10" y="85"/>
                </a:lnTo>
                <a:lnTo>
                  <a:pt x="5" y="84"/>
                </a:lnTo>
                <a:lnTo>
                  <a:pt x="0" y="83"/>
                </a:lnTo>
                <a:lnTo>
                  <a:pt x="0" y="82"/>
                </a:lnTo>
              </a:path>
            </a:pathLst>
          </a:custGeom>
          <a:pattFill prst="pct50">
            <a:fgClr>
              <a:schemeClr val="tx1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2572" name="Group 619"/>
          <p:cNvGrpSpPr>
            <a:grpSpLocks/>
          </p:cNvGrpSpPr>
          <p:nvPr/>
        </p:nvGrpSpPr>
        <p:grpSpPr bwMode="auto">
          <a:xfrm>
            <a:off x="5830491" y="3935016"/>
            <a:ext cx="82153" cy="60722"/>
            <a:chOff x="3170" y="2649"/>
            <a:chExt cx="69" cy="51"/>
          </a:xfrm>
        </p:grpSpPr>
        <p:sp>
          <p:nvSpPr>
            <p:cNvPr id="22619" name="Freeform 620" descr="50%"/>
            <p:cNvSpPr>
              <a:spLocks/>
            </p:cNvSpPr>
            <p:nvPr/>
          </p:nvSpPr>
          <p:spPr bwMode="auto">
            <a:xfrm>
              <a:off x="3170" y="2655"/>
              <a:ext cx="69" cy="45"/>
            </a:xfrm>
            <a:custGeom>
              <a:avLst/>
              <a:gdLst>
                <a:gd name="T0" fmla="*/ 64 w 69"/>
                <a:gd name="T1" fmla="*/ 39 h 45"/>
                <a:gd name="T2" fmla="*/ 60 w 69"/>
                <a:gd name="T3" fmla="*/ 35 h 45"/>
                <a:gd name="T4" fmla="*/ 58 w 69"/>
                <a:gd name="T5" fmla="*/ 33 h 45"/>
                <a:gd name="T6" fmla="*/ 56 w 69"/>
                <a:gd name="T7" fmla="*/ 31 h 45"/>
                <a:gd name="T8" fmla="*/ 54 w 69"/>
                <a:gd name="T9" fmla="*/ 28 h 45"/>
                <a:gd name="T10" fmla="*/ 52 w 69"/>
                <a:gd name="T11" fmla="*/ 26 h 45"/>
                <a:gd name="T12" fmla="*/ 50 w 69"/>
                <a:gd name="T13" fmla="*/ 23 h 45"/>
                <a:gd name="T14" fmla="*/ 48 w 69"/>
                <a:gd name="T15" fmla="*/ 21 h 45"/>
                <a:gd name="T16" fmla="*/ 47 w 69"/>
                <a:gd name="T17" fmla="*/ 17 h 45"/>
                <a:gd name="T18" fmla="*/ 46 w 69"/>
                <a:gd name="T19" fmla="*/ 14 h 45"/>
                <a:gd name="T20" fmla="*/ 45 w 69"/>
                <a:gd name="T21" fmla="*/ 11 h 45"/>
                <a:gd name="T22" fmla="*/ 44 w 69"/>
                <a:gd name="T23" fmla="*/ 8 h 45"/>
                <a:gd name="T24" fmla="*/ 44 w 69"/>
                <a:gd name="T25" fmla="*/ 4 h 45"/>
                <a:gd name="T26" fmla="*/ 44 w 69"/>
                <a:gd name="T27" fmla="*/ 0 h 45"/>
                <a:gd name="T28" fmla="*/ 0 w 69"/>
                <a:gd name="T29" fmla="*/ 0 h 45"/>
                <a:gd name="T30" fmla="*/ 1 w 69"/>
                <a:gd name="T31" fmla="*/ 3 h 45"/>
                <a:gd name="T32" fmla="*/ 3 w 69"/>
                <a:gd name="T33" fmla="*/ 6 h 45"/>
                <a:gd name="T34" fmla="*/ 5 w 69"/>
                <a:gd name="T35" fmla="*/ 9 h 45"/>
                <a:gd name="T36" fmla="*/ 8 w 69"/>
                <a:gd name="T37" fmla="*/ 12 h 45"/>
                <a:gd name="T38" fmla="*/ 11 w 69"/>
                <a:gd name="T39" fmla="*/ 16 h 45"/>
                <a:gd name="T40" fmla="*/ 14 w 69"/>
                <a:gd name="T41" fmla="*/ 19 h 45"/>
                <a:gd name="T42" fmla="*/ 18 w 69"/>
                <a:gd name="T43" fmla="*/ 22 h 45"/>
                <a:gd name="T44" fmla="*/ 21 w 69"/>
                <a:gd name="T45" fmla="*/ 25 h 45"/>
                <a:gd name="T46" fmla="*/ 25 w 69"/>
                <a:gd name="T47" fmla="*/ 28 h 45"/>
                <a:gd name="T48" fmla="*/ 30 w 69"/>
                <a:gd name="T49" fmla="*/ 32 h 45"/>
                <a:gd name="T50" fmla="*/ 34 w 69"/>
                <a:gd name="T51" fmla="*/ 34 h 45"/>
                <a:gd name="T52" fmla="*/ 38 w 69"/>
                <a:gd name="T53" fmla="*/ 36 h 45"/>
                <a:gd name="T54" fmla="*/ 41 w 69"/>
                <a:gd name="T55" fmla="*/ 38 h 45"/>
                <a:gd name="T56" fmla="*/ 45 w 69"/>
                <a:gd name="T57" fmla="*/ 39 h 45"/>
                <a:gd name="T58" fmla="*/ 49 w 69"/>
                <a:gd name="T59" fmla="*/ 41 h 45"/>
                <a:gd name="T60" fmla="*/ 53 w 69"/>
                <a:gd name="T61" fmla="*/ 42 h 45"/>
                <a:gd name="T62" fmla="*/ 58 w 69"/>
                <a:gd name="T63" fmla="*/ 43 h 45"/>
                <a:gd name="T64" fmla="*/ 62 w 69"/>
                <a:gd name="T65" fmla="*/ 43 h 45"/>
                <a:gd name="T66" fmla="*/ 65 w 69"/>
                <a:gd name="T67" fmla="*/ 43 h 45"/>
                <a:gd name="T68" fmla="*/ 68 w 69"/>
                <a:gd name="T69" fmla="*/ 44 h 45"/>
                <a:gd name="T70" fmla="*/ 64 w 69"/>
                <a:gd name="T71" fmla="*/ 39 h 4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9" h="45">
                  <a:moveTo>
                    <a:pt x="64" y="39"/>
                  </a:moveTo>
                  <a:lnTo>
                    <a:pt x="60" y="35"/>
                  </a:lnTo>
                  <a:lnTo>
                    <a:pt x="58" y="33"/>
                  </a:lnTo>
                  <a:lnTo>
                    <a:pt x="56" y="31"/>
                  </a:lnTo>
                  <a:lnTo>
                    <a:pt x="54" y="28"/>
                  </a:lnTo>
                  <a:lnTo>
                    <a:pt x="52" y="26"/>
                  </a:lnTo>
                  <a:lnTo>
                    <a:pt x="50" y="23"/>
                  </a:lnTo>
                  <a:lnTo>
                    <a:pt x="48" y="21"/>
                  </a:lnTo>
                  <a:lnTo>
                    <a:pt x="47" y="17"/>
                  </a:lnTo>
                  <a:lnTo>
                    <a:pt x="46" y="14"/>
                  </a:lnTo>
                  <a:lnTo>
                    <a:pt x="45" y="11"/>
                  </a:lnTo>
                  <a:lnTo>
                    <a:pt x="44" y="8"/>
                  </a:lnTo>
                  <a:lnTo>
                    <a:pt x="44" y="4"/>
                  </a:lnTo>
                  <a:lnTo>
                    <a:pt x="44" y="0"/>
                  </a:lnTo>
                  <a:lnTo>
                    <a:pt x="0" y="0"/>
                  </a:lnTo>
                  <a:lnTo>
                    <a:pt x="1" y="3"/>
                  </a:lnTo>
                  <a:lnTo>
                    <a:pt x="3" y="6"/>
                  </a:lnTo>
                  <a:lnTo>
                    <a:pt x="5" y="9"/>
                  </a:lnTo>
                  <a:lnTo>
                    <a:pt x="8" y="12"/>
                  </a:lnTo>
                  <a:lnTo>
                    <a:pt x="11" y="16"/>
                  </a:lnTo>
                  <a:lnTo>
                    <a:pt x="14" y="19"/>
                  </a:lnTo>
                  <a:lnTo>
                    <a:pt x="18" y="22"/>
                  </a:lnTo>
                  <a:lnTo>
                    <a:pt x="21" y="25"/>
                  </a:lnTo>
                  <a:lnTo>
                    <a:pt x="25" y="28"/>
                  </a:lnTo>
                  <a:lnTo>
                    <a:pt x="30" y="32"/>
                  </a:lnTo>
                  <a:lnTo>
                    <a:pt x="34" y="34"/>
                  </a:lnTo>
                  <a:lnTo>
                    <a:pt x="38" y="36"/>
                  </a:lnTo>
                  <a:lnTo>
                    <a:pt x="41" y="38"/>
                  </a:lnTo>
                  <a:lnTo>
                    <a:pt x="45" y="39"/>
                  </a:lnTo>
                  <a:lnTo>
                    <a:pt x="49" y="41"/>
                  </a:lnTo>
                  <a:lnTo>
                    <a:pt x="53" y="42"/>
                  </a:lnTo>
                  <a:lnTo>
                    <a:pt x="58" y="43"/>
                  </a:lnTo>
                  <a:lnTo>
                    <a:pt x="62" y="43"/>
                  </a:lnTo>
                  <a:lnTo>
                    <a:pt x="65" y="43"/>
                  </a:lnTo>
                  <a:lnTo>
                    <a:pt x="68" y="44"/>
                  </a:lnTo>
                  <a:lnTo>
                    <a:pt x="64" y="39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20" name="Freeform 621" descr="50%"/>
            <p:cNvSpPr>
              <a:spLocks/>
            </p:cNvSpPr>
            <p:nvPr/>
          </p:nvSpPr>
          <p:spPr bwMode="auto">
            <a:xfrm>
              <a:off x="3171" y="2649"/>
              <a:ext cx="36" cy="6"/>
            </a:xfrm>
            <a:custGeom>
              <a:avLst/>
              <a:gdLst>
                <a:gd name="T0" fmla="*/ 0 w 36"/>
                <a:gd name="T1" fmla="*/ 5 h 6"/>
                <a:gd name="T2" fmla="*/ 0 w 36"/>
                <a:gd name="T3" fmla="*/ 3 h 6"/>
                <a:gd name="T4" fmla="*/ 1 w 36"/>
                <a:gd name="T5" fmla="*/ 0 h 6"/>
                <a:gd name="T6" fmla="*/ 35 w 36"/>
                <a:gd name="T7" fmla="*/ 0 h 6"/>
                <a:gd name="T8" fmla="*/ 35 w 36"/>
                <a:gd name="T9" fmla="*/ 5 h 6"/>
                <a:gd name="T10" fmla="*/ 0 w 36"/>
                <a:gd name="T11" fmla="*/ 5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6">
                  <a:moveTo>
                    <a:pt x="0" y="5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35" y="0"/>
                  </a:lnTo>
                  <a:lnTo>
                    <a:pt x="35" y="5"/>
                  </a:lnTo>
                  <a:lnTo>
                    <a:pt x="0" y="5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73" name="Freeform 622" descr="50%"/>
          <p:cNvSpPr>
            <a:spLocks/>
          </p:cNvSpPr>
          <p:nvPr/>
        </p:nvSpPr>
        <p:spPr bwMode="auto">
          <a:xfrm>
            <a:off x="5230417" y="3925491"/>
            <a:ext cx="69056" cy="54769"/>
          </a:xfrm>
          <a:custGeom>
            <a:avLst/>
            <a:gdLst>
              <a:gd name="T0" fmla="*/ 0 w 58"/>
              <a:gd name="T1" fmla="*/ 0 h 46"/>
              <a:gd name="T2" fmla="*/ 3175 w 58"/>
              <a:gd name="T3" fmla="*/ 7938 h 46"/>
              <a:gd name="T4" fmla="*/ 7938 w 58"/>
              <a:gd name="T5" fmla="*/ 14288 h 46"/>
              <a:gd name="T6" fmla="*/ 14288 w 58"/>
              <a:gd name="T7" fmla="*/ 22225 h 46"/>
              <a:gd name="T8" fmla="*/ 19050 w 58"/>
              <a:gd name="T9" fmla="*/ 28575 h 46"/>
              <a:gd name="T10" fmla="*/ 25400 w 58"/>
              <a:gd name="T11" fmla="*/ 36513 h 46"/>
              <a:gd name="T12" fmla="*/ 33338 w 58"/>
              <a:gd name="T13" fmla="*/ 44450 h 46"/>
              <a:gd name="T14" fmla="*/ 38100 w 58"/>
              <a:gd name="T15" fmla="*/ 50800 h 46"/>
              <a:gd name="T16" fmla="*/ 44450 w 58"/>
              <a:gd name="T17" fmla="*/ 55563 h 46"/>
              <a:gd name="T18" fmla="*/ 50800 w 58"/>
              <a:gd name="T19" fmla="*/ 60325 h 46"/>
              <a:gd name="T20" fmla="*/ 57150 w 58"/>
              <a:gd name="T21" fmla="*/ 63500 h 46"/>
              <a:gd name="T22" fmla="*/ 65088 w 58"/>
              <a:gd name="T23" fmla="*/ 66675 h 46"/>
              <a:gd name="T24" fmla="*/ 71438 w 58"/>
              <a:gd name="T25" fmla="*/ 69850 h 46"/>
              <a:gd name="T26" fmla="*/ 79375 w 58"/>
              <a:gd name="T27" fmla="*/ 71438 h 46"/>
              <a:gd name="T28" fmla="*/ 85725 w 58"/>
              <a:gd name="T29" fmla="*/ 71438 h 46"/>
              <a:gd name="T30" fmla="*/ 90488 w 58"/>
              <a:gd name="T31" fmla="*/ 69850 h 46"/>
              <a:gd name="T32" fmla="*/ 85725 w 58"/>
              <a:gd name="T33" fmla="*/ 65088 h 46"/>
              <a:gd name="T34" fmla="*/ 80963 w 58"/>
              <a:gd name="T35" fmla="*/ 58738 h 46"/>
              <a:gd name="T36" fmla="*/ 76200 w 58"/>
              <a:gd name="T37" fmla="*/ 52388 h 46"/>
              <a:gd name="T38" fmla="*/ 71438 w 58"/>
              <a:gd name="T39" fmla="*/ 46038 h 46"/>
              <a:gd name="T40" fmla="*/ 66675 w 58"/>
              <a:gd name="T41" fmla="*/ 38100 h 46"/>
              <a:gd name="T42" fmla="*/ 63500 w 58"/>
              <a:gd name="T43" fmla="*/ 31750 h 46"/>
              <a:gd name="T44" fmla="*/ 60325 w 58"/>
              <a:gd name="T45" fmla="*/ 25400 h 46"/>
              <a:gd name="T46" fmla="*/ 58738 w 58"/>
              <a:gd name="T47" fmla="*/ 15875 h 46"/>
              <a:gd name="T48" fmla="*/ 58738 w 58"/>
              <a:gd name="T49" fmla="*/ 7938 h 46"/>
              <a:gd name="T50" fmla="*/ 58738 w 58"/>
              <a:gd name="T51" fmla="*/ 1588 h 46"/>
              <a:gd name="T52" fmla="*/ 0 w 58"/>
              <a:gd name="T53" fmla="*/ 0 h 4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58" h="46">
                <a:moveTo>
                  <a:pt x="0" y="0"/>
                </a:moveTo>
                <a:lnTo>
                  <a:pt x="2" y="5"/>
                </a:lnTo>
                <a:lnTo>
                  <a:pt x="5" y="9"/>
                </a:lnTo>
                <a:lnTo>
                  <a:pt x="9" y="14"/>
                </a:lnTo>
                <a:lnTo>
                  <a:pt x="12" y="18"/>
                </a:lnTo>
                <a:lnTo>
                  <a:pt x="16" y="23"/>
                </a:lnTo>
                <a:lnTo>
                  <a:pt x="21" y="28"/>
                </a:lnTo>
                <a:lnTo>
                  <a:pt x="24" y="32"/>
                </a:lnTo>
                <a:lnTo>
                  <a:pt x="28" y="35"/>
                </a:lnTo>
                <a:lnTo>
                  <a:pt x="32" y="38"/>
                </a:lnTo>
                <a:lnTo>
                  <a:pt x="36" y="40"/>
                </a:lnTo>
                <a:lnTo>
                  <a:pt x="41" y="42"/>
                </a:lnTo>
                <a:lnTo>
                  <a:pt x="45" y="44"/>
                </a:lnTo>
                <a:lnTo>
                  <a:pt x="50" y="45"/>
                </a:lnTo>
                <a:lnTo>
                  <a:pt x="54" y="45"/>
                </a:lnTo>
                <a:lnTo>
                  <a:pt x="57" y="44"/>
                </a:lnTo>
                <a:lnTo>
                  <a:pt x="54" y="41"/>
                </a:lnTo>
                <a:lnTo>
                  <a:pt x="51" y="37"/>
                </a:lnTo>
                <a:lnTo>
                  <a:pt x="48" y="33"/>
                </a:lnTo>
                <a:lnTo>
                  <a:pt x="45" y="29"/>
                </a:lnTo>
                <a:lnTo>
                  <a:pt x="42" y="24"/>
                </a:lnTo>
                <a:lnTo>
                  <a:pt x="40" y="20"/>
                </a:lnTo>
                <a:lnTo>
                  <a:pt x="38" y="16"/>
                </a:lnTo>
                <a:lnTo>
                  <a:pt x="37" y="10"/>
                </a:lnTo>
                <a:lnTo>
                  <a:pt x="37" y="5"/>
                </a:lnTo>
                <a:lnTo>
                  <a:pt x="37" y="1"/>
                </a:lnTo>
                <a:lnTo>
                  <a:pt x="0" y="0"/>
                </a:lnTo>
              </a:path>
            </a:pathLst>
          </a:custGeom>
          <a:pattFill prst="pct50">
            <a:fgClr>
              <a:schemeClr val="tx1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74" name="Freeform 623" descr="50%"/>
          <p:cNvSpPr>
            <a:spLocks/>
          </p:cNvSpPr>
          <p:nvPr/>
        </p:nvSpPr>
        <p:spPr bwMode="auto">
          <a:xfrm>
            <a:off x="5086350" y="3796904"/>
            <a:ext cx="572691" cy="172640"/>
          </a:xfrm>
          <a:custGeom>
            <a:avLst/>
            <a:gdLst>
              <a:gd name="T0" fmla="*/ 7938 w 481"/>
              <a:gd name="T1" fmla="*/ 134937 h 145"/>
              <a:gd name="T2" fmla="*/ 31750 w 481"/>
              <a:gd name="T3" fmla="*/ 127000 h 145"/>
              <a:gd name="T4" fmla="*/ 66675 w 481"/>
              <a:gd name="T5" fmla="*/ 115887 h 145"/>
              <a:gd name="T6" fmla="*/ 103188 w 481"/>
              <a:gd name="T7" fmla="*/ 107950 h 145"/>
              <a:gd name="T8" fmla="*/ 141288 w 481"/>
              <a:gd name="T9" fmla="*/ 100012 h 145"/>
              <a:gd name="T10" fmla="*/ 177800 w 481"/>
              <a:gd name="T11" fmla="*/ 92075 h 145"/>
              <a:gd name="T12" fmla="*/ 209550 w 481"/>
              <a:gd name="T13" fmla="*/ 85725 h 145"/>
              <a:gd name="T14" fmla="*/ 227013 w 481"/>
              <a:gd name="T15" fmla="*/ 76200 h 145"/>
              <a:gd name="T16" fmla="*/ 246063 w 481"/>
              <a:gd name="T17" fmla="*/ 58737 h 145"/>
              <a:gd name="T18" fmla="*/ 271463 w 481"/>
              <a:gd name="T19" fmla="*/ 31750 h 145"/>
              <a:gd name="T20" fmla="*/ 298450 w 481"/>
              <a:gd name="T21" fmla="*/ 7937 h 145"/>
              <a:gd name="T22" fmla="*/ 317500 w 481"/>
              <a:gd name="T23" fmla="*/ 26987 h 145"/>
              <a:gd name="T24" fmla="*/ 328613 w 481"/>
              <a:gd name="T25" fmla="*/ 68262 h 145"/>
              <a:gd name="T26" fmla="*/ 334963 w 481"/>
              <a:gd name="T27" fmla="*/ 84137 h 145"/>
              <a:gd name="T28" fmla="*/ 379413 w 481"/>
              <a:gd name="T29" fmla="*/ 90487 h 145"/>
              <a:gd name="T30" fmla="*/ 423863 w 481"/>
              <a:gd name="T31" fmla="*/ 100012 h 145"/>
              <a:gd name="T32" fmla="*/ 457200 w 481"/>
              <a:gd name="T33" fmla="*/ 100012 h 145"/>
              <a:gd name="T34" fmla="*/ 492125 w 481"/>
              <a:gd name="T35" fmla="*/ 92075 h 145"/>
              <a:gd name="T36" fmla="*/ 519113 w 481"/>
              <a:gd name="T37" fmla="*/ 111125 h 145"/>
              <a:gd name="T38" fmla="*/ 546100 w 481"/>
              <a:gd name="T39" fmla="*/ 119062 h 145"/>
              <a:gd name="T40" fmla="*/ 579438 w 481"/>
              <a:gd name="T41" fmla="*/ 119062 h 145"/>
              <a:gd name="T42" fmla="*/ 615950 w 481"/>
              <a:gd name="T43" fmla="*/ 104775 h 145"/>
              <a:gd name="T44" fmla="*/ 655638 w 481"/>
              <a:gd name="T45" fmla="*/ 71437 h 145"/>
              <a:gd name="T46" fmla="*/ 701675 w 481"/>
              <a:gd name="T47" fmla="*/ 31750 h 145"/>
              <a:gd name="T48" fmla="*/ 747713 w 481"/>
              <a:gd name="T49" fmla="*/ 17462 h 145"/>
              <a:gd name="T50" fmla="*/ 749300 w 481"/>
              <a:gd name="T51" fmla="*/ 30162 h 145"/>
              <a:gd name="T52" fmla="*/ 727075 w 481"/>
              <a:gd name="T53" fmla="*/ 58737 h 145"/>
              <a:gd name="T54" fmla="*/ 701675 w 481"/>
              <a:gd name="T55" fmla="*/ 85725 h 145"/>
              <a:gd name="T56" fmla="*/ 684213 w 481"/>
              <a:gd name="T57" fmla="*/ 112712 h 145"/>
              <a:gd name="T58" fmla="*/ 684213 w 481"/>
              <a:gd name="T59" fmla="*/ 141287 h 145"/>
              <a:gd name="T60" fmla="*/ 703263 w 481"/>
              <a:gd name="T61" fmla="*/ 171450 h 145"/>
              <a:gd name="T62" fmla="*/ 725488 w 481"/>
              <a:gd name="T63" fmla="*/ 193675 h 145"/>
              <a:gd name="T64" fmla="*/ 746125 w 481"/>
              <a:gd name="T65" fmla="*/ 211137 h 145"/>
              <a:gd name="T66" fmla="*/ 747713 w 481"/>
              <a:gd name="T67" fmla="*/ 219075 h 145"/>
              <a:gd name="T68" fmla="*/ 719138 w 481"/>
              <a:gd name="T69" fmla="*/ 219075 h 145"/>
              <a:gd name="T70" fmla="*/ 693738 w 481"/>
              <a:gd name="T71" fmla="*/ 212725 h 145"/>
              <a:gd name="T72" fmla="*/ 668338 w 481"/>
              <a:gd name="T73" fmla="*/ 200025 h 145"/>
              <a:gd name="T74" fmla="*/ 628650 w 481"/>
              <a:gd name="T75" fmla="*/ 173037 h 145"/>
              <a:gd name="T76" fmla="*/ 579438 w 481"/>
              <a:gd name="T77" fmla="*/ 169862 h 145"/>
              <a:gd name="T78" fmla="*/ 520700 w 481"/>
              <a:gd name="T79" fmla="*/ 176212 h 145"/>
              <a:gd name="T80" fmla="*/ 482600 w 481"/>
              <a:gd name="T81" fmla="*/ 192087 h 145"/>
              <a:gd name="T82" fmla="*/ 469900 w 481"/>
              <a:gd name="T83" fmla="*/ 209550 h 145"/>
              <a:gd name="T84" fmla="*/ 417513 w 481"/>
              <a:gd name="T85" fmla="*/ 207962 h 145"/>
              <a:gd name="T86" fmla="*/ 373063 w 481"/>
              <a:gd name="T87" fmla="*/ 222250 h 145"/>
              <a:gd name="T88" fmla="*/ 206375 w 481"/>
              <a:gd name="T89" fmla="*/ 228600 h 145"/>
              <a:gd name="T90" fmla="*/ 111125 w 481"/>
              <a:gd name="T91" fmla="*/ 219075 h 145"/>
              <a:gd name="T92" fmla="*/ 26988 w 481"/>
              <a:gd name="T93" fmla="*/ 190500 h 145"/>
              <a:gd name="T94" fmla="*/ 26988 w 481"/>
              <a:gd name="T95" fmla="*/ 174625 h 145"/>
              <a:gd name="T96" fmla="*/ 7938 w 481"/>
              <a:gd name="T97" fmla="*/ 157162 h 145"/>
              <a:gd name="T98" fmla="*/ 1588 w 481"/>
              <a:gd name="T99" fmla="*/ 146050 h 145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481" h="145">
                <a:moveTo>
                  <a:pt x="0" y="89"/>
                </a:moveTo>
                <a:lnTo>
                  <a:pt x="2" y="88"/>
                </a:lnTo>
                <a:lnTo>
                  <a:pt x="5" y="85"/>
                </a:lnTo>
                <a:lnTo>
                  <a:pt x="11" y="83"/>
                </a:lnTo>
                <a:lnTo>
                  <a:pt x="15" y="82"/>
                </a:lnTo>
                <a:lnTo>
                  <a:pt x="20" y="80"/>
                </a:lnTo>
                <a:lnTo>
                  <a:pt x="27" y="77"/>
                </a:lnTo>
                <a:lnTo>
                  <a:pt x="35" y="75"/>
                </a:lnTo>
                <a:lnTo>
                  <a:pt x="42" y="73"/>
                </a:lnTo>
                <a:lnTo>
                  <a:pt x="49" y="71"/>
                </a:lnTo>
                <a:lnTo>
                  <a:pt x="57" y="69"/>
                </a:lnTo>
                <a:lnTo>
                  <a:pt x="65" y="68"/>
                </a:lnTo>
                <a:lnTo>
                  <a:pt x="74" y="66"/>
                </a:lnTo>
                <a:lnTo>
                  <a:pt x="81" y="64"/>
                </a:lnTo>
                <a:lnTo>
                  <a:pt x="89" y="63"/>
                </a:lnTo>
                <a:lnTo>
                  <a:pt x="95" y="62"/>
                </a:lnTo>
                <a:lnTo>
                  <a:pt x="105" y="60"/>
                </a:lnTo>
                <a:lnTo>
                  <a:pt x="112" y="58"/>
                </a:lnTo>
                <a:lnTo>
                  <a:pt x="120" y="57"/>
                </a:lnTo>
                <a:lnTo>
                  <a:pt x="126" y="56"/>
                </a:lnTo>
                <a:lnTo>
                  <a:pt x="132" y="54"/>
                </a:lnTo>
                <a:lnTo>
                  <a:pt x="137" y="52"/>
                </a:lnTo>
                <a:lnTo>
                  <a:pt x="140" y="51"/>
                </a:lnTo>
                <a:lnTo>
                  <a:pt x="143" y="48"/>
                </a:lnTo>
                <a:lnTo>
                  <a:pt x="147" y="45"/>
                </a:lnTo>
                <a:lnTo>
                  <a:pt x="150" y="41"/>
                </a:lnTo>
                <a:lnTo>
                  <a:pt x="155" y="37"/>
                </a:lnTo>
                <a:lnTo>
                  <a:pt x="160" y="31"/>
                </a:lnTo>
                <a:lnTo>
                  <a:pt x="165" y="25"/>
                </a:lnTo>
                <a:lnTo>
                  <a:pt x="171" y="20"/>
                </a:lnTo>
                <a:lnTo>
                  <a:pt x="176" y="14"/>
                </a:lnTo>
                <a:lnTo>
                  <a:pt x="182" y="10"/>
                </a:lnTo>
                <a:lnTo>
                  <a:pt x="188" y="5"/>
                </a:lnTo>
                <a:lnTo>
                  <a:pt x="195" y="0"/>
                </a:lnTo>
                <a:lnTo>
                  <a:pt x="197" y="9"/>
                </a:lnTo>
                <a:lnTo>
                  <a:pt x="200" y="17"/>
                </a:lnTo>
                <a:lnTo>
                  <a:pt x="203" y="26"/>
                </a:lnTo>
                <a:lnTo>
                  <a:pt x="205" y="35"/>
                </a:lnTo>
                <a:lnTo>
                  <a:pt x="207" y="43"/>
                </a:lnTo>
                <a:lnTo>
                  <a:pt x="206" y="47"/>
                </a:lnTo>
                <a:lnTo>
                  <a:pt x="203" y="51"/>
                </a:lnTo>
                <a:lnTo>
                  <a:pt x="211" y="53"/>
                </a:lnTo>
                <a:lnTo>
                  <a:pt x="218" y="54"/>
                </a:lnTo>
                <a:lnTo>
                  <a:pt x="228" y="56"/>
                </a:lnTo>
                <a:lnTo>
                  <a:pt x="239" y="57"/>
                </a:lnTo>
                <a:lnTo>
                  <a:pt x="249" y="60"/>
                </a:lnTo>
                <a:lnTo>
                  <a:pt x="258" y="61"/>
                </a:lnTo>
                <a:lnTo>
                  <a:pt x="267" y="63"/>
                </a:lnTo>
                <a:lnTo>
                  <a:pt x="275" y="64"/>
                </a:lnTo>
                <a:lnTo>
                  <a:pt x="282" y="64"/>
                </a:lnTo>
                <a:lnTo>
                  <a:pt x="288" y="63"/>
                </a:lnTo>
                <a:lnTo>
                  <a:pt x="293" y="60"/>
                </a:lnTo>
                <a:lnTo>
                  <a:pt x="298" y="56"/>
                </a:lnTo>
                <a:lnTo>
                  <a:pt x="310" y="58"/>
                </a:lnTo>
                <a:lnTo>
                  <a:pt x="323" y="61"/>
                </a:lnTo>
                <a:lnTo>
                  <a:pt x="334" y="63"/>
                </a:lnTo>
                <a:lnTo>
                  <a:pt x="327" y="70"/>
                </a:lnTo>
                <a:lnTo>
                  <a:pt x="331" y="72"/>
                </a:lnTo>
                <a:lnTo>
                  <a:pt x="337" y="74"/>
                </a:lnTo>
                <a:lnTo>
                  <a:pt x="344" y="75"/>
                </a:lnTo>
                <a:lnTo>
                  <a:pt x="351" y="76"/>
                </a:lnTo>
                <a:lnTo>
                  <a:pt x="358" y="76"/>
                </a:lnTo>
                <a:lnTo>
                  <a:pt x="365" y="75"/>
                </a:lnTo>
                <a:lnTo>
                  <a:pt x="373" y="73"/>
                </a:lnTo>
                <a:lnTo>
                  <a:pt x="381" y="71"/>
                </a:lnTo>
                <a:lnTo>
                  <a:pt x="388" y="66"/>
                </a:lnTo>
                <a:lnTo>
                  <a:pt x="397" y="60"/>
                </a:lnTo>
                <a:lnTo>
                  <a:pt x="404" y="54"/>
                </a:lnTo>
                <a:lnTo>
                  <a:pt x="413" y="45"/>
                </a:lnTo>
                <a:lnTo>
                  <a:pt x="422" y="35"/>
                </a:lnTo>
                <a:lnTo>
                  <a:pt x="433" y="27"/>
                </a:lnTo>
                <a:lnTo>
                  <a:pt x="442" y="20"/>
                </a:lnTo>
                <a:lnTo>
                  <a:pt x="451" y="15"/>
                </a:lnTo>
                <a:lnTo>
                  <a:pt x="460" y="12"/>
                </a:lnTo>
                <a:lnTo>
                  <a:pt x="471" y="11"/>
                </a:lnTo>
                <a:lnTo>
                  <a:pt x="480" y="11"/>
                </a:lnTo>
                <a:lnTo>
                  <a:pt x="475" y="15"/>
                </a:lnTo>
                <a:lnTo>
                  <a:pt x="472" y="19"/>
                </a:lnTo>
                <a:lnTo>
                  <a:pt x="470" y="22"/>
                </a:lnTo>
                <a:lnTo>
                  <a:pt x="463" y="32"/>
                </a:lnTo>
                <a:lnTo>
                  <a:pt x="458" y="37"/>
                </a:lnTo>
                <a:lnTo>
                  <a:pt x="452" y="42"/>
                </a:lnTo>
                <a:lnTo>
                  <a:pt x="446" y="48"/>
                </a:lnTo>
                <a:lnTo>
                  <a:pt x="442" y="54"/>
                </a:lnTo>
                <a:lnTo>
                  <a:pt x="438" y="60"/>
                </a:lnTo>
                <a:lnTo>
                  <a:pt x="434" y="66"/>
                </a:lnTo>
                <a:lnTo>
                  <a:pt x="431" y="71"/>
                </a:lnTo>
                <a:lnTo>
                  <a:pt x="430" y="77"/>
                </a:lnTo>
                <a:lnTo>
                  <a:pt x="429" y="83"/>
                </a:lnTo>
                <a:lnTo>
                  <a:pt x="431" y="89"/>
                </a:lnTo>
                <a:lnTo>
                  <a:pt x="434" y="96"/>
                </a:lnTo>
                <a:lnTo>
                  <a:pt x="438" y="102"/>
                </a:lnTo>
                <a:lnTo>
                  <a:pt x="443" y="108"/>
                </a:lnTo>
                <a:lnTo>
                  <a:pt x="447" y="112"/>
                </a:lnTo>
                <a:lnTo>
                  <a:pt x="452" y="116"/>
                </a:lnTo>
                <a:lnTo>
                  <a:pt x="457" y="122"/>
                </a:lnTo>
                <a:lnTo>
                  <a:pt x="463" y="127"/>
                </a:lnTo>
                <a:lnTo>
                  <a:pt x="467" y="130"/>
                </a:lnTo>
                <a:lnTo>
                  <a:pt x="470" y="133"/>
                </a:lnTo>
                <a:lnTo>
                  <a:pt x="474" y="135"/>
                </a:lnTo>
                <a:lnTo>
                  <a:pt x="476" y="138"/>
                </a:lnTo>
                <a:lnTo>
                  <a:pt x="471" y="138"/>
                </a:lnTo>
                <a:lnTo>
                  <a:pt x="464" y="138"/>
                </a:lnTo>
                <a:lnTo>
                  <a:pt x="458" y="138"/>
                </a:lnTo>
                <a:lnTo>
                  <a:pt x="453" y="138"/>
                </a:lnTo>
                <a:lnTo>
                  <a:pt x="446" y="137"/>
                </a:lnTo>
                <a:lnTo>
                  <a:pt x="441" y="135"/>
                </a:lnTo>
                <a:lnTo>
                  <a:pt x="437" y="134"/>
                </a:lnTo>
                <a:lnTo>
                  <a:pt x="432" y="131"/>
                </a:lnTo>
                <a:lnTo>
                  <a:pt x="426" y="129"/>
                </a:lnTo>
                <a:lnTo>
                  <a:pt x="421" y="126"/>
                </a:lnTo>
                <a:lnTo>
                  <a:pt x="412" y="119"/>
                </a:lnTo>
                <a:lnTo>
                  <a:pt x="405" y="115"/>
                </a:lnTo>
                <a:lnTo>
                  <a:pt x="396" y="109"/>
                </a:lnTo>
                <a:lnTo>
                  <a:pt x="387" y="108"/>
                </a:lnTo>
                <a:lnTo>
                  <a:pt x="378" y="108"/>
                </a:lnTo>
                <a:lnTo>
                  <a:pt x="365" y="107"/>
                </a:lnTo>
                <a:lnTo>
                  <a:pt x="354" y="108"/>
                </a:lnTo>
                <a:lnTo>
                  <a:pt x="341" y="109"/>
                </a:lnTo>
                <a:lnTo>
                  <a:pt x="328" y="111"/>
                </a:lnTo>
                <a:lnTo>
                  <a:pt x="314" y="115"/>
                </a:lnTo>
                <a:lnTo>
                  <a:pt x="306" y="118"/>
                </a:lnTo>
                <a:lnTo>
                  <a:pt x="304" y="121"/>
                </a:lnTo>
                <a:lnTo>
                  <a:pt x="306" y="124"/>
                </a:lnTo>
                <a:lnTo>
                  <a:pt x="312" y="128"/>
                </a:lnTo>
                <a:lnTo>
                  <a:pt x="296" y="132"/>
                </a:lnTo>
                <a:lnTo>
                  <a:pt x="274" y="138"/>
                </a:lnTo>
                <a:lnTo>
                  <a:pt x="269" y="134"/>
                </a:lnTo>
                <a:lnTo>
                  <a:pt x="263" y="131"/>
                </a:lnTo>
                <a:lnTo>
                  <a:pt x="257" y="129"/>
                </a:lnTo>
                <a:lnTo>
                  <a:pt x="247" y="129"/>
                </a:lnTo>
                <a:lnTo>
                  <a:pt x="235" y="140"/>
                </a:lnTo>
                <a:lnTo>
                  <a:pt x="224" y="132"/>
                </a:lnTo>
                <a:lnTo>
                  <a:pt x="145" y="143"/>
                </a:lnTo>
                <a:lnTo>
                  <a:pt x="130" y="144"/>
                </a:lnTo>
                <a:lnTo>
                  <a:pt x="115" y="143"/>
                </a:lnTo>
                <a:lnTo>
                  <a:pt x="100" y="141"/>
                </a:lnTo>
                <a:lnTo>
                  <a:pt x="70" y="138"/>
                </a:lnTo>
                <a:lnTo>
                  <a:pt x="42" y="130"/>
                </a:lnTo>
                <a:lnTo>
                  <a:pt x="27" y="125"/>
                </a:lnTo>
                <a:lnTo>
                  <a:pt x="17" y="120"/>
                </a:lnTo>
                <a:lnTo>
                  <a:pt x="28" y="117"/>
                </a:lnTo>
                <a:lnTo>
                  <a:pt x="21" y="113"/>
                </a:lnTo>
                <a:lnTo>
                  <a:pt x="17" y="110"/>
                </a:lnTo>
                <a:lnTo>
                  <a:pt x="9" y="104"/>
                </a:lnTo>
                <a:lnTo>
                  <a:pt x="8" y="102"/>
                </a:lnTo>
                <a:lnTo>
                  <a:pt x="5" y="99"/>
                </a:lnTo>
                <a:lnTo>
                  <a:pt x="4" y="97"/>
                </a:lnTo>
                <a:lnTo>
                  <a:pt x="2" y="94"/>
                </a:lnTo>
                <a:lnTo>
                  <a:pt x="1" y="92"/>
                </a:lnTo>
                <a:lnTo>
                  <a:pt x="0" y="89"/>
                </a:lnTo>
              </a:path>
            </a:pathLst>
          </a:custGeom>
          <a:pattFill prst="pct50">
            <a:fgClr>
              <a:schemeClr val="tx1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2575" name="Group 624"/>
          <p:cNvGrpSpPr>
            <a:grpSpLocks/>
          </p:cNvGrpSpPr>
          <p:nvPr/>
        </p:nvGrpSpPr>
        <p:grpSpPr bwMode="auto">
          <a:xfrm>
            <a:off x="5133975" y="3906441"/>
            <a:ext cx="8335" cy="8334"/>
            <a:chOff x="2585" y="2625"/>
            <a:chExt cx="7" cy="7"/>
          </a:xfrm>
        </p:grpSpPr>
        <p:sp>
          <p:nvSpPr>
            <p:cNvPr id="22617" name="Oval 625" descr="50%"/>
            <p:cNvSpPr>
              <a:spLocks noChangeArrowheads="1"/>
            </p:cNvSpPr>
            <p:nvPr/>
          </p:nvSpPr>
          <p:spPr bwMode="auto">
            <a:xfrm>
              <a:off x="2585" y="2625"/>
              <a:ext cx="7" cy="7"/>
            </a:xfrm>
            <a:prstGeom prst="ellipse">
              <a:avLst/>
            </a:prstGeom>
            <a:pattFill prst="pct50">
              <a:fgClr>
                <a:schemeClr val="tx1"/>
              </a:fgClr>
              <a:bgClr>
                <a:schemeClr val="bg1"/>
              </a:bgClr>
            </a:pattFill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18" name="Arc 626" descr="50%"/>
            <p:cNvSpPr>
              <a:spLocks/>
            </p:cNvSpPr>
            <p:nvPr/>
          </p:nvSpPr>
          <p:spPr bwMode="auto">
            <a:xfrm>
              <a:off x="2589" y="2628"/>
              <a:ext cx="2" cy="2"/>
            </a:xfrm>
            <a:custGeom>
              <a:avLst/>
              <a:gdLst>
                <a:gd name="T0" fmla="*/ 1 w 43200"/>
                <a:gd name="T1" fmla="*/ 0 h 43200"/>
                <a:gd name="T2" fmla="*/ 0 w 43200"/>
                <a:gd name="T3" fmla="*/ 0 h 43200"/>
                <a:gd name="T4" fmla="*/ 1 w 43200"/>
                <a:gd name="T5" fmla="*/ 1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5871"/>
                    <a:pt x="2275" y="10377"/>
                    <a:pt x="6326" y="6326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5871"/>
                    <a:pt x="2275" y="10377"/>
                    <a:pt x="6326" y="6326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576" name="Group 627"/>
          <p:cNvGrpSpPr>
            <a:grpSpLocks/>
          </p:cNvGrpSpPr>
          <p:nvPr/>
        </p:nvGrpSpPr>
        <p:grpSpPr bwMode="auto">
          <a:xfrm>
            <a:off x="5166123" y="3925491"/>
            <a:ext cx="35719" cy="15478"/>
            <a:chOff x="2612" y="2641"/>
            <a:chExt cx="30" cy="13"/>
          </a:xfrm>
        </p:grpSpPr>
        <p:sp>
          <p:nvSpPr>
            <p:cNvPr id="22612" name="Arc 628" descr="50%"/>
            <p:cNvSpPr>
              <a:spLocks/>
            </p:cNvSpPr>
            <p:nvPr/>
          </p:nvSpPr>
          <p:spPr bwMode="auto">
            <a:xfrm>
              <a:off x="2620" y="2641"/>
              <a:ext cx="2" cy="13"/>
            </a:xfrm>
            <a:custGeom>
              <a:avLst/>
              <a:gdLst>
                <a:gd name="T0" fmla="*/ 0 w 35746"/>
                <a:gd name="T1" fmla="*/ 1 h 43200"/>
                <a:gd name="T2" fmla="*/ 0 w 35746"/>
                <a:gd name="T3" fmla="*/ 11 h 43200"/>
                <a:gd name="T4" fmla="*/ 1 w 35746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746" h="43200" fill="none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</a:path>
                <a:path w="35746" h="43200" stroke="0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  <a:lnTo>
                    <a:pt x="14146" y="21600"/>
                  </a:lnTo>
                  <a:lnTo>
                    <a:pt x="2777" y="3234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13" name="Arc 629" descr="50%"/>
            <p:cNvSpPr>
              <a:spLocks/>
            </p:cNvSpPr>
            <p:nvPr/>
          </p:nvSpPr>
          <p:spPr bwMode="auto">
            <a:xfrm>
              <a:off x="2612" y="2641"/>
              <a:ext cx="3" cy="13"/>
            </a:xfrm>
            <a:custGeom>
              <a:avLst/>
              <a:gdLst>
                <a:gd name="T0" fmla="*/ 0 w 33372"/>
                <a:gd name="T1" fmla="*/ 1 h 43200"/>
                <a:gd name="T2" fmla="*/ 0 w 33372"/>
                <a:gd name="T3" fmla="*/ 12 h 43200"/>
                <a:gd name="T4" fmla="*/ 1 w 33372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372" h="43200" fill="none" extrusionOk="0">
                  <a:moveTo>
                    <a:pt x="2675" y="2008"/>
                  </a:moveTo>
                  <a:cubicBezTo>
                    <a:pt x="5525" y="685"/>
                    <a:pt x="8629" y="-1"/>
                    <a:pt x="11772" y="0"/>
                  </a:cubicBezTo>
                  <a:cubicBezTo>
                    <a:pt x="23701" y="0"/>
                    <a:pt x="33372" y="9670"/>
                    <a:pt x="33372" y="21600"/>
                  </a:cubicBezTo>
                  <a:cubicBezTo>
                    <a:pt x="33372" y="33529"/>
                    <a:pt x="23701" y="43200"/>
                    <a:pt x="11772" y="43200"/>
                  </a:cubicBezTo>
                  <a:cubicBezTo>
                    <a:pt x="7592" y="43200"/>
                    <a:pt x="3503" y="41987"/>
                    <a:pt x="-1" y="39710"/>
                  </a:cubicBezTo>
                </a:path>
                <a:path w="33372" h="43200" stroke="0" extrusionOk="0">
                  <a:moveTo>
                    <a:pt x="2675" y="2008"/>
                  </a:moveTo>
                  <a:cubicBezTo>
                    <a:pt x="5525" y="685"/>
                    <a:pt x="8629" y="-1"/>
                    <a:pt x="11772" y="0"/>
                  </a:cubicBezTo>
                  <a:cubicBezTo>
                    <a:pt x="23701" y="0"/>
                    <a:pt x="33372" y="9670"/>
                    <a:pt x="33372" y="21600"/>
                  </a:cubicBezTo>
                  <a:cubicBezTo>
                    <a:pt x="33372" y="33529"/>
                    <a:pt x="23701" y="43200"/>
                    <a:pt x="11772" y="43200"/>
                  </a:cubicBezTo>
                  <a:cubicBezTo>
                    <a:pt x="7592" y="43200"/>
                    <a:pt x="3503" y="41987"/>
                    <a:pt x="-1" y="39710"/>
                  </a:cubicBezTo>
                  <a:lnTo>
                    <a:pt x="11772" y="21600"/>
                  </a:lnTo>
                  <a:lnTo>
                    <a:pt x="2675" y="2008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14" name="Arc 630" descr="50%"/>
            <p:cNvSpPr>
              <a:spLocks/>
            </p:cNvSpPr>
            <p:nvPr/>
          </p:nvSpPr>
          <p:spPr bwMode="auto">
            <a:xfrm>
              <a:off x="2625" y="2641"/>
              <a:ext cx="3" cy="13"/>
            </a:xfrm>
            <a:custGeom>
              <a:avLst/>
              <a:gdLst>
                <a:gd name="T0" fmla="*/ 0 w 33372"/>
                <a:gd name="T1" fmla="*/ 1 h 43200"/>
                <a:gd name="T2" fmla="*/ 0 w 33372"/>
                <a:gd name="T3" fmla="*/ 12 h 43200"/>
                <a:gd name="T4" fmla="*/ 1 w 33372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372" h="43200" fill="none" extrusionOk="0">
                  <a:moveTo>
                    <a:pt x="2675" y="2008"/>
                  </a:moveTo>
                  <a:cubicBezTo>
                    <a:pt x="5525" y="685"/>
                    <a:pt x="8629" y="-1"/>
                    <a:pt x="11772" y="0"/>
                  </a:cubicBezTo>
                  <a:cubicBezTo>
                    <a:pt x="23701" y="0"/>
                    <a:pt x="33372" y="9670"/>
                    <a:pt x="33372" y="21600"/>
                  </a:cubicBezTo>
                  <a:cubicBezTo>
                    <a:pt x="33372" y="33529"/>
                    <a:pt x="23701" y="43200"/>
                    <a:pt x="11772" y="43200"/>
                  </a:cubicBezTo>
                  <a:cubicBezTo>
                    <a:pt x="7592" y="43200"/>
                    <a:pt x="3503" y="41987"/>
                    <a:pt x="-1" y="39710"/>
                  </a:cubicBezTo>
                </a:path>
                <a:path w="33372" h="43200" stroke="0" extrusionOk="0">
                  <a:moveTo>
                    <a:pt x="2675" y="2008"/>
                  </a:moveTo>
                  <a:cubicBezTo>
                    <a:pt x="5525" y="685"/>
                    <a:pt x="8629" y="-1"/>
                    <a:pt x="11772" y="0"/>
                  </a:cubicBezTo>
                  <a:cubicBezTo>
                    <a:pt x="23701" y="0"/>
                    <a:pt x="33372" y="9670"/>
                    <a:pt x="33372" y="21600"/>
                  </a:cubicBezTo>
                  <a:cubicBezTo>
                    <a:pt x="33372" y="33529"/>
                    <a:pt x="23701" y="43200"/>
                    <a:pt x="11772" y="43200"/>
                  </a:cubicBezTo>
                  <a:cubicBezTo>
                    <a:pt x="7592" y="43200"/>
                    <a:pt x="3503" y="41987"/>
                    <a:pt x="-1" y="39710"/>
                  </a:cubicBezTo>
                  <a:lnTo>
                    <a:pt x="11772" y="21600"/>
                  </a:lnTo>
                  <a:lnTo>
                    <a:pt x="2675" y="2008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15" name="Arc 631" descr="50%"/>
            <p:cNvSpPr>
              <a:spLocks/>
            </p:cNvSpPr>
            <p:nvPr/>
          </p:nvSpPr>
          <p:spPr bwMode="auto">
            <a:xfrm>
              <a:off x="2633" y="2641"/>
              <a:ext cx="2" cy="13"/>
            </a:xfrm>
            <a:custGeom>
              <a:avLst/>
              <a:gdLst>
                <a:gd name="T0" fmla="*/ 0 w 35746"/>
                <a:gd name="T1" fmla="*/ 1 h 43200"/>
                <a:gd name="T2" fmla="*/ 0 w 35746"/>
                <a:gd name="T3" fmla="*/ 11 h 43200"/>
                <a:gd name="T4" fmla="*/ 1 w 35746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746" h="43200" fill="none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</a:path>
                <a:path w="35746" h="43200" stroke="0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  <a:lnTo>
                    <a:pt x="14146" y="21600"/>
                  </a:lnTo>
                  <a:lnTo>
                    <a:pt x="2777" y="3234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16" name="Arc 632" descr="50%"/>
            <p:cNvSpPr>
              <a:spLocks/>
            </p:cNvSpPr>
            <p:nvPr/>
          </p:nvSpPr>
          <p:spPr bwMode="auto">
            <a:xfrm>
              <a:off x="2640" y="2641"/>
              <a:ext cx="2" cy="13"/>
            </a:xfrm>
            <a:custGeom>
              <a:avLst/>
              <a:gdLst>
                <a:gd name="T0" fmla="*/ 0 w 35746"/>
                <a:gd name="T1" fmla="*/ 1 h 43200"/>
                <a:gd name="T2" fmla="*/ 0 w 35746"/>
                <a:gd name="T3" fmla="*/ 11 h 43200"/>
                <a:gd name="T4" fmla="*/ 1 w 35746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746" h="43200" fill="none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</a:path>
                <a:path w="35746" h="43200" stroke="0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  <a:lnTo>
                    <a:pt x="14146" y="21600"/>
                  </a:lnTo>
                  <a:lnTo>
                    <a:pt x="2777" y="3234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577" name="Freeform 633" descr="50%"/>
          <p:cNvSpPr>
            <a:spLocks/>
          </p:cNvSpPr>
          <p:nvPr/>
        </p:nvSpPr>
        <p:spPr bwMode="auto">
          <a:xfrm>
            <a:off x="5087541" y="3798094"/>
            <a:ext cx="560784" cy="108347"/>
          </a:xfrm>
          <a:custGeom>
            <a:avLst/>
            <a:gdLst>
              <a:gd name="T0" fmla="*/ 15875 w 471"/>
              <a:gd name="T1" fmla="*/ 120650 h 91"/>
              <a:gd name="T2" fmla="*/ 50800 w 471"/>
              <a:gd name="T3" fmla="*/ 109538 h 91"/>
              <a:gd name="T4" fmla="*/ 100012 w 471"/>
              <a:gd name="T5" fmla="*/ 98425 h 91"/>
              <a:gd name="T6" fmla="*/ 149225 w 471"/>
              <a:gd name="T7" fmla="*/ 90488 h 91"/>
              <a:gd name="T8" fmla="*/ 198437 w 471"/>
              <a:gd name="T9" fmla="*/ 80963 h 91"/>
              <a:gd name="T10" fmla="*/ 225425 w 471"/>
              <a:gd name="T11" fmla="*/ 68263 h 91"/>
              <a:gd name="T12" fmla="*/ 249237 w 471"/>
              <a:gd name="T13" fmla="*/ 44450 h 91"/>
              <a:gd name="T14" fmla="*/ 285750 w 471"/>
              <a:gd name="T15" fmla="*/ 12700 h 91"/>
              <a:gd name="T16" fmla="*/ 311150 w 471"/>
              <a:gd name="T17" fmla="*/ 26988 h 91"/>
              <a:gd name="T18" fmla="*/ 322262 w 471"/>
              <a:gd name="T19" fmla="*/ 61913 h 91"/>
              <a:gd name="T20" fmla="*/ 339725 w 471"/>
              <a:gd name="T21" fmla="*/ 79375 h 91"/>
              <a:gd name="T22" fmla="*/ 401637 w 471"/>
              <a:gd name="T23" fmla="*/ 88900 h 91"/>
              <a:gd name="T24" fmla="*/ 447675 w 471"/>
              <a:gd name="T25" fmla="*/ 92075 h 91"/>
              <a:gd name="T26" fmla="*/ 503237 w 471"/>
              <a:gd name="T27" fmla="*/ 88900 h 91"/>
              <a:gd name="T28" fmla="*/ 525462 w 471"/>
              <a:gd name="T29" fmla="*/ 107950 h 91"/>
              <a:gd name="T30" fmla="*/ 569912 w 471"/>
              <a:gd name="T31" fmla="*/ 109538 h 91"/>
              <a:gd name="T32" fmla="*/ 619125 w 471"/>
              <a:gd name="T33" fmla="*/ 87313 h 91"/>
              <a:gd name="T34" fmla="*/ 658812 w 471"/>
              <a:gd name="T35" fmla="*/ 50800 h 91"/>
              <a:gd name="T36" fmla="*/ 690562 w 471"/>
              <a:gd name="T37" fmla="*/ 28575 h 91"/>
              <a:gd name="T38" fmla="*/ 717550 w 471"/>
              <a:gd name="T39" fmla="*/ 17463 h 91"/>
              <a:gd name="T40" fmla="*/ 741362 w 471"/>
              <a:gd name="T41" fmla="*/ 20638 h 91"/>
              <a:gd name="T42" fmla="*/ 722312 w 471"/>
              <a:gd name="T43" fmla="*/ 44450 h 91"/>
              <a:gd name="T44" fmla="*/ 696912 w 471"/>
              <a:gd name="T45" fmla="*/ 66675 h 91"/>
              <a:gd name="T46" fmla="*/ 682625 w 471"/>
              <a:gd name="T47" fmla="*/ 85725 h 91"/>
              <a:gd name="T48" fmla="*/ 671512 w 471"/>
              <a:gd name="T49" fmla="*/ 101600 h 91"/>
              <a:gd name="T50" fmla="*/ 668337 w 471"/>
              <a:gd name="T51" fmla="*/ 120650 h 91"/>
              <a:gd name="T52" fmla="*/ 647700 w 471"/>
              <a:gd name="T53" fmla="*/ 115888 h 91"/>
              <a:gd name="T54" fmla="*/ 627062 w 471"/>
              <a:gd name="T55" fmla="*/ 122238 h 91"/>
              <a:gd name="T56" fmla="*/ 606425 w 471"/>
              <a:gd name="T57" fmla="*/ 120650 h 91"/>
              <a:gd name="T58" fmla="*/ 581025 w 471"/>
              <a:gd name="T59" fmla="*/ 122238 h 91"/>
              <a:gd name="T60" fmla="*/ 555625 w 471"/>
              <a:gd name="T61" fmla="*/ 119063 h 91"/>
              <a:gd name="T62" fmla="*/ 527050 w 471"/>
              <a:gd name="T63" fmla="*/ 120650 h 91"/>
              <a:gd name="T64" fmla="*/ 498475 w 471"/>
              <a:gd name="T65" fmla="*/ 125413 h 91"/>
              <a:gd name="T66" fmla="*/ 469900 w 471"/>
              <a:gd name="T67" fmla="*/ 127000 h 91"/>
              <a:gd name="T68" fmla="*/ 441325 w 471"/>
              <a:gd name="T69" fmla="*/ 127000 h 91"/>
              <a:gd name="T70" fmla="*/ 415925 w 471"/>
              <a:gd name="T71" fmla="*/ 130175 h 91"/>
              <a:gd name="T72" fmla="*/ 388937 w 471"/>
              <a:gd name="T73" fmla="*/ 134938 h 91"/>
              <a:gd name="T74" fmla="*/ 355600 w 471"/>
              <a:gd name="T75" fmla="*/ 134938 h 91"/>
              <a:gd name="T76" fmla="*/ 327025 w 471"/>
              <a:gd name="T77" fmla="*/ 136525 h 91"/>
              <a:gd name="T78" fmla="*/ 298450 w 471"/>
              <a:gd name="T79" fmla="*/ 133350 h 91"/>
              <a:gd name="T80" fmla="*/ 271462 w 471"/>
              <a:gd name="T81" fmla="*/ 134938 h 91"/>
              <a:gd name="T82" fmla="*/ 247650 w 471"/>
              <a:gd name="T83" fmla="*/ 133350 h 91"/>
              <a:gd name="T84" fmla="*/ 220662 w 471"/>
              <a:gd name="T85" fmla="*/ 134938 h 91"/>
              <a:gd name="T86" fmla="*/ 190500 w 471"/>
              <a:gd name="T87" fmla="*/ 136525 h 91"/>
              <a:gd name="T88" fmla="*/ 152400 w 471"/>
              <a:gd name="T89" fmla="*/ 142875 h 91"/>
              <a:gd name="T90" fmla="*/ 109537 w 471"/>
              <a:gd name="T91" fmla="*/ 142875 h 91"/>
              <a:gd name="T92" fmla="*/ 73025 w 471"/>
              <a:gd name="T93" fmla="*/ 138113 h 91"/>
              <a:gd name="T94" fmla="*/ 39687 w 471"/>
              <a:gd name="T95" fmla="*/ 139700 h 91"/>
              <a:gd name="T96" fmla="*/ 7937 w 471"/>
              <a:gd name="T97" fmla="*/ 133350 h 9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471" h="91">
                <a:moveTo>
                  <a:pt x="0" y="82"/>
                </a:moveTo>
                <a:lnTo>
                  <a:pt x="3" y="80"/>
                </a:lnTo>
                <a:lnTo>
                  <a:pt x="6" y="78"/>
                </a:lnTo>
                <a:lnTo>
                  <a:pt x="10" y="76"/>
                </a:lnTo>
                <a:lnTo>
                  <a:pt x="14" y="75"/>
                </a:lnTo>
                <a:lnTo>
                  <a:pt x="19" y="73"/>
                </a:lnTo>
                <a:lnTo>
                  <a:pt x="27" y="72"/>
                </a:lnTo>
                <a:lnTo>
                  <a:pt x="32" y="69"/>
                </a:lnTo>
                <a:lnTo>
                  <a:pt x="39" y="67"/>
                </a:lnTo>
                <a:lnTo>
                  <a:pt x="47" y="65"/>
                </a:lnTo>
                <a:lnTo>
                  <a:pt x="55" y="63"/>
                </a:lnTo>
                <a:lnTo>
                  <a:pt x="63" y="62"/>
                </a:lnTo>
                <a:lnTo>
                  <a:pt x="71" y="61"/>
                </a:lnTo>
                <a:lnTo>
                  <a:pt x="79" y="60"/>
                </a:lnTo>
                <a:lnTo>
                  <a:pt x="87" y="58"/>
                </a:lnTo>
                <a:lnTo>
                  <a:pt x="94" y="57"/>
                </a:lnTo>
                <a:lnTo>
                  <a:pt x="101" y="55"/>
                </a:lnTo>
                <a:lnTo>
                  <a:pt x="110" y="54"/>
                </a:lnTo>
                <a:lnTo>
                  <a:pt x="117" y="52"/>
                </a:lnTo>
                <a:lnTo>
                  <a:pt x="125" y="51"/>
                </a:lnTo>
                <a:lnTo>
                  <a:pt x="130" y="50"/>
                </a:lnTo>
                <a:lnTo>
                  <a:pt x="135" y="49"/>
                </a:lnTo>
                <a:lnTo>
                  <a:pt x="139" y="46"/>
                </a:lnTo>
                <a:lnTo>
                  <a:pt x="142" y="43"/>
                </a:lnTo>
                <a:lnTo>
                  <a:pt x="145" y="40"/>
                </a:lnTo>
                <a:lnTo>
                  <a:pt x="147" y="38"/>
                </a:lnTo>
                <a:lnTo>
                  <a:pt x="152" y="33"/>
                </a:lnTo>
                <a:lnTo>
                  <a:pt x="157" y="28"/>
                </a:lnTo>
                <a:lnTo>
                  <a:pt x="162" y="23"/>
                </a:lnTo>
                <a:lnTo>
                  <a:pt x="168" y="18"/>
                </a:lnTo>
                <a:lnTo>
                  <a:pt x="173" y="13"/>
                </a:lnTo>
                <a:lnTo>
                  <a:pt x="180" y="8"/>
                </a:lnTo>
                <a:lnTo>
                  <a:pt x="186" y="4"/>
                </a:lnTo>
                <a:lnTo>
                  <a:pt x="191" y="0"/>
                </a:lnTo>
                <a:lnTo>
                  <a:pt x="193" y="8"/>
                </a:lnTo>
                <a:lnTo>
                  <a:pt x="196" y="17"/>
                </a:lnTo>
                <a:lnTo>
                  <a:pt x="199" y="24"/>
                </a:lnTo>
                <a:lnTo>
                  <a:pt x="201" y="32"/>
                </a:lnTo>
                <a:lnTo>
                  <a:pt x="202" y="36"/>
                </a:lnTo>
                <a:lnTo>
                  <a:pt x="203" y="39"/>
                </a:lnTo>
                <a:lnTo>
                  <a:pt x="202" y="43"/>
                </a:lnTo>
                <a:lnTo>
                  <a:pt x="199" y="47"/>
                </a:lnTo>
                <a:lnTo>
                  <a:pt x="206" y="49"/>
                </a:lnTo>
                <a:lnTo>
                  <a:pt x="214" y="50"/>
                </a:lnTo>
                <a:lnTo>
                  <a:pt x="224" y="51"/>
                </a:lnTo>
                <a:lnTo>
                  <a:pt x="234" y="53"/>
                </a:lnTo>
                <a:lnTo>
                  <a:pt x="245" y="55"/>
                </a:lnTo>
                <a:lnTo>
                  <a:pt x="253" y="56"/>
                </a:lnTo>
                <a:lnTo>
                  <a:pt x="262" y="58"/>
                </a:lnTo>
                <a:lnTo>
                  <a:pt x="269" y="59"/>
                </a:lnTo>
                <a:lnTo>
                  <a:pt x="276" y="59"/>
                </a:lnTo>
                <a:lnTo>
                  <a:pt x="282" y="58"/>
                </a:lnTo>
                <a:lnTo>
                  <a:pt x="288" y="55"/>
                </a:lnTo>
                <a:lnTo>
                  <a:pt x="293" y="51"/>
                </a:lnTo>
                <a:lnTo>
                  <a:pt x="305" y="53"/>
                </a:lnTo>
                <a:lnTo>
                  <a:pt x="317" y="56"/>
                </a:lnTo>
                <a:lnTo>
                  <a:pt x="326" y="58"/>
                </a:lnTo>
                <a:lnTo>
                  <a:pt x="321" y="64"/>
                </a:lnTo>
                <a:lnTo>
                  <a:pt x="325" y="66"/>
                </a:lnTo>
                <a:lnTo>
                  <a:pt x="331" y="68"/>
                </a:lnTo>
                <a:lnTo>
                  <a:pt x="338" y="69"/>
                </a:lnTo>
                <a:lnTo>
                  <a:pt x="345" y="70"/>
                </a:lnTo>
                <a:lnTo>
                  <a:pt x="352" y="70"/>
                </a:lnTo>
                <a:lnTo>
                  <a:pt x="359" y="69"/>
                </a:lnTo>
                <a:lnTo>
                  <a:pt x="366" y="68"/>
                </a:lnTo>
                <a:lnTo>
                  <a:pt x="374" y="65"/>
                </a:lnTo>
                <a:lnTo>
                  <a:pt x="382" y="61"/>
                </a:lnTo>
                <a:lnTo>
                  <a:pt x="390" y="55"/>
                </a:lnTo>
                <a:lnTo>
                  <a:pt x="397" y="49"/>
                </a:lnTo>
                <a:lnTo>
                  <a:pt x="405" y="41"/>
                </a:lnTo>
                <a:lnTo>
                  <a:pt x="409" y="38"/>
                </a:lnTo>
                <a:lnTo>
                  <a:pt x="415" y="32"/>
                </a:lnTo>
                <a:lnTo>
                  <a:pt x="420" y="28"/>
                </a:lnTo>
                <a:lnTo>
                  <a:pt x="425" y="25"/>
                </a:lnTo>
                <a:lnTo>
                  <a:pt x="430" y="21"/>
                </a:lnTo>
                <a:lnTo>
                  <a:pt x="435" y="18"/>
                </a:lnTo>
                <a:lnTo>
                  <a:pt x="440" y="17"/>
                </a:lnTo>
                <a:lnTo>
                  <a:pt x="443" y="14"/>
                </a:lnTo>
                <a:lnTo>
                  <a:pt x="447" y="13"/>
                </a:lnTo>
                <a:lnTo>
                  <a:pt x="452" y="11"/>
                </a:lnTo>
                <a:lnTo>
                  <a:pt x="456" y="11"/>
                </a:lnTo>
                <a:lnTo>
                  <a:pt x="462" y="10"/>
                </a:lnTo>
                <a:lnTo>
                  <a:pt x="470" y="10"/>
                </a:lnTo>
                <a:lnTo>
                  <a:pt x="467" y="13"/>
                </a:lnTo>
                <a:lnTo>
                  <a:pt x="463" y="17"/>
                </a:lnTo>
                <a:lnTo>
                  <a:pt x="461" y="19"/>
                </a:lnTo>
                <a:lnTo>
                  <a:pt x="458" y="24"/>
                </a:lnTo>
                <a:lnTo>
                  <a:pt x="455" y="28"/>
                </a:lnTo>
                <a:lnTo>
                  <a:pt x="450" y="32"/>
                </a:lnTo>
                <a:lnTo>
                  <a:pt x="444" y="37"/>
                </a:lnTo>
                <a:lnTo>
                  <a:pt x="441" y="39"/>
                </a:lnTo>
                <a:lnTo>
                  <a:pt x="439" y="42"/>
                </a:lnTo>
                <a:lnTo>
                  <a:pt x="436" y="46"/>
                </a:lnTo>
                <a:lnTo>
                  <a:pt x="434" y="49"/>
                </a:lnTo>
                <a:lnTo>
                  <a:pt x="432" y="51"/>
                </a:lnTo>
                <a:lnTo>
                  <a:pt x="430" y="54"/>
                </a:lnTo>
                <a:lnTo>
                  <a:pt x="428" y="57"/>
                </a:lnTo>
                <a:lnTo>
                  <a:pt x="426" y="60"/>
                </a:lnTo>
                <a:lnTo>
                  <a:pt x="425" y="62"/>
                </a:lnTo>
                <a:lnTo>
                  <a:pt x="423" y="64"/>
                </a:lnTo>
                <a:lnTo>
                  <a:pt x="422" y="68"/>
                </a:lnTo>
                <a:lnTo>
                  <a:pt x="422" y="70"/>
                </a:lnTo>
                <a:lnTo>
                  <a:pt x="421" y="73"/>
                </a:lnTo>
                <a:lnTo>
                  <a:pt x="421" y="76"/>
                </a:lnTo>
                <a:lnTo>
                  <a:pt x="418" y="74"/>
                </a:lnTo>
                <a:lnTo>
                  <a:pt x="414" y="73"/>
                </a:lnTo>
                <a:lnTo>
                  <a:pt x="411" y="73"/>
                </a:lnTo>
                <a:lnTo>
                  <a:pt x="408" y="73"/>
                </a:lnTo>
                <a:lnTo>
                  <a:pt x="404" y="74"/>
                </a:lnTo>
                <a:lnTo>
                  <a:pt x="402" y="76"/>
                </a:lnTo>
                <a:lnTo>
                  <a:pt x="399" y="76"/>
                </a:lnTo>
                <a:lnTo>
                  <a:pt x="395" y="77"/>
                </a:lnTo>
                <a:lnTo>
                  <a:pt x="392" y="78"/>
                </a:lnTo>
                <a:lnTo>
                  <a:pt x="388" y="77"/>
                </a:lnTo>
                <a:lnTo>
                  <a:pt x="384" y="77"/>
                </a:lnTo>
                <a:lnTo>
                  <a:pt x="382" y="76"/>
                </a:lnTo>
                <a:lnTo>
                  <a:pt x="379" y="75"/>
                </a:lnTo>
                <a:lnTo>
                  <a:pt x="375" y="75"/>
                </a:lnTo>
                <a:lnTo>
                  <a:pt x="371" y="76"/>
                </a:lnTo>
                <a:lnTo>
                  <a:pt x="366" y="77"/>
                </a:lnTo>
                <a:lnTo>
                  <a:pt x="363" y="76"/>
                </a:lnTo>
                <a:lnTo>
                  <a:pt x="359" y="76"/>
                </a:lnTo>
                <a:lnTo>
                  <a:pt x="355" y="75"/>
                </a:lnTo>
                <a:lnTo>
                  <a:pt x="350" y="75"/>
                </a:lnTo>
                <a:lnTo>
                  <a:pt x="347" y="76"/>
                </a:lnTo>
                <a:lnTo>
                  <a:pt x="341" y="77"/>
                </a:lnTo>
                <a:lnTo>
                  <a:pt x="337" y="77"/>
                </a:lnTo>
                <a:lnTo>
                  <a:pt x="332" y="76"/>
                </a:lnTo>
                <a:lnTo>
                  <a:pt x="328" y="76"/>
                </a:lnTo>
                <a:lnTo>
                  <a:pt x="323" y="77"/>
                </a:lnTo>
                <a:lnTo>
                  <a:pt x="320" y="78"/>
                </a:lnTo>
                <a:lnTo>
                  <a:pt x="314" y="79"/>
                </a:lnTo>
                <a:lnTo>
                  <a:pt x="310" y="80"/>
                </a:lnTo>
                <a:lnTo>
                  <a:pt x="305" y="80"/>
                </a:lnTo>
                <a:lnTo>
                  <a:pt x="301" y="80"/>
                </a:lnTo>
                <a:lnTo>
                  <a:pt x="296" y="80"/>
                </a:lnTo>
                <a:lnTo>
                  <a:pt x="291" y="78"/>
                </a:lnTo>
                <a:lnTo>
                  <a:pt x="286" y="80"/>
                </a:lnTo>
                <a:lnTo>
                  <a:pt x="282" y="80"/>
                </a:lnTo>
                <a:lnTo>
                  <a:pt x="278" y="80"/>
                </a:lnTo>
                <a:lnTo>
                  <a:pt x="274" y="80"/>
                </a:lnTo>
                <a:lnTo>
                  <a:pt x="270" y="80"/>
                </a:lnTo>
                <a:lnTo>
                  <a:pt x="266" y="80"/>
                </a:lnTo>
                <a:lnTo>
                  <a:pt x="262" y="82"/>
                </a:lnTo>
                <a:lnTo>
                  <a:pt x="259" y="83"/>
                </a:lnTo>
                <a:lnTo>
                  <a:pt x="254" y="84"/>
                </a:lnTo>
                <a:lnTo>
                  <a:pt x="250" y="84"/>
                </a:lnTo>
                <a:lnTo>
                  <a:pt x="245" y="85"/>
                </a:lnTo>
                <a:lnTo>
                  <a:pt x="240" y="86"/>
                </a:lnTo>
                <a:lnTo>
                  <a:pt x="234" y="85"/>
                </a:lnTo>
                <a:lnTo>
                  <a:pt x="228" y="85"/>
                </a:lnTo>
                <a:lnTo>
                  <a:pt x="224" y="85"/>
                </a:lnTo>
                <a:lnTo>
                  <a:pt x="218" y="86"/>
                </a:lnTo>
                <a:lnTo>
                  <a:pt x="214" y="86"/>
                </a:lnTo>
                <a:lnTo>
                  <a:pt x="210" y="86"/>
                </a:lnTo>
                <a:lnTo>
                  <a:pt x="206" y="86"/>
                </a:lnTo>
                <a:lnTo>
                  <a:pt x="201" y="86"/>
                </a:lnTo>
                <a:lnTo>
                  <a:pt x="196" y="84"/>
                </a:lnTo>
                <a:lnTo>
                  <a:pt x="192" y="84"/>
                </a:lnTo>
                <a:lnTo>
                  <a:pt x="188" y="84"/>
                </a:lnTo>
                <a:lnTo>
                  <a:pt x="184" y="84"/>
                </a:lnTo>
                <a:lnTo>
                  <a:pt x="180" y="84"/>
                </a:lnTo>
                <a:lnTo>
                  <a:pt x="175" y="84"/>
                </a:lnTo>
                <a:lnTo>
                  <a:pt x="171" y="85"/>
                </a:lnTo>
                <a:lnTo>
                  <a:pt x="167" y="85"/>
                </a:lnTo>
                <a:lnTo>
                  <a:pt x="164" y="84"/>
                </a:lnTo>
                <a:lnTo>
                  <a:pt x="160" y="84"/>
                </a:lnTo>
                <a:lnTo>
                  <a:pt x="156" y="84"/>
                </a:lnTo>
                <a:lnTo>
                  <a:pt x="152" y="84"/>
                </a:lnTo>
                <a:lnTo>
                  <a:pt x="149" y="84"/>
                </a:lnTo>
                <a:lnTo>
                  <a:pt x="145" y="84"/>
                </a:lnTo>
                <a:lnTo>
                  <a:pt x="139" y="85"/>
                </a:lnTo>
                <a:lnTo>
                  <a:pt x="135" y="85"/>
                </a:lnTo>
                <a:lnTo>
                  <a:pt x="130" y="84"/>
                </a:lnTo>
                <a:lnTo>
                  <a:pt x="125" y="85"/>
                </a:lnTo>
                <a:lnTo>
                  <a:pt x="120" y="86"/>
                </a:lnTo>
                <a:lnTo>
                  <a:pt x="116" y="88"/>
                </a:lnTo>
                <a:lnTo>
                  <a:pt x="111" y="89"/>
                </a:lnTo>
                <a:lnTo>
                  <a:pt x="104" y="90"/>
                </a:lnTo>
                <a:lnTo>
                  <a:pt x="96" y="90"/>
                </a:lnTo>
                <a:lnTo>
                  <a:pt x="89" y="90"/>
                </a:lnTo>
                <a:lnTo>
                  <a:pt x="82" y="90"/>
                </a:lnTo>
                <a:lnTo>
                  <a:pt x="74" y="90"/>
                </a:lnTo>
                <a:lnTo>
                  <a:pt x="69" y="90"/>
                </a:lnTo>
                <a:lnTo>
                  <a:pt x="65" y="90"/>
                </a:lnTo>
                <a:lnTo>
                  <a:pt x="60" y="90"/>
                </a:lnTo>
                <a:lnTo>
                  <a:pt x="54" y="90"/>
                </a:lnTo>
                <a:lnTo>
                  <a:pt x="46" y="87"/>
                </a:lnTo>
                <a:lnTo>
                  <a:pt x="40" y="87"/>
                </a:lnTo>
                <a:lnTo>
                  <a:pt x="35" y="88"/>
                </a:lnTo>
                <a:lnTo>
                  <a:pt x="29" y="88"/>
                </a:lnTo>
                <a:lnTo>
                  <a:pt x="25" y="88"/>
                </a:lnTo>
                <a:lnTo>
                  <a:pt x="20" y="87"/>
                </a:lnTo>
                <a:lnTo>
                  <a:pt x="15" y="86"/>
                </a:lnTo>
                <a:lnTo>
                  <a:pt x="10" y="85"/>
                </a:lnTo>
                <a:lnTo>
                  <a:pt x="5" y="84"/>
                </a:lnTo>
                <a:lnTo>
                  <a:pt x="0" y="83"/>
                </a:lnTo>
                <a:lnTo>
                  <a:pt x="0" y="82"/>
                </a:lnTo>
              </a:path>
            </a:pathLst>
          </a:custGeom>
          <a:pattFill prst="pct50">
            <a:fgClr>
              <a:schemeClr val="tx1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2578" name="Group 634"/>
          <p:cNvGrpSpPr>
            <a:grpSpLocks/>
          </p:cNvGrpSpPr>
          <p:nvPr/>
        </p:nvGrpSpPr>
        <p:grpSpPr bwMode="auto">
          <a:xfrm>
            <a:off x="5201841" y="3935016"/>
            <a:ext cx="82153" cy="60722"/>
            <a:chOff x="2642" y="2649"/>
            <a:chExt cx="69" cy="51"/>
          </a:xfrm>
        </p:grpSpPr>
        <p:sp>
          <p:nvSpPr>
            <p:cNvPr id="22610" name="Freeform 635" descr="50%"/>
            <p:cNvSpPr>
              <a:spLocks/>
            </p:cNvSpPr>
            <p:nvPr/>
          </p:nvSpPr>
          <p:spPr bwMode="auto">
            <a:xfrm>
              <a:off x="2642" y="2655"/>
              <a:ext cx="69" cy="45"/>
            </a:xfrm>
            <a:custGeom>
              <a:avLst/>
              <a:gdLst>
                <a:gd name="T0" fmla="*/ 64 w 69"/>
                <a:gd name="T1" fmla="*/ 39 h 45"/>
                <a:gd name="T2" fmla="*/ 60 w 69"/>
                <a:gd name="T3" fmla="*/ 35 h 45"/>
                <a:gd name="T4" fmla="*/ 58 w 69"/>
                <a:gd name="T5" fmla="*/ 33 h 45"/>
                <a:gd name="T6" fmla="*/ 56 w 69"/>
                <a:gd name="T7" fmla="*/ 31 h 45"/>
                <a:gd name="T8" fmla="*/ 54 w 69"/>
                <a:gd name="T9" fmla="*/ 28 h 45"/>
                <a:gd name="T10" fmla="*/ 52 w 69"/>
                <a:gd name="T11" fmla="*/ 26 h 45"/>
                <a:gd name="T12" fmla="*/ 50 w 69"/>
                <a:gd name="T13" fmla="*/ 23 h 45"/>
                <a:gd name="T14" fmla="*/ 48 w 69"/>
                <a:gd name="T15" fmla="*/ 21 h 45"/>
                <a:gd name="T16" fmla="*/ 47 w 69"/>
                <a:gd name="T17" fmla="*/ 17 h 45"/>
                <a:gd name="T18" fmla="*/ 46 w 69"/>
                <a:gd name="T19" fmla="*/ 14 h 45"/>
                <a:gd name="T20" fmla="*/ 45 w 69"/>
                <a:gd name="T21" fmla="*/ 11 h 45"/>
                <a:gd name="T22" fmla="*/ 44 w 69"/>
                <a:gd name="T23" fmla="*/ 8 h 45"/>
                <a:gd name="T24" fmla="*/ 44 w 69"/>
                <a:gd name="T25" fmla="*/ 4 h 45"/>
                <a:gd name="T26" fmla="*/ 44 w 69"/>
                <a:gd name="T27" fmla="*/ 0 h 45"/>
                <a:gd name="T28" fmla="*/ 0 w 69"/>
                <a:gd name="T29" fmla="*/ 0 h 45"/>
                <a:gd name="T30" fmla="*/ 1 w 69"/>
                <a:gd name="T31" fmla="*/ 3 h 45"/>
                <a:gd name="T32" fmla="*/ 3 w 69"/>
                <a:gd name="T33" fmla="*/ 6 h 45"/>
                <a:gd name="T34" fmla="*/ 5 w 69"/>
                <a:gd name="T35" fmla="*/ 9 h 45"/>
                <a:gd name="T36" fmla="*/ 8 w 69"/>
                <a:gd name="T37" fmla="*/ 12 h 45"/>
                <a:gd name="T38" fmla="*/ 11 w 69"/>
                <a:gd name="T39" fmla="*/ 16 h 45"/>
                <a:gd name="T40" fmla="*/ 14 w 69"/>
                <a:gd name="T41" fmla="*/ 19 h 45"/>
                <a:gd name="T42" fmla="*/ 18 w 69"/>
                <a:gd name="T43" fmla="*/ 22 h 45"/>
                <a:gd name="T44" fmla="*/ 21 w 69"/>
                <a:gd name="T45" fmla="*/ 25 h 45"/>
                <a:gd name="T46" fmla="*/ 25 w 69"/>
                <a:gd name="T47" fmla="*/ 28 h 45"/>
                <a:gd name="T48" fmla="*/ 30 w 69"/>
                <a:gd name="T49" fmla="*/ 32 h 45"/>
                <a:gd name="T50" fmla="*/ 34 w 69"/>
                <a:gd name="T51" fmla="*/ 34 h 45"/>
                <a:gd name="T52" fmla="*/ 38 w 69"/>
                <a:gd name="T53" fmla="*/ 36 h 45"/>
                <a:gd name="T54" fmla="*/ 41 w 69"/>
                <a:gd name="T55" fmla="*/ 38 h 45"/>
                <a:gd name="T56" fmla="*/ 45 w 69"/>
                <a:gd name="T57" fmla="*/ 39 h 45"/>
                <a:gd name="T58" fmla="*/ 49 w 69"/>
                <a:gd name="T59" fmla="*/ 41 h 45"/>
                <a:gd name="T60" fmla="*/ 53 w 69"/>
                <a:gd name="T61" fmla="*/ 42 h 45"/>
                <a:gd name="T62" fmla="*/ 58 w 69"/>
                <a:gd name="T63" fmla="*/ 43 h 45"/>
                <a:gd name="T64" fmla="*/ 62 w 69"/>
                <a:gd name="T65" fmla="*/ 43 h 45"/>
                <a:gd name="T66" fmla="*/ 65 w 69"/>
                <a:gd name="T67" fmla="*/ 43 h 45"/>
                <a:gd name="T68" fmla="*/ 68 w 69"/>
                <a:gd name="T69" fmla="*/ 44 h 45"/>
                <a:gd name="T70" fmla="*/ 64 w 69"/>
                <a:gd name="T71" fmla="*/ 39 h 4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9" h="45">
                  <a:moveTo>
                    <a:pt x="64" y="39"/>
                  </a:moveTo>
                  <a:lnTo>
                    <a:pt x="60" y="35"/>
                  </a:lnTo>
                  <a:lnTo>
                    <a:pt x="58" y="33"/>
                  </a:lnTo>
                  <a:lnTo>
                    <a:pt x="56" y="31"/>
                  </a:lnTo>
                  <a:lnTo>
                    <a:pt x="54" y="28"/>
                  </a:lnTo>
                  <a:lnTo>
                    <a:pt x="52" y="26"/>
                  </a:lnTo>
                  <a:lnTo>
                    <a:pt x="50" y="23"/>
                  </a:lnTo>
                  <a:lnTo>
                    <a:pt x="48" y="21"/>
                  </a:lnTo>
                  <a:lnTo>
                    <a:pt x="47" y="17"/>
                  </a:lnTo>
                  <a:lnTo>
                    <a:pt x="46" y="14"/>
                  </a:lnTo>
                  <a:lnTo>
                    <a:pt x="45" y="11"/>
                  </a:lnTo>
                  <a:lnTo>
                    <a:pt x="44" y="8"/>
                  </a:lnTo>
                  <a:lnTo>
                    <a:pt x="44" y="4"/>
                  </a:lnTo>
                  <a:lnTo>
                    <a:pt x="44" y="0"/>
                  </a:lnTo>
                  <a:lnTo>
                    <a:pt x="0" y="0"/>
                  </a:lnTo>
                  <a:lnTo>
                    <a:pt x="1" y="3"/>
                  </a:lnTo>
                  <a:lnTo>
                    <a:pt x="3" y="6"/>
                  </a:lnTo>
                  <a:lnTo>
                    <a:pt x="5" y="9"/>
                  </a:lnTo>
                  <a:lnTo>
                    <a:pt x="8" y="12"/>
                  </a:lnTo>
                  <a:lnTo>
                    <a:pt x="11" y="16"/>
                  </a:lnTo>
                  <a:lnTo>
                    <a:pt x="14" y="19"/>
                  </a:lnTo>
                  <a:lnTo>
                    <a:pt x="18" y="22"/>
                  </a:lnTo>
                  <a:lnTo>
                    <a:pt x="21" y="25"/>
                  </a:lnTo>
                  <a:lnTo>
                    <a:pt x="25" y="28"/>
                  </a:lnTo>
                  <a:lnTo>
                    <a:pt x="30" y="32"/>
                  </a:lnTo>
                  <a:lnTo>
                    <a:pt x="34" y="34"/>
                  </a:lnTo>
                  <a:lnTo>
                    <a:pt x="38" y="36"/>
                  </a:lnTo>
                  <a:lnTo>
                    <a:pt x="41" y="38"/>
                  </a:lnTo>
                  <a:lnTo>
                    <a:pt x="45" y="39"/>
                  </a:lnTo>
                  <a:lnTo>
                    <a:pt x="49" y="41"/>
                  </a:lnTo>
                  <a:lnTo>
                    <a:pt x="53" y="42"/>
                  </a:lnTo>
                  <a:lnTo>
                    <a:pt x="58" y="43"/>
                  </a:lnTo>
                  <a:lnTo>
                    <a:pt x="62" y="43"/>
                  </a:lnTo>
                  <a:lnTo>
                    <a:pt x="65" y="43"/>
                  </a:lnTo>
                  <a:lnTo>
                    <a:pt x="68" y="44"/>
                  </a:lnTo>
                  <a:lnTo>
                    <a:pt x="64" y="39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11" name="Freeform 636" descr="50%"/>
            <p:cNvSpPr>
              <a:spLocks/>
            </p:cNvSpPr>
            <p:nvPr/>
          </p:nvSpPr>
          <p:spPr bwMode="auto">
            <a:xfrm>
              <a:off x="2643" y="2649"/>
              <a:ext cx="36" cy="6"/>
            </a:xfrm>
            <a:custGeom>
              <a:avLst/>
              <a:gdLst>
                <a:gd name="T0" fmla="*/ 0 w 36"/>
                <a:gd name="T1" fmla="*/ 5 h 6"/>
                <a:gd name="T2" fmla="*/ 0 w 36"/>
                <a:gd name="T3" fmla="*/ 3 h 6"/>
                <a:gd name="T4" fmla="*/ 1 w 36"/>
                <a:gd name="T5" fmla="*/ 0 h 6"/>
                <a:gd name="T6" fmla="*/ 35 w 36"/>
                <a:gd name="T7" fmla="*/ 0 h 6"/>
                <a:gd name="T8" fmla="*/ 35 w 36"/>
                <a:gd name="T9" fmla="*/ 5 h 6"/>
                <a:gd name="T10" fmla="*/ 0 w 36"/>
                <a:gd name="T11" fmla="*/ 5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6">
                  <a:moveTo>
                    <a:pt x="0" y="5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35" y="0"/>
                  </a:lnTo>
                  <a:lnTo>
                    <a:pt x="35" y="5"/>
                  </a:lnTo>
                  <a:lnTo>
                    <a:pt x="0" y="5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79" name="Freeform 637" descr="50%"/>
          <p:cNvSpPr>
            <a:spLocks/>
          </p:cNvSpPr>
          <p:nvPr/>
        </p:nvSpPr>
        <p:spPr bwMode="auto">
          <a:xfrm>
            <a:off x="5230417" y="4096941"/>
            <a:ext cx="69056" cy="54769"/>
          </a:xfrm>
          <a:custGeom>
            <a:avLst/>
            <a:gdLst>
              <a:gd name="T0" fmla="*/ 0 w 58"/>
              <a:gd name="T1" fmla="*/ 0 h 46"/>
              <a:gd name="T2" fmla="*/ 3175 w 58"/>
              <a:gd name="T3" fmla="*/ 7938 h 46"/>
              <a:gd name="T4" fmla="*/ 7938 w 58"/>
              <a:gd name="T5" fmla="*/ 14288 h 46"/>
              <a:gd name="T6" fmla="*/ 14288 w 58"/>
              <a:gd name="T7" fmla="*/ 22225 h 46"/>
              <a:gd name="T8" fmla="*/ 19050 w 58"/>
              <a:gd name="T9" fmla="*/ 28575 h 46"/>
              <a:gd name="T10" fmla="*/ 25400 w 58"/>
              <a:gd name="T11" fmla="*/ 36513 h 46"/>
              <a:gd name="T12" fmla="*/ 33338 w 58"/>
              <a:gd name="T13" fmla="*/ 44450 h 46"/>
              <a:gd name="T14" fmla="*/ 38100 w 58"/>
              <a:gd name="T15" fmla="*/ 50800 h 46"/>
              <a:gd name="T16" fmla="*/ 44450 w 58"/>
              <a:gd name="T17" fmla="*/ 55563 h 46"/>
              <a:gd name="T18" fmla="*/ 50800 w 58"/>
              <a:gd name="T19" fmla="*/ 60325 h 46"/>
              <a:gd name="T20" fmla="*/ 57150 w 58"/>
              <a:gd name="T21" fmla="*/ 63500 h 46"/>
              <a:gd name="T22" fmla="*/ 65088 w 58"/>
              <a:gd name="T23" fmla="*/ 66675 h 46"/>
              <a:gd name="T24" fmla="*/ 71438 w 58"/>
              <a:gd name="T25" fmla="*/ 69850 h 46"/>
              <a:gd name="T26" fmla="*/ 79375 w 58"/>
              <a:gd name="T27" fmla="*/ 71438 h 46"/>
              <a:gd name="T28" fmla="*/ 85725 w 58"/>
              <a:gd name="T29" fmla="*/ 71438 h 46"/>
              <a:gd name="T30" fmla="*/ 90488 w 58"/>
              <a:gd name="T31" fmla="*/ 69850 h 46"/>
              <a:gd name="T32" fmla="*/ 85725 w 58"/>
              <a:gd name="T33" fmla="*/ 65088 h 46"/>
              <a:gd name="T34" fmla="*/ 80963 w 58"/>
              <a:gd name="T35" fmla="*/ 58738 h 46"/>
              <a:gd name="T36" fmla="*/ 76200 w 58"/>
              <a:gd name="T37" fmla="*/ 52388 h 46"/>
              <a:gd name="T38" fmla="*/ 71438 w 58"/>
              <a:gd name="T39" fmla="*/ 46038 h 46"/>
              <a:gd name="T40" fmla="*/ 66675 w 58"/>
              <a:gd name="T41" fmla="*/ 38100 h 46"/>
              <a:gd name="T42" fmla="*/ 63500 w 58"/>
              <a:gd name="T43" fmla="*/ 31750 h 46"/>
              <a:gd name="T44" fmla="*/ 60325 w 58"/>
              <a:gd name="T45" fmla="*/ 25400 h 46"/>
              <a:gd name="T46" fmla="*/ 58738 w 58"/>
              <a:gd name="T47" fmla="*/ 15875 h 46"/>
              <a:gd name="T48" fmla="*/ 58738 w 58"/>
              <a:gd name="T49" fmla="*/ 7938 h 46"/>
              <a:gd name="T50" fmla="*/ 58738 w 58"/>
              <a:gd name="T51" fmla="*/ 1588 h 46"/>
              <a:gd name="T52" fmla="*/ 0 w 58"/>
              <a:gd name="T53" fmla="*/ 0 h 4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58" h="46">
                <a:moveTo>
                  <a:pt x="0" y="0"/>
                </a:moveTo>
                <a:lnTo>
                  <a:pt x="2" y="5"/>
                </a:lnTo>
                <a:lnTo>
                  <a:pt x="5" y="9"/>
                </a:lnTo>
                <a:lnTo>
                  <a:pt x="9" y="14"/>
                </a:lnTo>
                <a:lnTo>
                  <a:pt x="12" y="18"/>
                </a:lnTo>
                <a:lnTo>
                  <a:pt x="16" y="23"/>
                </a:lnTo>
                <a:lnTo>
                  <a:pt x="21" y="28"/>
                </a:lnTo>
                <a:lnTo>
                  <a:pt x="24" y="32"/>
                </a:lnTo>
                <a:lnTo>
                  <a:pt x="28" y="35"/>
                </a:lnTo>
                <a:lnTo>
                  <a:pt x="32" y="38"/>
                </a:lnTo>
                <a:lnTo>
                  <a:pt x="36" y="40"/>
                </a:lnTo>
                <a:lnTo>
                  <a:pt x="41" y="42"/>
                </a:lnTo>
                <a:lnTo>
                  <a:pt x="45" y="44"/>
                </a:lnTo>
                <a:lnTo>
                  <a:pt x="50" y="45"/>
                </a:lnTo>
                <a:lnTo>
                  <a:pt x="54" y="45"/>
                </a:lnTo>
                <a:lnTo>
                  <a:pt x="57" y="44"/>
                </a:lnTo>
                <a:lnTo>
                  <a:pt x="54" y="41"/>
                </a:lnTo>
                <a:lnTo>
                  <a:pt x="51" y="37"/>
                </a:lnTo>
                <a:lnTo>
                  <a:pt x="48" y="33"/>
                </a:lnTo>
                <a:lnTo>
                  <a:pt x="45" y="29"/>
                </a:lnTo>
                <a:lnTo>
                  <a:pt x="42" y="24"/>
                </a:lnTo>
                <a:lnTo>
                  <a:pt x="40" y="20"/>
                </a:lnTo>
                <a:lnTo>
                  <a:pt x="38" y="16"/>
                </a:lnTo>
                <a:lnTo>
                  <a:pt x="37" y="10"/>
                </a:lnTo>
                <a:lnTo>
                  <a:pt x="37" y="5"/>
                </a:lnTo>
                <a:lnTo>
                  <a:pt x="37" y="1"/>
                </a:lnTo>
                <a:lnTo>
                  <a:pt x="0" y="0"/>
                </a:lnTo>
              </a:path>
            </a:pathLst>
          </a:custGeom>
          <a:pattFill prst="pct50">
            <a:fgClr>
              <a:schemeClr val="tx1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80" name="Freeform 638" descr="50%"/>
          <p:cNvSpPr>
            <a:spLocks/>
          </p:cNvSpPr>
          <p:nvPr/>
        </p:nvSpPr>
        <p:spPr bwMode="auto">
          <a:xfrm>
            <a:off x="5086350" y="3968354"/>
            <a:ext cx="572691" cy="172640"/>
          </a:xfrm>
          <a:custGeom>
            <a:avLst/>
            <a:gdLst>
              <a:gd name="T0" fmla="*/ 7938 w 481"/>
              <a:gd name="T1" fmla="*/ 134937 h 145"/>
              <a:gd name="T2" fmla="*/ 31750 w 481"/>
              <a:gd name="T3" fmla="*/ 127000 h 145"/>
              <a:gd name="T4" fmla="*/ 66675 w 481"/>
              <a:gd name="T5" fmla="*/ 115887 h 145"/>
              <a:gd name="T6" fmla="*/ 103188 w 481"/>
              <a:gd name="T7" fmla="*/ 107950 h 145"/>
              <a:gd name="T8" fmla="*/ 141288 w 481"/>
              <a:gd name="T9" fmla="*/ 100012 h 145"/>
              <a:gd name="T10" fmla="*/ 177800 w 481"/>
              <a:gd name="T11" fmla="*/ 92075 h 145"/>
              <a:gd name="T12" fmla="*/ 209550 w 481"/>
              <a:gd name="T13" fmla="*/ 85725 h 145"/>
              <a:gd name="T14" fmla="*/ 227013 w 481"/>
              <a:gd name="T15" fmla="*/ 76200 h 145"/>
              <a:gd name="T16" fmla="*/ 246063 w 481"/>
              <a:gd name="T17" fmla="*/ 58737 h 145"/>
              <a:gd name="T18" fmla="*/ 271463 w 481"/>
              <a:gd name="T19" fmla="*/ 31750 h 145"/>
              <a:gd name="T20" fmla="*/ 298450 w 481"/>
              <a:gd name="T21" fmla="*/ 7937 h 145"/>
              <a:gd name="T22" fmla="*/ 317500 w 481"/>
              <a:gd name="T23" fmla="*/ 26987 h 145"/>
              <a:gd name="T24" fmla="*/ 328613 w 481"/>
              <a:gd name="T25" fmla="*/ 68262 h 145"/>
              <a:gd name="T26" fmla="*/ 334963 w 481"/>
              <a:gd name="T27" fmla="*/ 84137 h 145"/>
              <a:gd name="T28" fmla="*/ 379413 w 481"/>
              <a:gd name="T29" fmla="*/ 90487 h 145"/>
              <a:gd name="T30" fmla="*/ 423863 w 481"/>
              <a:gd name="T31" fmla="*/ 100012 h 145"/>
              <a:gd name="T32" fmla="*/ 457200 w 481"/>
              <a:gd name="T33" fmla="*/ 100012 h 145"/>
              <a:gd name="T34" fmla="*/ 492125 w 481"/>
              <a:gd name="T35" fmla="*/ 92075 h 145"/>
              <a:gd name="T36" fmla="*/ 519113 w 481"/>
              <a:gd name="T37" fmla="*/ 111125 h 145"/>
              <a:gd name="T38" fmla="*/ 546100 w 481"/>
              <a:gd name="T39" fmla="*/ 119062 h 145"/>
              <a:gd name="T40" fmla="*/ 579438 w 481"/>
              <a:gd name="T41" fmla="*/ 119062 h 145"/>
              <a:gd name="T42" fmla="*/ 615950 w 481"/>
              <a:gd name="T43" fmla="*/ 104775 h 145"/>
              <a:gd name="T44" fmla="*/ 655638 w 481"/>
              <a:gd name="T45" fmla="*/ 71437 h 145"/>
              <a:gd name="T46" fmla="*/ 701675 w 481"/>
              <a:gd name="T47" fmla="*/ 31750 h 145"/>
              <a:gd name="T48" fmla="*/ 747713 w 481"/>
              <a:gd name="T49" fmla="*/ 17462 h 145"/>
              <a:gd name="T50" fmla="*/ 749300 w 481"/>
              <a:gd name="T51" fmla="*/ 30162 h 145"/>
              <a:gd name="T52" fmla="*/ 727075 w 481"/>
              <a:gd name="T53" fmla="*/ 58737 h 145"/>
              <a:gd name="T54" fmla="*/ 701675 w 481"/>
              <a:gd name="T55" fmla="*/ 85725 h 145"/>
              <a:gd name="T56" fmla="*/ 684213 w 481"/>
              <a:gd name="T57" fmla="*/ 112712 h 145"/>
              <a:gd name="T58" fmla="*/ 684213 w 481"/>
              <a:gd name="T59" fmla="*/ 141287 h 145"/>
              <a:gd name="T60" fmla="*/ 703263 w 481"/>
              <a:gd name="T61" fmla="*/ 171450 h 145"/>
              <a:gd name="T62" fmla="*/ 725488 w 481"/>
              <a:gd name="T63" fmla="*/ 193675 h 145"/>
              <a:gd name="T64" fmla="*/ 746125 w 481"/>
              <a:gd name="T65" fmla="*/ 211137 h 145"/>
              <a:gd name="T66" fmla="*/ 747713 w 481"/>
              <a:gd name="T67" fmla="*/ 219075 h 145"/>
              <a:gd name="T68" fmla="*/ 719138 w 481"/>
              <a:gd name="T69" fmla="*/ 219075 h 145"/>
              <a:gd name="T70" fmla="*/ 693738 w 481"/>
              <a:gd name="T71" fmla="*/ 212725 h 145"/>
              <a:gd name="T72" fmla="*/ 668338 w 481"/>
              <a:gd name="T73" fmla="*/ 200025 h 145"/>
              <a:gd name="T74" fmla="*/ 628650 w 481"/>
              <a:gd name="T75" fmla="*/ 173037 h 145"/>
              <a:gd name="T76" fmla="*/ 579438 w 481"/>
              <a:gd name="T77" fmla="*/ 169862 h 145"/>
              <a:gd name="T78" fmla="*/ 520700 w 481"/>
              <a:gd name="T79" fmla="*/ 176212 h 145"/>
              <a:gd name="T80" fmla="*/ 482600 w 481"/>
              <a:gd name="T81" fmla="*/ 192087 h 145"/>
              <a:gd name="T82" fmla="*/ 469900 w 481"/>
              <a:gd name="T83" fmla="*/ 209550 h 145"/>
              <a:gd name="T84" fmla="*/ 417513 w 481"/>
              <a:gd name="T85" fmla="*/ 207962 h 145"/>
              <a:gd name="T86" fmla="*/ 373063 w 481"/>
              <a:gd name="T87" fmla="*/ 222250 h 145"/>
              <a:gd name="T88" fmla="*/ 206375 w 481"/>
              <a:gd name="T89" fmla="*/ 228600 h 145"/>
              <a:gd name="T90" fmla="*/ 111125 w 481"/>
              <a:gd name="T91" fmla="*/ 219075 h 145"/>
              <a:gd name="T92" fmla="*/ 26988 w 481"/>
              <a:gd name="T93" fmla="*/ 190500 h 145"/>
              <a:gd name="T94" fmla="*/ 26988 w 481"/>
              <a:gd name="T95" fmla="*/ 174625 h 145"/>
              <a:gd name="T96" fmla="*/ 7938 w 481"/>
              <a:gd name="T97" fmla="*/ 157162 h 145"/>
              <a:gd name="T98" fmla="*/ 1588 w 481"/>
              <a:gd name="T99" fmla="*/ 146050 h 145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481" h="145">
                <a:moveTo>
                  <a:pt x="0" y="89"/>
                </a:moveTo>
                <a:lnTo>
                  <a:pt x="2" y="88"/>
                </a:lnTo>
                <a:lnTo>
                  <a:pt x="5" y="85"/>
                </a:lnTo>
                <a:lnTo>
                  <a:pt x="11" y="83"/>
                </a:lnTo>
                <a:lnTo>
                  <a:pt x="15" y="82"/>
                </a:lnTo>
                <a:lnTo>
                  <a:pt x="20" y="80"/>
                </a:lnTo>
                <a:lnTo>
                  <a:pt x="27" y="77"/>
                </a:lnTo>
                <a:lnTo>
                  <a:pt x="35" y="75"/>
                </a:lnTo>
                <a:lnTo>
                  <a:pt x="42" y="73"/>
                </a:lnTo>
                <a:lnTo>
                  <a:pt x="49" y="71"/>
                </a:lnTo>
                <a:lnTo>
                  <a:pt x="57" y="69"/>
                </a:lnTo>
                <a:lnTo>
                  <a:pt x="65" y="68"/>
                </a:lnTo>
                <a:lnTo>
                  <a:pt x="74" y="66"/>
                </a:lnTo>
                <a:lnTo>
                  <a:pt x="81" y="64"/>
                </a:lnTo>
                <a:lnTo>
                  <a:pt x="89" y="63"/>
                </a:lnTo>
                <a:lnTo>
                  <a:pt x="95" y="62"/>
                </a:lnTo>
                <a:lnTo>
                  <a:pt x="105" y="60"/>
                </a:lnTo>
                <a:lnTo>
                  <a:pt x="112" y="58"/>
                </a:lnTo>
                <a:lnTo>
                  <a:pt x="120" y="57"/>
                </a:lnTo>
                <a:lnTo>
                  <a:pt x="126" y="56"/>
                </a:lnTo>
                <a:lnTo>
                  <a:pt x="132" y="54"/>
                </a:lnTo>
                <a:lnTo>
                  <a:pt x="137" y="52"/>
                </a:lnTo>
                <a:lnTo>
                  <a:pt x="140" y="51"/>
                </a:lnTo>
                <a:lnTo>
                  <a:pt x="143" y="48"/>
                </a:lnTo>
                <a:lnTo>
                  <a:pt x="147" y="45"/>
                </a:lnTo>
                <a:lnTo>
                  <a:pt x="150" y="41"/>
                </a:lnTo>
                <a:lnTo>
                  <a:pt x="155" y="37"/>
                </a:lnTo>
                <a:lnTo>
                  <a:pt x="160" y="31"/>
                </a:lnTo>
                <a:lnTo>
                  <a:pt x="165" y="25"/>
                </a:lnTo>
                <a:lnTo>
                  <a:pt x="171" y="20"/>
                </a:lnTo>
                <a:lnTo>
                  <a:pt x="176" y="14"/>
                </a:lnTo>
                <a:lnTo>
                  <a:pt x="182" y="10"/>
                </a:lnTo>
                <a:lnTo>
                  <a:pt x="188" y="5"/>
                </a:lnTo>
                <a:lnTo>
                  <a:pt x="195" y="0"/>
                </a:lnTo>
                <a:lnTo>
                  <a:pt x="197" y="9"/>
                </a:lnTo>
                <a:lnTo>
                  <a:pt x="200" y="17"/>
                </a:lnTo>
                <a:lnTo>
                  <a:pt x="203" y="26"/>
                </a:lnTo>
                <a:lnTo>
                  <a:pt x="205" y="35"/>
                </a:lnTo>
                <a:lnTo>
                  <a:pt x="207" y="43"/>
                </a:lnTo>
                <a:lnTo>
                  <a:pt x="206" y="47"/>
                </a:lnTo>
                <a:lnTo>
                  <a:pt x="203" y="51"/>
                </a:lnTo>
                <a:lnTo>
                  <a:pt x="211" y="53"/>
                </a:lnTo>
                <a:lnTo>
                  <a:pt x="218" y="54"/>
                </a:lnTo>
                <a:lnTo>
                  <a:pt x="228" y="56"/>
                </a:lnTo>
                <a:lnTo>
                  <a:pt x="239" y="57"/>
                </a:lnTo>
                <a:lnTo>
                  <a:pt x="249" y="60"/>
                </a:lnTo>
                <a:lnTo>
                  <a:pt x="258" y="61"/>
                </a:lnTo>
                <a:lnTo>
                  <a:pt x="267" y="63"/>
                </a:lnTo>
                <a:lnTo>
                  <a:pt x="275" y="64"/>
                </a:lnTo>
                <a:lnTo>
                  <a:pt x="282" y="64"/>
                </a:lnTo>
                <a:lnTo>
                  <a:pt x="288" y="63"/>
                </a:lnTo>
                <a:lnTo>
                  <a:pt x="293" y="60"/>
                </a:lnTo>
                <a:lnTo>
                  <a:pt x="298" y="56"/>
                </a:lnTo>
                <a:lnTo>
                  <a:pt x="310" y="58"/>
                </a:lnTo>
                <a:lnTo>
                  <a:pt x="323" y="61"/>
                </a:lnTo>
                <a:lnTo>
                  <a:pt x="334" y="63"/>
                </a:lnTo>
                <a:lnTo>
                  <a:pt x="327" y="70"/>
                </a:lnTo>
                <a:lnTo>
                  <a:pt x="331" y="72"/>
                </a:lnTo>
                <a:lnTo>
                  <a:pt x="337" y="74"/>
                </a:lnTo>
                <a:lnTo>
                  <a:pt x="344" y="75"/>
                </a:lnTo>
                <a:lnTo>
                  <a:pt x="351" y="76"/>
                </a:lnTo>
                <a:lnTo>
                  <a:pt x="358" y="76"/>
                </a:lnTo>
                <a:lnTo>
                  <a:pt x="365" y="75"/>
                </a:lnTo>
                <a:lnTo>
                  <a:pt x="373" y="73"/>
                </a:lnTo>
                <a:lnTo>
                  <a:pt x="381" y="71"/>
                </a:lnTo>
                <a:lnTo>
                  <a:pt x="388" y="66"/>
                </a:lnTo>
                <a:lnTo>
                  <a:pt x="397" y="60"/>
                </a:lnTo>
                <a:lnTo>
                  <a:pt x="404" y="54"/>
                </a:lnTo>
                <a:lnTo>
                  <a:pt x="413" y="45"/>
                </a:lnTo>
                <a:lnTo>
                  <a:pt x="422" y="35"/>
                </a:lnTo>
                <a:lnTo>
                  <a:pt x="433" y="27"/>
                </a:lnTo>
                <a:lnTo>
                  <a:pt x="442" y="20"/>
                </a:lnTo>
                <a:lnTo>
                  <a:pt x="451" y="15"/>
                </a:lnTo>
                <a:lnTo>
                  <a:pt x="460" y="12"/>
                </a:lnTo>
                <a:lnTo>
                  <a:pt x="471" y="11"/>
                </a:lnTo>
                <a:lnTo>
                  <a:pt x="480" y="11"/>
                </a:lnTo>
                <a:lnTo>
                  <a:pt x="475" y="15"/>
                </a:lnTo>
                <a:lnTo>
                  <a:pt x="472" y="19"/>
                </a:lnTo>
                <a:lnTo>
                  <a:pt x="470" y="22"/>
                </a:lnTo>
                <a:lnTo>
                  <a:pt x="463" y="32"/>
                </a:lnTo>
                <a:lnTo>
                  <a:pt x="458" y="37"/>
                </a:lnTo>
                <a:lnTo>
                  <a:pt x="452" y="42"/>
                </a:lnTo>
                <a:lnTo>
                  <a:pt x="446" y="48"/>
                </a:lnTo>
                <a:lnTo>
                  <a:pt x="442" y="54"/>
                </a:lnTo>
                <a:lnTo>
                  <a:pt x="438" y="60"/>
                </a:lnTo>
                <a:lnTo>
                  <a:pt x="434" y="66"/>
                </a:lnTo>
                <a:lnTo>
                  <a:pt x="431" y="71"/>
                </a:lnTo>
                <a:lnTo>
                  <a:pt x="430" y="77"/>
                </a:lnTo>
                <a:lnTo>
                  <a:pt x="429" y="83"/>
                </a:lnTo>
                <a:lnTo>
                  <a:pt x="431" y="89"/>
                </a:lnTo>
                <a:lnTo>
                  <a:pt x="434" y="96"/>
                </a:lnTo>
                <a:lnTo>
                  <a:pt x="438" y="102"/>
                </a:lnTo>
                <a:lnTo>
                  <a:pt x="443" y="108"/>
                </a:lnTo>
                <a:lnTo>
                  <a:pt x="447" y="112"/>
                </a:lnTo>
                <a:lnTo>
                  <a:pt x="452" y="116"/>
                </a:lnTo>
                <a:lnTo>
                  <a:pt x="457" y="122"/>
                </a:lnTo>
                <a:lnTo>
                  <a:pt x="463" y="127"/>
                </a:lnTo>
                <a:lnTo>
                  <a:pt x="467" y="130"/>
                </a:lnTo>
                <a:lnTo>
                  <a:pt x="470" y="133"/>
                </a:lnTo>
                <a:lnTo>
                  <a:pt x="474" y="135"/>
                </a:lnTo>
                <a:lnTo>
                  <a:pt x="476" y="138"/>
                </a:lnTo>
                <a:lnTo>
                  <a:pt x="471" y="138"/>
                </a:lnTo>
                <a:lnTo>
                  <a:pt x="464" y="138"/>
                </a:lnTo>
                <a:lnTo>
                  <a:pt x="458" y="138"/>
                </a:lnTo>
                <a:lnTo>
                  <a:pt x="453" y="138"/>
                </a:lnTo>
                <a:lnTo>
                  <a:pt x="446" y="137"/>
                </a:lnTo>
                <a:lnTo>
                  <a:pt x="441" y="135"/>
                </a:lnTo>
                <a:lnTo>
                  <a:pt x="437" y="134"/>
                </a:lnTo>
                <a:lnTo>
                  <a:pt x="432" y="131"/>
                </a:lnTo>
                <a:lnTo>
                  <a:pt x="426" y="129"/>
                </a:lnTo>
                <a:lnTo>
                  <a:pt x="421" y="126"/>
                </a:lnTo>
                <a:lnTo>
                  <a:pt x="412" y="119"/>
                </a:lnTo>
                <a:lnTo>
                  <a:pt x="405" y="115"/>
                </a:lnTo>
                <a:lnTo>
                  <a:pt x="396" y="109"/>
                </a:lnTo>
                <a:lnTo>
                  <a:pt x="387" y="108"/>
                </a:lnTo>
                <a:lnTo>
                  <a:pt x="378" y="108"/>
                </a:lnTo>
                <a:lnTo>
                  <a:pt x="365" y="107"/>
                </a:lnTo>
                <a:lnTo>
                  <a:pt x="354" y="108"/>
                </a:lnTo>
                <a:lnTo>
                  <a:pt x="341" y="109"/>
                </a:lnTo>
                <a:lnTo>
                  <a:pt x="328" y="111"/>
                </a:lnTo>
                <a:lnTo>
                  <a:pt x="314" y="115"/>
                </a:lnTo>
                <a:lnTo>
                  <a:pt x="306" y="118"/>
                </a:lnTo>
                <a:lnTo>
                  <a:pt x="304" y="121"/>
                </a:lnTo>
                <a:lnTo>
                  <a:pt x="306" y="124"/>
                </a:lnTo>
                <a:lnTo>
                  <a:pt x="312" y="128"/>
                </a:lnTo>
                <a:lnTo>
                  <a:pt x="296" y="132"/>
                </a:lnTo>
                <a:lnTo>
                  <a:pt x="274" y="138"/>
                </a:lnTo>
                <a:lnTo>
                  <a:pt x="269" y="134"/>
                </a:lnTo>
                <a:lnTo>
                  <a:pt x="263" y="131"/>
                </a:lnTo>
                <a:lnTo>
                  <a:pt x="257" y="129"/>
                </a:lnTo>
                <a:lnTo>
                  <a:pt x="247" y="129"/>
                </a:lnTo>
                <a:lnTo>
                  <a:pt x="235" y="140"/>
                </a:lnTo>
                <a:lnTo>
                  <a:pt x="224" y="132"/>
                </a:lnTo>
                <a:lnTo>
                  <a:pt x="145" y="143"/>
                </a:lnTo>
                <a:lnTo>
                  <a:pt x="130" y="144"/>
                </a:lnTo>
                <a:lnTo>
                  <a:pt x="115" y="143"/>
                </a:lnTo>
                <a:lnTo>
                  <a:pt x="100" y="141"/>
                </a:lnTo>
                <a:lnTo>
                  <a:pt x="70" y="138"/>
                </a:lnTo>
                <a:lnTo>
                  <a:pt x="42" y="130"/>
                </a:lnTo>
                <a:lnTo>
                  <a:pt x="27" y="125"/>
                </a:lnTo>
                <a:lnTo>
                  <a:pt x="17" y="120"/>
                </a:lnTo>
                <a:lnTo>
                  <a:pt x="28" y="117"/>
                </a:lnTo>
                <a:lnTo>
                  <a:pt x="21" y="113"/>
                </a:lnTo>
                <a:lnTo>
                  <a:pt x="17" y="110"/>
                </a:lnTo>
                <a:lnTo>
                  <a:pt x="9" y="104"/>
                </a:lnTo>
                <a:lnTo>
                  <a:pt x="8" y="102"/>
                </a:lnTo>
                <a:lnTo>
                  <a:pt x="5" y="99"/>
                </a:lnTo>
                <a:lnTo>
                  <a:pt x="4" y="97"/>
                </a:lnTo>
                <a:lnTo>
                  <a:pt x="2" y="94"/>
                </a:lnTo>
                <a:lnTo>
                  <a:pt x="1" y="92"/>
                </a:lnTo>
                <a:lnTo>
                  <a:pt x="0" y="89"/>
                </a:lnTo>
              </a:path>
            </a:pathLst>
          </a:custGeom>
          <a:pattFill prst="pct50">
            <a:fgClr>
              <a:schemeClr val="tx1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2581" name="Group 639"/>
          <p:cNvGrpSpPr>
            <a:grpSpLocks/>
          </p:cNvGrpSpPr>
          <p:nvPr/>
        </p:nvGrpSpPr>
        <p:grpSpPr bwMode="auto">
          <a:xfrm>
            <a:off x="5133975" y="4077891"/>
            <a:ext cx="8335" cy="8334"/>
            <a:chOff x="2585" y="2769"/>
            <a:chExt cx="7" cy="7"/>
          </a:xfrm>
        </p:grpSpPr>
        <p:sp>
          <p:nvSpPr>
            <p:cNvPr id="22608" name="Oval 640" descr="50%"/>
            <p:cNvSpPr>
              <a:spLocks noChangeArrowheads="1"/>
            </p:cNvSpPr>
            <p:nvPr/>
          </p:nvSpPr>
          <p:spPr bwMode="auto">
            <a:xfrm>
              <a:off x="2585" y="2769"/>
              <a:ext cx="7" cy="7"/>
            </a:xfrm>
            <a:prstGeom prst="ellipse">
              <a:avLst/>
            </a:prstGeom>
            <a:pattFill prst="pct50">
              <a:fgClr>
                <a:schemeClr val="tx1"/>
              </a:fgClr>
              <a:bgClr>
                <a:schemeClr val="bg1"/>
              </a:bgClr>
            </a:pattFill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9" name="Arc 641" descr="50%"/>
            <p:cNvSpPr>
              <a:spLocks/>
            </p:cNvSpPr>
            <p:nvPr/>
          </p:nvSpPr>
          <p:spPr bwMode="auto">
            <a:xfrm>
              <a:off x="2589" y="2772"/>
              <a:ext cx="2" cy="2"/>
            </a:xfrm>
            <a:custGeom>
              <a:avLst/>
              <a:gdLst>
                <a:gd name="T0" fmla="*/ 1 w 43200"/>
                <a:gd name="T1" fmla="*/ 0 h 43200"/>
                <a:gd name="T2" fmla="*/ 0 w 43200"/>
                <a:gd name="T3" fmla="*/ 0 h 43200"/>
                <a:gd name="T4" fmla="*/ 1 w 43200"/>
                <a:gd name="T5" fmla="*/ 1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5871"/>
                    <a:pt x="2275" y="10377"/>
                    <a:pt x="6326" y="6326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5871"/>
                    <a:pt x="2275" y="10377"/>
                    <a:pt x="6326" y="6326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582" name="Group 642"/>
          <p:cNvGrpSpPr>
            <a:grpSpLocks/>
          </p:cNvGrpSpPr>
          <p:nvPr/>
        </p:nvGrpSpPr>
        <p:grpSpPr bwMode="auto">
          <a:xfrm>
            <a:off x="5166123" y="4096941"/>
            <a:ext cx="35719" cy="15478"/>
            <a:chOff x="2612" y="2785"/>
            <a:chExt cx="30" cy="13"/>
          </a:xfrm>
        </p:grpSpPr>
        <p:sp>
          <p:nvSpPr>
            <p:cNvPr id="22603" name="Arc 643" descr="50%"/>
            <p:cNvSpPr>
              <a:spLocks/>
            </p:cNvSpPr>
            <p:nvPr/>
          </p:nvSpPr>
          <p:spPr bwMode="auto">
            <a:xfrm>
              <a:off x="2620" y="2785"/>
              <a:ext cx="2" cy="13"/>
            </a:xfrm>
            <a:custGeom>
              <a:avLst/>
              <a:gdLst>
                <a:gd name="T0" fmla="*/ 0 w 35746"/>
                <a:gd name="T1" fmla="*/ 1 h 43200"/>
                <a:gd name="T2" fmla="*/ 0 w 35746"/>
                <a:gd name="T3" fmla="*/ 11 h 43200"/>
                <a:gd name="T4" fmla="*/ 1 w 35746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746" h="43200" fill="none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</a:path>
                <a:path w="35746" h="43200" stroke="0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  <a:lnTo>
                    <a:pt x="14146" y="21600"/>
                  </a:lnTo>
                  <a:lnTo>
                    <a:pt x="2777" y="3234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4" name="Arc 644" descr="50%"/>
            <p:cNvSpPr>
              <a:spLocks/>
            </p:cNvSpPr>
            <p:nvPr/>
          </p:nvSpPr>
          <p:spPr bwMode="auto">
            <a:xfrm>
              <a:off x="2612" y="2785"/>
              <a:ext cx="3" cy="13"/>
            </a:xfrm>
            <a:custGeom>
              <a:avLst/>
              <a:gdLst>
                <a:gd name="T0" fmla="*/ 0 w 33372"/>
                <a:gd name="T1" fmla="*/ 1 h 43200"/>
                <a:gd name="T2" fmla="*/ 0 w 33372"/>
                <a:gd name="T3" fmla="*/ 12 h 43200"/>
                <a:gd name="T4" fmla="*/ 1 w 33372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372" h="43200" fill="none" extrusionOk="0">
                  <a:moveTo>
                    <a:pt x="2675" y="2008"/>
                  </a:moveTo>
                  <a:cubicBezTo>
                    <a:pt x="5525" y="685"/>
                    <a:pt x="8629" y="-1"/>
                    <a:pt x="11772" y="0"/>
                  </a:cubicBezTo>
                  <a:cubicBezTo>
                    <a:pt x="23701" y="0"/>
                    <a:pt x="33372" y="9670"/>
                    <a:pt x="33372" y="21600"/>
                  </a:cubicBezTo>
                  <a:cubicBezTo>
                    <a:pt x="33372" y="33529"/>
                    <a:pt x="23701" y="43200"/>
                    <a:pt x="11772" y="43200"/>
                  </a:cubicBezTo>
                  <a:cubicBezTo>
                    <a:pt x="7592" y="43200"/>
                    <a:pt x="3503" y="41987"/>
                    <a:pt x="-1" y="39710"/>
                  </a:cubicBezTo>
                </a:path>
                <a:path w="33372" h="43200" stroke="0" extrusionOk="0">
                  <a:moveTo>
                    <a:pt x="2675" y="2008"/>
                  </a:moveTo>
                  <a:cubicBezTo>
                    <a:pt x="5525" y="685"/>
                    <a:pt x="8629" y="-1"/>
                    <a:pt x="11772" y="0"/>
                  </a:cubicBezTo>
                  <a:cubicBezTo>
                    <a:pt x="23701" y="0"/>
                    <a:pt x="33372" y="9670"/>
                    <a:pt x="33372" y="21600"/>
                  </a:cubicBezTo>
                  <a:cubicBezTo>
                    <a:pt x="33372" y="33529"/>
                    <a:pt x="23701" y="43200"/>
                    <a:pt x="11772" y="43200"/>
                  </a:cubicBezTo>
                  <a:cubicBezTo>
                    <a:pt x="7592" y="43200"/>
                    <a:pt x="3503" y="41987"/>
                    <a:pt x="-1" y="39710"/>
                  </a:cubicBezTo>
                  <a:lnTo>
                    <a:pt x="11772" y="21600"/>
                  </a:lnTo>
                  <a:lnTo>
                    <a:pt x="2675" y="2008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5" name="Arc 645" descr="50%"/>
            <p:cNvSpPr>
              <a:spLocks/>
            </p:cNvSpPr>
            <p:nvPr/>
          </p:nvSpPr>
          <p:spPr bwMode="auto">
            <a:xfrm>
              <a:off x="2625" y="2785"/>
              <a:ext cx="3" cy="13"/>
            </a:xfrm>
            <a:custGeom>
              <a:avLst/>
              <a:gdLst>
                <a:gd name="T0" fmla="*/ 0 w 33372"/>
                <a:gd name="T1" fmla="*/ 1 h 43200"/>
                <a:gd name="T2" fmla="*/ 0 w 33372"/>
                <a:gd name="T3" fmla="*/ 12 h 43200"/>
                <a:gd name="T4" fmla="*/ 1 w 33372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372" h="43200" fill="none" extrusionOk="0">
                  <a:moveTo>
                    <a:pt x="2675" y="2008"/>
                  </a:moveTo>
                  <a:cubicBezTo>
                    <a:pt x="5525" y="685"/>
                    <a:pt x="8629" y="-1"/>
                    <a:pt x="11772" y="0"/>
                  </a:cubicBezTo>
                  <a:cubicBezTo>
                    <a:pt x="23701" y="0"/>
                    <a:pt x="33372" y="9670"/>
                    <a:pt x="33372" y="21600"/>
                  </a:cubicBezTo>
                  <a:cubicBezTo>
                    <a:pt x="33372" y="33529"/>
                    <a:pt x="23701" y="43200"/>
                    <a:pt x="11772" y="43200"/>
                  </a:cubicBezTo>
                  <a:cubicBezTo>
                    <a:pt x="7592" y="43200"/>
                    <a:pt x="3503" y="41987"/>
                    <a:pt x="-1" y="39710"/>
                  </a:cubicBezTo>
                </a:path>
                <a:path w="33372" h="43200" stroke="0" extrusionOk="0">
                  <a:moveTo>
                    <a:pt x="2675" y="2008"/>
                  </a:moveTo>
                  <a:cubicBezTo>
                    <a:pt x="5525" y="685"/>
                    <a:pt x="8629" y="-1"/>
                    <a:pt x="11772" y="0"/>
                  </a:cubicBezTo>
                  <a:cubicBezTo>
                    <a:pt x="23701" y="0"/>
                    <a:pt x="33372" y="9670"/>
                    <a:pt x="33372" y="21600"/>
                  </a:cubicBezTo>
                  <a:cubicBezTo>
                    <a:pt x="33372" y="33529"/>
                    <a:pt x="23701" y="43200"/>
                    <a:pt x="11772" y="43200"/>
                  </a:cubicBezTo>
                  <a:cubicBezTo>
                    <a:pt x="7592" y="43200"/>
                    <a:pt x="3503" y="41987"/>
                    <a:pt x="-1" y="39710"/>
                  </a:cubicBezTo>
                  <a:lnTo>
                    <a:pt x="11772" y="21600"/>
                  </a:lnTo>
                  <a:lnTo>
                    <a:pt x="2675" y="2008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6" name="Arc 646" descr="50%"/>
            <p:cNvSpPr>
              <a:spLocks/>
            </p:cNvSpPr>
            <p:nvPr/>
          </p:nvSpPr>
          <p:spPr bwMode="auto">
            <a:xfrm>
              <a:off x="2633" y="2785"/>
              <a:ext cx="2" cy="13"/>
            </a:xfrm>
            <a:custGeom>
              <a:avLst/>
              <a:gdLst>
                <a:gd name="T0" fmla="*/ 0 w 35746"/>
                <a:gd name="T1" fmla="*/ 1 h 43200"/>
                <a:gd name="T2" fmla="*/ 0 w 35746"/>
                <a:gd name="T3" fmla="*/ 11 h 43200"/>
                <a:gd name="T4" fmla="*/ 1 w 35746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746" h="43200" fill="none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</a:path>
                <a:path w="35746" h="43200" stroke="0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  <a:lnTo>
                    <a:pt x="14146" y="21600"/>
                  </a:lnTo>
                  <a:lnTo>
                    <a:pt x="2777" y="3234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7" name="Arc 647" descr="50%"/>
            <p:cNvSpPr>
              <a:spLocks/>
            </p:cNvSpPr>
            <p:nvPr/>
          </p:nvSpPr>
          <p:spPr bwMode="auto">
            <a:xfrm>
              <a:off x="2640" y="2785"/>
              <a:ext cx="2" cy="13"/>
            </a:xfrm>
            <a:custGeom>
              <a:avLst/>
              <a:gdLst>
                <a:gd name="T0" fmla="*/ 0 w 35746"/>
                <a:gd name="T1" fmla="*/ 1 h 43200"/>
                <a:gd name="T2" fmla="*/ 0 w 35746"/>
                <a:gd name="T3" fmla="*/ 11 h 43200"/>
                <a:gd name="T4" fmla="*/ 1 w 35746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746" h="43200" fill="none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</a:path>
                <a:path w="35746" h="43200" stroke="0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  <a:lnTo>
                    <a:pt x="14146" y="21600"/>
                  </a:lnTo>
                  <a:lnTo>
                    <a:pt x="2777" y="3234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583" name="Freeform 648" descr="50%"/>
          <p:cNvSpPr>
            <a:spLocks/>
          </p:cNvSpPr>
          <p:nvPr/>
        </p:nvSpPr>
        <p:spPr bwMode="auto">
          <a:xfrm>
            <a:off x="5087541" y="3969544"/>
            <a:ext cx="560784" cy="108347"/>
          </a:xfrm>
          <a:custGeom>
            <a:avLst/>
            <a:gdLst>
              <a:gd name="T0" fmla="*/ 15875 w 471"/>
              <a:gd name="T1" fmla="*/ 120650 h 91"/>
              <a:gd name="T2" fmla="*/ 50800 w 471"/>
              <a:gd name="T3" fmla="*/ 109538 h 91"/>
              <a:gd name="T4" fmla="*/ 100012 w 471"/>
              <a:gd name="T5" fmla="*/ 98425 h 91"/>
              <a:gd name="T6" fmla="*/ 149225 w 471"/>
              <a:gd name="T7" fmla="*/ 90488 h 91"/>
              <a:gd name="T8" fmla="*/ 198437 w 471"/>
              <a:gd name="T9" fmla="*/ 80963 h 91"/>
              <a:gd name="T10" fmla="*/ 225425 w 471"/>
              <a:gd name="T11" fmla="*/ 68263 h 91"/>
              <a:gd name="T12" fmla="*/ 249237 w 471"/>
              <a:gd name="T13" fmla="*/ 44450 h 91"/>
              <a:gd name="T14" fmla="*/ 285750 w 471"/>
              <a:gd name="T15" fmla="*/ 12700 h 91"/>
              <a:gd name="T16" fmla="*/ 311150 w 471"/>
              <a:gd name="T17" fmla="*/ 26988 h 91"/>
              <a:gd name="T18" fmla="*/ 322262 w 471"/>
              <a:gd name="T19" fmla="*/ 61913 h 91"/>
              <a:gd name="T20" fmla="*/ 339725 w 471"/>
              <a:gd name="T21" fmla="*/ 79375 h 91"/>
              <a:gd name="T22" fmla="*/ 401637 w 471"/>
              <a:gd name="T23" fmla="*/ 88900 h 91"/>
              <a:gd name="T24" fmla="*/ 447675 w 471"/>
              <a:gd name="T25" fmla="*/ 92075 h 91"/>
              <a:gd name="T26" fmla="*/ 503237 w 471"/>
              <a:gd name="T27" fmla="*/ 88900 h 91"/>
              <a:gd name="T28" fmla="*/ 525462 w 471"/>
              <a:gd name="T29" fmla="*/ 107950 h 91"/>
              <a:gd name="T30" fmla="*/ 569912 w 471"/>
              <a:gd name="T31" fmla="*/ 109538 h 91"/>
              <a:gd name="T32" fmla="*/ 619125 w 471"/>
              <a:gd name="T33" fmla="*/ 87313 h 91"/>
              <a:gd name="T34" fmla="*/ 658812 w 471"/>
              <a:gd name="T35" fmla="*/ 50800 h 91"/>
              <a:gd name="T36" fmla="*/ 690562 w 471"/>
              <a:gd name="T37" fmla="*/ 28575 h 91"/>
              <a:gd name="T38" fmla="*/ 717550 w 471"/>
              <a:gd name="T39" fmla="*/ 17463 h 91"/>
              <a:gd name="T40" fmla="*/ 741362 w 471"/>
              <a:gd name="T41" fmla="*/ 20638 h 91"/>
              <a:gd name="T42" fmla="*/ 722312 w 471"/>
              <a:gd name="T43" fmla="*/ 44450 h 91"/>
              <a:gd name="T44" fmla="*/ 696912 w 471"/>
              <a:gd name="T45" fmla="*/ 66675 h 91"/>
              <a:gd name="T46" fmla="*/ 682625 w 471"/>
              <a:gd name="T47" fmla="*/ 85725 h 91"/>
              <a:gd name="T48" fmla="*/ 671512 w 471"/>
              <a:gd name="T49" fmla="*/ 101600 h 91"/>
              <a:gd name="T50" fmla="*/ 668337 w 471"/>
              <a:gd name="T51" fmla="*/ 120650 h 91"/>
              <a:gd name="T52" fmla="*/ 647700 w 471"/>
              <a:gd name="T53" fmla="*/ 115888 h 91"/>
              <a:gd name="T54" fmla="*/ 627062 w 471"/>
              <a:gd name="T55" fmla="*/ 122238 h 91"/>
              <a:gd name="T56" fmla="*/ 606425 w 471"/>
              <a:gd name="T57" fmla="*/ 120650 h 91"/>
              <a:gd name="T58" fmla="*/ 581025 w 471"/>
              <a:gd name="T59" fmla="*/ 122238 h 91"/>
              <a:gd name="T60" fmla="*/ 555625 w 471"/>
              <a:gd name="T61" fmla="*/ 119063 h 91"/>
              <a:gd name="T62" fmla="*/ 527050 w 471"/>
              <a:gd name="T63" fmla="*/ 120650 h 91"/>
              <a:gd name="T64" fmla="*/ 498475 w 471"/>
              <a:gd name="T65" fmla="*/ 125413 h 91"/>
              <a:gd name="T66" fmla="*/ 469900 w 471"/>
              <a:gd name="T67" fmla="*/ 127000 h 91"/>
              <a:gd name="T68" fmla="*/ 441325 w 471"/>
              <a:gd name="T69" fmla="*/ 127000 h 91"/>
              <a:gd name="T70" fmla="*/ 415925 w 471"/>
              <a:gd name="T71" fmla="*/ 130175 h 91"/>
              <a:gd name="T72" fmla="*/ 388937 w 471"/>
              <a:gd name="T73" fmla="*/ 134938 h 91"/>
              <a:gd name="T74" fmla="*/ 355600 w 471"/>
              <a:gd name="T75" fmla="*/ 134938 h 91"/>
              <a:gd name="T76" fmla="*/ 327025 w 471"/>
              <a:gd name="T77" fmla="*/ 136525 h 91"/>
              <a:gd name="T78" fmla="*/ 298450 w 471"/>
              <a:gd name="T79" fmla="*/ 133350 h 91"/>
              <a:gd name="T80" fmla="*/ 271462 w 471"/>
              <a:gd name="T81" fmla="*/ 134938 h 91"/>
              <a:gd name="T82" fmla="*/ 247650 w 471"/>
              <a:gd name="T83" fmla="*/ 133350 h 91"/>
              <a:gd name="T84" fmla="*/ 220662 w 471"/>
              <a:gd name="T85" fmla="*/ 134938 h 91"/>
              <a:gd name="T86" fmla="*/ 190500 w 471"/>
              <a:gd name="T87" fmla="*/ 136525 h 91"/>
              <a:gd name="T88" fmla="*/ 152400 w 471"/>
              <a:gd name="T89" fmla="*/ 142875 h 91"/>
              <a:gd name="T90" fmla="*/ 109537 w 471"/>
              <a:gd name="T91" fmla="*/ 142875 h 91"/>
              <a:gd name="T92" fmla="*/ 73025 w 471"/>
              <a:gd name="T93" fmla="*/ 138113 h 91"/>
              <a:gd name="T94" fmla="*/ 39687 w 471"/>
              <a:gd name="T95" fmla="*/ 139700 h 91"/>
              <a:gd name="T96" fmla="*/ 7937 w 471"/>
              <a:gd name="T97" fmla="*/ 133350 h 9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471" h="91">
                <a:moveTo>
                  <a:pt x="0" y="82"/>
                </a:moveTo>
                <a:lnTo>
                  <a:pt x="3" y="80"/>
                </a:lnTo>
                <a:lnTo>
                  <a:pt x="6" y="78"/>
                </a:lnTo>
                <a:lnTo>
                  <a:pt x="10" y="76"/>
                </a:lnTo>
                <a:lnTo>
                  <a:pt x="14" y="75"/>
                </a:lnTo>
                <a:lnTo>
                  <a:pt x="19" y="73"/>
                </a:lnTo>
                <a:lnTo>
                  <a:pt x="27" y="72"/>
                </a:lnTo>
                <a:lnTo>
                  <a:pt x="32" y="69"/>
                </a:lnTo>
                <a:lnTo>
                  <a:pt x="39" y="67"/>
                </a:lnTo>
                <a:lnTo>
                  <a:pt x="47" y="65"/>
                </a:lnTo>
                <a:lnTo>
                  <a:pt x="55" y="63"/>
                </a:lnTo>
                <a:lnTo>
                  <a:pt x="63" y="62"/>
                </a:lnTo>
                <a:lnTo>
                  <a:pt x="71" y="61"/>
                </a:lnTo>
                <a:lnTo>
                  <a:pt x="79" y="60"/>
                </a:lnTo>
                <a:lnTo>
                  <a:pt x="87" y="58"/>
                </a:lnTo>
                <a:lnTo>
                  <a:pt x="94" y="57"/>
                </a:lnTo>
                <a:lnTo>
                  <a:pt x="101" y="55"/>
                </a:lnTo>
                <a:lnTo>
                  <a:pt x="110" y="54"/>
                </a:lnTo>
                <a:lnTo>
                  <a:pt x="117" y="52"/>
                </a:lnTo>
                <a:lnTo>
                  <a:pt x="125" y="51"/>
                </a:lnTo>
                <a:lnTo>
                  <a:pt x="130" y="50"/>
                </a:lnTo>
                <a:lnTo>
                  <a:pt x="135" y="49"/>
                </a:lnTo>
                <a:lnTo>
                  <a:pt x="139" y="46"/>
                </a:lnTo>
                <a:lnTo>
                  <a:pt x="142" y="43"/>
                </a:lnTo>
                <a:lnTo>
                  <a:pt x="145" y="40"/>
                </a:lnTo>
                <a:lnTo>
                  <a:pt x="147" y="38"/>
                </a:lnTo>
                <a:lnTo>
                  <a:pt x="152" y="33"/>
                </a:lnTo>
                <a:lnTo>
                  <a:pt x="157" y="28"/>
                </a:lnTo>
                <a:lnTo>
                  <a:pt x="162" y="23"/>
                </a:lnTo>
                <a:lnTo>
                  <a:pt x="168" y="18"/>
                </a:lnTo>
                <a:lnTo>
                  <a:pt x="173" y="13"/>
                </a:lnTo>
                <a:lnTo>
                  <a:pt x="180" y="8"/>
                </a:lnTo>
                <a:lnTo>
                  <a:pt x="186" y="4"/>
                </a:lnTo>
                <a:lnTo>
                  <a:pt x="191" y="0"/>
                </a:lnTo>
                <a:lnTo>
                  <a:pt x="193" y="8"/>
                </a:lnTo>
                <a:lnTo>
                  <a:pt x="196" y="17"/>
                </a:lnTo>
                <a:lnTo>
                  <a:pt x="199" y="24"/>
                </a:lnTo>
                <a:lnTo>
                  <a:pt x="201" y="32"/>
                </a:lnTo>
                <a:lnTo>
                  <a:pt x="202" y="36"/>
                </a:lnTo>
                <a:lnTo>
                  <a:pt x="203" y="39"/>
                </a:lnTo>
                <a:lnTo>
                  <a:pt x="202" y="43"/>
                </a:lnTo>
                <a:lnTo>
                  <a:pt x="199" y="47"/>
                </a:lnTo>
                <a:lnTo>
                  <a:pt x="206" y="49"/>
                </a:lnTo>
                <a:lnTo>
                  <a:pt x="214" y="50"/>
                </a:lnTo>
                <a:lnTo>
                  <a:pt x="224" y="51"/>
                </a:lnTo>
                <a:lnTo>
                  <a:pt x="234" y="53"/>
                </a:lnTo>
                <a:lnTo>
                  <a:pt x="245" y="55"/>
                </a:lnTo>
                <a:lnTo>
                  <a:pt x="253" y="56"/>
                </a:lnTo>
                <a:lnTo>
                  <a:pt x="262" y="58"/>
                </a:lnTo>
                <a:lnTo>
                  <a:pt x="269" y="59"/>
                </a:lnTo>
                <a:lnTo>
                  <a:pt x="276" y="59"/>
                </a:lnTo>
                <a:lnTo>
                  <a:pt x="282" y="58"/>
                </a:lnTo>
                <a:lnTo>
                  <a:pt x="288" y="55"/>
                </a:lnTo>
                <a:lnTo>
                  <a:pt x="293" y="51"/>
                </a:lnTo>
                <a:lnTo>
                  <a:pt x="305" y="53"/>
                </a:lnTo>
                <a:lnTo>
                  <a:pt x="317" y="56"/>
                </a:lnTo>
                <a:lnTo>
                  <a:pt x="326" y="58"/>
                </a:lnTo>
                <a:lnTo>
                  <a:pt x="321" y="64"/>
                </a:lnTo>
                <a:lnTo>
                  <a:pt x="325" y="66"/>
                </a:lnTo>
                <a:lnTo>
                  <a:pt x="331" y="68"/>
                </a:lnTo>
                <a:lnTo>
                  <a:pt x="338" y="69"/>
                </a:lnTo>
                <a:lnTo>
                  <a:pt x="345" y="70"/>
                </a:lnTo>
                <a:lnTo>
                  <a:pt x="352" y="70"/>
                </a:lnTo>
                <a:lnTo>
                  <a:pt x="359" y="69"/>
                </a:lnTo>
                <a:lnTo>
                  <a:pt x="366" y="68"/>
                </a:lnTo>
                <a:lnTo>
                  <a:pt x="374" y="65"/>
                </a:lnTo>
                <a:lnTo>
                  <a:pt x="382" y="61"/>
                </a:lnTo>
                <a:lnTo>
                  <a:pt x="390" y="55"/>
                </a:lnTo>
                <a:lnTo>
                  <a:pt x="397" y="49"/>
                </a:lnTo>
                <a:lnTo>
                  <a:pt x="405" y="41"/>
                </a:lnTo>
                <a:lnTo>
                  <a:pt x="409" y="38"/>
                </a:lnTo>
                <a:lnTo>
                  <a:pt x="415" y="32"/>
                </a:lnTo>
                <a:lnTo>
                  <a:pt x="420" y="28"/>
                </a:lnTo>
                <a:lnTo>
                  <a:pt x="425" y="25"/>
                </a:lnTo>
                <a:lnTo>
                  <a:pt x="430" y="21"/>
                </a:lnTo>
                <a:lnTo>
                  <a:pt x="435" y="18"/>
                </a:lnTo>
                <a:lnTo>
                  <a:pt x="440" y="17"/>
                </a:lnTo>
                <a:lnTo>
                  <a:pt x="443" y="14"/>
                </a:lnTo>
                <a:lnTo>
                  <a:pt x="447" y="13"/>
                </a:lnTo>
                <a:lnTo>
                  <a:pt x="452" y="11"/>
                </a:lnTo>
                <a:lnTo>
                  <a:pt x="456" y="11"/>
                </a:lnTo>
                <a:lnTo>
                  <a:pt x="462" y="10"/>
                </a:lnTo>
                <a:lnTo>
                  <a:pt x="470" y="10"/>
                </a:lnTo>
                <a:lnTo>
                  <a:pt x="467" y="13"/>
                </a:lnTo>
                <a:lnTo>
                  <a:pt x="463" y="17"/>
                </a:lnTo>
                <a:lnTo>
                  <a:pt x="461" y="19"/>
                </a:lnTo>
                <a:lnTo>
                  <a:pt x="458" y="24"/>
                </a:lnTo>
                <a:lnTo>
                  <a:pt x="455" y="28"/>
                </a:lnTo>
                <a:lnTo>
                  <a:pt x="450" y="32"/>
                </a:lnTo>
                <a:lnTo>
                  <a:pt x="444" y="37"/>
                </a:lnTo>
                <a:lnTo>
                  <a:pt x="441" y="39"/>
                </a:lnTo>
                <a:lnTo>
                  <a:pt x="439" y="42"/>
                </a:lnTo>
                <a:lnTo>
                  <a:pt x="436" y="46"/>
                </a:lnTo>
                <a:lnTo>
                  <a:pt x="434" y="49"/>
                </a:lnTo>
                <a:lnTo>
                  <a:pt x="432" y="51"/>
                </a:lnTo>
                <a:lnTo>
                  <a:pt x="430" y="54"/>
                </a:lnTo>
                <a:lnTo>
                  <a:pt x="428" y="57"/>
                </a:lnTo>
                <a:lnTo>
                  <a:pt x="426" y="60"/>
                </a:lnTo>
                <a:lnTo>
                  <a:pt x="425" y="62"/>
                </a:lnTo>
                <a:lnTo>
                  <a:pt x="423" y="64"/>
                </a:lnTo>
                <a:lnTo>
                  <a:pt x="422" y="68"/>
                </a:lnTo>
                <a:lnTo>
                  <a:pt x="422" y="70"/>
                </a:lnTo>
                <a:lnTo>
                  <a:pt x="421" y="73"/>
                </a:lnTo>
                <a:lnTo>
                  <a:pt x="421" y="76"/>
                </a:lnTo>
                <a:lnTo>
                  <a:pt x="418" y="74"/>
                </a:lnTo>
                <a:lnTo>
                  <a:pt x="414" y="73"/>
                </a:lnTo>
                <a:lnTo>
                  <a:pt x="411" y="73"/>
                </a:lnTo>
                <a:lnTo>
                  <a:pt x="408" y="73"/>
                </a:lnTo>
                <a:lnTo>
                  <a:pt x="404" y="74"/>
                </a:lnTo>
                <a:lnTo>
                  <a:pt x="402" y="76"/>
                </a:lnTo>
                <a:lnTo>
                  <a:pt x="399" y="76"/>
                </a:lnTo>
                <a:lnTo>
                  <a:pt x="395" y="77"/>
                </a:lnTo>
                <a:lnTo>
                  <a:pt x="392" y="78"/>
                </a:lnTo>
                <a:lnTo>
                  <a:pt x="388" y="77"/>
                </a:lnTo>
                <a:lnTo>
                  <a:pt x="384" y="77"/>
                </a:lnTo>
                <a:lnTo>
                  <a:pt x="382" y="76"/>
                </a:lnTo>
                <a:lnTo>
                  <a:pt x="379" y="75"/>
                </a:lnTo>
                <a:lnTo>
                  <a:pt x="375" y="75"/>
                </a:lnTo>
                <a:lnTo>
                  <a:pt x="371" y="76"/>
                </a:lnTo>
                <a:lnTo>
                  <a:pt x="366" y="77"/>
                </a:lnTo>
                <a:lnTo>
                  <a:pt x="363" y="76"/>
                </a:lnTo>
                <a:lnTo>
                  <a:pt x="359" y="76"/>
                </a:lnTo>
                <a:lnTo>
                  <a:pt x="355" y="75"/>
                </a:lnTo>
                <a:lnTo>
                  <a:pt x="350" y="75"/>
                </a:lnTo>
                <a:lnTo>
                  <a:pt x="347" y="76"/>
                </a:lnTo>
                <a:lnTo>
                  <a:pt x="341" y="77"/>
                </a:lnTo>
                <a:lnTo>
                  <a:pt x="337" y="77"/>
                </a:lnTo>
                <a:lnTo>
                  <a:pt x="332" y="76"/>
                </a:lnTo>
                <a:lnTo>
                  <a:pt x="328" y="76"/>
                </a:lnTo>
                <a:lnTo>
                  <a:pt x="323" y="77"/>
                </a:lnTo>
                <a:lnTo>
                  <a:pt x="320" y="78"/>
                </a:lnTo>
                <a:lnTo>
                  <a:pt x="314" y="79"/>
                </a:lnTo>
                <a:lnTo>
                  <a:pt x="310" y="80"/>
                </a:lnTo>
                <a:lnTo>
                  <a:pt x="305" y="80"/>
                </a:lnTo>
                <a:lnTo>
                  <a:pt x="301" y="80"/>
                </a:lnTo>
                <a:lnTo>
                  <a:pt x="296" y="80"/>
                </a:lnTo>
                <a:lnTo>
                  <a:pt x="291" y="78"/>
                </a:lnTo>
                <a:lnTo>
                  <a:pt x="286" y="80"/>
                </a:lnTo>
                <a:lnTo>
                  <a:pt x="282" y="80"/>
                </a:lnTo>
                <a:lnTo>
                  <a:pt x="278" y="80"/>
                </a:lnTo>
                <a:lnTo>
                  <a:pt x="274" y="80"/>
                </a:lnTo>
                <a:lnTo>
                  <a:pt x="270" y="80"/>
                </a:lnTo>
                <a:lnTo>
                  <a:pt x="266" y="80"/>
                </a:lnTo>
                <a:lnTo>
                  <a:pt x="262" y="82"/>
                </a:lnTo>
                <a:lnTo>
                  <a:pt x="259" y="83"/>
                </a:lnTo>
                <a:lnTo>
                  <a:pt x="254" y="84"/>
                </a:lnTo>
                <a:lnTo>
                  <a:pt x="250" y="84"/>
                </a:lnTo>
                <a:lnTo>
                  <a:pt x="245" y="85"/>
                </a:lnTo>
                <a:lnTo>
                  <a:pt x="240" y="86"/>
                </a:lnTo>
                <a:lnTo>
                  <a:pt x="234" y="85"/>
                </a:lnTo>
                <a:lnTo>
                  <a:pt x="228" y="85"/>
                </a:lnTo>
                <a:lnTo>
                  <a:pt x="224" y="85"/>
                </a:lnTo>
                <a:lnTo>
                  <a:pt x="218" y="86"/>
                </a:lnTo>
                <a:lnTo>
                  <a:pt x="214" y="86"/>
                </a:lnTo>
                <a:lnTo>
                  <a:pt x="210" y="86"/>
                </a:lnTo>
                <a:lnTo>
                  <a:pt x="206" y="86"/>
                </a:lnTo>
                <a:lnTo>
                  <a:pt x="201" y="86"/>
                </a:lnTo>
                <a:lnTo>
                  <a:pt x="196" y="84"/>
                </a:lnTo>
                <a:lnTo>
                  <a:pt x="192" y="84"/>
                </a:lnTo>
                <a:lnTo>
                  <a:pt x="188" y="84"/>
                </a:lnTo>
                <a:lnTo>
                  <a:pt x="184" y="84"/>
                </a:lnTo>
                <a:lnTo>
                  <a:pt x="180" y="84"/>
                </a:lnTo>
                <a:lnTo>
                  <a:pt x="175" y="84"/>
                </a:lnTo>
                <a:lnTo>
                  <a:pt x="171" y="85"/>
                </a:lnTo>
                <a:lnTo>
                  <a:pt x="167" y="85"/>
                </a:lnTo>
                <a:lnTo>
                  <a:pt x="164" y="84"/>
                </a:lnTo>
                <a:lnTo>
                  <a:pt x="160" y="84"/>
                </a:lnTo>
                <a:lnTo>
                  <a:pt x="156" y="84"/>
                </a:lnTo>
                <a:lnTo>
                  <a:pt x="152" y="84"/>
                </a:lnTo>
                <a:lnTo>
                  <a:pt x="149" y="84"/>
                </a:lnTo>
                <a:lnTo>
                  <a:pt x="145" y="84"/>
                </a:lnTo>
                <a:lnTo>
                  <a:pt x="139" y="85"/>
                </a:lnTo>
                <a:lnTo>
                  <a:pt x="135" y="85"/>
                </a:lnTo>
                <a:lnTo>
                  <a:pt x="130" y="84"/>
                </a:lnTo>
                <a:lnTo>
                  <a:pt x="125" y="85"/>
                </a:lnTo>
                <a:lnTo>
                  <a:pt x="120" y="86"/>
                </a:lnTo>
                <a:lnTo>
                  <a:pt x="116" y="88"/>
                </a:lnTo>
                <a:lnTo>
                  <a:pt x="111" y="89"/>
                </a:lnTo>
                <a:lnTo>
                  <a:pt x="104" y="90"/>
                </a:lnTo>
                <a:lnTo>
                  <a:pt x="96" y="90"/>
                </a:lnTo>
                <a:lnTo>
                  <a:pt x="89" y="90"/>
                </a:lnTo>
                <a:lnTo>
                  <a:pt x="82" y="90"/>
                </a:lnTo>
                <a:lnTo>
                  <a:pt x="74" y="90"/>
                </a:lnTo>
                <a:lnTo>
                  <a:pt x="69" y="90"/>
                </a:lnTo>
                <a:lnTo>
                  <a:pt x="65" y="90"/>
                </a:lnTo>
                <a:lnTo>
                  <a:pt x="60" y="90"/>
                </a:lnTo>
                <a:lnTo>
                  <a:pt x="54" y="90"/>
                </a:lnTo>
                <a:lnTo>
                  <a:pt x="46" y="87"/>
                </a:lnTo>
                <a:lnTo>
                  <a:pt x="40" y="87"/>
                </a:lnTo>
                <a:lnTo>
                  <a:pt x="35" y="88"/>
                </a:lnTo>
                <a:lnTo>
                  <a:pt x="29" y="88"/>
                </a:lnTo>
                <a:lnTo>
                  <a:pt x="25" y="88"/>
                </a:lnTo>
                <a:lnTo>
                  <a:pt x="20" y="87"/>
                </a:lnTo>
                <a:lnTo>
                  <a:pt x="15" y="86"/>
                </a:lnTo>
                <a:lnTo>
                  <a:pt x="10" y="85"/>
                </a:lnTo>
                <a:lnTo>
                  <a:pt x="5" y="84"/>
                </a:lnTo>
                <a:lnTo>
                  <a:pt x="0" y="83"/>
                </a:lnTo>
                <a:lnTo>
                  <a:pt x="0" y="82"/>
                </a:lnTo>
              </a:path>
            </a:pathLst>
          </a:custGeom>
          <a:pattFill prst="pct50">
            <a:fgClr>
              <a:schemeClr val="tx1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2584" name="Group 649"/>
          <p:cNvGrpSpPr>
            <a:grpSpLocks/>
          </p:cNvGrpSpPr>
          <p:nvPr/>
        </p:nvGrpSpPr>
        <p:grpSpPr bwMode="auto">
          <a:xfrm>
            <a:off x="5201841" y="4106466"/>
            <a:ext cx="82153" cy="60722"/>
            <a:chOff x="2642" y="2793"/>
            <a:chExt cx="69" cy="51"/>
          </a:xfrm>
        </p:grpSpPr>
        <p:sp>
          <p:nvSpPr>
            <p:cNvPr id="22601" name="Freeform 650" descr="50%"/>
            <p:cNvSpPr>
              <a:spLocks/>
            </p:cNvSpPr>
            <p:nvPr/>
          </p:nvSpPr>
          <p:spPr bwMode="auto">
            <a:xfrm>
              <a:off x="2642" y="2799"/>
              <a:ext cx="69" cy="45"/>
            </a:xfrm>
            <a:custGeom>
              <a:avLst/>
              <a:gdLst>
                <a:gd name="T0" fmla="*/ 64 w 69"/>
                <a:gd name="T1" fmla="*/ 39 h 45"/>
                <a:gd name="T2" fmla="*/ 60 w 69"/>
                <a:gd name="T3" fmla="*/ 35 h 45"/>
                <a:gd name="T4" fmla="*/ 58 w 69"/>
                <a:gd name="T5" fmla="*/ 33 h 45"/>
                <a:gd name="T6" fmla="*/ 56 w 69"/>
                <a:gd name="T7" fmla="*/ 31 h 45"/>
                <a:gd name="T8" fmla="*/ 54 w 69"/>
                <a:gd name="T9" fmla="*/ 28 h 45"/>
                <a:gd name="T10" fmla="*/ 52 w 69"/>
                <a:gd name="T11" fmla="*/ 26 h 45"/>
                <a:gd name="T12" fmla="*/ 50 w 69"/>
                <a:gd name="T13" fmla="*/ 23 h 45"/>
                <a:gd name="T14" fmla="*/ 48 w 69"/>
                <a:gd name="T15" fmla="*/ 21 h 45"/>
                <a:gd name="T16" fmla="*/ 47 w 69"/>
                <a:gd name="T17" fmla="*/ 17 h 45"/>
                <a:gd name="T18" fmla="*/ 46 w 69"/>
                <a:gd name="T19" fmla="*/ 14 h 45"/>
                <a:gd name="T20" fmla="*/ 45 w 69"/>
                <a:gd name="T21" fmla="*/ 11 h 45"/>
                <a:gd name="T22" fmla="*/ 44 w 69"/>
                <a:gd name="T23" fmla="*/ 8 h 45"/>
                <a:gd name="T24" fmla="*/ 44 w 69"/>
                <a:gd name="T25" fmla="*/ 4 h 45"/>
                <a:gd name="T26" fmla="*/ 44 w 69"/>
                <a:gd name="T27" fmla="*/ 0 h 45"/>
                <a:gd name="T28" fmla="*/ 0 w 69"/>
                <a:gd name="T29" fmla="*/ 0 h 45"/>
                <a:gd name="T30" fmla="*/ 1 w 69"/>
                <a:gd name="T31" fmla="*/ 3 h 45"/>
                <a:gd name="T32" fmla="*/ 3 w 69"/>
                <a:gd name="T33" fmla="*/ 6 h 45"/>
                <a:gd name="T34" fmla="*/ 5 w 69"/>
                <a:gd name="T35" fmla="*/ 9 h 45"/>
                <a:gd name="T36" fmla="*/ 8 w 69"/>
                <a:gd name="T37" fmla="*/ 12 h 45"/>
                <a:gd name="T38" fmla="*/ 11 w 69"/>
                <a:gd name="T39" fmla="*/ 16 h 45"/>
                <a:gd name="T40" fmla="*/ 14 w 69"/>
                <a:gd name="T41" fmla="*/ 19 h 45"/>
                <a:gd name="T42" fmla="*/ 18 w 69"/>
                <a:gd name="T43" fmla="*/ 22 h 45"/>
                <a:gd name="T44" fmla="*/ 21 w 69"/>
                <a:gd name="T45" fmla="*/ 25 h 45"/>
                <a:gd name="T46" fmla="*/ 25 w 69"/>
                <a:gd name="T47" fmla="*/ 28 h 45"/>
                <a:gd name="T48" fmla="*/ 30 w 69"/>
                <a:gd name="T49" fmla="*/ 32 h 45"/>
                <a:gd name="T50" fmla="*/ 34 w 69"/>
                <a:gd name="T51" fmla="*/ 34 h 45"/>
                <a:gd name="T52" fmla="*/ 38 w 69"/>
                <a:gd name="T53" fmla="*/ 36 h 45"/>
                <a:gd name="T54" fmla="*/ 41 w 69"/>
                <a:gd name="T55" fmla="*/ 38 h 45"/>
                <a:gd name="T56" fmla="*/ 45 w 69"/>
                <a:gd name="T57" fmla="*/ 39 h 45"/>
                <a:gd name="T58" fmla="*/ 49 w 69"/>
                <a:gd name="T59" fmla="*/ 41 h 45"/>
                <a:gd name="T60" fmla="*/ 53 w 69"/>
                <a:gd name="T61" fmla="*/ 42 h 45"/>
                <a:gd name="T62" fmla="*/ 58 w 69"/>
                <a:gd name="T63" fmla="*/ 43 h 45"/>
                <a:gd name="T64" fmla="*/ 62 w 69"/>
                <a:gd name="T65" fmla="*/ 43 h 45"/>
                <a:gd name="T66" fmla="*/ 65 w 69"/>
                <a:gd name="T67" fmla="*/ 43 h 45"/>
                <a:gd name="T68" fmla="*/ 68 w 69"/>
                <a:gd name="T69" fmla="*/ 44 h 45"/>
                <a:gd name="T70" fmla="*/ 64 w 69"/>
                <a:gd name="T71" fmla="*/ 39 h 4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9" h="45">
                  <a:moveTo>
                    <a:pt x="64" y="39"/>
                  </a:moveTo>
                  <a:lnTo>
                    <a:pt x="60" y="35"/>
                  </a:lnTo>
                  <a:lnTo>
                    <a:pt x="58" y="33"/>
                  </a:lnTo>
                  <a:lnTo>
                    <a:pt x="56" y="31"/>
                  </a:lnTo>
                  <a:lnTo>
                    <a:pt x="54" y="28"/>
                  </a:lnTo>
                  <a:lnTo>
                    <a:pt x="52" y="26"/>
                  </a:lnTo>
                  <a:lnTo>
                    <a:pt x="50" y="23"/>
                  </a:lnTo>
                  <a:lnTo>
                    <a:pt x="48" y="21"/>
                  </a:lnTo>
                  <a:lnTo>
                    <a:pt x="47" y="17"/>
                  </a:lnTo>
                  <a:lnTo>
                    <a:pt x="46" y="14"/>
                  </a:lnTo>
                  <a:lnTo>
                    <a:pt x="45" y="11"/>
                  </a:lnTo>
                  <a:lnTo>
                    <a:pt x="44" y="8"/>
                  </a:lnTo>
                  <a:lnTo>
                    <a:pt x="44" y="4"/>
                  </a:lnTo>
                  <a:lnTo>
                    <a:pt x="44" y="0"/>
                  </a:lnTo>
                  <a:lnTo>
                    <a:pt x="0" y="0"/>
                  </a:lnTo>
                  <a:lnTo>
                    <a:pt x="1" y="3"/>
                  </a:lnTo>
                  <a:lnTo>
                    <a:pt x="3" y="6"/>
                  </a:lnTo>
                  <a:lnTo>
                    <a:pt x="5" y="9"/>
                  </a:lnTo>
                  <a:lnTo>
                    <a:pt x="8" y="12"/>
                  </a:lnTo>
                  <a:lnTo>
                    <a:pt x="11" y="16"/>
                  </a:lnTo>
                  <a:lnTo>
                    <a:pt x="14" y="19"/>
                  </a:lnTo>
                  <a:lnTo>
                    <a:pt x="18" y="22"/>
                  </a:lnTo>
                  <a:lnTo>
                    <a:pt x="21" y="25"/>
                  </a:lnTo>
                  <a:lnTo>
                    <a:pt x="25" y="28"/>
                  </a:lnTo>
                  <a:lnTo>
                    <a:pt x="30" y="32"/>
                  </a:lnTo>
                  <a:lnTo>
                    <a:pt x="34" y="34"/>
                  </a:lnTo>
                  <a:lnTo>
                    <a:pt x="38" y="36"/>
                  </a:lnTo>
                  <a:lnTo>
                    <a:pt x="41" y="38"/>
                  </a:lnTo>
                  <a:lnTo>
                    <a:pt x="45" y="39"/>
                  </a:lnTo>
                  <a:lnTo>
                    <a:pt x="49" y="41"/>
                  </a:lnTo>
                  <a:lnTo>
                    <a:pt x="53" y="42"/>
                  </a:lnTo>
                  <a:lnTo>
                    <a:pt x="58" y="43"/>
                  </a:lnTo>
                  <a:lnTo>
                    <a:pt x="62" y="43"/>
                  </a:lnTo>
                  <a:lnTo>
                    <a:pt x="65" y="43"/>
                  </a:lnTo>
                  <a:lnTo>
                    <a:pt x="68" y="44"/>
                  </a:lnTo>
                  <a:lnTo>
                    <a:pt x="64" y="39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02" name="Freeform 651" descr="50%"/>
            <p:cNvSpPr>
              <a:spLocks/>
            </p:cNvSpPr>
            <p:nvPr/>
          </p:nvSpPr>
          <p:spPr bwMode="auto">
            <a:xfrm>
              <a:off x="2643" y="2793"/>
              <a:ext cx="36" cy="6"/>
            </a:xfrm>
            <a:custGeom>
              <a:avLst/>
              <a:gdLst>
                <a:gd name="T0" fmla="*/ 0 w 36"/>
                <a:gd name="T1" fmla="*/ 5 h 6"/>
                <a:gd name="T2" fmla="*/ 0 w 36"/>
                <a:gd name="T3" fmla="*/ 3 h 6"/>
                <a:gd name="T4" fmla="*/ 1 w 36"/>
                <a:gd name="T5" fmla="*/ 0 h 6"/>
                <a:gd name="T6" fmla="*/ 35 w 36"/>
                <a:gd name="T7" fmla="*/ 0 h 6"/>
                <a:gd name="T8" fmla="*/ 35 w 36"/>
                <a:gd name="T9" fmla="*/ 5 h 6"/>
                <a:gd name="T10" fmla="*/ 0 w 36"/>
                <a:gd name="T11" fmla="*/ 5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6">
                  <a:moveTo>
                    <a:pt x="0" y="5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35" y="0"/>
                  </a:lnTo>
                  <a:lnTo>
                    <a:pt x="35" y="5"/>
                  </a:lnTo>
                  <a:lnTo>
                    <a:pt x="0" y="5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85" name="Freeform 652" descr="50%"/>
          <p:cNvSpPr>
            <a:spLocks/>
          </p:cNvSpPr>
          <p:nvPr/>
        </p:nvSpPr>
        <p:spPr bwMode="auto">
          <a:xfrm>
            <a:off x="5859067" y="4096941"/>
            <a:ext cx="69056" cy="54769"/>
          </a:xfrm>
          <a:custGeom>
            <a:avLst/>
            <a:gdLst>
              <a:gd name="T0" fmla="*/ 0 w 58"/>
              <a:gd name="T1" fmla="*/ 0 h 46"/>
              <a:gd name="T2" fmla="*/ 3175 w 58"/>
              <a:gd name="T3" fmla="*/ 7938 h 46"/>
              <a:gd name="T4" fmla="*/ 7938 w 58"/>
              <a:gd name="T5" fmla="*/ 14288 h 46"/>
              <a:gd name="T6" fmla="*/ 14288 w 58"/>
              <a:gd name="T7" fmla="*/ 22225 h 46"/>
              <a:gd name="T8" fmla="*/ 19050 w 58"/>
              <a:gd name="T9" fmla="*/ 28575 h 46"/>
              <a:gd name="T10" fmla="*/ 25400 w 58"/>
              <a:gd name="T11" fmla="*/ 36513 h 46"/>
              <a:gd name="T12" fmla="*/ 33338 w 58"/>
              <a:gd name="T13" fmla="*/ 44450 h 46"/>
              <a:gd name="T14" fmla="*/ 38100 w 58"/>
              <a:gd name="T15" fmla="*/ 50800 h 46"/>
              <a:gd name="T16" fmla="*/ 44450 w 58"/>
              <a:gd name="T17" fmla="*/ 55563 h 46"/>
              <a:gd name="T18" fmla="*/ 50800 w 58"/>
              <a:gd name="T19" fmla="*/ 60325 h 46"/>
              <a:gd name="T20" fmla="*/ 57150 w 58"/>
              <a:gd name="T21" fmla="*/ 63500 h 46"/>
              <a:gd name="T22" fmla="*/ 65088 w 58"/>
              <a:gd name="T23" fmla="*/ 66675 h 46"/>
              <a:gd name="T24" fmla="*/ 71438 w 58"/>
              <a:gd name="T25" fmla="*/ 69850 h 46"/>
              <a:gd name="T26" fmla="*/ 79375 w 58"/>
              <a:gd name="T27" fmla="*/ 71438 h 46"/>
              <a:gd name="T28" fmla="*/ 85725 w 58"/>
              <a:gd name="T29" fmla="*/ 71438 h 46"/>
              <a:gd name="T30" fmla="*/ 90488 w 58"/>
              <a:gd name="T31" fmla="*/ 69850 h 46"/>
              <a:gd name="T32" fmla="*/ 85725 w 58"/>
              <a:gd name="T33" fmla="*/ 65088 h 46"/>
              <a:gd name="T34" fmla="*/ 80963 w 58"/>
              <a:gd name="T35" fmla="*/ 58738 h 46"/>
              <a:gd name="T36" fmla="*/ 76200 w 58"/>
              <a:gd name="T37" fmla="*/ 52388 h 46"/>
              <a:gd name="T38" fmla="*/ 71438 w 58"/>
              <a:gd name="T39" fmla="*/ 46038 h 46"/>
              <a:gd name="T40" fmla="*/ 66675 w 58"/>
              <a:gd name="T41" fmla="*/ 38100 h 46"/>
              <a:gd name="T42" fmla="*/ 63500 w 58"/>
              <a:gd name="T43" fmla="*/ 31750 h 46"/>
              <a:gd name="T44" fmla="*/ 60325 w 58"/>
              <a:gd name="T45" fmla="*/ 25400 h 46"/>
              <a:gd name="T46" fmla="*/ 58738 w 58"/>
              <a:gd name="T47" fmla="*/ 15875 h 46"/>
              <a:gd name="T48" fmla="*/ 58738 w 58"/>
              <a:gd name="T49" fmla="*/ 7938 h 46"/>
              <a:gd name="T50" fmla="*/ 58738 w 58"/>
              <a:gd name="T51" fmla="*/ 1588 h 46"/>
              <a:gd name="T52" fmla="*/ 0 w 58"/>
              <a:gd name="T53" fmla="*/ 0 h 4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58" h="46">
                <a:moveTo>
                  <a:pt x="0" y="0"/>
                </a:moveTo>
                <a:lnTo>
                  <a:pt x="2" y="5"/>
                </a:lnTo>
                <a:lnTo>
                  <a:pt x="5" y="9"/>
                </a:lnTo>
                <a:lnTo>
                  <a:pt x="9" y="14"/>
                </a:lnTo>
                <a:lnTo>
                  <a:pt x="12" y="18"/>
                </a:lnTo>
                <a:lnTo>
                  <a:pt x="16" y="23"/>
                </a:lnTo>
                <a:lnTo>
                  <a:pt x="21" y="28"/>
                </a:lnTo>
                <a:lnTo>
                  <a:pt x="24" y="32"/>
                </a:lnTo>
                <a:lnTo>
                  <a:pt x="28" y="35"/>
                </a:lnTo>
                <a:lnTo>
                  <a:pt x="32" y="38"/>
                </a:lnTo>
                <a:lnTo>
                  <a:pt x="36" y="40"/>
                </a:lnTo>
                <a:lnTo>
                  <a:pt x="41" y="42"/>
                </a:lnTo>
                <a:lnTo>
                  <a:pt x="45" y="44"/>
                </a:lnTo>
                <a:lnTo>
                  <a:pt x="50" y="45"/>
                </a:lnTo>
                <a:lnTo>
                  <a:pt x="54" y="45"/>
                </a:lnTo>
                <a:lnTo>
                  <a:pt x="57" y="44"/>
                </a:lnTo>
                <a:lnTo>
                  <a:pt x="54" y="41"/>
                </a:lnTo>
                <a:lnTo>
                  <a:pt x="51" y="37"/>
                </a:lnTo>
                <a:lnTo>
                  <a:pt x="48" y="33"/>
                </a:lnTo>
                <a:lnTo>
                  <a:pt x="45" y="29"/>
                </a:lnTo>
                <a:lnTo>
                  <a:pt x="42" y="24"/>
                </a:lnTo>
                <a:lnTo>
                  <a:pt x="40" y="20"/>
                </a:lnTo>
                <a:lnTo>
                  <a:pt x="38" y="16"/>
                </a:lnTo>
                <a:lnTo>
                  <a:pt x="37" y="10"/>
                </a:lnTo>
                <a:lnTo>
                  <a:pt x="37" y="5"/>
                </a:lnTo>
                <a:lnTo>
                  <a:pt x="37" y="1"/>
                </a:lnTo>
                <a:lnTo>
                  <a:pt x="0" y="0"/>
                </a:lnTo>
              </a:path>
            </a:pathLst>
          </a:custGeom>
          <a:pattFill prst="pct50">
            <a:fgClr>
              <a:schemeClr val="tx1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86" name="Freeform 653" descr="50%"/>
          <p:cNvSpPr>
            <a:spLocks/>
          </p:cNvSpPr>
          <p:nvPr/>
        </p:nvSpPr>
        <p:spPr bwMode="auto">
          <a:xfrm>
            <a:off x="5715000" y="3968354"/>
            <a:ext cx="572691" cy="172640"/>
          </a:xfrm>
          <a:custGeom>
            <a:avLst/>
            <a:gdLst>
              <a:gd name="T0" fmla="*/ 7938 w 481"/>
              <a:gd name="T1" fmla="*/ 134937 h 145"/>
              <a:gd name="T2" fmla="*/ 31750 w 481"/>
              <a:gd name="T3" fmla="*/ 127000 h 145"/>
              <a:gd name="T4" fmla="*/ 66675 w 481"/>
              <a:gd name="T5" fmla="*/ 115887 h 145"/>
              <a:gd name="T6" fmla="*/ 103188 w 481"/>
              <a:gd name="T7" fmla="*/ 107950 h 145"/>
              <a:gd name="T8" fmla="*/ 141288 w 481"/>
              <a:gd name="T9" fmla="*/ 100012 h 145"/>
              <a:gd name="T10" fmla="*/ 177800 w 481"/>
              <a:gd name="T11" fmla="*/ 92075 h 145"/>
              <a:gd name="T12" fmla="*/ 209550 w 481"/>
              <a:gd name="T13" fmla="*/ 85725 h 145"/>
              <a:gd name="T14" fmla="*/ 227013 w 481"/>
              <a:gd name="T15" fmla="*/ 76200 h 145"/>
              <a:gd name="T16" fmla="*/ 246063 w 481"/>
              <a:gd name="T17" fmla="*/ 58737 h 145"/>
              <a:gd name="T18" fmla="*/ 271463 w 481"/>
              <a:gd name="T19" fmla="*/ 31750 h 145"/>
              <a:gd name="T20" fmla="*/ 298450 w 481"/>
              <a:gd name="T21" fmla="*/ 7937 h 145"/>
              <a:gd name="T22" fmla="*/ 317500 w 481"/>
              <a:gd name="T23" fmla="*/ 26987 h 145"/>
              <a:gd name="T24" fmla="*/ 328613 w 481"/>
              <a:gd name="T25" fmla="*/ 68262 h 145"/>
              <a:gd name="T26" fmla="*/ 334963 w 481"/>
              <a:gd name="T27" fmla="*/ 84137 h 145"/>
              <a:gd name="T28" fmla="*/ 379413 w 481"/>
              <a:gd name="T29" fmla="*/ 90487 h 145"/>
              <a:gd name="T30" fmla="*/ 423863 w 481"/>
              <a:gd name="T31" fmla="*/ 100012 h 145"/>
              <a:gd name="T32" fmla="*/ 457200 w 481"/>
              <a:gd name="T33" fmla="*/ 100012 h 145"/>
              <a:gd name="T34" fmla="*/ 492125 w 481"/>
              <a:gd name="T35" fmla="*/ 92075 h 145"/>
              <a:gd name="T36" fmla="*/ 519113 w 481"/>
              <a:gd name="T37" fmla="*/ 111125 h 145"/>
              <a:gd name="T38" fmla="*/ 546100 w 481"/>
              <a:gd name="T39" fmla="*/ 119062 h 145"/>
              <a:gd name="T40" fmla="*/ 579438 w 481"/>
              <a:gd name="T41" fmla="*/ 119062 h 145"/>
              <a:gd name="T42" fmla="*/ 615950 w 481"/>
              <a:gd name="T43" fmla="*/ 104775 h 145"/>
              <a:gd name="T44" fmla="*/ 655638 w 481"/>
              <a:gd name="T45" fmla="*/ 71437 h 145"/>
              <a:gd name="T46" fmla="*/ 701675 w 481"/>
              <a:gd name="T47" fmla="*/ 31750 h 145"/>
              <a:gd name="T48" fmla="*/ 747713 w 481"/>
              <a:gd name="T49" fmla="*/ 17462 h 145"/>
              <a:gd name="T50" fmla="*/ 749300 w 481"/>
              <a:gd name="T51" fmla="*/ 30162 h 145"/>
              <a:gd name="T52" fmla="*/ 727075 w 481"/>
              <a:gd name="T53" fmla="*/ 58737 h 145"/>
              <a:gd name="T54" fmla="*/ 701675 w 481"/>
              <a:gd name="T55" fmla="*/ 85725 h 145"/>
              <a:gd name="T56" fmla="*/ 684213 w 481"/>
              <a:gd name="T57" fmla="*/ 112712 h 145"/>
              <a:gd name="T58" fmla="*/ 684213 w 481"/>
              <a:gd name="T59" fmla="*/ 141287 h 145"/>
              <a:gd name="T60" fmla="*/ 703263 w 481"/>
              <a:gd name="T61" fmla="*/ 171450 h 145"/>
              <a:gd name="T62" fmla="*/ 725488 w 481"/>
              <a:gd name="T63" fmla="*/ 193675 h 145"/>
              <a:gd name="T64" fmla="*/ 746125 w 481"/>
              <a:gd name="T65" fmla="*/ 211137 h 145"/>
              <a:gd name="T66" fmla="*/ 747713 w 481"/>
              <a:gd name="T67" fmla="*/ 219075 h 145"/>
              <a:gd name="T68" fmla="*/ 719138 w 481"/>
              <a:gd name="T69" fmla="*/ 219075 h 145"/>
              <a:gd name="T70" fmla="*/ 693738 w 481"/>
              <a:gd name="T71" fmla="*/ 212725 h 145"/>
              <a:gd name="T72" fmla="*/ 668338 w 481"/>
              <a:gd name="T73" fmla="*/ 200025 h 145"/>
              <a:gd name="T74" fmla="*/ 628650 w 481"/>
              <a:gd name="T75" fmla="*/ 173037 h 145"/>
              <a:gd name="T76" fmla="*/ 579438 w 481"/>
              <a:gd name="T77" fmla="*/ 169862 h 145"/>
              <a:gd name="T78" fmla="*/ 520700 w 481"/>
              <a:gd name="T79" fmla="*/ 176212 h 145"/>
              <a:gd name="T80" fmla="*/ 482600 w 481"/>
              <a:gd name="T81" fmla="*/ 192087 h 145"/>
              <a:gd name="T82" fmla="*/ 469900 w 481"/>
              <a:gd name="T83" fmla="*/ 209550 h 145"/>
              <a:gd name="T84" fmla="*/ 417513 w 481"/>
              <a:gd name="T85" fmla="*/ 207962 h 145"/>
              <a:gd name="T86" fmla="*/ 373063 w 481"/>
              <a:gd name="T87" fmla="*/ 222250 h 145"/>
              <a:gd name="T88" fmla="*/ 206375 w 481"/>
              <a:gd name="T89" fmla="*/ 228600 h 145"/>
              <a:gd name="T90" fmla="*/ 111125 w 481"/>
              <a:gd name="T91" fmla="*/ 219075 h 145"/>
              <a:gd name="T92" fmla="*/ 26988 w 481"/>
              <a:gd name="T93" fmla="*/ 190500 h 145"/>
              <a:gd name="T94" fmla="*/ 26988 w 481"/>
              <a:gd name="T95" fmla="*/ 174625 h 145"/>
              <a:gd name="T96" fmla="*/ 7938 w 481"/>
              <a:gd name="T97" fmla="*/ 157162 h 145"/>
              <a:gd name="T98" fmla="*/ 1588 w 481"/>
              <a:gd name="T99" fmla="*/ 146050 h 145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481" h="145">
                <a:moveTo>
                  <a:pt x="0" y="89"/>
                </a:moveTo>
                <a:lnTo>
                  <a:pt x="2" y="88"/>
                </a:lnTo>
                <a:lnTo>
                  <a:pt x="5" y="85"/>
                </a:lnTo>
                <a:lnTo>
                  <a:pt x="11" y="83"/>
                </a:lnTo>
                <a:lnTo>
                  <a:pt x="15" y="82"/>
                </a:lnTo>
                <a:lnTo>
                  <a:pt x="20" y="80"/>
                </a:lnTo>
                <a:lnTo>
                  <a:pt x="27" y="77"/>
                </a:lnTo>
                <a:lnTo>
                  <a:pt x="35" y="75"/>
                </a:lnTo>
                <a:lnTo>
                  <a:pt x="42" y="73"/>
                </a:lnTo>
                <a:lnTo>
                  <a:pt x="49" y="71"/>
                </a:lnTo>
                <a:lnTo>
                  <a:pt x="57" y="69"/>
                </a:lnTo>
                <a:lnTo>
                  <a:pt x="65" y="68"/>
                </a:lnTo>
                <a:lnTo>
                  <a:pt x="74" y="66"/>
                </a:lnTo>
                <a:lnTo>
                  <a:pt x="81" y="64"/>
                </a:lnTo>
                <a:lnTo>
                  <a:pt x="89" y="63"/>
                </a:lnTo>
                <a:lnTo>
                  <a:pt x="95" y="62"/>
                </a:lnTo>
                <a:lnTo>
                  <a:pt x="105" y="60"/>
                </a:lnTo>
                <a:lnTo>
                  <a:pt x="112" y="58"/>
                </a:lnTo>
                <a:lnTo>
                  <a:pt x="120" y="57"/>
                </a:lnTo>
                <a:lnTo>
                  <a:pt x="126" y="56"/>
                </a:lnTo>
                <a:lnTo>
                  <a:pt x="132" y="54"/>
                </a:lnTo>
                <a:lnTo>
                  <a:pt x="137" y="52"/>
                </a:lnTo>
                <a:lnTo>
                  <a:pt x="140" y="51"/>
                </a:lnTo>
                <a:lnTo>
                  <a:pt x="143" y="48"/>
                </a:lnTo>
                <a:lnTo>
                  <a:pt x="147" y="45"/>
                </a:lnTo>
                <a:lnTo>
                  <a:pt x="150" y="41"/>
                </a:lnTo>
                <a:lnTo>
                  <a:pt x="155" y="37"/>
                </a:lnTo>
                <a:lnTo>
                  <a:pt x="160" y="31"/>
                </a:lnTo>
                <a:lnTo>
                  <a:pt x="165" y="25"/>
                </a:lnTo>
                <a:lnTo>
                  <a:pt x="171" y="20"/>
                </a:lnTo>
                <a:lnTo>
                  <a:pt x="176" y="14"/>
                </a:lnTo>
                <a:lnTo>
                  <a:pt x="182" y="10"/>
                </a:lnTo>
                <a:lnTo>
                  <a:pt x="188" y="5"/>
                </a:lnTo>
                <a:lnTo>
                  <a:pt x="195" y="0"/>
                </a:lnTo>
                <a:lnTo>
                  <a:pt x="197" y="9"/>
                </a:lnTo>
                <a:lnTo>
                  <a:pt x="200" y="17"/>
                </a:lnTo>
                <a:lnTo>
                  <a:pt x="203" y="26"/>
                </a:lnTo>
                <a:lnTo>
                  <a:pt x="205" y="35"/>
                </a:lnTo>
                <a:lnTo>
                  <a:pt x="207" y="43"/>
                </a:lnTo>
                <a:lnTo>
                  <a:pt x="206" y="47"/>
                </a:lnTo>
                <a:lnTo>
                  <a:pt x="203" y="51"/>
                </a:lnTo>
                <a:lnTo>
                  <a:pt x="211" y="53"/>
                </a:lnTo>
                <a:lnTo>
                  <a:pt x="218" y="54"/>
                </a:lnTo>
                <a:lnTo>
                  <a:pt x="228" y="56"/>
                </a:lnTo>
                <a:lnTo>
                  <a:pt x="239" y="57"/>
                </a:lnTo>
                <a:lnTo>
                  <a:pt x="249" y="60"/>
                </a:lnTo>
                <a:lnTo>
                  <a:pt x="258" y="61"/>
                </a:lnTo>
                <a:lnTo>
                  <a:pt x="267" y="63"/>
                </a:lnTo>
                <a:lnTo>
                  <a:pt x="275" y="64"/>
                </a:lnTo>
                <a:lnTo>
                  <a:pt x="282" y="64"/>
                </a:lnTo>
                <a:lnTo>
                  <a:pt x="288" y="63"/>
                </a:lnTo>
                <a:lnTo>
                  <a:pt x="293" y="60"/>
                </a:lnTo>
                <a:lnTo>
                  <a:pt x="298" y="56"/>
                </a:lnTo>
                <a:lnTo>
                  <a:pt x="310" y="58"/>
                </a:lnTo>
                <a:lnTo>
                  <a:pt x="323" y="61"/>
                </a:lnTo>
                <a:lnTo>
                  <a:pt x="334" y="63"/>
                </a:lnTo>
                <a:lnTo>
                  <a:pt x="327" y="70"/>
                </a:lnTo>
                <a:lnTo>
                  <a:pt x="331" y="72"/>
                </a:lnTo>
                <a:lnTo>
                  <a:pt x="337" y="74"/>
                </a:lnTo>
                <a:lnTo>
                  <a:pt x="344" y="75"/>
                </a:lnTo>
                <a:lnTo>
                  <a:pt x="351" y="76"/>
                </a:lnTo>
                <a:lnTo>
                  <a:pt x="358" y="76"/>
                </a:lnTo>
                <a:lnTo>
                  <a:pt x="365" y="75"/>
                </a:lnTo>
                <a:lnTo>
                  <a:pt x="373" y="73"/>
                </a:lnTo>
                <a:lnTo>
                  <a:pt x="381" y="71"/>
                </a:lnTo>
                <a:lnTo>
                  <a:pt x="388" y="66"/>
                </a:lnTo>
                <a:lnTo>
                  <a:pt x="397" y="60"/>
                </a:lnTo>
                <a:lnTo>
                  <a:pt x="404" y="54"/>
                </a:lnTo>
                <a:lnTo>
                  <a:pt x="413" y="45"/>
                </a:lnTo>
                <a:lnTo>
                  <a:pt x="422" y="35"/>
                </a:lnTo>
                <a:lnTo>
                  <a:pt x="433" y="27"/>
                </a:lnTo>
                <a:lnTo>
                  <a:pt x="442" y="20"/>
                </a:lnTo>
                <a:lnTo>
                  <a:pt x="451" y="15"/>
                </a:lnTo>
                <a:lnTo>
                  <a:pt x="460" y="12"/>
                </a:lnTo>
                <a:lnTo>
                  <a:pt x="471" y="11"/>
                </a:lnTo>
                <a:lnTo>
                  <a:pt x="480" y="11"/>
                </a:lnTo>
                <a:lnTo>
                  <a:pt x="475" y="15"/>
                </a:lnTo>
                <a:lnTo>
                  <a:pt x="472" y="19"/>
                </a:lnTo>
                <a:lnTo>
                  <a:pt x="470" y="22"/>
                </a:lnTo>
                <a:lnTo>
                  <a:pt x="463" y="32"/>
                </a:lnTo>
                <a:lnTo>
                  <a:pt x="458" y="37"/>
                </a:lnTo>
                <a:lnTo>
                  <a:pt x="452" y="42"/>
                </a:lnTo>
                <a:lnTo>
                  <a:pt x="446" y="48"/>
                </a:lnTo>
                <a:lnTo>
                  <a:pt x="442" y="54"/>
                </a:lnTo>
                <a:lnTo>
                  <a:pt x="438" y="60"/>
                </a:lnTo>
                <a:lnTo>
                  <a:pt x="434" y="66"/>
                </a:lnTo>
                <a:lnTo>
                  <a:pt x="431" y="71"/>
                </a:lnTo>
                <a:lnTo>
                  <a:pt x="430" y="77"/>
                </a:lnTo>
                <a:lnTo>
                  <a:pt x="429" y="83"/>
                </a:lnTo>
                <a:lnTo>
                  <a:pt x="431" y="89"/>
                </a:lnTo>
                <a:lnTo>
                  <a:pt x="434" y="96"/>
                </a:lnTo>
                <a:lnTo>
                  <a:pt x="438" y="102"/>
                </a:lnTo>
                <a:lnTo>
                  <a:pt x="443" y="108"/>
                </a:lnTo>
                <a:lnTo>
                  <a:pt x="447" y="112"/>
                </a:lnTo>
                <a:lnTo>
                  <a:pt x="452" y="116"/>
                </a:lnTo>
                <a:lnTo>
                  <a:pt x="457" y="122"/>
                </a:lnTo>
                <a:lnTo>
                  <a:pt x="463" y="127"/>
                </a:lnTo>
                <a:lnTo>
                  <a:pt x="467" y="130"/>
                </a:lnTo>
                <a:lnTo>
                  <a:pt x="470" y="133"/>
                </a:lnTo>
                <a:lnTo>
                  <a:pt x="474" y="135"/>
                </a:lnTo>
                <a:lnTo>
                  <a:pt x="476" y="138"/>
                </a:lnTo>
                <a:lnTo>
                  <a:pt x="471" y="138"/>
                </a:lnTo>
                <a:lnTo>
                  <a:pt x="464" y="138"/>
                </a:lnTo>
                <a:lnTo>
                  <a:pt x="458" y="138"/>
                </a:lnTo>
                <a:lnTo>
                  <a:pt x="453" y="138"/>
                </a:lnTo>
                <a:lnTo>
                  <a:pt x="446" y="137"/>
                </a:lnTo>
                <a:lnTo>
                  <a:pt x="441" y="135"/>
                </a:lnTo>
                <a:lnTo>
                  <a:pt x="437" y="134"/>
                </a:lnTo>
                <a:lnTo>
                  <a:pt x="432" y="131"/>
                </a:lnTo>
                <a:lnTo>
                  <a:pt x="426" y="129"/>
                </a:lnTo>
                <a:lnTo>
                  <a:pt x="421" y="126"/>
                </a:lnTo>
                <a:lnTo>
                  <a:pt x="412" y="119"/>
                </a:lnTo>
                <a:lnTo>
                  <a:pt x="405" y="115"/>
                </a:lnTo>
                <a:lnTo>
                  <a:pt x="396" y="109"/>
                </a:lnTo>
                <a:lnTo>
                  <a:pt x="387" y="108"/>
                </a:lnTo>
                <a:lnTo>
                  <a:pt x="378" y="108"/>
                </a:lnTo>
                <a:lnTo>
                  <a:pt x="365" y="107"/>
                </a:lnTo>
                <a:lnTo>
                  <a:pt x="354" y="108"/>
                </a:lnTo>
                <a:lnTo>
                  <a:pt x="341" y="109"/>
                </a:lnTo>
                <a:lnTo>
                  <a:pt x="328" y="111"/>
                </a:lnTo>
                <a:lnTo>
                  <a:pt x="314" y="115"/>
                </a:lnTo>
                <a:lnTo>
                  <a:pt x="306" y="118"/>
                </a:lnTo>
                <a:lnTo>
                  <a:pt x="304" y="121"/>
                </a:lnTo>
                <a:lnTo>
                  <a:pt x="306" y="124"/>
                </a:lnTo>
                <a:lnTo>
                  <a:pt x="312" y="128"/>
                </a:lnTo>
                <a:lnTo>
                  <a:pt x="296" y="132"/>
                </a:lnTo>
                <a:lnTo>
                  <a:pt x="274" y="138"/>
                </a:lnTo>
                <a:lnTo>
                  <a:pt x="269" y="134"/>
                </a:lnTo>
                <a:lnTo>
                  <a:pt x="263" y="131"/>
                </a:lnTo>
                <a:lnTo>
                  <a:pt x="257" y="129"/>
                </a:lnTo>
                <a:lnTo>
                  <a:pt x="247" y="129"/>
                </a:lnTo>
                <a:lnTo>
                  <a:pt x="235" y="140"/>
                </a:lnTo>
                <a:lnTo>
                  <a:pt x="224" y="132"/>
                </a:lnTo>
                <a:lnTo>
                  <a:pt x="145" y="143"/>
                </a:lnTo>
                <a:lnTo>
                  <a:pt x="130" y="144"/>
                </a:lnTo>
                <a:lnTo>
                  <a:pt x="115" y="143"/>
                </a:lnTo>
                <a:lnTo>
                  <a:pt x="100" y="141"/>
                </a:lnTo>
                <a:lnTo>
                  <a:pt x="70" y="138"/>
                </a:lnTo>
                <a:lnTo>
                  <a:pt x="42" y="130"/>
                </a:lnTo>
                <a:lnTo>
                  <a:pt x="27" y="125"/>
                </a:lnTo>
                <a:lnTo>
                  <a:pt x="17" y="120"/>
                </a:lnTo>
                <a:lnTo>
                  <a:pt x="28" y="117"/>
                </a:lnTo>
                <a:lnTo>
                  <a:pt x="21" y="113"/>
                </a:lnTo>
                <a:lnTo>
                  <a:pt x="17" y="110"/>
                </a:lnTo>
                <a:lnTo>
                  <a:pt x="9" y="104"/>
                </a:lnTo>
                <a:lnTo>
                  <a:pt x="8" y="102"/>
                </a:lnTo>
                <a:lnTo>
                  <a:pt x="5" y="99"/>
                </a:lnTo>
                <a:lnTo>
                  <a:pt x="4" y="97"/>
                </a:lnTo>
                <a:lnTo>
                  <a:pt x="2" y="94"/>
                </a:lnTo>
                <a:lnTo>
                  <a:pt x="1" y="92"/>
                </a:lnTo>
                <a:lnTo>
                  <a:pt x="0" y="89"/>
                </a:lnTo>
              </a:path>
            </a:pathLst>
          </a:custGeom>
          <a:pattFill prst="pct50">
            <a:fgClr>
              <a:schemeClr val="tx1"/>
            </a:fgClr>
            <a:bgClr>
              <a:schemeClr val="bg1"/>
            </a:bgClr>
          </a:pattFill>
          <a:ln w="12700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2587" name="Group 654"/>
          <p:cNvGrpSpPr>
            <a:grpSpLocks/>
          </p:cNvGrpSpPr>
          <p:nvPr/>
        </p:nvGrpSpPr>
        <p:grpSpPr bwMode="auto">
          <a:xfrm>
            <a:off x="5762625" y="4077891"/>
            <a:ext cx="8335" cy="8334"/>
            <a:chOff x="3113" y="2769"/>
            <a:chExt cx="7" cy="7"/>
          </a:xfrm>
        </p:grpSpPr>
        <p:sp>
          <p:nvSpPr>
            <p:cNvPr id="22599" name="Oval 655" descr="50%"/>
            <p:cNvSpPr>
              <a:spLocks noChangeArrowheads="1"/>
            </p:cNvSpPr>
            <p:nvPr/>
          </p:nvSpPr>
          <p:spPr bwMode="auto">
            <a:xfrm>
              <a:off x="3113" y="2769"/>
              <a:ext cx="7" cy="7"/>
            </a:xfrm>
            <a:prstGeom prst="ellipse">
              <a:avLst/>
            </a:prstGeom>
            <a:pattFill prst="pct50">
              <a:fgClr>
                <a:schemeClr val="tx1"/>
              </a:fgClr>
              <a:bgClr>
                <a:schemeClr val="bg1"/>
              </a:bgClr>
            </a:pattFill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0" name="Arc 656" descr="50%"/>
            <p:cNvSpPr>
              <a:spLocks/>
            </p:cNvSpPr>
            <p:nvPr/>
          </p:nvSpPr>
          <p:spPr bwMode="auto">
            <a:xfrm>
              <a:off x="3117" y="2772"/>
              <a:ext cx="2" cy="2"/>
            </a:xfrm>
            <a:custGeom>
              <a:avLst/>
              <a:gdLst>
                <a:gd name="T0" fmla="*/ 1 w 43200"/>
                <a:gd name="T1" fmla="*/ 0 h 43200"/>
                <a:gd name="T2" fmla="*/ 0 w 43200"/>
                <a:gd name="T3" fmla="*/ 0 h 43200"/>
                <a:gd name="T4" fmla="*/ 1 w 43200"/>
                <a:gd name="T5" fmla="*/ 1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5871"/>
                    <a:pt x="2275" y="10377"/>
                    <a:pt x="6326" y="6326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15871"/>
                    <a:pt x="2275" y="10377"/>
                    <a:pt x="6326" y="6326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588" name="Group 657"/>
          <p:cNvGrpSpPr>
            <a:grpSpLocks/>
          </p:cNvGrpSpPr>
          <p:nvPr/>
        </p:nvGrpSpPr>
        <p:grpSpPr bwMode="auto">
          <a:xfrm>
            <a:off x="5794773" y="4096941"/>
            <a:ext cx="35719" cy="15478"/>
            <a:chOff x="3140" y="2785"/>
            <a:chExt cx="30" cy="13"/>
          </a:xfrm>
        </p:grpSpPr>
        <p:sp>
          <p:nvSpPr>
            <p:cNvPr id="22594" name="Arc 658" descr="50%"/>
            <p:cNvSpPr>
              <a:spLocks/>
            </p:cNvSpPr>
            <p:nvPr/>
          </p:nvSpPr>
          <p:spPr bwMode="auto">
            <a:xfrm>
              <a:off x="3148" y="2785"/>
              <a:ext cx="2" cy="13"/>
            </a:xfrm>
            <a:custGeom>
              <a:avLst/>
              <a:gdLst>
                <a:gd name="T0" fmla="*/ 0 w 35746"/>
                <a:gd name="T1" fmla="*/ 1 h 43200"/>
                <a:gd name="T2" fmla="*/ 0 w 35746"/>
                <a:gd name="T3" fmla="*/ 11 h 43200"/>
                <a:gd name="T4" fmla="*/ 1 w 35746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746" h="43200" fill="none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</a:path>
                <a:path w="35746" h="43200" stroke="0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  <a:lnTo>
                    <a:pt x="14146" y="21600"/>
                  </a:lnTo>
                  <a:lnTo>
                    <a:pt x="2777" y="3234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5" name="Arc 659" descr="50%"/>
            <p:cNvSpPr>
              <a:spLocks/>
            </p:cNvSpPr>
            <p:nvPr/>
          </p:nvSpPr>
          <p:spPr bwMode="auto">
            <a:xfrm>
              <a:off x="3140" y="2785"/>
              <a:ext cx="3" cy="13"/>
            </a:xfrm>
            <a:custGeom>
              <a:avLst/>
              <a:gdLst>
                <a:gd name="T0" fmla="*/ 0 w 33372"/>
                <a:gd name="T1" fmla="*/ 1 h 43200"/>
                <a:gd name="T2" fmla="*/ 0 w 33372"/>
                <a:gd name="T3" fmla="*/ 12 h 43200"/>
                <a:gd name="T4" fmla="*/ 1 w 33372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372" h="43200" fill="none" extrusionOk="0">
                  <a:moveTo>
                    <a:pt x="2675" y="2008"/>
                  </a:moveTo>
                  <a:cubicBezTo>
                    <a:pt x="5525" y="685"/>
                    <a:pt x="8629" y="-1"/>
                    <a:pt x="11772" y="0"/>
                  </a:cubicBezTo>
                  <a:cubicBezTo>
                    <a:pt x="23701" y="0"/>
                    <a:pt x="33372" y="9670"/>
                    <a:pt x="33372" y="21600"/>
                  </a:cubicBezTo>
                  <a:cubicBezTo>
                    <a:pt x="33372" y="33529"/>
                    <a:pt x="23701" y="43200"/>
                    <a:pt x="11772" y="43200"/>
                  </a:cubicBezTo>
                  <a:cubicBezTo>
                    <a:pt x="7592" y="43200"/>
                    <a:pt x="3503" y="41987"/>
                    <a:pt x="-1" y="39710"/>
                  </a:cubicBezTo>
                </a:path>
                <a:path w="33372" h="43200" stroke="0" extrusionOk="0">
                  <a:moveTo>
                    <a:pt x="2675" y="2008"/>
                  </a:moveTo>
                  <a:cubicBezTo>
                    <a:pt x="5525" y="685"/>
                    <a:pt x="8629" y="-1"/>
                    <a:pt x="11772" y="0"/>
                  </a:cubicBezTo>
                  <a:cubicBezTo>
                    <a:pt x="23701" y="0"/>
                    <a:pt x="33372" y="9670"/>
                    <a:pt x="33372" y="21600"/>
                  </a:cubicBezTo>
                  <a:cubicBezTo>
                    <a:pt x="33372" y="33529"/>
                    <a:pt x="23701" y="43200"/>
                    <a:pt x="11772" y="43200"/>
                  </a:cubicBezTo>
                  <a:cubicBezTo>
                    <a:pt x="7592" y="43200"/>
                    <a:pt x="3503" y="41987"/>
                    <a:pt x="-1" y="39710"/>
                  </a:cubicBezTo>
                  <a:lnTo>
                    <a:pt x="11772" y="21600"/>
                  </a:lnTo>
                  <a:lnTo>
                    <a:pt x="2675" y="2008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6" name="Arc 660" descr="50%"/>
            <p:cNvSpPr>
              <a:spLocks/>
            </p:cNvSpPr>
            <p:nvPr/>
          </p:nvSpPr>
          <p:spPr bwMode="auto">
            <a:xfrm>
              <a:off x="3153" y="2785"/>
              <a:ext cx="3" cy="13"/>
            </a:xfrm>
            <a:custGeom>
              <a:avLst/>
              <a:gdLst>
                <a:gd name="T0" fmla="*/ 0 w 33372"/>
                <a:gd name="T1" fmla="*/ 1 h 43200"/>
                <a:gd name="T2" fmla="*/ 0 w 33372"/>
                <a:gd name="T3" fmla="*/ 12 h 43200"/>
                <a:gd name="T4" fmla="*/ 1 w 33372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372" h="43200" fill="none" extrusionOk="0">
                  <a:moveTo>
                    <a:pt x="2675" y="2008"/>
                  </a:moveTo>
                  <a:cubicBezTo>
                    <a:pt x="5525" y="685"/>
                    <a:pt x="8629" y="-1"/>
                    <a:pt x="11772" y="0"/>
                  </a:cubicBezTo>
                  <a:cubicBezTo>
                    <a:pt x="23701" y="0"/>
                    <a:pt x="33372" y="9670"/>
                    <a:pt x="33372" y="21600"/>
                  </a:cubicBezTo>
                  <a:cubicBezTo>
                    <a:pt x="33372" y="33529"/>
                    <a:pt x="23701" y="43200"/>
                    <a:pt x="11772" y="43200"/>
                  </a:cubicBezTo>
                  <a:cubicBezTo>
                    <a:pt x="7592" y="43200"/>
                    <a:pt x="3503" y="41987"/>
                    <a:pt x="-1" y="39710"/>
                  </a:cubicBezTo>
                </a:path>
                <a:path w="33372" h="43200" stroke="0" extrusionOk="0">
                  <a:moveTo>
                    <a:pt x="2675" y="2008"/>
                  </a:moveTo>
                  <a:cubicBezTo>
                    <a:pt x="5525" y="685"/>
                    <a:pt x="8629" y="-1"/>
                    <a:pt x="11772" y="0"/>
                  </a:cubicBezTo>
                  <a:cubicBezTo>
                    <a:pt x="23701" y="0"/>
                    <a:pt x="33372" y="9670"/>
                    <a:pt x="33372" y="21600"/>
                  </a:cubicBezTo>
                  <a:cubicBezTo>
                    <a:pt x="33372" y="33529"/>
                    <a:pt x="23701" y="43200"/>
                    <a:pt x="11772" y="43200"/>
                  </a:cubicBezTo>
                  <a:cubicBezTo>
                    <a:pt x="7592" y="43200"/>
                    <a:pt x="3503" y="41987"/>
                    <a:pt x="-1" y="39710"/>
                  </a:cubicBezTo>
                  <a:lnTo>
                    <a:pt x="11772" y="21600"/>
                  </a:lnTo>
                  <a:lnTo>
                    <a:pt x="2675" y="2008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7" name="Arc 661" descr="50%"/>
            <p:cNvSpPr>
              <a:spLocks/>
            </p:cNvSpPr>
            <p:nvPr/>
          </p:nvSpPr>
          <p:spPr bwMode="auto">
            <a:xfrm>
              <a:off x="3161" y="2785"/>
              <a:ext cx="2" cy="13"/>
            </a:xfrm>
            <a:custGeom>
              <a:avLst/>
              <a:gdLst>
                <a:gd name="T0" fmla="*/ 0 w 35746"/>
                <a:gd name="T1" fmla="*/ 1 h 43200"/>
                <a:gd name="T2" fmla="*/ 0 w 35746"/>
                <a:gd name="T3" fmla="*/ 11 h 43200"/>
                <a:gd name="T4" fmla="*/ 1 w 35746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746" h="43200" fill="none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</a:path>
                <a:path w="35746" h="43200" stroke="0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  <a:lnTo>
                    <a:pt x="14146" y="21600"/>
                  </a:lnTo>
                  <a:lnTo>
                    <a:pt x="2777" y="3234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8" name="Arc 662" descr="50%"/>
            <p:cNvSpPr>
              <a:spLocks/>
            </p:cNvSpPr>
            <p:nvPr/>
          </p:nvSpPr>
          <p:spPr bwMode="auto">
            <a:xfrm>
              <a:off x="3168" y="2785"/>
              <a:ext cx="2" cy="13"/>
            </a:xfrm>
            <a:custGeom>
              <a:avLst/>
              <a:gdLst>
                <a:gd name="T0" fmla="*/ 0 w 35746"/>
                <a:gd name="T1" fmla="*/ 1 h 43200"/>
                <a:gd name="T2" fmla="*/ 0 w 35746"/>
                <a:gd name="T3" fmla="*/ 11 h 43200"/>
                <a:gd name="T4" fmla="*/ 1 w 35746"/>
                <a:gd name="T5" fmla="*/ 7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746" h="43200" fill="none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</a:path>
                <a:path w="35746" h="43200" stroke="0" extrusionOk="0">
                  <a:moveTo>
                    <a:pt x="2777" y="3234"/>
                  </a:moveTo>
                  <a:cubicBezTo>
                    <a:pt x="6192" y="1119"/>
                    <a:pt x="10129" y="-1"/>
                    <a:pt x="14146" y="0"/>
                  </a:cubicBezTo>
                  <a:cubicBezTo>
                    <a:pt x="26075" y="0"/>
                    <a:pt x="35746" y="9670"/>
                    <a:pt x="35746" y="21600"/>
                  </a:cubicBezTo>
                  <a:cubicBezTo>
                    <a:pt x="35746" y="33529"/>
                    <a:pt x="26075" y="43200"/>
                    <a:pt x="14146" y="43200"/>
                  </a:cubicBezTo>
                  <a:cubicBezTo>
                    <a:pt x="8949" y="43200"/>
                    <a:pt x="3926" y="41326"/>
                    <a:pt x="-1" y="37923"/>
                  </a:cubicBezTo>
                  <a:lnTo>
                    <a:pt x="14146" y="21600"/>
                  </a:lnTo>
                  <a:lnTo>
                    <a:pt x="2777" y="3234"/>
                  </a:lnTo>
                  <a:close/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589" name="Freeform 663" descr="50%"/>
          <p:cNvSpPr>
            <a:spLocks/>
          </p:cNvSpPr>
          <p:nvPr/>
        </p:nvSpPr>
        <p:spPr bwMode="auto">
          <a:xfrm>
            <a:off x="5716191" y="3969544"/>
            <a:ext cx="560784" cy="108347"/>
          </a:xfrm>
          <a:custGeom>
            <a:avLst/>
            <a:gdLst>
              <a:gd name="T0" fmla="*/ 15875 w 471"/>
              <a:gd name="T1" fmla="*/ 120650 h 91"/>
              <a:gd name="T2" fmla="*/ 50800 w 471"/>
              <a:gd name="T3" fmla="*/ 109538 h 91"/>
              <a:gd name="T4" fmla="*/ 100012 w 471"/>
              <a:gd name="T5" fmla="*/ 98425 h 91"/>
              <a:gd name="T6" fmla="*/ 149225 w 471"/>
              <a:gd name="T7" fmla="*/ 90488 h 91"/>
              <a:gd name="T8" fmla="*/ 198437 w 471"/>
              <a:gd name="T9" fmla="*/ 80963 h 91"/>
              <a:gd name="T10" fmla="*/ 225425 w 471"/>
              <a:gd name="T11" fmla="*/ 68263 h 91"/>
              <a:gd name="T12" fmla="*/ 249237 w 471"/>
              <a:gd name="T13" fmla="*/ 44450 h 91"/>
              <a:gd name="T14" fmla="*/ 285750 w 471"/>
              <a:gd name="T15" fmla="*/ 12700 h 91"/>
              <a:gd name="T16" fmla="*/ 311150 w 471"/>
              <a:gd name="T17" fmla="*/ 26988 h 91"/>
              <a:gd name="T18" fmla="*/ 322262 w 471"/>
              <a:gd name="T19" fmla="*/ 61913 h 91"/>
              <a:gd name="T20" fmla="*/ 339725 w 471"/>
              <a:gd name="T21" fmla="*/ 79375 h 91"/>
              <a:gd name="T22" fmla="*/ 401637 w 471"/>
              <a:gd name="T23" fmla="*/ 88900 h 91"/>
              <a:gd name="T24" fmla="*/ 447675 w 471"/>
              <a:gd name="T25" fmla="*/ 92075 h 91"/>
              <a:gd name="T26" fmla="*/ 503237 w 471"/>
              <a:gd name="T27" fmla="*/ 88900 h 91"/>
              <a:gd name="T28" fmla="*/ 525462 w 471"/>
              <a:gd name="T29" fmla="*/ 107950 h 91"/>
              <a:gd name="T30" fmla="*/ 569912 w 471"/>
              <a:gd name="T31" fmla="*/ 109538 h 91"/>
              <a:gd name="T32" fmla="*/ 619125 w 471"/>
              <a:gd name="T33" fmla="*/ 87313 h 91"/>
              <a:gd name="T34" fmla="*/ 658812 w 471"/>
              <a:gd name="T35" fmla="*/ 50800 h 91"/>
              <a:gd name="T36" fmla="*/ 690562 w 471"/>
              <a:gd name="T37" fmla="*/ 28575 h 91"/>
              <a:gd name="T38" fmla="*/ 717550 w 471"/>
              <a:gd name="T39" fmla="*/ 17463 h 91"/>
              <a:gd name="T40" fmla="*/ 741362 w 471"/>
              <a:gd name="T41" fmla="*/ 20638 h 91"/>
              <a:gd name="T42" fmla="*/ 722312 w 471"/>
              <a:gd name="T43" fmla="*/ 44450 h 91"/>
              <a:gd name="T44" fmla="*/ 696912 w 471"/>
              <a:gd name="T45" fmla="*/ 66675 h 91"/>
              <a:gd name="T46" fmla="*/ 682625 w 471"/>
              <a:gd name="T47" fmla="*/ 85725 h 91"/>
              <a:gd name="T48" fmla="*/ 671512 w 471"/>
              <a:gd name="T49" fmla="*/ 101600 h 91"/>
              <a:gd name="T50" fmla="*/ 668337 w 471"/>
              <a:gd name="T51" fmla="*/ 120650 h 91"/>
              <a:gd name="T52" fmla="*/ 647700 w 471"/>
              <a:gd name="T53" fmla="*/ 115888 h 91"/>
              <a:gd name="T54" fmla="*/ 627062 w 471"/>
              <a:gd name="T55" fmla="*/ 122238 h 91"/>
              <a:gd name="T56" fmla="*/ 606425 w 471"/>
              <a:gd name="T57" fmla="*/ 120650 h 91"/>
              <a:gd name="T58" fmla="*/ 581025 w 471"/>
              <a:gd name="T59" fmla="*/ 122238 h 91"/>
              <a:gd name="T60" fmla="*/ 555625 w 471"/>
              <a:gd name="T61" fmla="*/ 119063 h 91"/>
              <a:gd name="T62" fmla="*/ 527050 w 471"/>
              <a:gd name="T63" fmla="*/ 120650 h 91"/>
              <a:gd name="T64" fmla="*/ 498475 w 471"/>
              <a:gd name="T65" fmla="*/ 125413 h 91"/>
              <a:gd name="T66" fmla="*/ 469900 w 471"/>
              <a:gd name="T67" fmla="*/ 127000 h 91"/>
              <a:gd name="T68" fmla="*/ 441325 w 471"/>
              <a:gd name="T69" fmla="*/ 127000 h 91"/>
              <a:gd name="T70" fmla="*/ 415925 w 471"/>
              <a:gd name="T71" fmla="*/ 130175 h 91"/>
              <a:gd name="T72" fmla="*/ 388937 w 471"/>
              <a:gd name="T73" fmla="*/ 134938 h 91"/>
              <a:gd name="T74" fmla="*/ 355600 w 471"/>
              <a:gd name="T75" fmla="*/ 134938 h 91"/>
              <a:gd name="T76" fmla="*/ 327025 w 471"/>
              <a:gd name="T77" fmla="*/ 136525 h 91"/>
              <a:gd name="T78" fmla="*/ 298450 w 471"/>
              <a:gd name="T79" fmla="*/ 133350 h 91"/>
              <a:gd name="T80" fmla="*/ 271462 w 471"/>
              <a:gd name="T81" fmla="*/ 134938 h 91"/>
              <a:gd name="T82" fmla="*/ 247650 w 471"/>
              <a:gd name="T83" fmla="*/ 133350 h 91"/>
              <a:gd name="T84" fmla="*/ 220662 w 471"/>
              <a:gd name="T85" fmla="*/ 134938 h 91"/>
              <a:gd name="T86" fmla="*/ 190500 w 471"/>
              <a:gd name="T87" fmla="*/ 136525 h 91"/>
              <a:gd name="T88" fmla="*/ 152400 w 471"/>
              <a:gd name="T89" fmla="*/ 142875 h 91"/>
              <a:gd name="T90" fmla="*/ 109537 w 471"/>
              <a:gd name="T91" fmla="*/ 142875 h 91"/>
              <a:gd name="T92" fmla="*/ 73025 w 471"/>
              <a:gd name="T93" fmla="*/ 138113 h 91"/>
              <a:gd name="T94" fmla="*/ 39687 w 471"/>
              <a:gd name="T95" fmla="*/ 139700 h 91"/>
              <a:gd name="T96" fmla="*/ 7937 w 471"/>
              <a:gd name="T97" fmla="*/ 133350 h 9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471" h="91">
                <a:moveTo>
                  <a:pt x="0" y="82"/>
                </a:moveTo>
                <a:lnTo>
                  <a:pt x="3" y="80"/>
                </a:lnTo>
                <a:lnTo>
                  <a:pt x="6" y="78"/>
                </a:lnTo>
                <a:lnTo>
                  <a:pt x="10" y="76"/>
                </a:lnTo>
                <a:lnTo>
                  <a:pt x="14" y="75"/>
                </a:lnTo>
                <a:lnTo>
                  <a:pt x="19" y="73"/>
                </a:lnTo>
                <a:lnTo>
                  <a:pt x="27" y="72"/>
                </a:lnTo>
                <a:lnTo>
                  <a:pt x="32" y="69"/>
                </a:lnTo>
                <a:lnTo>
                  <a:pt x="39" y="67"/>
                </a:lnTo>
                <a:lnTo>
                  <a:pt x="47" y="65"/>
                </a:lnTo>
                <a:lnTo>
                  <a:pt x="55" y="63"/>
                </a:lnTo>
                <a:lnTo>
                  <a:pt x="63" y="62"/>
                </a:lnTo>
                <a:lnTo>
                  <a:pt x="71" y="61"/>
                </a:lnTo>
                <a:lnTo>
                  <a:pt x="79" y="60"/>
                </a:lnTo>
                <a:lnTo>
                  <a:pt x="87" y="58"/>
                </a:lnTo>
                <a:lnTo>
                  <a:pt x="94" y="57"/>
                </a:lnTo>
                <a:lnTo>
                  <a:pt x="101" y="55"/>
                </a:lnTo>
                <a:lnTo>
                  <a:pt x="110" y="54"/>
                </a:lnTo>
                <a:lnTo>
                  <a:pt x="117" y="52"/>
                </a:lnTo>
                <a:lnTo>
                  <a:pt x="125" y="51"/>
                </a:lnTo>
                <a:lnTo>
                  <a:pt x="130" y="50"/>
                </a:lnTo>
                <a:lnTo>
                  <a:pt x="135" y="49"/>
                </a:lnTo>
                <a:lnTo>
                  <a:pt x="139" y="46"/>
                </a:lnTo>
                <a:lnTo>
                  <a:pt x="142" y="43"/>
                </a:lnTo>
                <a:lnTo>
                  <a:pt x="145" y="40"/>
                </a:lnTo>
                <a:lnTo>
                  <a:pt x="147" y="38"/>
                </a:lnTo>
                <a:lnTo>
                  <a:pt x="152" y="33"/>
                </a:lnTo>
                <a:lnTo>
                  <a:pt x="157" y="28"/>
                </a:lnTo>
                <a:lnTo>
                  <a:pt x="162" y="23"/>
                </a:lnTo>
                <a:lnTo>
                  <a:pt x="168" y="18"/>
                </a:lnTo>
                <a:lnTo>
                  <a:pt x="173" y="13"/>
                </a:lnTo>
                <a:lnTo>
                  <a:pt x="180" y="8"/>
                </a:lnTo>
                <a:lnTo>
                  <a:pt x="186" y="4"/>
                </a:lnTo>
                <a:lnTo>
                  <a:pt x="191" y="0"/>
                </a:lnTo>
                <a:lnTo>
                  <a:pt x="193" y="8"/>
                </a:lnTo>
                <a:lnTo>
                  <a:pt x="196" y="17"/>
                </a:lnTo>
                <a:lnTo>
                  <a:pt x="199" y="24"/>
                </a:lnTo>
                <a:lnTo>
                  <a:pt x="201" y="32"/>
                </a:lnTo>
                <a:lnTo>
                  <a:pt x="202" y="36"/>
                </a:lnTo>
                <a:lnTo>
                  <a:pt x="203" y="39"/>
                </a:lnTo>
                <a:lnTo>
                  <a:pt x="202" y="43"/>
                </a:lnTo>
                <a:lnTo>
                  <a:pt x="199" y="47"/>
                </a:lnTo>
                <a:lnTo>
                  <a:pt x="206" y="49"/>
                </a:lnTo>
                <a:lnTo>
                  <a:pt x="214" y="50"/>
                </a:lnTo>
                <a:lnTo>
                  <a:pt x="224" y="51"/>
                </a:lnTo>
                <a:lnTo>
                  <a:pt x="234" y="53"/>
                </a:lnTo>
                <a:lnTo>
                  <a:pt x="245" y="55"/>
                </a:lnTo>
                <a:lnTo>
                  <a:pt x="253" y="56"/>
                </a:lnTo>
                <a:lnTo>
                  <a:pt x="262" y="58"/>
                </a:lnTo>
                <a:lnTo>
                  <a:pt x="269" y="59"/>
                </a:lnTo>
                <a:lnTo>
                  <a:pt x="276" y="59"/>
                </a:lnTo>
                <a:lnTo>
                  <a:pt x="282" y="58"/>
                </a:lnTo>
                <a:lnTo>
                  <a:pt x="288" y="55"/>
                </a:lnTo>
                <a:lnTo>
                  <a:pt x="293" y="51"/>
                </a:lnTo>
                <a:lnTo>
                  <a:pt x="305" y="53"/>
                </a:lnTo>
                <a:lnTo>
                  <a:pt x="317" y="56"/>
                </a:lnTo>
                <a:lnTo>
                  <a:pt x="326" y="58"/>
                </a:lnTo>
                <a:lnTo>
                  <a:pt x="321" y="64"/>
                </a:lnTo>
                <a:lnTo>
                  <a:pt x="325" y="66"/>
                </a:lnTo>
                <a:lnTo>
                  <a:pt x="331" y="68"/>
                </a:lnTo>
                <a:lnTo>
                  <a:pt x="338" y="69"/>
                </a:lnTo>
                <a:lnTo>
                  <a:pt x="345" y="70"/>
                </a:lnTo>
                <a:lnTo>
                  <a:pt x="352" y="70"/>
                </a:lnTo>
                <a:lnTo>
                  <a:pt x="359" y="69"/>
                </a:lnTo>
                <a:lnTo>
                  <a:pt x="366" y="68"/>
                </a:lnTo>
                <a:lnTo>
                  <a:pt x="374" y="65"/>
                </a:lnTo>
                <a:lnTo>
                  <a:pt x="382" y="61"/>
                </a:lnTo>
                <a:lnTo>
                  <a:pt x="390" y="55"/>
                </a:lnTo>
                <a:lnTo>
                  <a:pt x="397" y="49"/>
                </a:lnTo>
                <a:lnTo>
                  <a:pt x="405" y="41"/>
                </a:lnTo>
                <a:lnTo>
                  <a:pt x="409" y="38"/>
                </a:lnTo>
                <a:lnTo>
                  <a:pt x="415" y="32"/>
                </a:lnTo>
                <a:lnTo>
                  <a:pt x="420" y="28"/>
                </a:lnTo>
                <a:lnTo>
                  <a:pt x="425" y="25"/>
                </a:lnTo>
                <a:lnTo>
                  <a:pt x="430" y="21"/>
                </a:lnTo>
                <a:lnTo>
                  <a:pt x="435" y="18"/>
                </a:lnTo>
                <a:lnTo>
                  <a:pt x="440" y="17"/>
                </a:lnTo>
                <a:lnTo>
                  <a:pt x="443" y="14"/>
                </a:lnTo>
                <a:lnTo>
                  <a:pt x="447" y="13"/>
                </a:lnTo>
                <a:lnTo>
                  <a:pt x="452" y="11"/>
                </a:lnTo>
                <a:lnTo>
                  <a:pt x="456" y="11"/>
                </a:lnTo>
                <a:lnTo>
                  <a:pt x="462" y="10"/>
                </a:lnTo>
                <a:lnTo>
                  <a:pt x="470" y="10"/>
                </a:lnTo>
                <a:lnTo>
                  <a:pt x="467" y="13"/>
                </a:lnTo>
                <a:lnTo>
                  <a:pt x="463" y="17"/>
                </a:lnTo>
                <a:lnTo>
                  <a:pt x="461" y="19"/>
                </a:lnTo>
                <a:lnTo>
                  <a:pt x="458" y="24"/>
                </a:lnTo>
                <a:lnTo>
                  <a:pt x="455" y="28"/>
                </a:lnTo>
                <a:lnTo>
                  <a:pt x="450" y="32"/>
                </a:lnTo>
                <a:lnTo>
                  <a:pt x="444" y="37"/>
                </a:lnTo>
                <a:lnTo>
                  <a:pt x="441" y="39"/>
                </a:lnTo>
                <a:lnTo>
                  <a:pt x="439" y="42"/>
                </a:lnTo>
                <a:lnTo>
                  <a:pt x="436" y="46"/>
                </a:lnTo>
                <a:lnTo>
                  <a:pt x="434" y="49"/>
                </a:lnTo>
                <a:lnTo>
                  <a:pt x="432" y="51"/>
                </a:lnTo>
                <a:lnTo>
                  <a:pt x="430" y="54"/>
                </a:lnTo>
                <a:lnTo>
                  <a:pt x="428" y="57"/>
                </a:lnTo>
                <a:lnTo>
                  <a:pt x="426" y="60"/>
                </a:lnTo>
                <a:lnTo>
                  <a:pt x="425" y="62"/>
                </a:lnTo>
                <a:lnTo>
                  <a:pt x="423" y="64"/>
                </a:lnTo>
                <a:lnTo>
                  <a:pt x="422" y="68"/>
                </a:lnTo>
                <a:lnTo>
                  <a:pt x="422" y="70"/>
                </a:lnTo>
                <a:lnTo>
                  <a:pt x="421" y="73"/>
                </a:lnTo>
                <a:lnTo>
                  <a:pt x="421" y="76"/>
                </a:lnTo>
                <a:lnTo>
                  <a:pt x="418" y="74"/>
                </a:lnTo>
                <a:lnTo>
                  <a:pt x="414" y="73"/>
                </a:lnTo>
                <a:lnTo>
                  <a:pt x="411" y="73"/>
                </a:lnTo>
                <a:lnTo>
                  <a:pt x="408" y="73"/>
                </a:lnTo>
                <a:lnTo>
                  <a:pt x="404" y="74"/>
                </a:lnTo>
                <a:lnTo>
                  <a:pt x="402" y="76"/>
                </a:lnTo>
                <a:lnTo>
                  <a:pt x="399" y="76"/>
                </a:lnTo>
                <a:lnTo>
                  <a:pt x="395" y="77"/>
                </a:lnTo>
                <a:lnTo>
                  <a:pt x="392" y="78"/>
                </a:lnTo>
                <a:lnTo>
                  <a:pt x="388" y="77"/>
                </a:lnTo>
                <a:lnTo>
                  <a:pt x="384" y="77"/>
                </a:lnTo>
                <a:lnTo>
                  <a:pt x="382" y="76"/>
                </a:lnTo>
                <a:lnTo>
                  <a:pt x="379" y="75"/>
                </a:lnTo>
                <a:lnTo>
                  <a:pt x="375" y="75"/>
                </a:lnTo>
                <a:lnTo>
                  <a:pt x="371" y="76"/>
                </a:lnTo>
                <a:lnTo>
                  <a:pt x="366" y="77"/>
                </a:lnTo>
                <a:lnTo>
                  <a:pt x="363" y="76"/>
                </a:lnTo>
                <a:lnTo>
                  <a:pt x="359" y="76"/>
                </a:lnTo>
                <a:lnTo>
                  <a:pt x="355" y="75"/>
                </a:lnTo>
                <a:lnTo>
                  <a:pt x="350" y="75"/>
                </a:lnTo>
                <a:lnTo>
                  <a:pt x="347" y="76"/>
                </a:lnTo>
                <a:lnTo>
                  <a:pt x="341" y="77"/>
                </a:lnTo>
                <a:lnTo>
                  <a:pt x="337" y="77"/>
                </a:lnTo>
                <a:lnTo>
                  <a:pt x="332" y="76"/>
                </a:lnTo>
                <a:lnTo>
                  <a:pt x="328" y="76"/>
                </a:lnTo>
                <a:lnTo>
                  <a:pt x="323" y="77"/>
                </a:lnTo>
                <a:lnTo>
                  <a:pt x="320" y="78"/>
                </a:lnTo>
                <a:lnTo>
                  <a:pt x="314" y="79"/>
                </a:lnTo>
                <a:lnTo>
                  <a:pt x="310" y="80"/>
                </a:lnTo>
                <a:lnTo>
                  <a:pt x="305" y="80"/>
                </a:lnTo>
                <a:lnTo>
                  <a:pt x="301" y="80"/>
                </a:lnTo>
                <a:lnTo>
                  <a:pt x="296" y="80"/>
                </a:lnTo>
                <a:lnTo>
                  <a:pt x="291" y="78"/>
                </a:lnTo>
                <a:lnTo>
                  <a:pt x="286" y="80"/>
                </a:lnTo>
                <a:lnTo>
                  <a:pt x="282" y="80"/>
                </a:lnTo>
                <a:lnTo>
                  <a:pt x="278" y="80"/>
                </a:lnTo>
                <a:lnTo>
                  <a:pt x="274" y="80"/>
                </a:lnTo>
                <a:lnTo>
                  <a:pt x="270" y="80"/>
                </a:lnTo>
                <a:lnTo>
                  <a:pt x="266" y="80"/>
                </a:lnTo>
                <a:lnTo>
                  <a:pt x="262" y="82"/>
                </a:lnTo>
                <a:lnTo>
                  <a:pt x="259" y="83"/>
                </a:lnTo>
                <a:lnTo>
                  <a:pt x="254" y="84"/>
                </a:lnTo>
                <a:lnTo>
                  <a:pt x="250" y="84"/>
                </a:lnTo>
                <a:lnTo>
                  <a:pt x="245" y="85"/>
                </a:lnTo>
                <a:lnTo>
                  <a:pt x="240" y="86"/>
                </a:lnTo>
                <a:lnTo>
                  <a:pt x="234" y="85"/>
                </a:lnTo>
                <a:lnTo>
                  <a:pt x="228" y="85"/>
                </a:lnTo>
                <a:lnTo>
                  <a:pt x="224" y="85"/>
                </a:lnTo>
                <a:lnTo>
                  <a:pt x="218" y="86"/>
                </a:lnTo>
                <a:lnTo>
                  <a:pt x="214" y="86"/>
                </a:lnTo>
                <a:lnTo>
                  <a:pt x="210" y="86"/>
                </a:lnTo>
                <a:lnTo>
                  <a:pt x="206" y="86"/>
                </a:lnTo>
                <a:lnTo>
                  <a:pt x="201" y="86"/>
                </a:lnTo>
                <a:lnTo>
                  <a:pt x="196" y="84"/>
                </a:lnTo>
                <a:lnTo>
                  <a:pt x="192" y="84"/>
                </a:lnTo>
                <a:lnTo>
                  <a:pt x="188" y="84"/>
                </a:lnTo>
                <a:lnTo>
                  <a:pt x="184" y="84"/>
                </a:lnTo>
                <a:lnTo>
                  <a:pt x="180" y="84"/>
                </a:lnTo>
                <a:lnTo>
                  <a:pt x="175" y="84"/>
                </a:lnTo>
                <a:lnTo>
                  <a:pt x="171" y="85"/>
                </a:lnTo>
                <a:lnTo>
                  <a:pt x="167" y="85"/>
                </a:lnTo>
                <a:lnTo>
                  <a:pt x="164" y="84"/>
                </a:lnTo>
                <a:lnTo>
                  <a:pt x="160" y="84"/>
                </a:lnTo>
                <a:lnTo>
                  <a:pt x="156" y="84"/>
                </a:lnTo>
                <a:lnTo>
                  <a:pt x="152" y="84"/>
                </a:lnTo>
                <a:lnTo>
                  <a:pt x="149" y="84"/>
                </a:lnTo>
                <a:lnTo>
                  <a:pt x="145" y="84"/>
                </a:lnTo>
                <a:lnTo>
                  <a:pt x="139" y="85"/>
                </a:lnTo>
                <a:lnTo>
                  <a:pt x="135" y="85"/>
                </a:lnTo>
                <a:lnTo>
                  <a:pt x="130" y="84"/>
                </a:lnTo>
                <a:lnTo>
                  <a:pt x="125" y="85"/>
                </a:lnTo>
                <a:lnTo>
                  <a:pt x="120" y="86"/>
                </a:lnTo>
                <a:lnTo>
                  <a:pt x="116" y="88"/>
                </a:lnTo>
                <a:lnTo>
                  <a:pt x="111" y="89"/>
                </a:lnTo>
                <a:lnTo>
                  <a:pt x="104" y="90"/>
                </a:lnTo>
                <a:lnTo>
                  <a:pt x="96" y="90"/>
                </a:lnTo>
                <a:lnTo>
                  <a:pt x="89" y="90"/>
                </a:lnTo>
                <a:lnTo>
                  <a:pt x="82" y="90"/>
                </a:lnTo>
                <a:lnTo>
                  <a:pt x="74" y="90"/>
                </a:lnTo>
                <a:lnTo>
                  <a:pt x="69" y="90"/>
                </a:lnTo>
                <a:lnTo>
                  <a:pt x="65" y="90"/>
                </a:lnTo>
                <a:lnTo>
                  <a:pt x="60" y="90"/>
                </a:lnTo>
                <a:lnTo>
                  <a:pt x="54" y="90"/>
                </a:lnTo>
                <a:lnTo>
                  <a:pt x="46" y="87"/>
                </a:lnTo>
                <a:lnTo>
                  <a:pt x="40" y="87"/>
                </a:lnTo>
                <a:lnTo>
                  <a:pt x="35" y="88"/>
                </a:lnTo>
                <a:lnTo>
                  <a:pt x="29" y="88"/>
                </a:lnTo>
                <a:lnTo>
                  <a:pt x="25" y="88"/>
                </a:lnTo>
                <a:lnTo>
                  <a:pt x="20" y="87"/>
                </a:lnTo>
                <a:lnTo>
                  <a:pt x="15" y="86"/>
                </a:lnTo>
                <a:lnTo>
                  <a:pt x="10" y="85"/>
                </a:lnTo>
                <a:lnTo>
                  <a:pt x="5" y="84"/>
                </a:lnTo>
                <a:lnTo>
                  <a:pt x="0" y="83"/>
                </a:lnTo>
                <a:lnTo>
                  <a:pt x="0" y="82"/>
                </a:lnTo>
              </a:path>
            </a:pathLst>
          </a:custGeom>
          <a:pattFill prst="pct50">
            <a:fgClr>
              <a:schemeClr val="tx1"/>
            </a:fgClr>
            <a:bgClr>
              <a:schemeClr val="bg1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rnd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2590" name="Group 664"/>
          <p:cNvGrpSpPr>
            <a:grpSpLocks/>
          </p:cNvGrpSpPr>
          <p:nvPr/>
        </p:nvGrpSpPr>
        <p:grpSpPr bwMode="auto">
          <a:xfrm>
            <a:off x="5830491" y="4106466"/>
            <a:ext cx="82153" cy="60722"/>
            <a:chOff x="3170" y="2793"/>
            <a:chExt cx="69" cy="51"/>
          </a:xfrm>
        </p:grpSpPr>
        <p:sp>
          <p:nvSpPr>
            <p:cNvPr id="22592" name="Freeform 665" descr="50%"/>
            <p:cNvSpPr>
              <a:spLocks/>
            </p:cNvSpPr>
            <p:nvPr/>
          </p:nvSpPr>
          <p:spPr bwMode="auto">
            <a:xfrm>
              <a:off x="3170" y="2799"/>
              <a:ext cx="69" cy="45"/>
            </a:xfrm>
            <a:custGeom>
              <a:avLst/>
              <a:gdLst>
                <a:gd name="T0" fmla="*/ 64 w 69"/>
                <a:gd name="T1" fmla="*/ 39 h 45"/>
                <a:gd name="T2" fmla="*/ 60 w 69"/>
                <a:gd name="T3" fmla="*/ 35 h 45"/>
                <a:gd name="T4" fmla="*/ 58 w 69"/>
                <a:gd name="T5" fmla="*/ 33 h 45"/>
                <a:gd name="T6" fmla="*/ 56 w 69"/>
                <a:gd name="T7" fmla="*/ 31 h 45"/>
                <a:gd name="T8" fmla="*/ 54 w 69"/>
                <a:gd name="T9" fmla="*/ 28 h 45"/>
                <a:gd name="T10" fmla="*/ 52 w 69"/>
                <a:gd name="T11" fmla="*/ 26 h 45"/>
                <a:gd name="T12" fmla="*/ 50 w 69"/>
                <a:gd name="T13" fmla="*/ 23 h 45"/>
                <a:gd name="T14" fmla="*/ 48 w 69"/>
                <a:gd name="T15" fmla="*/ 21 h 45"/>
                <a:gd name="T16" fmla="*/ 47 w 69"/>
                <a:gd name="T17" fmla="*/ 17 h 45"/>
                <a:gd name="T18" fmla="*/ 46 w 69"/>
                <a:gd name="T19" fmla="*/ 14 h 45"/>
                <a:gd name="T20" fmla="*/ 45 w 69"/>
                <a:gd name="T21" fmla="*/ 11 h 45"/>
                <a:gd name="T22" fmla="*/ 44 w 69"/>
                <a:gd name="T23" fmla="*/ 8 h 45"/>
                <a:gd name="T24" fmla="*/ 44 w 69"/>
                <a:gd name="T25" fmla="*/ 4 h 45"/>
                <a:gd name="T26" fmla="*/ 44 w 69"/>
                <a:gd name="T27" fmla="*/ 0 h 45"/>
                <a:gd name="T28" fmla="*/ 0 w 69"/>
                <a:gd name="T29" fmla="*/ 0 h 45"/>
                <a:gd name="T30" fmla="*/ 1 w 69"/>
                <a:gd name="T31" fmla="*/ 3 h 45"/>
                <a:gd name="T32" fmla="*/ 3 w 69"/>
                <a:gd name="T33" fmla="*/ 6 h 45"/>
                <a:gd name="T34" fmla="*/ 5 w 69"/>
                <a:gd name="T35" fmla="*/ 9 h 45"/>
                <a:gd name="T36" fmla="*/ 8 w 69"/>
                <a:gd name="T37" fmla="*/ 12 h 45"/>
                <a:gd name="T38" fmla="*/ 11 w 69"/>
                <a:gd name="T39" fmla="*/ 16 h 45"/>
                <a:gd name="T40" fmla="*/ 14 w 69"/>
                <a:gd name="T41" fmla="*/ 19 h 45"/>
                <a:gd name="T42" fmla="*/ 18 w 69"/>
                <a:gd name="T43" fmla="*/ 22 h 45"/>
                <a:gd name="T44" fmla="*/ 21 w 69"/>
                <a:gd name="T45" fmla="*/ 25 h 45"/>
                <a:gd name="T46" fmla="*/ 25 w 69"/>
                <a:gd name="T47" fmla="*/ 28 h 45"/>
                <a:gd name="T48" fmla="*/ 30 w 69"/>
                <a:gd name="T49" fmla="*/ 32 h 45"/>
                <a:gd name="T50" fmla="*/ 34 w 69"/>
                <a:gd name="T51" fmla="*/ 34 h 45"/>
                <a:gd name="T52" fmla="*/ 38 w 69"/>
                <a:gd name="T53" fmla="*/ 36 h 45"/>
                <a:gd name="T54" fmla="*/ 41 w 69"/>
                <a:gd name="T55" fmla="*/ 38 h 45"/>
                <a:gd name="T56" fmla="*/ 45 w 69"/>
                <a:gd name="T57" fmla="*/ 39 h 45"/>
                <a:gd name="T58" fmla="*/ 49 w 69"/>
                <a:gd name="T59" fmla="*/ 41 h 45"/>
                <a:gd name="T60" fmla="*/ 53 w 69"/>
                <a:gd name="T61" fmla="*/ 42 h 45"/>
                <a:gd name="T62" fmla="*/ 58 w 69"/>
                <a:gd name="T63" fmla="*/ 43 h 45"/>
                <a:gd name="T64" fmla="*/ 62 w 69"/>
                <a:gd name="T65" fmla="*/ 43 h 45"/>
                <a:gd name="T66" fmla="*/ 65 w 69"/>
                <a:gd name="T67" fmla="*/ 43 h 45"/>
                <a:gd name="T68" fmla="*/ 68 w 69"/>
                <a:gd name="T69" fmla="*/ 44 h 45"/>
                <a:gd name="T70" fmla="*/ 64 w 69"/>
                <a:gd name="T71" fmla="*/ 39 h 4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9" h="45">
                  <a:moveTo>
                    <a:pt x="64" y="39"/>
                  </a:moveTo>
                  <a:lnTo>
                    <a:pt x="60" y="35"/>
                  </a:lnTo>
                  <a:lnTo>
                    <a:pt x="58" y="33"/>
                  </a:lnTo>
                  <a:lnTo>
                    <a:pt x="56" y="31"/>
                  </a:lnTo>
                  <a:lnTo>
                    <a:pt x="54" y="28"/>
                  </a:lnTo>
                  <a:lnTo>
                    <a:pt x="52" y="26"/>
                  </a:lnTo>
                  <a:lnTo>
                    <a:pt x="50" y="23"/>
                  </a:lnTo>
                  <a:lnTo>
                    <a:pt x="48" y="21"/>
                  </a:lnTo>
                  <a:lnTo>
                    <a:pt x="47" y="17"/>
                  </a:lnTo>
                  <a:lnTo>
                    <a:pt x="46" y="14"/>
                  </a:lnTo>
                  <a:lnTo>
                    <a:pt x="45" y="11"/>
                  </a:lnTo>
                  <a:lnTo>
                    <a:pt x="44" y="8"/>
                  </a:lnTo>
                  <a:lnTo>
                    <a:pt x="44" y="4"/>
                  </a:lnTo>
                  <a:lnTo>
                    <a:pt x="44" y="0"/>
                  </a:lnTo>
                  <a:lnTo>
                    <a:pt x="0" y="0"/>
                  </a:lnTo>
                  <a:lnTo>
                    <a:pt x="1" y="3"/>
                  </a:lnTo>
                  <a:lnTo>
                    <a:pt x="3" y="6"/>
                  </a:lnTo>
                  <a:lnTo>
                    <a:pt x="5" y="9"/>
                  </a:lnTo>
                  <a:lnTo>
                    <a:pt x="8" y="12"/>
                  </a:lnTo>
                  <a:lnTo>
                    <a:pt x="11" y="16"/>
                  </a:lnTo>
                  <a:lnTo>
                    <a:pt x="14" y="19"/>
                  </a:lnTo>
                  <a:lnTo>
                    <a:pt x="18" y="22"/>
                  </a:lnTo>
                  <a:lnTo>
                    <a:pt x="21" y="25"/>
                  </a:lnTo>
                  <a:lnTo>
                    <a:pt x="25" y="28"/>
                  </a:lnTo>
                  <a:lnTo>
                    <a:pt x="30" y="32"/>
                  </a:lnTo>
                  <a:lnTo>
                    <a:pt x="34" y="34"/>
                  </a:lnTo>
                  <a:lnTo>
                    <a:pt x="38" y="36"/>
                  </a:lnTo>
                  <a:lnTo>
                    <a:pt x="41" y="38"/>
                  </a:lnTo>
                  <a:lnTo>
                    <a:pt x="45" y="39"/>
                  </a:lnTo>
                  <a:lnTo>
                    <a:pt x="49" y="41"/>
                  </a:lnTo>
                  <a:lnTo>
                    <a:pt x="53" y="42"/>
                  </a:lnTo>
                  <a:lnTo>
                    <a:pt x="58" y="43"/>
                  </a:lnTo>
                  <a:lnTo>
                    <a:pt x="62" y="43"/>
                  </a:lnTo>
                  <a:lnTo>
                    <a:pt x="65" y="43"/>
                  </a:lnTo>
                  <a:lnTo>
                    <a:pt x="68" y="44"/>
                  </a:lnTo>
                  <a:lnTo>
                    <a:pt x="64" y="39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93" name="Freeform 666" descr="50%"/>
            <p:cNvSpPr>
              <a:spLocks/>
            </p:cNvSpPr>
            <p:nvPr/>
          </p:nvSpPr>
          <p:spPr bwMode="auto">
            <a:xfrm>
              <a:off x="3171" y="2793"/>
              <a:ext cx="36" cy="6"/>
            </a:xfrm>
            <a:custGeom>
              <a:avLst/>
              <a:gdLst>
                <a:gd name="T0" fmla="*/ 0 w 36"/>
                <a:gd name="T1" fmla="*/ 5 h 6"/>
                <a:gd name="T2" fmla="*/ 0 w 36"/>
                <a:gd name="T3" fmla="*/ 3 h 6"/>
                <a:gd name="T4" fmla="*/ 1 w 36"/>
                <a:gd name="T5" fmla="*/ 0 h 6"/>
                <a:gd name="T6" fmla="*/ 35 w 36"/>
                <a:gd name="T7" fmla="*/ 0 h 6"/>
                <a:gd name="T8" fmla="*/ 35 w 36"/>
                <a:gd name="T9" fmla="*/ 5 h 6"/>
                <a:gd name="T10" fmla="*/ 0 w 36"/>
                <a:gd name="T11" fmla="*/ 5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6">
                  <a:moveTo>
                    <a:pt x="0" y="5"/>
                  </a:moveTo>
                  <a:lnTo>
                    <a:pt x="0" y="3"/>
                  </a:lnTo>
                  <a:lnTo>
                    <a:pt x="1" y="0"/>
                  </a:lnTo>
                  <a:lnTo>
                    <a:pt x="35" y="0"/>
                  </a:lnTo>
                  <a:lnTo>
                    <a:pt x="35" y="5"/>
                  </a:lnTo>
                  <a:lnTo>
                    <a:pt x="0" y="5"/>
                  </a:lnTo>
                </a:path>
              </a:pathLst>
            </a:custGeom>
            <a:pattFill prst="pct50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91" name="Rectangle 667"/>
          <p:cNvSpPr>
            <a:spLocks noChangeArrowheads="1"/>
          </p:cNvSpPr>
          <p:nvPr/>
        </p:nvSpPr>
        <p:spPr bwMode="auto">
          <a:xfrm>
            <a:off x="5224017" y="4245769"/>
            <a:ext cx="912911" cy="62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eaLnBrk="0" hangingPunct="0"/>
            <a:r>
              <a:rPr kumimoji="1" lang="en-US" altLang="zh-CN" b="1">
                <a:solidFill>
                  <a:srgbClr val="0000FF"/>
                </a:solidFill>
                <a:latin typeface="Comic Sans MS" pitchFamily="66" charset="0"/>
              </a:rPr>
              <a:t>Server</a:t>
            </a:r>
          </a:p>
          <a:p>
            <a:pPr eaLnBrk="0" hangingPunct="0"/>
            <a:r>
              <a:rPr kumimoji="1" lang="en-US" altLang="zh-CN" b="1">
                <a:solidFill>
                  <a:srgbClr val="0000FF"/>
                </a:solidFill>
                <a:latin typeface="Comic Sans MS" pitchFamily="66" charset="0"/>
              </a:rPr>
              <a:t>2000s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Enhanced the capability available to computer users.</a:t>
            </a:r>
          </a:p>
          <a:p>
            <a:r>
              <a:rPr lang="en-US" altLang="zh-CN" dirty="0"/>
              <a:t>Microprocessor-based computers across the entire range of the computer design.</a:t>
            </a:r>
          </a:p>
          <a:p>
            <a:pPr lvl="1"/>
            <a:r>
              <a:rPr lang="en-US" altLang="zh-CN" dirty="0"/>
              <a:t>Minicomputer =&gt; servers using microprocessors</a:t>
            </a:r>
          </a:p>
          <a:p>
            <a:pPr lvl="1"/>
            <a:r>
              <a:rPr lang="en-US" altLang="zh-CN" dirty="0"/>
              <a:t>Mainframe =&gt; multiprocessors consisting of microprocessors</a:t>
            </a:r>
          </a:p>
          <a:p>
            <a:pPr lvl="1"/>
            <a:r>
              <a:rPr lang="en-US" altLang="zh-CN" dirty="0"/>
              <a:t>Supercomputer =&gt; multiprocessor collections</a:t>
            </a: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Effect of dramatic performance growth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Four computing markets </a:t>
            </a:r>
          </a:p>
        </p:txBody>
      </p:sp>
      <p:graphicFrame>
        <p:nvGraphicFramePr>
          <p:cNvPr id="32798" name="Group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786722"/>
              </p:ext>
            </p:extLst>
          </p:nvPr>
        </p:nvGraphicFramePr>
        <p:xfrm>
          <a:off x="1354931" y="771550"/>
          <a:ext cx="6457950" cy="3899201"/>
        </p:xfrm>
        <a:graphic>
          <a:graphicData uri="http://schemas.openxmlformats.org/drawingml/2006/table">
            <a:tbl>
              <a:tblPr/>
              <a:tblGrid>
                <a:gridCol w="1291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1590">
                  <a:extLst>
                    <a:ext uri="{9D8B030D-6E8A-4147-A177-3AD203B41FA5}">
                      <a16:colId xmlns:a16="http://schemas.microsoft.com/office/drawing/2014/main" val="282467957"/>
                    </a:ext>
                  </a:extLst>
                </a:gridCol>
                <a:gridCol w="1291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1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15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5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Feature</a:t>
                      </a:r>
                      <a:endParaRPr kumimoji="0" lang="en-US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SimSun" pitchFamily="2" charset="-122"/>
                      </a:endParaRPr>
                    </a:p>
                  </a:txBody>
                  <a:tcPr marL="68580" marR="68580"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Mobile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Desktop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Server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Embedded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Price of system</a:t>
                      </a:r>
                    </a:p>
                  </a:txBody>
                  <a:tcPr marL="68580" marR="68580"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$100–$1000 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$300–$2500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$5000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-$5,000,000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$10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-$100,000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31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Price of microprocessor module</a:t>
                      </a:r>
                    </a:p>
                  </a:txBody>
                  <a:tcPr marL="68580" marR="68580"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$10–$100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$50-$500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per proc.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$200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-$10,000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per proc.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$0.01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-$100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per proc.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89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Critical system design issues</a:t>
                      </a:r>
                    </a:p>
                  </a:txBody>
                  <a:tcPr marL="68580" marR="68580" marT="34295" marB="3429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Cost, energy,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media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performance,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responsiveness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Price-perf.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Graphics perf.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Throughput,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availability,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scalability, energy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Price, Power consumption, application-specific perf.</a:t>
                      </a:r>
                    </a:p>
                  </a:txBody>
                  <a:tcPr marL="68580" marR="68580" marT="34295" marB="3429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first, and still the largest market in dollar terms, is desktop computing.</a:t>
            </a:r>
          </a:p>
          <a:p>
            <a:r>
              <a:rPr lang="en-US" altLang="zh-CN" dirty="0"/>
              <a:t>Requirement:</a:t>
            </a:r>
          </a:p>
          <a:p>
            <a:pPr lvl="1"/>
            <a:r>
              <a:rPr lang="en-US" altLang="zh-CN" dirty="0"/>
              <a:t>Optimized price-performance 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New challenges:</a:t>
            </a:r>
          </a:p>
          <a:p>
            <a:pPr lvl="1"/>
            <a:r>
              <a:rPr lang="en-US" altLang="zh-CN" dirty="0"/>
              <a:t>Web-centric, interactive application</a:t>
            </a:r>
          </a:p>
          <a:p>
            <a:pPr lvl="1"/>
            <a:r>
              <a:rPr lang="en-US" altLang="zh-CN" dirty="0"/>
              <a:t>How to evaluate performance?</a:t>
            </a:r>
          </a:p>
          <a:p>
            <a:pPr lvl="1"/>
            <a:endParaRPr lang="en-US" altLang="zh-CN" dirty="0"/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Desktop Computing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The role of servers to provide larger scale and more reliable file and computing services grew.</a:t>
            </a:r>
          </a:p>
          <a:p>
            <a:pPr lvl="1"/>
            <a:r>
              <a:rPr lang="en-US" altLang="zh-CN"/>
              <a:t>For servers, different characteristics are important. First, dependability is critical.</a:t>
            </a:r>
          </a:p>
          <a:p>
            <a:pPr lvl="1"/>
            <a:r>
              <a:rPr lang="en-US" altLang="zh-CN"/>
              <a:t>A second key feature of server systems is an emphasis on scalability.</a:t>
            </a:r>
          </a:p>
          <a:p>
            <a:pPr lvl="1"/>
            <a:r>
              <a:rPr lang="en-US" altLang="zh-CN"/>
              <a:t>Lastly, servers are designed for efficient throughput.</a:t>
            </a: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Servers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Have the widest spread of processing power and cost.</a:t>
            </a:r>
          </a:p>
          <a:p>
            <a:pPr lvl="1"/>
            <a:r>
              <a:rPr lang="en-US" altLang="zh-CN" dirty="0"/>
              <a:t>8-bit 16-bit 32-bit 64-bit</a:t>
            </a:r>
          </a:p>
          <a:p>
            <a:pPr lvl="1"/>
            <a:r>
              <a:rPr lang="en-US" altLang="zh-CN" dirty="0"/>
              <a:t>0.1mWatts ~ 2000Watts(peak)</a:t>
            </a:r>
          </a:p>
          <a:p>
            <a:r>
              <a:rPr lang="en-US" altLang="zh-CN" dirty="0"/>
              <a:t>Real time performance (soft &amp; hard)</a:t>
            </a:r>
          </a:p>
          <a:p>
            <a:pPr lvl="1"/>
            <a:r>
              <a:rPr lang="en-US" altLang="zh-CN" dirty="0"/>
              <a:t>Rich OS (</a:t>
            </a:r>
            <a:r>
              <a:rPr lang="en-US" altLang="zh-CN" dirty="0" err="1"/>
              <a:t>linux</a:t>
            </a:r>
            <a:r>
              <a:rPr lang="en-US" altLang="zh-CN" dirty="0"/>
              <a:t>, windows Embedded)</a:t>
            </a:r>
          </a:p>
          <a:p>
            <a:pPr lvl="1"/>
            <a:r>
              <a:rPr lang="en-US" altLang="zh-CN" dirty="0"/>
              <a:t>Real Time OS (</a:t>
            </a:r>
            <a:r>
              <a:rPr lang="en-US" altLang="zh-CN" dirty="0" err="1"/>
              <a:t>FreeRTOS</a:t>
            </a:r>
            <a:r>
              <a:rPr lang="en-US" altLang="zh-CN" dirty="0"/>
              <a:t>, VxWorks, acts in limited time)</a:t>
            </a:r>
          </a:p>
          <a:p>
            <a:r>
              <a:rPr lang="en-US" altLang="zh-CN" dirty="0"/>
              <a:t>Strict resource constraints</a:t>
            </a:r>
          </a:p>
          <a:p>
            <a:pPr lvl="1"/>
            <a:r>
              <a:rPr lang="en-US" altLang="zh-CN" dirty="0"/>
              <a:t>limited memory size, </a:t>
            </a:r>
            <a:r>
              <a:rPr lang="en-US" altLang="zh-CN" dirty="0" err="1"/>
              <a:t>minimun</a:t>
            </a:r>
            <a:r>
              <a:rPr lang="en-US" altLang="zh-CN" dirty="0"/>
              <a:t> power consumption,... </a:t>
            </a:r>
          </a:p>
          <a:p>
            <a:r>
              <a:rPr lang="en-US" altLang="zh-CN" dirty="0"/>
              <a:t>The use of processor cores together with application-specific circuitry.</a:t>
            </a:r>
          </a:p>
          <a:p>
            <a:pPr lvl="1"/>
            <a:r>
              <a:rPr lang="en-US" altLang="zh-CN" dirty="0"/>
              <a:t>DSP, mobile computing</a:t>
            </a:r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Internet of Things(IoT)/Embedded Computers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7638DE-99A5-44A4-95AB-67889C2B0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Share many of the characteristics of desktop computers.</a:t>
            </a:r>
          </a:p>
          <a:p>
            <a:pPr lvl="1"/>
            <a:r>
              <a:rPr lang="en-US" altLang="zh-CN" dirty="0"/>
              <a:t>Web-based and media-oriented</a:t>
            </a:r>
          </a:p>
          <a:p>
            <a:pPr lvl="1"/>
            <a:r>
              <a:rPr lang="en-US" altLang="zh-CN" dirty="0"/>
              <a:t>Ability to run third-party software (APPs)</a:t>
            </a:r>
          </a:p>
          <a:p>
            <a:pPr lvl="2"/>
            <a:r>
              <a:rPr lang="en-US" altLang="zh-CN" dirty="0"/>
              <a:t>major difference with embedded computers</a:t>
            </a:r>
          </a:p>
          <a:p>
            <a:r>
              <a:rPr lang="en-US" altLang="zh-CN" dirty="0"/>
              <a:t>Energy efficiency </a:t>
            </a:r>
          </a:p>
          <a:p>
            <a:pPr lvl="1"/>
            <a:r>
              <a:rPr lang="en-US" altLang="zh-CN" dirty="0"/>
              <a:t>Battery powered, absence of a fan</a:t>
            </a:r>
          </a:p>
          <a:p>
            <a:r>
              <a:rPr lang="en-US" altLang="zh-CN" dirty="0"/>
              <a:t>Low-cost</a:t>
            </a:r>
          </a:p>
          <a:p>
            <a:r>
              <a:rPr lang="en-US" altLang="zh-CN" dirty="0"/>
              <a:t>Real-time performance requirement</a:t>
            </a:r>
          </a:p>
          <a:p>
            <a:pPr marL="342900" lvl="1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A213CC1-A758-48AC-BB78-6AD190E96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Personal Mobile Device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397950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What we need to design for different computing markets?</a:t>
            </a:r>
          </a:p>
          <a:p>
            <a:endParaRPr lang="en-US" altLang="zh-CN" dirty="0"/>
          </a:p>
          <a:p>
            <a:r>
              <a:rPr lang="en-US" altLang="zh-CN" dirty="0"/>
              <a:t>What a computer Architecture designer need to know ? 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Questions</a:t>
            </a:r>
            <a:endParaRPr kumimoji="1" lang="zh-CN" altLang="en-US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005576"/>
            <a:ext cx="8786936" cy="3314700"/>
          </a:xfrm>
        </p:spPr>
        <p:txBody>
          <a:bodyPr/>
          <a:lstStyle/>
          <a:p>
            <a:r>
              <a:rPr lang="en-US" altLang="zh-CN" sz="1600" dirty="0"/>
              <a:t>1.1   Why take this course ?</a:t>
            </a:r>
          </a:p>
          <a:p>
            <a:r>
              <a:rPr lang="en-US" altLang="zh-CN" sz="1600" dirty="0"/>
              <a:t>1.2   Classes of computers in current computer market</a:t>
            </a:r>
          </a:p>
          <a:p>
            <a:r>
              <a:rPr lang="en-US" altLang="zh-CN" sz="1600" b="1" dirty="0"/>
              <a:t>1.3   Defining computer architecture and What’s the task of computer design.</a:t>
            </a:r>
          </a:p>
          <a:p>
            <a:r>
              <a:rPr lang="en-US" altLang="zh-CN" sz="1600" dirty="0"/>
              <a:t>1.4   Trends in Technology</a:t>
            </a:r>
          </a:p>
          <a:p>
            <a:r>
              <a:rPr lang="en-US" altLang="zh-CN" sz="1600" dirty="0"/>
              <a:t>1.5   Trends in power in Integrated circuits</a:t>
            </a:r>
          </a:p>
          <a:p>
            <a:r>
              <a:rPr lang="en-US" altLang="zh-CN" sz="1600" dirty="0"/>
              <a:t>1.6   Trends in Cost</a:t>
            </a:r>
          </a:p>
          <a:p>
            <a:r>
              <a:rPr lang="en-US" altLang="zh-CN" sz="1600" dirty="0"/>
              <a:t>1.7   Dependability</a:t>
            </a:r>
          </a:p>
          <a:p>
            <a:r>
              <a:rPr lang="en-US" altLang="zh-CN" sz="1600" dirty="0"/>
              <a:t>1.8   Measuring, Reporting and summarizing Perf.</a:t>
            </a:r>
          </a:p>
          <a:p>
            <a:r>
              <a:rPr lang="en-US" altLang="zh-CN" sz="1600" dirty="0"/>
              <a:t>1.9   Quantitative Principles of computer Design </a:t>
            </a:r>
          </a:p>
          <a:p>
            <a:r>
              <a:rPr lang="en-US" altLang="zh-CN" sz="1600" dirty="0"/>
              <a:t>1.10 Putting it altogether</a:t>
            </a:r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Topics in Chapter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What are the components of a computer?</a:t>
            </a:r>
          </a:p>
          <a:p>
            <a:r>
              <a:rPr lang="en-US" altLang="zh-CN" dirty="0"/>
              <a:t>How to effectively put together the various components</a:t>
            </a:r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 computer architecture is all about </a:t>
            </a:r>
          </a:p>
        </p:txBody>
      </p:sp>
      <p:pic>
        <p:nvPicPr>
          <p:cNvPr id="35846" name="Picture 4" descr="pentum_chi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983" y="1824537"/>
            <a:ext cx="2936081" cy="295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The attributes of a [computing] system as seen by the programmer, i.e., </a:t>
            </a:r>
          </a:p>
          <a:p>
            <a:r>
              <a:rPr lang="en-US" altLang="zh-CN" dirty="0"/>
              <a:t> The conceptual structure and functional behavior, as distinct from the organization of the data flows and controls the logic design, and the physical implementation.</a:t>
            </a:r>
          </a:p>
          <a:p>
            <a:pPr marL="0" indent="0">
              <a:buNone/>
            </a:pPr>
            <a:r>
              <a:rPr lang="en-US" altLang="zh-CN" dirty="0"/>
              <a:t>               </a:t>
            </a:r>
          </a:p>
          <a:p>
            <a:pPr lvl="1"/>
            <a:r>
              <a:rPr lang="en-US" altLang="zh-CN" dirty="0"/>
              <a:t> Amdahl, </a:t>
            </a:r>
            <a:r>
              <a:rPr lang="en-US" altLang="zh-CN" dirty="0" err="1"/>
              <a:t>Blaaw</a:t>
            </a:r>
            <a:r>
              <a:rPr lang="en-US" altLang="zh-CN" dirty="0"/>
              <a:t>, and Brooks,  1964</a:t>
            </a:r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Original Concept of Computer architecture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Instruction Set Architecture (ISA)</a:t>
            </a:r>
          </a:p>
        </p:txBody>
      </p:sp>
      <p:graphicFrame>
        <p:nvGraphicFramePr>
          <p:cNvPr id="37893" name="Object 3"/>
          <p:cNvGraphicFramePr>
            <a:graphicFrameLocks noChangeAspect="1"/>
          </p:cNvGraphicFramePr>
          <p:nvPr/>
        </p:nvGraphicFramePr>
        <p:xfrm>
          <a:off x="1656160" y="1435894"/>
          <a:ext cx="5543550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9384840" imgH="4851000" progId="Visio.Drawing.5">
                  <p:embed/>
                </p:oleObj>
              </mc:Choice>
              <mc:Fallback>
                <p:oleObj name="VISIO" r:id="rId3" imgW="9384840" imgH="4851000" progId="Visio.Drawing.5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6160" y="1435894"/>
                        <a:ext cx="5543550" cy="297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Purpose 1: (now irrelevant)</a:t>
            </a:r>
          </a:p>
          <a:p>
            <a:pPr lvl="1"/>
            <a:r>
              <a:rPr lang="en-US" altLang="zh-CN" dirty="0"/>
              <a:t>Re-use of fixed hardware resources</a:t>
            </a:r>
          </a:p>
          <a:p>
            <a:r>
              <a:rPr lang="en-US" altLang="zh-CN" dirty="0"/>
              <a:t>Purpose 2:</a:t>
            </a:r>
          </a:p>
          <a:p>
            <a:pPr lvl="1"/>
            <a:r>
              <a:rPr lang="en-US" altLang="zh-CN" dirty="0"/>
              <a:t>Interface between developer and hardware</a:t>
            </a:r>
          </a:p>
          <a:p>
            <a:pPr lvl="1"/>
            <a:r>
              <a:rPr lang="en-US" altLang="zh-CN" dirty="0"/>
              <a:t>Contract from one chip generation and the next</a:t>
            </a:r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1800" dirty="0"/>
              <a:t>ISA: the interface between hardware and software</a:t>
            </a:r>
          </a:p>
        </p:txBody>
      </p:sp>
      <p:grpSp>
        <p:nvGrpSpPr>
          <p:cNvPr id="38918" name="Group 4"/>
          <p:cNvGrpSpPr>
            <a:grpSpLocks/>
          </p:cNvGrpSpPr>
          <p:nvPr/>
        </p:nvGrpSpPr>
        <p:grpSpPr bwMode="auto">
          <a:xfrm>
            <a:off x="1547664" y="3003798"/>
            <a:ext cx="3348038" cy="1600200"/>
            <a:chOff x="596" y="1288"/>
            <a:chExt cx="4500" cy="2268"/>
          </a:xfrm>
        </p:grpSpPr>
        <p:sp>
          <p:nvSpPr>
            <p:cNvPr id="38920" name="Rectangle 5" descr="Horizontal brick"/>
            <p:cNvSpPr>
              <a:spLocks noChangeArrowheads="1"/>
            </p:cNvSpPr>
            <p:nvPr/>
          </p:nvSpPr>
          <p:spPr bwMode="auto">
            <a:xfrm>
              <a:off x="880" y="2152"/>
              <a:ext cx="4216" cy="280"/>
            </a:xfrm>
            <a:prstGeom prst="rect">
              <a:avLst/>
            </a:prstGeom>
            <a:pattFill prst="horzBrick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1" name="Oval 6"/>
            <p:cNvSpPr>
              <a:spLocks noChangeArrowheads="1"/>
            </p:cNvSpPr>
            <p:nvPr/>
          </p:nvSpPr>
          <p:spPr bwMode="auto">
            <a:xfrm>
              <a:off x="2416" y="1288"/>
              <a:ext cx="232" cy="1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2" name="Line 7"/>
            <p:cNvSpPr>
              <a:spLocks noChangeShapeType="1"/>
            </p:cNvSpPr>
            <p:nvPr/>
          </p:nvSpPr>
          <p:spPr bwMode="auto">
            <a:xfrm flipH="1">
              <a:off x="2504" y="1480"/>
              <a:ext cx="56" cy="3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3" name="Line 8"/>
            <p:cNvSpPr>
              <a:spLocks noChangeShapeType="1"/>
            </p:cNvSpPr>
            <p:nvPr/>
          </p:nvSpPr>
          <p:spPr bwMode="auto">
            <a:xfrm>
              <a:off x="2512" y="1860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4" name="Line 9"/>
            <p:cNvSpPr>
              <a:spLocks noChangeShapeType="1"/>
            </p:cNvSpPr>
            <p:nvPr/>
          </p:nvSpPr>
          <p:spPr bwMode="auto">
            <a:xfrm>
              <a:off x="2652" y="1864"/>
              <a:ext cx="0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5" name="Line 10"/>
            <p:cNvSpPr>
              <a:spLocks noChangeShapeType="1"/>
            </p:cNvSpPr>
            <p:nvPr/>
          </p:nvSpPr>
          <p:spPr bwMode="auto">
            <a:xfrm>
              <a:off x="2656" y="2052"/>
              <a:ext cx="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6" name="Line 11"/>
            <p:cNvSpPr>
              <a:spLocks noChangeShapeType="1"/>
            </p:cNvSpPr>
            <p:nvPr/>
          </p:nvSpPr>
          <p:spPr bwMode="auto">
            <a:xfrm flipH="1">
              <a:off x="2408" y="1864"/>
              <a:ext cx="104" cy="2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7" name="Line 12"/>
            <p:cNvSpPr>
              <a:spLocks noChangeShapeType="1"/>
            </p:cNvSpPr>
            <p:nvPr/>
          </p:nvSpPr>
          <p:spPr bwMode="auto">
            <a:xfrm flipH="1">
              <a:off x="2264" y="2104"/>
              <a:ext cx="152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8" name="Line 13"/>
            <p:cNvSpPr>
              <a:spLocks noChangeShapeType="1"/>
            </p:cNvSpPr>
            <p:nvPr/>
          </p:nvSpPr>
          <p:spPr bwMode="auto">
            <a:xfrm>
              <a:off x="2560" y="1624"/>
              <a:ext cx="136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9" name="Line 14"/>
            <p:cNvSpPr>
              <a:spLocks noChangeShapeType="1"/>
            </p:cNvSpPr>
            <p:nvPr/>
          </p:nvSpPr>
          <p:spPr bwMode="auto">
            <a:xfrm flipV="1">
              <a:off x="2704" y="1616"/>
              <a:ext cx="88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0" name="Line 15"/>
            <p:cNvSpPr>
              <a:spLocks noChangeShapeType="1"/>
            </p:cNvSpPr>
            <p:nvPr/>
          </p:nvSpPr>
          <p:spPr bwMode="auto">
            <a:xfrm>
              <a:off x="2512" y="1572"/>
              <a:ext cx="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1" name="Line 16"/>
            <p:cNvSpPr>
              <a:spLocks noChangeShapeType="1"/>
            </p:cNvSpPr>
            <p:nvPr/>
          </p:nvSpPr>
          <p:spPr bwMode="auto">
            <a:xfrm flipV="1">
              <a:off x="2656" y="1472"/>
              <a:ext cx="88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2" name="Oval 17"/>
            <p:cNvSpPr>
              <a:spLocks noChangeArrowheads="1"/>
            </p:cNvSpPr>
            <p:nvPr/>
          </p:nvSpPr>
          <p:spPr bwMode="auto">
            <a:xfrm>
              <a:off x="3280" y="1336"/>
              <a:ext cx="232" cy="1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3" name="Line 18"/>
            <p:cNvSpPr>
              <a:spLocks noChangeShapeType="1"/>
            </p:cNvSpPr>
            <p:nvPr/>
          </p:nvSpPr>
          <p:spPr bwMode="auto">
            <a:xfrm>
              <a:off x="3424" y="1528"/>
              <a:ext cx="40" cy="4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4" name="Line 19"/>
            <p:cNvSpPr>
              <a:spLocks noChangeShapeType="1"/>
            </p:cNvSpPr>
            <p:nvPr/>
          </p:nvSpPr>
          <p:spPr bwMode="auto">
            <a:xfrm flipH="1">
              <a:off x="3272" y="1912"/>
              <a:ext cx="20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5" name="Line 20"/>
            <p:cNvSpPr>
              <a:spLocks noChangeShapeType="1"/>
            </p:cNvSpPr>
            <p:nvPr/>
          </p:nvSpPr>
          <p:spPr bwMode="auto">
            <a:xfrm>
              <a:off x="3280" y="2056"/>
              <a:ext cx="88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6" name="Line 21"/>
            <p:cNvSpPr>
              <a:spLocks noChangeShapeType="1"/>
            </p:cNvSpPr>
            <p:nvPr/>
          </p:nvSpPr>
          <p:spPr bwMode="auto">
            <a:xfrm>
              <a:off x="3472" y="1912"/>
              <a:ext cx="184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7" name="Line 22"/>
            <p:cNvSpPr>
              <a:spLocks noChangeShapeType="1"/>
            </p:cNvSpPr>
            <p:nvPr/>
          </p:nvSpPr>
          <p:spPr bwMode="auto">
            <a:xfrm flipV="1">
              <a:off x="3664" y="1952"/>
              <a:ext cx="136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8" name="Line 23"/>
            <p:cNvSpPr>
              <a:spLocks noChangeShapeType="1"/>
            </p:cNvSpPr>
            <p:nvPr/>
          </p:nvSpPr>
          <p:spPr bwMode="auto">
            <a:xfrm>
              <a:off x="3808" y="1960"/>
              <a:ext cx="4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9" name="Line 24"/>
            <p:cNvSpPr>
              <a:spLocks noChangeShapeType="1"/>
            </p:cNvSpPr>
            <p:nvPr/>
          </p:nvSpPr>
          <p:spPr bwMode="auto">
            <a:xfrm flipH="1">
              <a:off x="3320" y="1672"/>
              <a:ext cx="104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0" name="Line 25"/>
            <p:cNvSpPr>
              <a:spLocks noChangeShapeType="1"/>
            </p:cNvSpPr>
            <p:nvPr/>
          </p:nvSpPr>
          <p:spPr bwMode="auto">
            <a:xfrm flipH="1" flipV="1">
              <a:off x="3176" y="1760"/>
              <a:ext cx="152" cy="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1" name="Line 26"/>
            <p:cNvSpPr>
              <a:spLocks noChangeShapeType="1"/>
            </p:cNvSpPr>
            <p:nvPr/>
          </p:nvSpPr>
          <p:spPr bwMode="auto">
            <a:xfrm flipH="1">
              <a:off x="3224" y="1620"/>
              <a:ext cx="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2" name="Line 27"/>
            <p:cNvSpPr>
              <a:spLocks noChangeShapeType="1"/>
            </p:cNvSpPr>
            <p:nvPr/>
          </p:nvSpPr>
          <p:spPr bwMode="auto">
            <a:xfrm flipH="1" flipV="1">
              <a:off x="3080" y="1520"/>
              <a:ext cx="152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3" name="Line 28"/>
            <p:cNvSpPr>
              <a:spLocks noChangeShapeType="1"/>
            </p:cNvSpPr>
            <p:nvPr/>
          </p:nvSpPr>
          <p:spPr bwMode="auto">
            <a:xfrm flipV="1">
              <a:off x="3328" y="1424"/>
              <a:ext cx="40" cy="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4" name="Line 29"/>
            <p:cNvSpPr>
              <a:spLocks noChangeShapeType="1"/>
            </p:cNvSpPr>
            <p:nvPr/>
          </p:nvSpPr>
          <p:spPr bwMode="auto">
            <a:xfrm flipH="1" flipV="1">
              <a:off x="2504" y="1376"/>
              <a:ext cx="104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5" name="Oval 30"/>
            <p:cNvSpPr>
              <a:spLocks noChangeArrowheads="1"/>
            </p:cNvSpPr>
            <p:nvPr/>
          </p:nvSpPr>
          <p:spPr bwMode="auto">
            <a:xfrm>
              <a:off x="2716" y="2500"/>
              <a:ext cx="400" cy="304"/>
            </a:xfrm>
            <a:prstGeom prst="ellips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6" name="Line 31"/>
            <p:cNvSpPr>
              <a:spLocks noChangeShapeType="1"/>
            </p:cNvSpPr>
            <p:nvPr/>
          </p:nvSpPr>
          <p:spPr bwMode="auto">
            <a:xfrm flipV="1">
              <a:off x="2860" y="2660"/>
              <a:ext cx="16" cy="8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7" name="Line 32"/>
            <p:cNvSpPr>
              <a:spLocks noChangeShapeType="1"/>
            </p:cNvSpPr>
            <p:nvPr/>
          </p:nvSpPr>
          <p:spPr bwMode="auto">
            <a:xfrm>
              <a:off x="2908" y="2676"/>
              <a:ext cx="16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8" name="Line 33"/>
            <p:cNvSpPr>
              <a:spLocks noChangeShapeType="1"/>
            </p:cNvSpPr>
            <p:nvPr/>
          </p:nvSpPr>
          <p:spPr bwMode="auto">
            <a:xfrm>
              <a:off x="2956" y="2692"/>
              <a:ext cx="16" cy="16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9" name="Line 34"/>
            <p:cNvSpPr>
              <a:spLocks noChangeShapeType="1"/>
            </p:cNvSpPr>
            <p:nvPr/>
          </p:nvSpPr>
          <p:spPr bwMode="auto">
            <a:xfrm>
              <a:off x="2956" y="2580"/>
              <a:ext cx="64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50" name="Line 35"/>
            <p:cNvSpPr>
              <a:spLocks noChangeShapeType="1"/>
            </p:cNvSpPr>
            <p:nvPr/>
          </p:nvSpPr>
          <p:spPr bwMode="auto">
            <a:xfrm flipH="1">
              <a:off x="2780" y="2580"/>
              <a:ext cx="8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51" name="Line 36"/>
            <p:cNvSpPr>
              <a:spLocks noChangeShapeType="1"/>
            </p:cNvSpPr>
            <p:nvPr/>
          </p:nvSpPr>
          <p:spPr bwMode="auto">
            <a:xfrm flipV="1">
              <a:off x="2508" y="3476"/>
              <a:ext cx="0" cy="8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52" name="Line 37"/>
            <p:cNvSpPr>
              <a:spLocks noChangeShapeType="1"/>
            </p:cNvSpPr>
            <p:nvPr/>
          </p:nvSpPr>
          <p:spPr bwMode="auto">
            <a:xfrm>
              <a:off x="2940" y="2836"/>
              <a:ext cx="0" cy="35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53" name="Line 38"/>
            <p:cNvSpPr>
              <a:spLocks noChangeShapeType="1"/>
            </p:cNvSpPr>
            <p:nvPr/>
          </p:nvSpPr>
          <p:spPr bwMode="auto">
            <a:xfrm>
              <a:off x="2956" y="3204"/>
              <a:ext cx="208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54" name="Line 39"/>
            <p:cNvSpPr>
              <a:spLocks noChangeShapeType="1"/>
            </p:cNvSpPr>
            <p:nvPr/>
          </p:nvSpPr>
          <p:spPr bwMode="auto">
            <a:xfrm>
              <a:off x="3196" y="3220"/>
              <a:ext cx="64" cy="256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55" name="Line 40"/>
            <p:cNvSpPr>
              <a:spLocks noChangeShapeType="1"/>
            </p:cNvSpPr>
            <p:nvPr/>
          </p:nvSpPr>
          <p:spPr bwMode="auto">
            <a:xfrm flipV="1">
              <a:off x="3292" y="3428"/>
              <a:ext cx="16" cy="8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56" name="Line 41"/>
            <p:cNvSpPr>
              <a:spLocks noChangeShapeType="1"/>
            </p:cNvSpPr>
            <p:nvPr/>
          </p:nvSpPr>
          <p:spPr bwMode="auto">
            <a:xfrm flipH="1">
              <a:off x="2684" y="3220"/>
              <a:ext cx="272" cy="16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57" name="Line 42"/>
            <p:cNvSpPr>
              <a:spLocks noChangeShapeType="1"/>
            </p:cNvSpPr>
            <p:nvPr/>
          </p:nvSpPr>
          <p:spPr bwMode="auto">
            <a:xfrm flipH="1">
              <a:off x="2588" y="3268"/>
              <a:ext cx="128" cy="256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58" name="Line 43"/>
            <p:cNvSpPr>
              <a:spLocks noChangeShapeType="1"/>
            </p:cNvSpPr>
            <p:nvPr/>
          </p:nvSpPr>
          <p:spPr bwMode="auto">
            <a:xfrm flipH="1">
              <a:off x="2492" y="3540"/>
              <a:ext cx="128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59" name="Line 44"/>
            <p:cNvSpPr>
              <a:spLocks noChangeShapeType="1"/>
            </p:cNvSpPr>
            <p:nvPr/>
          </p:nvSpPr>
          <p:spPr bwMode="auto">
            <a:xfrm>
              <a:off x="2956" y="2836"/>
              <a:ext cx="304" cy="16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0" name="Line 45"/>
            <p:cNvSpPr>
              <a:spLocks noChangeShapeType="1"/>
            </p:cNvSpPr>
            <p:nvPr/>
          </p:nvSpPr>
          <p:spPr bwMode="auto">
            <a:xfrm flipV="1">
              <a:off x="3292" y="2420"/>
              <a:ext cx="208" cy="464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1" name="Line 46"/>
            <p:cNvSpPr>
              <a:spLocks noChangeShapeType="1"/>
            </p:cNvSpPr>
            <p:nvPr/>
          </p:nvSpPr>
          <p:spPr bwMode="auto">
            <a:xfrm>
              <a:off x="3532" y="2436"/>
              <a:ext cx="112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2" name="Line 47"/>
            <p:cNvSpPr>
              <a:spLocks noChangeShapeType="1"/>
            </p:cNvSpPr>
            <p:nvPr/>
          </p:nvSpPr>
          <p:spPr bwMode="auto">
            <a:xfrm flipH="1">
              <a:off x="2636" y="2884"/>
              <a:ext cx="320" cy="16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3" name="Line 48"/>
            <p:cNvSpPr>
              <a:spLocks noChangeShapeType="1"/>
            </p:cNvSpPr>
            <p:nvPr/>
          </p:nvSpPr>
          <p:spPr bwMode="auto">
            <a:xfrm flipH="1" flipV="1">
              <a:off x="2300" y="2420"/>
              <a:ext cx="368" cy="51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4" name="Line 49"/>
            <p:cNvSpPr>
              <a:spLocks noChangeShapeType="1"/>
            </p:cNvSpPr>
            <p:nvPr/>
          </p:nvSpPr>
          <p:spPr bwMode="auto">
            <a:xfrm flipH="1">
              <a:off x="2156" y="2436"/>
              <a:ext cx="176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5" name="Rectangle 50"/>
            <p:cNvSpPr>
              <a:spLocks noChangeArrowheads="1"/>
            </p:cNvSpPr>
            <p:nvPr/>
          </p:nvSpPr>
          <p:spPr bwMode="auto">
            <a:xfrm>
              <a:off x="1903" y="2053"/>
              <a:ext cx="2353" cy="4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2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instruction set</a:t>
              </a:r>
            </a:p>
          </p:txBody>
        </p:sp>
        <p:sp>
          <p:nvSpPr>
            <p:cNvPr id="38966" name="Rectangle 51"/>
            <p:cNvSpPr>
              <a:spLocks noChangeArrowheads="1"/>
            </p:cNvSpPr>
            <p:nvPr/>
          </p:nvSpPr>
          <p:spPr bwMode="auto">
            <a:xfrm>
              <a:off x="596" y="1636"/>
              <a:ext cx="1489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85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software</a:t>
              </a:r>
            </a:p>
          </p:txBody>
        </p:sp>
        <p:sp>
          <p:nvSpPr>
            <p:cNvPr id="38967" name="Rectangle 52"/>
            <p:cNvSpPr>
              <a:spLocks noChangeArrowheads="1"/>
            </p:cNvSpPr>
            <p:nvPr/>
          </p:nvSpPr>
          <p:spPr bwMode="auto">
            <a:xfrm>
              <a:off x="596" y="2835"/>
              <a:ext cx="1538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85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hardware</a:t>
              </a:r>
            </a:p>
          </p:txBody>
        </p:sp>
      </p:grpSp>
      <p:pic>
        <p:nvPicPr>
          <p:cNvPr id="38919" name="Picture 5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7158" y="3260973"/>
            <a:ext cx="28575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Evolution of Instruction Sets</a:t>
            </a:r>
          </a:p>
        </p:txBody>
      </p:sp>
      <p:grpSp>
        <p:nvGrpSpPr>
          <p:cNvPr id="39941" name="Group 3"/>
          <p:cNvGrpSpPr>
            <a:grpSpLocks/>
          </p:cNvGrpSpPr>
          <p:nvPr/>
        </p:nvGrpSpPr>
        <p:grpSpPr bwMode="auto">
          <a:xfrm>
            <a:off x="683568" y="805359"/>
            <a:ext cx="7690247" cy="3782615"/>
            <a:chOff x="0" y="912"/>
            <a:chExt cx="6459" cy="3177"/>
          </a:xfrm>
        </p:grpSpPr>
        <p:grpSp>
          <p:nvGrpSpPr>
            <p:cNvPr id="39942" name="Group 4"/>
            <p:cNvGrpSpPr>
              <a:grpSpLocks/>
            </p:cNvGrpSpPr>
            <p:nvPr/>
          </p:nvGrpSpPr>
          <p:grpSpPr bwMode="auto">
            <a:xfrm>
              <a:off x="0" y="912"/>
              <a:ext cx="6459" cy="3177"/>
              <a:chOff x="296" y="688"/>
              <a:chExt cx="6459" cy="3364"/>
            </a:xfrm>
          </p:grpSpPr>
          <p:grpSp>
            <p:nvGrpSpPr>
              <p:cNvPr id="39944" name="Group 5"/>
              <p:cNvGrpSpPr>
                <a:grpSpLocks/>
              </p:cNvGrpSpPr>
              <p:nvPr/>
            </p:nvGrpSpPr>
            <p:grpSpPr bwMode="auto">
              <a:xfrm>
                <a:off x="296" y="688"/>
                <a:ext cx="6459" cy="3364"/>
                <a:chOff x="296" y="688"/>
                <a:chExt cx="6459" cy="3364"/>
              </a:xfrm>
            </p:grpSpPr>
            <p:sp>
              <p:nvSpPr>
                <p:cNvPr id="39955" name="Rectangle 6"/>
                <p:cNvSpPr>
                  <a:spLocks noChangeArrowheads="1"/>
                </p:cNvSpPr>
                <p:nvPr/>
              </p:nvSpPr>
              <p:spPr bwMode="auto">
                <a:xfrm>
                  <a:off x="1448" y="688"/>
                  <a:ext cx="3290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47625" tIns="19050" rIns="47625" bIns="19050">
                  <a:spAutoFit/>
                </a:bodyPr>
                <a:lstStyle/>
                <a:p>
                  <a:pPr algn="l" eaLnBrk="0" hangingPunct="0">
                    <a:lnSpc>
                      <a:spcPct val="85000"/>
                    </a:lnSpc>
                  </a:pPr>
                  <a:r>
                    <a:rPr kumimoji="1" lang="en-US" altLang="zh-CN" b="1" dirty="0">
                      <a:solidFill>
                        <a:srgbClr val="FF3300"/>
                      </a:solidFill>
                      <a:latin typeface="Comic Sans MS" pitchFamily="66" charset="0"/>
                    </a:rPr>
                    <a:t>Single Accumulator</a:t>
                  </a:r>
                  <a:r>
                    <a:rPr kumimoji="1" lang="en-US" altLang="zh-CN" b="1" dirty="0">
                      <a:latin typeface="Comic Sans MS" pitchFamily="66" charset="0"/>
                    </a:rPr>
                    <a:t> (EDSAC 1950)</a:t>
                  </a:r>
                </a:p>
              </p:txBody>
            </p:sp>
            <p:sp>
              <p:nvSpPr>
                <p:cNvPr id="39956" name="Rectangle 7"/>
                <p:cNvSpPr>
                  <a:spLocks noChangeArrowheads="1"/>
                </p:cNvSpPr>
                <p:nvPr/>
              </p:nvSpPr>
              <p:spPr bwMode="auto">
                <a:xfrm>
                  <a:off x="1352" y="976"/>
                  <a:ext cx="2989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47625" tIns="19050" rIns="47625" bIns="19050">
                  <a:spAutoFit/>
                </a:bodyPr>
                <a:lstStyle/>
                <a:p>
                  <a:pPr algn="l" eaLnBrk="0" hangingPunct="0">
                    <a:lnSpc>
                      <a:spcPct val="85000"/>
                    </a:lnSpc>
                  </a:pPr>
                  <a:r>
                    <a:rPr kumimoji="1" lang="en-US" altLang="zh-CN" b="1" dirty="0">
                      <a:solidFill>
                        <a:srgbClr val="FF3300"/>
                      </a:solidFill>
                      <a:latin typeface="Comic Sans MS" pitchFamily="66" charset="0"/>
                    </a:rPr>
                    <a:t>Accumulator + Index Registers</a:t>
                  </a:r>
                  <a:endParaRPr kumimoji="1" lang="en-US" altLang="zh-CN" b="1" dirty="0">
                    <a:solidFill>
                      <a:schemeClr val="hlink"/>
                    </a:solidFill>
                    <a:latin typeface="Comic Sans MS" pitchFamily="66" charset="0"/>
                  </a:endParaRPr>
                </a:p>
              </p:txBody>
            </p:sp>
            <p:sp>
              <p:nvSpPr>
                <p:cNvPr id="39957" name="Rectangle 8"/>
                <p:cNvSpPr>
                  <a:spLocks noChangeArrowheads="1"/>
                </p:cNvSpPr>
                <p:nvPr/>
              </p:nvSpPr>
              <p:spPr bwMode="auto">
                <a:xfrm>
                  <a:off x="2312" y="1168"/>
                  <a:ext cx="4158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47625" tIns="19050" rIns="47625" bIns="19050">
                  <a:spAutoFit/>
                </a:bodyPr>
                <a:lstStyle/>
                <a:p>
                  <a:pPr algn="l" eaLnBrk="0" hangingPunct="0">
                    <a:lnSpc>
                      <a:spcPct val="85000"/>
                    </a:lnSpc>
                  </a:pPr>
                  <a:r>
                    <a:rPr kumimoji="1" lang="en-US" altLang="zh-CN" b="1" dirty="0">
                      <a:latin typeface="Comic Sans MS" pitchFamily="66" charset="0"/>
                    </a:rPr>
                    <a:t>(Manchester Mark I, IBM 700 series 1953)</a:t>
                  </a:r>
                </a:p>
              </p:txBody>
            </p:sp>
            <p:sp>
              <p:nvSpPr>
                <p:cNvPr id="39958" name="Rectangle 9"/>
                <p:cNvSpPr>
                  <a:spLocks noChangeArrowheads="1"/>
                </p:cNvSpPr>
                <p:nvPr/>
              </p:nvSpPr>
              <p:spPr bwMode="auto">
                <a:xfrm>
                  <a:off x="1496" y="1599"/>
                  <a:ext cx="3249" cy="4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47625" tIns="19050" rIns="47625" bIns="19050">
                  <a:spAutoFit/>
                </a:bodyPr>
                <a:lstStyle/>
                <a:p>
                  <a:pPr algn="l" eaLnBrk="0" hangingPunct="0">
                    <a:lnSpc>
                      <a:spcPct val="85000"/>
                    </a:lnSpc>
                  </a:pPr>
                  <a:r>
                    <a:rPr kumimoji="1" lang="en-US" altLang="zh-CN" b="1" dirty="0">
                      <a:solidFill>
                        <a:srgbClr val="FF3300"/>
                      </a:solidFill>
                      <a:latin typeface="Comic Sans MS" pitchFamily="66" charset="0"/>
                    </a:rPr>
                    <a:t>Separation of Programming Model</a:t>
                  </a:r>
                </a:p>
                <a:p>
                  <a:pPr algn="l" eaLnBrk="0" hangingPunct="0">
                    <a:lnSpc>
                      <a:spcPct val="85000"/>
                    </a:lnSpc>
                  </a:pPr>
                  <a:r>
                    <a:rPr kumimoji="1" lang="en-US" altLang="zh-CN" b="1" dirty="0">
                      <a:solidFill>
                        <a:srgbClr val="FF3300"/>
                      </a:solidFill>
                      <a:latin typeface="Comic Sans MS" pitchFamily="66" charset="0"/>
                    </a:rPr>
                    <a:t>          from Implementation</a:t>
                  </a:r>
                  <a:endParaRPr kumimoji="1" lang="en-US" altLang="zh-CN" b="1" dirty="0">
                    <a:solidFill>
                      <a:schemeClr val="hlink"/>
                    </a:solidFill>
                    <a:latin typeface="Comic Sans MS" pitchFamily="66" charset="0"/>
                  </a:endParaRPr>
                </a:p>
              </p:txBody>
            </p:sp>
            <p:sp>
              <p:nvSpPr>
                <p:cNvPr id="39959" name="Rectangle 10"/>
                <p:cNvSpPr>
                  <a:spLocks noChangeArrowheads="1"/>
                </p:cNvSpPr>
                <p:nvPr/>
              </p:nvSpPr>
              <p:spPr bwMode="auto">
                <a:xfrm>
                  <a:off x="392" y="2176"/>
                  <a:ext cx="2553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47625" tIns="19050" rIns="47625" bIns="19050">
                  <a:spAutoFit/>
                </a:bodyPr>
                <a:lstStyle/>
                <a:p>
                  <a:pPr algn="l" eaLnBrk="0" hangingPunct="0">
                    <a:lnSpc>
                      <a:spcPct val="85000"/>
                    </a:lnSpc>
                  </a:pPr>
                  <a:r>
                    <a:rPr kumimoji="1" lang="en-US" altLang="zh-CN" b="1" dirty="0">
                      <a:solidFill>
                        <a:srgbClr val="FF3300"/>
                      </a:solidFill>
                      <a:latin typeface="Comic Sans MS" pitchFamily="66" charset="0"/>
                    </a:rPr>
                    <a:t>High-level Language Based</a:t>
                  </a:r>
                  <a:endParaRPr kumimoji="1" lang="en-US" altLang="zh-CN" b="1" dirty="0">
                    <a:solidFill>
                      <a:schemeClr val="hlink"/>
                    </a:solidFill>
                    <a:latin typeface="Comic Sans MS" pitchFamily="66" charset="0"/>
                  </a:endParaRPr>
                </a:p>
              </p:txBody>
            </p:sp>
            <p:sp>
              <p:nvSpPr>
                <p:cNvPr id="39960" name="Rectangle 11"/>
                <p:cNvSpPr>
                  <a:spLocks noChangeArrowheads="1"/>
                </p:cNvSpPr>
                <p:nvPr/>
              </p:nvSpPr>
              <p:spPr bwMode="auto">
                <a:xfrm>
                  <a:off x="3272" y="2176"/>
                  <a:ext cx="1916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47625" tIns="19050" rIns="47625" bIns="19050">
                  <a:spAutoFit/>
                </a:bodyPr>
                <a:lstStyle/>
                <a:p>
                  <a:pPr algn="l" eaLnBrk="0" hangingPunct="0">
                    <a:lnSpc>
                      <a:spcPct val="85000"/>
                    </a:lnSpc>
                  </a:pPr>
                  <a:r>
                    <a:rPr kumimoji="1" lang="en-US" altLang="zh-CN" b="1" dirty="0">
                      <a:solidFill>
                        <a:srgbClr val="FF3300"/>
                      </a:solidFill>
                      <a:latin typeface="Comic Sans MS" pitchFamily="66" charset="0"/>
                    </a:rPr>
                    <a:t>Concept of a Family</a:t>
                  </a:r>
                  <a:endParaRPr kumimoji="1" lang="en-US" altLang="zh-CN" b="1" dirty="0">
                    <a:solidFill>
                      <a:schemeClr val="hlink"/>
                    </a:solidFill>
                    <a:latin typeface="Comic Sans MS" pitchFamily="66" charset="0"/>
                  </a:endParaRPr>
                </a:p>
              </p:txBody>
            </p:sp>
            <p:sp>
              <p:nvSpPr>
                <p:cNvPr id="39961" name="Rectangle 12"/>
                <p:cNvSpPr>
                  <a:spLocks noChangeArrowheads="1"/>
                </p:cNvSpPr>
                <p:nvPr/>
              </p:nvSpPr>
              <p:spPr bwMode="auto">
                <a:xfrm>
                  <a:off x="632" y="2367"/>
                  <a:ext cx="1365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47625" tIns="19050" rIns="47625" bIns="19050">
                  <a:spAutoFit/>
                </a:bodyPr>
                <a:lstStyle/>
                <a:p>
                  <a:pPr algn="l" eaLnBrk="0" hangingPunct="0">
                    <a:lnSpc>
                      <a:spcPct val="85000"/>
                    </a:lnSpc>
                  </a:pPr>
                  <a:r>
                    <a:rPr kumimoji="1" lang="en-US" altLang="zh-CN" b="1" dirty="0">
                      <a:latin typeface="Comic Sans MS" pitchFamily="66" charset="0"/>
                    </a:rPr>
                    <a:t>(B5000 1963)</a:t>
                  </a:r>
                </a:p>
              </p:txBody>
            </p:sp>
            <p:sp>
              <p:nvSpPr>
                <p:cNvPr id="39962" name="Rectangle 13"/>
                <p:cNvSpPr>
                  <a:spLocks noChangeArrowheads="1"/>
                </p:cNvSpPr>
                <p:nvPr/>
              </p:nvSpPr>
              <p:spPr bwMode="auto">
                <a:xfrm>
                  <a:off x="3560" y="2367"/>
                  <a:ext cx="1586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47625" tIns="19050" rIns="47625" bIns="19050">
                  <a:spAutoFit/>
                </a:bodyPr>
                <a:lstStyle/>
                <a:p>
                  <a:pPr algn="l" eaLnBrk="0" hangingPunct="0">
                    <a:lnSpc>
                      <a:spcPct val="85000"/>
                    </a:lnSpc>
                  </a:pPr>
                  <a:r>
                    <a:rPr kumimoji="1" lang="en-US" altLang="zh-CN" b="1" dirty="0">
                      <a:latin typeface="Comic Sans MS" pitchFamily="66" charset="0"/>
                    </a:rPr>
                    <a:t>(IBM 360 1964)</a:t>
                  </a:r>
                </a:p>
              </p:txBody>
            </p:sp>
            <p:sp>
              <p:nvSpPr>
                <p:cNvPr id="39963" name="Rectangle 14"/>
                <p:cNvSpPr>
                  <a:spLocks noChangeArrowheads="1"/>
                </p:cNvSpPr>
                <p:nvPr/>
              </p:nvSpPr>
              <p:spPr bwMode="auto">
                <a:xfrm>
                  <a:off x="1448" y="2704"/>
                  <a:ext cx="3374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47625" tIns="19050" rIns="47625" bIns="19050">
                  <a:spAutoFit/>
                </a:bodyPr>
                <a:lstStyle/>
                <a:p>
                  <a:pPr algn="l" eaLnBrk="0" hangingPunct="0">
                    <a:lnSpc>
                      <a:spcPct val="85000"/>
                    </a:lnSpc>
                  </a:pPr>
                  <a:r>
                    <a:rPr kumimoji="1" lang="en-US" altLang="zh-CN" b="1" dirty="0">
                      <a:solidFill>
                        <a:srgbClr val="FF3300"/>
                      </a:solidFill>
                      <a:latin typeface="Comic Sans MS" pitchFamily="66" charset="0"/>
                    </a:rPr>
                    <a:t>General Purpose Register Machines</a:t>
                  </a:r>
                  <a:endParaRPr kumimoji="1" lang="en-US" altLang="zh-CN" b="1" dirty="0">
                    <a:solidFill>
                      <a:schemeClr val="hlink"/>
                    </a:solidFill>
                    <a:latin typeface="Comic Sans MS" pitchFamily="66" charset="0"/>
                  </a:endParaRPr>
                </a:p>
              </p:txBody>
            </p:sp>
            <p:sp>
              <p:nvSpPr>
                <p:cNvPr id="39964" name="Rectangle 15"/>
                <p:cNvSpPr>
                  <a:spLocks noChangeArrowheads="1"/>
                </p:cNvSpPr>
                <p:nvPr/>
              </p:nvSpPr>
              <p:spPr bwMode="auto">
                <a:xfrm>
                  <a:off x="296" y="3087"/>
                  <a:ext cx="2495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47625" tIns="19050" rIns="47625" bIns="19050">
                  <a:spAutoFit/>
                </a:bodyPr>
                <a:lstStyle/>
                <a:p>
                  <a:pPr algn="l" eaLnBrk="0" hangingPunct="0">
                    <a:lnSpc>
                      <a:spcPct val="85000"/>
                    </a:lnSpc>
                  </a:pPr>
                  <a:r>
                    <a:rPr kumimoji="1" lang="en-US" altLang="zh-CN" b="1" dirty="0">
                      <a:solidFill>
                        <a:srgbClr val="FF3300"/>
                      </a:solidFill>
                      <a:latin typeface="Comic Sans MS" pitchFamily="66" charset="0"/>
                    </a:rPr>
                    <a:t>Complex Instruction Sets</a:t>
                  </a:r>
                  <a:endParaRPr kumimoji="1" lang="en-US" altLang="zh-CN" b="1" dirty="0">
                    <a:solidFill>
                      <a:schemeClr val="hlink"/>
                    </a:solidFill>
                    <a:latin typeface="Comic Sans MS" pitchFamily="66" charset="0"/>
                  </a:endParaRPr>
                </a:p>
              </p:txBody>
            </p:sp>
            <p:sp>
              <p:nvSpPr>
                <p:cNvPr id="39965" name="Rectangle 16"/>
                <p:cNvSpPr>
                  <a:spLocks noChangeArrowheads="1"/>
                </p:cNvSpPr>
                <p:nvPr/>
              </p:nvSpPr>
              <p:spPr bwMode="auto">
                <a:xfrm>
                  <a:off x="3224" y="3087"/>
                  <a:ext cx="2465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47625" tIns="19050" rIns="47625" bIns="19050">
                  <a:spAutoFit/>
                </a:bodyPr>
                <a:lstStyle/>
                <a:p>
                  <a:pPr algn="l" eaLnBrk="0" hangingPunct="0">
                    <a:lnSpc>
                      <a:spcPct val="85000"/>
                    </a:lnSpc>
                  </a:pPr>
                  <a:r>
                    <a:rPr kumimoji="1" lang="en-US" altLang="zh-CN" b="1" dirty="0">
                      <a:solidFill>
                        <a:srgbClr val="FF3300"/>
                      </a:solidFill>
                      <a:latin typeface="Comic Sans MS" pitchFamily="66" charset="0"/>
                    </a:rPr>
                    <a:t>Load/Store Architecture</a:t>
                  </a:r>
                  <a:endParaRPr kumimoji="1" lang="en-US" altLang="zh-CN" b="1" dirty="0">
                    <a:solidFill>
                      <a:schemeClr val="hlink"/>
                    </a:solidFill>
                    <a:latin typeface="Comic Sans MS" pitchFamily="66" charset="0"/>
                  </a:endParaRPr>
                </a:p>
              </p:txBody>
            </p:sp>
            <p:sp>
              <p:nvSpPr>
                <p:cNvPr id="39966" name="Rectangle 17"/>
                <p:cNvSpPr>
                  <a:spLocks noChangeArrowheads="1"/>
                </p:cNvSpPr>
                <p:nvPr/>
              </p:nvSpPr>
              <p:spPr bwMode="auto">
                <a:xfrm>
                  <a:off x="488" y="3328"/>
                  <a:ext cx="2449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47625" tIns="19050" rIns="47625" bIns="19050">
                  <a:spAutoFit/>
                </a:bodyPr>
                <a:lstStyle/>
                <a:p>
                  <a:pPr algn="l" eaLnBrk="0" hangingPunct="0">
                    <a:lnSpc>
                      <a:spcPct val="85000"/>
                    </a:lnSpc>
                  </a:pPr>
                  <a:r>
                    <a:rPr kumimoji="1" lang="en-US" altLang="zh-CN" b="1" dirty="0">
                      <a:latin typeface="Comic Sans MS" pitchFamily="66" charset="0"/>
                    </a:rPr>
                    <a:t>(Vax, Intel 432 1977-80)</a:t>
                  </a:r>
                </a:p>
              </p:txBody>
            </p:sp>
            <p:sp>
              <p:nvSpPr>
                <p:cNvPr id="39967" name="Rectangle 18"/>
                <p:cNvSpPr>
                  <a:spLocks noChangeArrowheads="1"/>
                </p:cNvSpPr>
                <p:nvPr/>
              </p:nvSpPr>
              <p:spPr bwMode="auto">
                <a:xfrm>
                  <a:off x="3464" y="3280"/>
                  <a:ext cx="2705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47625" tIns="19050" rIns="47625" bIns="19050">
                  <a:spAutoFit/>
                </a:bodyPr>
                <a:lstStyle/>
                <a:p>
                  <a:pPr algn="l" eaLnBrk="0" hangingPunct="0">
                    <a:lnSpc>
                      <a:spcPct val="85000"/>
                    </a:lnSpc>
                  </a:pPr>
                  <a:r>
                    <a:rPr kumimoji="1" lang="en-US" altLang="zh-CN" b="1" dirty="0">
                      <a:latin typeface="Comic Sans MS" pitchFamily="66" charset="0"/>
                    </a:rPr>
                    <a:t>(CDC 6600, Cray 1 1963-76)</a:t>
                  </a:r>
                </a:p>
              </p:txBody>
            </p:sp>
            <p:sp>
              <p:nvSpPr>
                <p:cNvPr id="39968" name="Rectangle 19"/>
                <p:cNvSpPr>
                  <a:spLocks noChangeArrowheads="1"/>
                </p:cNvSpPr>
                <p:nvPr/>
              </p:nvSpPr>
              <p:spPr bwMode="auto">
                <a:xfrm>
                  <a:off x="2696" y="3808"/>
                  <a:ext cx="4059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47625" tIns="19050" rIns="47625" bIns="19050">
                  <a:spAutoFit/>
                </a:bodyPr>
                <a:lstStyle/>
                <a:p>
                  <a:pPr algn="l" eaLnBrk="0" hangingPunct="0">
                    <a:lnSpc>
                      <a:spcPct val="85000"/>
                    </a:lnSpc>
                  </a:pPr>
                  <a:r>
                    <a:rPr kumimoji="1" lang="en-US" altLang="zh-CN" b="1" dirty="0">
                      <a:latin typeface="Comic Sans MS" pitchFamily="66" charset="0"/>
                    </a:rPr>
                    <a:t>(</a:t>
                  </a:r>
                  <a:r>
                    <a:rPr kumimoji="1" lang="en-US" altLang="zh-CN" b="1" dirty="0" err="1">
                      <a:latin typeface="Comic Sans MS" pitchFamily="66" charset="0"/>
                    </a:rPr>
                    <a:t>Mips,Sparc,HP</a:t>
                  </a:r>
                  <a:r>
                    <a:rPr kumimoji="1" lang="en-US" altLang="zh-CN" b="1" dirty="0">
                      <a:latin typeface="Comic Sans MS" pitchFamily="66" charset="0"/>
                    </a:rPr>
                    <a:t>-PA,IBM RS6000, . . .1987)</a:t>
                  </a:r>
                </a:p>
              </p:txBody>
            </p:sp>
          </p:grpSp>
          <p:grpSp>
            <p:nvGrpSpPr>
              <p:cNvPr id="39945" name="Group 20"/>
              <p:cNvGrpSpPr>
                <a:grpSpLocks/>
              </p:cNvGrpSpPr>
              <p:nvPr/>
            </p:nvGrpSpPr>
            <p:grpSpPr bwMode="auto">
              <a:xfrm>
                <a:off x="1244" y="868"/>
                <a:ext cx="2404" cy="2728"/>
                <a:chOff x="1244" y="868"/>
                <a:chExt cx="2404" cy="2728"/>
              </a:xfrm>
            </p:grpSpPr>
            <p:sp>
              <p:nvSpPr>
                <p:cNvPr id="39946" name="Line 21"/>
                <p:cNvSpPr>
                  <a:spLocks noChangeShapeType="1"/>
                </p:cNvSpPr>
                <p:nvPr/>
              </p:nvSpPr>
              <p:spPr bwMode="auto">
                <a:xfrm>
                  <a:off x="2352" y="868"/>
                  <a:ext cx="0" cy="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47" name="Line 22"/>
                <p:cNvSpPr>
                  <a:spLocks noChangeShapeType="1"/>
                </p:cNvSpPr>
                <p:nvPr/>
              </p:nvSpPr>
              <p:spPr bwMode="auto">
                <a:xfrm>
                  <a:off x="2352" y="1396"/>
                  <a:ext cx="0" cy="18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48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1532" y="1924"/>
                  <a:ext cx="632" cy="18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49" name="Line 24"/>
                <p:cNvSpPr>
                  <a:spLocks noChangeShapeType="1"/>
                </p:cNvSpPr>
                <p:nvPr/>
              </p:nvSpPr>
              <p:spPr bwMode="auto">
                <a:xfrm>
                  <a:off x="2788" y="1924"/>
                  <a:ext cx="856" cy="18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50" name="Line 25"/>
                <p:cNvSpPr>
                  <a:spLocks noChangeShapeType="1"/>
                </p:cNvSpPr>
                <p:nvPr/>
              </p:nvSpPr>
              <p:spPr bwMode="auto">
                <a:xfrm>
                  <a:off x="1396" y="2452"/>
                  <a:ext cx="376" cy="18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51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3212" y="2404"/>
                  <a:ext cx="296" cy="2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52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1244" y="2884"/>
                  <a:ext cx="872" cy="18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53" name="Line 28"/>
                <p:cNvSpPr>
                  <a:spLocks noChangeShapeType="1"/>
                </p:cNvSpPr>
                <p:nvPr/>
              </p:nvSpPr>
              <p:spPr bwMode="auto">
                <a:xfrm>
                  <a:off x="3028" y="2884"/>
                  <a:ext cx="616" cy="1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54" name="Line 29"/>
                <p:cNvSpPr>
                  <a:spLocks noChangeShapeType="1"/>
                </p:cNvSpPr>
                <p:nvPr/>
              </p:nvSpPr>
              <p:spPr bwMode="auto">
                <a:xfrm>
                  <a:off x="3648" y="3460"/>
                  <a:ext cx="0" cy="1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9943" name="Rectangle 30"/>
            <p:cNvSpPr>
              <a:spLocks noChangeArrowheads="1"/>
            </p:cNvSpPr>
            <p:nvPr/>
          </p:nvSpPr>
          <p:spPr bwMode="auto">
            <a:xfrm>
              <a:off x="3120" y="3648"/>
              <a:ext cx="576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85000"/>
                </a:lnSpc>
              </a:pPr>
              <a:r>
                <a:rPr kumimoji="1" lang="en-US" altLang="zh-CN" b="1">
                  <a:solidFill>
                    <a:srgbClr val="FF3300"/>
                  </a:solidFill>
                  <a:latin typeface="Comic Sans MS" pitchFamily="66" charset="0"/>
                </a:rPr>
                <a:t>RISC</a:t>
              </a:r>
              <a:endParaRPr kumimoji="1" lang="en-US" altLang="zh-CN" b="1">
                <a:solidFill>
                  <a:schemeClr val="hlink"/>
                </a:solidFill>
                <a:latin typeface="Comic Sans MS" pitchFamily="66" charset="0"/>
              </a:endParaRPr>
            </a:p>
          </p:txBody>
        </p:sp>
      </p:grp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good interface:</a:t>
            </a:r>
          </a:p>
          <a:p>
            <a:pPr lvl="1"/>
            <a:r>
              <a:rPr lang="en-US" altLang="zh-CN" dirty="0"/>
              <a:t>Lasts through many implementations (portability, compatibility)</a:t>
            </a:r>
          </a:p>
          <a:p>
            <a:pPr lvl="1"/>
            <a:r>
              <a:rPr lang="en-US" altLang="zh-CN" dirty="0"/>
              <a:t>Usable in many different scenarios (generality)</a:t>
            </a:r>
          </a:p>
          <a:p>
            <a:pPr lvl="1"/>
            <a:r>
              <a:rPr lang="en-US" altLang="zh-CN" dirty="0"/>
              <a:t>Provides convenient functionality to higher levels</a:t>
            </a:r>
          </a:p>
          <a:p>
            <a:pPr lvl="1"/>
            <a:r>
              <a:rPr lang="en-US" altLang="zh-CN" dirty="0"/>
              <a:t>Permits an efficient implementation at lower levels</a:t>
            </a:r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Interface Design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Class</a:t>
            </a:r>
          </a:p>
          <a:p>
            <a:r>
              <a:rPr lang="en-US" altLang="zh-CN" dirty="0"/>
              <a:t>Memory addressing</a:t>
            </a:r>
          </a:p>
          <a:p>
            <a:r>
              <a:rPr lang="en-US" altLang="zh-CN" dirty="0"/>
              <a:t>Addressing modes</a:t>
            </a:r>
          </a:p>
          <a:p>
            <a:r>
              <a:rPr lang="en-US" altLang="zh-CN" dirty="0"/>
              <a:t>Types and sizes of operands</a:t>
            </a:r>
          </a:p>
          <a:p>
            <a:r>
              <a:rPr lang="en-US" altLang="zh-CN" dirty="0"/>
              <a:t>Operations</a:t>
            </a:r>
          </a:p>
          <a:p>
            <a:r>
              <a:rPr lang="en-US" altLang="zh-CN" dirty="0"/>
              <a:t>Control flow instructions</a:t>
            </a:r>
          </a:p>
          <a:p>
            <a:r>
              <a:rPr lang="en-US" altLang="zh-CN" dirty="0"/>
              <a:t>Encoding</a:t>
            </a: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Seven dimensions of ISA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3" name="Rectangle 3"/>
          <p:cNvSpPr>
            <a:spLocks noGrp="1" noChangeArrowheads="1"/>
          </p:cNvSpPr>
          <p:nvPr>
            <p:ph idx="1"/>
          </p:nvPr>
        </p:nvSpPr>
        <p:spPr>
          <a:xfrm>
            <a:off x="661629" y="681540"/>
            <a:ext cx="7820742" cy="3314700"/>
          </a:xfrm>
        </p:spPr>
        <p:txBody>
          <a:bodyPr/>
          <a:lstStyle/>
          <a:p>
            <a:r>
              <a:rPr lang="en-US" altLang="zh-CN" dirty="0"/>
              <a:t>1950s to 1960s: </a:t>
            </a:r>
          </a:p>
          <a:p>
            <a:pPr lvl="1"/>
            <a:r>
              <a:rPr lang="en-US" altLang="zh-CN" dirty="0"/>
              <a:t>Computer Arithmetic</a:t>
            </a:r>
          </a:p>
          <a:p>
            <a:r>
              <a:rPr lang="en-US" altLang="zh-CN" dirty="0"/>
              <a:t>1970s to mid 1980s:</a:t>
            </a:r>
          </a:p>
          <a:p>
            <a:pPr lvl="1"/>
            <a:r>
              <a:rPr lang="en-US" altLang="zh-CN" dirty="0"/>
              <a:t>Instruction Set Design, especially ISA appropriate for compilers</a:t>
            </a:r>
          </a:p>
          <a:p>
            <a:r>
              <a:rPr lang="en-US" altLang="zh-CN" dirty="0"/>
              <a:t>1990s: </a:t>
            </a:r>
          </a:p>
          <a:p>
            <a:pPr lvl="1"/>
            <a:r>
              <a:rPr lang="en-US" altLang="zh-CN" dirty="0"/>
              <a:t>Design of CPU, memory system, I/O system, Multiprocessors, Networks. </a:t>
            </a:r>
          </a:p>
          <a:p>
            <a:r>
              <a:rPr lang="en-US" altLang="zh-CN" dirty="0"/>
              <a:t>2010s: </a:t>
            </a:r>
          </a:p>
          <a:p>
            <a:pPr lvl="1"/>
            <a:r>
              <a:rPr lang="en-US" altLang="zh-CN" dirty="0"/>
              <a:t>Multicore, Self adapting systems? Self organizing structures?</a:t>
            </a:r>
          </a:p>
          <a:p>
            <a:pPr lvl="1"/>
            <a:r>
              <a:rPr lang="en-US" altLang="zh-CN" dirty="0"/>
              <a:t>Power-aware design, reconfigurable </a:t>
            </a:r>
          </a:p>
          <a:p>
            <a:r>
              <a:rPr lang="en-US" altLang="zh-CN" dirty="0"/>
              <a:t>2020s:</a:t>
            </a:r>
          </a:p>
          <a:p>
            <a:pPr lvl="1"/>
            <a:r>
              <a:rPr lang="en-US" altLang="zh-CN" dirty="0"/>
              <a:t>Heterogeneous accelerator, GPU,</a:t>
            </a:r>
            <a:r>
              <a:rPr lang="zh-CN" altLang="en-US" dirty="0"/>
              <a:t> </a:t>
            </a:r>
            <a:r>
              <a:rPr lang="en-US" altLang="zh-CN" dirty="0"/>
              <a:t>FPGA, TPU, NPU</a:t>
            </a:r>
          </a:p>
          <a:p>
            <a:pPr lvl="1"/>
            <a:r>
              <a:rPr lang="en-US" altLang="zh-CN" dirty="0"/>
              <a:t>Security design</a:t>
            </a:r>
          </a:p>
          <a:p>
            <a:pPr lvl="1"/>
            <a:endParaRPr lang="en-US" altLang="zh-CN" dirty="0"/>
          </a:p>
        </p:txBody>
      </p:sp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Evolution of Computer Architecture Course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Computer Architecture is the science and art of selecting and interconnecting hardware components to create computers that meet functional, performance and cost goals. </a:t>
            </a:r>
          </a:p>
          <a:p>
            <a:r>
              <a:rPr lang="en-US" altLang="zh-CN" dirty="0"/>
              <a:t>It Covers:</a:t>
            </a:r>
          </a:p>
          <a:p>
            <a:pPr lvl="1"/>
            <a:r>
              <a:rPr lang="en-US" altLang="zh-CN" dirty="0"/>
              <a:t>Instruction Set design</a:t>
            </a:r>
          </a:p>
          <a:p>
            <a:pPr lvl="1"/>
            <a:r>
              <a:rPr lang="en-US" altLang="zh-CN" dirty="0"/>
              <a:t>Organization: high level of aspects of a computer’s design</a:t>
            </a:r>
          </a:p>
          <a:p>
            <a:pPr lvl="2"/>
            <a:r>
              <a:rPr lang="en-US" altLang="zh-CN" dirty="0"/>
              <a:t>Memory, memory interconnect, internal CPU</a:t>
            </a:r>
          </a:p>
          <a:p>
            <a:pPr lvl="1"/>
            <a:r>
              <a:rPr lang="en-US" altLang="zh-CN" dirty="0"/>
              <a:t>Hardware: specifics of computer</a:t>
            </a:r>
          </a:p>
          <a:p>
            <a:pPr lvl="2"/>
            <a:r>
              <a:rPr lang="en-US" altLang="zh-CN" dirty="0"/>
              <a:t>Detailed logic design, packaging, cooling system, board displacement, power </a:t>
            </a:r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Computer Architecture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Computer Architecture Topics</a:t>
            </a:r>
          </a:p>
        </p:txBody>
      </p:sp>
      <p:grpSp>
        <p:nvGrpSpPr>
          <p:cNvPr id="45061" name="Group 3"/>
          <p:cNvGrpSpPr>
            <a:grpSpLocks/>
          </p:cNvGrpSpPr>
          <p:nvPr/>
        </p:nvGrpSpPr>
        <p:grpSpPr bwMode="auto">
          <a:xfrm>
            <a:off x="855912" y="699542"/>
            <a:ext cx="7515224" cy="4135253"/>
            <a:chOff x="275" y="750"/>
            <a:chExt cx="6312" cy="3840"/>
          </a:xfrm>
        </p:grpSpPr>
        <p:sp>
          <p:nvSpPr>
            <p:cNvPr id="45062" name="Line 4"/>
            <p:cNvSpPr>
              <a:spLocks noChangeShapeType="1"/>
            </p:cNvSpPr>
            <p:nvPr/>
          </p:nvSpPr>
          <p:spPr bwMode="auto">
            <a:xfrm flipV="1">
              <a:off x="1204" y="2684"/>
              <a:ext cx="320" cy="5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63" name="Line 5"/>
            <p:cNvSpPr>
              <a:spLocks noChangeShapeType="1"/>
            </p:cNvSpPr>
            <p:nvPr/>
          </p:nvSpPr>
          <p:spPr bwMode="auto">
            <a:xfrm>
              <a:off x="1532" y="2688"/>
              <a:ext cx="1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64" name="Line 6"/>
            <p:cNvSpPr>
              <a:spLocks noChangeShapeType="1"/>
            </p:cNvSpPr>
            <p:nvPr/>
          </p:nvSpPr>
          <p:spPr bwMode="auto">
            <a:xfrm flipH="1">
              <a:off x="2772" y="2732"/>
              <a:ext cx="352" cy="5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65" name="Rectangle 7"/>
            <p:cNvSpPr>
              <a:spLocks noChangeArrowheads="1"/>
            </p:cNvSpPr>
            <p:nvPr/>
          </p:nvSpPr>
          <p:spPr bwMode="auto">
            <a:xfrm>
              <a:off x="1196" y="3268"/>
              <a:ext cx="1576" cy="14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66" name="Line 8"/>
            <p:cNvSpPr>
              <a:spLocks noChangeShapeType="1"/>
            </p:cNvSpPr>
            <p:nvPr/>
          </p:nvSpPr>
          <p:spPr bwMode="auto">
            <a:xfrm>
              <a:off x="3112" y="2716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67" name="Line 9"/>
            <p:cNvSpPr>
              <a:spLocks noChangeShapeType="1"/>
            </p:cNvSpPr>
            <p:nvPr/>
          </p:nvSpPr>
          <p:spPr bwMode="auto">
            <a:xfrm flipH="1">
              <a:off x="2780" y="2924"/>
              <a:ext cx="336" cy="5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68" name="Rectangle 10"/>
            <p:cNvSpPr>
              <a:spLocks noChangeArrowheads="1"/>
            </p:cNvSpPr>
            <p:nvPr/>
          </p:nvSpPr>
          <p:spPr bwMode="auto">
            <a:xfrm>
              <a:off x="1180" y="3284"/>
              <a:ext cx="1699" cy="1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sz="1050" b="1" dirty="0">
                  <a:latin typeface="Comic Sans MS" pitchFamily="66" charset="0"/>
                </a:rPr>
                <a:t>Instruction Set Architecture</a:t>
              </a:r>
            </a:p>
          </p:txBody>
        </p:sp>
        <p:sp>
          <p:nvSpPr>
            <p:cNvPr id="45069" name="Rectangle 11"/>
            <p:cNvSpPr>
              <a:spLocks noChangeArrowheads="1"/>
            </p:cNvSpPr>
            <p:nvPr/>
          </p:nvSpPr>
          <p:spPr bwMode="auto">
            <a:xfrm>
              <a:off x="605" y="3628"/>
              <a:ext cx="2830" cy="9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 dirty="0">
                  <a:solidFill>
                    <a:srgbClr val="FF3300"/>
                  </a:solidFill>
                  <a:latin typeface="Comic Sans MS" pitchFamily="66" charset="0"/>
                </a:rPr>
                <a:t>Pipelining, Hazard Resolution</a:t>
              </a:r>
              <a:r>
                <a:rPr kumimoji="1" lang="en-US" altLang="zh-CN" b="1" dirty="0">
                  <a:latin typeface="Comic Sans MS" pitchFamily="66" charset="0"/>
                </a:rPr>
                <a:t>,</a:t>
              </a:r>
            </a:p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Superscalar, Reordering, </a:t>
              </a:r>
            </a:p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Prediction, Speculation,</a:t>
              </a:r>
            </a:p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Vector, Dynamic Compilation</a:t>
              </a:r>
            </a:p>
          </p:txBody>
        </p:sp>
        <p:sp>
          <p:nvSpPr>
            <p:cNvPr id="45070" name="Rectangle 12"/>
            <p:cNvSpPr>
              <a:spLocks noChangeArrowheads="1"/>
            </p:cNvSpPr>
            <p:nvPr/>
          </p:nvSpPr>
          <p:spPr bwMode="auto">
            <a:xfrm>
              <a:off x="3140" y="2890"/>
              <a:ext cx="1873" cy="7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Addressing,</a:t>
              </a:r>
            </a:p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Protection,</a:t>
              </a:r>
            </a:p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Exception Handling</a:t>
              </a:r>
            </a:p>
          </p:txBody>
        </p:sp>
        <p:sp>
          <p:nvSpPr>
            <p:cNvPr id="45071" name="Rectangle 13"/>
            <p:cNvSpPr>
              <a:spLocks noChangeArrowheads="1"/>
            </p:cNvSpPr>
            <p:nvPr/>
          </p:nvSpPr>
          <p:spPr bwMode="auto">
            <a:xfrm>
              <a:off x="1532" y="2756"/>
              <a:ext cx="1288" cy="32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2" name="Rectangle 14"/>
            <p:cNvSpPr>
              <a:spLocks noChangeArrowheads="1"/>
            </p:cNvSpPr>
            <p:nvPr/>
          </p:nvSpPr>
          <p:spPr bwMode="auto">
            <a:xfrm>
              <a:off x="1780" y="2842"/>
              <a:ext cx="895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L1 Cache</a:t>
              </a:r>
            </a:p>
          </p:txBody>
        </p:sp>
        <p:sp>
          <p:nvSpPr>
            <p:cNvPr id="45073" name="Rectangle 15"/>
            <p:cNvSpPr>
              <a:spLocks noChangeArrowheads="1"/>
            </p:cNvSpPr>
            <p:nvPr/>
          </p:nvSpPr>
          <p:spPr bwMode="auto">
            <a:xfrm>
              <a:off x="1300" y="2028"/>
              <a:ext cx="2096" cy="55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4" name="Rectangle 16"/>
            <p:cNvSpPr>
              <a:spLocks noChangeArrowheads="1"/>
            </p:cNvSpPr>
            <p:nvPr/>
          </p:nvSpPr>
          <p:spPr bwMode="auto">
            <a:xfrm>
              <a:off x="1892" y="2171"/>
              <a:ext cx="926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L2 Cache</a:t>
              </a:r>
            </a:p>
          </p:txBody>
        </p:sp>
        <p:sp>
          <p:nvSpPr>
            <p:cNvPr id="45075" name="Rectangle 17"/>
            <p:cNvSpPr>
              <a:spLocks noChangeArrowheads="1"/>
            </p:cNvSpPr>
            <p:nvPr/>
          </p:nvSpPr>
          <p:spPr bwMode="auto">
            <a:xfrm>
              <a:off x="956" y="1404"/>
              <a:ext cx="2776" cy="52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6" name="Rectangle 18"/>
            <p:cNvSpPr>
              <a:spLocks noChangeArrowheads="1"/>
            </p:cNvSpPr>
            <p:nvPr/>
          </p:nvSpPr>
          <p:spPr bwMode="auto">
            <a:xfrm>
              <a:off x="2060" y="1570"/>
              <a:ext cx="670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DRAM</a:t>
              </a:r>
            </a:p>
          </p:txBody>
        </p:sp>
        <p:sp>
          <p:nvSpPr>
            <p:cNvPr id="45077" name="Rectangle 19"/>
            <p:cNvSpPr>
              <a:spLocks noChangeArrowheads="1"/>
            </p:cNvSpPr>
            <p:nvPr/>
          </p:nvSpPr>
          <p:spPr bwMode="auto">
            <a:xfrm>
              <a:off x="676" y="1020"/>
              <a:ext cx="4096" cy="26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8" name="Rectangle 20"/>
            <p:cNvSpPr>
              <a:spLocks noChangeArrowheads="1"/>
            </p:cNvSpPr>
            <p:nvPr/>
          </p:nvSpPr>
          <p:spPr bwMode="auto">
            <a:xfrm>
              <a:off x="2012" y="1066"/>
              <a:ext cx="1943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Disks, WORM, Tape</a:t>
              </a:r>
            </a:p>
          </p:txBody>
        </p:sp>
        <p:sp>
          <p:nvSpPr>
            <p:cNvPr id="45079" name="Rectangle 21"/>
            <p:cNvSpPr>
              <a:spLocks noChangeArrowheads="1"/>
            </p:cNvSpPr>
            <p:nvPr/>
          </p:nvSpPr>
          <p:spPr bwMode="auto">
            <a:xfrm>
              <a:off x="3404" y="2109"/>
              <a:ext cx="1119" cy="7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Coherence,</a:t>
              </a:r>
            </a:p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Bandwidth,</a:t>
              </a:r>
            </a:p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Latency</a:t>
              </a:r>
            </a:p>
          </p:txBody>
        </p:sp>
        <p:sp>
          <p:nvSpPr>
            <p:cNvPr id="45080" name="Rectangle 22"/>
            <p:cNvSpPr>
              <a:spLocks noChangeArrowheads="1"/>
            </p:cNvSpPr>
            <p:nvPr/>
          </p:nvSpPr>
          <p:spPr bwMode="auto">
            <a:xfrm>
              <a:off x="3816" y="1356"/>
              <a:ext cx="2215" cy="7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Emerging Technologies</a:t>
              </a:r>
            </a:p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Interleaving</a:t>
              </a:r>
            </a:p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Bus protocols</a:t>
              </a:r>
            </a:p>
          </p:txBody>
        </p:sp>
        <p:sp>
          <p:nvSpPr>
            <p:cNvPr id="45081" name="Rectangle 23"/>
            <p:cNvSpPr>
              <a:spLocks noChangeArrowheads="1"/>
            </p:cNvSpPr>
            <p:nvPr/>
          </p:nvSpPr>
          <p:spPr bwMode="auto">
            <a:xfrm>
              <a:off x="4804" y="1074"/>
              <a:ext cx="606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RAID</a:t>
              </a:r>
            </a:p>
          </p:txBody>
        </p:sp>
        <p:sp>
          <p:nvSpPr>
            <p:cNvPr id="45082" name="Rectangle 24"/>
            <p:cNvSpPr>
              <a:spLocks noChangeArrowheads="1"/>
            </p:cNvSpPr>
            <p:nvPr/>
          </p:nvSpPr>
          <p:spPr bwMode="auto">
            <a:xfrm>
              <a:off x="772" y="2978"/>
              <a:ext cx="570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VLSI</a:t>
              </a:r>
            </a:p>
          </p:txBody>
        </p:sp>
        <p:sp>
          <p:nvSpPr>
            <p:cNvPr id="45083" name="Rectangle 25"/>
            <p:cNvSpPr>
              <a:spLocks noChangeArrowheads="1"/>
            </p:cNvSpPr>
            <p:nvPr/>
          </p:nvSpPr>
          <p:spPr bwMode="auto">
            <a:xfrm>
              <a:off x="611" y="750"/>
              <a:ext cx="2610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algn="l" eaLnBrk="0" hangingPunct="0"/>
              <a:r>
                <a:rPr kumimoji="1" lang="en-US" altLang="zh-CN" b="1" dirty="0" err="1">
                  <a:solidFill>
                    <a:srgbClr val="FF3300"/>
                  </a:solidFill>
                  <a:latin typeface="Comic Sans MS" pitchFamily="66" charset="0"/>
                </a:rPr>
                <a:t>Input/Output</a:t>
              </a:r>
              <a:r>
                <a:rPr kumimoji="1" lang="en-US" altLang="zh-CN" b="1" dirty="0">
                  <a:solidFill>
                    <a:srgbClr val="FF3300"/>
                  </a:solidFill>
                  <a:latin typeface="Comic Sans MS" pitchFamily="66" charset="0"/>
                </a:rPr>
                <a:t> and Storage</a:t>
              </a:r>
              <a:endParaRPr kumimoji="1" lang="en-US" altLang="zh-CN" b="1" dirty="0">
                <a:solidFill>
                  <a:schemeClr val="hlink"/>
                </a:solidFill>
                <a:latin typeface="Comic Sans MS" pitchFamily="66" charset="0"/>
              </a:endParaRPr>
            </a:p>
          </p:txBody>
        </p:sp>
        <p:sp>
          <p:nvSpPr>
            <p:cNvPr id="45084" name="Rectangle 26"/>
            <p:cNvSpPr>
              <a:spLocks noChangeArrowheads="1"/>
            </p:cNvSpPr>
            <p:nvPr/>
          </p:nvSpPr>
          <p:spPr bwMode="auto">
            <a:xfrm>
              <a:off x="275" y="2094"/>
              <a:ext cx="1058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algn="l" eaLnBrk="0" hangingPunct="0"/>
              <a:r>
                <a:rPr kumimoji="1" lang="en-US" altLang="zh-CN" b="1">
                  <a:solidFill>
                    <a:srgbClr val="FF3300"/>
                  </a:solidFill>
                  <a:latin typeface="Comic Sans MS" pitchFamily="66" charset="0"/>
                </a:rPr>
                <a:t>Memory</a:t>
              </a:r>
            </a:p>
            <a:p>
              <a:pPr algn="l" eaLnBrk="0" hangingPunct="0"/>
              <a:r>
                <a:rPr kumimoji="1" lang="en-US" altLang="zh-CN" b="1">
                  <a:solidFill>
                    <a:srgbClr val="FF3300"/>
                  </a:solidFill>
                  <a:latin typeface="Comic Sans MS" pitchFamily="66" charset="0"/>
                </a:rPr>
                <a:t>Hierarchy</a:t>
              </a:r>
              <a:endParaRPr kumimoji="1" lang="en-US" altLang="zh-CN" b="1">
                <a:solidFill>
                  <a:schemeClr val="hlink"/>
                </a:solidFill>
                <a:latin typeface="Comic Sans MS" pitchFamily="66" charset="0"/>
              </a:endParaRPr>
            </a:p>
          </p:txBody>
        </p:sp>
        <p:sp>
          <p:nvSpPr>
            <p:cNvPr id="45085" name="Line 27"/>
            <p:cNvSpPr>
              <a:spLocks noChangeShapeType="1"/>
            </p:cNvSpPr>
            <p:nvPr/>
          </p:nvSpPr>
          <p:spPr bwMode="auto">
            <a:xfrm flipV="1">
              <a:off x="528" y="1292"/>
              <a:ext cx="0" cy="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6" name="Line 28"/>
            <p:cNvSpPr>
              <a:spLocks noChangeShapeType="1"/>
            </p:cNvSpPr>
            <p:nvPr/>
          </p:nvSpPr>
          <p:spPr bwMode="auto">
            <a:xfrm>
              <a:off x="528" y="2500"/>
              <a:ext cx="0" cy="6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7" name="Rectangle 29"/>
            <p:cNvSpPr>
              <a:spLocks noChangeArrowheads="1"/>
            </p:cNvSpPr>
            <p:nvPr/>
          </p:nvSpPr>
          <p:spPr bwMode="auto">
            <a:xfrm>
              <a:off x="3566" y="3715"/>
              <a:ext cx="2564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algn="l" eaLnBrk="0" hangingPunct="0"/>
              <a:r>
                <a:rPr kumimoji="1" lang="en-US" altLang="zh-CN" b="1" dirty="0">
                  <a:solidFill>
                    <a:srgbClr val="FF3300"/>
                  </a:solidFill>
                  <a:latin typeface="Comic Sans MS" pitchFamily="66" charset="0"/>
                </a:rPr>
                <a:t>Pipelining </a:t>
              </a:r>
              <a:r>
                <a:rPr kumimoji="1" lang="en-US" altLang="zh-CN" b="1" dirty="0">
                  <a:solidFill>
                    <a:srgbClr val="CC00CC"/>
                  </a:solidFill>
                  <a:latin typeface="Comic Sans MS" pitchFamily="66" charset="0"/>
                </a:rPr>
                <a:t>and Instruction </a:t>
              </a:r>
            </a:p>
            <a:p>
              <a:pPr algn="l" eaLnBrk="0" hangingPunct="0"/>
              <a:r>
                <a:rPr kumimoji="1" lang="en-US" altLang="zh-CN" b="1" dirty="0">
                  <a:solidFill>
                    <a:srgbClr val="CC00CC"/>
                  </a:solidFill>
                  <a:latin typeface="Comic Sans MS" pitchFamily="66" charset="0"/>
                </a:rPr>
                <a:t>Level Parallelism</a:t>
              </a:r>
              <a:endParaRPr kumimoji="1" lang="en-US" altLang="zh-CN" b="1" dirty="0">
                <a:solidFill>
                  <a:schemeClr val="hlink"/>
                </a:solidFill>
                <a:latin typeface="Comic Sans MS" pitchFamily="66" charset="0"/>
              </a:endParaRPr>
            </a:p>
          </p:txBody>
        </p:sp>
        <p:sp>
          <p:nvSpPr>
            <p:cNvPr id="45088" name="AutoShape 30" descr="30%"/>
            <p:cNvSpPr>
              <a:spLocks noChangeArrowheads="1"/>
            </p:cNvSpPr>
            <p:nvPr/>
          </p:nvSpPr>
          <p:spPr bwMode="auto">
            <a:xfrm>
              <a:off x="4666" y="2330"/>
              <a:ext cx="1200" cy="864"/>
            </a:xfrm>
            <a:prstGeom prst="leftRightArrow">
              <a:avLst>
                <a:gd name="adj1" fmla="val 50000"/>
                <a:gd name="adj2" fmla="val 27778"/>
              </a:avLst>
            </a:prstGeom>
            <a:pattFill prst="pct30">
              <a:fgClr>
                <a:schemeClr val="accent1"/>
              </a:fgClr>
              <a:bgClr>
                <a:srgbClr val="FFFFFF"/>
              </a:bgClr>
            </a:patt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r>
                <a:rPr kumimoji="1" lang="en-US" altLang="zh-CN" b="1" dirty="0">
                  <a:solidFill>
                    <a:srgbClr val="CC00CC"/>
                  </a:solidFill>
                  <a:latin typeface="Comic Sans MS" pitchFamily="66" charset="0"/>
                </a:rPr>
                <a:t>Network</a:t>
              </a:r>
            </a:p>
            <a:p>
              <a:pPr eaLnBrk="0" hangingPunct="0"/>
              <a:r>
                <a:rPr kumimoji="1" lang="en-US" altLang="zh-CN" b="1" dirty="0">
                  <a:solidFill>
                    <a:srgbClr val="CC00CC"/>
                  </a:solidFill>
                  <a:latin typeface="Comic Sans MS" pitchFamily="66" charset="0"/>
                </a:rPr>
                <a:t>Communication</a:t>
              </a:r>
              <a:endParaRPr kumimoji="1" lang="en-US" altLang="zh-CN" b="1" dirty="0">
                <a:solidFill>
                  <a:schemeClr val="accent1"/>
                </a:solidFill>
                <a:latin typeface="Comic Sans MS" pitchFamily="66" charset="0"/>
              </a:endParaRPr>
            </a:p>
          </p:txBody>
        </p:sp>
        <p:sp>
          <p:nvSpPr>
            <p:cNvPr id="45089" name="Text Box 31"/>
            <p:cNvSpPr txBox="1">
              <a:spLocks noChangeArrowheads="1"/>
            </p:cNvSpPr>
            <p:nvPr/>
          </p:nvSpPr>
          <p:spPr bwMode="auto">
            <a:xfrm rot="16200000">
              <a:off x="5618" y="2316"/>
              <a:ext cx="1395" cy="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9pPr>
            </a:lstStyle>
            <a:p>
              <a:pPr algn="l"/>
              <a:r>
                <a:rPr kumimoji="1" lang="en-US" altLang="zh-CN" b="1" dirty="0">
                  <a:latin typeface="Comic Sans MS" pitchFamily="66" charset="0"/>
                </a:rPr>
                <a:t>Other Processors</a:t>
              </a:r>
            </a:p>
          </p:txBody>
        </p:sp>
      </p:grp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Computer Architecture Topics</a:t>
            </a:r>
          </a:p>
        </p:txBody>
      </p:sp>
      <p:grpSp>
        <p:nvGrpSpPr>
          <p:cNvPr id="46085" name="Group 3"/>
          <p:cNvGrpSpPr>
            <a:grpSpLocks/>
          </p:cNvGrpSpPr>
          <p:nvPr/>
        </p:nvGrpSpPr>
        <p:grpSpPr bwMode="auto">
          <a:xfrm>
            <a:off x="1285279" y="1203598"/>
            <a:ext cx="6573441" cy="2875359"/>
            <a:chOff x="471" y="1096"/>
            <a:chExt cx="5521" cy="2415"/>
          </a:xfrm>
        </p:grpSpPr>
        <p:sp>
          <p:nvSpPr>
            <p:cNvPr id="46086" name="Rectangle 4"/>
            <p:cNvSpPr>
              <a:spLocks noChangeArrowheads="1"/>
            </p:cNvSpPr>
            <p:nvPr/>
          </p:nvSpPr>
          <p:spPr bwMode="auto">
            <a:xfrm>
              <a:off x="3332" y="1364"/>
              <a:ext cx="256" cy="24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2000"/>
                </a:lnSpc>
              </a:pPr>
              <a:r>
                <a:rPr kumimoji="1" lang="en-US" altLang="zh-CN" b="1">
                  <a:latin typeface="Comic Sans MS" pitchFamily="66" charset="0"/>
                </a:rPr>
                <a:t>M</a:t>
              </a:r>
            </a:p>
          </p:txBody>
        </p:sp>
        <p:sp>
          <p:nvSpPr>
            <p:cNvPr id="46087" name="Line 5"/>
            <p:cNvSpPr>
              <a:spLocks noChangeShapeType="1"/>
            </p:cNvSpPr>
            <p:nvPr/>
          </p:nvSpPr>
          <p:spPr bwMode="auto">
            <a:xfrm>
              <a:off x="3432" y="1556"/>
              <a:ext cx="0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88" name="Rectangle 6" descr="25%"/>
            <p:cNvSpPr>
              <a:spLocks noChangeArrowheads="1"/>
            </p:cNvSpPr>
            <p:nvPr/>
          </p:nvSpPr>
          <p:spPr bwMode="auto">
            <a:xfrm>
              <a:off x="696" y="1744"/>
              <a:ext cx="2928" cy="528"/>
            </a:xfrm>
            <a:prstGeom prst="rect">
              <a:avLst/>
            </a:prstGeom>
            <a:pattFill prst="pct25">
              <a:fgClr>
                <a:schemeClr val="accent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89" name="Rectangle 7"/>
            <p:cNvSpPr>
              <a:spLocks noChangeArrowheads="1"/>
            </p:cNvSpPr>
            <p:nvPr/>
          </p:nvSpPr>
          <p:spPr bwMode="auto">
            <a:xfrm>
              <a:off x="1520" y="1952"/>
              <a:ext cx="2469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85000"/>
                </a:lnSpc>
              </a:pPr>
              <a:r>
                <a:rPr kumimoji="1" lang="en-US" altLang="zh-CN" b="1">
                  <a:latin typeface="Comic Sans MS" pitchFamily="66" charset="0"/>
                </a:rPr>
                <a:t>Interconnection Network</a:t>
              </a:r>
            </a:p>
          </p:txBody>
        </p:sp>
        <p:sp useBgFill="1">
          <p:nvSpPr>
            <p:cNvPr id="46090" name="Rectangle 8"/>
            <p:cNvSpPr>
              <a:spLocks noChangeArrowheads="1"/>
            </p:cNvSpPr>
            <p:nvPr/>
          </p:nvSpPr>
          <p:spPr bwMode="auto">
            <a:xfrm>
              <a:off x="1076" y="1940"/>
              <a:ext cx="219" cy="246"/>
            </a:xfrm>
            <a:prstGeom prst="rect">
              <a:avLst/>
            </a:prstGeom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2000"/>
                </a:lnSpc>
              </a:pPr>
              <a:r>
                <a:rPr kumimoji="1" lang="en-US" altLang="zh-CN" b="1">
                  <a:latin typeface="Comic Sans MS" pitchFamily="66" charset="0"/>
                </a:rPr>
                <a:t>S</a:t>
              </a:r>
            </a:p>
          </p:txBody>
        </p:sp>
        <p:sp>
          <p:nvSpPr>
            <p:cNvPr id="46091" name="Line 9"/>
            <p:cNvSpPr>
              <a:spLocks noChangeShapeType="1"/>
            </p:cNvSpPr>
            <p:nvPr/>
          </p:nvSpPr>
          <p:spPr bwMode="auto">
            <a:xfrm flipV="1">
              <a:off x="1276" y="1836"/>
              <a:ext cx="88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2" name="Line 10"/>
            <p:cNvSpPr>
              <a:spLocks noChangeShapeType="1"/>
            </p:cNvSpPr>
            <p:nvPr/>
          </p:nvSpPr>
          <p:spPr bwMode="auto">
            <a:xfrm flipH="1" flipV="1">
              <a:off x="980" y="1836"/>
              <a:ext cx="56" cy="1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3" name="Line 11"/>
            <p:cNvSpPr>
              <a:spLocks noChangeShapeType="1"/>
            </p:cNvSpPr>
            <p:nvPr/>
          </p:nvSpPr>
          <p:spPr bwMode="auto">
            <a:xfrm flipH="1">
              <a:off x="980" y="2132"/>
              <a:ext cx="104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4" name="Line 12"/>
            <p:cNvSpPr>
              <a:spLocks noChangeShapeType="1"/>
            </p:cNvSpPr>
            <p:nvPr/>
          </p:nvSpPr>
          <p:spPr bwMode="auto">
            <a:xfrm>
              <a:off x="1276" y="2132"/>
              <a:ext cx="88" cy="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5" name="Rectangle 13"/>
            <p:cNvSpPr>
              <a:spLocks noChangeArrowheads="1"/>
            </p:cNvSpPr>
            <p:nvPr/>
          </p:nvSpPr>
          <p:spPr bwMode="auto">
            <a:xfrm>
              <a:off x="3092" y="1364"/>
              <a:ext cx="186" cy="24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2000"/>
                </a:lnSpc>
              </a:pPr>
              <a:r>
                <a:rPr kumimoji="1" lang="en-US" altLang="zh-CN" b="1">
                  <a:latin typeface="Comic Sans MS" pitchFamily="66" charset="0"/>
                </a:rPr>
                <a:t>P</a:t>
              </a:r>
            </a:p>
          </p:txBody>
        </p:sp>
        <p:sp>
          <p:nvSpPr>
            <p:cNvPr id="46096" name="Line 14"/>
            <p:cNvSpPr>
              <a:spLocks noChangeShapeType="1"/>
            </p:cNvSpPr>
            <p:nvPr/>
          </p:nvSpPr>
          <p:spPr bwMode="auto">
            <a:xfrm>
              <a:off x="3192" y="1556"/>
              <a:ext cx="0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7" name="Rectangle 15"/>
            <p:cNvSpPr>
              <a:spLocks noChangeArrowheads="1"/>
            </p:cNvSpPr>
            <p:nvPr/>
          </p:nvSpPr>
          <p:spPr bwMode="auto">
            <a:xfrm>
              <a:off x="2804" y="1364"/>
              <a:ext cx="256" cy="24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2000"/>
                </a:lnSpc>
              </a:pPr>
              <a:r>
                <a:rPr kumimoji="1" lang="en-US" altLang="zh-CN" b="1">
                  <a:latin typeface="Comic Sans MS" pitchFamily="66" charset="0"/>
                </a:rPr>
                <a:t>M</a:t>
              </a:r>
            </a:p>
          </p:txBody>
        </p:sp>
        <p:sp>
          <p:nvSpPr>
            <p:cNvPr id="46098" name="Line 16"/>
            <p:cNvSpPr>
              <a:spLocks noChangeShapeType="1"/>
            </p:cNvSpPr>
            <p:nvPr/>
          </p:nvSpPr>
          <p:spPr bwMode="auto">
            <a:xfrm>
              <a:off x="2904" y="1556"/>
              <a:ext cx="0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099" name="Rectangle 17"/>
            <p:cNvSpPr>
              <a:spLocks noChangeArrowheads="1"/>
            </p:cNvSpPr>
            <p:nvPr/>
          </p:nvSpPr>
          <p:spPr bwMode="auto">
            <a:xfrm>
              <a:off x="2564" y="1364"/>
              <a:ext cx="186" cy="24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2000"/>
                </a:lnSpc>
              </a:pPr>
              <a:r>
                <a:rPr kumimoji="1" lang="en-US" altLang="zh-CN" b="1">
                  <a:latin typeface="Comic Sans MS" pitchFamily="66" charset="0"/>
                </a:rPr>
                <a:t>P</a:t>
              </a:r>
            </a:p>
          </p:txBody>
        </p:sp>
        <p:sp>
          <p:nvSpPr>
            <p:cNvPr id="46100" name="Line 18"/>
            <p:cNvSpPr>
              <a:spLocks noChangeShapeType="1"/>
            </p:cNvSpPr>
            <p:nvPr/>
          </p:nvSpPr>
          <p:spPr bwMode="auto">
            <a:xfrm>
              <a:off x="2664" y="1556"/>
              <a:ext cx="0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1" name="Rectangle 19"/>
            <p:cNvSpPr>
              <a:spLocks noChangeArrowheads="1"/>
            </p:cNvSpPr>
            <p:nvPr/>
          </p:nvSpPr>
          <p:spPr bwMode="auto">
            <a:xfrm>
              <a:off x="1556" y="1364"/>
              <a:ext cx="256" cy="24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2000"/>
                </a:lnSpc>
              </a:pPr>
              <a:r>
                <a:rPr kumimoji="1" lang="en-US" altLang="zh-CN" b="1">
                  <a:latin typeface="Comic Sans MS" pitchFamily="66" charset="0"/>
                </a:rPr>
                <a:t>M</a:t>
              </a:r>
            </a:p>
          </p:txBody>
        </p:sp>
        <p:sp>
          <p:nvSpPr>
            <p:cNvPr id="46102" name="Line 20"/>
            <p:cNvSpPr>
              <a:spLocks noChangeShapeType="1"/>
            </p:cNvSpPr>
            <p:nvPr/>
          </p:nvSpPr>
          <p:spPr bwMode="auto">
            <a:xfrm>
              <a:off x="1656" y="1556"/>
              <a:ext cx="0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3" name="Rectangle 21"/>
            <p:cNvSpPr>
              <a:spLocks noChangeArrowheads="1"/>
            </p:cNvSpPr>
            <p:nvPr/>
          </p:nvSpPr>
          <p:spPr bwMode="auto">
            <a:xfrm>
              <a:off x="1316" y="1364"/>
              <a:ext cx="186" cy="24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2000"/>
                </a:lnSpc>
              </a:pPr>
              <a:r>
                <a:rPr kumimoji="1" lang="en-US" altLang="zh-CN" b="1">
                  <a:latin typeface="Comic Sans MS" pitchFamily="66" charset="0"/>
                </a:rPr>
                <a:t>P</a:t>
              </a:r>
            </a:p>
          </p:txBody>
        </p:sp>
        <p:sp>
          <p:nvSpPr>
            <p:cNvPr id="46104" name="Line 22"/>
            <p:cNvSpPr>
              <a:spLocks noChangeShapeType="1"/>
            </p:cNvSpPr>
            <p:nvPr/>
          </p:nvSpPr>
          <p:spPr bwMode="auto">
            <a:xfrm>
              <a:off x="1416" y="1556"/>
              <a:ext cx="0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5" name="Rectangle 23"/>
            <p:cNvSpPr>
              <a:spLocks noChangeArrowheads="1"/>
            </p:cNvSpPr>
            <p:nvPr/>
          </p:nvSpPr>
          <p:spPr bwMode="auto">
            <a:xfrm>
              <a:off x="1028" y="1364"/>
              <a:ext cx="256" cy="24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2000"/>
                </a:lnSpc>
              </a:pPr>
              <a:r>
                <a:rPr kumimoji="1" lang="en-US" altLang="zh-CN" b="1">
                  <a:latin typeface="Comic Sans MS" pitchFamily="66" charset="0"/>
                </a:rPr>
                <a:t>M</a:t>
              </a:r>
            </a:p>
          </p:txBody>
        </p:sp>
        <p:sp>
          <p:nvSpPr>
            <p:cNvPr id="46106" name="Line 24"/>
            <p:cNvSpPr>
              <a:spLocks noChangeShapeType="1"/>
            </p:cNvSpPr>
            <p:nvPr/>
          </p:nvSpPr>
          <p:spPr bwMode="auto">
            <a:xfrm>
              <a:off x="1128" y="1556"/>
              <a:ext cx="0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7" name="Rectangle 25"/>
            <p:cNvSpPr>
              <a:spLocks noChangeArrowheads="1"/>
            </p:cNvSpPr>
            <p:nvPr/>
          </p:nvSpPr>
          <p:spPr bwMode="auto">
            <a:xfrm>
              <a:off x="788" y="1364"/>
              <a:ext cx="186" cy="24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2000"/>
                </a:lnSpc>
              </a:pPr>
              <a:r>
                <a:rPr kumimoji="1" lang="en-US" altLang="zh-CN" b="1">
                  <a:latin typeface="Comic Sans MS" pitchFamily="66" charset="0"/>
                </a:rPr>
                <a:t>P</a:t>
              </a:r>
            </a:p>
          </p:txBody>
        </p:sp>
        <p:sp>
          <p:nvSpPr>
            <p:cNvPr id="46108" name="Line 26"/>
            <p:cNvSpPr>
              <a:spLocks noChangeShapeType="1"/>
            </p:cNvSpPr>
            <p:nvPr/>
          </p:nvSpPr>
          <p:spPr bwMode="auto">
            <a:xfrm>
              <a:off x="888" y="1556"/>
              <a:ext cx="0" cy="1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109" name="Rectangle 27"/>
            <p:cNvSpPr>
              <a:spLocks noChangeArrowheads="1"/>
            </p:cNvSpPr>
            <p:nvPr/>
          </p:nvSpPr>
          <p:spPr bwMode="auto">
            <a:xfrm>
              <a:off x="2000" y="1472"/>
              <a:ext cx="79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85000"/>
                </a:lnSpc>
              </a:pPr>
              <a:r>
                <a:rPr kumimoji="1" lang="en-US" altLang="zh-CN" b="1">
                  <a:latin typeface="Comic Sans MS" pitchFamily="66" charset="0"/>
                </a:rPr>
                <a:t>° ° °</a:t>
              </a:r>
            </a:p>
          </p:txBody>
        </p:sp>
        <p:sp>
          <p:nvSpPr>
            <p:cNvPr id="46110" name="Rectangle 28"/>
            <p:cNvSpPr>
              <a:spLocks noChangeArrowheads="1"/>
            </p:cNvSpPr>
            <p:nvPr/>
          </p:nvSpPr>
          <p:spPr bwMode="auto">
            <a:xfrm>
              <a:off x="3995" y="2432"/>
              <a:ext cx="1131" cy="10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>
                  <a:latin typeface="Comic Sans MS" pitchFamily="66" charset="0"/>
                </a:rPr>
                <a:t>Topologies,</a:t>
              </a:r>
            </a:p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>
                  <a:latin typeface="Comic Sans MS" pitchFamily="66" charset="0"/>
                </a:rPr>
                <a:t>Routing,</a:t>
              </a:r>
            </a:p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>
                  <a:latin typeface="Comic Sans MS" pitchFamily="66" charset="0"/>
                </a:rPr>
                <a:t>Bandwidth,</a:t>
              </a:r>
            </a:p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>
                  <a:latin typeface="Comic Sans MS" pitchFamily="66" charset="0"/>
                </a:rPr>
                <a:t>Latency,</a:t>
              </a:r>
            </a:p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>
                  <a:latin typeface="Comic Sans MS" pitchFamily="66" charset="0"/>
                </a:rPr>
                <a:t>Reliability</a:t>
              </a:r>
            </a:p>
          </p:txBody>
        </p:sp>
        <p:sp>
          <p:nvSpPr>
            <p:cNvPr id="46111" name="Rectangle 29"/>
            <p:cNvSpPr>
              <a:spLocks noChangeArrowheads="1"/>
            </p:cNvSpPr>
            <p:nvPr/>
          </p:nvSpPr>
          <p:spPr bwMode="auto">
            <a:xfrm>
              <a:off x="4003" y="1952"/>
              <a:ext cx="1989" cy="2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Network Interfaces</a:t>
              </a:r>
            </a:p>
          </p:txBody>
        </p:sp>
        <p:sp>
          <p:nvSpPr>
            <p:cNvPr id="46112" name="Rectangle 30"/>
            <p:cNvSpPr>
              <a:spLocks noChangeArrowheads="1"/>
            </p:cNvSpPr>
            <p:nvPr/>
          </p:nvSpPr>
          <p:spPr bwMode="auto">
            <a:xfrm>
              <a:off x="4003" y="1096"/>
              <a:ext cx="1674" cy="6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7625" tIns="19050" rIns="47625" bIns="19050">
              <a:spAutoFit/>
            </a:bodyPr>
            <a:lstStyle/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Shared Memory,</a:t>
              </a:r>
            </a:p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Message Passing,</a:t>
              </a:r>
            </a:p>
            <a:p>
              <a:pPr algn="l" eaLnBrk="0" hangingPunct="0">
                <a:lnSpc>
                  <a:spcPct val="90000"/>
                </a:lnSpc>
              </a:pPr>
              <a:r>
                <a:rPr kumimoji="1" lang="en-US" altLang="zh-CN" b="1" dirty="0">
                  <a:latin typeface="Comic Sans MS" pitchFamily="66" charset="0"/>
                </a:rPr>
                <a:t>Data Parallelism</a:t>
              </a:r>
            </a:p>
          </p:txBody>
        </p:sp>
        <p:sp>
          <p:nvSpPr>
            <p:cNvPr id="46113" name="Rectangle 31"/>
            <p:cNvSpPr>
              <a:spLocks noChangeArrowheads="1"/>
            </p:cNvSpPr>
            <p:nvPr/>
          </p:nvSpPr>
          <p:spPr bwMode="auto">
            <a:xfrm>
              <a:off x="1143" y="2324"/>
              <a:ext cx="2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algn="l" eaLnBrk="0" hangingPunct="0"/>
              <a:r>
                <a:rPr kumimoji="1" lang="en-US" altLang="zh-CN" sz="1500" b="1">
                  <a:latin typeface="Comic Sans MS" pitchFamily="66" charset="0"/>
                </a:rPr>
                <a:t>Processor-Memory-Switch</a:t>
              </a:r>
            </a:p>
          </p:txBody>
        </p:sp>
        <p:sp>
          <p:nvSpPr>
            <p:cNvPr id="46114" name="Rectangle 32"/>
            <p:cNvSpPr>
              <a:spLocks noChangeArrowheads="1"/>
            </p:cNvSpPr>
            <p:nvPr/>
          </p:nvSpPr>
          <p:spPr bwMode="auto">
            <a:xfrm>
              <a:off x="471" y="2679"/>
              <a:ext cx="3084" cy="5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algn="l" eaLnBrk="0" hangingPunct="0"/>
              <a:r>
                <a:rPr kumimoji="1" lang="en-US" altLang="zh-CN" b="1">
                  <a:solidFill>
                    <a:srgbClr val="CC00CC"/>
                  </a:solidFill>
                  <a:latin typeface="Comic Sans MS" pitchFamily="66" charset="0"/>
                </a:rPr>
                <a:t>Multiprocessors</a:t>
              </a:r>
            </a:p>
            <a:p>
              <a:pPr algn="l" eaLnBrk="0" hangingPunct="0"/>
              <a:r>
                <a:rPr kumimoji="1" lang="en-US" altLang="zh-CN" b="1">
                  <a:solidFill>
                    <a:srgbClr val="CC00CC"/>
                  </a:solidFill>
                  <a:latin typeface="Comic Sans MS" pitchFamily="66" charset="0"/>
                </a:rPr>
                <a:t>Networks and Interconnections</a:t>
              </a:r>
              <a:endParaRPr kumimoji="1" lang="en-US" altLang="zh-CN" b="1">
                <a:solidFill>
                  <a:schemeClr val="hlink"/>
                </a:solidFill>
                <a:latin typeface="Comic Sans MS" pitchFamily="66" charset="0"/>
              </a:endParaRPr>
            </a:p>
          </p:txBody>
        </p:sp>
      </p:grp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Define the user requirement: </a:t>
            </a:r>
          </a:p>
          <a:p>
            <a:pPr lvl="1"/>
            <a:r>
              <a:rPr lang="en-US" altLang="zh-CN" dirty="0"/>
              <a:t>Functional requirement:   Fig1.4</a:t>
            </a:r>
          </a:p>
          <a:p>
            <a:pPr lvl="2"/>
            <a:r>
              <a:rPr lang="en-US" altLang="zh-CN" dirty="0"/>
              <a:t> Application area</a:t>
            </a:r>
          </a:p>
          <a:p>
            <a:pPr lvl="2"/>
            <a:r>
              <a:rPr lang="en-US" altLang="zh-CN" dirty="0"/>
              <a:t> Level of software compatibility</a:t>
            </a:r>
          </a:p>
          <a:p>
            <a:pPr lvl="2"/>
            <a:r>
              <a:rPr lang="en-US" altLang="zh-CN" dirty="0"/>
              <a:t> OS  requirements</a:t>
            </a:r>
          </a:p>
          <a:p>
            <a:pPr lvl="2"/>
            <a:r>
              <a:rPr lang="en-US" altLang="zh-CN" dirty="0"/>
              <a:t> Standards</a:t>
            </a:r>
          </a:p>
          <a:p>
            <a:pPr lvl="1"/>
            <a:r>
              <a:rPr lang="en-US" altLang="zh-CN" dirty="0"/>
              <a:t>Nonfunctional requirements: </a:t>
            </a:r>
          </a:p>
          <a:p>
            <a:pPr lvl="2"/>
            <a:r>
              <a:rPr lang="en-US" altLang="zh-CN" dirty="0"/>
              <a:t>Price/performance</a:t>
            </a:r>
          </a:p>
          <a:p>
            <a:pPr lvl="2"/>
            <a:r>
              <a:rPr lang="en-US" altLang="zh-CN" dirty="0"/>
              <a:t>Availability, scalability, throughput, ...</a:t>
            </a:r>
          </a:p>
          <a:p>
            <a:pPr lvl="2"/>
            <a:r>
              <a:rPr lang="en-US" altLang="zh-CN" dirty="0"/>
              <a:t>Power, size, memory, temperature, ...</a:t>
            </a:r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1800" dirty="0"/>
              <a:t>The Task of Computer Design 1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3" name="Rectangle 3"/>
          <p:cNvSpPr>
            <a:spLocks noGrp="1" noChangeArrowheads="1"/>
          </p:cNvSpPr>
          <p:nvPr>
            <p:ph idx="1"/>
          </p:nvPr>
        </p:nvSpPr>
        <p:spPr>
          <a:xfrm>
            <a:off x="661629" y="698376"/>
            <a:ext cx="6921834" cy="3314700"/>
          </a:xfrm>
        </p:spPr>
        <p:txBody>
          <a:bodyPr/>
          <a:lstStyle/>
          <a:p>
            <a:r>
              <a:rPr lang="en-US" altLang="zh-CN" dirty="0"/>
              <a:t>1996 - 1997</a:t>
            </a:r>
          </a:p>
          <a:p>
            <a:pPr lvl="1"/>
            <a:r>
              <a:rPr lang="en-US" altLang="zh-CN" dirty="0"/>
              <a:t>CPU performance improves by N = 400/200 = 2</a:t>
            </a:r>
          </a:p>
          <a:p>
            <a:pPr lvl="1"/>
            <a:r>
              <a:rPr lang="en-US" altLang="zh-CN" dirty="0"/>
              <a:t>program performance improves by N = 100/55 = 1.81</a:t>
            </a:r>
          </a:p>
          <a:p>
            <a:r>
              <a:rPr lang="en-US" altLang="zh-CN" dirty="0"/>
              <a:t>1997 - 1998</a:t>
            </a:r>
          </a:p>
          <a:p>
            <a:pPr lvl="1"/>
            <a:r>
              <a:rPr lang="en-US" altLang="zh-CN" dirty="0"/>
              <a:t>CPU performance - factor of 2</a:t>
            </a:r>
          </a:p>
          <a:p>
            <a:pPr lvl="1"/>
            <a:r>
              <a:rPr lang="en-US" altLang="zh-CN" dirty="0"/>
              <a:t>program performance N = 55/32.5 = 1.7</a:t>
            </a:r>
          </a:p>
          <a:p>
            <a:r>
              <a:rPr lang="en-US" altLang="zh-CN" dirty="0"/>
              <a:t>1998 - 1999</a:t>
            </a:r>
          </a:p>
          <a:p>
            <a:pPr lvl="1"/>
            <a:r>
              <a:rPr lang="en-US" altLang="zh-CN" dirty="0"/>
              <a:t>CPU performance - factor of 2</a:t>
            </a:r>
          </a:p>
          <a:p>
            <a:pPr lvl="1"/>
            <a:r>
              <a:rPr lang="en-US" altLang="zh-CN" dirty="0"/>
              <a:t>program performance N = 32.5 / 21.25 = 1.53 </a:t>
            </a:r>
          </a:p>
          <a:p>
            <a:r>
              <a:rPr lang="en-US" altLang="zh-CN" dirty="0"/>
              <a:t>1999 - 2000</a:t>
            </a:r>
          </a:p>
          <a:p>
            <a:pPr lvl="1"/>
            <a:r>
              <a:rPr lang="en-US" altLang="zh-CN" dirty="0"/>
              <a:t>CPU Performance - factor of 2</a:t>
            </a:r>
          </a:p>
          <a:p>
            <a:pPr lvl="1"/>
            <a:r>
              <a:rPr lang="en-US" altLang="zh-CN" dirty="0"/>
              <a:t>program performance N = 21.25 / 15.6 = 1.36</a:t>
            </a:r>
          </a:p>
        </p:txBody>
      </p:sp>
      <p:sp>
        <p:nvSpPr>
          <p:cNvPr id="481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Application Performance</a:t>
            </a:r>
          </a:p>
        </p:txBody>
      </p:sp>
      <p:pic>
        <p:nvPicPr>
          <p:cNvPr id="48134" name="Picture 4" descr="Cli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280" y="2355726"/>
            <a:ext cx="2446585" cy="2250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Assume 50% CPU, 50% I/O</a:t>
            </a:r>
          </a:p>
          <a:p>
            <a:r>
              <a:rPr lang="en-US" altLang="zh-CN" dirty="0"/>
              <a:t>1996 - 1997</a:t>
            </a:r>
          </a:p>
          <a:p>
            <a:pPr lvl="1"/>
            <a:r>
              <a:rPr lang="en-US" altLang="zh-CN" dirty="0"/>
              <a:t>CPU performance improves by N = 400/200 = 2</a:t>
            </a:r>
          </a:p>
          <a:p>
            <a:pPr lvl="1"/>
            <a:r>
              <a:rPr lang="en-US" altLang="zh-CN" dirty="0"/>
              <a:t>Program performance improves by N = 100/75 = 1.33</a:t>
            </a:r>
          </a:p>
          <a:p>
            <a:r>
              <a:rPr lang="en-US" altLang="zh-CN" dirty="0"/>
              <a:t>1997 - 1998</a:t>
            </a:r>
          </a:p>
          <a:p>
            <a:pPr lvl="1"/>
            <a:r>
              <a:rPr lang="en-US" altLang="zh-CN" dirty="0"/>
              <a:t>CPU performance *= 2</a:t>
            </a:r>
          </a:p>
          <a:p>
            <a:pPr lvl="1"/>
            <a:r>
              <a:rPr lang="en-US" altLang="zh-CN" dirty="0"/>
              <a:t>Program performance N = 75/62.5= 1.2</a:t>
            </a:r>
          </a:p>
          <a:p>
            <a:r>
              <a:rPr lang="en-US" altLang="zh-CN" dirty="0"/>
              <a:t>1998 - 1999</a:t>
            </a:r>
          </a:p>
          <a:p>
            <a:pPr lvl="1"/>
            <a:r>
              <a:rPr lang="en-US" altLang="zh-CN" dirty="0"/>
              <a:t>CPU performance *= 2</a:t>
            </a:r>
          </a:p>
          <a:p>
            <a:pPr lvl="1"/>
            <a:r>
              <a:rPr lang="en-US" altLang="zh-CN" dirty="0"/>
              <a:t>Program performance N = 62.5/56.5 = 1.11</a:t>
            </a:r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 for Web Surfing</a:t>
            </a: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Rectangle 3"/>
          <p:cNvSpPr>
            <a:spLocks noGrp="1" noChangeArrowheads="1"/>
          </p:cNvSpPr>
          <p:nvPr>
            <p:ph idx="1"/>
          </p:nvPr>
        </p:nvSpPr>
        <p:spPr>
          <a:xfrm>
            <a:off x="661629" y="789552"/>
            <a:ext cx="7820742" cy="4086454"/>
          </a:xfrm>
        </p:spPr>
        <p:txBody>
          <a:bodyPr/>
          <a:lstStyle/>
          <a:p>
            <a:r>
              <a:rPr lang="en-US" altLang="zh-CN" dirty="0"/>
              <a:t>Architects need to understand applications’ behavior</a:t>
            </a:r>
          </a:p>
          <a:p>
            <a:pPr lvl="1"/>
            <a:r>
              <a:rPr lang="en-US" altLang="zh-CN" dirty="0"/>
              <a:t>We say we design general purpose processors, but we should also focus on specific sets of applications</a:t>
            </a:r>
          </a:p>
          <a:p>
            <a:pPr lvl="1"/>
            <a:r>
              <a:rPr lang="en-US" altLang="zh-CN" dirty="0"/>
              <a:t>Architecture can be tuned for applications</a:t>
            </a:r>
          </a:p>
          <a:p>
            <a:r>
              <a:rPr lang="en-US" altLang="zh-CN" dirty="0"/>
              <a:t>Types of applications today</a:t>
            </a:r>
          </a:p>
          <a:p>
            <a:pPr lvl="1"/>
            <a:r>
              <a:rPr lang="en-US" altLang="zh-CN" dirty="0"/>
              <a:t>Scientific</a:t>
            </a:r>
          </a:p>
          <a:p>
            <a:pPr lvl="2"/>
            <a:r>
              <a:rPr lang="en-US" altLang="zh-CN" dirty="0"/>
              <a:t>Weather prediction, crash analysis, earthquake analysis, medical imaging, imaging of the earth (searching for oil)</a:t>
            </a:r>
          </a:p>
          <a:p>
            <a:pPr lvl="1"/>
            <a:r>
              <a:rPr lang="en-US" altLang="zh-CN" dirty="0"/>
              <a:t>Business</a:t>
            </a:r>
          </a:p>
          <a:p>
            <a:pPr lvl="2"/>
            <a:r>
              <a:rPr lang="en-US" altLang="zh-CN" dirty="0"/>
              <a:t>database, data mining, video</a:t>
            </a:r>
          </a:p>
          <a:p>
            <a:pPr lvl="1"/>
            <a:r>
              <a:rPr lang="en-US" altLang="zh-CN" dirty="0"/>
              <a:t>General purpose</a:t>
            </a:r>
          </a:p>
          <a:p>
            <a:pPr lvl="2"/>
            <a:r>
              <a:rPr lang="en-US" altLang="zh-CN" dirty="0"/>
              <a:t>Microsoft Word, Excel</a:t>
            </a:r>
          </a:p>
          <a:p>
            <a:pPr lvl="1"/>
            <a:r>
              <a:rPr lang="en-US" altLang="zh-CN" dirty="0"/>
              <a:t>Real-time</a:t>
            </a:r>
          </a:p>
          <a:p>
            <a:pPr lvl="2"/>
            <a:r>
              <a:rPr lang="en-US" altLang="zh-CN" dirty="0"/>
              <a:t>automated control systems,</a:t>
            </a:r>
          </a:p>
          <a:p>
            <a:pPr lvl="1"/>
            <a:r>
              <a:rPr lang="en-US" altLang="zh-CN" dirty="0"/>
              <a:t>Others:  Games, Mobile</a:t>
            </a:r>
          </a:p>
        </p:txBody>
      </p:sp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Computer Applications</a:t>
            </a: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HP’s: 1.5 MB cache for transaction processing</a:t>
            </a:r>
          </a:p>
          <a:p>
            <a:r>
              <a:rPr lang="en-US" altLang="zh-CN" dirty="0"/>
              <a:t>Alpha: very fast FP for scientific</a:t>
            </a:r>
          </a:p>
          <a:p>
            <a:r>
              <a:rPr lang="en-US" altLang="zh-CN" dirty="0" err="1"/>
              <a:t>StrongARM</a:t>
            </a:r>
            <a:r>
              <a:rPr lang="en-US" altLang="zh-CN" dirty="0"/>
              <a:t>: embedded</a:t>
            </a:r>
          </a:p>
          <a:p>
            <a:r>
              <a:rPr lang="en-US" altLang="zh-CN" dirty="0"/>
              <a:t>Intel MMX: multimedia</a:t>
            </a:r>
          </a:p>
          <a:p>
            <a:r>
              <a:rPr lang="en-US" altLang="zh-CN" dirty="0"/>
              <a:t>Sony EE: graphics rendering</a:t>
            </a:r>
          </a:p>
          <a:p>
            <a:r>
              <a:rPr lang="en-US" altLang="zh-CN" dirty="0"/>
              <a:t>Applications drive the design of the processor</a:t>
            </a:r>
          </a:p>
        </p:txBody>
      </p:sp>
      <p:sp>
        <p:nvSpPr>
          <p:cNvPr id="512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Architectures are Tuned to Applications</a:t>
            </a:r>
          </a:p>
        </p:txBody>
      </p:sp>
      <p:pic>
        <p:nvPicPr>
          <p:cNvPr id="5120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3010662"/>
            <a:ext cx="3851944" cy="1728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Determine the important attributes of a new machine to maximize performance while staying with constrains, such as cost, power, availability, etc. </a:t>
            </a:r>
          </a:p>
          <a:p>
            <a:pPr lvl="1"/>
            <a:r>
              <a:rPr lang="en-US" altLang="zh-CN" dirty="0"/>
              <a:t>instruction set architecture design</a:t>
            </a:r>
          </a:p>
          <a:p>
            <a:pPr lvl="1"/>
            <a:r>
              <a:rPr lang="en-US" altLang="zh-CN" dirty="0"/>
              <a:t>functional organization </a:t>
            </a:r>
          </a:p>
          <a:p>
            <a:pPr lvl="2"/>
            <a:r>
              <a:rPr lang="en-US" altLang="zh-CN" dirty="0"/>
              <a:t> High level aspects of computer design, </a:t>
            </a:r>
          </a:p>
          <a:p>
            <a:pPr lvl="2"/>
            <a:r>
              <a:rPr lang="en-US" altLang="zh-CN" dirty="0"/>
              <a:t> i.e. memory system, bus architecture and internal CPU design. </a:t>
            </a:r>
          </a:p>
          <a:p>
            <a:pPr lvl="1"/>
            <a:r>
              <a:rPr lang="en-US" altLang="zh-CN" dirty="0"/>
              <a:t>logic design (hardware)  </a:t>
            </a:r>
          </a:p>
          <a:p>
            <a:pPr lvl="1"/>
            <a:r>
              <a:rPr lang="en-US" altLang="zh-CN" dirty="0"/>
              <a:t>implementation (hardware)</a:t>
            </a:r>
          </a:p>
        </p:txBody>
      </p:sp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Task of Computer Design 2</a:t>
            </a: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Emerging issues</a:t>
            </a:r>
          </a:p>
          <a:p>
            <a:pPr lvl="1"/>
            <a:r>
              <a:rPr lang="en-US" altLang="zh-CN"/>
              <a:t>High Speed</a:t>
            </a:r>
          </a:p>
          <a:p>
            <a:pPr lvl="1"/>
            <a:r>
              <a:rPr lang="en-US" altLang="zh-CN"/>
              <a:t>Multi-issue (superscalar) / Multithreading / Multiprocessor</a:t>
            </a:r>
          </a:p>
          <a:p>
            <a:pPr lvl="1"/>
            <a:r>
              <a:rPr lang="en-US" altLang="zh-CN"/>
              <a:t>CPU Cores / Multiple cores</a:t>
            </a:r>
          </a:p>
          <a:p>
            <a:pPr lvl="1"/>
            <a:r>
              <a:rPr lang="en-US" altLang="zh-CN"/>
              <a:t>Embedded</a:t>
            </a:r>
          </a:p>
          <a:p>
            <a:pPr lvl="1"/>
            <a:r>
              <a:rPr lang="en-US" altLang="zh-CN"/>
              <a:t>IRAM</a:t>
            </a:r>
          </a:p>
          <a:p>
            <a:r>
              <a:rPr lang="en-US" altLang="zh-CN"/>
              <a:t>Emerging applications</a:t>
            </a:r>
          </a:p>
          <a:p>
            <a:pPr lvl="1"/>
            <a:r>
              <a:rPr lang="en-US" altLang="zh-CN"/>
              <a:t>Digital media / Digital library</a:t>
            </a:r>
          </a:p>
          <a:p>
            <a:pPr lvl="1"/>
            <a:r>
              <a:rPr lang="en-US" altLang="zh-CN"/>
              <a:t>Toaster on the internet</a:t>
            </a:r>
          </a:p>
          <a:p>
            <a:pPr lvl="1"/>
            <a:r>
              <a:rPr lang="en-US" altLang="zh-CN"/>
              <a:t>Wireless everything</a:t>
            </a:r>
          </a:p>
          <a:p>
            <a:pPr lvl="1"/>
            <a:r>
              <a:rPr lang="en-US" altLang="zh-CN"/>
              <a:t>Star Trek communicator</a:t>
            </a:r>
          </a:p>
          <a:p>
            <a:pPr lvl="1"/>
            <a:r>
              <a:rPr lang="en-US" altLang="zh-CN"/>
              <a:t>Intelligent appliances &amp; agents</a:t>
            </a:r>
          </a:p>
        </p:txBody>
      </p:sp>
      <p:sp>
        <p:nvSpPr>
          <p:cNvPr id="532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Trend of Architecture</a:t>
            </a: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Computer Engineering Methodology</a:t>
            </a:r>
          </a:p>
        </p:txBody>
      </p:sp>
      <p:grpSp>
        <p:nvGrpSpPr>
          <p:cNvPr id="57350" name="Group 4"/>
          <p:cNvGrpSpPr>
            <a:grpSpLocks/>
          </p:cNvGrpSpPr>
          <p:nvPr/>
        </p:nvGrpSpPr>
        <p:grpSpPr bwMode="auto">
          <a:xfrm>
            <a:off x="2731294" y="1038225"/>
            <a:ext cx="3649266" cy="3792141"/>
            <a:chOff x="1334" y="872"/>
            <a:chExt cx="3065" cy="3185"/>
          </a:xfrm>
        </p:grpSpPr>
        <p:sp>
          <p:nvSpPr>
            <p:cNvPr id="57359" name="Freeform 5"/>
            <p:cNvSpPr>
              <a:spLocks/>
            </p:cNvSpPr>
            <p:nvPr/>
          </p:nvSpPr>
          <p:spPr bwMode="auto">
            <a:xfrm>
              <a:off x="1406" y="872"/>
              <a:ext cx="1961" cy="2465"/>
            </a:xfrm>
            <a:custGeom>
              <a:avLst/>
              <a:gdLst>
                <a:gd name="T0" fmla="*/ 1195 w 1961"/>
                <a:gd name="T1" fmla="*/ 335 h 2465"/>
                <a:gd name="T2" fmla="*/ 1123 w 1961"/>
                <a:gd name="T3" fmla="*/ 347 h 2465"/>
                <a:gd name="T4" fmla="*/ 1064 w 1961"/>
                <a:gd name="T5" fmla="*/ 359 h 2465"/>
                <a:gd name="T6" fmla="*/ 1004 w 1961"/>
                <a:gd name="T7" fmla="*/ 371 h 2465"/>
                <a:gd name="T8" fmla="*/ 944 w 1961"/>
                <a:gd name="T9" fmla="*/ 395 h 2465"/>
                <a:gd name="T10" fmla="*/ 884 w 1961"/>
                <a:gd name="T11" fmla="*/ 419 h 2465"/>
                <a:gd name="T12" fmla="*/ 813 w 1961"/>
                <a:gd name="T13" fmla="*/ 455 h 2465"/>
                <a:gd name="T14" fmla="*/ 753 w 1961"/>
                <a:gd name="T15" fmla="*/ 478 h 2465"/>
                <a:gd name="T16" fmla="*/ 705 w 1961"/>
                <a:gd name="T17" fmla="*/ 514 h 2465"/>
                <a:gd name="T18" fmla="*/ 645 w 1961"/>
                <a:gd name="T19" fmla="*/ 550 h 2465"/>
                <a:gd name="T20" fmla="*/ 586 w 1961"/>
                <a:gd name="T21" fmla="*/ 586 h 2465"/>
                <a:gd name="T22" fmla="*/ 538 w 1961"/>
                <a:gd name="T23" fmla="*/ 634 h 2465"/>
                <a:gd name="T24" fmla="*/ 454 w 1961"/>
                <a:gd name="T25" fmla="*/ 706 h 2465"/>
                <a:gd name="T26" fmla="*/ 382 w 1961"/>
                <a:gd name="T27" fmla="*/ 777 h 2465"/>
                <a:gd name="T28" fmla="*/ 323 w 1961"/>
                <a:gd name="T29" fmla="*/ 849 h 2465"/>
                <a:gd name="T30" fmla="*/ 263 w 1961"/>
                <a:gd name="T31" fmla="*/ 921 h 2465"/>
                <a:gd name="T32" fmla="*/ 215 w 1961"/>
                <a:gd name="T33" fmla="*/ 1005 h 2465"/>
                <a:gd name="T34" fmla="*/ 167 w 1961"/>
                <a:gd name="T35" fmla="*/ 1088 h 2465"/>
                <a:gd name="T36" fmla="*/ 120 w 1961"/>
                <a:gd name="T37" fmla="*/ 1184 h 2465"/>
                <a:gd name="T38" fmla="*/ 84 w 1961"/>
                <a:gd name="T39" fmla="*/ 1280 h 2465"/>
                <a:gd name="T40" fmla="*/ 48 w 1961"/>
                <a:gd name="T41" fmla="*/ 1411 h 2465"/>
                <a:gd name="T42" fmla="*/ 24 w 1961"/>
                <a:gd name="T43" fmla="*/ 1531 h 2465"/>
                <a:gd name="T44" fmla="*/ 12 w 1961"/>
                <a:gd name="T45" fmla="*/ 1687 h 2465"/>
                <a:gd name="T46" fmla="*/ 12 w 1961"/>
                <a:gd name="T47" fmla="*/ 1818 h 2465"/>
                <a:gd name="T48" fmla="*/ 24 w 1961"/>
                <a:gd name="T49" fmla="*/ 1938 h 2465"/>
                <a:gd name="T50" fmla="*/ 36 w 1961"/>
                <a:gd name="T51" fmla="*/ 2069 h 2465"/>
                <a:gd name="T52" fmla="*/ 84 w 1961"/>
                <a:gd name="T53" fmla="*/ 2213 h 2465"/>
                <a:gd name="T54" fmla="*/ 131 w 1961"/>
                <a:gd name="T55" fmla="*/ 2344 h 2465"/>
                <a:gd name="T56" fmla="*/ 203 w 1961"/>
                <a:gd name="T57" fmla="*/ 2464 h 2465"/>
                <a:gd name="T58" fmla="*/ 753 w 1961"/>
                <a:gd name="T59" fmla="*/ 2069 h 2465"/>
                <a:gd name="T60" fmla="*/ 717 w 1961"/>
                <a:gd name="T61" fmla="*/ 1974 h 2465"/>
                <a:gd name="T62" fmla="*/ 693 w 1961"/>
                <a:gd name="T63" fmla="*/ 1866 h 2465"/>
                <a:gd name="T64" fmla="*/ 681 w 1961"/>
                <a:gd name="T65" fmla="*/ 1782 h 2465"/>
                <a:gd name="T66" fmla="*/ 681 w 1961"/>
                <a:gd name="T67" fmla="*/ 1675 h 2465"/>
                <a:gd name="T68" fmla="*/ 705 w 1961"/>
                <a:gd name="T69" fmla="*/ 1567 h 2465"/>
                <a:gd name="T70" fmla="*/ 741 w 1961"/>
                <a:gd name="T71" fmla="*/ 1459 h 2465"/>
                <a:gd name="T72" fmla="*/ 777 w 1961"/>
                <a:gd name="T73" fmla="*/ 1376 h 2465"/>
                <a:gd name="T74" fmla="*/ 825 w 1961"/>
                <a:gd name="T75" fmla="*/ 1304 h 2465"/>
                <a:gd name="T76" fmla="*/ 872 w 1961"/>
                <a:gd name="T77" fmla="*/ 1256 h 2465"/>
                <a:gd name="T78" fmla="*/ 920 w 1961"/>
                <a:gd name="T79" fmla="*/ 1208 h 2465"/>
                <a:gd name="T80" fmla="*/ 968 w 1961"/>
                <a:gd name="T81" fmla="*/ 1160 h 2465"/>
                <a:gd name="T82" fmla="*/ 1028 w 1961"/>
                <a:gd name="T83" fmla="*/ 1112 h 2465"/>
                <a:gd name="T84" fmla="*/ 1088 w 1961"/>
                <a:gd name="T85" fmla="*/ 1077 h 2465"/>
                <a:gd name="T86" fmla="*/ 1159 w 1961"/>
                <a:gd name="T87" fmla="*/ 1041 h 2465"/>
                <a:gd name="T88" fmla="*/ 1219 w 1961"/>
                <a:gd name="T89" fmla="*/ 1017 h 2465"/>
                <a:gd name="T90" fmla="*/ 1303 w 1961"/>
                <a:gd name="T91" fmla="*/ 1005 h 2465"/>
                <a:gd name="T92" fmla="*/ 1386 w 1961"/>
                <a:gd name="T93" fmla="*/ 993 h 2465"/>
                <a:gd name="T94" fmla="*/ 1410 w 1961"/>
                <a:gd name="T95" fmla="*/ 1352 h 2465"/>
                <a:gd name="T96" fmla="*/ 1410 w 1961"/>
                <a:gd name="T97" fmla="*/ 0 h 2465"/>
                <a:gd name="T98" fmla="*/ 1386 w 1961"/>
                <a:gd name="T99" fmla="*/ 311 h 2465"/>
                <a:gd name="T100" fmla="*/ 1303 w 1961"/>
                <a:gd name="T101" fmla="*/ 311 h 2465"/>
                <a:gd name="T102" fmla="*/ 1219 w 1961"/>
                <a:gd name="T103" fmla="*/ 323 h 2465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1961" h="2465">
                  <a:moveTo>
                    <a:pt x="1219" y="323"/>
                  </a:moveTo>
                  <a:lnTo>
                    <a:pt x="1195" y="335"/>
                  </a:lnTo>
                  <a:lnTo>
                    <a:pt x="1159" y="335"/>
                  </a:lnTo>
                  <a:lnTo>
                    <a:pt x="1123" y="347"/>
                  </a:lnTo>
                  <a:lnTo>
                    <a:pt x="1100" y="347"/>
                  </a:lnTo>
                  <a:lnTo>
                    <a:pt x="1064" y="359"/>
                  </a:lnTo>
                  <a:lnTo>
                    <a:pt x="1040" y="371"/>
                  </a:lnTo>
                  <a:lnTo>
                    <a:pt x="1004" y="371"/>
                  </a:lnTo>
                  <a:lnTo>
                    <a:pt x="980" y="383"/>
                  </a:lnTo>
                  <a:lnTo>
                    <a:pt x="944" y="395"/>
                  </a:lnTo>
                  <a:lnTo>
                    <a:pt x="908" y="407"/>
                  </a:lnTo>
                  <a:lnTo>
                    <a:pt x="884" y="419"/>
                  </a:lnTo>
                  <a:lnTo>
                    <a:pt x="849" y="431"/>
                  </a:lnTo>
                  <a:lnTo>
                    <a:pt x="813" y="455"/>
                  </a:lnTo>
                  <a:lnTo>
                    <a:pt x="789" y="466"/>
                  </a:lnTo>
                  <a:lnTo>
                    <a:pt x="753" y="478"/>
                  </a:lnTo>
                  <a:lnTo>
                    <a:pt x="729" y="502"/>
                  </a:lnTo>
                  <a:lnTo>
                    <a:pt x="705" y="514"/>
                  </a:lnTo>
                  <a:lnTo>
                    <a:pt x="681" y="526"/>
                  </a:lnTo>
                  <a:lnTo>
                    <a:pt x="645" y="550"/>
                  </a:lnTo>
                  <a:lnTo>
                    <a:pt x="621" y="574"/>
                  </a:lnTo>
                  <a:lnTo>
                    <a:pt x="586" y="586"/>
                  </a:lnTo>
                  <a:lnTo>
                    <a:pt x="562" y="610"/>
                  </a:lnTo>
                  <a:lnTo>
                    <a:pt x="538" y="634"/>
                  </a:lnTo>
                  <a:lnTo>
                    <a:pt x="490" y="670"/>
                  </a:lnTo>
                  <a:lnTo>
                    <a:pt x="454" y="706"/>
                  </a:lnTo>
                  <a:lnTo>
                    <a:pt x="418" y="730"/>
                  </a:lnTo>
                  <a:lnTo>
                    <a:pt x="382" y="777"/>
                  </a:lnTo>
                  <a:lnTo>
                    <a:pt x="359" y="813"/>
                  </a:lnTo>
                  <a:lnTo>
                    <a:pt x="323" y="849"/>
                  </a:lnTo>
                  <a:lnTo>
                    <a:pt x="287" y="885"/>
                  </a:lnTo>
                  <a:lnTo>
                    <a:pt x="263" y="921"/>
                  </a:lnTo>
                  <a:lnTo>
                    <a:pt x="239" y="969"/>
                  </a:lnTo>
                  <a:lnTo>
                    <a:pt x="215" y="1005"/>
                  </a:lnTo>
                  <a:lnTo>
                    <a:pt x="191" y="1053"/>
                  </a:lnTo>
                  <a:lnTo>
                    <a:pt x="167" y="1088"/>
                  </a:lnTo>
                  <a:lnTo>
                    <a:pt x="143" y="1136"/>
                  </a:lnTo>
                  <a:lnTo>
                    <a:pt x="120" y="1184"/>
                  </a:lnTo>
                  <a:lnTo>
                    <a:pt x="96" y="1232"/>
                  </a:lnTo>
                  <a:lnTo>
                    <a:pt x="84" y="1280"/>
                  </a:lnTo>
                  <a:lnTo>
                    <a:pt x="60" y="1352"/>
                  </a:lnTo>
                  <a:lnTo>
                    <a:pt x="48" y="1411"/>
                  </a:lnTo>
                  <a:lnTo>
                    <a:pt x="36" y="1471"/>
                  </a:lnTo>
                  <a:lnTo>
                    <a:pt x="24" y="1531"/>
                  </a:lnTo>
                  <a:lnTo>
                    <a:pt x="12" y="1603"/>
                  </a:lnTo>
                  <a:lnTo>
                    <a:pt x="12" y="1687"/>
                  </a:lnTo>
                  <a:lnTo>
                    <a:pt x="0" y="1758"/>
                  </a:lnTo>
                  <a:lnTo>
                    <a:pt x="12" y="1818"/>
                  </a:lnTo>
                  <a:lnTo>
                    <a:pt x="12" y="1878"/>
                  </a:lnTo>
                  <a:lnTo>
                    <a:pt x="24" y="1938"/>
                  </a:lnTo>
                  <a:lnTo>
                    <a:pt x="24" y="2009"/>
                  </a:lnTo>
                  <a:lnTo>
                    <a:pt x="36" y="2069"/>
                  </a:lnTo>
                  <a:lnTo>
                    <a:pt x="60" y="2141"/>
                  </a:lnTo>
                  <a:lnTo>
                    <a:pt x="84" y="2213"/>
                  </a:lnTo>
                  <a:lnTo>
                    <a:pt x="108" y="2273"/>
                  </a:lnTo>
                  <a:lnTo>
                    <a:pt x="131" y="2344"/>
                  </a:lnTo>
                  <a:lnTo>
                    <a:pt x="167" y="2404"/>
                  </a:lnTo>
                  <a:lnTo>
                    <a:pt x="203" y="2464"/>
                  </a:lnTo>
                  <a:lnTo>
                    <a:pt x="777" y="2129"/>
                  </a:lnTo>
                  <a:lnTo>
                    <a:pt x="753" y="2069"/>
                  </a:lnTo>
                  <a:lnTo>
                    <a:pt x="729" y="2021"/>
                  </a:lnTo>
                  <a:lnTo>
                    <a:pt x="717" y="1974"/>
                  </a:lnTo>
                  <a:lnTo>
                    <a:pt x="705" y="1914"/>
                  </a:lnTo>
                  <a:lnTo>
                    <a:pt x="693" y="1866"/>
                  </a:lnTo>
                  <a:lnTo>
                    <a:pt x="693" y="1830"/>
                  </a:lnTo>
                  <a:lnTo>
                    <a:pt x="681" y="1782"/>
                  </a:lnTo>
                  <a:lnTo>
                    <a:pt x="681" y="1734"/>
                  </a:lnTo>
                  <a:lnTo>
                    <a:pt x="681" y="1675"/>
                  </a:lnTo>
                  <a:lnTo>
                    <a:pt x="693" y="1627"/>
                  </a:lnTo>
                  <a:lnTo>
                    <a:pt x="705" y="1567"/>
                  </a:lnTo>
                  <a:lnTo>
                    <a:pt x="717" y="1519"/>
                  </a:lnTo>
                  <a:lnTo>
                    <a:pt x="741" y="1459"/>
                  </a:lnTo>
                  <a:lnTo>
                    <a:pt x="753" y="1411"/>
                  </a:lnTo>
                  <a:lnTo>
                    <a:pt x="777" y="1376"/>
                  </a:lnTo>
                  <a:lnTo>
                    <a:pt x="801" y="1340"/>
                  </a:lnTo>
                  <a:lnTo>
                    <a:pt x="825" y="1304"/>
                  </a:lnTo>
                  <a:lnTo>
                    <a:pt x="849" y="1280"/>
                  </a:lnTo>
                  <a:lnTo>
                    <a:pt x="872" y="1256"/>
                  </a:lnTo>
                  <a:lnTo>
                    <a:pt x="896" y="1220"/>
                  </a:lnTo>
                  <a:lnTo>
                    <a:pt x="920" y="1208"/>
                  </a:lnTo>
                  <a:lnTo>
                    <a:pt x="944" y="1172"/>
                  </a:lnTo>
                  <a:lnTo>
                    <a:pt x="968" y="1160"/>
                  </a:lnTo>
                  <a:lnTo>
                    <a:pt x="992" y="1136"/>
                  </a:lnTo>
                  <a:lnTo>
                    <a:pt x="1028" y="1112"/>
                  </a:lnTo>
                  <a:lnTo>
                    <a:pt x="1064" y="1088"/>
                  </a:lnTo>
                  <a:lnTo>
                    <a:pt x="1088" y="1077"/>
                  </a:lnTo>
                  <a:lnTo>
                    <a:pt x="1123" y="1053"/>
                  </a:lnTo>
                  <a:lnTo>
                    <a:pt x="1159" y="1041"/>
                  </a:lnTo>
                  <a:lnTo>
                    <a:pt x="1183" y="1029"/>
                  </a:lnTo>
                  <a:lnTo>
                    <a:pt x="1219" y="1017"/>
                  </a:lnTo>
                  <a:lnTo>
                    <a:pt x="1267" y="1005"/>
                  </a:lnTo>
                  <a:lnTo>
                    <a:pt x="1303" y="1005"/>
                  </a:lnTo>
                  <a:lnTo>
                    <a:pt x="1350" y="993"/>
                  </a:lnTo>
                  <a:lnTo>
                    <a:pt x="1386" y="993"/>
                  </a:lnTo>
                  <a:lnTo>
                    <a:pt x="1410" y="993"/>
                  </a:lnTo>
                  <a:lnTo>
                    <a:pt x="1410" y="1352"/>
                  </a:lnTo>
                  <a:lnTo>
                    <a:pt x="1960" y="682"/>
                  </a:lnTo>
                  <a:lnTo>
                    <a:pt x="1410" y="0"/>
                  </a:lnTo>
                  <a:lnTo>
                    <a:pt x="1410" y="311"/>
                  </a:lnTo>
                  <a:lnTo>
                    <a:pt x="1386" y="311"/>
                  </a:lnTo>
                  <a:lnTo>
                    <a:pt x="1339" y="311"/>
                  </a:lnTo>
                  <a:lnTo>
                    <a:pt x="1303" y="311"/>
                  </a:lnTo>
                  <a:lnTo>
                    <a:pt x="1255" y="323"/>
                  </a:lnTo>
                  <a:lnTo>
                    <a:pt x="1219" y="323"/>
                  </a:lnTo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0" cap="rnd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7360" name="Group 6"/>
            <p:cNvGrpSpPr>
              <a:grpSpLocks/>
            </p:cNvGrpSpPr>
            <p:nvPr/>
          </p:nvGrpSpPr>
          <p:grpSpPr bwMode="auto">
            <a:xfrm>
              <a:off x="1334" y="872"/>
              <a:ext cx="3065" cy="3185"/>
              <a:chOff x="1334" y="872"/>
              <a:chExt cx="3065" cy="3185"/>
            </a:xfrm>
          </p:grpSpPr>
          <p:sp>
            <p:nvSpPr>
              <p:cNvPr id="57361" name="Freeform 7"/>
              <p:cNvSpPr>
                <a:spLocks/>
              </p:cNvSpPr>
              <p:nvPr/>
            </p:nvSpPr>
            <p:spPr bwMode="auto">
              <a:xfrm>
                <a:off x="1334" y="2696"/>
                <a:ext cx="2609" cy="1361"/>
              </a:xfrm>
              <a:custGeom>
                <a:avLst/>
                <a:gdLst>
                  <a:gd name="T0" fmla="*/ 1268 w 2609"/>
                  <a:gd name="T1" fmla="*/ 1336 h 1361"/>
                  <a:gd name="T2" fmla="*/ 1196 w 2609"/>
                  <a:gd name="T3" fmla="*/ 1324 h 1361"/>
                  <a:gd name="T4" fmla="*/ 1148 w 2609"/>
                  <a:gd name="T5" fmla="*/ 1312 h 1361"/>
                  <a:gd name="T6" fmla="*/ 1089 w 2609"/>
                  <a:gd name="T7" fmla="*/ 1300 h 1361"/>
                  <a:gd name="T8" fmla="*/ 1029 w 2609"/>
                  <a:gd name="T9" fmla="*/ 1276 h 1361"/>
                  <a:gd name="T10" fmla="*/ 957 w 2609"/>
                  <a:gd name="T11" fmla="*/ 1253 h 1361"/>
                  <a:gd name="T12" fmla="*/ 897 w 2609"/>
                  <a:gd name="T13" fmla="*/ 1217 h 1361"/>
                  <a:gd name="T14" fmla="*/ 837 w 2609"/>
                  <a:gd name="T15" fmla="*/ 1193 h 1361"/>
                  <a:gd name="T16" fmla="*/ 778 w 2609"/>
                  <a:gd name="T17" fmla="*/ 1157 h 1361"/>
                  <a:gd name="T18" fmla="*/ 730 w 2609"/>
                  <a:gd name="T19" fmla="*/ 1121 h 1361"/>
                  <a:gd name="T20" fmla="*/ 670 w 2609"/>
                  <a:gd name="T21" fmla="*/ 1074 h 1361"/>
                  <a:gd name="T22" fmla="*/ 622 w 2609"/>
                  <a:gd name="T23" fmla="*/ 1038 h 1361"/>
                  <a:gd name="T24" fmla="*/ 538 w 2609"/>
                  <a:gd name="T25" fmla="*/ 978 h 1361"/>
                  <a:gd name="T26" fmla="*/ 467 w 2609"/>
                  <a:gd name="T27" fmla="*/ 895 h 1361"/>
                  <a:gd name="T28" fmla="*/ 407 w 2609"/>
                  <a:gd name="T29" fmla="*/ 823 h 1361"/>
                  <a:gd name="T30" fmla="*/ 347 w 2609"/>
                  <a:gd name="T31" fmla="*/ 752 h 1361"/>
                  <a:gd name="T32" fmla="*/ 287 w 2609"/>
                  <a:gd name="T33" fmla="*/ 656 h 1361"/>
                  <a:gd name="T34" fmla="*/ 275 w 2609"/>
                  <a:gd name="T35" fmla="*/ 0 h 1361"/>
                  <a:gd name="T36" fmla="*/ 873 w 2609"/>
                  <a:gd name="T37" fmla="*/ 322 h 1361"/>
                  <a:gd name="T38" fmla="*/ 921 w 2609"/>
                  <a:gd name="T39" fmla="*/ 394 h 1361"/>
                  <a:gd name="T40" fmla="*/ 981 w 2609"/>
                  <a:gd name="T41" fmla="*/ 453 h 1361"/>
                  <a:gd name="T42" fmla="*/ 1017 w 2609"/>
                  <a:gd name="T43" fmla="*/ 501 h 1361"/>
                  <a:gd name="T44" fmla="*/ 1077 w 2609"/>
                  <a:gd name="T45" fmla="*/ 537 h 1361"/>
                  <a:gd name="T46" fmla="*/ 1148 w 2609"/>
                  <a:gd name="T47" fmla="*/ 585 h 1361"/>
                  <a:gd name="T48" fmla="*/ 1208 w 2609"/>
                  <a:gd name="T49" fmla="*/ 620 h 1361"/>
                  <a:gd name="T50" fmla="*/ 1268 w 2609"/>
                  <a:gd name="T51" fmla="*/ 644 h 1361"/>
                  <a:gd name="T52" fmla="*/ 1340 w 2609"/>
                  <a:gd name="T53" fmla="*/ 668 h 1361"/>
                  <a:gd name="T54" fmla="*/ 1424 w 2609"/>
                  <a:gd name="T55" fmla="*/ 668 h 1361"/>
                  <a:gd name="T56" fmla="*/ 1579 w 2609"/>
                  <a:gd name="T57" fmla="*/ 680 h 1361"/>
                  <a:gd name="T58" fmla="*/ 1699 w 2609"/>
                  <a:gd name="T59" fmla="*/ 656 h 1361"/>
                  <a:gd name="T60" fmla="*/ 1830 w 2609"/>
                  <a:gd name="T61" fmla="*/ 608 h 1361"/>
                  <a:gd name="T62" fmla="*/ 1938 w 2609"/>
                  <a:gd name="T63" fmla="*/ 549 h 1361"/>
                  <a:gd name="T64" fmla="*/ 2608 w 2609"/>
                  <a:gd name="T65" fmla="*/ 859 h 1361"/>
                  <a:gd name="T66" fmla="*/ 2548 w 2609"/>
                  <a:gd name="T67" fmla="*/ 919 h 1361"/>
                  <a:gd name="T68" fmla="*/ 2488 w 2609"/>
                  <a:gd name="T69" fmla="*/ 978 h 1361"/>
                  <a:gd name="T70" fmla="*/ 2417 w 2609"/>
                  <a:gd name="T71" fmla="*/ 1038 h 1361"/>
                  <a:gd name="T72" fmla="*/ 2357 w 2609"/>
                  <a:gd name="T73" fmla="*/ 1086 h 1361"/>
                  <a:gd name="T74" fmla="*/ 2285 w 2609"/>
                  <a:gd name="T75" fmla="*/ 1133 h 1361"/>
                  <a:gd name="T76" fmla="*/ 2213 w 2609"/>
                  <a:gd name="T77" fmla="*/ 1181 h 1361"/>
                  <a:gd name="T78" fmla="*/ 2141 w 2609"/>
                  <a:gd name="T79" fmla="*/ 1217 h 1361"/>
                  <a:gd name="T80" fmla="*/ 2058 w 2609"/>
                  <a:gd name="T81" fmla="*/ 1253 h 1361"/>
                  <a:gd name="T82" fmla="*/ 1974 w 2609"/>
                  <a:gd name="T83" fmla="*/ 1288 h 1361"/>
                  <a:gd name="T84" fmla="*/ 1902 w 2609"/>
                  <a:gd name="T85" fmla="*/ 1312 h 1361"/>
                  <a:gd name="T86" fmla="*/ 1818 w 2609"/>
                  <a:gd name="T87" fmla="*/ 1324 h 1361"/>
                  <a:gd name="T88" fmla="*/ 1735 w 2609"/>
                  <a:gd name="T89" fmla="*/ 1348 h 1361"/>
                  <a:gd name="T90" fmla="*/ 1639 w 2609"/>
                  <a:gd name="T91" fmla="*/ 1360 h 1361"/>
                  <a:gd name="T92" fmla="*/ 1555 w 2609"/>
                  <a:gd name="T93" fmla="*/ 1360 h 1361"/>
                  <a:gd name="T94" fmla="*/ 1471 w 2609"/>
                  <a:gd name="T95" fmla="*/ 1360 h 1361"/>
                  <a:gd name="T96" fmla="*/ 1376 w 2609"/>
                  <a:gd name="T97" fmla="*/ 1348 h 1361"/>
                  <a:gd name="T98" fmla="*/ 1304 w 2609"/>
                  <a:gd name="T99" fmla="*/ 1348 h 1361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2609" h="1361">
                    <a:moveTo>
                      <a:pt x="1304" y="1348"/>
                    </a:moveTo>
                    <a:lnTo>
                      <a:pt x="1268" y="1336"/>
                    </a:lnTo>
                    <a:lnTo>
                      <a:pt x="1232" y="1336"/>
                    </a:lnTo>
                    <a:lnTo>
                      <a:pt x="1196" y="1324"/>
                    </a:lnTo>
                    <a:lnTo>
                      <a:pt x="1172" y="1324"/>
                    </a:lnTo>
                    <a:lnTo>
                      <a:pt x="1148" y="1312"/>
                    </a:lnTo>
                    <a:lnTo>
                      <a:pt x="1113" y="1300"/>
                    </a:lnTo>
                    <a:lnTo>
                      <a:pt x="1089" y="1300"/>
                    </a:lnTo>
                    <a:lnTo>
                      <a:pt x="1065" y="1288"/>
                    </a:lnTo>
                    <a:lnTo>
                      <a:pt x="1029" y="1276"/>
                    </a:lnTo>
                    <a:lnTo>
                      <a:pt x="993" y="1265"/>
                    </a:lnTo>
                    <a:lnTo>
                      <a:pt x="957" y="1253"/>
                    </a:lnTo>
                    <a:lnTo>
                      <a:pt x="933" y="1229"/>
                    </a:lnTo>
                    <a:lnTo>
                      <a:pt x="897" y="1217"/>
                    </a:lnTo>
                    <a:lnTo>
                      <a:pt x="861" y="1205"/>
                    </a:lnTo>
                    <a:lnTo>
                      <a:pt x="837" y="1193"/>
                    </a:lnTo>
                    <a:lnTo>
                      <a:pt x="814" y="1169"/>
                    </a:lnTo>
                    <a:lnTo>
                      <a:pt x="778" y="1157"/>
                    </a:lnTo>
                    <a:lnTo>
                      <a:pt x="754" y="1133"/>
                    </a:lnTo>
                    <a:lnTo>
                      <a:pt x="730" y="1121"/>
                    </a:lnTo>
                    <a:lnTo>
                      <a:pt x="694" y="1098"/>
                    </a:lnTo>
                    <a:lnTo>
                      <a:pt x="670" y="1074"/>
                    </a:lnTo>
                    <a:lnTo>
                      <a:pt x="646" y="1062"/>
                    </a:lnTo>
                    <a:lnTo>
                      <a:pt x="622" y="1038"/>
                    </a:lnTo>
                    <a:lnTo>
                      <a:pt x="574" y="1014"/>
                    </a:lnTo>
                    <a:lnTo>
                      <a:pt x="538" y="978"/>
                    </a:lnTo>
                    <a:lnTo>
                      <a:pt x="502" y="942"/>
                    </a:lnTo>
                    <a:lnTo>
                      <a:pt x="467" y="895"/>
                    </a:lnTo>
                    <a:lnTo>
                      <a:pt x="431" y="859"/>
                    </a:lnTo>
                    <a:lnTo>
                      <a:pt x="407" y="823"/>
                    </a:lnTo>
                    <a:lnTo>
                      <a:pt x="371" y="787"/>
                    </a:lnTo>
                    <a:lnTo>
                      <a:pt x="347" y="752"/>
                    </a:lnTo>
                    <a:lnTo>
                      <a:pt x="323" y="704"/>
                    </a:lnTo>
                    <a:lnTo>
                      <a:pt x="287" y="656"/>
                    </a:lnTo>
                    <a:lnTo>
                      <a:pt x="0" y="823"/>
                    </a:lnTo>
                    <a:lnTo>
                      <a:pt x="275" y="0"/>
                    </a:lnTo>
                    <a:lnTo>
                      <a:pt x="1172" y="155"/>
                    </a:lnTo>
                    <a:lnTo>
                      <a:pt x="873" y="322"/>
                    </a:lnTo>
                    <a:lnTo>
                      <a:pt x="897" y="358"/>
                    </a:lnTo>
                    <a:lnTo>
                      <a:pt x="921" y="394"/>
                    </a:lnTo>
                    <a:lnTo>
                      <a:pt x="945" y="418"/>
                    </a:lnTo>
                    <a:lnTo>
                      <a:pt x="981" y="453"/>
                    </a:lnTo>
                    <a:lnTo>
                      <a:pt x="993" y="477"/>
                    </a:lnTo>
                    <a:lnTo>
                      <a:pt x="1017" y="501"/>
                    </a:lnTo>
                    <a:lnTo>
                      <a:pt x="1053" y="513"/>
                    </a:lnTo>
                    <a:lnTo>
                      <a:pt x="1077" y="537"/>
                    </a:lnTo>
                    <a:lnTo>
                      <a:pt x="1113" y="561"/>
                    </a:lnTo>
                    <a:lnTo>
                      <a:pt x="1148" y="585"/>
                    </a:lnTo>
                    <a:lnTo>
                      <a:pt x="1172" y="596"/>
                    </a:lnTo>
                    <a:lnTo>
                      <a:pt x="1208" y="620"/>
                    </a:lnTo>
                    <a:lnTo>
                      <a:pt x="1244" y="632"/>
                    </a:lnTo>
                    <a:lnTo>
                      <a:pt x="1268" y="644"/>
                    </a:lnTo>
                    <a:lnTo>
                      <a:pt x="1304" y="656"/>
                    </a:lnTo>
                    <a:lnTo>
                      <a:pt x="1340" y="668"/>
                    </a:lnTo>
                    <a:lnTo>
                      <a:pt x="1388" y="668"/>
                    </a:lnTo>
                    <a:lnTo>
                      <a:pt x="1424" y="668"/>
                    </a:lnTo>
                    <a:lnTo>
                      <a:pt x="1495" y="680"/>
                    </a:lnTo>
                    <a:lnTo>
                      <a:pt x="1579" y="680"/>
                    </a:lnTo>
                    <a:lnTo>
                      <a:pt x="1639" y="668"/>
                    </a:lnTo>
                    <a:lnTo>
                      <a:pt x="1699" y="656"/>
                    </a:lnTo>
                    <a:lnTo>
                      <a:pt x="1771" y="632"/>
                    </a:lnTo>
                    <a:lnTo>
                      <a:pt x="1830" y="608"/>
                    </a:lnTo>
                    <a:lnTo>
                      <a:pt x="1890" y="585"/>
                    </a:lnTo>
                    <a:lnTo>
                      <a:pt x="1938" y="549"/>
                    </a:lnTo>
                    <a:lnTo>
                      <a:pt x="1986" y="501"/>
                    </a:lnTo>
                    <a:lnTo>
                      <a:pt x="2608" y="859"/>
                    </a:lnTo>
                    <a:lnTo>
                      <a:pt x="2584" y="883"/>
                    </a:lnTo>
                    <a:lnTo>
                      <a:pt x="2548" y="919"/>
                    </a:lnTo>
                    <a:lnTo>
                      <a:pt x="2512" y="954"/>
                    </a:lnTo>
                    <a:lnTo>
                      <a:pt x="2488" y="978"/>
                    </a:lnTo>
                    <a:lnTo>
                      <a:pt x="2452" y="1002"/>
                    </a:lnTo>
                    <a:lnTo>
                      <a:pt x="2417" y="1038"/>
                    </a:lnTo>
                    <a:lnTo>
                      <a:pt x="2393" y="1062"/>
                    </a:lnTo>
                    <a:lnTo>
                      <a:pt x="2357" y="1086"/>
                    </a:lnTo>
                    <a:lnTo>
                      <a:pt x="2321" y="1109"/>
                    </a:lnTo>
                    <a:lnTo>
                      <a:pt x="2285" y="1133"/>
                    </a:lnTo>
                    <a:lnTo>
                      <a:pt x="2249" y="1157"/>
                    </a:lnTo>
                    <a:lnTo>
                      <a:pt x="2213" y="1181"/>
                    </a:lnTo>
                    <a:lnTo>
                      <a:pt x="2177" y="1193"/>
                    </a:lnTo>
                    <a:lnTo>
                      <a:pt x="2141" y="1217"/>
                    </a:lnTo>
                    <a:lnTo>
                      <a:pt x="2106" y="1229"/>
                    </a:lnTo>
                    <a:lnTo>
                      <a:pt x="2058" y="1253"/>
                    </a:lnTo>
                    <a:lnTo>
                      <a:pt x="2010" y="1265"/>
                    </a:lnTo>
                    <a:lnTo>
                      <a:pt x="1974" y="1288"/>
                    </a:lnTo>
                    <a:lnTo>
                      <a:pt x="1938" y="1300"/>
                    </a:lnTo>
                    <a:lnTo>
                      <a:pt x="1902" y="1312"/>
                    </a:lnTo>
                    <a:lnTo>
                      <a:pt x="1866" y="1324"/>
                    </a:lnTo>
                    <a:lnTo>
                      <a:pt x="1818" y="1324"/>
                    </a:lnTo>
                    <a:lnTo>
                      <a:pt x="1783" y="1336"/>
                    </a:lnTo>
                    <a:lnTo>
                      <a:pt x="1735" y="1348"/>
                    </a:lnTo>
                    <a:lnTo>
                      <a:pt x="1687" y="1348"/>
                    </a:lnTo>
                    <a:lnTo>
                      <a:pt x="1639" y="1360"/>
                    </a:lnTo>
                    <a:lnTo>
                      <a:pt x="1603" y="1360"/>
                    </a:lnTo>
                    <a:lnTo>
                      <a:pt x="1555" y="1360"/>
                    </a:lnTo>
                    <a:lnTo>
                      <a:pt x="1507" y="1360"/>
                    </a:lnTo>
                    <a:lnTo>
                      <a:pt x="1471" y="1360"/>
                    </a:lnTo>
                    <a:lnTo>
                      <a:pt x="1424" y="1360"/>
                    </a:lnTo>
                    <a:lnTo>
                      <a:pt x="1376" y="1348"/>
                    </a:lnTo>
                    <a:lnTo>
                      <a:pt x="1340" y="1348"/>
                    </a:lnTo>
                    <a:lnTo>
                      <a:pt x="1304" y="1348"/>
                    </a:lnTo>
                  </a:path>
                </a:pathLst>
              </a:cu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62" name="Freeform 8"/>
              <p:cNvSpPr>
                <a:spLocks/>
              </p:cNvSpPr>
              <p:nvPr/>
            </p:nvSpPr>
            <p:spPr bwMode="auto">
              <a:xfrm>
                <a:off x="3074" y="1208"/>
                <a:ext cx="1325" cy="2441"/>
              </a:xfrm>
              <a:custGeom>
                <a:avLst/>
                <a:gdLst>
                  <a:gd name="T0" fmla="*/ 36 w 1325"/>
                  <a:gd name="T1" fmla="*/ 0 h 2441"/>
                  <a:gd name="T2" fmla="*/ 95 w 1325"/>
                  <a:gd name="T3" fmla="*/ 12 h 2441"/>
                  <a:gd name="T4" fmla="*/ 155 w 1325"/>
                  <a:gd name="T5" fmla="*/ 36 h 2441"/>
                  <a:gd name="T6" fmla="*/ 215 w 1325"/>
                  <a:gd name="T7" fmla="*/ 48 h 2441"/>
                  <a:gd name="T8" fmla="*/ 274 w 1325"/>
                  <a:gd name="T9" fmla="*/ 72 h 2441"/>
                  <a:gd name="T10" fmla="*/ 334 w 1325"/>
                  <a:gd name="T11" fmla="*/ 96 h 2441"/>
                  <a:gd name="T12" fmla="*/ 406 w 1325"/>
                  <a:gd name="T13" fmla="*/ 120 h 2441"/>
                  <a:gd name="T14" fmla="*/ 465 w 1325"/>
                  <a:gd name="T15" fmla="*/ 155 h 2441"/>
                  <a:gd name="T16" fmla="*/ 513 w 1325"/>
                  <a:gd name="T17" fmla="*/ 191 h 2441"/>
                  <a:gd name="T18" fmla="*/ 573 w 1325"/>
                  <a:gd name="T19" fmla="*/ 215 h 2441"/>
                  <a:gd name="T20" fmla="*/ 632 w 1325"/>
                  <a:gd name="T21" fmla="*/ 263 h 2441"/>
                  <a:gd name="T22" fmla="*/ 680 w 1325"/>
                  <a:gd name="T23" fmla="*/ 299 h 2441"/>
                  <a:gd name="T24" fmla="*/ 763 w 1325"/>
                  <a:gd name="T25" fmla="*/ 383 h 2441"/>
                  <a:gd name="T26" fmla="*/ 835 w 1325"/>
                  <a:gd name="T27" fmla="*/ 455 h 2441"/>
                  <a:gd name="T28" fmla="*/ 895 w 1325"/>
                  <a:gd name="T29" fmla="*/ 514 h 2441"/>
                  <a:gd name="T30" fmla="*/ 954 w 1325"/>
                  <a:gd name="T31" fmla="*/ 598 h 2441"/>
                  <a:gd name="T32" fmla="*/ 1002 w 1325"/>
                  <a:gd name="T33" fmla="*/ 682 h 2441"/>
                  <a:gd name="T34" fmla="*/ 1062 w 1325"/>
                  <a:gd name="T35" fmla="*/ 765 h 2441"/>
                  <a:gd name="T36" fmla="*/ 1097 w 1325"/>
                  <a:gd name="T37" fmla="*/ 861 h 2441"/>
                  <a:gd name="T38" fmla="*/ 1133 w 1325"/>
                  <a:gd name="T39" fmla="*/ 957 h 2441"/>
                  <a:gd name="T40" fmla="*/ 1169 w 1325"/>
                  <a:gd name="T41" fmla="*/ 1076 h 2441"/>
                  <a:gd name="T42" fmla="*/ 1193 w 1325"/>
                  <a:gd name="T43" fmla="*/ 1196 h 2441"/>
                  <a:gd name="T44" fmla="*/ 1217 w 1325"/>
                  <a:gd name="T45" fmla="*/ 1352 h 2441"/>
                  <a:gd name="T46" fmla="*/ 1217 w 1325"/>
                  <a:gd name="T47" fmla="*/ 1495 h 2441"/>
                  <a:gd name="T48" fmla="*/ 1193 w 1325"/>
                  <a:gd name="T49" fmla="*/ 1615 h 2441"/>
                  <a:gd name="T50" fmla="*/ 1181 w 1325"/>
                  <a:gd name="T51" fmla="*/ 1746 h 2441"/>
                  <a:gd name="T52" fmla="*/ 1133 w 1325"/>
                  <a:gd name="T53" fmla="*/ 1878 h 2441"/>
                  <a:gd name="T54" fmla="*/ 1085 w 1325"/>
                  <a:gd name="T55" fmla="*/ 2009 h 2441"/>
                  <a:gd name="T56" fmla="*/ 1026 w 1325"/>
                  <a:gd name="T57" fmla="*/ 2129 h 2441"/>
                  <a:gd name="T58" fmla="*/ 417 w 1325"/>
                  <a:gd name="T59" fmla="*/ 2440 h 2441"/>
                  <a:gd name="T60" fmla="*/ 429 w 1325"/>
                  <a:gd name="T61" fmla="*/ 1794 h 2441"/>
                  <a:gd name="T62" fmla="*/ 489 w 1325"/>
                  <a:gd name="T63" fmla="*/ 1686 h 2441"/>
                  <a:gd name="T64" fmla="*/ 513 w 1325"/>
                  <a:gd name="T65" fmla="*/ 1591 h 2441"/>
                  <a:gd name="T66" fmla="*/ 525 w 1325"/>
                  <a:gd name="T67" fmla="*/ 1495 h 2441"/>
                  <a:gd name="T68" fmla="*/ 537 w 1325"/>
                  <a:gd name="T69" fmla="*/ 1399 h 2441"/>
                  <a:gd name="T70" fmla="*/ 525 w 1325"/>
                  <a:gd name="T71" fmla="*/ 1292 h 2441"/>
                  <a:gd name="T72" fmla="*/ 501 w 1325"/>
                  <a:gd name="T73" fmla="*/ 1184 h 2441"/>
                  <a:gd name="T74" fmla="*/ 465 w 1325"/>
                  <a:gd name="T75" fmla="*/ 1088 h 2441"/>
                  <a:gd name="T76" fmla="*/ 417 w 1325"/>
                  <a:gd name="T77" fmla="*/ 1005 h 2441"/>
                  <a:gd name="T78" fmla="*/ 370 w 1325"/>
                  <a:gd name="T79" fmla="*/ 957 h 2441"/>
                  <a:gd name="T80" fmla="*/ 322 w 1325"/>
                  <a:gd name="T81" fmla="*/ 897 h 2441"/>
                  <a:gd name="T82" fmla="*/ 274 w 1325"/>
                  <a:gd name="T83" fmla="*/ 849 h 2441"/>
                  <a:gd name="T84" fmla="*/ 227 w 1325"/>
                  <a:gd name="T85" fmla="*/ 801 h 2441"/>
                  <a:gd name="T86" fmla="*/ 155 w 1325"/>
                  <a:gd name="T87" fmla="*/ 765 h 2441"/>
                  <a:gd name="T88" fmla="*/ 95 w 1325"/>
                  <a:gd name="T89" fmla="*/ 730 h 2441"/>
                  <a:gd name="T90" fmla="*/ 0 w 1325"/>
                  <a:gd name="T91" fmla="*/ 694 h 2441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1325" h="2441">
                    <a:moveTo>
                      <a:pt x="0" y="0"/>
                    </a:moveTo>
                    <a:lnTo>
                      <a:pt x="36" y="0"/>
                    </a:lnTo>
                    <a:lnTo>
                      <a:pt x="60" y="12"/>
                    </a:lnTo>
                    <a:lnTo>
                      <a:pt x="95" y="12"/>
                    </a:lnTo>
                    <a:lnTo>
                      <a:pt x="131" y="24"/>
                    </a:lnTo>
                    <a:lnTo>
                      <a:pt x="155" y="36"/>
                    </a:lnTo>
                    <a:lnTo>
                      <a:pt x="179" y="36"/>
                    </a:lnTo>
                    <a:lnTo>
                      <a:pt x="215" y="48"/>
                    </a:lnTo>
                    <a:lnTo>
                      <a:pt x="239" y="60"/>
                    </a:lnTo>
                    <a:lnTo>
                      <a:pt x="274" y="72"/>
                    </a:lnTo>
                    <a:lnTo>
                      <a:pt x="310" y="84"/>
                    </a:lnTo>
                    <a:lnTo>
                      <a:pt x="334" y="96"/>
                    </a:lnTo>
                    <a:lnTo>
                      <a:pt x="370" y="108"/>
                    </a:lnTo>
                    <a:lnTo>
                      <a:pt x="406" y="120"/>
                    </a:lnTo>
                    <a:lnTo>
                      <a:pt x="429" y="144"/>
                    </a:lnTo>
                    <a:lnTo>
                      <a:pt x="465" y="155"/>
                    </a:lnTo>
                    <a:lnTo>
                      <a:pt x="489" y="167"/>
                    </a:lnTo>
                    <a:lnTo>
                      <a:pt x="513" y="191"/>
                    </a:lnTo>
                    <a:lnTo>
                      <a:pt x="537" y="203"/>
                    </a:lnTo>
                    <a:lnTo>
                      <a:pt x="573" y="215"/>
                    </a:lnTo>
                    <a:lnTo>
                      <a:pt x="596" y="239"/>
                    </a:lnTo>
                    <a:lnTo>
                      <a:pt x="632" y="263"/>
                    </a:lnTo>
                    <a:lnTo>
                      <a:pt x="656" y="287"/>
                    </a:lnTo>
                    <a:lnTo>
                      <a:pt x="680" y="299"/>
                    </a:lnTo>
                    <a:lnTo>
                      <a:pt x="728" y="335"/>
                    </a:lnTo>
                    <a:lnTo>
                      <a:pt x="763" y="383"/>
                    </a:lnTo>
                    <a:lnTo>
                      <a:pt x="799" y="407"/>
                    </a:lnTo>
                    <a:lnTo>
                      <a:pt x="835" y="455"/>
                    </a:lnTo>
                    <a:lnTo>
                      <a:pt x="859" y="478"/>
                    </a:lnTo>
                    <a:lnTo>
                      <a:pt x="895" y="514"/>
                    </a:lnTo>
                    <a:lnTo>
                      <a:pt x="930" y="562"/>
                    </a:lnTo>
                    <a:lnTo>
                      <a:pt x="954" y="598"/>
                    </a:lnTo>
                    <a:lnTo>
                      <a:pt x="978" y="634"/>
                    </a:lnTo>
                    <a:lnTo>
                      <a:pt x="1002" y="682"/>
                    </a:lnTo>
                    <a:lnTo>
                      <a:pt x="1038" y="730"/>
                    </a:lnTo>
                    <a:lnTo>
                      <a:pt x="1062" y="765"/>
                    </a:lnTo>
                    <a:lnTo>
                      <a:pt x="1074" y="813"/>
                    </a:lnTo>
                    <a:lnTo>
                      <a:pt x="1097" y="861"/>
                    </a:lnTo>
                    <a:lnTo>
                      <a:pt x="1121" y="909"/>
                    </a:lnTo>
                    <a:lnTo>
                      <a:pt x="1133" y="957"/>
                    </a:lnTo>
                    <a:lnTo>
                      <a:pt x="1157" y="1017"/>
                    </a:lnTo>
                    <a:lnTo>
                      <a:pt x="1169" y="1076"/>
                    </a:lnTo>
                    <a:lnTo>
                      <a:pt x="1181" y="1136"/>
                    </a:lnTo>
                    <a:lnTo>
                      <a:pt x="1193" y="1196"/>
                    </a:lnTo>
                    <a:lnTo>
                      <a:pt x="1205" y="1268"/>
                    </a:lnTo>
                    <a:lnTo>
                      <a:pt x="1217" y="1352"/>
                    </a:lnTo>
                    <a:lnTo>
                      <a:pt x="1217" y="1423"/>
                    </a:lnTo>
                    <a:lnTo>
                      <a:pt x="1217" y="1495"/>
                    </a:lnTo>
                    <a:lnTo>
                      <a:pt x="1205" y="1555"/>
                    </a:lnTo>
                    <a:lnTo>
                      <a:pt x="1193" y="1615"/>
                    </a:lnTo>
                    <a:lnTo>
                      <a:pt x="1193" y="1675"/>
                    </a:lnTo>
                    <a:lnTo>
                      <a:pt x="1181" y="1746"/>
                    </a:lnTo>
                    <a:lnTo>
                      <a:pt x="1157" y="1806"/>
                    </a:lnTo>
                    <a:lnTo>
                      <a:pt x="1133" y="1878"/>
                    </a:lnTo>
                    <a:lnTo>
                      <a:pt x="1109" y="1950"/>
                    </a:lnTo>
                    <a:lnTo>
                      <a:pt x="1085" y="2009"/>
                    </a:lnTo>
                    <a:lnTo>
                      <a:pt x="1062" y="2069"/>
                    </a:lnTo>
                    <a:lnTo>
                      <a:pt x="1026" y="2129"/>
                    </a:lnTo>
                    <a:lnTo>
                      <a:pt x="1324" y="2296"/>
                    </a:lnTo>
                    <a:lnTo>
                      <a:pt x="417" y="2440"/>
                    </a:lnTo>
                    <a:lnTo>
                      <a:pt x="83" y="1603"/>
                    </a:lnTo>
                    <a:lnTo>
                      <a:pt x="429" y="1794"/>
                    </a:lnTo>
                    <a:lnTo>
                      <a:pt x="465" y="1734"/>
                    </a:lnTo>
                    <a:lnTo>
                      <a:pt x="489" y="1686"/>
                    </a:lnTo>
                    <a:lnTo>
                      <a:pt x="501" y="1639"/>
                    </a:lnTo>
                    <a:lnTo>
                      <a:pt x="513" y="1591"/>
                    </a:lnTo>
                    <a:lnTo>
                      <a:pt x="525" y="1543"/>
                    </a:lnTo>
                    <a:lnTo>
                      <a:pt x="525" y="1495"/>
                    </a:lnTo>
                    <a:lnTo>
                      <a:pt x="537" y="1447"/>
                    </a:lnTo>
                    <a:lnTo>
                      <a:pt x="537" y="1399"/>
                    </a:lnTo>
                    <a:lnTo>
                      <a:pt x="537" y="1352"/>
                    </a:lnTo>
                    <a:lnTo>
                      <a:pt x="525" y="1292"/>
                    </a:lnTo>
                    <a:lnTo>
                      <a:pt x="513" y="1232"/>
                    </a:lnTo>
                    <a:lnTo>
                      <a:pt x="501" y="1184"/>
                    </a:lnTo>
                    <a:lnTo>
                      <a:pt x="477" y="1136"/>
                    </a:lnTo>
                    <a:lnTo>
                      <a:pt x="465" y="1088"/>
                    </a:lnTo>
                    <a:lnTo>
                      <a:pt x="441" y="1041"/>
                    </a:lnTo>
                    <a:lnTo>
                      <a:pt x="417" y="1005"/>
                    </a:lnTo>
                    <a:lnTo>
                      <a:pt x="394" y="981"/>
                    </a:lnTo>
                    <a:lnTo>
                      <a:pt x="370" y="957"/>
                    </a:lnTo>
                    <a:lnTo>
                      <a:pt x="346" y="921"/>
                    </a:lnTo>
                    <a:lnTo>
                      <a:pt x="322" y="897"/>
                    </a:lnTo>
                    <a:lnTo>
                      <a:pt x="298" y="873"/>
                    </a:lnTo>
                    <a:lnTo>
                      <a:pt x="274" y="849"/>
                    </a:lnTo>
                    <a:lnTo>
                      <a:pt x="250" y="825"/>
                    </a:lnTo>
                    <a:lnTo>
                      <a:pt x="227" y="801"/>
                    </a:lnTo>
                    <a:lnTo>
                      <a:pt x="191" y="777"/>
                    </a:lnTo>
                    <a:lnTo>
                      <a:pt x="155" y="765"/>
                    </a:lnTo>
                    <a:lnTo>
                      <a:pt x="131" y="742"/>
                    </a:lnTo>
                    <a:lnTo>
                      <a:pt x="95" y="730"/>
                    </a:lnTo>
                    <a:lnTo>
                      <a:pt x="60" y="706"/>
                    </a:lnTo>
                    <a:lnTo>
                      <a:pt x="0" y="69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8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63" name="Freeform 9"/>
              <p:cNvSpPr>
                <a:spLocks/>
              </p:cNvSpPr>
              <p:nvPr/>
            </p:nvSpPr>
            <p:spPr bwMode="auto">
              <a:xfrm>
                <a:off x="1406" y="872"/>
                <a:ext cx="1961" cy="2213"/>
              </a:xfrm>
              <a:custGeom>
                <a:avLst/>
                <a:gdLst>
                  <a:gd name="T0" fmla="*/ 1195 w 1961"/>
                  <a:gd name="T1" fmla="*/ 335 h 2213"/>
                  <a:gd name="T2" fmla="*/ 1123 w 1961"/>
                  <a:gd name="T3" fmla="*/ 347 h 2213"/>
                  <a:gd name="T4" fmla="*/ 1064 w 1961"/>
                  <a:gd name="T5" fmla="*/ 359 h 2213"/>
                  <a:gd name="T6" fmla="*/ 1004 w 1961"/>
                  <a:gd name="T7" fmla="*/ 371 h 2213"/>
                  <a:gd name="T8" fmla="*/ 944 w 1961"/>
                  <a:gd name="T9" fmla="*/ 395 h 2213"/>
                  <a:gd name="T10" fmla="*/ 884 w 1961"/>
                  <a:gd name="T11" fmla="*/ 418 h 2213"/>
                  <a:gd name="T12" fmla="*/ 813 w 1961"/>
                  <a:gd name="T13" fmla="*/ 454 h 2213"/>
                  <a:gd name="T14" fmla="*/ 753 w 1961"/>
                  <a:gd name="T15" fmla="*/ 478 h 2213"/>
                  <a:gd name="T16" fmla="*/ 705 w 1961"/>
                  <a:gd name="T17" fmla="*/ 514 h 2213"/>
                  <a:gd name="T18" fmla="*/ 645 w 1961"/>
                  <a:gd name="T19" fmla="*/ 550 h 2213"/>
                  <a:gd name="T20" fmla="*/ 586 w 1961"/>
                  <a:gd name="T21" fmla="*/ 586 h 2213"/>
                  <a:gd name="T22" fmla="*/ 538 w 1961"/>
                  <a:gd name="T23" fmla="*/ 634 h 2213"/>
                  <a:gd name="T24" fmla="*/ 454 w 1961"/>
                  <a:gd name="T25" fmla="*/ 705 h 2213"/>
                  <a:gd name="T26" fmla="*/ 382 w 1961"/>
                  <a:gd name="T27" fmla="*/ 777 h 2213"/>
                  <a:gd name="T28" fmla="*/ 323 w 1961"/>
                  <a:gd name="T29" fmla="*/ 849 h 2213"/>
                  <a:gd name="T30" fmla="*/ 263 w 1961"/>
                  <a:gd name="T31" fmla="*/ 921 h 2213"/>
                  <a:gd name="T32" fmla="*/ 215 w 1961"/>
                  <a:gd name="T33" fmla="*/ 1004 h 2213"/>
                  <a:gd name="T34" fmla="*/ 167 w 1961"/>
                  <a:gd name="T35" fmla="*/ 1088 h 2213"/>
                  <a:gd name="T36" fmla="*/ 120 w 1961"/>
                  <a:gd name="T37" fmla="*/ 1184 h 2213"/>
                  <a:gd name="T38" fmla="*/ 84 w 1961"/>
                  <a:gd name="T39" fmla="*/ 1279 h 2213"/>
                  <a:gd name="T40" fmla="*/ 48 w 1961"/>
                  <a:gd name="T41" fmla="*/ 1411 h 2213"/>
                  <a:gd name="T42" fmla="*/ 24 w 1961"/>
                  <a:gd name="T43" fmla="*/ 1530 h 2213"/>
                  <a:gd name="T44" fmla="*/ 12 w 1961"/>
                  <a:gd name="T45" fmla="*/ 1686 h 2213"/>
                  <a:gd name="T46" fmla="*/ 12 w 1961"/>
                  <a:gd name="T47" fmla="*/ 1817 h 2213"/>
                  <a:gd name="T48" fmla="*/ 24 w 1961"/>
                  <a:gd name="T49" fmla="*/ 1937 h 2213"/>
                  <a:gd name="T50" fmla="*/ 36 w 1961"/>
                  <a:gd name="T51" fmla="*/ 2069 h 2213"/>
                  <a:gd name="T52" fmla="*/ 84 w 1961"/>
                  <a:gd name="T53" fmla="*/ 2212 h 2213"/>
                  <a:gd name="T54" fmla="*/ 693 w 1961"/>
                  <a:gd name="T55" fmla="*/ 1889 h 2213"/>
                  <a:gd name="T56" fmla="*/ 681 w 1961"/>
                  <a:gd name="T57" fmla="*/ 1782 h 2213"/>
                  <a:gd name="T58" fmla="*/ 681 w 1961"/>
                  <a:gd name="T59" fmla="*/ 1674 h 2213"/>
                  <a:gd name="T60" fmla="*/ 705 w 1961"/>
                  <a:gd name="T61" fmla="*/ 1566 h 2213"/>
                  <a:gd name="T62" fmla="*/ 741 w 1961"/>
                  <a:gd name="T63" fmla="*/ 1459 h 2213"/>
                  <a:gd name="T64" fmla="*/ 777 w 1961"/>
                  <a:gd name="T65" fmla="*/ 1375 h 2213"/>
                  <a:gd name="T66" fmla="*/ 825 w 1961"/>
                  <a:gd name="T67" fmla="*/ 1303 h 2213"/>
                  <a:gd name="T68" fmla="*/ 872 w 1961"/>
                  <a:gd name="T69" fmla="*/ 1255 h 2213"/>
                  <a:gd name="T70" fmla="*/ 920 w 1961"/>
                  <a:gd name="T71" fmla="*/ 1208 h 2213"/>
                  <a:gd name="T72" fmla="*/ 968 w 1961"/>
                  <a:gd name="T73" fmla="*/ 1160 h 2213"/>
                  <a:gd name="T74" fmla="*/ 1028 w 1961"/>
                  <a:gd name="T75" fmla="*/ 1112 h 2213"/>
                  <a:gd name="T76" fmla="*/ 1088 w 1961"/>
                  <a:gd name="T77" fmla="*/ 1076 h 2213"/>
                  <a:gd name="T78" fmla="*/ 1159 w 1961"/>
                  <a:gd name="T79" fmla="*/ 1040 h 2213"/>
                  <a:gd name="T80" fmla="*/ 1219 w 1961"/>
                  <a:gd name="T81" fmla="*/ 1016 h 2213"/>
                  <a:gd name="T82" fmla="*/ 1303 w 1961"/>
                  <a:gd name="T83" fmla="*/ 1004 h 2213"/>
                  <a:gd name="T84" fmla="*/ 1386 w 1961"/>
                  <a:gd name="T85" fmla="*/ 992 h 2213"/>
                  <a:gd name="T86" fmla="*/ 1410 w 1961"/>
                  <a:gd name="T87" fmla="*/ 1351 h 2213"/>
                  <a:gd name="T88" fmla="*/ 1410 w 1961"/>
                  <a:gd name="T89" fmla="*/ 0 h 2213"/>
                  <a:gd name="T90" fmla="*/ 1386 w 1961"/>
                  <a:gd name="T91" fmla="*/ 311 h 2213"/>
                  <a:gd name="T92" fmla="*/ 1303 w 1961"/>
                  <a:gd name="T93" fmla="*/ 311 h 2213"/>
                  <a:gd name="T94" fmla="*/ 1219 w 1961"/>
                  <a:gd name="T95" fmla="*/ 323 h 2213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1961" h="2213">
                    <a:moveTo>
                      <a:pt x="1219" y="323"/>
                    </a:moveTo>
                    <a:lnTo>
                      <a:pt x="1195" y="335"/>
                    </a:lnTo>
                    <a:lnTo>
                      <a:pt x="1159" y="335"/>
                    </a:lnTo>
                    <a:lnTo>
                      <a:pt x="1123" y="347"/>
                    </a:lnTo>
                    <a:lnTo>
                      <a:pt x="1100" y="347"/>
                    </a:lnTo>
                    <a:lnTo>
                      <a:pt x="1064" y="359"/>
                    </a:lnTo>
                    <a:lnTo>
                      <a:pt x="1040" y="371"/>
                    </a:lnTo>
                    <a:lnTo>
                      <a:pt x="1004" y="371"/>
                    </a:lnTo>
                    <a:lnTo>
                      <a:pt x="980" y="383"/>
                    </a:lnTo>
                    <a:lnTo>
                      <a:pt x="944" y="395"/>
                    </a:lnTo>
                    <a:lnTo>
                      <a:pt x="908" y="407"/>
                    </a:lnTo>
                    <a:lnTo>
                      <a:pt x="884" y="418"/>
                    </a:lnTo>
                    <a:lnTo>
                      <a:pt x="849" y="430"/>
                    </a:lnTo>
                    <a:lnTo>
                      <a:pt x="813" y="454"/>
                    </a:lnTo>
                    <a:lnTo>
                      <a:pt x="789" y="466"/>
                    </a:lnTo>
                    <a:lnTo>
                      <a:pt x="753" y="478"/>
                    </a:lnTo>
                    <a:lnTo>
                      <a:pt x="729" y="502"/>
                    </a:lnTo>
                    <a:lnTo>
                      <a:pt x="705" y="514"/>
                    </a:lnTo>
                    <a:lnTo>
                      <a:pt x="681" y="526"/>
                    </a:lnTo>
                    <a:lnTo>
                      <a:pt x="645" y="550"/>
                    </a:lnTo>
                    <a:lnTo>
                      <a:pt x="621" y="574"/>
                    </a:lnTo>
                    <a:lnTo>
                      <a:pt x="586" y="586"/>
                    </a:lnTo>
                    <a:lnTo>
                      <a:pt x="562" y="610"/>
                    </a:lnTo>
                    <a:lnTo>
                      <a:pt x="538" y="634"/>
                    </a:lnTo>
                    <a:lnTo>
                      <a:pt x="490" y="670"/>
                    </a:lnTo>
                    <a:lnTo>
                      <a:pt x="454" y="705"/>
                    </a:lnTo>
                    <a:lnTo>
                      <a:pt x="418" y="729"/>
                    </a:lnTo>
                    <a:lnTo>
                      <a:pt x="382" y="777"/>
                    </a:lnTo>
                    <a:lnTo>
                      <a:pt x="359" y="813"/>
                    </a:lnTo>
                    <a:lnTo>
                      <a:pt x="323" y="849"/>
                    </a:lnTo>
                    <a:lnTo>
                      <a:pt x="287" y="885"/>
                    </a:lnTo>
                    <a:lnTo>
                      <a:pt x="263" y="921"/>
                    </a:lnTo>
                    <a:lnTo>
                      <a:pt x="239" y="968"/>
                    </a:lnTo>
                    <a:lnTo>
                      <a:pt x="215" y="1004"/>
                    </a:lnTo>
                    <a:lnTo>
                      <a:pt x="191" y="1052"/>
                    </a:lnTo>
                    <a:lnTo>
                      <a:pt x="167" y="1088"/>
                    </a:lnTo>
                    <a:lnTo>
                      <a:pt x="143" y="1136"/>
                    </a:lnTo>
                    <a:lnTo>
                      <a:pt x="120" y="1184"/>
                    </a:lnTo>
                    <a:lnTo>
                      <a:pt x="96" y="1232"/>
                    </a:lnTo>
                    <a:lnTo>
                      <a:pt x="84" y="1279"/>
                    </a:lnTo>
                    <a:lnTo>
                      <a:pt x="60" y="1351"/>
                    </a:lnTo>
                    <a:lnTo>
                      <a:pt x="48" y="1411"/>
                    </a:lnTo>
                    <a:lnTo>
                      <a:pt x="36" y="1471"/>
                    </a:lnTo>
                    <a:lnTo>
                      <a:pt x="24" y="1530"/>
                    </a:lnTo>
                    <a:lnTo>
                      <a:pt x="12" y="1602"/>
                    </a:lnTo>
                    <a:lnTo>
                      <a:pt x="12" y="1686"/>
                    </a:lnTo>
                    <a:lnTo>
                      <a:pt x="0" y="1746"/>
                    </a:lnTo>
                    <a:lnTo>
                      <a:pt x="12" y="1817"/>
                    </a:lnTo>
                    <a:lnTo>
                      <a:pt x="12" y="1877"/>
                    </a:lnTo>
                    <a:lnTo>
                      <a:pt x="24" y="1937"/>
                    </a:lnTo>
                    <a:lnTo>
                      <a:pt x="24" y="2009"/>
                    </a:lnTo>
                    <a:lnTo>
                      <a:pt x="36" y="2069"/>
                    </a:lnTo>
                    <a:lnTo>
                      <a:pt x="60" y="2140"/>
                    </a:lnTo>
                    <a:lnTo>
                      <a:pt x="84" y="2212"/>
                    </a:lnTo>
                    <a:lnTo>
                      <a:pt x="203" y="1805"/>
                    </a:lnTo>
                    <a:lnTo>
                      <a:pt x="693" y="1889"/>
                    </a:lnTo>
                    <a:lnTo>
                      <a:pt x="693" y="1817"/>
                    </a:lnTo>
                    <a:lnTo>
                      <a:pt x="681" y="1782"/>
                    </a:lnTo>
                    <a:lnTo>
                      <a:pt x="681" y="1734"/>
                    </a:lnTo>
                    <a:lnTo>
                      <a:pt x="681" y="1674"/>
                    </a:lnTo>
                    <a:lnTo>
                      <a:pt x="693" y="1626"/>
                    </a:lnTo>
                    <a:lnTo>
                      <a:pt x="705" y="1566"/>
                    </a:lnTo>
                    <a:lnTo>
                      <a:pt x="717" y="1519"/>
                    </a:lnTo>
                    <a:lnTo>
                      <a:pt x="741" y="1459"/>
                    </a:lnTo>
                    <a:lnTo>
                      <a:pt x="753" y="1411"/>
                    </a:lnTo>
                    <a:lnTo>
                      <a:pt x="777" y="1375"/>
                    </a:lnTo>
                    <a:lnTo>
                      <a:pt x="801" y="1339"/>
                    </a:lnTo>
                    <a:lnTo>
                      <a:pt x="825" y="1303"/>
                    </a:lnTo>
                    <a:lnTo>
                      <a:pt x="849" y="1279"/>
                    </a:lnTo>
                    <a:lnTo>
                      <a:pt x="872" y="1255"/>
                    </a:lnTo>
                    <a:lnTo>
                      <a:pt x="896" y="1220"/>
                    </a:lnTo>
                    <a:lnTo>
                      <a:pt x="920" y="1208"/>
                    </a:lnTo>
                    <a:lnTo>
                      <a:pt x="944" y="1172"/>
                    </a:lnTo>
                    <a:lnTo>
                      <a:pt x="968" y="1160"/>
                    </a:lnTo>
                    <a:lnTo>
                      <a:pt x="992" y="1136"/>
                    </a:lnTo>
                    <a:lnTo>
                      <a:pt x="1028" y="1112"/>
                    </a:lnTo>
                    <a:lnTo>
                      <a:pt x="1064" y="1088"/>
                    </a:lnTo>
                    <a:lnTo>
                      <a:pt x="1088" y="1076"/>
                    </a:lnTo>
                    <a:lnTo>
                      <a:pt x="1123" y="1052"/>
                    </a:lnTo>
                    <a:lnTo>
                      <a:pt x="1159" y="1040"/>
                    </a:lnTo>
                    <a:lnTo>
                      <a:pt x="1183" y="1028"/>
                    </a:lnTo>
                    <a:lnTo>
                      <a:pt x="1219" y="1016"/>
                    </a:lnTo>
                    <a:lnTo>
                      <a:pt x="1267" y="1004"/>
                    </a:lnTo>
                    <a:lnTo>
                      <a:pt x="1303" y="1004"/>
                    </a:lnTo>
                    <a:lnTo>
                      <a:pt x="1350" y="992"/>
                    </a:lnTo>
                    <a:lnTo>
                      <a:pt x="1386" y="992"/>
                    </a:lnTo>
                    <a:lnTo>
                      <a:pt x="1410" y="992"/>
                    </a:lnTo>
                    <a:lnTo>
                      <a:pt x="1410" y="1351"/>
                    </a:lnTo>
                    <a:lnTo>
                      <a:pt x="1960" y="682"/>
                    </a:lnTo>
                    <a:lnTo>
                      <a:pt x="1410" y="0"/>
                    </a:lnTo>
                    <a:lnTo>
                      <a:pt x="1410" y="311"/>
                    </a:lnTo>
                    <a:lnTo>
                      <a:pt x="1386" y="311"/>
                    </a:lnTo>
                    <a:lnTo>
                      <a:pt x="1339" y="311"/>
                    </a:lnTo>
                    <a:lnTo>
                      <a:pt x="1303" y="311"/>
                    </a:lnTo>
                    <a:lnTo>
                      <a:pt x="1255" y="323"/>
                    </a:lnTo>
                    <a:lnTo>
                      <a:pt x="1219" y="323"/>
                    </a:lnTo>
                  </a:path>
                </a:pathLst>
              </a:cu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87050" name="Rectangle 10"/>
          <p:cNvSpPr>
            <a:spLocks noChangeArrowheads="1"/>
          </p:cNvSpPr>
          <p:nvPr/>
        </p:nvSpPr>
        <p:spPr bwMode="auto">
          <a:xfrm>
            <a:off x="3579540" y="1371600"/>
            <a:ext cx="2067073" cy="89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eaLnBrk="0" hangingPunct="0">
              <a:defRPr/>
            </a:pP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Evaluate Existing</a:t>
            </a:r>
          </a:p>
          <a:p>
            <a:pPr eaLnBrk="0" hangingPunct="0">
              <a:defRPr/>
            </a:pP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Systems for </a:t>
            </a:r>
          </a:p>
          <a:p>
            <a:pPr eaLnBrk="0" hangingPunct="0">
              <a:defRPr/>
            </a:pP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Bottlenecks !</a:t>
            </a:r>
          </a:p>
        </p:txBody>
      </p:sp>
      <p:sp>
        <p:nvSpPr>
          <p:cNvPr id="57352" name="Rectangle 11"/>
          <p:cNvSpPr>
            <a:spLocks noChangeArrowheads="1"/>
          </p:cNvSpPr>
          <p:nvPr/>
        </p:nvSpPr>
        <p:spPr bwMode="auto">
          <a:xfrm>
            <a:off x="3611379" y="2697957"/>
            <a:ext cx="1597394" cy="71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eaLnBrk="0" hangingPunct="0"/>
            <a:r>
              <a:rPr kumimoji="1" lang="en-US" altLang="zh-CN" sz="2100" b="1">
                <a:latin typeface="Comic Sans MS" pitchFamily="66" charset="0"/>
              </a:rPr>
              <a:t>Technology</a:t>
            </a:r>
          </a:p>
          <a:p>
            <a:pPr eaLnBrk="0" hangingPunct="0"/>
            <a:r>
              <a:rPr kumimoji="1" lang="en-US" altLang="zh-CN" sz="2100" b="1">
                <a:latin typeface="Comic Sans MS" pitchFamily="66" charset="0"/>
              </a:rPr>
              <a:t>Trends</a:t>
            </a:r>
          </a:p>
        </p:txBody>
      </p:sp>
      <p:sp>
        <p:nvSpPr>
          <p:cNvPr id="57353" name="Rectangle 12"/>
          <p:cNvSpPr>
            <a:spLocks noChangeArrowheads="1"/>
          </p:cNvSpPr>
          <p:nvPr/>
        </p:nvSpPr>
        <p:spPr bwMode="auto">
          <a:xfrm>
            <a:off x="5772151" y="1885951"/>
            <a:ext cx="1475565" cy="34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algn="l" eaLnBrk="0" hangingPunct="0"/>
            <a:r>
              <a:rPr kumimoji="1" lang="en-US" altLang="zh-CN" b="1" i="1">
                <a:latin typeface="Comic Sans MS" pitchFamily="66" charset="0"/>
              </a:rPr>
              <a:t>Benchmarks</a:t>
            </a:r>
          </a:p>
        </p:txBody>
      </p:sp>
      <p:sp>
        <p:nvSpPr>
          <p:cNvPr id="57354" name="Text Box 13"/>
          <p:cNvSpPr txBox="1">
            <a:spLocks noChangeArrowheads="1"/>
          </p:cNvSpPr>
          <p:nvPr/>
        </p:nvSpPr>
        <p:spPr bwMode="auto">
          <a:xfrm>
            <a:off x="2027301" y="2000250"/>
            <a:ext cx="171874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9pPr>
          </a:lstStyle>
          <a:p>
            <a:pPr eaLnBrk="1" hangingPunct="1"/>
            <a:r>
              <a:rPr lang="en-US" altLang="zh-CN" sz="2100">
                <a:latin typeface="Comic Sans MS" pitchFamily="66" charset="0"/>
              </a:rPr>
              <a:t>User </a:t>
            </a:r>
          </a:p>
          <a:p>
            <a:pPr eaLnBrk="1" hangingPunct="1"/>
            <a:r>
              <a:rPr lang="en-US" altLang="zh-CN" sz="2100">
                <a:latin typeface="Comic Sans MS" pitchFamily="66" charset="0"/>
              </a:rPr>
              <a:t>requirement</a:t>
            </a:r>
          </a:p>
        </p:txBody>
      </p:sp>
      <p:sp>
        <p:nvSpPr>
          <p:cNvPr id="57355" name="Text Box 14"/>
          <p:cNvSpPr txBox="1">
            <a:spLocks noChangeArrowheads="1"/>
          </p:cNvSpPr>
          <p:nvPr/>
        </p:nvSpPr>
        <p:spPr bwMode="auto">
          <a:xfrm>
            <a:off x="6343438" y="2603181"/>
            <a:ext cx="25442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9pPr>
          </a:lstStyle>
          <a:p>
            <a:pPr eaLnBrk="1" hangingPunct="1"/>
            <a:r>
              <a:rPr lang="en-US" altLang="zh-CN" dirty="0">
                <a:latin typeface="Arial" pitchFamily="34" charset="0"/>
              </a:rPr>
              <a:t>Quantitative Principles </a:t>
            </a:r>
          </a:p>
        </p:txBody>
      </p:sp>
      <p:sp>
        <p:nvSpPr>
          <p:cNvPr id="87055" name="Rectangle 15"/>
          <p:cNvSpPr>
            <a:spLocks noChangeArrowheads="1"/>
          </p:cNvSpPr>
          <p:nvPr/>
        </p:nvSpPr>
        <p:spPr bwMode="auto">
          <a:xfrm>
            <a:off x="4722981" y="3714750"/>
            <a:ext cx="1688765" cy="89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eaLnBrk="0" hangingPunct="0">
              <a:defRPr/>
            </a:pP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Simulate New</a:t>
            </a:r>
          </a:p>
          <a:p>
            <a:pPr eaLnBrk="0" hangingPunct="0">
              <a:defRPr/>
            </a:pP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Designs and</a:t>
            </a:r>
          </a:p>
          <a:p>
            <a:pPr eaLnBrk="0" hangingPunct="0">
              <a:defRPr/>
            </a:pP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Organizations</a:t>
            </a:r>
          </a:p>
        </p:txBody>
      </p:sp>
      <p:sp>
        <p:nvSpPr>
          <p:cNvPr id="57357" name="Rectangle 16"/>
          <p:cNvSpPr>
            <a:spLocks noChangeArrowheads="1"/>
          </p:cNvSpPr>
          <p:nvPr/>
        </p:nvSpPr>
        <p:spPr bwMode="auto">
          <a:xfrm>
            <a:off x="2400301" y="4114801"/>
            <a:ext cx="1328089" cy="34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algn="l" eaLnBrk="0" hangingPunct="0"/>
            <a:r>
              <a:rPr kumimoji="1" lang="en-US" altLang="zh-CN" b="1" i="1">
                <a:latin typeface="Comic Sans MS" pitchFamily="66" charset="0"/>
              </a:rPr>
              <a:t>Workloads</a:t>
            </a:r>
          </a:p>
        </p:txBody>
      </p:sp>
      <p:sp>
        <p:nvSpPr>
          <p:cNvPr id="87057" name="Rectangle 17"/>
          <p:cNvSpPr>
            <a:spLocks noChangeArrowheads="1"/>
          </p:cNvSpPr>
          <p:nvPr/>
        </p:nvSpPr>
        <p:spPr bwMode="auto">
          <a:xfrm>
            <a:off x="2110340" y="3280172"/>
            <a:ext cx="2265846" cy="62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/>
          <a:p>
            <a:pPr eaLnBrk="0" hangingPunct="0">
              <a:defRPr/>
            </a:pP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Implement Next</a:t>
            </a:r>
          </a:p>
          <a:p>
            <a:pPr eaLnBrk="0" hangingPunct="0">
              <a:defRPr/>
            </a:pP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Generation System</a:t>
            </a: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Computer Design life cycle</a:t>
            </a:r>
          </a:p>
        </p:txBody>
      </p:sp>
      <p:grpSp>
        <p:nvGrpSpPr>
          <p:cNvPr id="58373" name="Group 3"/>
          <p:cNvGrpSpPr>
            <a:grpSpLocks/>
          </p:cNvGrpSpPr>
          <p:nvPr/>
        </p:nvGrpSpPr>
        <p:grpSpPr bwMode="auto">
          <a:xfrm>
            <a:off x="1143001" y="971550"/>
            <a:ext cx="6916341" cy="3792141"/>
            <a:chOff x="0" y="816"/>
            <a:chExt cx="5809" cy="3185"/>
          </a:xfrm>
        </p:grpSpPr>
        <p:sp>
          <p:nvSpPr>
            <p:cNvPr id="58374" name="Text Box 4"/>
            <p:cNvSpPr txBox="1">
              <a:spLocks noChangeArrowheads="1"/>
            </p:cNvSpPr>
            <p:nvPr/>
          </p:nvSpPr>
          <p:spPr bwMode="auto">
            <a:xfrm>
              <a:off x="4442" y="3053"/>
              <a:ext cx="1367" cy="5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9pPr>
            </a:lstStyle>
            <a:p>
              <a:pPr algn="l" eaLnBrk="1" hangingPunct="1"/>
              <a:r>
                <a:rPr kumimoji="1" lang="en-US" altLang="zh-CN">
                  <a:solidFill>
                    <a:srgbClr val="0000FF"/>
                  </a:solidFill>
                  <a:latin typeface="Comic Sans MS" pitchFamily="66" charset="0"/>
                </a:rPr>
                <a:t>Quantitative </a:t>
              </a:r>
            </a:p>
            <a:p>
              <a:pPr algn="l" eaLnBrk="1" hangingPunct="1"/>
              <a:r>
                <a:rPr kumimoji="1" lang="en-US" altLang="zh-CN">
                  <a:solidFill>
                    <a:srgbClr val="0000FF"/>
                  </a:solidFill>
                  <a:latin typeface="Comic Sans MS" pitchFamily="66" charset="0"/>
                </a:rPr>
                <a:t>principle</a:t>
              </a:r>
            </a:p>
          </p:txBody>
        </p:sp>
        <p:grpSp>
          <p:nvGrpSpPr>
            <p:cNvPr id="58375" name="Group 5"/>
            <p:cNvGrpSpPr>
              <a:grpSpLocks/>
            </p:cNvGrpSpPr>
            <p:nvPr/>
          </p:nvGrpSpPr>
          <p:grpSpPr bwMode="auto">
            <a:xfrm>
              <a:off x="1211" y="816"/>
              <a:ext cx="3065" cy="3185"/>
              <a:chOff x="1334" y="872"/>
              <a:chExt cx="3065" cy="3185"/>
            </a:xfrm>
          </p:grpSpPr>
          <p:sp>
            <p:nvSpPr>
              <p:cNvPr id="58384" name="Freeform 6"/>
              <p:cNvSpPr>
                <a:spLocks/>
              </p:cNvSpPr>
              <p:nvPr/>
            </p:nvSpPr>
            <p:spPr bwMode="auto">
              <a:xfrm>
                <a:off x="1406" y="872"/>
                <a:ext cx="1961" cy="2465"/>
              </a:xfrm>
              <a:custGeom>
                <a:avLst/>
                <a:gdLst>
                  <a:gd name="T0" fmla="*/ 1195 w 1961"/>
                  <a:gd name="T1" fmla="*/ 335 h 2465"/>
                  <a:gd name="T2" fmla="*/ 1123 w 1961"/>
                  <a:gd name="T3" fmla="*/ 347 h 2465"/>
                  <a:gd name="T4" fmla="*/ 1064 w 1961"/>
                  <a:gd name="T5" fmla="*/ 359 h 2465"/>
                  <a:gd name="T6" fmla="*/ 1004 w 1961"/>
                  <a:gd name="T7" fmla="*/ 371 h 2465"/>
                  <a:gd name="T8" fmla="*/ 944 w 1961"/>
                  <a:gd name="T9" fmla="*/ 395 h 2465"/>
                  <a:gd name="T10" fmla="*/ 884 w 1961"/>
                  <a:gd name="T11" fmla="*/ 419 h 2465"/>
                  <a:gd name="T12" fmla="*/ 813 w 1961"/>
                  <a:gd name="T13" fmla="*/ 455 h 2465"/>
                  <a:gd name="T14" fmla="*/ 753 w 1961"/>
                  <a:gd name="T15" fmla="*/ 478 h 2465"/>
                  <a:gd name="T16" fmla="*/ 705 w 1961"/>
                  <a:gd name="T17" fmla="*/ 514 h 2465"/>
                  <a:gd name="T18" fmla="*/ 645 w 1961"/>
                  <a:gd name="T19" fmla="*/ 550 h 2465"/>
                  <a:gd name="T20" fmla="*/ 586 w 1961"/>
                  <a:gd name="T21" fmla="*/ 586 h 2465"/>
                  <a:gd name="T22" fmla="*/ 538 w 1961"/>
                  <a:gd name="T23" fmla="*/ 634 h 2465"/>
                  <a:gd name="T24" fmla="*/ 454 w 1961"/>
                  <a:gd name="T25" fmla="*/ 706 h 2465"/>
                  <a:gd name="T26" fmla="*/ 382 w 1961"/>
                  <a:gd name="T27" fmla="*/ 777 h 2465"/>
                  <a:gd name="T28" fmla="*/ 323 w 1961"/>
                  <a:gd name="T29" fmla="*/ 849 h 2465"/>
                  <a:gd name="T30" fmla="*/ 263 w 1961"/>
                  <a:gd name="T31" fmla="*/ 921 h 2465"/>
                  <a:gd name="T32" fmla="*/ 215 w 1961"/>
                  <a:gd name="T33" fmla="*/ 1005 h 2465"/>
                  <a:gd name="T34" fmla="*/ 167 w 1961"/>
                  <a:gd name="T35" fmla="*/ 1088 h 2465"/>
                  <a:gd name="T36" fmla="*/ 120 w 1961"/>
                  <a:gd name="T37" fmla="*/ 1184 h 2465"/>
                  <a:gd name="T38" fmla="*/ 84 w 1961"/>
                  <a:gd name="T39" fmla="*/ 1280 h 2465"/>
                  <a:gd name="T40" fmla="*/ 48 w 1961"/>
                  <a:gd name="T41" fmla="*/ 1411 h 2465"/>
                  <a:gd name="T42" fmla="*/ 24 w 1961"/>
                  <a:gd name="T43" fmla="*/ 1531 h 2465"/>
                  <a:gd name="T44" fmla="*/ 12 w 1961"/>
                  <a:gd name="T45" fmla="*/ 1687 h 2465"/>
                  <a:gd name="T46" fmla="*/ 12 w 1961"/>
                  <a:gd name="T47" fmla="*/ 1818 h 2465"/>
                  <a:gd name="T48" fmla="*/ 24 w 1961"/>
                  <a:gd name="T49" fmla="*/ 1938 h 2465"/>
                  <a:gd name="T50" fmla="*/ 36 w 1961"/>
                  <a:gd name="T51" fmla="*/ 2069 h 2465"/>
                  <a:gd name="T52" fmla="*/ 84 w 1961"/>
                  <a:gd name="T53" fmla="*/ 2213 h 2465"/>
                  <a:gd name="T54" fmla="*/ 131 w 1961"/>
                  <a:gd name="T55" fmla="*/ 2344 h 2465"/>
                  <a:gd name="T56" fmla="*/ 203 w 1961"/>
                  <a:gd name="T57" fmla="*/ 2464 h 2465"/>
                  <a:gd name="T58" fmla="*/ 753 w 1961"/>
                  <a:gd name="T59" fmla="*/ 2069 h 2465"/>
                  <a:gd name="T60" fmla="*/ 717 w 1961"/>
                  <a:gd name="T61" fmla="*/ 1974 h 2465"/>
                  <a:gd name="T62" fmla="*/ 693 w 1961"/>
                  <a:gd name="T63" fmla="*/ 1866 h 2465"/>
                  <a:gd name="T64" fmla="*/ 681 w 1961"/>
                  <a:gd name="T65" fmla="*/ 1782 h 2465"/>
                  <a:gd name="T66" fmla="*/ 681 w 1961"/>
                  <a:gd name="T67" fmla="*/ 1675 h 2465"/>
                  <a:gd name="T68" fmla="*/ 705 w 1961"/>
                  <a:gd name="T69" fmla="*/ 1567 h 2465"/>
                  <a:gd name="T70" fmla="*/ 741 w 1961"/>
                  <a:gd name="T71" fmla="*/ 1459 h 2465"/>
                  <a:gd name="T72" fmla="*/ 777 w 1961"/>
                  <a:gd name="T73" fmla="*/ 1376 h 2465"/>
                  <a:gd name="T74" fmla="*/ 825 w 1961"/>
                  <a:gd name="T75" fmla="*/ 1304 h 2465"/>
                  <a:gd name="T76" fmla="*/ 872 w 1961"/>
                  <a:gd name="T77" fmla="*/ 1256 h 2465"/>
                  <a:gd name="T78" fmla="*/ 920 w 1961"/>
                  <a:gd name="T79" fmla="*/ 1208 h 2465"/>
                  <a:gd name="T80" fmla="*/ 968 w 1961"/>
                  <a:gd name="T81" fmla="*/ 1160 h 2465"/>
                  <a:gd name="T82" fmla="*/ 1028 w 1961"/>
                  <a:gd name="T83" fmla="*/ 1112 h 2465"/>
                  <a:gd name="T84" fmla="*/ 1088 w 1961"/>
                  <a:gd name="T85" fmla="*/ 1077 h 2465"/>
                  <a:gd name="T86" fmla="*/ 1159 w 1961"/>
                  <a:gd name="T87" fmla="*/ 1041 h 2465"/>
                  <a:gd name="T88" fmla="*/ 1219 w 1961"/>
                  <a:gd name="T89" fmla="*/ 1017 h 2465"/>
                  <a:gd name="T90" fmla="*/ 1303 w 1961"/>
                  <a:gd name="T91" fmla="*/ 1005 h 2465"/>
                  <a:gd name="T92" fmla="*/ 1386 w 1961"/>
                  <a:gd name="T93" fmla="*/ 993 h 2465"/>
                  <a:gd name="T94" fmla="*/ 1410 w 1961"/>
                  <a:gd name="T95" fmla="*/ 1352 h 2465"/>
                  <a:gd name="T96" fmla="*/ 1410 w 1961"/>
                  <a:gd name="T97" fmla="*/ 0 h 2465"/>
                  <a:gd name="T98" fmla="*/ 1386 w 1961"/>
                  <a:gd name="T99" fmla="*/ 311 h 2465"/>
                  <a:gd name="T100" fmla="*/ 1303 w 1961"/>
                  <a:gd name="T101" fmla="*/ 311 h 2465"/>
                  <a:gd name="T102" fmla="*/ 1219 w 1961"/>
                  <a:gd name="T103" fmla="*/ 323 h 2465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1961" h="2465">
                    <a:moveTo>
                      <a:pt x="1219" y="323"/>
                    </a:moveTo>
                    <a:lnTo>
                      <a:pt x="1195" y="335"/>
                    </a:lnTo>
                    <a:lnTo>
                      <a:pt x="1159" y="335"/>
                    </a:lnTo>
                    <a:lnTo>
                      <a:pt x="1123" y="347"/>
                    </a:lnTo>
                    <a:lnTo>
                      <a:pt x="1100" y="347"/>
                    </a:lnTo>
                    <a:lnTo>
                      <a:pt x="1064" y="359"/>
                    </a:lnTo>
                    <a:lnTo>
                      <a:pt x="1040" y="371"/>
                    </a:lnTo>
                    <a:lnTo>
                      <a:pt x="1004" y="371"/>
                    </a:lnTo>
                    <a:lnTo>
                      <a:pt x="980" y="383"/>
                    </a:lnTo>
                    <a:lnTo>
                      <a:pt x="944" y="395"/>
                    </a:lnTo>
                    <a:lnTo>
                      <a:pt x="908" y="407"/>
                    </a:lnTo>
                    <a:lnTo>
                      <a:pt x="884" y="419"/>
                    </a:lnTo>
                    <a:lnTo>
                      <a:pt x="849" y="431"/>
                    </a:lnTo>
                    <a:lnTo>
                      <a:pt x="813" y="455"/>
                    </a:lnTo>
                    <a:lnTo>
                      <a:pt x="789" y="466"/>
                    </a:lnTo>
                    <a:lnTo>
                      <a:pt x="753" y="478"/>
                    </a:lnTo>
                    <a:lnTo>
                      <a:pt x="729" y="502"/>
                    </a:lnTo>
                    <a:lnTo>
                      <a:pt x="705" y="514"/>
                    </a:lnTo>
                    <a:lnTo>
                      <a:pt x="681" y="526"/>
                    </a:lnTo>
                    <a:lnTo>
                      <a:pt x="645" y="550"/>
                    </a:lnTo>
                    <a:lnTo>
                      <a:pt x="621" y="574"/>
                    </a:lnTo>
                    <a:lnTo>
                      <a:pt x="586" y="586"/>
                    </a:lnTo>
                    <a:lnTo>
                      <a:pt x="562" y="610"/>
                    </a:lnTo>
                    <a:lnTo>
                      <a:pt x="538" y="634"/>
                    </a:lnTo>
                    <a:lnTo>
                      <a:pt x="490" y="670"/>
                    </a:lnTo>
                    <a:lnTo>
                      <a:pt x="454" y="706"/>
                    </a:lnTo>
                    <a:lnTo>
                      <a:pt x="418" y="730"/>
                    </a:lnTo>
                    <a:lnTo>
                      <a:pt x="382" y="777"/>
                    </a:lnTo>
                    <a:lnTo>
                      <a:pt x="359" y="813"/>
                    </a:lnTo>
                    <a:lnTo>
                      <a:pt x="323" y="849"/>
                    </a:lnTo>
                    <a:lnTo>
                      <a:pt x="287" y="885"/>
                    </a:lnTo>
                    <a:lnTo>
                      <a:pt x="263" y="921"/>
                    </a:lnTo>
                    <a:lnTo>
                      <a:pt x="239" y="969"/>
                    </a:lnTo>
                    <a:lnTo>
                      <a:pt x="215" y="1005"/>
                    </a:lnTo>
                    <a:lnTo>
                      <a:pt x="191" y="1053"/>
                    </a:lnTo>
                    <a:lnTo>
                      <a:pt x="167" y="1088"/>
                    </a:lnTo>
                    <a:lnTo>
                      <a:pt x="143" y="1136"/>
                    </a:lnTo>
                    <a:lnTo>
                      <a:pt x="120" y="1184"/>
                    </a:lnTo>
                    <a:lnTo>
                      <a:pt x="96" y="1232"/>
                    </a:lnTo>
                    <a:lnTo>
                      <a:pt x="84" y="1280"/>
                    </a:lnTo>
                    <a:lnTo>
                      <a:pt x="60" y="1352"/>
                    </a:lnTo>
                    <a:lnTo>
                      <a:pt x="48" y="1411"/>
                    </a:lnTo>
                    <a:lnTo>
                      <a:pt x="36" y="1471"/>
                    </a:lnTo>
                    <a:lnTo>
                      <a:pt x="24" y="1531"/>
                    </a:lnTo>
                    <a:lnTo>
                      <a:pt x="12" y="1603"/>
                    </a:lnTo>
                    <a:lnTo>
                      <a:pt x="12" y="1687"/>
                    </a:lnTo>
                    <a:lnTo>
                      <a:pt x="0" y="1758"/>
                    </a:lnTo>
                    <a:lnTo>
                      <a:pt x="12" y="1818"/>
                    </a:lnTo>
                    <a:lnTo>
                      <a:pt x="12" y="1878"/>
                    </a:lnTo>
                    <a:lnTo>
                      <a:pt x="24" y="1938"/>
                    </a:lnTo>
                    <a:lnTo>
                      <a:pt x="24" y="2009"/>
                    </a:lnTo>
                    <a:lnTo>
                      <a:pt x="36" y="2069"/>
                    </a:lnTo>
                    <a:lnTo>
                      <a:pt x="60" y="2141"/>
                    </a:lnTo>
                    <a:lnTo>
                      <a:pt x="84" y="2213"/>
                    </a:lnTo>
                    <a:lnTo>
                      <a:pt x="108" y="2273"/>
                    </a:lnTo>
                    <a:lnTo>
                      <a:pt x="131" y="2344"/>
                    </a:lnTo>
                    <a:lnTo>
                      <a:pt x="167" y="2404"/>
                    </a:lnTo>
                    <a:lnTo>
                      <a:pt x="203" y="2464"/>
                    </a:lnTo>
                    <a:lnTo>
                      <a:pt x="777" y="2129"/>
                    </a:lnTo>
                    <a:lnTo>
                      <a:pt x="753" y="2069"/>
                    </a:lnTo>
                    <a:lnTo>
                      <a:pt x="729" y="2021"/>
                    </a:lnTo>
                    <a:lnTo>
                      <a:pt x="717" y="1974"/>
                    </a:lnTo>
                    <a:lnTo>
                      <a:pt x="705" y="1914"/>
                    </a:lnTo>
                    <a:lnTo>
                      <a:pt x="693" y="1866"/>
                    </a:lnTo>
                    <a:lnTo>
                      <a:pt x="693" y="1830"/>
                    </a:lnTo>
                    <a:lnTo>
                      <a:pt x="681" y="1782"/>
                    </a:lnTo>
                    <a:lnTo>
                      <a:pt x="681" y="1734"/>
                    </a:lnTo>
                    <a:lnTo>
                      <a:pt x="681" y="1675"/>
                    </a:lnTo>
                    <a:lnTo>
                      <a:pt x="693" y="1627"/>
                    </a:lnTo>
                    <a:lnTo>
                      <a:pt x="705" y="1567"/>
                    </a:lnTo>
                    <a:lnTo>
                      <a:pt x="717" y="1519"/>
                    </a:lnTo>
                    <a:lnTo>
                      <a:pt x="741" y="1459"/>
                    </a:lnTo>
                    <a:lnTo>
                      <a:pt x="753" y="1411"/>
                    </a:lnTo>
                    <a:lnTo>
                      <a:pt x="777" y="1376"/>
                    </a:lnTo>
                    <a:lnTo>
                      <a:pt x="801" y="1340"/>
                    </a:lnTo>
                    <a:lnTo>
                      <a:pt x="825" y="1304"/>
                    </a:lnTo>
                    <a:lnTo>
                      <a:pt x="849" y="1280"/>
                    </a:lnTo>
                    <a:lnTo>
                      <a:pt x="872" y="1256"/>
                    </a:lnTo>
                    <a:lnTo>
                      <a:pt x="896" y="1220"/>
                    </a:lnTo>
                    <a:lnTo>
                      <a:pt x="920" y="1208"/>
                    </a:lnTo>
                    <a:lnTo>
                      <a:pt x="944" y="1172"/>
                    </a:lnTo>
                    <a:lnTo>
                      <a:pt x="968" y="1160"/>
                    </a:lnTo>
                    <a:lnTo>
                      <a:pt x="992" y="1136"/>
                    </a:lnTo>
                    <a:lnTo>
                      <a:pt x="1028" y="1112"/>
                    </a:lnTo>
                    <a:lnTo>
                      <a:pt x="1064" y="1088"/>
                    </a:lnTo>
                    <a:lnTo>
                      <a:pt x="1088" y="1077"/>
                    </a:lnTo>
                    <a:lnTo>
                      <a:pt x="1123" y="1053"/>
                    </a:lnTo>
                    <a:lnTo>
                      <a:pt x="1159" y="1041"/>
                    </a:lnTo>
                    <a:lnTo>
                      <a:pt x="1183" y="1029"/>
                    </a:lnTo>
                    <a:lnTo>
                      <a:pt x="1219" y="1017"/>
                    </a:lnTo>
                    <a:lnTo>
                      <a:pt x="1267" y="1005"/>
                    </a:lnTo>
                    <a:lnTo>
                      <a:pt x="1303" y="1005"/>
                    </a:lnTo>
                    <a:lnTo>
                      <a:pt x="1350" y="993"/>
                    </a:lnTo>
                    <a:lnTo>
                      <a:pt x="1386" y="993"/>
                    </a:lnTo>
                    <a:lnTo>
                      <a:pt x="1410" y="993"/>
                    </a:lnTo>
                    <a:lnTo>
                      <a:pt x="1410" y="1352"/>
                    </a:lnTo>
                    <a:lnTo>
                      <a:pt x="1960" y="682"/>
                    </a:lnTo>
                    <a:lnTo>
                      <a:pt x="1410" y="0"/>
                    </a:lnTo>
                    <a:lnTo>
                      <a:pt x="1410" y="311"/>
                    </a:lnTo>
                    <a:lnTo>
                      <a:pt x="1386" y="311"/>
                    </a:lnTo>
                    <a:lnTo>
                      <a:pt x="1339" y="311"/>
                    </a:lnTo>
                    <a:lnTo>
                      <a:pt x="1303" y="311"/>
                    </a:lnTo>
                    <a:lnTo>
                      <a:pt x="1255" y="323"/>
                    </a:lnTo>
                    <a:lnTo>
                      <a:pt x="1219" y="323"/>
                    </a:lnTo>
                  </a:path>
                </a:pathLst>
              </a:cu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0" cap="rnd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8385" name="Group 7"/>
              <p:cNvGrpSpPr>
                <a:grpSpLocks/>
              </p:cNvGrpSpPr>
              <p:nvPr/>
            </p:nvGrpSpPr>
            <p:grpSpPr bwMode="auto">
              <a:xfrm>
                <a:off x="1334" y="872"/>
                <a:ext cx="3065" cy="3185"/>
                <a:chOff x="1334" y="872"/>
                <a:chExt cx="3065" cy="3185"/>
              </a:xfrm>
            </p:grpSpPr>
            <p:sp>
              <p:nvSpPr>
                <p:cNvPr id="58386" name="Freeform 8"/>
                <p:cNvSpPr>
                  <a:spLocks/>
                </p:cNvSpPr>
                <p:nvPr/>
              </p:nvSpPr>
              <p:spPr bwMode="auto">
                <a:xfrm>
                  <a:off x="1334" y="2696"/>
                  <a:ext cx="2609" cy="1361"/>
                </a:xfrm>
                <a:custGeom>
                  <a:avLst/>
                  <a:gdLst>
                    <a:gd name="T0" fmla="*/ 1268 w 2609"/>
                    <a:gd name="T1" fmla="*/ 1336 h 1361"/>
                    <a:gd name="T2" fmla="*/ 1196 w 2609"/>
                    <a:gd name="T3" fmla="*/ 1324 h 1361"/>
                    <a:gd name="T4" fmla="*/ 1148 w 2609"/>
                    <a:gd name="T5" fmla="*/ 1312 h 1361"/>
                    <a:gd name="T6" fmla="*/ 1089 w 2609"/>
                    <a:gd name="T7" fmla="*/ 1300 h 1361"/>
                    <a:gd name="T8" fmla="*/ 1029 w 2609"/>
                    <a:gd name="T9" fmla="*/ 1276 h 1361"/>
                    <a:gd name="T10" fmla="*/ 957 w 2609"/>
                    <a:gd name="T11" fmla="*/ 1253 h 1361"/>
                    <a:gd name="T12" fmla="*/ 897 w 2609"/>
                    <a:gd name="T13" fmla="*/ 1217 h 1361"/>
                    <a:gd name="T14" fmla="*/ 837 w 2609"/>
                    <a:gd name="T15" fmla="*/ 1193 h 1361"/>
                    <a:gd name="T16" fmla="*/ 778 w 2609"/>
                    <a:gd name="T17" fmla="*/ 1157 h 1361"/>
                    <a:gd name="T18" fmla="*/ 730 w 2609"/>
                    <a:gd name="T19" fmla="*/ 1121 h 1361"/>
                    <a:gd name="T20" fmla="*/ 670 w 2609"/>
                    <a:gd name="T21" fmla="*/ 1074 h 1361"/>
                    <a:gd name="T22" fmla="*/ 622 w 2609"/>
                    <a:gd name="T23" fmla="*/ 1038 h 1361"/>
                    <a:gd name="T24" fmla="*/ 538 w 2609"/>
                    <a:gd name="T25" fmla="*/ 978 h 1361"/>
                    <a:gd name="T26" fmla="*/ 467 w 2609"/>
                    <a:gd name="T27" fmla="*/ 895 h 1361"/>
                    <a:gd name="T28" fmla="*/ 407 w 2609"/>
                    <a:gd name="T29" fmla="*/ 823 h 1361"/>
                    <a:gd name="T30" fmla="*/ 347 w 2609"/>
                    <a:gd name="T31" fmla="*/ 752 h 1361"/>
                    <a:gd name="T32" fmla="*/ 287 w 2609"/>
                    <a:gd name="T33" fmla="*/ 656 h 1361"/>
                    <a:gd name="T34" fmla="*/ 275 w 2609"/>
                    <a:gd name="T35" fmla="*/ 0 h 1361"/>
                    <a:gd name="T36" fmla="*/ 873 w 2609"/>
                    <a:gd name="T37" fmla="*/ 322 h 1361"/>
                    <a:gd name="T38" fmla="*/ 921 w 2609"/>
                    <a:gd name="T39" fmla="*/ 394 h 1361"/>
                    <a:gd name="T40" fmla="*/ 981 w 2609"/>
                    <a:gd name="T41" fmla="*/ 453 h 1361"/>
                    <a:gd name="T42" fmla="*/ 1017 w 2609"/>
                    <a:gd name="T43" fmla="*/ 501 h 1361"/>
                    <a:gd name="T44" fmla="*/ 1077 w 2609"/>
                    <a:gd name="T45" fmla="*/ 537 h 1361"/>
                    <a:gd name="T46" fmla="*/ 1148 w 2609"/>
                    <a:gd name="T47" fmla="*/ 585 h 1361"/>
                    <a:gd name="T48" fmla="*/ 1208 w 2609"/>
                    <a:gd name="T49" fmla="*/ 620 h 1361"/>
                    <a:gd name="T50" fmla="*/ 1268 w 2609"/>
                    <a:gd name="T51" fmla="*/ 644 h 1361"/>
                    <a:gd name="T52" fmla="*/ 1340 w 2609"/>
                    <a:gd name="T53" fmla="*/ 668 h 1361"/>
                    <a:gd name="T54" fmla="*/ 1424 w 2609"/>
                    <a:gd name="T55" fmla="*/ 668 h 1361"/>
                    <a:gd name="T56" fmla="*/ 1579 w 2609"/>
                    <a:gd name="T57" fmla="*/ 680 h 1361"/>
                    <a:gd name="T58" fmla="*/ 1699 w 2609"/>
                    <a:gd name="T59" fmla="*/ 656 h 1361"/>
                    <a:gd name="T60" fmla="*/ 1830 w 2609"/>
                    <a:gd name="T61" fmla="*/ 608 h 1361"/>
                    <a:gd name="T62" fmla="*/ 1938 w 2609"/>
                    <a:gd name="T63" fmla="*/ 549 h 1361"/>
                    <a:gd name="T64" fmla="*/ 2608 w 2609"/>
                    <a:gd name="T65" fmla="*/ 859 h 1361"/>
                    <a:gd name="T66" fmla="*/ 2548 w 2609"/>
                    <a:gd name="T67" fmla="*/ 919 h 1361"/>
                    <a:gd name="T68" fmla="*/ 2488 w 2609"/>
                    <a:gd name="T69" fmla="*/ 978 h 1361"/>
                    <a:gd name="T70" fmla="*/ 2417 w 2609"/>
                    <a:gd name="T71" fmla="*/ 1038 h 1361"/>
                    <a:gd name="T72" fmla="*/ 2357 w 2609"/>
                    <a:gd name="T73" fmla="*/ 1086 h 1361"/>
                    <a:gd name="T74" fmla="*/ 2285 w 2609"/>
                    <a:gd name="T75" fmla="*/ 1133 h 1361"/>
                    <a:gd name="T76" fmla="*/ 2213 w 2609"/>
                    <a:gd name="T77" fmla="*/ 1181 h 1361"/>
                    <a:gd name="T78" fmla="*/ 2141 w 2609"/>
                    <a:gd name="T79" fmla="*/ 1217 h 1361"/>
                    <a:gd name="T80" fmla="*/ 2058 w 2609"/>
                    <a:gd name="T81" fmla="*/ 1253 h 1361"/>
                    <a:gd name="T82" fmla="*/ 1974 w 2609"/>
                    <a:gd name="T83" fmla="*/ 1288 h 1361"/>
                    <a:gd name="T84" fmla="*/ 1902 w 2609"/>
                    <a:gd name="T85" fmla="*/ 1312 h 1361"/>
                    <a:gd name="T86" fmla="*/ 1818 w 2609"/>
                    <a:gd name="T87" fmla="*/ 1324 h 1361"/>
                    <a:gd name="T88" fmla="*/ 1735 w 2609"/>
                    <a:gd name="T89" fmla="*/ 1348 h 1361"/>
                    <a:gd name="T90" fmla="*/ 1639 w 2609"/>
                    <a:gd name="T91" fmla="*/ 1360 h 1361"/>
                    <a:gd name="T92" fmla="*/ 1555 w 2609"/>
                    <a:gd name="T93" fmla="*/ 1360 h 1361"/>
                    <a:gd name="T94" fmla="*/ 1471 w 2609"/>
                    <a:gd name="T95" fmla="*/ 1360 h 1361"/>
                    <a:gd name="T96" fmla="*/ 1376 w 2609"/>
                    <a:gd name="T97" fmla="*/ 1348 h 1361"/>
                    <a:gd name="T98" fmla="*/ 1304 w 2609"/>
                    <a:gd name="T99" fmla="*/ 1348 h 1361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0" t="0" r="r" b="b"/>
                  <a:pathLst>
                    <a:path w="2609" h="1361">
                      <a:moveTo>
                        <a:pt x="1304" y="1348"/>
                      </a:moveTo>
                      <a:lnTo>
                        <a:pt x="1268" y="1336"/>
                      </a:lnTo>
                      <a:lnTo>
                        <a:pt x="1232" y="1336"/>
                      </a:lnTo>
                      <a:lnTo>
                        <a:pt x="1196" y="1324"/>
                      </a:lnTo>
                      <a:lnTo>
                        <a:pt x="1172" y="1324"/>
                      </a:lnTo>
                      <a:lnTo>
                        <a:pt x="1148" y="1312"/>
                      </a:lnTo>
                      <a:lnTo>
                        <a:pt x="1113" y="1300"/>
                      </a:lnTo>
                      <a:lnTo>
                        <a:pt x="1089" y="1300"/>
                      </a:lnTo>
                      <a:lnTo>
                        <a:pt x="1065" y="1288"/>
                      </a:lnTo>
                      <a:lnTo>
                        <a:pt x="1029" y="1276"/>
                      </a:lnTo>
                      <a:lnTo>
                        <a:pt x="993" y="1265"/>
                      </a:lnTo>
                      <a:lnTo>
                        <a:pt x="957" y="1253"/>
                      </a:lnTo>
                      <a:lnTo>
                        <a:pt x="933" y="1229"/>
                      </a:lnTo>
                      <a:lnTo>
                        <a:pt x="897" y="1217"/>
                      </a:lnTo>
                      <a:lnTo>
                        <a:pt x="861" y="1205"/>
                      </a:lnTo>
                      <a:lnTo>
                        <a:pt x="837" y="1193"/>
                      </a:lnTo>
                      <a:lnTo>
                        <a:pt x="814" y="1169"/>
                      </a:lnTo>
                      <a:lnTo>
                        <a:pt x="778" y="1157"/>
                      </a:lnTo>
                      <a:lnTo>
                        <a:pt x="754" y="1133"/>
                      </a:lnTo>
                      <a:lnTo>
                        <a:pt x="730" y="1121"/>
                      </a:lnTo>
                      <a:lnTo>
                        <a:pt x="694" y="1098"/>
                      </a:lnTo>
                      <a:lnTo>
                        <a:pt x="670" y="1074"/>
                      </a:lnTo>
                      <a:lnTo>
                        <a:pt x="646" y="1062"/>
                      </a:lnTo>
                      <a:lnTo>
                        <a:pt x="622" y="1038"/>
                      </a:lnTo>
                      <a:lnTo>
                        <a:pt x="574" y="1014"/>
                      </a:lnTo>
                      <a:lnTo>
                        <a:pt x="538" y="978"/>
                      </a:lnTo>
                      <a:lnTo>
                        <a:pt x="502" y="942"/>
                      </a:lnTo>
                      <a:lnTo>
                        <a:pt x="467" y="895"/>
                      </a:lnTo>
                      <a:lnTo>
                        <a:pt x="431" y="859"/>
                      </a:lnTo>
                      <a:lnTo>
                        <a:pt x="407" y="823"/>
                      </a:lnTo>
                      <a:lnTo>
                        <a:pt x="371" y="787"/>
                      </a:lnTo>
                      <a:lnTo>
                        <a:pt x="347" y="752"/>
                      </a:lnTo>
                      <a:lnTo>
                        <a:pt x="323" y="704"/>
                      </a:lnTo>
                      <a:lnTo>
                        <a:pt x="287" y="656"/>
                      </a:lnTo>
                      <a:lnTo>
                        <a:pt x="0" y="823"/>
                      </a:lnTo>
                      <a:lnTo>
                        <a:pt x="275" y="0"/>
                      </a:lnTo>
                      <a:lnTo>
                        <a:pt x="1172" y="155"/>
                      </a:lnTo>
                      <a:lnTo>
                        <a:pt x="873" y="322"/>
                      </a:lnTo>
                      <a:lnTo>
                        <a:pt x="897" y="358"/>
                      </a:lnTo>
                      <a:lnTo>
                        <a:pt x="921" y="394"/>
                      </a:lnTo>
                      <a:lnTo>
                        <a:pt x="945" y="418"/>
                      </a:lnTo>
                      <a:lnTo>
                        <a:pt x="981" y="453"/>
                      </a:lnTo>
                      <a:lnTo>
                        <a:pt x="993" y="477"/>
                      </a:lnTo>
                      <a:lnTo>
                        <a:pt x="1017" y="501"/>
                      </a:lnTo>
                      <a:lnTo>
                        <a:pt x="1053" y="513"/>
                      </a:lnTo>
                      <a:lnTo>
                        <a:pt x="1077" y="537"/>
                      </a:lnTo>
                      <a:lnTo>
                        <a:pt x="1113" y="561"/>
                      </a:lnTo>
                      <a:lnTo>
                        <a:pt x="1148" y="585"/>
                      </a:lnTo>
                      <a:lnTo>
                        <a:pt x="1172" y="596"/>
                      </a:lnTo>
                      <a:lnTo>
                        <a:pt x="1208" y="620"/>
                      </a:lnTo>
                      <a:lnTo>
                        <a:pt x="1244" y="632"/>
                      </a:lnTo>
                      <a:lnTo>
                        <a:pt x="1268" y="644"/>
                      </a:lnTo>
                      <a:lnTo>
                        <a:pt x="1304" y="656"/>
                      </a:lnTo>
                      <a:lnTo>
                        <a:pt x="1340" y="668"/>
                      </a:lnTo>
                      <a:lnTo>
                        <a:pt x="1388" y="668"/>
                      </a:lnTo>
                      <a:lnTo>
                        <a:pt x="1424" y="668"/>
                      </a:lnTo>
                      <a:lnTo>
                        <a:pt x="1495" y="680"/>
                      </a:lnTo>
                      <a:lnTo>
                        <a:pt x="1579" y="680"/>
                      </a:lnTo>
                      <a:lnTo>
                        <a:pt x="1639" y="668"/>
                      </a:lnTo>
                      <a:lnTo>
                        <a:pt x="1699" y="656"/>
                      </a:lnTo>
                      <a:lnTo>
                        <a:pt x="1771" y="632"/>
                      </a:lnTo>
                      <a:lnTo>
                        <a:pt x="1830" y="608"/>
                      </a:lnTo>
                      <a:lnTo>
                        <a:pt x="1890" y="585"/>
                      </a:lnTo>
                      <a:lnTo>
                        <a:pt x="1938" y="549"/>
                      </a:lnTo>
                      <a:lnTo>
                        <a:pt x="1986" y="501"/>
                      </a:lnTo>
                      <a:lnTo>
                        <a:pt x="2608" y="859"/>
                      </a:lnTo>
                      <a:lnTo>
                        <a:pt x="2584" y="883"/>
                      </a:lnTo>
                      <a:lnTo>
                        <a:pt x="2548" y="919"/>
                      </a:lnTo>
                      <a:lnTo>
                        <a:pt x="2512" y="954"/>
                      </a:lnTo>
                      <a:lnTo>
                        <a:pt x="2488" y="978"/>
                      </a:lnTo>
                      <a:lnTo>
                        <a:pt x="2452" y="1002"/>
                      </a:lnTo>
                      <a:lnTo>
                        <a:pt x="2417" y="1038"/>
                      </a:lnTo>
                      <a:lnTo>
                        <a:pt x="2393" y="1062"/>
                      </a:lnTo>
                      <a:lnTo>
                        <a:pt x="2357" y="1086"/>
                      </a:lnTo>
                      <a:lnTo>
                        <a:pt x="2321" y="1109"/>
                      </a:lnTo>
                      <a:lnTo>
                        <a:pt x="2285" y="1133"/>
                      </a:lnTo>
                      <a:lnTo>
                        <a:pt x="2249" y="1157"/>
                      </a:lnTo>
                      <a:lnTo>
                        <a:pt x="2213" y="1181"/>
                      </a:lnTo>
                      <a:lnTo>
                        <a:pt x="2177" y="1193"/>
                      </a:lnTo>
                      <a:lnTo>
                        <a:pt x="2141" y="1217"/>
                      </a:lnTo>
                      <a:lnTo>
                        <a:pt x="2106" y="1229"/>
                      </a:lnTo>
                      <a:lnTo>
                        <a:pt x="2058" y="1253"/>
                      </a:lnTo>
                      <a:lnTo>
                        <a:pt x="2010" y="1265"/>
                      </a:lnTo>
                      <a:lnTo>
                        <a:pt x="1974" y="1288"/>
                      </a:lnTo>
                      <a:lnTo>
                        <a:pt x="1938" y="1300"/>
                      </a:lnTo>
                      <a:lnTo>
                        <a:pt x="1902" y="1312"/>
                      </a:lnTo>
                      <a:lnTo>
                        <a:pt x="1866" y="1324"/>
                      </a:lnTo>
                      <a:lnTo>
                        <a:pt x="1818" y="1324"/>
                      </a:lnTo>
                      <a:lnTo>
                        <a:pt x="1783" y="1336"/>
                      </a:lnTo>
                      <a:lnTo>
                        <a:pt x="1735" y="1348"/>
                      </a:lnTo>
                      <a:lnTo>
                        <a:pt x="1687" y="1348"/>
                      </a:lnTo>
                      <a:lnTo>
                        <a:pt x="1639" y="1360"/>
                      </a:lnTo>
                      <a:lnTo>
                        <a:pt x="1603" y="1360"/>
                      </a:lnTo>
                      <a:lnTo>
                        <a:pt x="1555" y="1360"/>
                      </a:lnTo>
                      <a:lnTo>
                        <a:pt x="1507" y="1360"/>
                      </a:lnTo>
                      <a:lnTo>
                        <a:pt x="1471" y="1360"/>
                      </a:lnTo>
                      <a:lnTo>
                        <a:pt x="1424" y="1360"/>
                      </a:lnTo>
                      <a:lnTo>
                        <a:pt x="1376" y="1348"/>
                      </a:lnTo>
                      <a:lnTo>
                        <a:pt x="1340" y="1348"/>
                      </a:lnTo>
                      <a:lnTo>
                        <a:pt x="1304" y="1348"/>
                      </a:lnTo>
                    </a:path>
                  </a:pathLst>
                </a:custGeom>
                <a:solidFill>
                  <a:srgbClr val="00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387" name="Freeform 9"/>
                <p:cNvSpPr>
                  <a:spLocks/>
                </p:cNvSpPr>
                <p:nvPr/>
              </p:nvSpPr>
              <p:spPr bwMode="auto">
                <a:xfrm>
                  <a:off x="3074" y="1208"/>
                  <a:ext cx="1325" cy="2441"/>
                </a:xfrm>
                <a:custGeom>
                  <a:avLst/>
                  <a:gdLst>
                    <a:gd name="T0" fmla="*/ 36 w 1325"/>
                    <a:gd name="T1" fmla="*/ 0 h 2441"/>
                    <a:gd name="T2" fmla="*/ 95 w 1325"/>
                    <a:gd name="T3" fmla="*/ 12 h 2441"/>
                    <a:gd name="T4" fmla="*/ 155 w 1325"/>
                    <a:gd name="T5" fmla="*/ 36 h 2441"/>
                    <a:gd name="T6" fmla="*/ 215 w 1325"/>
                    <a:gd name="T7" fmla="*/ 48 h 2441"/>
                    <a:gd name="T8" fmla="*/ 274 w 1325"/>
                    <a:gd name="T9" fmla="*/ 72 h 2441"/>
                    <a:gd name="T10" fmla="*/ 334 w 1325"/>
                    <a:gd name="T11" fmla="*/ 96 h 2441"/>
                    <a:gd name="T12" fmla="*/ 406 w 1325"/>
                    <a:gd name="T13" fmla="*/ 120 h 2441"/>
                    <a:gd name="T14" fmla="*/ 465 w 1325"/>
                    <a:gd name="T15" fmla="*/ 155 h 2441"/>
                    <a:gd name="T16" fmla="*/ 513 w 1325"/>
                    <a:gd name="T17" fmla="*/ 191 h 2441"/>
                    <a:gd name="T18" fmla="*/ 573 w 1325"/>
                    <a:gd name="T19" fmla="*/ 215 h 2441"/>
                    <a:gd name="T20" fmla="*/ 632 w 1325"/>
                    <a:gd name="T21" fmla="*/ 263 h 2441"/>
                    <a:gd name="T22" fmla="*/ 680 w 1325"/>
                    <a:gd name="T23" fmla="*/ 299 h 2441"/>
                    <a:gd name="T24" fmla="*/ 763 w 1325"/>
                    <a:gd name="T25" fmla="*/ 383 h 2441"/>
                    <a:gd name="T26" fmla="*/ 835 w 1325"/>
                    <a:gd name="T27" fmla="*/ 455 h 2441"/>
                    <a:gd name="T28" fmla="*/ 895 w 1325"/>
                    <a:gd name="T29" fmla="*/ 514 h 2441"/>
                    <a:gd name="T30" fmla="*/ 954 w 1325"/>
                    <a:gd name="T31" fmla="*/ 598 h 2441"/>
                    <a:gd name="T32" fmla="*/ 1002 w 1325"/>
                    <a:gd name="T33" fmla="*/ 682 h 2441"/>
                    <a:gd name="T34" fmla="*/ 1062 w 1325"/>
                    <a:gd name="T35" fmla="*/ 765 h 2441"/>
                    <a:gd name="T36" fmla="*/ 1097 w 1325"/>
                    <a:gd name="T37" fmla="*/ 861 h 2441"/>
                    <a:gd name="T38" fmla="*/ 1133 w 1325"/>
                    <a:gd name="T39" fmla="*/ 957 h 2441"/>
                    <a:gd name="T40" fmla="*/ 1169 w 1325"/>
                    <a:gd name="T41" fmla="*/ 1076 h 2441"/>
                    <a:gd name="T42" fmla="*/ 1193 w 1325"/>
                    <a:gd name="T43" fmla="*/ 1196 h 2441"/>
                    <a:gd name="T44" fmla="*/ 1217 w 1325"/>
                    <a:gd name="T45" fmla="*/ 1352 h 2441"/>
                    <a:gd name="T46" fmla="*/ 1217 w 1325"/>
                    <a:gd name="T47" fmla="*/ 1495 h 2441"/>
                    <a:gd name="T48" fmla="*/ 1193 w 1325"/>
                    <a:gd name="T49" fmla="*/ 1615 h 2441"/>
                    <a:gd name="T50" fmla="*/ 1181 w 1325"/>
                    <a:gd name="T51" fmla="*/ 1746 h 2441"/>
                    <a:gd name="T52" fmla="*/ 1133 w 1325"/>
                    <a:gd name="T53" fmla="*/ 1878 h 2441"/>
                    <a:gd name="T54" fmla="*/ 1085 w 1325"/>
                    <a:gd name="T55" fmla="*/ 2009 h 2441"/>
                    <a:gd name="T56" fmla="*/ 1026 w 1325"/>
                    <a:gd name="T57" fmla="*/ 2129 h 2441"/>
                    <a:gd name="T58" fmla="*/ 417 w 1325"/>
                    <a:gd name="T59" fmla="*/ 2440 h 2441"/>
                    <a:gd name="T60" fmla="*/ 429 w 1325"/>
                    <a:gd name="T61" fmla="*/ 1794 h 2441"/>
                    <a:gd name="T62" fmla="*/ 489 w 1325"/>
                    <a:gd name="T63" fmla="*/ 1686 h 2441"/>
                    <a:gd name="T64" fmla="*/ 513 w 1325"/>
                    <a:gd name="T65" fmla="*/ 1591 h 2441"/>
                    <a:gd name="T66" fmla="*/ 525 w 1325"/>
                    <a:gd name="T67" fmla="*/ 1495 h 2441"/>
                    <a:gd name="T68" fmla="*/ 537 w 1325"/>
                    <a:gd name="T69" fmla="*/ 1399 h 2441"/>
                    <a:gd name="T70" fmla="*/ 525 w 1325"/>
                    <a:gd name="T71" fmla="*/ 1292 h 2441"/>
                    <a:gd name="T72" fmla="*/ 501 w 1325"/>
                    <a:gd name="T73" fmla="*/ 1184 h 2441"/>
                    <a:gd name="T74" fmla="*/ 465 w 1325"/>
                    <a:gd name="T75" fmla="*/ 1088 h 2441"/>
                    <a:gd name="T76" fmla="*/ 417 w 1325"/>
                    <a:gd name="T77" fmla="*/ 1005 h 2441"/>
                    <a:gd name="T78" fmla="*/ 370 w 1325"/>
                    <a:gd name="T79" fmla="*/ 957 h 2441"/>
                    <a:gd name="T80" fmla="*/ 322 w 1325"/>
                    <a:gd name="T81" fmla="*/ 897 h 2441"/>
                    <a:gd name="T82" fmla="*/ 274 w 1325"/>
                    <a:gd name="T83" fmla="*/ 849 h 2441"/>
                    <a:gd name="T84" fmla="*/ 227 w 1325"/>
                    <a:gd name="T85" fmla="*/ 801 h 2441"/>
                    <a:gd name="T86" fmla="*/ 155 w 1325"/>
                    <a:gd name="T87" fmla="*/ 765 h 2441"/>
                    <a:gd name="T88" fmla="*/ 95 w 1325"/>
                    <a:gd name="T89" fmla="*/ 730 h 2441"/>
                    <a:gd name="T90" fmla="*/ 0 w 1325"/>
                    <a:gd name="T91" fmla="*/ 694 h 2441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0" t="0" r="r" b="b"/>
                  <a:pathLst>
                    <a:path w="1325" h="2441">
                      <a:moveTo>
                        <a:pt x="0" y="0"/>
                      </a:moveTo>
                      <a:lnTo>
                        <a:pt x="36" y="0"/>
                      </a:lnTo>
                      <a:lnTo>
                        <a:pt x="60" y="12"/>
                      </a:lnTo>
                      <a:lnTo>
                        <a:pt x="95" y="12"/>
                      </a:lnTo>
                      <a:lnTo>
                        <a:pt x="131" y="24"/>
                      </a:lnTo>
                      <a:lnTo>
                        <a:pt x="155" y="36"/>
                      </a:lnTo>
                      <a:lnTo>
                        <a:pt x="179" y="36"/>
                      </a:lnTo>
                      <a:lnTo>
                        <a:pt x="215" y="48"/>
                      </a:lnTo>
                      <a:lnTo>
                        <a:pt x="239" y="60"/>
                      </a:lnTo>
                      <a:lnTo>
                        <a:pt x="274" y="72"/>
                      </a:lnTo>
                      <a:lnTo>
                        <a:pt x="310" y="84"/>
                      </a:lnTo>
                      <a:lnTo>
                        <a:pt x="334" y="96"/>
                      </a:lnTo>
                      <a:lnTo>
                        <a:pt x="370" y="108"/>
                      </a:lnTo>
                      <a:lnTo>
                        <a:pt x="406" y="120"/>
                      </a:lnTo>
                      <a:lnTo>
                        <a:pt x="429" y="144"/>
                      </a:lnTo>
                      <a:lnTo>
                        <a:pt x="465" y="155"/>
                      </a:lnTo>
                      <a:lnTo>
                        <a:pt x="489" y="167"/>
                      </a:lnTo>
                      <a:lnTo>
                        <a:pt x="513" y="191"/>
                      </a:lnTo>
                      <a:lnTo>
                        <a:pt x="537" y="203"/>
                      </a:lnTo>
                      <a:lnTo>
                        <a:pt x="573" y="215"/>
                      </a:lnTo>
                      <a:lnTo>
                        <a:pt x="596" y="239"/>
                      </a:lnTo>
                      <a:lnTo>
                        <a:pt x="632" y="263"/>
                      </a:lnTo>
                      <a:lnTo>
                        <a:pt x="656" y="287"/>
                      </a:lnTo>
                      <a:lnTo>
                        <a:pt x="680" y="299"/>
                      </a:lnTo>
                      <a:lnTo>
                        <a:pt x="728" y="335"/>
                      </a:lnTo>
                      <a:lnTo>
                        <a:pt x="763" y="383"/>
                      </a:lnTo>
                      <a:lnTo>
                        <a:pt x="799" y="407"/>
                      </a:lnTo>
                      <a:lnTo>
                        <a:pt x="835" y="455"/>
                      </a:lnTo>
                      <a:lnTo>
                        <a:pt x="859" y="478"/>
                      </a:lnTo>
                      <a:lnTo>
                        <a:pt x="895" y="514"/>
                      </a:lnTo>
                      <a:lnTo>
                        <a:pt x="930" y="562"/>
                      </a:lnTo>
                      <a:lnTo>
                        <a:pt x="954" y="598"/>
                      </a:lnTo>
                      <a:lnTo>
                        <a:pt x="978" y="634"/>
                      </a:lnTo>
                      <a:lnTo>
                        <a:pt x="1002" y="682"/>
                      </a:lnTo>
                      <a:lnTo>
                        <a:pt x="1038" y="730"/>
                      </a:lnTo>
                      <a:lnTo>
                        <a:pt x="1062" y="765"/>
                      </a:lnTo>
                      <a:lnTo>
                        <a:pt x="1074" y="813"/>
                      </a:lnTo>
                      <a:lnTo>
                        <a:pt x="1097" y="861"/>
                      </a:lnTo>
                      <a:lnTo>
                        <a:pt x="1121" y="909"/>
                      </a:lnTo>
                      <a:lnTo>
                        <a:pt x="1133" y="957"/>
                      </a:lnTo>
                      <a:lnTo>
                        <a:pt x="1157" y="1017"/>
                      </a:lnTo>
                      <a:lnTo>
                        <a:pt x="1169" y="1076"/>
                      </a:lnTo>
                      <a:lnTo>
                        <a:pt x="1181" y="1136"/>
                      </a:lnTo>
                      <a:lnTo>
                        <a:pt x="1193" y="1196"/>
                      </a:lnTo>
                      <a:lnTo>
                        <a:pt x="1205" y="1268"/>
                      </a:lnTo>
                      <a:lnTo>
                        <a:pt x="1217" y="1352"/>
                      </a:lnTo>
                      <a:lnTo>
                        <a:pt x="1217" y="1423"/>
                      </a:lnTo>
                      <a:lnTo>
                        <a:pt x="1217" y="1495"/>
                      </a:lnTo>
                      <a:lnTo>
                        <a:pt x="1205" y="1555"/>
                      </a:lnTo>
                      <a:lnTo>
                        <a:pt x="1193" y="1615"/>
                      </a:lnTo>
                      <a:lnTo>
                        <a:pt x="1193" y="1675"/>
                      </a:lnTo>
                      <a:lnTo>
                        <a:pt x="1181" y="1746"/>
                      </a:lnTo>
                      <a:lnTo>
                        <a:pt x="1157" y="1806"/>
                      </a:lnTo>
                      <a:lnTo>
                        <a:pt x="1133" y="1878"/>
                      </a:lnTo>
                      <a:lnTo>
                        <a:pt x="1109" y="1950"/>
                      </a:lnTo>
                      <a:lnTo>
                        <a:pt x="1085" y="2009"/>
                      </a:lnTo>
                      <a:lnTo>
                        <a:pt x="1062" y="2069"/>
                      </a:lnTo>
                      <a:lnTo>
                        <a:pt x="1026" y="2129"/>
                      </a:lnTo>
                      <a:lnTo>
                        <a:pt x="1324" y="2296"/>
                      </a:lnTo>
                      <a:lnTo>
                        <a:pt x="417" y="2440"/>
                      </a:lnTo>
                      <a:lnTo>
                        <a:pt x="83" y="1603"/>
                      </a:lnTo>
                      <a:lnTo>
                        <a:pt x="429" y="1794"/>
                      </a:lnTo>
                      <a:lnTo>
                        <a:pt x="465" y="1734"/>
                      </a:lnTo>
                      <a:lnTo>
                        <a:pt x="489" y="1686"/>
                      </a:lnTo>
                      <a:lnTo>
                        <a:pt x="501" y="1639"/>
                      </a:lnTo>
                      <a:lnTo>
                        <a:pt x="513" y="1591"/>
                      </a:lnTo>
                      <a:lnTo>
                        <a:pt x="525" y="1543"/>
                      </a:lnTo>
                      <a:lnTo>
                        <a:pt x="525" y="1495"/>
                      </a:lnTo>
                      <a:lnTo>
                        <a:pt x="537" y="1447"/>
                      </a:lnTo>
                      <a:lnTo>
                        <a:pt x="537" y="1399"/>
                      </a:lnTo>
                      <a:lnTo>
                        <a:pt x="537" y="1352"/>
                      </a:lnTo>
                      <a:lnTo>
                        <a:pt x="525" y="1292"/>
                      </a:lnTo>
                      <a:lnTo>
                        <a:pt x="513" y="1232"/>
                      </a:lnTo>
                      <a:lnTo>
                        <a:pt x="501" y="1184"/>
                      </a:lnTo>
                      <a:lnTo>
                        <a:pt x="477" y="1136"/>
                      </a:lnTo>
                      <a:lnTo>
                        <a:pt x="465" y="1088"/>
                      </a:lnTo>
                      <a:lnTo>
                        <a:pt x="441" y="1041"/>
                      </a:lnTo>
                      <a:lnTo>
                        <a:pt x="417" y="1005"/>
                      </a:lnTo>
                      <a:lnTo>
                        <a:pt x="394" y="981"/>
                      </a:lnTo>
                      <a:lnTo>
                        <a:pt x="370" y="957"/>
                      </a:lnTo>
                      <a:lnTo>
                        <a:pt x="346" y="921"/>
                      </a:lnTo>
                      <a:lnTo>
                        <a:pt x="322" y="897"/>
                      </a:lnTo>
                      <a:lnTo>
                        <a:pt x="298" y="873"/>
                      </a:lnTo>
                      <a:lnTo>
                        <a:pt x="274" y="849"/>
                      </a:lnTo>
                      <a:lnTo>
                        <a:pt x="250" y="825"/>
                      </a:lnTo>
                      <a:lnTo>
                        <a:pt x="227" y="801"/>
                      </a:lnTo>
                      <a:lnTo>
                        <a:pt x="191" y="777"/>
                      </a:lnTo>
                      <a:lnTo>
                        <a:pt x="155" y="765"/>
                      </a:lnTo>
                      <a:lnTo>
                        <a:pt x="131" y="742"/>
                      </a:lnTo>
                      <a:lnTo>
                        <a:pt x="95" y="730"/>
                      </a:lnTo>
                      <a:lnTo>
                        <a:pt x="60" y="706"/>
                      </a:lnTo>
                      <a:lnTo>
                        <a:pt x="0" y="69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8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388" name="Freeform 10"/>
                <p:cNvSpPr>
                  <a:spLocks/>
                </p:cNvSpPr>
                <p:nvPr/>
              </p:nvSpPr>
              <p:spPr bwMode="auto">
                <a:xfrm>
                  <a:off x="1406" y="872"/>
                  <a:ext cx="1961" cy="2213"/>
                </a:xfrm>
                <a:custGeom>
                  <a:avLst/>
                  <a:gdLst>
                    <a:gd name="T0" fmla="*/ 1195 w 1961"/>
                    <a:gd name="T1" fmla="*/ 335 h 2213"/>
                    <a:gd name="T2" fmla="*/ 1123 w 1961"/>
                    <a:gd name="T3" fmla="*/ 347 h 2213"/>
                    <a:gd name="T4" fmla="*/ 1064 w 1961"/>
                    <a:gd name="T5" fmla="*/ 359 h 2213"/>
                    <a:gd name="T6" fmla="*/ 1004 w 1961"/>
                    <a:gd name="T7" fmla="*/ 371 h 2213"/>
                    <a:gd name="T8" fmla="*/ 944 w 1961"/>
                    <a:gd name="T9" fmla="*/ 395 h 2213"/>
                    <a:gd name="T10" fmla="*/ 884 w 1961"/>
                    <a:gd name="T11" fmla="*/ 418 h 2213"/>
                    <a:gd name="T12" fmla="*/ 813 w 1961"/>
                    <a:gd name="T13" fmla="*/ 454 h 2213"/>
                    <a:gd name="T14" fmla="*/ 753 w 1961"/>
                    <a:gd name="T15" fmla="*/ 478 h 2213"/>
                    <a:gd name="T16" fmla="*/ 705 w 1961"/>
                    <a:gd name="T17" fmla="*/ 514 h 2213"/>
                    <a:gd name="T18" fmla="*/ 645 w 1961"/>
                    <a:gd name="T19" fmla="*/ 550 h 2213"/>
                    <a:gd name="T20" fmla="*/ 586 w 1961"/>
                    <a:gd name="T21" fmla="*/ 586 h 2213"/>
                    <a:gd name="T22" fmla="*/ 538 w 1961"/>
                    <a:gd name="T23" fmla="*/ 634 h 2213"/>
                    <a:gd name="T24" fmla="*/ 454 w 1961"/>
                    <a:gd name="T25" fmla="*/ 705 h 2213"/>
                    <a:gd name="T26" fmla="*/ 382 w 1961"/>
                    <a:gd name="T27" fmla="*/ 777 h 2213"/>
                    <a:gd name="T28" fmla="*/ 323 w 1961"/>
                    <a:gd name="T29" fmla="*/ 849 h 2213"/>
                    <a:gd name="T30" fmla="*/ 263 w 1961"/>
                    <a:gd name="T31" fmla="*/ 921 h 2213"/>
                    <a:gd name="T32" fmla="*/ 215 w 1961"/>
                    <a:gd name="T33" fmla="*/ 1004 h 2213"/>
                    <a:gd name="T34" fmla="*/ 167 w 1961"/>
                    <a:gd name="T35" fmla="*/ 1088 h 2213"/>
                    <a:gd name="T36" fmla="*/ 120 w 1961"/>
                    <a:gd name="T37" fmla="*/ 1184 h 2213"/>
                    <a:gd name="T38" fmla="*/ 84 w 1961"/>
                    <a:gd name="T39" fmla="*/ 1279 h 2213"/>
                    <a:gd name="T40" fmla="*/ 48 w 1961"/>
                    <a:gd name="T41" fmla="*/ 1411 h 2213"/>
                    <a:gd name="T42" fmla="*/ 24 w 1961"/>
                    <a:gd name="T43" fmla="*/ 1530 h 2213"/>
                    <a:gd name="T44" fmla="*/ 12 w 1961"/>
                    <a:gd name="T45" fmla="*/ 1686 h 2213"/>
                    <a:gd name="T46" fmla="*/ 12 w 1961"/>
                    <a:gd name="T47" fmla="*/ 1817 h 2213"/>
                    <a:gd name="T48" fmla="*/ 24 w 1961"/>
                    <a:gd name="T49" fmla="*/ 1937 h 2213"/>
                    <a:gd name="T50" fmla="*/ 36 w 1961"/>
                    <a:gd name="T51" fmla="*/ 2069 h 2213"/>
                    <a:gd name="T52" fmla="*/ 84 w 1961"/>
                    <a:gd name="T53" fmla="*/ 2212 h 2213"/>
                    <a:gd name="T54" fmla="*/ 693 w 1961"/>
                    <a:gd name="T55" fmla="*/ 1889 h 2213"/>
                    <a:gd name="T56" fmla="*/ 681 w 1961"/>
                    <a:gd name="T57" fmla="*/ 1782 h 2213"/>
                    <a:gd name="T58" fmla="*/ 681 w 1961"/>
                    <a:gd name="T59" fmla="*/ 1674 h 2213"/>
                    <a:gd name="T60" fmla="*/ 705 w 1961"/>
                    <a:gd name="T61" fmla="*/ 1566 h 2213"/>
                    <a:gd name="T62" fmla="*/ 741 w 1961"/>
                    <a:gd name="T63" fmla="*/ 1459 h 2213"/>
                    <a:gd name="T64" fmla="*/ 777 w 1961"/>
                    <a:gd name="T65" fmla="*/ 1375 h 2213"/>
                    <a:gd name="T66" fmla="*/ 825 w 1961"/>
                    <a:gd name="T67" fmla="*/ 1303 h 2213"/>
                    <a:gd name="T68" fmla="*/ 872 w 1961"/>
                    <a:gd name="T69" fmla="*/ 1255 h 2213"/>
                    <a:gd name="T70" fmla="*/ 920 w 1961"/>
                    <a:gd name="T71" fmla="*/ 1208 h 2213"/>
                    <a:gd name="T72" fmla="*/ 968 w 1961"/>
                    <a:gd name="T73" fmla="*/ 1160 h 2213"/>
                    <a:gd name="T74" fmla="*/ 1028 w 1961"/>
                    <a:gd name="T75" fmla="*/ 1112 h 2213"/>
                    <a:gd name="T76" fmla="*/ 1088 w 1961"/>
                    <a:gd name="T77" fmla="*/ 1076 h 2213"/>
                    <a:gd name="T78" fmla="*/ 1159 w 1961"/>
                    <a:gd name="T79" fmla="*/ 1040 h 2213"/>
                    <a:gd name="T80" fmla="*/ 1219 w 1961"/>
                    <a:gd name="T81" fmla="*/ 1016 h 2213"/>
                    <a:gd name="T82" fmla="*/ 1303 w 1961"/>
                    <a:gd name="T83" fmla="*/ 1004 h 2213"/>
                    <a:gd name="T84" fmla="*/ 1386 w 1961"/>
                    <a:gd name="T85" fmla="*/ 992 h 2213"/>
                    <a:gd name="T86" fmla="*/ 1410 w 1961"/>
                    <a:gd name="T87" fmla="*/ 1351 h 2213"/>
                    <a:gd name="T88" fmla="*/ 1410 w 1961"/>
                    <a:gd name="T89" fmla="*/ 0 h 2213"/>
                    <a:gd name="T90" fmla="*/ 1386 w 1961"/>
                    <a:gd name="T91" fmla="*/ 311 h 2213"/>
                    <a:gd name="T92" fmla="*/ 1303 w 1961"/>
                    <a:gd name="T93" fmla="*/ 311 h 2213"/>
                    <a:gd name="T94" fmla="*/ 1219 w 1961"/>
                    <a:gd name="T95" fmla="*/ 323 h 2213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0" t="0" r="r" b="b"/>
                  <a:pathLst>
                    <a:path w="1961" h="2213">
                      <a:moveTo>
                        <a:pt x="1219" y="323"/>
                      </a:moveTo>
                      <a:lnTo>
                        <a:pt x="1195" y="335"/>
                      </a:lnTo>
                      <a:lnTo>
                        <a:pt x="1159" y="335"/>
                      </a:lnTo>
                      <a:lnTo>
                        <a:pt x="1123" y="347"/>
                      </a:lnTo>
                      <a:lnTo>
                        <a:pt x="1100" y="347"/>
                      </a:lnTo>
                      <a:lnTo>
                        <a:pt x="1064" y="359"/>
                      </a:lnTo>
                      <a:lnTo>
                        <a:pt x="1040" y="371"/>
                      </a:lnTo>
                      <a:lnTo>
                        <a:pt x="1004" y="371"/>
                      </a:lnTo>
                      <a:lnTo>
                        <a:pt x="980" y="383"/>
                      </a:lnTo>
                      <a:lnTo>
                        <a:pt x="944" y="395"/>
                      </a:lnTo>
                      <a:lnTo>
                        <a:pt x="908" y="407"/>
                      </a:lnTo>
                      <a:lnTo>
                        <a:pt x="884" y="418"/>
                      </a:lnTo>
                      <a:lnTo>
                        <a:pt x="849" y="430"/>
                      </a:lnTo>
                      <a:lnTo>
                        <a:pt x="813" y="454"/>
                      </a:lnTo>
                      <a:lnTo>
                        <a:pt x="789" y="466"/>
                      </a:lnTo>
                      <a:lnTo>
                        <a:pt x="753" y="478"/>
                      </a:lnTo>
                      <a:lnTo>
                        <a:pt x="729" y="502"/>
                      </a:lnTo>
                      <a:lnTo>
                        <a:pt x="705" y="514"/>
                      </a:lnTo>
                      <a:lnTo>
                        <a:pt x="681" y="526"/>
                      </a:lnTo>
                      <a:lnTo>
                        <a:pt x="645" y="550"/>
                      </a:lnTo>
                      <a:lnTo>
                        <a:pt x="621" y="574"/>
                      </a:lnTo>
                      <a:lnTo>
                        <a:pt x="586" y="586"/>
                      </a:lnTo>
                      <a:lnTo>
                        <a:pt x="562" y="610"/>
                      </a:lnTo>
                      <a:lnTo>
                        <a:pt x="538" y="634"/>
                      </a:lnTo>
                      <a:lnTo>
                        <a:pt x="490" y="670"/>
                      </a:lnTo>
                      <a:lnTo>
                        <a:pt x="454" y="705"/>
                      </a:lnTo>
                      <a:lnTo>
                        <a:pt x="418" y="729"/>
                      </a:lnTo>
                      <a:lnTo>
                        <a:pt x="382" y="777"/>
                      </a:lnTo>
                      <a:lnTo>
                        <a:pt x="359" y="813"/>
                      </a:lnTo>
                      <a:lnTo>
                        <a:pt x="323" y="849"/>
                      </a:lnTo>
                      <a:lnTo>
                        <a:pt x="287" y="885"/>
                      </a:lnTo>
                      <a:lnTo>
                        <a:pt x="263" y="921"/>
                      </a:lnTo>
                      <a:lnTo>
                        <a:pt x="239" y="968"/>
                      </a:lnTo>
                      <a:lnTo>
                        <a:pt x="215" y="1004"/>
                      </a:lnTo>
                      <a:lnTo>
                        <a:pt x="191" y="1052"/>
                      </a:lnTo>
                      <a:lnTo>
                        <a:pt x="167" y="1088"/>
                      </a:lnTo>
                      <a:lnTo>
                        <a:pt x="143" y="1136"/>
                      </a:lnTo>
                      <a:lnTo>
                        <a:pt x="120" y="1184"/>
                      </a:lnTo>
                      <a:lnTo>
                        <a:pt x="96" y="1232"/>
                      </a:lnTo>
                      <a:lnTo>
                        <a:pt x="84" y="1279"/>
                      </a:lnTo>
                      <a:lnTo>
                        <a:pt x="60" y="1351"/>
                      </a:lnTo>
                      <a:lnTo>
                        <a:pt x="48" y="1411"/>
                      </a:lnTo>
                      <a:lnTo>
                        <a:pt x="36" y="1471"/>
                      </a:lnTo>
                      <a:lnTo>
                        <a:pt x="24" y="1530"/>
                      </a:lnTo>
                      <a:lnTo>
                        <a:pt x="12" y="1602"/>
                      </a:lnTo>
                      <a:lnTo>
                        <a:pt x="12" y="1686"/>
                      </a:lnTo>
                      <a:lnTo>
                        <a:pt x="0" y="1746"/>
                      </a:lnTo>
                      <a:lnTo>
                        <a:pt x="12" y="1817"/>
                      </a:lnTo>
                      <a:lnTo>
                        <a:pt x="12" y="1877"/>
                      </a:lnTo>
                      <a:lnTo>
                        <a:pt x="24" y="1937"/>
                      </a:lnTo>
                      <a:lnTo>
                        <a:pt x="24" y="2009"/>
                      </a:lnTo>
                      <a:lnTo>
                        <a:pt x="36" y="2069"/>
                      </a:lnTo>
                      <a:lnTo>
                        <a:pt x="60" y="2140"/>
                      </a:lnTo>
                      <a:lnTo>
                        <a:pt x="84" y="2212"/>
                      </a:lnTo>
                      <a:lnTo>
                        <a:pt x="203" y="1805"/>
                      </a:lnTo>
                      <a:lnTo>
                        <a:pt x="693" y="1889"/>
                      </a:lnTo>
                      <a:lnTo>
                        <a:pt x="693" y="1817"/>
                      </a:lnTo>
                      <a:lnTo>
                        <a:pt x="681" y="1782"/>
                      </a:lnTo>
                      <a:lnTo>
                        <a:pt x="681" y="1734"/>
                      </a:lnTo>
                      <a:lnTo>
                        <a:pt x="681" y="1674"/>
                      </a:lnTo>
                      <a:lnTo>
                        <a:pt x="693" y="1626"/>
                      </a:lnTo>
                      <a:lnTo>
                        <a:pt x="705" y="1566"/>
                      </a:lnTo>
                      <a:lnTo>
                        <a:pt x="717" y="1519"/>
                      </a:lnTo>
                      <a:lnTo>
                        <a:pt x="741" y="1459"/>
                      </a:lnTo>
                      <a:lnTo>
                        <a:pt x="753" y="1411"/>
                      </a:lnTo>
                      <a:lnTo>
                        <a:pt x="777" y="1375"/>
                      </a:lnTo>
                      <a:lnTo>
                        <a:pt x="801" y="1339"/>
                      </a:lnTo>
                      <a:lnTo>
                        <a:pt x="825" y="1303"/>
                      </a:lnTo>
                      <a:lnTo>
                        <a:pt x="849" y="1279"/>
                      </a:lnTo>
                      <a:lnTo>
                        <a:pt x="872" y="1255"/>
                      </a:lnTo>
                      <a:lnTo>
                        <a:pt x="896" y="1220"/>
                      </a:lnTo>
                      <a:lnTo>
                        <a:pt x="920" y="1208"/>
                      </a:lnTo>
                      <a:lnTo>
                        <a:pt x="944" y="1172"/>
                      </a:lnTo>
                      <a:lnTo>
                        <a:pt x="968" y="1160"/>
                      </a:lnTo>
                      <a:lnTo>
                        <a:pt x="992" y="1136"/>
                      </a:lnTo>
                      <a:lnTo>
                        <a:pt x="1028" y="1112"/>
                      </a:lnTo>
                      <a:lnTo>
                        <a:pt x="1064" y="1088"/>
                      </a:lnTo>
                      <a:lnTo>
                        <a:pt x="1088" y="1076"/>
                      </a:lnTo>
                      <a:lnTo>
                        <a:pt x="1123" y="1052"/>
                      </a:lnTo>
                      <a:lnTo>
                        <a:pt x="1159" y="1040"/>
                      </a:lnTo>
                      <a:lnTo>
                        <a:pt x="1183" y="1028"/>
                      </a:lnTo>
                      <a:lnTo>
                        <a:pt x="1219" y="1016"/>
                      </a:lnTo>
                      <a:lnTo>
                        <a:pt x="1267" y="1004"/>
                      </a:lnTo>
                      <a:lnTo>
                        <a:pt x="1303" y="1004"/>
                      </a:lnTo>
                      <a:lnTo>
                        <a:pt x="1350" y="992"/>
                      </a:lnTo>
                      <a:lnTo>
                        <a:pt x="1386" y="992"/>
                      </a:lnTo>
                      <a:lnTo>
                        <a:pt x="1410" y="992"/>
                      </a:lnTo>
                      <a:lnTo>
                        <a:pt x="1410" y="1351"/>
                      </a:lnTo>
                      <a:lnTo>
                        <a:pt x="1960" y="682"/>
                      </a:lnTo>
                      <a:lnTo>
                        <a:pt x="1410" y="0"/>
                      </a:lnTo>
                      <a:lnTo>
                        <a:pt x="1410" y="311"/>
                      </a:lnTo>
                      <a:lnTo>
                        <a:pt x="1386" y="311"/>
                      </a:lnTo>
                      <a:lnTo>
                        <a:pt x="1339" y="311"/>
                      </a:lnTo>
                      <a:lnTo>
                        <a:pt x="1303" y="311"/>
                      </a:lnTo>
                      <a:lnTo>
                        <a:pt x="1255" y="323"/>
                      </a:lnTo>
                      <a:lnTo>
                        <a:pt x="1219" y="323"/>
                      </a:lnTo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0" cap="rnd">
                      <a:pattFill prst="narHorz">
                        <a:fgClr>
                          <a:schemeClr val="tx1"/>
                        </a:fgClr>
                        <a:bgClr>
                          <a:schemeClr val="bg1"/>
                        </a:bgClr>
                      </a:pattFill>
                      <a:round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89099" name="Rectangle 11"/>
            <p:cNvSpPr>
              <a:spLocks noChangeArrowheads="1"/>
            </p:cNvSpPr>
            <p:nvPr/>
          </p:nvSpPr>
          <p:spPr bwMode="auto">
            <a:xfrm>
              <a:off x="1940" y="1123"/>
              <a:ext cx="1736" cy="7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eaLnBrk="0" hangingPunct="0">
                <a:defRPr/>
              </a:pPr>
              <a:r>
                <a:rPr kumimoji="1"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Evaluate Existing</a:t>
              </a:r>
            </a:p>
            <a:p>
              <a:pPr eaLnBrk="0" hangingPunct="0">
                <a:defRPr/>
              </a:pPr>
              <a:r>
                <a:rPr kumimoji="1"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Systems for </a:t>
              </a:r>
            </a:p>
            <a:p>
              <a:pPr eaLnBrk="0" hangingPunct="0">
                <a:defRPr/>
              </a:pPr>
              <a:r>
                <a:rPr kumimoji="1"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Bottlenecks</a:t>
              </a:r>
            </a:p>
          </p:txBody>
        </p:sp>
        <p:sp>
          <p:nvSpPr>
            <p:cNvPr id="89100" name="Rectangle 12"/>
            <p:cNvSpPr>
              <a:spLocks noChangeArrowheads="1"/>
            </p:cNvSpPr>
            <p:nvPr/>
          </p:nvSpPr>
          <p:spPr bwMode="auto">
            <a:xfrm>
              <a:off x="2951" y="2803"/>
              <a:ext cx="1418" cy="7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eaLnBrk="0" hangingPunct="0">
                <a:defRPr/>
              </a:pPr>
              <a:r>
                <a:rPr kumimoji="1"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Simulate New</a:t>
              </a:r>
            </a:p>
            <a:p>
              <a:pPr eaLnBrk="0" hangingPunct="0">
                <a:defRPr/>
              </a:pPr>
              <a:r>
                <a:rPr kumimoji="1"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Designs and</a:t>
              </a:r>
            </a:p>
            <a:p>
              <a:pPr eaLnBrk="0" hangingPunct="0">
                <a:defRPr/>
              </a:pPr>
              <a:r>
                <a:rPr kumimoji="1"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Organizations</a:t>
              </a:r>
            </a:p>
          </p:txBody>
        </p:sp>
        <p:sp>
          <p:nvSpPr>
            <p:cNvPr id="89101" name="Rectangle 13"/>
            <p:cNvSpPr>
              <a:spLocks noChangeArrowheads="1"/>
            </p:cNvSpPr>
            <p:nvPr/>
          </p:nvSpPr>
          <p:spPr bwMode="auto">
            <a:xfrm>
              <a:off x="668" y="2707"/>
              <a:ext cx="1903" cy="5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eaLnBrk="0" hangingPunct="0">
                <a:defRPr/>
              </a:pPr>
              <a:r>
                <a:rPr kumimoji="1"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Implement Next</a:t>
              </a:r>
            </a:p>
            <a:p>
              <a:pPr eaLnBrk="0" hangingPunct="0">
                <a:defRPr/>
              </a:pPr>
              <a:r>
                <a:rPr kumimoji="1"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Generation System</a:t>
              </a:r>
            </a:p>
          </p:txBody>
        </p:sp>
        <p:sp>
          <p:nvSpPr>
            <p:cNvPr id="58379" name="Rectangle 14"/>
            <p:cNvSpPr>
              <a:spLocks noChangeArrowheads="1"/>
            </p:cNvSpPr>
            <p:nvPr/>
          </p:nvSpPr>
          <p:spPr bwMode="auto">
            <a:xfrm>
              <a:off x="2046" y="2210"/>
              <a:ext cx="1342" cy="5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eaLnBrk="0" hangingPunct="0"/>
              <a:r>
                <a:rPr kumimoji="1" lang="en-US" altLang="zh-CN" sz="2100" b="1">
                  <a:solidFill>
                    <a:srgbClr val="0000FF"/>
                  </a:solidFill>
                  <a:latin typeface="Comic Sans MS" pitchFamily="66" charset="0"/>
                </a:rPr>
                <a:t>Technology</a:t>
              </a:r>
            </a:p>
            <a:p>
              <a:pPr eaLnBrk="0" hangingPunct="0"/>
              <a:r>
                <a:rPr kumimoji="1" lang="en-US" altLang="zh-CN" sz="2100" b="1">
                  <a:solidFill>
                    <a:srgbClr val="0000FF"/>
                  </a:solidFill>
                  <a:latin typeface="Comic Sans MS" pitchFamily="66" charset="0"/>
                </a:rPr>
                <a:t>Trends</a:t>
              </a:r>
            </a:p>
          </p:txBody>
        </p:sp>
        <p:sp>
          <p:nvSpPr>
            <p:cNvPr id="58380" name="Rectangle 15"/>
            <p:cNvSpPr>
              <a:spLocks noChangeArrowheads="1"/>
            </p:cNvSpPr>
            <p:nvPr/>
          </p:nvSpPr>
          <p:spPr bwMode="auto">
            <a:xfrm>
              <a:off x="4080" y="1951"/>
              <a:ext cx="1239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algn="l" eaLnBrk="0" hangingPunct="0"/>
              <a:r>
                <a:rPr kumimoji="1" lang="en-US" altLang="zh-CN" b="1" i="1">
                  <a:solidFill>
                    <a:srgbClr val="0000FF"/>
                  </a:solidFill>
                  <a:latin typeface="Comic Sans MS" pitchFamily="66" charset="0"/>
                </a:rPr>
                <a:t>Benchmarks</a:t>
              </a:r>
              <a:endParaRPr kumimoji="1" lang="en-US" altLang="zh-CN" b="1" i="1">
                <a:latin typeface="Comic Sans MS" pitchFamily="66" charset="0"/>
              </a:endParaRPr>
            </a:p>
          </p:txBody>
        </p:sp>
        <p:sp>
          <p:nvSpPr>
            <p:cNvPr id="58381" name="Rectangle 16"/>
            <p:cNvSpPr>
              <a:spLocks noChangeArrowheads="1"/>
            </p:cNvSpPr>
            <p:nvPr/>
          </p:nvSpPr>
          <p:spPr bwMode="auto">
            <a:xfrm>
              <a:off x="768" y="3643"/>
              <a:ext cx="1115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algn="l" eaLnBrk="0" hangingPunct="0"/>
              <a:r>
                <a:rPr kumimoji="1" lang="en-US" altLang="zh-CN" b="1" i="1">
                  <a:latin typeface="Comic Sans MS" pitchFamily="66" charset="0"/>
                </a:rPr>
                <a:t>Workloads</a:t>
              </a:r>
            </a:p>
          </p:txBody>
        </p:sp>
        <p:sp>
          <p:nvSpPr>
            <p:cNvPr id="58382" name="Rectangle 17"/>
            <p:cNvSpPr>
              <a:spLocks noChangeArrowheads="1"/>
            </p:cNvSpPr>
            <p:nvPr/>
          </p:nvSpPr>
          <p:spPr bwMode="auto">
            <a:xfrm>
              <a:off x="0" y="1872"/>
              <a:ext cx="1589" cy="5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/>
            <a:p>
              <a:pPr algn="l" eaLnBrk="0" hangingPunct="0"/>
              <a:r>
                <a:rPr kumimoji="1" lang="en-US" altLang="zh-CN" b="1" i="1">
                  <a:latin typeface="Comic Sans MS" pitchFamily="66" charset="0"/>
                </a:rPr>
                <a:t>Implementation</a:t>
              </a:r>
            </a:p>
            <a:p>
              <a:pPr algn="l" eaLnBrk="0" hangingPunct="0"/>
              <a:r>
                <a:rPr kumimoji="1" lang="en-US" altLang="zh-CN" b="1" i="1">
                  <a:latin typeface="Comic Sans MS" pitchFamily="66" charset="0"/>
                </a:rPr>
                <a:t>Complexity</a:t>
              </a:r>
            </a:p>
          </p:txBody>
        </p:sp>
        <p:sp>
          <p:nvSpPr>
            <p:cNvPr id="58383" name="Text Box 18"/>
            <p:cNvSpPr txBox="1">
              <a:spLocks noChangeArrowheads="1"/>
            </p:cNvSpPr>
            <p:nvPr/>
          </p:nvSpPr>
          <p:spPr bwMode="auto">
            <a:xfrm>
              <a:off x="528" y="1296"/>
              <a:ext cx="1382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SimSun" pitchFamily="2" charset="-122"/>
                </a:defRPr>
              </a:lvl9pPr>
            </a:lstStyle>
            <a:p>
              <a:pPr algn="l" eaLnBrk="1" hangingPunct="1"/>
              <a:r>
                <a:rPr kumimoji="1" lang="en-US" altLang="zh-CN">
                  <a:solidFill>
                    <a:srgbClr val="0000FF"/>
                  </a:solidFill>
                  <a:latin typeface="Comic Sans MS" pitchFamily="66" charset="0"/>
                </a:rPr>
                <a:t>Requirements</a:t>
              </a:r>
              <a:endParaRPr kumimoji="1" lang="en-US" altLang="zh-CN" b="1">
                <a:latin typeface="Times New Roman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Considerations:</a:t>
            </a:r>
          </a:p>
          <a:p>
            <a:pPr lvl="1"/>
            <a:r>
              <a:rPr lang="en-US" altLang="zh-CN" dirty="0"/>
              <a:t>Functional and non functional requirements </a:t>
            </a:r>
          </a:p>
          <a:p>
            <a:pPr lvl="1"/>
            <a:r>
              <a:rPr lang="en-US" altLang="zh-CN" dirty="0"/>
              <a:t>Implementation complexity</a:t>
            </a:r>
          </a:p>
          <a:p>
            <a:pPr lvl="2"/>
            <a:r>
              <a:rPr lang="en-US" altLang="zh-CN" dirty="0"/>
              <a:t> Complex designs take longer to complete </a:t>
            </a:r>
          </a:p>
          <a:p>
            <a:pPr lvl="2"/>
            <a:r>
              <a:rPr lang="en-US" altLang="zh-CN" dirty="0"/>
              <a:t> Complex designs must provide higher performance to be competitive</a:t>
            </a:r>
          </a:p>
          <a:p>
            <a:pPr lvl="1"/>
            <a:r>
              <a:rPr lang="en-US" altLang="zh-CN" dirty="0"/>
              <a:t>Technology trends</a:t>
            </a:r>
          </a:p>
          <a:p>
            <a:pPr lvl="2"/>
            <a:r>
              <a:rPr lang="en-US" altLang="zh-CN" dirty="0"/>
              <a:t> Not only what's available today, but also what will be available when the system is ready to ship. (more on this later) </a:t>
            </a:r>
          </a:p>
          <a:p>
            <a:pPr lvl="1"/>
            <a:r>
              <a:rPr lang="en-US" altLang="zh-CN" dirty="0"/>
              <a:t>Trends in Power in IC</a:t>
            </a:r>
          </a:p>
          <a:p>
            <a:pPr lvl="1"/>
            <a:r>
              <a:rPr lang="en-US" altLang="zh-CN" dirty="0"/>
              <a:t>Trends in cost</a:t>
            </a:r>
          </a:p>
          <a:p>
            <a:r>
              <a:rPr lang="en-US" altLang="zh-CN" dirty="0"/>
              <a:t>Arguments</a:t>
            </a:r>
          </a:p>
          <a:p>
            <a:pPr lvl="1"/>
            <a:r>
              <a:rPr lang="en-US" altLang="zh-CN" dirty="0"/>
              <a:t>Evaluate Existing Systems for Bottlenecks</a:t>
            </a:r>
          </a:p>
          <a:p>
            <a:r>
              <a:rPr lang="en-US" altLang="zh-CN" dirty="0"/>
              <a:t>Quantitative Principles</a:t>
            </a:r>
          </a:p>
        </p:txBody>
      </p:sp>
      <p:sp>
        <p:nvSpPr>
          <p:cNvPr id="593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Summary:Task of computer design </a:t>
            </a: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600" dirty="0"/>
              <a:t>1.1   Why take this course ?</a:t>
            </a:r>
          </a:p>
          <a:p>
            <a:r>
              <a:rPr lang="en-US" altLang="zh-CN" sz="1600" dirty="0"/>
              <a:t>1.2   Classes of computers in current computer market</a:t>
            </a:r>
          </a:p>
          <a:p>
            <a:r>
              <a:rPr lang="en-US" altLang="zh-CN" sz="1600" dirty="0"/>
              <a:t>1.3   Defining computer architecture  and What’s the task of computer design?</a:t>
            </a:r>
          </a:p>
          <a:p>
            <a:r>
              <a:rPr lang="en-US" altLang="zh-CN" sz="1600" b="1" dirty="0"/>
              <a:t>1.4   Trends in Technology</a:t>
            </a:r>
          </a:p>
          <a:p>
            <a:r>
              <a:rPr lang="en-US" altLang="zh-CN" sz="1600" dirty="0"/>
              <a:t>1.5   Trends in power in Integrated circuits</a:t>
            </a:r>
          </a:p>
          <a:p>
            <a:r>
              <a:rPr lang="en-US" altLang="zh-CN" sz="1600" dirty="0"/>
              <a:t>1.6   Trends in Cost</a:t>
            </a:r>
          </a:p>
          <a:p>
            <a:r>
              <a:rPr lang="en-US" altLang="zh-CN" sz="1600" dirty="0"/>
              <a:t>1.7   Dependability</a:t>
            </a:r>
          </a:p>
          <a:p>
            <a:r>
              <a:rPr lang="en-US" altLang="zh-CN" sz="1600" dirty="0"/>
              <a:t>1.8   Measuring, Reporting and summarizing Perf.</a:t>
            </a:r>
          </a:p>
          <a:p>
            <a:r>
              <a:rPr lang="en-US" altLang="zh-CN" sz="1600" dirty="0"/>
              <a:t>1.9   Quantitative Principles of computer Design </a:t>
            </a:r>
          </a:p>
          <a:p>
            <a:r>
              <a:rPr lang="en-US" altLang="zh-CN" sz="1600" dirty="0"/>
              <a:t>1.10 Putting it altogether</a:t>
            </a:r>
          </a:p>
        </p:txBody>
      </p:sp>
      <p:sp>
        <p:nvSpPr>
          <p:cNvPr id="604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Topics in Chapter</a:t>
            </a: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Moore Law</a:t>
            </a:r>
          </a:p>
          <a:p>
            <a:pPr lvl="1"/>
            <a:r>
              <a:rPr lang="en-US" altLang="zh-CN" dirty="0"/>
              <a:t>In 1965 he predicted that the number of components the industry would be able to place on a computer chip would double every year. In 1975, he updated his prediction to once every two years. It has become the guiding principle for the semiconductor industry to deliver ever-more-powerful chips while decreasing the cost of electronics. </a:t>
            </a:r>
          </a:p>
        </p:txBody>
      </p:sp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Technology Trends</a:t>
            </a:r>
          </a:p>
        </p:txBody>
      </p:sp>
      <p:grpSp>
        <p:nvGrpSpPr>
          <p:cNvPr id="128004" name="Group 4"/>
          <p:cNvGrpSpPr>
            <a:grpSpLocks/>
          </p:cNvGrpSpPr>
          <p:nvPr/>
        </p:nvGrpSpPr>
        <p:grpSpPr bwMode="auto">
          <a:xfrm>
            <a:off x="4924844" y="2758862"/>
            <a:ext cx="2701528" cy="1996678"/>
            <a:chOff x="3515" y="527"/>
            <a:chExt cx="2269" cy="1677"/>
          </a:xfrm>
        </p:grpSpPr>
        <p:pic>
          <p:nvPicPr>
            <p:cNvPr id="61448" name="Picture 5" descr="Moore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570518">
              <a:off x="3515" y="527"/>
              <a:ext cx="1872" cy="1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449" name="Rectangle 6"/>
            <p:cNvSpPr>
              <a:spLocks noChangeArrowheads="1"/>
            </p:cNvSpPr>
            <p:nvPr/>
          </p:nvSpPr>
          <p:spPr bwMode="auto">
            <a:xfrm>
              <a:off x="4518" y="1933"/>
              <a:ext cx="1266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500" b="1">
                  <a:solidFill>
                    <a:srgbClr val="0000FF"/>
                  </a:solidFill>
                  <a:latin typeface="Arial" pitchFamily="34" charset="0"/>
                </a:rPr>
                <a:t>Gordon </a:t>
              </a:r>
              <a:r>
                <a:rPr lang="en-US" altLang="zh-CN" sz="1500" b="1" u="sng">
                  <a:solidFill>
                    <a:srgbClr val="0000FF"/>
                  </a:solidFill>
                  <a:latin typeface="Arial" pitchFamily="34" charset="0"/>
                  <a:hlinkClick r:id="rId3" tooltip="Moore"/>
                </a:rPr>
                <a:t>Moore</a:t>
              </a:r>
              <a:endParaRPr lang="en-US" altLang="zh-CN" sz="1500" b="1" u="sng">
                <a:solidFill>
                  <a:srgbClr val="0000FF"/>
                </a:solidFill>
                <a:latin typeface="Arial" pitchFamily="34" charset="0"/>
              </a:endParaRPr>
            </a:p>
          </p:txBody>
        </p:sp>
      </p:grpSp>
      <p:pic>
        <p:nvPicPr>
          <p:cNvPr id="128007" name="Picture 7" descr="moore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778" y="2916647"/>
            <a:ext cx="1443038" cy="205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9" name="Rectangle 3"/>
          <p:cNvSpPr>
            <a:spLocks noGrp="1" noChangeArrowheads="1"/>
          </p:cNvSpPr>
          <p:nvPr>
            <p:ph idx="1"/>
          </p:nvPr>
        </p:nvSpPr>
        <p:spPr>
          <a:xfrm>
            <a:off x="661629" y="562678"/>
            <a:ext cx="7496760" cy="4097303"/>
          </a:xfrm>
        </p:spPr>
        <p:txBody>
          <a:bodyPr/>
          <a:lstStyle/>
          <a:p>
            <a:r>
              <a:rPr lang="en-US" altLang="zh-CN" dirty="0"/>
              <a:t>Integrated circuit logic technology</a:t>
            </a:r>
          </a:p>
          <a:p>
            <a:pPr lvl="1"/>
            <a:r>
              <a:rPr lang="en-US" altLang="zh-CN" dirty="0"/>
              <a:t>Transistor Density: incr. 35% per year, (4x every 4 years)</a:t>
            </a:r>
          </a:p>
          <a:p>
            <a:pPr lvl="1"/>
            <a:r>
              <a:rPr lang="en-US" altLang="zh-CN" dirty="0"/>
              <a:t>Die size:  10%-20% per year</a:t>
            </a:r>
          </a:p>
          <a:p>
            <a:pPr lvl="1"/>
            <a:r>
              <a:rPr lang="en-US" altLang="zh-CN" dirty="0"/>
              <a:t>Transistor count per chip:40-55% per year</a:t>
            </a:r>
          </a:p>
          <a:p>
            <a:r>
              <a:rPr lang="en-US" altLang="zh-CN" dirty="0"/>
              <a:t>Semiconductor DRAM</a:t>
            </a:r>
          </a:p>
          <a:p>
            <a:pPr lvl="1"/>
            <a:r>
              <a:rPr lang="en-US" altLang="zh-CN" dirty="0"/>
              <a:t>Capacity: 40% per year (2x every 2 years)</a:t>
            </a:r>
          </a:p>
          <a:p>
            <a:pPr lvl="1"/>
            <a:r>
              <a:rPr lang="en-US" altLang="zh-CN" dirty="0"/>
              <a:t>Memory speed: about 10% per year</a:t>
            </a:r>
          </a:p>
          <a:p>
            <a:r>
              <a:rPr lang="en-US" altLang="zh-CN" dirty="0"/>
              <a:t>Magnetic Disk tech.</a:t>
            </a:r>
          </a:p>
          <a:p>
            <a:pPr lvl="1"/>
            <a:r>
              <a:rPr lang="en-US" altLang="zh-CN" dirty="0"/>
              <a:t>Density: 30% per year before 1990;60% per year in1990-1996</a:t>
            </a:r>
          </a:p>
          <a:p>
            <a:pPr lvl="1"/>
            <a:r>
              <a:rPr lang="en-US" altLang="zh-CN" dirty="0"/>
              <a:t>100% per year in 1996-2004;30% per-year after 2004</a:t>
            </a:r>
          </a:p>
          <a:p>
            <a:pPr lvl="1"/>
            <a:r>
              <a:rPr lang="en-US" altLang="zh-CN" dirty="0"/>
              <a:t>capacity: about 60% per year</a:t>
            </a:r>
          </a:p>
          <a:p>
            <a:r>
              <a:rPr lang="en-US" altLang="zh-CN" dirty="0"/>
              <a:t>Network bandwidth</a:t>
            </a:r>
          </a:p>
          <a:p>
            <a:pPr marL="342900" lvl="1" indent="0">
              <a:buNone/>
            </a:pPr>
            <a:r>
              <a:rPr lang="en-US" altLang="zh-CN" dirty="0"/>
              <a:t>10Mb </a:t>
            </a:r>
            <a:r>
              <a:rPr lang="en-US" altLang="zh-CN" dirty="0">
                <a:sym typeface="Symbol" pitchFamily="18" charset="2"/>
              </a:rPr>
              <a:t> 100Mb  1Gb  10Gb  100Gb  …</a:t>
            </a:r>
          </a:p>
          <a:p>
            <a:pPr marL="342900" lvl="1" indent="0">
              <a:buNone/>
            </a:pPr>
            <a:r>
              <a:rPr lang="en-US" altLang="zh-CN" dirty="0"/>
              <a:t>          10 years               5 years</a:t>
            </a:r>
          </a:p>
        </p:txBody>
      </p:sp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Technology Trends</a:t>
            </a:r>
            <a:endParaRPr lang="en-US" altLang="zh-CN" dirty="0"/>
          </a:p>
        </p:txBody>
      </p:sp>
      <p:sp>
        <p:nvSpPr>
          <p:cNvPr id="129028" name="Text Box 4"/>
          <p:cNvSpPr txBox="1">
            <a:spLocks noChangeArrowheads="1"/>
          </p:cNvSpPr>
          <p:nvPr/>
        </p:nvSpPr>
        <p:spPr bwMode="auto">
          <a:xfrm>
            <a:off x="2793269" y="4580821"/>
            <a:ext cx="577215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9pPr>
          </a:lstStyle>
          <a:p>
            <a:pPr eaLnBrk="1" hangingPunct="1"/>
            <a:r>
              <a:rPr lang="en-US" altLang="zh-CN" sz="2100" dirty="0">
                <a:latin typeface="Arial" pitchFamily="34" charset="0"/>
              </a:rPr>
              <a:t>Designers often design for the next technology.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9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8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rule of thumb</a:t>
            </a:r>
          </a:p>
          <a:p>
            <a:pPr lvl="1"/>
            <a:r>
              <a:rPr lang="en-US" altLang="zh-CN" dirty="0"/>
              <a:t>Cost decrease rate ~ density increase rate</a:t>
            </a:r>
          </a:p>
          <a:p>
            <a:endParaRPr lang="en-US" altLang="zh-CN" dirty="0"/>
          </a:p>
          <a:p>
            <a:r>
              <a:rPr lang="en-US" altLang="zh-CN" dirty="0"/>
              <a:t>Technology thresholds</a:t>
            </a:r>
          </a:p>
          <a:p>
            <a:pPr lvl="1"/>
            <a:r>
              <a:rPr lang="en-US" altLang="zh-CN" dirty="0"/>
              <a:t>Technology improves continuously, an impact of this improvements can be in discrete leaps.</a:t>
            </a:r>
          </a:p>
        </p:txBody>
      </p:sp>
      <p:sp>
        <p:nvSpPr>
          <p:cNvPr id="645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Notes</a:t>
            </a: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/>
              <a:t>Bandwidth/throughput: total amount of work done in a given time</a:t>
            </a:r>
          </a:p>
          <a:p>
            <a:r>
              <a:rPr lang="en-US" altLang="zh-CN"/>
              <a:t>Latency/response time: the time between the start and the completion of an event.</a:t>
            </a:r>
          </a:p>
          <a:p>
            <a:endParaRPr lang="en-US" altLang="zh-CN"/>
          </a:p>
        </p:txBody>
      </p:sp>
      <p:sp>
        <p:nvSpPr>
          <p:cNvPr id="133126" name="Rectangle 6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CN"/>
              <a:t>Rule of thumb</a:t>
            </a:r>
          </a:p>
          <a:p>
            <a:pPr lvl="1"/>
            <a:r>
              <a:rPr lang="en-US" altLang="zh-CN"/>
              <a:t>Bandwidth grow rate ~ improvement in latency2 </a:t>
            </a:r>
          </a:p>
        </p:txBody>
      </p:sp>
      <p:sp>
        <p:nvSpPr>
          <p:cNvPr id="65541" name="Rectangle 2"/>
          <p:cNvSpPr>
            <a:spLocks noGrp="1" noChangeArrowheads="1"/>
          </p:cNvSpPr>
          <p:nvPr>
            <p:ph type="title"/>
          </p:nvPr>
        </p:nvSpPr>
        <p:spPr>
          <a:xfrm>
            <a:off x="1509118" y="14585"/>
            <a:ext cx="6011465" cy="685800"/>
          </a:xfrm>
        </p:spPr>
        <p:txBody>
          <a:bodyPr/>
          <a:lstStyle/>
          <a:p>
            <a:r>
              <a:rPr lang="en-US" altLang="zh-CN" sz="2400" dirty="0"/>
              <a:t>Perf. Trends: </a:t>
            </a:r>
            <a:r>
              <a:rPr lang="en-US" altLang="zh-CN" dirty="0"/>
              <a:t>Bandwidth over latency</a:t>
            </a:r>
          </a:p>
        </p:txBody>
      </p:sp>
      <p:pic>
        <p:nvPicPr>
          <p:cNvPr id="133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748" y="886421"/>
            <a:ext cx="5076825" cy="3942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5544" name="Text Box 5"/>
          <p:cNvSpPr txBox="1">
            <a:spLocks noChangeArrowheads="1"/>
          </p:cNvSpPr>
          <p:nvPr/>
        </p:nvSpPr>
        <p:spPr bwMode="auto">
          <a:xfrm>
            <a:off x="3571188" y="380285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9pPr>
          </a:lstStyle>
          <a:p>
            <a:pPr eaLnBrk="1" hangingPunct="1"/>
            <a:endParaRPr lang="zh-CN" altLang="zh-CN"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671" y="1356615"/>
            <a:ext cx="6680659" cy="2430270"/>
          </a:xfrm>
        </p:spPr>
      </p:pic>
      <p:sp>
        <p:nvSpPr>
          <p:cNvPr id="665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Performance milestones in microprocessor</a:t>
            </a: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IC characteristic:  feature size</a:t>
            </a:r>
          </a:p>
          <a:p>
            <a:pPr lvl="1"/>
            <a:r>
              <a:rPr lang="en-US" altLang="zh-CN" dirty="0"/>
              <a:t>10</a:t>
            </a:r>
            <a:r>
              <a:rPr lang="en-US" altLang="zh-CN" dirty="0">
                <a:sym typeface="Symbol" pitchFamily="18" charset="2"/>
              </a:rPr>
              <a:t> microns in 1971   0.18microns in 2001</a:t>
            </a:r>
          </a:p>
          <a:p>
            <a:pPr lvl="1"/>
            <a:r>
              <a:rPr lang="en-US" altLang="zh-CN" dirty="0">
                <a:sym typeface="Wingdings" pitchFamily="2" charset="2"/>
              </a:rPr>
              <a:t></a:t>
            </a:r>
            <a:r>
              <a:rPr lang="en-US" altLang="zh-CN" dirty="0">
                <a:sym typeface="Symbol" pitchFamily="18" charset="2"/>
              </a:rPr>
              <a:t>  0.09 microns  in 2006 </a:t>
            </a:r>
            <a:r>
              <a:rPr lang="en-US" altLang="zh-CN" dirty="0">
                <a:sym typeface="Wingdings" pitchFamily="2" charset="2"/>
              </a:rPr>
              <a:t> 65nm </a:t>
            </a:r>
          </a:p>
          <a:p>
            <a:pPr lvl="1"/>
            <a:r>
              <a:rPr lang="en-US" altLang="zh-CN" dirty="0">
                <a:sym typeface="Wingdings" pitchFamily="2" charset="2"/>
              </a:rPr>
              <a:t>40nm 28nm 14nm 7nm 5nm…</a:t>
            </a:r>
          </a:p>
          <a:p>
            <a:pPr lvl="1"/>
            <a:r>
              <a:rPr lang="en-US" altLang="zh-CN" dirty="0">
                <a:sym typeface="Wingdings" pitchFamily="2" charset="2"/>
              </a:rPr>
              <a:t>Rule of thumb:  transistor performance Improves linearly with decreasing feature size.</a:t>
            </a:r>
            <a:r>
              <a:rPr lang="en-US" altLang="zh-CN" dirty="0">
                <a:sym typeface="Symbol" pitchFamily="18" charset="2"/>
              </a:rPr>
              <a:t>                        </a:t>
            </a:r>
          </a:p>
          <a:p>
            <a:r>
              <a:rPr lang="en-US" altLang="zh-CN" dirty="0">
                <a:sym typeface="Symbol" pitchFamily="18" charset="2"/>
              </a:rPr>
              <a:t>IC density improvement is both opportunity and Challenge:</a:t>
            </a:r>
          </a:p>
          <a:p>
            <a:pPr lvl="1"/>
            <a:r>
              <a:rPr lang="en-US" altLang="zh-CN" dirty="0">
                <a:sym typeface="Symbol" pitchFamily="18" charset="2"/>
              </a:rPr>
              <a:t>Signal delay for a wire increase in proportion to the product of its resistance and capacitance.</a:t>
            </a:r>
          </a:p>
          <a:p>
            <a:pPr lvl="1"/>
            <a:r>
              <a:rPr lang="en-US" altLang="zh-CN" dirty="0">
                <a:sym typeface="Symbol" pitchFamily="18" charset="2"/>
              </a:rPr>
              <a:t>Major design limitation: signal delay</a:t>
            </a:r>
          </a:p>
        </p:txBody>
      </p:sp>
      <p:sp>
        <p:nvSpPr>
          <p:cNvPr id="675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Challenges for IC Tecnology</a:t>
            </a: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600" dirty="0"/>
              <a:t>1.1   Why take this course ?</a:t>
            </a:r>
          </a:p>
          <a:p>
            <a:r>
              <a:rPr lang="en-US" altLang="zh-CN" sz="1600" dirty="0"/>
              <a:t>1.2   Classes of computers in current computer market</a:t>
            </a:r>
          </a:p>
          <a:p>
            <a:r>
              <a:rPr lang="en-US" altLang="zh-CN" sz="1600" dirty="0"/>
              <a:t>1.3   Defining computer architecture  and What’s the task of computer design?</a:t>
            </a:r>
          </a:p>
          <a:p>
            <a:r>
              <a:rPr lang="en-US" altLang="zh-CN" sz="1600" dirty="0"/>
              <a:t>1.4   Trends in Technology</a:t>
            </a:r>
          </a:p>
          <a:p>
            <a:r>
              <a:rPr lang="en-US" altLang="zh-CN" sz="1600" b="1" dirty="0"/>
              <a:t>1.5   Trends in power in Integrated circuits</a:t>
            </a:r>
          </a:p>
          <a:p>
            <a:r>
              <a:rPr lang="en-US" altLang="zh-CN" sz="1600" dirty="0"/>
              <a:t>1.6   Trends in Cost</a:t>
            </a:r>
          </a:p>
          <a:p>
            <a:r>
              <a:rPr lang="en-US" altLang="zh-CN" sz="1600" dirty="0"/>
              <a:t>1.7   Dependability</a:t>
            </a:r>
          </a:p>
          <a:p>
            <a:r>
              <a:rPr lang="en-US" altLang="zh-CN" sz="1600" dirty="0"/>
              <a:t>1.8   Measuring, Reporting and summarizing Perf.</a:t>
            </a:r>
          </a:p>
          <a:p>
            <a:r>
              <a:rPr lang="en-US" altLang="zh-CN" sz="1600" dirty="0"/>
              <a:t>1.9   Quantitative Principles of computer Design </a:t>
            </a:r>
          </a:p>
          <a:p>
            <a:r>
              <a:rPr lang="en-US" altLang="zh-CN" sz="1600" dirty="0"/>
              <a:t>1.10 Putting it altogether</a:t>
            </a:r>
          </a:p>
        </p:txBody>
      </p:sp>
      <p:sp>
        <p:nvSpPr>
          <p:cNvPr id="686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Topics in Chapter</a:t>
            </a: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ym typeface="Symbol" pitchFamily="18" charset="2"/>
              </a:rPr>
              <a:t>Power also provide challenges as device scaled</a:t>
            </a:r>
          </a:p>
          <a:p>
            <a:pPr lvl="1"/>
            <a:r>
              <a:rPr lang="en-US" altLang="zh-CN" dirty="0">
                <a:sym typeface="Symbol" pitchFamily="18" charset="2"/>
              </a:rPr>
              <a:t>First microprocessor: 1~10 watt</a:t>
            </a:r>
          </a:p>
          <a:p>
            <a:pPr lvl="1"/>
            <a:r>
              <a:rPr lang="en-US" altLang="zh-CN" dirty="0">
                <a:sym typeface="Symbol" pitchFamily="18" charset="2"/>
              </a:rPr>
              <a:t>2GHz Pentium 4: 135 watt</a:t>
            </a:r>
          </a:p>
          <a:p>
            <a:pPr lvl="1"/>
            <a:r>
              <a:rPr lang="en-US" altLang="zh-CN" dirty="0"/>
              <a:t>3.6</a:t>
            </a:r>
            <a:r>
              <a:rPr lang="en-US" altLang="zh-CN" dirty="0">
                <a:sym typeface="Symbol" pitchFamily="18" charset="2"/>
              </a:rPr>
              <a:t>GHz Pentium 4 </a:t>
            </a:r>
            <a:r>
              <a:rPr lang="en-US" altLang="zh-CN" dirty="0"/>
              <a:t>Prescott</a:t>
            </a:r>
            <a:r>
              <a:rPr lang="en-US" altLang="zh-CN" dirty="0">
                <a:sym typeface="Symbol" pitchFamily="18" charset="2"/>
              </a:rPr>
              <a:t>: 225 watt+</a:t>
            </a:r>
          </a:p>
          <a:p>
            <a:pPr lvl="1"/>
            <a:endParaRPr lang="en-US" altLang="zh-CN" dirty="0">
              <a:sym typeface="Symbol" pitchFamily="18" charset="2"/>
            </a:endParaRPr>
          </a:p>
          <a:p>
            <a:r>
              <a:rPr lang="en-US" altLang="zh-CN" dirty="0">
                <a:sym typeface="Symbol" pitchFamily="18" charset="2"/>
              </a:rPr>
              <a:t>Challenges:</a:t>
            </a:r>
          </a:p>
          <a:p>
            <a:pPr lvl="1"/>
            <a:r>
              <a:rPr lang="en-US" altLang="zh-CN" dirty="0">
                <a:sym typeface="Symbol" pitchFamily="18" charset="2"/>
              </a:rPr>
              <a:t>Distributing the power</a:t>
            </a:r>
          </a:p>
          <a:p>
            <a:pPr lvl="1"/>
            <a:r>
              <a:rPr lang="en-US" altLang="zh-CN" dirty="0">
                <a:sym typeface="Symbol" pitchFamily="18" charset="2"/>
              </a:rPr>
              <a:t>Removing the heat</a:t>
            </a:r>
          </a:p>
          <a:p>
            <a:pPr lvl="1"/>
            <a:r>
              <a:rPr lang="en-US" altLang="zh-CN" dirty="0">
                <a:sym typeface="Symbol" pitchFamily="18" charset="2"/>
              </a:rPr>
              <a:t>Preventing hot spot</a:t>
            </a:r>
            <a:endParaRPr lang="en-US" altLang="zh-CN" dirty="0"/>
          </a:p>
        </p:txBody>
      </p:sp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Trends in Power</a:t>
            </a: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PPA(power &amp; performance &amp; area) of a chip</a:t>
            </a:r>
            <a:endParaRPr kumimoji="1" lang="zh-CN" altLang="en-US" dirty="0"/>
          </a:p>
        </p:txBody>
      </p:sp>
      <p:sp>
        <p:nvSpPr>
          <p:cNvPr id="70660" name="Rectangle 4"/>
          <p:cNvSpPr>
            <a:spLocks noChangeArrowheads="1"/>
          </p:cNvSpPr>
          <p:nvPr/>
        </p:nvSpPr>
        <p:spPr bwMode="auto">
          <a:xfrm>
            <a:off x="4989910" y="1004888"/>
            <a:ext cx="301109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l">
              <a:lnSpc>
                <a:spcPct val="80000"/>
              </a:lnSpc>
            </a:pPr>
            <a:r>
              <a:rPr lang="en-US" altLang="zh-CN" sz="2775">
                <a:solidFill>
                  <a:schemeClr val="tx2"/>
                </a:solidFill>
              </a:rPr>
              <a:t>Pentium</a:t>
            </a:r>
            <a:r>
              <a:rPr lang="en-US" altLang="zh-CN" sz="2775">
                <a:solidFill>
                  <a:schemeClr val="tx2"/>
                </a:solidFill>
                <a:latin typeface="Verdana" pitchFamily="34" charset="0"/>
              </a:rPr>
              <a:t>®</a:t>
            </a:r>
            <a:r>
              <a:rPr lang="en-US" altLang="zh-CN" sz="2775">
                <a:solidFill>
                  <a:schemeClr val="tx2"/>
                </a:solidFill>
              </a:rPr>
              <a:t> 4 Processor</a:t>
            </a:r>
          </a:p>
        </p:txBody>
      </p:sp>
      <p:pic>
        <p:nvPicPr>
          <p:cNvPr id="70661" name="Picture 5" descr="P4dielow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123" y="1707356"/>
            <a:ext cx="2174081" cy="2077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2" name="Text Box 6"/>
          <p:cNvSpPr txBox="1">
            <a:spLocks noChangeArrowheads="1"/>
          </p:cNvSpPr>
          <p:nvPr/>
        </p:nvSpPr>
        <p:spPr bwMode="auto">
          <a:xfrm>
            <a:off x="5330428" y="3820717"/>
            <a:ext cx="267057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9pPr>
          </a:lstStyle>
          <a:p>
            <a:pPr algn="l"/>
            <a:r>
              <a:rPr lang="en-US" altLang="zh-CN" sz="1500" b="1">
                <a:latin typeface="Arial" pitchFamily="34" charset="0"/>
              </a:rPr>
              <a:t>August 27, 2003</a:t>
            </a:r>
          </a:p>
          <a:p>
            <a:pPr algn="l"/>
            <a:r>
              <a:rPr lang="en-US" altLang="zh-CN" sz="1500" b="1">
                <a:latin typeface="Arial" pitchFamily="34" charset="0"/>
              </a:rPr>
              <a:t>@3.2 GHz core</a:t>
            </a:r>
          </a:p>
          <a:p>
            <a:pPr algn="l"/>
            <a:r>
              <a:rPr lang="en-US" altLang="zh-CN" sz="1500" b="1">
                <a:latin typeface="Arial" pitchFamily="34" charset="0"/>
              </a:rPr>
              <a:t>55 Million 0.13µ transistors</a:t>
            </a:r>
          </a:p>
          <a:p>
            <a:pPr algn="l"/>
            <a:r>
              <a:rPr lang="en-US" altLang="zh-CN" sz="1500" b="1">
                <a:latin typeface="Arial" pitchFamily="34" charset="0"/>
              </a:rPr>
              <a:t>1249 SPECint2000</a:t>
            </a:r>
          </a:p>
        </p:txBody>
      </p:sp>
      <p:sp>
        <p:nvSpPr>
          <p:cNvPr id="70663" name="Rectangle 7"/>
          <p:cNvSpPr>
            <a:spLocks noChangeArrowheads="1"/>
          </p:cNvSpPr>
          <p:nvPr/>
        </p:nvSpPr>
        <p:spPr bwMode="auto">
          <a:xfrm>
            <a:off x="1277541" y="951310"/>
            <a:ext cx="2882503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9056" tIns="34529" rIns="69056" bIns="34529" anchor="b"/>
          <a:lstStyle/>
          <a:p>
            <a:pPr algn="l"/>
            <a:r>
              <a:rPr lang="en-US" altLang="zh-CN" sz="3075">
                <a:solidFill>
                  <a:schemeClr val="tx2"/>
                </a:solidFill>
              </a:rPr>
              <a:t>386 Processor</a:t>
            </a:r>
          </a:p>
        </p:txBody>
      </p:sp>
      <p:sp>
        <p:nvSpPr>
          <p:cNvPr id="70664" name="Text Box 8"/>
          <p:cNvSpPr txBox="1">
            <a:spLocks noChangeArrowheads="1"/>
          </p:cNvSpPr>
          <p:nvPr/>
        </p:nvSpPr>
        <p:spPr bwMode="auto">
          <a:xfrm>
            <a:off x="1578235" y="3820717"/>
            <a:ext cx="236154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9pPr>
          </a:lstStyle>
          <a:p>
            <a:pPr algn="r"/>
            <a:r>
              <a:rPr lang="en-US" altLang="zh-CN" sz="1500" b="1">
                <a:latin typeface="Arial" pitchFamily="34" charset="0"/>
              </a:rPr>
              <a:t>May 1986</a:t>
            </a:r>
          </a:p>
          <a:p>
            <a:pPr algn="r"/>
            <a:r>
              <a:rPr lang="en-US" altLang="zh-CN" sz="1500" b="1">
                <a:latin typeface="Arial" pitchFamily="34" charset="0"/>
              </a:rPr>
              <a:t>@16 MHz core</a:t>
            </a:r>
          </a:p>
          <a:p>
            <a:pPr algn="r"/>
            <a:r>
              <a:rPr lang="en-US" altLang="zh-CN" sz="1500" b="1">
                <a:latin typeface="Arial" pitchFamily="34" charset="0"/>
              </a:rPr>
              <a:t>275,000 1.5µ transistors</a:t>
            </a:r>
          </a:p>
          <a:p>
            <a:pPr algn="r"/>
            <a:r>
              <a:rPr lang="en-US" altLang="zh-CN" sz="1500" b="1">
                <a:latin typeface="Arial" pitchFamily="34" charset="0"/>
              </a:rPr>
              <a:t>~1.2 SPECint2000</a:t>
            </a:r>
          </a:p>
        </p:txBody>
      </p:sp>
      <p:pic>
        <p:nvPicPr>
          <p:cNvPr id="70665" name="Picture 9" descr="386B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735" y="1703785"/>
            <a:ext cx="2218134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0666" name="Text Box 10"/>
          <p:cNvSpPr txBox="1">
            <a:spLocks noChangeArrowheads="1"/>
          </p:cNvSpPr>
          <p:nvPr/>
        </p:nvSpPr>
        <p:spPr bwMode="auto">
          <a:xfrm>
            <a:off x="3793332" y="3813573"/>
            <a:ext cx="142636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9pPr>
          </a:lstStyle>
          <a:p>
            <a:r>
              <a:rPr lang="en-US" altLang="zh-CN" sz="1500" b="1">
                <a:latin typeface="Arial" pitchFamily="34" charset="0"/>
              </a:rPr>
              <a:t>17 Years</a:t>
            </a:r>
          </a:p>
          <a:p>
            <a:r>
              <a:rPr lang="en-US" altLang="zh-CN" sz="1500" b="1">
                <a:latin typeface="Arial" pitchFamily="34" charset="0"/>
              </a:rPr>
              <a:t>200x</a:t>
            </a:r>
          </a:p>
          <a:p>
            <a:r>
              <a:rPr lang="en-US" altLang="zh-CN" sz="1500" b="1">
                <a:latin typeface="Arial" pitchFamily="34" charset="0"/>
              </a:rPr>
              <a:t>200x/11x</a:t>
            </a:r>
          </a:p>
          <a:p>
            <a:r>
              <a:rPr lang="en-US" altLang="zh-CN" sz="1500" b="1">
                <a:latin typeface="Arial" pitchFamily="34" charset="0"/>
              </a:rPr>
              <a:t>1000x</a:t>
            </a: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PPA(power &amp; performance &amp; area) of a chip</a:t>
            </a:r>
            <a:endParaRPr kumimoji="1" lang="zh-CN" altLang="en-US" dirty="0"/>
          </a:p>
        </p:txBody>
      </p:sp>
      <p:graphicFrame>
        <p:nvGraphicFramePr>
          <p:cNvPr id="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9145770"/>
              </p:ext>
            </p:extLst>
          </p:nvPr>
        </p:nvGraphicFramePr>
        <p:xfrm>
          <a:off x="1331640" y="616074"/>
          <a:ext cx="3409950" cy="2171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5098823"/>
              </p:ext>
            </p:extLst>
          </p:nvPr>
        </p:nvGraphicFramePr>
        <p:xfrm>
          <a:off x="4552950" y="2609850"/>
          <a:ext cx="3409950" cy="2171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1688" name="Text Box 10"/>
          <p:cNvSpPr txBox="1">
            <a:spLocks noChangeArrowheads="1"/>
          </p:cNvSpPr>
          <p:nvPr/>
        </p:nvSpPr>
        <p:spPr bwMode="auto">
          <a:xfrm>
            <a:off x="4951140" y="1206625"/>
            <a:ext cx="24003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>
                <a:latin typeface="Verdana" pitchFamily="34" charset="0"/>
              </a:rPr>
              <a:t>Performance scales with area**0.5</a:t>
            </a:r>
          </a:p>
        </p:txBody>
      </p:sp>
      <p:sp>
        <p:nvSpPr>
          <p:cNvPr id="141323" name="Text Box 11"/>
          <p:cNvSpPr txBox="1">
            <a:spLocks noChangeArrowheads="1"/>
          </p:cNvSpPr>
          <p:nvPr/>
        </p:nvSpPr>
        <p:spPr bwMode="auto">
          <a:xfrm>
            <a:off x="1771650" y="3429001"/>
            <a:ext cx="24574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SimSun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latin typeface="Verdana" pitchFamily="34" charset="0"/>
              </a:rPr>
              <a:t>Power efficiency has dropped</a:t>
            </a: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Dynamic power: power consumption in switching transistors.</a:t>
            </a:r>
          </a:p>
          <a:p>
            <a:pPr lvl="1"/>
            <a:r>
              <a:rPr lang="en-US" altLang="zh-CN" dirty="0"/>
              <a:t>Power dynamic = ½ *Capacitive load * Voltage2 * Frequency switched</a:t>
            </a:r>
          </a:p>
          <a:p>
            <a:pPr lvl="1"/>
            <a:r>
              <a:rPr lang="en-US" altLang="zh-CN" dirty="0"/>
              <a:t>Energy dynamic = Capacitive load * Voltage2 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Static power: power consumption when a transistor is off due to power leakage</a:t>
            </a:r>
          </a:p>
          <a:p>
            <a:pPr lvl="1"/>
            <a:r>
              <a:rPr lang="en-US" altLang="zh-CN" dirty="0"/>
              <a:t>Power static = current static * Voltage</a:t>
            </a:r>
          </a:p>
        </p:txBody>
      </p:sp>
      <p:sp>
        <p:nvSpPr>
          <p:cNvPr id="727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Two concepts</a:t>
            </a: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10% reduction of voltage yields:</a:t>
            </a:r>
          </a:p>
          <a:p>
            <a:pPr lvl="1"/>
            <a:r>
              <a:rPr lang="en-US" altLang="zh-CN" dirty="0"/>
              <a:t>10% reduction in frequency</a:t>
            </a:r>
          </a:p>
          <a:p>
            <a:pPr lvl="1"/>
            <a:r>
              <a:rPr lang="en-US" altLang="zh-CN" dirty="0"/>
              <a:t>30% reduction in power</a:t>
            </a:r>
          </a:p>
          <a:p>
            <a:pPr lvl="1"/>
            <a:r>
              <a:rPr lang="en-US" altLang="zh-CN" dirty="0"/>
              <a:t>Less than 10% reduction in performance</a:t>
            </a:r>
          </a:p>
          <a:p>
            <a:endParaRPr lang="en-US" altLang="zh-CN" dirty="0"/>
          </a:p>
        </p:txBody>
      </p:sp>
      <p:sp>
        <p:nvSpPr>
          <p:cNvPr id="737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Rule of Thumb</a:t>
            </a:r>
          </a:p>
        </p:txBody>
      </p:sp>
      <p:graphicFrame>
        <p:nvGraphicFramePr>
          <p:cNvPr id="144406" name="Group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257649"/>
              </p:ext>
            </p:extLst>
          </p:nvPr>
        </p:nvGraphicFramePr>
        <p:xfrm>
          <a:off x="1600200" y="3302125"/>
          <a:ext cx="6075761" cy="1097757"/>
        </p:xfrm>
        <a:graphic>
          <a:graphicData uri="http://schemas.openxmlformats.org/drawingml/2006/table">
            <a:tbl>
              <a:tblPr/>
              <a:tblGrid>
                <a:gridCol w="1519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9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95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89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Voltage </a:t>
                      </a:r>
                    </a:p>
                  </a:txBody>
                  <a:tcPr marL="68580" marR="68580" marT="34305" marB="343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Frequency</a:t>
                      </a:r>
                    </a:p>
                  </a:txBody>
                  <a:tcPr marL="68580" marR="68580" marT="34305" marB="343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Power </a:t>
                      </a:r>
                    </a:p>
                  </a:txBody>
                  <a:tcPr marL="68580" marR="68580" marT="34305" marB="343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Performance</a:t>
                      </a:r>
                    </a:p>
                  </a:txBody>
                  <a:tcPr marL="68580" marR="68580" marT="34305" marB="343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78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1%</a:t>
                      </a:r>
                    </a:p>
                  </a:txBody>
                  <a:tcPr marL="68580" marR="68580" marT="34305" marB="343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1%</a:t>
                      </a:r>
                    </a:p>
                  </a:txBody>
                  <a:tcPr marL="68580" marR="68580" marT="34305" marB="343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3%</a:t>
                      </a:r>
                    </a:p>
                  </a:txBody>
                  <a:tcPr marL="68580" marR="68580" marT="34305" marB="343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0.66%</a:t>
                      </a:r>
                    </a:p>
                  </a:txBody>
                  <a:tcPr marL="68580" marR="68580" marT="34305" marB="343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4405" name="Text Box 21"/>
          <p:cNvSpPr txBox="1">
            <a:spLocks noChangeArrowheads="1"/>
          </p:cNvSpPr>
          <p:nvPr/>
        </p:nvSpPr>
        <p:spPr bwMode="auto">
          <a:xfrm>
            <a:off x="1314450" y="2787774"/>
            <a:ext cx="2557463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en-US" altLang="zh-CN" sz="1500" b="1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Rule of Thumb</a:t>
            </a: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445" name="Group 3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1620047"/>
              </p:ext>
            </p:extLst>
          </p:nvPr>
        </p:nvGraphicFramePr>
        <p:xfrm>
          <a:off x="3815916" y="1041786"/>
          <a:ext cx="3780235" cy="894330"/>
        </p:xfrm>
        <a:graphic>
          <a:graphicData uri="http://schemas.openxmlformats.org/drawingml/2006/table">
            <a:tbl>
              <a:tblPr/>
              <a:tblGrid>
                <a:gridCol w="120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470">
                <a:tc>
                  <a:txBody>
                    <a:bodyPr/>
                    <a:lstStyle/>
                    <a:p>
                      <a:pPr marL="0" marR="0" lvl="0" indent="0" algn="ctr" defTabSz="85725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Frequency</a:t>
                      </a:r>
                    </a:p>
                    <a:p>
                      <a:pPr marL="0" marR="0" lvl="0" indent="0" algn="ctr" defTabSz="85725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Reduction</a:t>
                      </a:r>
                    </a:p>
                  </a:txBody>
                  <a:tcPr marL="64274" marR="64274" marT="32130" marB="32130" anchor="ctr" horzOverflow="overflow">
                    <a:lnL w="38100" cap="flat" cmpd="sng" algn="ctr">
                      <a:solidFill>
                        <a:srgbClr val="9AB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AB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AB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AB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75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725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Power</a:t>
                      </a:r>
                    </a:p>
                    <a:p>
                      <a:pPr marL="0" marR="0" lvl="0" indent="0" algn="ctr" defTabSz="85725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Reduction</a:t>
                      </a:r>
                    </a:p>
                  </a:txBody>
                  <a:tcPr marL="64274" marR="64274" marT="32130" marB="32130" anchor="ctr" horzOverflow="overflow">
                    <a:lnL w="38100" cap="flat" cmpd="sng" algn="ctr">
                      <a:solidFill>
                        <a:srgbClr val="9AB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AB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AB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AB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75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725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Performance</a:t>
                      </a:r>
                    </a:p>
                    <a:p>
                      <a:pPr marL="0" marR="0" lvl="0" indent="0" algn="ctr" defTabSz="85725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Reduction</a:t>
                      </a:r>
                    </a:p>
                  </a:txBody>
                  <a:tcPr marL="64274" marR="64274" marT="32130" marB="32130" anchor="ctr" horzOverflow="overflow">
                    <a:lnL w="38100" cap="flat" cmpd="sng" algn="ctr">
                      <a:solidFill>
                        <a:srgbClr val="9AB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AB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AB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AB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759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860">
                <a:tc>
                  <a:txBody>
                    <a:bodyPr/>
                    <a:lstStyle/>
                    <a:p>
                      <a:pPr marL="0" marR="0" lvl="0" indent="0" algn="ctr" defTabSz="85725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15%</a:t>
                      </a:r>
                    </a:p>
                  </a:txBody>
                  <a:tcPr marL="64274" marR="64274" marT="32130" marB="32130" anchor="ctr" horzOverflow="overflow">
                    <a:lnL w="38100" cap="flat" cmpd="sng" algn="ctr">
                      <a:solidFill>
                        <a:srgbClr val="9AB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AB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AB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AB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75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725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45%</a:t>
                      </a:r>
                    </a:p>
                  </a:txBody>
                  <a:tcPr marL="64274" marR="64274" marT="32130" marB="32130" anchor="ctr" horzOverflow="overflow">
                    <a:lnL w="38100" cap="flat" cmpd="sng" algn="ctr">
                      <a:solidFill>
                        <a:srgbClr val="9AB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AB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AB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AB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75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725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10%</a:t>
                      </a:r>
                    </a:p>
                  </a:txBody>
                  <a:tcPr marL="64274" marR="64274" marT="32130" marB="32130" anchor="ctr" horzOverflow="overflow">
                    <a:lnL w="38100" cap="flat" cmpd="sng" algn="ctr">
                      <a:solidFill>
                        <a:srgbClr val="9AB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AB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AB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AB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>
                        <a:alpha val="759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Dual core with voltage scaling</a:t>
            </a:r>
            <a:endParaRPr kumimoji="1" lang="zh-CN" altLang="en-US" dirty="0"/>
          </a:p>
        </p:txBody>
      </p:sp>
      <p:sp>
        <p:nvSpPr>
          <p:cNvPr id="145412" name="Oval 4"/>
          <p:cNvSpPr>
            <a:spLocks noChangeArrowheads="1"/>
          </p:cNvSpPr>
          <p:nvPr/>
        </p:nvSpPr>
        <p:spPr bwMode="auto">
          <a:xfrm>
            <a:off x="1143000" y="1790700"/>
            <a:ext cx="6858000" cy="790575"/>
          </a:xfrm>
          <a:prstGeom prst="ellipse">
            <a:avLst/>
          </a:prstGeom>
          <a:gradFill rotWithShape="1">
            <a:gsLst>
              <a:gs pos="0">
                <a:schemeClr val="bg2">
                  <a:alpha val="50000"/>
                </a:schemeClr>
              </a:gs>
              <a:gs pos="100000">
                <a:schemeClr val="bg2">
                  <a:gamma/>
                  <a:tint val="0"/>
                  <a:invGamma/>
                  <a:alpha val="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44450" algn="ctr">
                <a:solidFill>
                  <a:srgbClr val="FFFF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74757" name="AutoShape 5"/>
          <p:cNvSpPr>
            <a:spLocks noChangeArrowheads="1"/>
          </p:cNvSpPr>
          <p:nvPr/>
        </p:nvSpPr>
        <p:spPr bwMode="auto">
          <a:xfrm>
            <a:off x="2278856" y="2345606"/>
            <a:ext cx="4724400" cy="2332434"/>
          </a:xfrm>
          <a:prstGeom prst="roundRect">
            <a:avLst>
              <a:gd name="adj" fmla="val 22398"/>
            </a:avLst>
          </a:prstGeom>
          <a:gradFill rotWithShape="1">
            <a:gsLst>
              <a:gs pos="0">
                <a:srgbClr val="283A56"/>
              </a:gs>
              <a:gs pos="100000">
                <a:srgbClr val="567EB9"/>
              </a:gs>
            </a:gsLst>
            <a:lin ang="5400000" scaled="1"/>
          </a:gradFill>
          <a:ln w="44450" algn="ctr">
            <a:solidFill>
              <a:srgbClr val="9AB2D6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59" name="AutoShape 7"/>
          <p:cNvSpPr>
            <a:spLocks noChangeArrowheads="1"/>
          </p:cNvSpPr>
          <p:nvPr/>
        </p:nvSpPr>
        <p:spPr bwMode="auto">
          <a:xfrm>
            <a:off x="4981575" y="2408709"/>
            <a:ext cx="1695450" cy="2199085"/>
          </a:xfrm>
          <a:prstGeom prst="roundRect">
            <a:avLst>
              <a:gd name="adj" fmla="val 5468"/>
            </a:avLst>
          </a:prstGeom>
          <a:solidFill>
            <a:schemeClr val="bg2">
              <a:alpha val="23137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2225" algn="ctr">
                <a:solidFill>
                  <a:schemeClr val="fol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60" name="AutoShape 8"/>
          <p:cNvSpPr>
            <a:spLocks noChangeArrowheads="1"/>
          </p:cNvSpPr>
          <p:nvPr/>
        </p:nvSpPr>
        <p:spPr bwMode="auto">
          <a:xfrm>
            <a:off x="2638425" y="2427759"/>
            <a:ext cx="1695450" cy="2199085"/>
          </a:xfrm>
          <a:prstGeom prst="roundRect">
            <a:avLst>
              <a:gd name="adj" fmla="val 5468"/>
            </a:avLst>
          </a:prstGeom>
          <a:solidFill>
            <a:schemeClr val="bg2">
              <a:alpha val="23137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2225" algn="ctr">
                <a:solidFill>
                  <a:schemeClr val="folHlink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18" name="Text Box 10"/>
          <p:cNvSpPr txBox="1">
            <a:spLocks noChangeArrowheads="1"/>
          </p:cNvSpPr>
          <p:nvPr/>
        </p:nvSpPr>
        <p:spPr bwMode="auto">
          <a:xfrm>
            <a:off x="2876550" y="3433837"/>
            <a:ext cx="1275160" cy="1133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15000"/>
              </a:lnSpc>
              <a:defRPr/>
            </a:pPr>
            <a:r>
              <a:rPr lang="en-US" altLang="zh-CN" sz="12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Area      = 1</a:t>
            </a:r>
          </a:p>
          <a:p>
            <a:pPr algn="l">
              <a:lnSpc>
                <a:spcPct val="115000"/>
              </a:lnSpc>
              <a:defRPr/>
            </a:pPr>
            <a:r>
              <a:rPr lang="en-US" altLang="zh-CN" sz="12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Voltage = 1</a:t>
            </a:r>
          </a:p>
          <a:p>
            <a:pPr algn="l">
              <a:lnSpc>
                <a:spcPct val="115000"/>
              </a:lnSpc>
              <a:defRPr/>
            </a:pPr>
            <a:r>
              <a:rPr lang="en-US" altLang="zh-CN" sz="12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Freq      = 1</a:t>
            </a:r>
          </a:p>
          <a:p>
            <a:pPr algn="l">
              <a:lnSpc>
                <a:spcPct val="115000"/>
              </a:lnSpc>
              <a:defRPr/>
            </a:pPr>
            <a:r>
              <a:rPr lang="en-US" altLang="zh-CN" sz="12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Power   = 1</a:t>
            </a:r>
          </a:p>
          <a:p>
            <a:pPr algn="l">
              <a:lnSpc>
                <a:spcPct val="115000"/>
              </a:lnSpc>
              <a:defRPr/>
            </a:pPr>
            <a:r>
              <a:rPr lang="en-US" altLang="zh-CN" sz="12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Perf       = 1</a:t>
            </a:r>
          </a:p>
        </p:txBody>
      </p:sp>
      <p:sp>
        <p:nvSpPr>
          <p:cNvPr id="145419" name="Text Box 11"/>
          <p:cNvSpPr txBox="1">
            <a:spLocks noChangeArrowheads="1"/>
          </p:cNvSpPr>
          <p:nvPr/>
        </p:nvSpPr>
        <p:spPr bwMode="auto">
          <a:xfrm>
            <a:off x="5042298" y="3461221"/>
            <a:ext cx="1758553" cy="1133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15000"/>
              </a:lnSpc>
              <a:defRPr/>
            </a:pPr>
            <a:r>
              <a:rPr lang="en-US" altLang="zh-CN" sz="12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pitchFamily="34" charset="0"/>
              </a:rPr>
              <a:t>Area      =  2</a:t>
            </a:r>
          </a:p>
          <a:p>
            <a:pPr algn="l">
              <a:lnSpc>
                <a:spcPct val="115000"/>
              </a:lnSpc>
              <a:defRPr/>
            </a:pPr>
            <a:r>
              <a:rPr lang="en-US" altLang="zh-CN" sz="12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pitchFamily="34" charset="0"/>
              </a:rPr>
              <a:t>Voltage =  0.85</a:t>
            </a:r>
          </a:p>
          <a:p>
            <a:pPr algn="l">
              <a:lnSpc>
                <a:spcPct val="115000"/>
              </a:lnSpc>
              <a:defRPr/>
            </a:pPr>
            <a:r>
              <a:rPr lang="en-US" altLang="zh-CN" sz="12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pitchFamily="34" charset="0"/>
              </a:rPr>
              <a:t>Freq      =  0.85</a:t>
            </a:r>
          </a:p>
          <a:p>
            <a:pPr algn="l">
              <a:lnSpc>
                <a:spcPct val="115000"/>
              </a:lnSpc>
              <a:defRPr/>
            </a:pPr>
            <a:r>
              <a:rPr lang="en-US" altLang="zh-CN" sz="12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pitchFamily="34" charset="0"/>
              </a:rPr>
              <a:t>Power   =  1</a:t>
            </a:r>
          </a:p>
          <a:p>
            <a:pPr algn="l">
              <a:lnSpc>
                <a:spcPct val="115000"/>
              </a:lnSpc>
              <a:defRPr/>
            </a:pPr>
            <a:r>
              <a:rPr lang="en-US" altLang="zh-CN" sz="1200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pitchFamily="34" charset="0"/>
              </a:rPr>
              <a:t>Perf       =  ~1.8</a:t>
            </a:r>
          </a:p>
        </p:txBody>
      </p:sp>
      <p:sp>
        <p:nvSpPr>
          <p:cNvPr id="74778" name="AutoShape 26"/>
          <p:cNvSpPr>
            <a:spLocks noChangeArrowheads="1"/>
          </p:cNvSpPr>
          <p:nvPr/>
        </p:nvSpPr>
        <p:spPr bwMode="auto">
          <a:xfrm>
            <a:off x="2831306" y="1199034"/>
            <a:ext cx="895350" cy="751285"/>
          </a:xfrm>
          <a:prstGeom prst="rightArrow">
            <a:avLst>
              <a:gd name="adj1" fmla="val 49972"/>
              <a:gd name="adj2" fmla="val 48548"/>
            </a:avLst>
          </a:prstGeom>
          <a:gradFill rotWithShape="1">
            <a:gsLst>
              <a:gs pos="0">
                <a:srgbClr val="5E646C">
                  <a:alpha val="0"/>
                </a:srgbClr>
              </a:gs>
              <a:gs pos="100000">
                <a:srgbClr val="CCD8EA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44450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35" name="AutoShape 27"/>
          <p:cNvSpPr>
            <a:spLocks noChangeArrowheads="1"/>
          </p:cNvSpPr>
          <p:nvPr/>
        </p:nvSpPr>
        <p:spPr bwMode="auto">
          <a:xfrm>
            <a:off x="1818085" y="1059731"/>
            <a:ext cx="1152525" cy="939403"/>
          </a:xfrm>
          <a:prstGeom prst="roundRect">
            <a:avLst>
              <a:gd name="adj" fmla="val 16667"/>
            </a:avLst>
          </a:prstGeom>
          <a:solidFill>
            <a:schemeClr val="hlink">
              <a:alpha val="75999"/>
            </a:schemeClr>
          </a:solidFill>
          <a:ln w="38100" algn="ctr">
            <a:solidFill>
              <a:srgbClr val="9AB2D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274" tIns="32138" rIns="64274" bIns="32138" anchor="ctr"/>
          <a:lstStyle/>
          <a:p>
            <a:pPr defTabSz="642938">
              <a:spcBef>
                <a:spcPct val="35000"/>
              </a:spcBef>
              <a:defRPr/>
            </a:pPr>
            <a:r>
              <a:rPr lang="en-US" altLang="zh-CN" sz="1050" b="1">
                <a:effectLst>
                  <a:outerShdw blurRad="38100" dist="38100" dir="2700000" algn="tl">
                    <a:srgbClr val="FFFFFF"/>
                  </a:outerShdw>
                </a:effectLst>
                <a:latin typeface="Verdana" pitchFamily="34" charset="0"/>
                <a:cs typeface="Arial" pitchFamily="34" charset="0"/>
              </a:rPr>
              <a:t>A 15% </a:t>
            </a:r>
          </a:p>
          <a:p>
            <a:pPr defTabSz="642938">
              <a:spcBef>
                <a:spcPct val="35000"/>
              </a:spcBef>
              <a:defRPr/>
            </a:pPr>
            <a:r>
              <a:rPr lang="en-US" altLang="zh-CN" sz="1050" b="1">
                <a:effectLst>
                  <a:outerShdw blurRad="38100" dist="38100" dir="2700000" algn="tl">
                    <a:srgbClr val="FFFFFF"/>
                  </a:outerShdw>
                </a:effectLst>
                <a:latin typeface="Verdana" pitchFamily="34" charset="0"/>
                <a:cs typeface="Arial" pitchFamily="34" charset="0"/>
              </a:rPr>
              <a:t>Reduction</a:t>
            </a:r>
          </a:p>
          <a:p>
            <a:pPr defTabSz="642938">
              <a:spcBef>
                <a:spcPct val="35000"/>
              </a:spcBef>
              <a:defRPr/>
            </a:pPr>
            <a:r>
              <a:rPr lang="en-US" altLang="zh-CN" sz="1050" b="1">
                <a:effectLst>
                  <a:outerShdw blurRad="38100" dist="38100" dir="2700000" algn="tl">
                    <a:srgbClr val="FFFFFF"/>
                  </a:outerShdw>
                </a:effectLst>
                <a:latin typeface="Verdana" pitchFamily="34" charset="0"/>
                <a:cs typeface="Arial" pitchFamily="34" charset="0"/>
              </a:rPr>
              <a:t>In Voltage</a:t>
            </a:r>
          </a:p>
          <a:p>
            <a:pPr defTabSz="642938">
              <a:spcBef>
                <a:spcPct val="35000"/>
              </a:spcBef>
              <a:defRPr/>
            </a:pPr>
            <a:r>
              <a:rPr lang="en-US" altLang="zh-CN" sz="1050" b="1">
                <a:effectLst>
                  <a:outerShdw blurRad="38100" dist="38100" dir="2700000" algn="tl">
                    <a:srgbClr val="FFFFFF"/>
                  </a:outerShdw>
                </a:effectLst>
                <a:latin typeface="Verdana" pitchFamily="34" charset="0"/>
                <a:cs typeface="Arial" pitchFamily="34" charset="0"/>
              </a:rPr>
              <a:t>Yields</a:t>
            </a:r>
          </a:p>
        </p:txBody>
      </p:sp>
      <p:pic>
        <p:nvPicPr>
          <p:cNvPr id="74780" name="Picture 28" descr="Die shot of the Intel® Pentium® M Processor (formerly codenamed Banias), part of Intel® Centrino™ Mobile Technology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594" y="2750419"/>
            <a:ext cx="508397" cy="677465"/>
          </a:xfrm>
          <a:prstGeom prst="rect">
            <a:avLst/>
          </a:prstGeom>
          <a:noFill/>
          <a:ln w="9525">
            <a:solidFill>
              <a:srgbClr val="567EB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4781" name="Group 29"/>
          <p:cNvGrpSpPr>
            <a:grpSpLocks/>
          </p:cNvGrpSpPr>
          <p:nvPr/>
        </p:nvGrpSpPr>
        <p:grpSpPr bwMode="auto">
          <a:xfrm>
            <a:off x="5322094" y="2750419"/>
            <a:ext cx="1013222" cy="677465"/>
            <a:chOff x="3094" y="2128"/>
            <a:chExt cx="851" cy="569"/>
          </a:xfrm>
        </p:grpSpPr>
        <p:pic>
          <p:nvPicPr>
            <p:cNvPr id="74786" name="Picture 30" descr="Die shot of the Intel® Pentium® M Processor (formerly codenamed Banias), part of Intel® Centrino™ Mobile Technology">
              <a:hlinkClick r:id="rId2"/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094" y="2128"/>
              <a:ext cx="427" cy="569"/>
            </a:xfrm>
            <a:prstGeom prst="rect">
              <a:avLst/>
            </a:prstGeom>
            <a:noFill/>
            <a:ln w="9525">
              <a:solidFill>
                <a:srgbClr val="33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4787" name="Picture 31" descr="Die shot of the Intel® Pentium® M Processor (formerly codenamed Banias), part of Intel® Centrino™ Mobile Technology">
              <a:hlinkClick r:id="rId2"/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518" y="2128"/>
              <a:ext cx="427" cy="569"/>
            </a:xfrm>
            <a:prstGeom prst="rect">
              <a:avLst/>
            </a:prstGeom>
            <a:noFill/>
            <a:ln w="9525">
              <a:solidFill>
                <a:srgbClr val="33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4782" name="AutoShape 32"/>
          <p:cNvSpPr>
            <a:spLocks noChangeArrowheads="1"/>
          </p:cNvSpPr>
          <p:nvPr/>
        </p:nvSpPr>
        <p:spPr bwMode="auto">
          <a:xfrm>
            <a:off x="4183856" y="2713509"/>
            <a:ext cx="895350" cy="751285"/>
          </a:xfrm>
          <a:prstGeom prst="rightArrow">
            <a:avLst>
              <a:gd name="adj1" fmla="val 49972"/>
              <a:gd name="adj2" fmla="val 48548"/>
            </a:avLst>
          </a:prstGeom>
          <a:gradFill rotWithShape="1">
            <a:gsLst>
              <a:gs pos="0">
                <a:srgbClr val="5E646C">
                  <a:alpha val="0"/>
                </a:srgbClr>
              </a:gs>
              <a:gs pos="100000">
                <a:srgbClr val="CCD8EA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44450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41" name="Text Box 33"/>
          <p:cNvSpPr txBox="1">
            <a:spLocks noChangeArrowheads="1"/>
          </p:cNvSpPr>
          <p:nvPr/>
        </p:nvSpPr>
        <p:spPr bwMode="auto">
          <a:xfrm>
            <a:off x="2504656" y="2422996"/>
            <a:ext cx="19415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4450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pitchFamily="34" charset="0"/>
              </a:rPr>
              <a:t>SINGLE CORE</a:t>
            </a:r>
          </a:p>
        </p:txBody>
      </p:sp>
      <p:sp>
        <p:nvSpPr>
          <p:cNvPr id="145442" name="Text Box 34"/>
          <p:cNvSpPr txBox="1">
            <a:spLocks noChangeArrowheads="1"/>
          </p:cNvSpPr>
          <p:nvPr/>
        </p:nvSpPr>
        <p:spPr bwMode="auto">
          <a:xfrm>
            <a:off x="4989808" y="2422996"/>
            <a:ext cx="16706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4450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pitchFamily="34" charset="0"/>
              </a:rPr>
              <a:t>DUAL CORE</a:t>
            </a:r>
          </a:p>
        </p:txBody>
      </p:sp>
      <p:sp>
        <p:nvSpPr>
          <p:cNvPr id="145443" name="Text Box 35"/>
          <p:cNvSpPr txBox="1">
            <a:spLocks noChangeArrowheads="1"/>
          </p:cNvSpPr>
          <p:nvPr/>
        </p:nvSpPr>
        <p:spPr bwMode="auto">
          <a:xfrm>
            <a:off x="3359407" y="627534"/>
            <a:ext cx="22942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44450" algn="ctr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Arial" pitchFamily="34" charset="0"/>
              </a:rPr>
              <a:t>RULE OF THUMB</a:t>
            </a: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17" name="Rectangle 4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1800" dirty="0"/>
              <a:t>Multiple cores deliver more performance per watt</a:t>
            </a:r>
          </a:p>
        </p:txBody>
      </p:sp>
      <p:sp>
        <p:nvSpPr>
          <p:cNvPr id="75780" name="Rectangle 3"/>
          <p:cNvSpPr>
            <a:spLocks noChangeArrowheads="1"/>
          </p:cNvSpPr>
          <p:nvPr/>
        </p:nvSpPr>
        <p:spPr bwMode="auto">
          <a:xfrm>
            <a:off x="5838825" y="1863328"/>
            <a:ext cx="1168004" cy="1060847"/>
          </a:xfrm>
          <a:prstGeom prst="rect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36" name="Rectangle 4"/>
          <p:cNvSpPr>
            <a:spLocks noChangeArrowheads="1"/>
          </p:cNvSpPr>
          <p:nvPr/>
        </p:nvSpPr>
        <p:spPr bwMode="auto">
          <a:xfrm>
            <a:off x="5903119" y="1916907"/>
            <a:ext cx="1050131" cy="975122"/>
          </a:xfrm>
          <a:prstGeom prst="rect">
            <a:avLst/>
          </a:prstGeom>
          <a:solidFill>
            <a:srgbClr val="FF6600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zh-CN" sz="1500" b="1">
              <a:effectLst>
                <a:outerShdw blurRad="38100" dist="38100" dir="2700000" algn="tl">
                  <a:srgbClr val="FFFFFF"/>
                </a:outerShdw>
              </a:effectLst>
              <a:latin typeface="Arial" pitchFamily="34" charset="0"/>
            </a:endParaRPr>
          </a:p>
        </p:txBody>
      </p:sp>
      <p:sp>
        <p:nvSpPr>
          <p:cNvPr id="75782" name="Rectangle 5"/>
          <p:cNvSpPr>
            <a:spLocks noChangeArrowheads="1"/>
          </p:cNvSpPr>
          <p:nvPr/>
        </p:nvSpPr>
        <p:spPr bwMode="auto">
          <a:xfrm>
            <a:off x="849016" y="771550"/>
            <a:ext cx="2293144" cy="1907381"/>
          </a:xfrm>
          <a:prstGeom prst="rect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83" name="Rectangle 6"/>
          <p:cNvSpPr>
            <a:spLocks noChangeArrowheads="1"/>
          </p:cNvSpPr>
          <p:nvPr/>
        </p:nvSpPr>
        <p:spPr bwMode="auto">
          <a:xfrm>
            <a:off x="827584" y="2889672"/>
            <a:ext cx="2293144" cy="1907381"/>
          </a:xfrm>
          <a:prstGeom prst="rect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39" name="Rectangle 7"/>
          <p:cNvSpPr>
            <a:spLocks noChangeArrowheads="1"/>
          </p:cNvSpPr>
          <p:nvPr/>
        </p:nvSpPr>
        <p:spPr bwMode="auto">
          <a:xfrm>
            <a:off x="956172" y="2961109"/>
            <a:ext cx="867965" cy="750094"/>
          </a:xfrm>
          <a:prstGeom prst="rect">
            <a:avLst/>
          </a:prstGeom>
          <a:solidFill>
            <a:srgbClr val="339966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altLang="zh-CN" sz="1500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C1</a:t>
            </a:r>
          </a:p>
        </p:txBody>
      </p:sp>
      <p:sp>
        <p:nvSpPr>
          <p:cNvPr id="146440" name="Rectangle 8"/>
          <p:cNvSpPr>
            <a:spLocks noChangeArrowheads="1"/>
          </p:cNvSpPr>
          <p:nvPr/>
        </p:nvSpPr>
        <p:spPr bwMode="auto">
          <a:xfrm>
            <a:off x="2184897" y="3946947"/>
            <a:ext cx="867965" cy="750094"/>
          </a:xfrm>
          <a:prstGeom prst="rect">
            <a:avLst/>
          </a:prstGeom>
          <a:solidFill>
            <a:srgbClr val="339966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altLang="zh-CN" sz="1500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C4</a:t>
            </a:r>
          </a:p>
        </p:txBody>
      </p:sp>
      <p:sp>
        <p:nvSpPr>
          <p:cNvPr id="146441" name="Rectangle 9"/>
          <p:cNvSpPr>
            <a:spLocks noChangeArrowheads="1"/>
          </p:cNvSpPr>
          <p:nvPr/>
        </p:nvSpPr>
        <p:spPr bwMode="auto">
          <a:xfrm>
            <a:off x="2163466" y="2961109"/>
            <a:ext cx="867965" cy="750094"/>
          </a:xfrm>
          <a:prstGeom prst="rect">
            <a:avLst/>
          </a:prstGeom>
          <a:solidFill>
            <a:srgbClr val="339966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altLang="zh-CN" sz="1500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C2</a:t>
            </a:r>
          </a:p>
        </p:txBody>
      </p:sp>
      <p:sp>
        <p:nvSpPr>
          <p:cNvPr id="146442" name="Rectangle 10"/>
          <p:cNvSpPr>
            <a:spLocks noChangeArrowheads="1"/>
          </p:cNvSpPr>
          <p:nvPr/>
        </p:nvSpPr>
        <p:spPr bwMode="auto">
          <a:xfrm>
            <a:off x="956172" y="3946947"/>
            <a:ext cx="867965" cy="750094"/>
          </a:xfrm>
          <a:prstGeom prst="rect">
            <a:avLst/>
          </a:prstGeom>
          <a:solidFill>
            <a:srgbClr val="339966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altLang="zh-CN" sz="1500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C3</a:t>
            </a:r>
          </a:p>
        </p:txBody>
      </p:sp>
      <p:sp>
        <p:nvSpPr>
          <p:cNvPr id="146443" name="Rectangle 11"/>
          <p:cNvSpPr>
            <a:spLocks noChangeArrowheads="1"/>
          </p:cNvSpPr>
          <p:nvPr/>
        </p:nvSpPr>
        <p:spPr bwMode="auto">
          <a:xfrm>
            <a:off x="5892404" y="2141935"/>
            <a:ext cx="867965" cy="750094"/>
          </a:xfrm>
          <a:prstGeom prst="rect">
            <a:avLst/>
          </a:prstGeom>
          <a:solidFill>
            <a:srgbClr val="339966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altLang="zh-CN" sz="15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Small</a:t>
            </a:r>
          </a:p>
          <a:p>
            <a:pPr>
              <a:defRPr/>
            </a:pPr>
            <a:r>
              <a:rPr lang="en-US" altLang="zh-CN" sz="15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 core</a:t>
            </a:r>
          </a:p>
        </p:txBody>
      </p:sp>
      <p:sp>
        <p:nvSpPr>
          <p:cNvPr id="75789" name="Rectangle 12"/>
          <p:cNvSpPr>
            <a:spLocks noChangeArrowheads="1"/>
          </p:cNvSpPr>
          <p:nvPr/>
        </p:nvSpPr>
        <p:spPr bwMode="auto">
          <a:xfrm>
            <a:off x="838299" y="1925266"/>
            <a:ext cx="867966" cy="750094"/>
          </a:xfrm>
          <a:prstGeom prst="rect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90" name="Rectangle 13"/>
          <p:cNvSpPr>
            <a:spLocks noChangeArrowheads="1"/>
          </p:cNvSpPr>
          <p:nvPr/>
        </p:nvSpPr>
        <p:spPr bwMode="auto">
          <a:xfrm>
            <a:off x="1724124" y="1932409"/>
            <a:ext cx="867966" cy="750094"/>
          </a:xfrm>
          <a:prstGeom prst="rect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91" name="Rectangle 14"/>
          <p:cNvSpPr>
            <a:spLocks noChangeArrowheads="1"/>
          </p:cNvSpPr>
          <p:nvPr/>
        </p:nvSpPr>
        <p:spPr bwMode="auto">
          <a:xfrm>
            <a:off x="838299" y="1153741"/>
            <a:ext cx="867966" cy="750094"/>
          </a:xfrm>
          <a:prstGeom prst="rect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92" name="Rectangle 15"/>
          <p:cNvSpPr>
            <a:spLocks noChangeArrowheads="1"/>
          </p:cNvSpPr>
          <p:nvPr/>
        </p:nvSpPr>
        <p:spPr bwMode="auto">
          <a:xfrm>
            <a:off x="1716981" y="1153741"/>
            <a:ext cx="867966" cy="750094"/>
          </a:xfrm>
          <a:prstGeom prst="rect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48" name="Rectangle 16"/>
          <p:cNvSpPr>
            <a:spLocks noChangeArrowheads="1"/>
          </p:cNvSpPr>
          <p:nvPr/>
        </p:nvSpPr>
        <p:spPr bwMode="auto">
          <a:xfrm>
            <a:off x="841872" y="1178744"/>
            <a:ext cx="1735931" cy="1489472"/>
          </a:xfrm>
          <a:prstGeom prst="rect">
            <a:avLst/>
          </a:prstGeom>
          <a:solidFill>
            <a:srgbClr val="339966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altLang="zh-CN" sz="1500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Big core</a:t>
            </a:r>
          </a:p>
        </p:txBody>
      </p:sp>
      <p:sp>
        <p:nvSpPr>
          <p:cNvPr id="146449" name="Rectangle 17"/>
          <p:cNvSpPr>
            <a:spLocks noChangeArrowheads="1"/>
          </p:cNvSpPr>
          <p:nvPr/>
        </p:nvSpPr>
        <p:spPr bwMode="auto">
          <a:xfrm>
            <a:off x="906166" y="803696"/>
            <a:ext cx="2164556" cy="300038"/>
          </a:xfrm>
          <a:prstGeom prst="rect">
            <a:avLst/>
          </a:prstGeom>
          <a:solidFill>
            <a:srgbClr val="FF6600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altLang="zh-CN" sz="1500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Cache</a:t>
            </a:r>
          </a:p>
        </p:txBody>
      </p:sp>
      <p:sp>
        <p:nvSpPr>
          <p:cNvPr id="75795" name="Rectangle 18"/>
          <p:cNvSpPr>
            <a:spLocks noChangeArrowheads="1"/>
          </p:cNvSpPr>
          <p:nvPr/>
        </p:nvSpPr>
        <p:spPr bwMode="auto">
          <a:xfrm>
            <a:off x="2599234" y="1114450"/>
            <a:ext cx="471488" cy="1532335"/>
          </a:xfrm>
          <a:prstGeom prst="rect">
            <a:avLst/>
          </a:prstGeom>
          <a:solidFill>
            <a:srgbClr val="FF6600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796" name="Rectangle 19"/>
          <p:cNvSpPr>
            <a:spLocks noChangeArrowheads="1"/>
          </p:cNvSpPr>
          <p:nvPr/>
        </p:nvSpPr>
        <p:spPr bwMode="auto">
          <a:xfrm>
            <a:off x="1924150" y="3021831"/>
            <a:ext cx="160735" cy="1735931"/>
          </a:xfrm>
          <a:prstGeom prst="rect">
            <a:avLst/>
          </a:prstGeom>
          <a:solidFill>
            <a:srgbClr val="FF6600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52" name="Rectangle 20"/>
          <p:cNvSpPr>
            <a:spLocks noChangeArrowheads="1"/>
          </p:cNvSpPr>
          <p:nvPr/>
        </p:nvSpPr>
        <p:spPr bwMode="auto">
          <a:xfrm>
            <a:off x="1024037" y="3739778"/>
            <a:ext cx="2057400" cy="160734"/>
          </a:xfrm>
          <a:prstGeom prst="rect">
            <a:avLst/>
          </a:prstGeom>
          <a:solidFill>
            <a:srgbClr val="FF6600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altLang="zh-CN" sz="1500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Cache</a:t>
            </a:r>
          </a:p>
        </p:txBody>
      </p:sp>
      <p:sp>
        <p:nvSpPr>
          <p:cNvPr id="146453" name="Rectangle 21"/>
          <p:cNvSpPr>
            <a:spLocks noChangeArrowheads="1"/>
          </p:cNvSpPr>
          <p:nvPr/>
        </p:nvSpPr>
        <p:spPr bwMode="auto">
          <a:xfrm>
            <a:off x="3392191" y="2271737"/>
            <a:ext cx="321469" cy="375047"/>
          </a:xfrm>
          <a:prstGeom prst="rect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altLang="zh-CN" sz="1500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1</a:t>
            </a:r>
          </a:p>
        </p:txBody>
      </p:sp>
      <p:sp>
        <p:nvSpPr>
          <p:cNvPr id="146454" name="Rectangle 22"/>
          <p:cNvSpPr>
            <a:spLocks noChangeArrowheads="1"/>
          </p:cNvSpPr>
          <p:nvPr/>
        </p:nvSpPr>
        <p:spPr bwMode="auto">
          <a:xfrm>
            <a:off x="3392191" y="1896690"/>
            <a:ext cx="321469" cy="375047"/>
          </a:xfrm>
          <a:prstGeom prst="rect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altLang="zh-CN" sz="1500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2</a:t>
            </a:r>
          </a:p>
        </p:txBody>
      </p:sp>
      <p:sp>
        <p:nvSpPr>
          <p:cNvPr id="146455" name="Rectangle 23"/>
          <p:cNvSpPr>
            <a:spLocks noChangeArrowheads="1"/>
          </p:cNvSpPr>
          <p:nvPr/>
        </p:nvSpPr>
        <p:spPr bwMode="auto">
          <a:xfrm>
            <a:off x="3392191" y="1510928"/>
            <a:ext cx="321469" cy="375047"/>
          </a:xfrm>
          <a:prstGeom prst="rect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altLang="zh-CN" sz="1500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3</a:t>
            </a:r>
          </a:p>
        </p:txBody>
      </p:sp>
      <p:sp>
        <p:nvSpPr>
          <p:cNvPr id="146456" name="Rectangle 24"/>
          <p:cNvSpPr>
            <a:spLocks noChangeArrowheads="1"/>
          </p:cNvSpPr>
          <p:nvPr/>
        </p:nvSpPr>
        <p:spPr bwMode="auto">
          <a:xfrm>
            <a:off x="3392191" y="1125165"/>
            <a:ext cx="321469" cy="375047"/>
          </a:xfrm>
          <a:prstGeom prst="rect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altLang="zh-CN" sz="1500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4</a:t>
            </a:r>
          </a:p>
        </p:txBody>
      </p:sp>
      <p:sp>
        <p:nvSpPr>
          <p:cNvPr id="146457" name="Rectangle 25"/>
          <p:cNvSpPr>
            <a:spLocks noChangeArrowheads="1"/>
          </p:cNvSpPr>
          <p:nvPr/>
        </p:nvSpPr>
        <p:spPr bwMode="auto">
          <a:xfrm>
            <a:off x="3885109" y="2271737"/>
            <a:ext cx="321469" cy="375047"/>
          </a:xfrm>
          <a:prstGeom prst="rect">
            <a:avLst/>
          </a:prstGeom>
          <a:solidFill>
            <a:srgbClr val="99CC00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altLang="zh-CN" sz="1500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1</a:t>
            </a:r>
          </a:p>
        </p:txBody>
      </p:sp>
      <p:sp>
        <p:nvSpPr>
          <p:cNvPr id="146458" name="Rectangle 26"/>
          <p:cNvSpPr>
            <a:spLocks noChangeArrowheads="1"/>
          </p:cNvSpPr>
          <p:nvPr/>
        </p:nvSpPr>
        <p:spPr bwMode="auto">
          <a:xfrm>
            <a:off x="3885109" y="1907406"/>
            <a:ext cx="321469" cy="375047"/>
          </a:xfrm>
          <a:prstGeom prst="rect">
            <a:avLst/>
          </a:prstGeom>
          <a:solidFill>
            <a:srgbClr val="99CC00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altLang="zh-CN" sz="1500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2</a:t>
            </a:r>
          </a:p>
        </p:txBody>
      </p:sp>
      <p:sp>
        <p:nvSpPr>
          <p:cNvPr id="146459" name="Rectangle 27"/>
          <p:cNvSpPr>
            <a:spLocks noChangeArrowheads="1"/>
          </p:cNvSpPr>
          <p:nvPr/>
        </p:nvSpPr>
        <p:spPr bwMode="auto">
          <a:xfrm>
            <a:off x="7135416" y="2538413"/>
            <a:ext cx="321469" cy="375047"/>
          </a:xfrm>
          <a:prstGeom prst="rect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altLang="zh-CN" sz="1500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1</a:t>
            </a:r>
          </a:p>
        </p:txBody>
      </p:sp>
      <p:sp>
        <p:nvSpPr>
          <p:cNvPr id="146460" name="Rectangle 28"/>
          <p:cNvSpPr>
            <a:spLocks noChangeArrowheads="1"/>
          </p:cNvSpPr>
          <p:nvPr/>
        </p:nvSpPr>
        <p:spPr bwMode="auto">
          <a:xfrm>
            <a:off x="7489032" y="2538413"/>
            <a:ext cx="321469" cy="375047"/>
          </a:xfrm>
          <a:prstGeom prst="rect">
            <a:avLst/>
          </a:prstGeom>
          <a:solidFill>
            <a:srgbClr val="99CC00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altLang="zh-CN" sz="1500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1</a:t>
            </a:r>
          </a:p>
        </p:txBody>
      </p:sp>
      <p:sp>
        <p:nvSpPr>
          <p:cNvPr id="146461" name="Rectangle 29"/>
          <p:cNvSpPr>
            <a:spLocks noChangeArrowheads="1"/>
          </p:cNvSpPr>
          <p:nvPr/>
        </p:nvSpPr>
        <p:spPr bwMode="auto">
          <a:xfrm>
            <a:off x="3345756" y="4407719"/>
            <a:ext cx="321469" cy="375047"/>
          </a:xfrm>
          <a:prstGeom prst="rect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altLang="zh-CN" sz="1500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1</a:t>
            </a:r>
          </a:p>
        </p:txBody>
      </p:sp>
      <p:sp>
        <p:nvSpPr>
          <p:cNvPr id="146462" name="Rectangle 30"/>
          <p:cNvSpPr>
            <a:spLocks noChangeArrowheads="1"/>
          </p:cNvSpPr>
          <p:nvPr/>
        </p:nvSpPr>
        <p:spPr bwMode="auto">
          <a:xfrm>
            <a:off x="3345756" y="4036244"/>
            <a:ext cx="321469" cy="375047"/>
          </a:xfrm>
          <a:prstGeom prst="rect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altLang="zh-CN" sz="1500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2</a:t>
            </a:r>
          </a:p>
        </p:txBody>
      </p:sp>
      <p:sp>
        <p:nvSpPr>
          <p:cNvPr id="146463" name="Rectangle 31"/>
          <p:cNvSpPr>
            <a:spLocks noChangeArrowheads="1"/>
          </p:cNvSpPr>
          <p:nvPr/>
        </p:nvSpPr>
        <p:spPr bwMode="auto">
          <a:xfrm>
            <a:off x="3345756" y="3639765"/>
            <a:ext cx="321469" cy="375047"/>
          </a:xfrm>
          <a:prstGeom prst="rect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altLang="zh-CN" sz="1500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3</a:t>
            </a:r>
          </a:p>
        </p:txBody>
      </p:sp>
      <p:sp>
        <p:nvSpPr>
          <p:cNvPr id="146464" name="Rectangle 32"/>
          <p:cNvSpPr>
            <a:spLocks noChangeArrowheads="1"/>
          </p:cNvSpPr>
          <p:nvPr/>
        </p:nvSpPr>
        <p:spPr bwMode="auto">
          <a:xfrm>
            <a:off x="3345756" y="3264719"/>
            <a:ext cx="321469" cy="375047"/>
          </a:xfrm>
          <a:prstGeom prst="rect">
            <a:avLst/>
          </a:prstGeom>
          <a:solidFill>
            <a:srgbClr val="FF0000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altLang="zh-CN" sz="1500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4</a:t>
            </a:r>
          </a:p>
        </p:txBody>
      </p:sp>
      <p:sp>
        <p:nvSpPr>
          <p:cNvPr id="146465" name="Rectangle 33"/>
          <p:cNvSpPr>
            <a:spLocks noChangeArrowheads="1"/>
          </p:cNvSpPr>
          <p:nvPr/>
        </p:nvSpPr>
        <p:spPr bwMode="auto">
          <a:xfrm>
            <a:off x="3888681" y="4407719"/>
            <a:ext cx="321469" cy="375047"/>
          </a:xfrm>
          <a:prstGeom prst="rect">
            <a:avLst/>
          </a:prstGeom>
          <a:solidFill>
            <a:srgbClr val="99CC00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altLang="zh-CN" sz="1500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1</a:t>
            </a:r>
          </a:p>
        </p:txBody>
      </p:sp>
      <p:sp>
        <p:nvSpPr>
          <p:cNvPr id="146466" name="Rectangle 34"/>
          <p:cNvSpPr>
            <a:spLocks noChangeArrowheads="1"/>
          </p:cNvSpPr>
          <p:nvPr/>
        </p:nvSpPr>
        <p:spPr bwMode="auto">
          <a:xfrm>
            <a:off x="3888681" y="4032671"/>
            <a:ext cx="321469" cy="375047"/>
          </a:xfrm>
          <a:prstGeom prst="rect">
            <a:avLst/>
          </a:prstGeom>
          <a:solidFill>
            <a:srgbClr val="99CC00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altLang="zh-CN" sz="1500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2</a:t>
            </a:r>
          </a:p>
        </p:txBody>
      </p:sp>
      <p:sp>
        <p:nvSpPr>
          <p:cNvPr id="146467" name="Rectangle 35"/>
          <p:cNvSpPr>
            <a:spLocks noChangeArrowheads="1"/>
          </p:cNvSpPr>
          <p:nvPr/>
        </p:nvSpPr>
        <p:spPr bwMode="auto">
          <a:xfrm>
            <a:off x="3888681" y="3646909"/>
            <a:ext cx="321469" cy="375047"/>
          </a:xfrm>
          <a:prstGeom prst="rect">
            <a:avLst/>
          </a:prstGeom>
          <a:solidFill>
            <a:srgbClr val="99CC00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altLang="zh-CN" sz="1500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3</a:t>
            </a:r>
          </a:p>
        </p:txBody>
      </p:sp>
      <p:sp>
        <p:nvSpPr>
          <p:cNvPr id="146468" name="Rectangle 36"/>
          <p:cNvSpPr>
            <a:spLocks noChangeArrowheads="1"/>
          </p:cNvSpPr>
          <p:nvPr/>
        </p:nvSpPr>
        <p:spPr bwMode="auto">
          <a:xfrm>
            <a:off x="3888681" y="3261146"/>
            <a:ext cx="321469" cy="375047"/>
          </a:xfrm>
          <a:prstGeom prst="rect">
            <a:avLst/>
          </a:prstGeom>
          <a:solidFill>
            <a:srgbClr val="99CC00"/>
          </a:solidFill>
          <a:ln w="19050" algn="ctr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r>
              <a:rPr lang="en-US" altLang="zh-CN" sz="1500" b="1">
                <a:effectLst>
                  <a:outerShdw blurRad="38100" dist="38100" dir="2700000" algn="tl">
                    <a:srgbClr val="FFFFFF"/>
                  </a:outerShdw>
                </a:effectLst>
                <a:latin typeface="Arial" pitchFamily="34" charset="0"/>
              </a:rPr>
              <a:t>4</a:t>
            </a:r>
          </a:p>
        </p:txBody>
      </p:sp>
      <p:sp>
        <p:nvSpPr>
          <p:cNvPr id="146469" name="Text Box 37"/>
          <p:cNvSpPr txBox="1">
            <a:spLocks noChangeArrowheads="1"/>
          </p:cNvSpPr>
          <p:nvPr/>
        </p:nvSpPr>
        <p:spPr bwMode="auto">
          <a:xfrm>
            <a:off x="3381475" y="792981"/>
            <a:ext cx="12430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Power</a:t>
            </a:r>
          </a:p>
        </p:txBody>
      </p:sp>
      <p:sp>
        <p:nvSpPr>
          <p:cNvPr id="146470" name="Text Box 38"/>
          <p:cNvSpPr txBox="1">
            <a:spLocks noChangeArrowheads="1"/>
          </p:cNvSpPr>
          <p:nvPr/>
        </p:nvSpPr>
        <p:spPr bwMode="auto">
          <a:xfrm>
            <a:off x="3767237" y="1532359"/>
            <a:ext cx="15000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Performance</a:t>
            </a:r>
          </a:p>
        </p:txBody>
      </p:sp>
      <p:sp>
        <p:nvSpPr>
          <p:cNvPr id="146471" name="Text Box 39"/>
          <p:cNvSpPr txBox="1">
            <a:spLocks noChangeArrowheads="1"/>
          </p:cNvSpPr>
          <p:nvPr/>
        </p:nvSpPr>
        <p:spPr bwMode="auto">
          <a:xfrm>
            <a:off x="5560219" y="3120629"/>
            <a:ext cx="237886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en-US" altLang="zh-CN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Many core is more power efficient</a:t>
            </a:r>
          </a:p>
          <a:p>
            <a:pPr algn="l">
              <a:spcBef>
                <a:spcPct val="50000"/>
              </a:spcBef>
              <a:defRPr/>
            </a:pPr>
            <a:r>
              <a:rPr lang="en-US" altLang="zh-CN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Power ~ area</a:t>
            </a:r>
          </a:p>
          <a:p>
            <a:pPr algn="l">
              <a:spcBef>
                <a:spcPct val="50000"/>
              </a:spcBef>
              <a:defRPr/>
            </a:pPr>
            <a:r>
              <a:rPr lang="en-US" altLang="zh-CN" sz="15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Single thread performance ~ area**0.5</a:t>
            </a: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23628" y="951570"/>
            <a:ext cx="6777372" cy="356439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1500" b="1"/>
              <a:t>THANK YOU </a:t>
            </a:r>
            <a:endParaRPr lang="en-US" altLang="zh-CN" sz="15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3545886" y="2070051"/>
            <a:ext cx="2052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4EA2"/>
                </a:solidFill>
              </a:rPr>
              <a:t>THANK YOU</a:t>
            </a:r>
          </a:p>
          <a:p>
            <a:endParaRPr lang="en-US" altLang="zh-CN" sz="2400" b="1" dirty="0">
              <a:solidFill>
                <a:srgbClr val="004EA2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2804561"/>
            <a:ext cx="9144000" cy="2205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262" tIns="32132" rIns="64262" bIns="3213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3092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>
            <a:off x="4454856" y="2663821"/>
            <a:ext cx="234290" cy="14074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262" tIns="32132" rIns="64262" bIns="3213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186"/>
          </a:p>
        </p:txBody>
      </p:sp>
      <p:sp>
        <p:nvSpPr>
          <p:cNvPr id="9" name="矩形 8"/>
          <p:cNvSpPr/>
          <p:nvPr/>
        </p:nvSpPr>
        <p:spPr>
          <a:xfrm>
            <a:off x="0" y="3101541"/>
            <a:ext cx="9143999" cy="6427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262" tIns="32132" rIns="64262" bIns="3213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3092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4567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 additive="base" accumulate="none">
                                        <p:cTn id="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 accumulate="none">
                                        <p:cTn id="9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 additive="base" accumulate="none">
                                        <p:cTn id="1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 accumulate="none">
                                        <p:cTn id="20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射线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射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v5_arch11-12-13</Template>
  <TotalTime>1148</TotalTime>
  <Words>3688</Words>
  <Application>Microsoft Office PowerPoint</Application>
  <PresentationFormat>全屏显示(16:9)</PresentationFormat>
  <Paragraphs>785</Paragraphs>
  <Slides>64</Slides>
  <Notes>38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77" baseType="lpstr">
      <vt:lpstr>PMingLiU</vt:lpstr>
      <vt:lpstr>黑体</vt:lpstr>
      <vt:lpstr>微软雅黑</vt:lpstr>
      <vt:lpstr>Arial</vt:lpstr>
      <vt:lpstr>Comic Sans MS</vt:lpstr>
      <vt:lpstr>Helvetica</vt:lpstr>
      <vt:lpstr>Symbol</vt:lpstr>
      <vt:lpstr>Tahoma</vt:lpstr>
      <vt:lpstr>Times New Roman</vt:lpstr>
      <vt:lpstr>Verdana</vt:lpstr>
      <vt:lpstr>Wingdings</vt:lpstr>
      <vt:lpstr>射线</vt:lpstr>
      <vt:lpstr>VISIO</vt:lpstr>
      <vt:lpstr>Computer Architecture  ----A Quantitative Approach</vt:lpstr>
      <vt:lpstr>Topics in Chapter 1</vt:lpstr>
      <vt:lpstr>History of the Computer  </vt:lpstr>
      <vt:lpstr>Computer Food Chain</vt:lpstr>
      <vt:lpstr>Computer Food Chain</vt:lpstr>
      <vt:lpstr>PowerPoint 演示文稿</vt:lpstr>
      <vt:lpstr>Incredible performance improvement</vt:lpstr>
      <vt:lpstr>Conclusion</vt:lpstr>
      <vt:lpstr>Develop of x86</vt:lpstr>
      <vt:lpstr>Why Such Change in 60 years?</vt:lpstr>
      <vt:lpstr>Four Decades of microprocessor</vt:lpstr>
      <vt:lpstr>Forces on Computer Architecture</vt:lpstr>
      <vt:lpstr>Topics in Chapter</vt:lpstr>
      <vt:lpstr>Classes of computers</vt:lpstr>
      <vt:lpstr>SISD </vt:lpstr>
      <vt:lpstr>SIMD</vt:lpstr>
      <vt:lpstr>MISD</vt:lpstr>
      <vt:lpstr>MIMD</vt:lpstr>
      <vt:lpstr>Classification-market</vt:lpstr>
      <vt:lpstr>Effect of dramatic performance growth</vt:lpstr>
      <vt:lpstr>Four computing markets </vt:lpstr>
      <vt:lpstr>Desktop Computing</vt:lpstr>
      <vt:lpstr>Servers</vt:lpstr>
      <vt:lpstr>Internet of Things(IoT)/Embedded Computers</vt:lpstr>
      <vt:lpstr>Personal Mobile Device</vt:lpstr>
      <vt:lpstr>Questions</vt:lpstr>
      <vt:lpstr>Topics in Chapter</vt:lpstr>
      <vt:lpstr>What computer architecture is all about </vt:lpstr>
      <vt:lpstr>Original Concept of Computer architecture</vt:lpstr>
      <vt:lpstr>Instruction Set Architecture (ISA)</vt:lpstr>
      <vt:lpstr>ISA: the interface between hardware and software</vt:lpstr>
      <vt:lpstr>Evolution of Instruction Sets</vt:lpstr>
      <vt:lpstr>Interface Design</vt:lpstr>
      <vt:lpstr>Seven dimensions of ISA</vt:lpstr>
      <vt:lpstr>Evolution of Computer Architecture Course</vt:lpstr>
      <vt:lpstr>Computer Architecture</vt:lpstr>
      <vt:lpstr>Computer Architecture Topics</vt:lpstr>
      <vt:lpstr>Computer Architecture Topics</vt:lpstr>
      <vt:lpstr>The Task of Computer Design 1</vt:lpstr>
      <vt:lpstr>Application Performance</vt:lpstr>
      <vt:lpstr>Performance for Web Surfing</vt:lpstr>
      <vt:lpstr>Computer Applications</vt:lpstr>
      <vt:lpstr>Architectures are Tuned to Applications</vt:lpstr>
      <vt:lpstr>The Task of Computer Design 2</vt:lpstr>
      <vt:lpstr>Trend of Architecture</vt:lpstr>
      <vt:lpstr>Computer Engineering Methodology</vt:lpstr>
      <vt:lpstr>Computer Design life cycle</vt:lpstr>
      <vt:lpstr>Summary:Task of computer design </vt:lpstr>
      <vt:lpstr>Topics in Chapter</vt:lpstr>
      <vt:lpstr>Technology Trends</vt:lpstr>
      <vt:lpstr>Technology Trends</vt:lpstr>
      <vt:lpstr>Notes</vt:lpstr>
      <vt:lpstr>Perf. Trends: Bandwidth over latency</vt:lpstr>
      <vt:lpstr>Performance milestones in microprocessor</vt:lpstr>
      <vt:lpstr>Challenges for IC Tecnology</vt:lpstr>
      <vt:lpstr>Topics in Chapter</vt:lpstr>
      <vt:lpstr>Trends in Power</vt:lpstr>
      <vt:lpstr>PPA(power &amp; performance &amp; area) of a chip</vt:lpstr>
      <vt:lpstr>PPA(power &amp; performance &amp; area) of a chip</vt:lpstr>
      <vt:lpstr>Two concepts</vt:lpstr>
      <vt:lpstr>Rule of Thumb</vt:lpstr>
      <vt:lpstr>Dual core with voltage scaling</vt:lpstr>
      <vt:lpstr>Multiple cores deliver more performance per watt</vt:lpstr>
      <vt:lpstr>PowerPoint 演示文稿</vt:lpstr>
    </vt:vector>
  </TitlesOfParts>
  <Company>大家园丁论坛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陈文智</dc:creator>
  <cp:lastModifiedBy>Shi Jin</cp:lastModifiedBy>
  <cp:revision>100</cp:revision>
  <dcterms:created xsi:type="dcterms:W3CDTF">2007-03-06T08:21:00Z</dcterms:created>
  <dcterms:modified xsi:type="dcterms:W3CDTF">2026-03-08T13:17:28Z</dcterms:modified>
</cp:coreProperties>
</file>