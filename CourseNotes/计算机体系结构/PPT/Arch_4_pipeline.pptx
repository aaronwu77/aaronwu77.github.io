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5"/>
  </p:notesMasterIdLst>
  <p:handoutMasterIdLst>
    <p:handoutMasterId r:id="rId109"/>
  </p:handoutMasterIdLst>
  <p:sldIdLst>
    <p:sldId id="510" r:id="rId3"/>
    <p:sldId id="257" r:id="rId4"/>
    <p:sldId id="258" r:id="rId5"/>
    <p:sldId id="259" r:id="rId6"/>
    <p:sldId id="260" r:id="rId7"/>
    <p:sldId id="275" r:id="rId8"/>
    <p:sldId id="276" r:id="rId9"/>
    <p:sldId id="265" r:id="rId10"/>
    <p:sldId id="266" r:id="rId11"/>
    <p:sldId id="281" r:id="rId12"/>
    <p:sldId id="282" r:id="rId13"/>
    <p:sldId id="283" r:id="rId14"/>
    <p:sldId id="284" r:id="rId15"/>
    <p:sldId id="280" r:id="rId16"/>
    <p:sldId id="278" r:id="rId17"/>
    <p:sldId id="289" r:id="rId18"/>
    <p:sldId id="287" r:id="rId19"/>
    <p:sldId id="293" r:id="rId20"/>
    <p:sldId id="294" r:id="rId21"/>
    <p:sldId id="292" r:id="rId22"/>
    <p:sldId id="555" r:id="rId23"/>
    <p:sldId id="556" r:id="rId24"/>
    <p:sldId id="557" r:id="rId25"/>
    <p:sldId id="558" r:id="rId26"/>
    <p:sldId id="315" r:id="rId27"/>
    <p:sldId id="261" r:id="rId28"/>
    <p:sldId id="263" r:id="rId29"/>
    <p:sldId id="295" r:id="rId30"/>
    <p:sldId id="267" r:id="rId31"/>
    <p:sldId id="297" r:id="rId32"/>
    <p:sldId id="298" r:id="rId33"/>
    <p:sldId id="269" r:id="rId34"/>
    <p:sldId id="311" r:id="rId35"/>
    <p:sldId id="270" r:id="rId36"/>
    <p:sldId id="310" r:id="rId37"/>
    <p:sldId id="312" r:id="rId38"/>
    <p:sldId id="272" r:id="rId39"/>
    <p:sldId id="274" r:id="rId40"/>
    <p:sldId id="273" r:id="rId41"/>
    <p:sldId id="559" r:id="rId42"/>
    <p:sldId id="560" r:id="rId43"/>
    <p:sldId id="285" r:id="rId44"/>
    <p:sldId id="286" r:id="rId45"/>
    <p:sldId id="561" r:id="rId46"/>
    <p:sldId id="316" r:id="rId47"/>
    <p:sldId id="562" r:id="rId48"/>
    <p:sldId id="290" r:id="rId49"/>
    <p:sldId id="291" r:id="rId50"/>
    <p:sldId id="308" r:id="rId51"/>
    <p:sldId id="306" r:id="rId52"/>
    <p:sldId id="563" r:id="rId53"/>
    <p:sldId id="564" r:id="rId54"/>
    <p:sldId id="565" r:id="rId55"/>
    <p:sldId id="309" r:id="rId56"/>
    <p:sldId id="314" r:id="rId57"/>
    <p:sldId id="566" r:id="rId58"/>
    <p:sldId id="567" r:id="rId59"/>
    <p:sldId id="568" r:id="rId60"/>
    <p:sldId id="569" r:id="rId61"/>
    <p:sldId id="570" r:id="rId62"/>
    <p:sldId id="571" r:id="rId63"/>
    <p:sldId id="572" r:id="rId64"/>
    <p:sldId id="573" r:id="rId65"/>
    <p:sldId id="277" r:id="rId66"/>
    <p:sldId id="574" r:id="rId67"/>
    <p:sldId id="575" r:id="rId68"/>
    <p:sldId id="576" r:id="rId69"/>
    <p:sldId id="577" r:id="rId70"/>
    <p:sldId id="578" r:id="rId71"/>
    <p:sldId id="579" r:id="rId72"/>
    <p:sldId id="580" r:id="rId73"/>
    <p:sldId id="581" r:id="rId74"/>
    <p:sldId id="582" r:id="rId76"/>
    <p:sldId id="583" r:id="rId77"/>
    <p:sldId id="584" r:id="rId78"/>
    <p:sldId id="585" r:id="rId79"/>
    <p:sldId id="586" r:id="rId80"/>
    <p:sldId id="587" r:id="rId81"/>
    <p:sldId id="288" r:id="rId82"/>
    <p:sldId id="588" r:id="rId83"/>
    <p:sldId id="589" r:id="rId84"/>
    <p:sldId id="590" r:id="rId85"/>
    <p:sldId id="591" r:id="rId86"/>
    <p:sldId id="592" r:id="rId87"/>
    <p:sldId id="593" r:id="rId88"/>
    <p:sldId id="594" r:id="rId89"/>
    <p:sldId id="296" r:id="rId90"/>
    <p:sldId id="595" r:id="rId91"/>
    <p:sldId id="596" r:id="rId92"/>
    <p:sldId id="299" r:id="rId93"/>
    <p:sldId id="597" r:id="rId94"/>
    <p:sldId id="313" r:id="rId95"/>
    <p:sldId id="598" r:id="rId96"/>
    <p:sldId id="599" r:id="rId97"/>
    <p:sldId id="600" r:id="rId98"/>
    <p:sldId id="317" r:id="rId99"/>
    <p:sldId id="318" r:id="rId100"/>
    <p:sldId id="319" r:id="rId101"/>
    <p:sldId id="320" r:id="rId102"/>
    <p:sldId id="321" r:id="rId103"/>
    <p:sldId id="322" r:id="rId104"/>
    <p:sldId id="323" r:id="rId105"/>
    <p:sldId id="324" r:id="rId106"/>
    <p:sldId id="327" r:id="rId107"/>
    <p:sldId id="525" r:id="rId108"/>
  </p:sldIdLst>
  <p:sldSz cx="9144000" cy="5143500" type="screen16x9"/>
  <p:notesSz cx="7099300" cy="10234295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99"/>
    <a:srgbClr val="0000CC"/>
    <a:srgbClr val="339966"/>
    <a:srgbClr val="66FF66"/>
    <a:srgbClr val="FF3300"/>
    <a:srgbClr val="FF00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255" autoAdjust="0"/>
    <p:restoredTop sz="91242" autoAdjust="0"/>
  </p:normalViewPr>
  <p:slideViewPr>
    <p:cSldViewPr showGuides="1">
      <p:cViewPr varScale="1">
        <p:scale>
          <a:sx n="126" d="100"/>
          <a:sy n="126" d="100"/>
        </p:scale>
        <p:origin x="126" y="396"/>
      </p:cViewPr>
      <p:guideLst>
        <p:guide orient="horz" pos="2160"/>
        <p:guide pos="216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-1920" y="-102"/>
      </p:cViewPr>
      <p:guideLst>
        <p:guide orient="horz" pos="3223"/>
        <p:guide pos="22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2" Type="http://schemas.openxmlformats.org/officeDocument/2006/relationships/tableStyles" Target="tableStyles.xml"/><Relationship Id="rId111" Type="http://schemas.openxmlformats.org/officeDocument/2006/relationships/viewProps" Target="viewProps.xml"/><Relationship Id="rId110" Type="http://schemas.openxmlformats.org/officeDocument/2006/relationships/presProps" Target="presProps.xml"/><Relationship Id="rId11" Type="http://schemas.openxmlformats.org/officeDocument/2006/relationships/slide" Target="slides/slide9.xml"/><Relationship Id="rId109" Type="http://schemas.openxmlformats.org/officeDocument/2006/relationships/handoutMaster" Target="handoutMasters/handoutMaster1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-5400000" spcFirstLastPara="0" vertOverflow="ellipsis" vert="horz" wrap="square" anchor="ctr" anchorCtr="1"/>
          <a:lstStyle/>
          <a:p>
            <a:pPr algn="ctr">
              <a:defRPr lang="zh-CN" sz="1780" b="1" i="0" u="none" strike="noStrike" kern="1200" baseline="0">
                <a:solidFill>
                  <a:schemeClr val="tx1"/>
                </a:solidFill>
                <a:latin typeface="宋体"/>
                <a:ea typeface="宋体"/>
                <a:cs typeface="宋体"/>
              </a:defRPr>
            </a:pPr>
            <a:r>
              <a:rPr lang="en-US" altLang="en-US"/>
              <a:t>Fraction of loads that cause a stall</a:t>
            </a:r>
            <a:endParaRPr lang="en-US" altLang="en-US"/>
          </a:p>
        </c:rich>
      </c:tx>
      <c:layout>
        <c:manualLayout>
          <c:xMode val="edge"/>
          <c:yMode val="edge"/>
          <c:x val="0"/>
          <c:y val="0.187585572422004"/>
        </c:manualLayout>
      </c:layout>
      <c:overlay val="0"/>
      <c:spPr>
        <a:noFill/>
        <a:ln w="27411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3044911955665"/>
          <c:y val="0.0440463241063939"/>
          <c:w val="0.867167919799499"/>
          <c:h val="0.7452631578947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Fraction of loads that cause a stall</c:v>
                </c:pt>
              </c:strCache>
            </c:strRef>
          </c:tx>
          <c:spPr>
            <a:solidFill>
              <a:schemeClr val="accent1"/>
            </a:solidFill>
            <a:ln w="13705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.0124248207364172"/>
                  <c:y val="-0.0073630805644682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16357939777652"/>
                  <c:y val="-0.0022852803329046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713737214736706"/>
                  <c:y val="-0.001783466703124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0136087671703576"/>
                  <c:y val="0.003978877301216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686245488663756"/>
                  <c:y val="-0.0031525542486787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359222512046672"/>
                  <c:y val="0.004321352126155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658765951469685"/>
                  <c:y val="-0.004099700505423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331730785973733"/>
                  <c:y val="-0.0064675661472864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0.00130021092564666"/>
                  <c:y val="0.0061640128000819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9"/>
              <c:layout>
                <c:manualLayout>
                  <c:x val="0.00590331200859952"/>
                  <c:y val="-0.0057830223745092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 w="27411"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 algn="l">
                  <a:defRPr lang="zh-CN" sz="2160" b="1" i="0" u="none" strike="noStrike" kern="1200" baseline="0">
                    <a:solidFill>
                      <a:schemeClr val="tx1"/>
                    </a:solidFill>
                    <a:latin typeface="宋体"/>
                    <a:ea typeface="宋体"/>
                    <a:cs typeface="宋体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Sheet1!$B$1:$K$1</c:f>
              <c:strCache>
                <c:ptCount val="10"/>
                <c:pt idx="0">
                  <c:v>compress</c:v>
                </c:pt>
                <c:pt idx="1">
                  <c:v>eqntott</c:v>
                </c:pt>
                <c:pt idx="2">
                  <c:v>espresso</c:v>
                </c:pt>
                <c:pt idx="3">
                  <c:v>gcc</c:v>
                </c:pt>
                <c:pt idx="4">
                  <c:v>li</c:v>
                </c:pt>
                <c:pt idx="5">
                  <c:v>doduc</c:v>
                </c:pt>
                <c:pt idx="6">
                  <c:v>ear</c:v>
                </c:pt>
                <c:pt idx="7">
                  <c:v>hydro2d</c:v>
                </c:pt>
                <c:pt idx="8">
                  <c:v>mdijdp</c:v>
                </c:pt>
                <c:pt idx="9">
                  <c:v>su2cor</c:v>
                </c:pt>
              </c:strCache>
            </c:strRef>
          </c:cat>
          <c:val>
            <c:numRef>
              <c:f>Sheet1!$B$2:$K$2</c:f>
              <c:numCache>
                <c:formatCode>0%</c:formatCode>
                <c:ptCount val="10"/>
                <c:pt idx="0">
                  <c:v>0.24</c:v>
                </c:pt>
                <c:pt idx="1">
                  <c:v>0.41</c:v>
                </c:pt>
                <c:pt idx="2">
                  <c:v>0.12</c:v>
                </c:pt>
                <c:pt idx="3">
                  <c:v>0.23</c:v>
                </c:pt>
                <c:pt idx="4">
                  <c:v>0.24</c:v>
                </c:pt>
                <c:pt idx="5">
                  <c:v>0.2</c:v>
                </c:pt>
                <c:pt idx="6">
                  <c:v>0.2</c:v>
                </c:pt>
                <c:pt idx="7">
                  <c:v>0.1</c:v>
                </c:pt>
                <c:pt idx="8">
                  <c:v>0.1</c:v>
                </c:pt>
                <c:pt idx="9">
                  <c:v>0.04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43367760"/>
        <c:axId val="2143621760"/>
      </c:barChart>
      <c:catAx>
        <c:axId val="2143367760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ln w="3426" cap="flat" cmpd="sng" algn="ctr">
            <a:solidFill>
              <a:schemeClr val="tx1"/>
            </a:solidFill>
            <a:prstDash val="solid"/>
            <a:round/>
          </a:ln>
        </c:spPr>
        <c:txPr>
          <a:bodyPr rot="-2700000" spcFirstLastPara="0" vertOverflow="ellipsis" vert="horz" wrap="square" anchor="ctr" anchorCtr="1"/>
          <a:lstStyle/>
          <a:p>
            <a:pPr>
              <a:defRPr lang="zh-CN" sz="1940" b="1" i="0" u="none" strike="noStrike" kern="1200" baseline="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pPr>
          </a:p>
        </c:txPr>
        <c:crossAx val="2143621760"/>
        <c:crosses val="autoZero"/>
        <c:auto val="1"/>
        <c:lblAlgn val="ctr"/>
        <c:lblOffset val="100"/>
        <c:tickLblSkip val="1"/>
        <c:noMultiLvlLbl val="0"/>
      </c:catAx>
      <c:valAx>
        <c:axId val="2143621760"/>
        <c:scaling>
          <c:orientation val="minMax"/>
        </c:scaling>
        <c:delete val="0"/>
        <c:axPos val="l"/>
        <c:numFmt formatCode="0%" sourceLinked="1"/>
        <c:majorTickMark val="in"/>
        <c:minorTickMark val="none"/>
        <c:tickLblPos val="nextTo"/>
        <c:spPr>
          <a:ln w="3426" cap="flat" cmpd="sng" algn="ctr">
            <a:solidFill>
              <a:schemeClr val="tx1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940" b="1" i="0" u="none" strike="noStrike" kern="1200" baseline="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pPr>
          </a:p>
        </c:txPr>
        <c:crossAx val="2143367760"/>
        <c:crosses val="autoZero"/>
        <c:crossBetween val="between"/>
      </c:valAx>
      <c:spPr>
        <a:noFill/>
        <a:ln w="12700">
          <a:solidFill>
            <a:schemeClr val="tx1"/>
          </a:solidFill>
          <a:prstDash val="solid"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7261b80-b09d-4723-ae6e-cb019f02b573}"/>
      </c:ext>
    </c:extLst>
  </c:chart>
  <c:spPr>
    <a:solidFill>
      <a:srgbClr val="EAEAEA"/>
    </a:solidFill>
    <a:ln>
      <a:noFill/>
    </a:ln>
  </c:spPr>
  <c:txPr>
    <a:bodyPr/>
    <a:lstStyle/>
    <a:p>
      <a:pPr>
        <a:defRPr lang="zh-CN" sz="1940" b="1" i="0" u="none" strike="noStrike" baseline="0">
          <a:solidFill>
            <a:schemeClr val="tx1"/>
          </a:solidFill>
          <a:latin typeface="楷体_GB2312"/>
          <a:ea typeface="楷体_GB2312"/>
          <a:cs typeface="楷体_GB2312"/>
        </a:defRPr>
      </a:pPr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sz="1300" b="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sz="1300" b="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sz="1300" b="0"/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 b="0"/>
            </a:lvl1pPr>
          </a:lstStyle>
          <a:p>
            <a:fld id="{5FACC17A-F0D9-4A5E-A2DD-CDBDDE89473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sz="1300" b="0"/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sz="1300" b="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sz="1300" b="0"/>
            </a:lvl1pPr>
          </a:lstStyle>
          <a:p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 b="0"/>
            </a:lvl1pPr>
          </a:lstStyle>
          <a:p>
            <a:fld id="{96B62AA9-FFC2-4853-B28F-49665EFFC02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D8BCED-4794-4F5B-A95B-8007A3359B3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" y="1070373"/>
            <a:ext cx="8077200" cy="1207294"/>
          </a:xfrm>
          <a:prstGeom prst="rect">
            <a:avLst/>
          </a:prstGeom>
        </p:spPr>
        <p:txBody>
          <a:bodyPr/>
          <a:lstStyle>
            <a:lvl1pPr>
              <a:defRPr sz="345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81275"/>
            <a:ext cx="6629400" cy="12573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05576"/>
            <a:ext cx="7924800" cy="33147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0"/>
            <a:ext cx="3886200" cy="33147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3886200" cy="33147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801CEAA-088D-D64A-BCFA-FC28D373C0FD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C00B323-C957-402A-9645-16EC87F43CBF}" type="slidenum">
              <a:rPr lang="en-US" altLang="zh-CN" smtClean="0"/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B93CF8-7DE4-5D43-9D04-A7CCB4F62741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AFAD01F-9148-4A53-B5D3-A35401C55D24}" type="slidenum">
              <a:rPr lang="en-US" altLang="zh-CN" smtClean="0"/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3E70539-074A-6F4C-A92E-37866C6A5AB0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4A383E0-86EB-4158-9320-C2E0AA8633AF}" type="slidenum">
              <a:rPr lang="en-US" altLang="zh-CN" smtClean="0"/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AF66EF0-C141-134F-B826-2E830DAEFE4B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14FA3CC-064E-47AD-9DCD-B3A7A54EDFB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D66535-F878-BA40-8843-D526E6B294F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05B1F4-4B50-46D9-8BE7-469B8A5C19C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90FC2A6-327E-9542-8072-8FFB81D67C69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BDCD5B4-EFA7-4DEF-8322-F42E472B46E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00150"/>
            <a:ext cx="7924800" cy="331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F1412E1-F607-1B4A-B6AD-5B34F0B5058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2503E53-D900-4B90-BDF1-B5F85E6DEF52}" type="slidenum">
              <a:rPr lang="en-US" altLang="zh-CN" smtClean="0"/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4" y="171450"/>
            <a:ext cx="2084387" cy="4343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171450"/>
            <a:ext cx="6102350" cy="4343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D973E15-F0E2-6C49-B457-3941D3CE8BF7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BA8CD3A-F310-4CB9-A1F4-DA560DF5132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609600" y="1200150"/>
            <a:ext cx="7924800" cy="3314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233431B-1935-E34D-86FA-FE0A9DFE3E7B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A0293C-7D77-432B-BFFD-E4461A03D863}" type="slidenum">
              <a:rPr lang="en-US" altLang="zh-CN" smtClean="0"/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168004"/>
            <a:ext cx="4405313" cy="34313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57713" y="1168004"/>
            <a:ext cx="4406900" cy="16585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57713" y="2940844"/>
            <a:ext cx="4406900" cy="16585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4677966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B70B95-BB04-884B-A6E8-34895D47021D}" type="datetime1">
              <a:rPr lang="zh-CN" altLang="en-US" smtClean="0"/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657600" y="4682729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42150" y="4682729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A0293C-7D77-432B-BFFD-E4461A03D863}" type="slidenum">
              <a:rPr lang="en-US" altLang="zh-CN" smtClean="0"/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/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168004"/>
            <a:ext cx="8964613" cy="16585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" y="2940844"/>
            <a:ext cx="8964613" cy="16585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4677966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2F490AA-5F8C-704A-8AC9-5DE039485F59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657600" y="4682729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4682729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A0293C-7D77-432B-BFFD-E4461A03D863}" type="slidenum">
              <a:rPr lang="en-US" altLang="zh-CN" smtClean="0"/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/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168004"/>
            <a:ext cx="8964613" cy="16585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2940844"/>
            <a:ext cx="8964613" cy="16585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4677966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0A08DA1-F610-AF44-9908-BCC8326D3EB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657600" y="4682729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4682729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A0293C-7D77-432B-BFFD-E4461A03D863}" type="slidenum">
              <a:rPr lang="en-US" altLang="zh-CN" smtClean="0"/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/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171450"/>
            <a:ext cx="7696200" cy="7429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085850"/>
            <a:ext cx="4191000" cy="3600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191000" cy="3600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467544" y="164107"/>
            <a:ext cx="3713932" cy="413296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87474"/>
            <a:ext cx="864096" cy="4899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495700" y="164109"/>
            <a:ext cx="5328592" cy="413296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431804" y="543114"/>
            <a:ext cx="4392488" cy="3429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580112" y="4731990"/>
            <a:ext cx="3563888" cy="305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80112" y="5056027"/>
            <a:ext cx="3563888" cy="414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1629" y="174216"/>
            <a:ext cx="7903790" cy="37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2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3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4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5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6.bin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wmf"/><Relationship Id="rId1" Type="http://schemas.openxmlformats.org/officeDocument/2006/relationships/oleObject" Target="../embeddings/oleObject7.bin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w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8.bin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w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wmf"/><Relationship Id="rId1" Type="http://schemas.openxmlformats.org/officeDocument/2006/relationships/oleObject" Target="../embeddings/oleObject9.bin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10.bin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11.bin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wmf"/><Relationship Id="rId1" Type="http://schemas.openxmlformats.org/officeDocument/2006/relationships/oleObject" Target="../embeddings/oleObject12.bin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emf"/><Relationship Id="rId1" Type="http://schemas.openxmlformats.org/officeDocument/2006/relationships/oleObject" Target="../embeddings/oleObject13.bin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emf"/><Relationship Id="rId1" Type="http://schemas.openxmlformats.org/officeDocument/2006/relationships/oleObject" Target="../embeddings/oleObject14.bin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wmf"/><Relationship Id="rId1" Type="http://schemas.openxmlformats.org/officeDocument/2006/relationships/oleObject" Target="../embeddings/oleObject15.bin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wmf"/><Relationship Id="rId1" Type="http://schemas.openxmlformats.org/officeDocument/2006/relationships/oleObject" Target="../embeddings/oleObject16.bin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17.bin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wmf"/><Relationship Id="rId1" Type="http://schemas.openxmlformats.org/officeDocument/2006/relationships/oleObject" Target="../embeddings/oleObject18.bin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wmf"/><Relationship Id="rId1" Type="http://schemas.openxmlformats.org/officeDocument/2006/relationships/oleObject" Target="../embeddings/oleObject19.bin"/></Relationships>
</file>

<file path=ppt/slides/_rels/slide9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wmf"/><Relationship Id="rId1" Type="http://schemas.openxmlformats.org/officeDocument/2006/relationships/oleObject" Target="../embeddings/oleObject20.bin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wmf"/><Relationship Id="rId1" Type="http://schemas.openxmlformats.org/officeDocument/2006/relationships/oleObject" Target="../embeddings/oleObject21.bin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wmf"/><Relationship Id="rId1" Type="http://schemas.openxmlformats.org/officeDocument/2006/relationships/oleObject" Target="../embeddings/oleObject22.bin"/></Relationships>
</file>

<file path=ppt/slides/_rels/slide10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wmf"/><Relationship Id="rId1" Type="http://schemas.openxmlformats.org/officeDocument/2006/relationships/oleObject" Target="../embeddings/oleObject23.bin"/></Relationships>
</file>

<file path=ppt/slides/_rels/slide10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24.bin"/></Relationships>
</file>

<file path=ppt/slides/_rels/slide10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emf"/><Relationship Id="rId1" Type="http://schemas.openxmlformats.org/officeDocument/2006/relationships/oleObject" Target="../embeddings/oleObject25.bin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3" y="596437"/>
            <a:ext cx="868724" cy="77541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1761660"/>
            <a:ext cx="9144000" cy="124213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143004" y="2058591"/>
            <a:ext cx="6346031" cy="6477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15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4454334" y="3003798"/>
            <a:ext cx="235332" cy="162018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1670258"/>
            <a:ext cx="9143999" cy="3429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363713" y="3494476"/>
            <a:ext cx="2416579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Pipelining: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Arial" panose="020B0604020202090204"/>
              </a:rPr>
              <a:t>“</a:t>
            </a:r>
            <a:r>
              <a:rPr lang="en-US" altLang="zh-CN" i="1" dirty="0">
                <a:latin typeface="宋体" pitchFamily="2" charset="-122"/>
              </a:rPr>
              <a:t>A technique designed into some computers to increase speed by starting the execution of one instruction before completing the previous one.</a:t>
            </a:r>
            <a:r>
              <a:rPr lang="en-US" altLang="zh-CN" i="1" dirty="0">
                <a:latin typeface="Arial" panose="020B0604020202090204"/>
              </a:rPr>
              <a:t>”</a:t>
            </a:r>
            <a:endParaRPr lang="en-US" altLang="zh-CN" dirty="0">
              <a:latin typeface="宋体" pitchFamily="2" charset="-122"/>
            </a:endParaRPr>
          </a:p>
          <a:p>
            <a:pPr lvl="1">
              <a:buFontTx/>
              <a:buNone/>
            </a:pPr>
            <a:r>
              <a:rPr lang="en-US" altLang="zh-CN" dirty="0">
                <a:latin typeface="宋体" pitchFamily="2" charset="-122"/>
              </a:rPr>
              <a:t>      ----</a:t>
            </a:r>
            <a:r>
              <a:rPr lang="en-US" altLang="zh-CN" i="1" dirty="0">
                <a:latin typeface="宋体" pitchFamily="2" charset="-122"/>
              </a:rPr>
              <a:t>Modern English-Chinese Dictionary</a:t>
            </a:r>
            <a:endParaRPr lang="en-US" altLang="zh-CN" dirty="0">
              <a:latin typeface="宋体" pitchFamily="2" charset="-122"/>
            </a:endParaRPr>
          </a:p>
          <a:p>
            <a:pPr lvl="1"/>
            <a:r>
              <a:rPr lang="en-US" altLang="zh-CN" dirty="0"/>
              <a:t>implementation technique whereby different instructions are </a:t>
            </a:r>
            <a:r>
              <a:rPr lang="en-US" altLang="zh-CN" dirty="0">
                <a:solidFill>
                  <a:srgbClr val="FF3300"/>
                </a:solidFill>
              </a:rPr>
              <a:t>overlapped</a:t>
            </a:r>
            <a:r>
              <a:rPr lang="en-US" altLang="zh-CN" dirty="0"/>
              <a:t> in execution at the same time.</a:t>
            </a:r>
            <a:endParaRPr lang="en-US" altLang="zh-CN" dirty="0"/>
          </a:p>
          <a:p>
            <a:pPr lvl="1"/>
            <a:r>
              <a:rPr lang="en-US" altLang="zh-CN" dirty="0"/>
              <a:t>implementation technique to make </a:t>
            </a:r>
            <a:r>
              <a:rPr lang="en-US" altLang="zh-CN" dirty="0">
                <a:solidFill>
                  <a:srgbClr val="FF3300"/>
                </a:solidFill>
              </a:rPr>
              <a:t>fast</a:t>
            </a:r>
            <a:r>
              <a:rPr lang="en-US" altLang="zh-CN" dirty="0"/>
              <a:t> CPUs</a:t>
            </a:r>
            <a:endParaRPr lang="en-US" altLang="zh-CN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What is Pipelining ?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DA24C318-8E56-4222-8D93-8231BA1FB9B3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omic Sans MS" panose="030F0902030302020204" pitchFamily="66" charset="0"/>
              </a:rPr>
              <a:t>Laundry</a:t>
            </a:r>
            <a:endParaRPr lang="en-US" altLang="zh-CN" dirty="0">
              <a:latin typeface="Comic Sans MS" panose="030F0902030302020204" pitchFamily="66" charset="0"/>
            </a:endParaRPr>
          </a:p>
          <a:p>
            <a:pPr lvl="1"/>
            <a:r>
              <a:rPr lang="en-US" altLang="zh-CN" dirty="0">
                <a:latin typeface="Comic Sans MS" panose="030F0902030302020204" pitchFamily="66" charset="0"/>
              </a:rPr>
              <a:t>Ann, Brian, Cathy, Dave each have </a:t>
            </a:r>
            <a:endParaRPr lang="en-US" altLang="zh-CN" dirty="0">
              <a:latin typeface="Comic Sans MS" panose="030F0902030302020204" pitchFamily="66" charset="0"/>
            </a:endParaRPr>
          </a:p>
          <a:p>
            <a:pPr lvl="1"/>
            <a:r>
              <a:rPr lang="en-US" altLang="zh-CN" dirty="0">
                <a:latin typeface="Comic Sans MS" panose="030F0902030302020204" pitchFamily="66" charset="0"/>
              </a:rPr>
              <a:t>one load of clothes to wash, dry, and fold</a:t>
            </a:r>
            <a:endParaRPr lang="en-US" altLang="zh-CN" dirty="0">
              <a:latin typeface="Comic Sans MS" panose="030F0902030302020204" pitchFamily="66" charset="0"/>
            </a:endParaRPr>
          </a:p>
          <a:p>
            <a:pPr lvl="1"/>
            <a:endParaRPr lang="en-US" altLang="zh-CN" dirty="0">
              <a:latin typeface="Comic Sans MS" panose="030F0902030302020204" pitchFamily="66" charset="0"/>
            </a:endParaRPr>
          </a:p>
          <a:p>
            <a:pPr lvl="1"/>
            <a:r>
              <a:rPr lang="en-US" altLang="zh-CN" dirty="0">
                <a:latin typeface="Comic Sans MS" panose="030F0902030302020204" pitchFamily="66" charset="0"/>
              </a:rPr>
              <a:t>Washer takes 30 minutes</a:t>
            </a:r>
            <a:endParaRPr lang="en-US" altLang="zh-CN" dirty="0">
              <a:latin typeface="Comic Sans MS" panose="030F0902030302020204" pitchFamily="66" charset="0"/>
            </a:endParaRPr>
          </a:p>
          <a:p>
            <a:pPr lvl="1"/>
            <a:r>
              <a:rPr lang="en-US" altLang="zh-CN" dirty="0">
                <a:latin typeface="Comic Sans MS" panose="030F0902030302020204" pitchFamily="66" charset="0"/>
              </a:rPr>
              <a:t>Dryer takes 40 minutes</a:t>
            </a:r>
            <a:endParaRPr lang="en-US" altLang="zh-CN" dirty="0">
              <a:latin typeface="Comic Sans MS" panose="030F0902030302020204" pitchFamily="66" charset="0"/>
            </a:endParaRPr>
          </a:p>
          <a:p>
            <a:pPr lvl="1"/>
            <a:r>
              <a:rPr lang="en-US" altLang="zh-CN" dirty="0">
                <a:latin typeface="Comic Sans MS" panose="030F0902030302020204" pitchFamily="66" charset="0"/>
              </a:rPr>
              <a:t>“Folder” takes 20 minutes</a:t>
            </a:r>
            <a:endParaRPr lang="en-US" altLang="zh-CN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Why Pipelining: Its Natural</a:t>
            </a:r>
            <a:endParaRPr lang="en-US" altLang="zh-CN"/>
          </a:p>
        </p:txBody>
      </p:sp>
      <p:sp>
        <p:nvSpPr>
          <p:cNvPr id="40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9ACCB27E-0305-4F46-AD2F-0146D8D012A1}" type="slidenum">
              <a:rPr lang="en-US" altLang="zh-CN"/>
            </a:fld>
            <a:endParaRPr lang="en-US" altLang="zh-CN"/>
          </a:p>
        </p:txBody>
      </p:sp>
      <p:grpSp>
        <p:nvGrpSpPr>
          <p:cNvPr id="9220" name="Group 4"/>
          <p:cNvGrpSpPr/>
          <p:nvPr/>
        </p:nvGrpSpPr>
        <p:grpSpPr bwMode="auto">
          <a:xfrm>
            <a:off x="5962927" y="1491630"/>
            <a:ext cx="1668066" cy="404813"/>
            <a:chOff x="3692" y="1708"/>
            <a:chExt cx="1401" cy="340"/>
          </a:xfrm>
        </p:grpSpPr>
        <p:grpSp>
          <p:nvGrpSpPr>
            <p:cNvPr id="9221" name="Group 5"/>
            <p:cNvGrpSpPr/>
            <p:nvPr/>
          </p:nvGrpSpPr>
          <p:grpSpPr bwMode="auto">
            <a:xfrm>
              <a:off x="3692" y="1708"/>
              <a:ext cx="329" cy="340"/>
              <a:chOff x="3692" y="1708"/>
              <a:chExt cx="329" cy="340"/>
            </a:xfrm>
          </p:grpSpPr>
          <p:sp>
            <p:nvSpPr>
              <p:cNvPr id="9222" name="Freeform 6"/>
              <p:cNvSpPr/>
              <p:nvPr/>
            </p:nvSpPr>
            <p:spPr bwMode="auto">
              <a:xfrm>
                <a:off x="3692" y="1708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3" name="Rectangle 7"/>
              <p:cNvSpPr>
                <a:spLocks noChangeArrowheads="1"/>
              </p:cNvSpPr>
              <p:nvPr/>
            </p:nvSpPr>
            <p:spPr bwMode="auto">
              <a:xfrm>
                <a:off x="3742" y="1759"/>
                <a:ext cx="256" cy="2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A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9224" name="Group 8"/>
            <p:cNvGrpSpPr/>
            <p:nvPr/>
          </p:nvGrpSpPr>
          <p:grpSpPr bwMode="auto">
            <a:xfrm>
              <a:off x="4052" y="1708"/>
              <a:ext cx="329" cy="340"/>
              <a:chOff x="4052" y="1708"/>
              <a:chExt cx="329" cy="340"/>
            </a:xfrm>
          </p:grpSpPr>
          <p:sp>
            <p:nvSpPr>
              <p:cNvPr id="9225" name="Freeform 9"/>
              <p:cNvSpPr/>
              <p:nvPr/>
            </p:nvSpPr>
            <p:spPr bwMode="auto">
              <a:xfrm>
                <a:off x="4052" y="1708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6" name="Rectangle 10"/>
              <p:cNvSpPr>
                <a:spLocks noChangeArrowheads="1"/>
              </p:cNvSpPr>
              <p:nvPr/>
            </p:nvSpPr>
            <p:spPr bwMode="auto">
              <a:xfrm>
                <a:off x="4111" y="1759"/>
                <a:ext cx="238" cy="2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B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9227" name="Group 11"/>
            <p:cNvGrpSpPr/>
            <p:nvPr/>
          </p:nvGrpSpPr>
          <p:grpSpPr bwMode="auto">
            <a:xfrm>
              <a:off x="4412" y="1708"/>
              <a:ext cx="329" cy="340"/>
              <a:chOff x="4412" y="1708"/>
              <a:chExt cx="329" cy="340"/>
            </a:xfrm>
          </p:grpSpPr>
          <p:sp>
            <p:nvSpPr>
              <p:cNvPr id="9228" name="Freeform 12"/>
              <p:cNvSpPr/>
              <p:nvPr/>
            </p:nvSpPr>
            <p:spPr bwMode="auto">
              <a:xfrm>
                <a:off x="4412" y="1708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9" name="Rectangle 13"/>
              <p:cNvSpPr>
                <a:spLocks noChangeArrowheads="1"/>
              </p:cNvSpPr>
              <p:nvPr/>
            </p:nvSpPr>
            <p:spPr bwMode="auto">
              <a:xfrm>
                <a:off x="4473" y="1759"/>
                <a:ext cx="232" cy="2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C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9230" name="Group 14"/>
            <p:cNvGrpSpPr/>
            <p:nvPr/>
          </p:nvGrpSpPr>
          <p:grpSpPr bwMode="auto">
            <a:xfrm>
              <a:off x="4764" y="1708"/>
              <a:ext cx="329" cy="340"/>
              <a:chOff x="4764" y="1708"/>
              <a:chExt cx="329" cy="340"/>
            </a:xfrm>
          </p:grpSpPr>
          <p:sp>
            <p:nvSpPr>
              <p:cNvPr id="9231" name="Freeform 15"/>
              <p:cNvSpPr/>
              <p:nvPr/>
            </p:nvSpPr>
            <p:spPr bwMode="auto">
              <a:xfrm>
                <a:off x="4764" y="1708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2" name="Rectangle 16"/>
              <p:cNvSpPr>
                <a:spLocks noChangeArrowheads="1"/>
              </p:cNvSpPr>
              <p:nvPr/>
            </p:nvSpPr>
            <p:spPr bwMode="auto">
              <a:xfrm>
                <a:off x="4814" y="1759"/>
                <a:ext cx="255" cy="2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D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</p:grpSp>
      </p:grpSp>
      <p:grpSp>
        <p:nvGrpSpPr>
          <p:cNvPr id="9233" name="Group 17"/>
          <p:cNvGrpSpPr/>
          <p:nvPr/>
        </p:nvGrpSpPr>
        <p:grpSpPr bwMode="auto">
          <a:xfrm>
            <a:off x="6528097" y="2270076"/>
            <a:ext cx="504825" cy="600075"/>
            <a:chOff x="4228" y="2820"/>
            <a:chExt cx="424" cy="504"/>
          </a:xfrm>
        </p:grpSpPr>
        <p:grpSp>
          <p:nvGrpSpPr>
            <p:cNvPr id="9234" name="Group 18"/>
            <p:cNvGrpSpPr/>
            <p:nvPr/>
          </p:nvGrpSpPr>
          <p:grpSpPr bwMode="auto">
            <a:xfrm>
              <a:off x="4228" y="2820"/>
              <a:ext cx="424" cy="504"/>
              <a:chOff x="4228" y="2820"/>
              <a:chExt cx="424" cy="504"/>
            </a:xfrm>
          </p:grpSpPr>
          <p:sp>
            <p:nvSpPr>
              <p:cNvPr id="9235" name="AutoShape 19"/>
              <p:cNvSpPr>
                <a:spLocks noChangeArrowheads="1"/>
              </p:cNvSpPr>
              <p:nvPr/>
            </p:nvSpPr>
            <p:spPr bwMode="auto">
              <a:xfrm>
                <a:off x="4228" y="2900"/>
                <a:ext cx="424" cy="424"/>
              </a:xfrm>
              <a:prstGeom prst="cube">
                <a:avLst>
                  <a:gd name="adj" fmla="val 24995"/>
                </a:avLst>
              </a:prstGeom>
              <a:solidFill>
                <a:srgbClr val="A2C1FE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36" name="AutoShape 20"/>
              <p:cNvSpPr>
                <a:spLocks noChangeArrowheads="1"/>
              </p:cNvSpPr>
              <p:nvPr/>
            </p:nvSpPr>
            <p:spPr bwMode="auto">
              <a:xfrm>
                <a:off x="4324" y="2820"/>
                <a:ext cx="328" cy="88"/>
              </a:xfrm>
              <a:prstGeom prst="cube">
                <a:avLst>
                  <a:gd name="adj" fmla="val 24995"/>
                </a:avLst>
              </a:prstGeom>
              <a:solidFill>
                <a:srgbClr val="A2C1FE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237" name="Oval 21"/>
            <p:cNvSpPr>
              <a:spLocks noChangeArrowheads="1"/>
            </p:cNvSpPr>
            <p:nvPr/>
          </p:nvSpPr>
          <p:spPr bwMode="auto">
            <a:xfrm>
              <a:off x="4356" y="2860"/>
              <a:ext cx="56" cy="3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8" name="AutoShape 22"/>
            <p:cNvSpPr>
              <a:spLocks noChangeArrowheads="1"/>
            </p:cNvSpPr>
            <p:nvPr/>
          </p:nvSpPr>
          <p:spPr bwMode="auto">
            <a:xfrm>
              <a:off x="4280" y="3096"/>
              <a:ext cx="224" cy="96"/>
            </a:xfrm>
            <a:prstGeom prst="octagon">
              <a:avLst>
                <a:gd name="adj" fmla="val 29282"/>
              </a:avLst>
            </a:prstGeom>
            <a:solidFill>
              <a:srgbClr val="A2C1FE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39" name="Group 23"/>
          <p:cNvGrpSpPr/>
          <p:nvPr/>
        </p:nvGrpSpPr>
        <p:grpSpPr bwMode="auto">
          <a:xfrm>
            <a:off x="7490499" y="2348468"/>
            <a:ext cx="496491" cy="486966"/>
            <a:chOff x="4319" y="3408"/>
            <a:chExt cx="417" cy="409"/>
          </a:xfrm>
        </p:grpSpPr>
        <p:grpSp>
          <p:nvGrpSpPr>
            <p:cNvPr id="9240" name="Group 24"/>
            <p:cNvGrpSpPr/>
            <p:nvPr/>
          </p:nvGrpSpPr>
          <p:grpSpPr bwMode="auto">
            <a:xfrm>
              <a:off x="4321" y="3601"/>
              <a:ext cx="415" cy="216"/>
              <a:chOff x="4321" y="3601"/>
              <a:chExt cx="415" cy="216"/>
            </a:xfrm>
          </p:grpSpPr>
          <p:sp>
            <p:nvSpPr>
              <p:cNvPr id="9241" name="Freeform 25"/>
              <p:cNvSpPr/>
              <p:nvPr/>
            </p:nvSpPr>
            <p:spPr bwMode="auto">
              <a:xfrm>
                <a:off x="4523" y="3602"/>
                <a:ext cx="96" cy="215"/>
              </a:xfrm>
              <a:custGeom>
                <a:avLst/>
                <a:gdLst>
                  <a:gd name="T0" fmla="*/ 69 w 96"/>
                  <a:gd name="T1" fmla="*/ 0 h 215"/>
                  <a:gd name="T2" fmla="*/ 95 w 96"/>
                  <a:gd name="T3" fmla="*/ 0 h 215"/>
                  <a:gd name="T4" fmla="*/ 26 w 96"/>
                  <a:gd name="T5" fmla="*/ 214 h 215"/>
                  <a:gd name="T6" fmla="*/ 0 w 96"/>
                  <a:gd name="T7" fmla="*/ 214 h 215"/>
                  <a:gd name="T8" fmla="*/ 69 w 96"/>
                  <a:gd name="T9" fmla="*/ 0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215">
                    <a:moveTo>
                      <a:pt x="69" y="0"/>
                    </a:moveTo>
                    <a:lnTo>
                      <a:pt x="95" y="0"/>
                    </a:lnTo>
                    <a:lnTo>
                      <a:pt x="26" y="214"/>
                    </a:lnTo>
                    <a:lnTo>
                      <a:pt x="0" y="214"/>
                    </a:lnTo>
                    <a:lnTo>
                      <a:pt x="69" y="0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2" name="Rectangle 26"/>
              <p:cNvSpPr>
                <a:spLocks noChangeArrowheads="1"/>
              </p:cNvSpPr>
              <p:nvPr/>
            </p:nvSpPr>
            <p:spPr bwMode="auto">
              <a:xfrm>
                <a:off x="4518" y="3601"/>
                <a:ext cx="218" cy="12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3" name="Rectangle 27"/>
              <p:cNvSpPr>
                <a:spLocks noChangeArrowheads="1"/>
              </p:cNvSpPr>
              <p:nvPr/>
            </p:nvSpPr>
            <p:spPr bwMode="auto">
              <a:xfrm>
                <a:off x="4517" y="3692"/>
                <a:ext cx="218" cy="13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4" name="Rectangle 28"/>
              <p:cNvSpPr>
                <a:spLocks noChangeArrowheads="1"/>
              </p:cNvSpPr>
              <p:nvPr/>
            </p:nvSpPr>
            <p:spPr bwMode="auto">
              <a:xfrm>
                <a:off x="4321" y="3692"/>
                <a:ext cx="116" cy="13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245" name="Group 29"/>
            <p:cNvGrpSpPr/>
            <p:nvPr/>
          </p:nvGrpSpPr>
          <p:grpSpPr bwMode="auto">
            <a:xfrm>
              <a:off x="4319" y="3408"/>
              <a:ext cx="217" cy="409"/>
              <a:chOff x="4319" y="3408"/>
              <a:chExt cx="217" cy="409"/>
            </a:xfrm>
          </p:grpSpPr>
          <p:sp>
            <p:nvSpPr>
              <p:cNvPr id="9246" name="Oval 30"/>
              <p:cNvSpPr>
                <a:spLocks noChangeArrowheads="1"/>
              </p:cNvSpPr>
              <p:nvPr/>
            </p:nvSpPr>
            <p:spPr bwMode="auto">
              <a:xfrm>
                <a:off x="4403" y="3408"/>
                <a:ext cx="55" cy="55"/>
              </a:xfrm>
              <a:prstGeom prst="ellipse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7" name="Freeform 31"/>
              <p:cNvSpPr/>
              <p:nvPr/>
            </p:nvSpPr>
            <p:spPr bwMode="auto">
              <a:xfrm>
                <a:off x="4319" y="3485"/>
                <a:ext cx="217" cy="332"/>
              </a:xfrm>
              <a:custGeom>
                <a:avLst/>
                <a:gdLst>
                  <a:gd name="T0" fmla="*/ 2 w 217"/>
                  <a:gd name="T1" fmla="*/ 153 h 332"/>
                  <a:gd name="T2" fmla="*/ 1 w 217"/>
                  <a:gd name="T3" fmla="*/ 157 h 332"/>
                  <a:gd name="T4" fmla="*/ 0 w 217"/>
                  <a:gd name="T5" fmla="*/ 163 h 332"/>
                  <a:gd name="T6" fmla="*/ 0 w 217"/>
                  <a:gd name="T7" fmla="*/ 168 h 332"/>
                  <a:gd name="T8" fmla="*/ 2 w 217"/>
                  <a:gd name="T9" fmla="*/ 174 h 332"/>
                  <a:gd name="T10" fmla="*/ 5 w 217"/>
                  <a:gd name="T11" fmla="*/ 179 h 332"/>
                  <a:gd name="T12" fmla="*/ 9 w 217"/>
                  <a:gd name="T13" fmla="*/ 183 h 332"/>
                  <a:gd name="T14" fmla="*/ 14 w 217"/>
                  <a:gd name="T15" fmla="*/ 186 h 332"/>
                  <a:gd name="T16" fmla="*/ 17 w 217"/>
                  <a:gd name="T17" fmla="*/ 186 h 332"/>
                  <a:gd name="T18" fmla="*/ 23 w 217"/>
                  <a:gd name="T19" fmla="*/ 186 h 332"/>
                  <a:gd name="T20" fmla="*/ 141 w 217"/>
                  <a:gd name="T21" fmla="*/ 331 h 332"/>
                  <a:gd name="T22" fmla="*/ 178 w 217"/>
                  <a:gd name="T23" fmla="*/ 159 h 332"/>
                  <a:gd name="T24" fmla="*/ 177 w 217"/>
                  <a:gd name="T25" fmla="*/ 155 h 332"/>
                  <a:gd name="T26" fmla="*/ 176 w 217"/>
                  <a:gd name="T27" fmla="*/ 152 h 332"/>
                  <a:gd name="T28" fmla="*/ 173 w 217"/>
                  <a:gd name="T29" fmla="*/ 149 h 332"/>
                  <a:gd name="T30" fmla="*/ 170 w 217"/>
                  <a:gd name="T31" fmla="*/ 147 h 332"/>
                  <a:gd name="T32" fmla="*/ 166 w 217"/>
                  <a:gd name="T33" fmla="*/ 145 h 332"/>
                  <a:gd name="T34" fmla="*/ 161 w 217"/>
                  <a:gd name="T35" fmla="*/ 145 h 332"/>
                  <a:gd name="T36" fmla="*/ 157 w 217"/>
                  <a:gd name="T37" fmla="*/ 145 h 332"/>
                  <a:gd name="T38" fmla="*/ 153 w 217"/>
                  <a:gd name="T39" fmla="*/ 145 h 332"/>
                  <a:gd name="T40" fmla="*/ 104 w 217"/>
                  <a:gd name="T41" fmla="*/ 84 h 332"/>
                  <a:gd name="T42" fmla="*/ 201 w 217"/>
                  <a:gd name="T43" fmla="*/ 104 h 332"/>
                  <a:gd name="T44" fmla="*/ 204 w 217"/>
                  <a:gd name="T45" fmla="*/ 103 h 332"/>
                  <a:gd name="T46" fmla="*/ 207 w 217"/>
                  <a:gd name="T47" fmla="*/ 103 h 332"/>
                  <a:gd name="T48" fmla="*/ 211 w 217"/>
                  <a:gd name="T49" fmla="*/ 100 h 332"/>
                  <a:gd name="T50" fmla="*/ 214 w 217"/>
                  <a:gd name="T51" fmla="*/ 97 h 332"/>
                  <a:gd name="T52" fmla="*/ 215 w 217"/>
                  <a:gd name="T53" fmla="*/ 93 h 332"/>
                  <a:gd name="T54" fmla="*/ 216 w 217"/>
                  <a:gd name="T55" fmla="*/ 88 h 332"/>
                  <a:gd name="T56" fmla="*/ 215 w 217"/>
                  <a:gd name="T57" fmla="*/ 83 h 332"/>
                  <a:gd name="T58" fmla="*/ 213 w 217"/>
                  <a:gd name="T59" fmla="*/ 79 h 332"/>
                  <a:gd name="T60" fmla="*/ 210 w 217"/>
                  <a:gd name="T61" fmla="*/ 76 h 332"/>
                  <a:gd name="T62" fmla="*/ 206 w 217"/>
                  <a:gd name="T63" fmla="*/ 73 h 332"/>
                  <a:gd name="T64" fmla="*/ 203 w 217"/>
                  <a:gd name="T65" fmla="*/ 72 h 332"/>
                  <a:gd name="T66" fmla="*/ 137 w 217"/>
                  <a:gd name="T67" fmla="*/ 72 h 332"/>
                  <a:gd name="T68" fmla="*/ 125 w 217"/>
                  <a:gd name="T69" fmla="*/ 47 h 332"/>
                  <a:gd name="T70" fmla="*/ 126 w 217"/>
                  <a:gd name="T71" fmla="*/ 41 h 332"/>
                  <a:gd name="T72" fmla="*/ 127 w 217"/>
                  <a:gd name="T73" fmla="*/ 34 h 332"/>
                  <a:gd name="T74" fmla="*/ 127 w 217"/>
                  <a:gd name="T75" fmla="*/ 27 h 332"/>
                  <a:gd name="T76" fmla="*/ 125 w 217"/>
                  <a:gd name="T77" fmla="*/ 21 h 332"/>
                  <a:gd name="T78" fmla="*/ 123 w 217"/>
                  <a:gd name="T79" fmla="*/ 17 h 332"/>
                  <a:gd name="T80" fmla="*/ 120 w 217"/>
                  <a:gd name="T81" fmla="*/ 12 h 332"/>
                  <a:gd name="T82" fmla="*/ 115 w 217"/>
                  <a:gd name="T83" fmla="*/ 8 h 332"/>
                  <a:gd name="T84" fmla="*/ 110 w 217"/>
                  <a:gd name="T85" fmla="*/ 4 h 332"/>
                  <a:gd name="T86" fmla="*/ 104 w 217"/>
                  <a:gd name="T87" fmla="*/ 1 h 332"/>
                  <a:gd name="T88" fmla="*/ 97 w 217"/>
                  <a:gd name="T89" fmla="*/ 0 h 332"/>
                  <a:gd name="T90" fmla="*/ 91 w 217"/>
                  <a:gd name="T91" fmla="*/ 0 h 332"/>
                  <a:gd name="T92" fmla="*/ 84 w 217"/>
                  <a:gd name="T93" fmla="*/ 1 h 332"/>
                  <a:gd name="T94" fmla="*/ 77 w 217"/>
                  <a:gd name="T95" fmla="*/ 3 h 332"/>
                  <a:gd name="T96" fmla="*/ 70 w 217"/>
                  <a:gd name="T97" fmla="*/ 7 h 332"/>
                  <a:gd name="T98" fmla="*/ 66 w 217"/>
                  <a:gd name="T99" fmla="*/ 13 h 332"/>
                  <a:gd name="T100" fmla="*/ 62 w 217"/>
                  <a:gd name="T101" fmla="*/ 19 h 332"/>
                  <a:gd name="T102" fmla="*/ 59 w 217"/>
                  <a:gd name="T103" fmla="*/ 25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17" h="332">
                    <a:moveTo>
                      <a:pt x="59" y="25"/>
                    </a:moveTo>
                    <a:lnTo>
                      <a:pt x="2" y="153"/>
                    </a:lnTo>
                    <a:lnTo>
                      <a:pt x="1" y="155"/>
                    </a:lnTo>
                    <a:lnTo>
                      <a:pt x="1" y="157"/>
                    </a:lnTo>
                    <a:lnTo>
                      <a:pt x="0" y="159"/>
                    </a:lnTo>
                    <a:lnTo>
                      <a:pt x="0" y="163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1"/>
                    </a:lnTo>
                    <a:lnTo>
                      <a:pt x="2" y="174"/>
                    </a:lnTo>
                    <a:lnTo>
                      <a:pt x="3" y="176"/>
                    </a:lnTo>
                    <a:lnTo>
                      <a:pt x="5" y="179"/>
                    </a:lnTo>
                    <a:lnTo>
                      <a:pt x="7" y="181"/>
                    </a:lnTo>
                    <a:lnTo>
                      <a:pt x="9" y="183"/>
                    </a:lnTo>
                    <a:lnTo>
                      <a:pt x="12" y="184"/>
                    </a:lnTo>
                    <a:lnTo>
                      <a:pt x="14" y="186"/>
                    </a:lnTo>
                    <a:lnTo>
                      <a:pt x="15" y="186"/>
                    </a:lnTo>
                    <a:lnTo>
                      <a:pt x="17" y="186"/>
                    </a:lnTo>
                    <a:lnTo>
                      <a:pt x="20" y="186"/>
                    </a:lnTo>
                    <a:lnTo>
                      <a:pt x="23" y="186"/>
                    </a:lnTo>
                    <a:lnTo>
                      <a:pt x="141" y="186"/>
                    </a:lnTo>
                    <a:lnTo>
                      <a:pt x="141" y="331"/>
                    </a:lnTo>
                    <a:lnTo>
                      <a:pt x="178" y="331"/>
                    </a:lnTo>
                    <a:lnTo>
                      <a:pt x="178" y="159"/>
                    </a:lnTo>
                    <a:lnTo>
                      <a:pt x="178" y="157"/>
                    </a:lnTo>
                    <a:lnTo>
                      <a:pt x="177" y="155"/>
                    </a:lnTo>
                    <a:lnTo>
                      <a:pt x="176" y="153"/>
                    </a:lnTo>
                    <a:lnTo>
                      <a:pt x="176" y="152"/>
                    </a:lnTo>
                    <a:lnTo>
                      <a:pt x="175" y="151"/>
                    </a:lnTo>
                    <a:lnTo>
                      <a:pt x="173" y="149"/>
                    </a:lnTo>
                    <a:lnTo>
                      <a:pt x="172" y="148"/>
                    </a:lnTo>
                    <a:lnTo>
                      <a:pt x="170" y="147"/>
                    </a:lnTo>
                    <a:lnTo>
                      <a:pt x="168" y="146"/>
                    </a:lnTo>
                    <a:lnTo>
                      <a:pt x="166" y="145"/>
                    </a:lnTo>
                    <a:lnTo>
                      <a:pt x="164" y="145"/>
                    </a:lnTo>
                    <a:lnTo>
                      <a:pt x="161" y="145"/>
                    </a:lnTo>
                    <a:lnTo>
                      <a:pt x="159" y="145"/>
                    </a:lnTo>
                    <a:lnTo>
                      <a:pt x="157" y="145"/>
                    </a:lnTo>
                    <a:lnTo>
                      <a:pt x="155" y="145"/>
                    </a:lnTo>
                    <a:lnTo>
                      <a:pt x="153" y="145"/>
                    </a:lnTo>
                    <a:lnTo>
                      <a:pt x="85" y="141"/>
                    </a:lnTo>
                    <a:lnTo>
                      <a:pt x="104" y="84"/>
                    </a:lnTo>
                    <a:lnTo>
                      <a:pt x="118" y="104"/>
                    </a:lnTo>
                    <a:lnTo>
                      <a:pt x="201" y="104"/>
                    </a:lnTo>
                    <a:lnTo>
                      <a:pt x="203" y="103"/>
                    </a:lnTo>
                    <a:lnTo>
                      <a:pt x="204" y="103"/>
                    </a:lnTo>
                    <a:lnTo>
                      <a:pt x="206" y="103"/>
                    </a:lnTo>
                    <a:lnTo>
                      <a:pt x="207" y="103"/>
                    </a:lnTo>
                    <a:lnTo>
                      <a:pt x="209" y="101"/>
                    </a:lnTo>
                    <a:lnTo>
                      <a:pt x="211" y="100"/>
                    </a:lnTo>
                    <a:lnTo>
                      <a:pt x="212" y="98"/>
                    </a:lnTo>
                    <a:lnTo>
                      <a:pt x="214" y="97"/>
                    </a:lnTo>
                    <a:lnTo>
                      <a:pt x="215" y="95"/>
                    </a:lnTo>
                    <a:lnTo>
                      <a:pt x="215" y="93"/>
                    </a:lnTo>
                    <a:lnTo>
                      <a:pt x="216" y="91"/>
                    </a:lnTo>
                    <a:lnTo>
                      <a:pt x="216" y="88"/>
                    </a:lnTo>
                    <a:lnTo>
                      <a:pt x="216" y="85"/>
                    </a:lnTo>
                    <a:lnTo>
                      <a:pt x="215" y="83"/>
                    </a:lnTo>
                    <a:lnTo>
                      <a:pt x="214" y="81"/>
                    </a:lnTo>
                    <a:lnTo>
                      <a:pt x="213" y="79"/>
                    </a:lnTo>
                    <a:lnTo>
                      <a:pt x="211" y="77"/>
                    </a:lnTo>
                    <a:lnTo>
                      <a:pt x="210" y="76"/>
                    </a:lnTo>
                    <a:lnTo>
                      <a:pt x="208" y="74"/>
                    </a:lnTo>
                    <a:lnTo>
                      <a:pt x="206" y="73"/>
                    </a:lnTo>
                    <a:lnTo>
                      <a:pt x="205" y="72"/>
                    </a:lnTo>
                    <a:lnTo>
                      <a:pt x="203" y="72"/>
                    </a:lnTo>
                    <a:lnTo>
                      <a:pt x="201" y="72"/>
                    </a:lnTo>
                    <a:lnTo>
                      <a:pt x="137" y="72"/>
                    </a:lnTo>
                    <a:lnTo>
                      <a:pt x="123" y="49"/>
                    </a:lnTo>
                    <a:lnTo>
                      <a:pt x="125" y="47"/>
                    </a:lnTo>
                    <a:lnTo>
                      <a:pt x="126" y="44"/>
                    </a:lnTo>
                    <a:lnTo>
                      <a:pt x="126" y="41"/>
                    </a:lnTo>
                    <a:lnTo>
                      <a:pt x="127" y="38"/>
                    </a:lnTo>
                    <a:lnTo>
                      <a:pt x="127" y="34"/>
                    </a:lnTo>
                    <a:lnTo>
                      <a:pt x="127" y="31"/>
                    </a:lnTo>
                    <a:lnTo>
                      <a:pt x="127" y="27"/>
                    </a:lnTo>
                    <a:lnTo>
                      <a:pt x="126" y="24"/>
                    </a:lnTo>
                    <a:lnTo>
                      <a:pt x="125" y="21"/>
                    </a:lnTo>
                    <a:lnTo>
                      <a:pt x="124" y="20"/>
                    </a:lnTo>
                    <a:lnTo>
                      <a:pt x="123" y="17"/>
                    </a:lnTo>
                    <a:lnTo>
                      <a:pt x="122" y="15"/>
                    </a:lnTo>
                    <a:lnTo>
                      <a:pt x="120" y="12"/>
                    </a:lnTo>
                    <a:lnTo>
                      <a:pt x="118" y="10"/>
                    </a:lnTo>
                    <a:lnTo>
                      <a:pt x="115" y="8"/>
                    </a:lnTo>
                    <a:lnTo>
                      <a:pt x="113" y="6"/>
                    </a:lnTo>
                    <a:lnTo>
                      <a:pt x="110" y="4"/>
                    </a:lnTo>
                    <a:lnTo>
                      <a:pt x="107" y="3"/>
                    </a:lnTo>
                    <a:lnTo>
                      <a:pt x="104" y="1"/>
                    </a:lnTo>
                    <a:lnTo>
                      <a:pt x="100" y="1"/>
                    </a:lnTo>
                    <a:lnTo>
                      <a:pt x="97" y="0"/>
                    </a:lnTo>
                    <a:lnTo>
                      <a:pt x="95" y="0"/>
                    </a:lnTo>
                    <a:lnTo>
                      <a:pt x="91" y="0"/>
                    </a:lnTo>
                    <a:lnTo>
                      <a:pt x="88" y="0"/>
                    </a:lnTo>
                    <a:lnTo>
                      <a:pt x="84" y="1"/>
                    </a:lnTo>
                    <a:lnTo>
                      <a:pt x="81" y="2"/>
                    </a:lnTo>
                    <a:lnTo>
                      <a:pt x="77" y="3"/>
                    </a:lnTo>
                    <a:lnTo>
                      <a:pt x="74" y="5"/>
                    </a:lnTo>
                    <a:lnTo>
                      <a:pt x="70" y="7"/>
                    </a:lnTo>
                    <a:lnTo>
                      <a:pt x="68" y="10"/>
                    </a:lnTo>
                    <a:lnTo>
                      <a:pt x="66" y="13"/>
                    </a:lnTo>
                    <a:lnTo>
                      <a:pt x="64" y="15"/>
                    </a:lnTo>
                    <a:lnTo>
                      <a:pt x="62" y="19"/>
                    </a:lnTo>
                    <a:lnTo>
                      <a:pt x="60" y="21"/>
                    </a:lnTo>
                    <a:lnTo>
                      <a:pt x="59" y="25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248" name="Group 32"/>
          <p:cNvGrpSpPr/>
          <p:nvPr/>
        </p:nvGrpSpPr>
        <p:grpSpPr bwMode="auto">
          <a:xfrm>
            <a:off x="5674356" y="2256165"/>
            <a:ext cx="504825" cy="600075"/>
            <a:chOff x="4212" y="2144"/>
            <a:chExt cx="424" cy="504"/>
          </a:xfrm>
        </p:grpSpPr>
        <p:grpSp>
          <p:nvGrpSpPr>
            <p:cNvPr id="9249" name="Group 33"/>
            <p:cNvGrpSpPr/>
            <p:nvPr/>
          </p:nvGrpSpPr>
          <p:grpSpPr bwMode="auto">
            <a:xfrm>
              <a:off x="4212" y="2144"/>
              <a:ext cx="424" cy="504"/>
              <a:chOff x="4212" y="2144"/>
              <a:chExt cx="424" cy="504"/>
            </a:xfrm>
          </p:grpSpPr>
          <p:grpSp>
            <p:nvGrpSpPr>
              <p:cNvPr id="9250" name="Group 34"/>
              <p:cNvGrpSpPr/>
              <p:nvPr/>
            </p:nvGrpSpPr>
            <p:grpSpPr bwMode="auto">
              <a:xfrm>
                <a:off x="4212" y="2144"/>
                <a:ext cx="424" cy="504"/>
                <a:chOff x="4212" y="2144"/>
                <a:chExt cx="424" cy="504"/>
              </a:xfrm>
            </p:grpSpPr>
            <p:sp>
              <p:nvSpPr>
                <p:cNvPr id="9251" name="AutoShape 35"/>
                <p:cNvSpPr>
                  <a:spLocks noChangeArrowheads="1"/>
                </p:cNvSpPr>
                <p:nvPr/>
              </p:nvSpPr>
              <p:spPr bwMode="auto">
                <a:xfrm>
                  <a:off x="4212" y="2224"/>
                  <a:ext cx="424" cy="424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52" name="AutoShape 36"/>
                <p:cNvSpPr>
                  <a:spLocks noChangeArrowheads="1"/>
                </p:cNvSpPr>
                <p:nvPr/>
              </p:nvSpPr>
              <p:spPr bwMode="auto">
                <a:xfrm>
                  <a:off x="4308" y="2144"/>
                  <a:ext cx="328" cy="88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253" name="AutoShape 37"/>
              <p:cNvSpPr>
                <a:spLocks noChangeArrowheads="1"/>
              </p:cNvSpPr>
              <p:nvPr/>
            </p:nvSpPr>
            <p:spPr bwMode="auto">
              <a:xfrm>
                <a:off x="4296" y="2260"/>
                <a:ext cx="224" cy="32"/>
              </a:xfrm>
              <a:prstGeom prst="parallelogram">
                <a:avLst>
                  <a:gd name="adj" fmla="val 174968"/>
                </a:avLst>
              </a:prstGeom>
              <a:solidFill>
                <a:srgbClr val="F6BF69"/>
              </a:solidFill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254" name="Oval 38"/>
            <p:cNvSpPr>
              <a:spLocks noChangeArrowheads="1"/>
            </p:cNvSpPr>
            <p:nvPr/>
          </p:nvSpPr>
          <p:spPr bwMode="auto">
            <a:xfrm>
              <a:off x="4540" y="2184"/>
              <a:ext cx="56" cy="3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3758208"/>
            <a:ext cx="6858000" cy="742950"/>
          </a:xfrm>
        </p:spPr>
        <p:txBody>
          <a:bodyPr/>
          <a:lstStyle/>
          <a:p>
            <a:r>
              <a:rPr lang="en-US" altLang="zh-CN">
                <a:latin typeface="Comic Sans MS" panose="030F0902030302020204" pitchFamily="66" charset="0"/>
              </a:rPr>
              <a:t>Sequential laundry takes 6 hours for 4 loads</a:t>
            </a:r>
            <a:endParaRPr lang="en-US" altLang="zh-CN">
              <a:latin typeface="Comic Sans MS" panose="030F0902030302020204" pitchFamily="66" charset="0"/>
            </a:endParaRPr>
          </a:p>
          <a:p>
            <a:r>
              <a:rPr lang="en-US" altLang="zh-CN" b="1">
                <a:solidFill>
                  <a:srgbClr val="FF3300"/>
                </a:solidFill>
                <a:latin typeface="Comic Sans MS" panose="030F0902030302020204" pitchFamily="66" charset="0"/>
              </a:rPr>
              <a:t>If they learned pipelining, how long would laundry take?</a:t>
            </a:r>
            <a:endParaRPr lang="en-US" altLang="zh-CN">
              <a:solidFill>
                <a:schemeClr val="hlink"/>
              </a:solidFill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Sequential Laundry</a:t>
            </a:r>
            <a:endParaRPr lang="en-US" altLang="zh-CN"/>
          </a:p>
        </p:txBody>
      </p:sp>
      <p:sp>
        <p:nvSpPr>
          <p:cNvPr id="146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0D02EA7D-78AA-4A3C-A52C-92ABED6D9EB4}" type="slidenum">
              <a:rPr lang="en-US" altLang="zh-CN"/>
            </a:fld>
            <a:endParaRPr lang="en-US" altLang="zh-CN"/>
          </a:p>
        </p:txBody>
      </p:sp>
      <p:grpSp>
        <p:nvGrpSpPr>
          <p:cNvPr id="10383" name="Group 143"/>
          <p:cNvGrpSpPr/>
          <p:nvPr/>
        </p:nvGrpSpPr>
        <p:grpSpPr bwMode="auto">
          <a:xfrm>
            <a:off x="1828800" y="843558"/>
            <a:ext cx="5587271" cy="2789604"/>
            <a:chOff x="400" y="615"/>
            <a:chExt cx="5045" cy="2828"/>
          </a:xfrm>
        </p:grpSpPr>
        <p:grpSp>
          <p:nvGrpSpPr>
            <p:cNvPr id="10384" name="Group 144"/>
            <p:cNvGrpSpPr/>
            <p:nvPr/>
          </p:nvGrpSpPr>
          <p:grpSpPr bwMode="auto">
            <a:xfrm>
              <a:off x="532" y="1614"/>
              <a:ext cx="329" cy="349"/>
              <a:chOff x="532" y="1614"/>
              <a:chExt cx="329" cy="349"/>
            </a:xfrm>
          </p:grpSpPr>
          <p:sp>
            <p:nvSpPr>
              <p:cNvPr id="10385" name="Freeform 145"/>
              <p:cNvSpPr/>
              <p:nvPr/>
            </p:nvSpPr>
            <p:spPr bwMode="auto">
              <a:xfrm>
                <a:off x="532" y="1620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6" name="Rectangle 146"/>
              <p:cNvSpPr>
                <a:spLocks noChangeArrowheads="1"/>
              </p:cNvSpPr>
              <p:nvPr/>
            </p:nvSpPr>
            <p:spPr bwMode="auto">
              <a:xfrm>
                <a:off x="565" y="1614"/>
                <a:ext cx="276" cy="3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 dirty="0">
                    <a:latin typeface="Comic Sans MS" panose="030F0902030302020204" pitchFamily="66" charset="0"/>
                  </a:rPr>
                  <a:t>A</a:t>
                </a:r>
                <a:endParaRPr lang="en-US" altLang="zh-CN" dirty="0"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10387" name="Group 147"/>
            <p:cNvGrpSpPr/>
            <p:nvPr/>
          </p:nvGrpSpPr>
          <p:grpSpPr bwMode="auto">
            <a:xfrm>
              <a:off x="524" y="2140"/>
              <a:ext cx="329" cy="367"/>
              <a:chOff x="524" y="2140"/>
              <a:chExt cx="329" cy="367"/>
            </a:xfrm>
          </p:grpSpPr>
          <p:sp>
            <p:nvSpPr>
              <p:cNvPr id="10388" name="Freeform 148"/>
              <p:cNvSpPr/>
              <p:nvPr/>
            </p:nvSpPr>
            <p:spPr bwMode="auto">
              <a:xfrm>
                <a:off x="524" y="2140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9" name="Rectangle 149"/>
              <p:cNvSpPr>
                <a:spLocks noChangeArrowheads="1"/>
              </p:cNvSpPr>
              <p:nvPr/>
            </p:nvSpPr>
            <p:spPr bwMode="auto">
              <a:xfrm>
                <a:off x="567" y="2158"/>
                <a:ext cx="255" cy="3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 dirty="0">
                    <a:latin typeface="Comic Sans MS" panose="030F0902030302020204" pitchFamily="66" charset="0"/>
                  </a:rPr>
                  <a:t>B</a:t>
                </a:r>
                <a:endParaRPr lang="en-US" altLang="zh-CN" dirty="0"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10390" name="Group 150"/>
            <p:cNvGrpSpPr/>
            <p:nvPr/>
          </p:nvGrpSpPr>
          <p:grpSpPr bwMode="auto">
            <a:xfrm>
              <a:off x="508" y="2604"/>
              <a:ext cx="329" cy="370"/>
              <a:chOff x="508" y="2604"/>
              <a:chExt cx="329" cy="370"/>
            </a:xfrm>
          </p:grpSpPr>
          <p:sp>
            <p:nvSpPr>
              <p:cNvPr id="10391" name="Freeform 151"/>
              <p:cNvSpPr/>
              <p:nvPr/>
            </p:nvSpPr>
            <p:spPr bwMode="auto">
              <a:xfrm>
                <a:off x="508" y="2604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2" name="Rectangle 152"/>
              <p:cNvSpPr>
                <a:spLocks noChangeArrowheads="1"/>
              </p:cNvSpPr>
              <p:nvPr/>
            </p:nvSpPr>
            <p:spPr bwMode="auto">
              <a:xfrm>
                <a:off x="533" y="2625"/>
                <a:ext cx="250" cy="3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 dirty="0">
                    <a:latin typeface="Comic Sans MS" panose="030F0902030302020204" pitchFamily="66" charset="0"/>
                  </a:rPr>
                  <a:t>C</a:t>
                </a:r>
                <a:endParaRPr lang="en-US" altLang="zh-CN" dirty="0"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10393" name="Group 153"/>
            <p:cNvGrpSpPr/>
            <p:nvPr/>
          </p:nvGrpSpPr>
          <p:grpSpPr bwMode="auto">
            <a:xfrm>
              <a:off x="500" y="3076"/>
              <a:ext cx="329" cy="367"/>
              <a:chOff x="500" y="3076"/>
              <a:chExt cx="329" cy="367"/>
            </a:xfrm>
          </p:grpSpPr>
          <p:sp>
            <p:nvSpPr>
              <p:cNvPr id="10394" name="Freeform 154"/>
              <p:cNvSpPr/>
              <p:nvPr/>
            </p:nvSpPr>
            <p:spPr bwMode="auto">
              <a:xfrm>
                <a:off x="500" y="3076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5" name="Rectangle 155"/>
              <p:cNvSpPr>
                <a:spLocks noChangeArrowheads="1"/>
              </p:cNvSpPr>
              <p:nvPr/>
            </p:nvSpPr>
            <p:spPr bwMode="auto">
              <a:xfrm>
                <a:off x="540" y="3094"/>
                <a:ext cx="274" cy="3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 dirty="0">
                    <a:latin typeface="Comic Sans MS" panose="030F0902030302020204" pitchFamily="66" charset="0"/>
                  </a:rPr>
                  <a:t>D</a:t>
                </a:r>
                <a:endParaRPr lang="en-US" altLang="zh-CN" dirty="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10396" name="Rectangle 156"/>
            <p:cNvSpPr>
              <a:spLocks noChangeArrowheads="1"/>
            </p:cNvSpPr>
            <p:nvPr/>
          </p:nvSpPr>
          <p:spPr bwMode="auto">
            <a:xfrm>
              <a:off x="907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30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grpSp>
          <p:nvGrpSpPr>
            <p:cNvPr id="10397" name="Group 157"/>
            <p:cNvGrpSpPr/>
            <p:nvPr/>
          </p:nvGrpSpPr>
          <p:grpSpPr bwMode="auto">
            <a:xfrm>
              <a:off x="952" y="1304"/>
              <a:ext cx="944" cy="0"/>
              <a:chOff x="952" y="1304"/>
              <a:chExt cx="944" cy="0"/>
            </a:xfrm>
          </p:grpSpPr>
          <p:sp>
            <p:nvSpPr>
              <p:cNvPr id="10398" name="Line 158"/>
              <p:cNvSpPr>
                <a:spLocks noChangeShapeType="1"/>
              </p:cNvSpPr>
              <p:nvPr/>
            </p:nvSpPr>
            <p:spPr bwMode="auto">
              <a:xfrm>
                <a:off x="952" y="1304"/>
                <a:ext cx="288" cy="0"/>
              </a:xfrm>
              <a:prstGeom prst="line">
                <a:avLst/>
              </a:prstGeom>
              <a:noFill/>
              <a:ln w="50800">
                <a:solidFill>
                  <a:srgbClr val="F6BF69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99" name="Line 159"/>
              <p:cNvSpPr>
                <a:spLocks noChangeShapeType="1"/>
              </p:cNvSpPr>
              <p:nvPr/>
            </p:nvSpPr>
            <p:spPr bwMode="auto">
              <a:xfrm>
                <a:off x="1280" y="1304"/>
                <a:ext cx="360" cy="0"/>
              </a:xfrm>
              <a:prstGeom prst="line">
                <a:avLst/>
              </a:prstGeom>
              <a:noFill/>
              <a:ln w="50800">
                <a:solidFill>
                  <a:srgbClr val="A2C1FE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00" name="Line 160"/>
              <p:cNvSpPr>
                <a:spLocks noChangeShapeType="1"/>
              </p:cNvSpPr>
              <p:nvPr/>
            </p:nvSpPr>
            <p:spPr bwMode="auto">
              <a:xfrm>
                <a:off x="1680" y="1304"/>
                <a:ext cx="216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401" name="Rectangle 161"/>
            <p:cNvSpPr>
              <a:spLocks noChangeArrowheads="1"/>
            </p:cNvSpPr>
            <p:nvPr/>
          </p:nvSpPr>
          <p:spPr bwMode="auto">
            <a:xfrm>
              <a:off x="1273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40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02" name="Rectangle 162"/>
            <p:cNvSpPr>
              <a:spLocks noChangeArrowheads="1"/>
            </p:cNvSpPr>
            <p:nvPr/>
          </p:nvSpPr>
          <p:spPr bwMode="auto">
            <a:xfrm>
              <a:off x="1602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20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03" name="Line 163"/>
            <p:cNvSpPr>
              <a:spLocks noChangeShapeType="1"/>
            </p:cNvSpPr>
            <p:nvPr/>
          </p:nvSpPr>
          <p:spPr bwMode="auto">
            <a:xfrm>
              <a:off x="1264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4" name="Line 164"/>
            <p:cNvSpPr>
              <a:spLocks noChangeShapeType="1"/>
            </p:cNvSpPr>
            <p:nvPr/>
          </p:nvSpPr>
          <p:spPr bwMode="auto">
            <a:xfrm>
              <a:off x="1664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5" name="Line 165"/>
            <p:cNvSpPr>
              <a:spLocks noChangeShapeType="1"/>
            </p:cNvSpPr>
            <p:nvPr/>
          </p:nvSpPr>
          <p:spPr bwMode="auto">
            <a:xfrm>
              <a:off x="1920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6" name="Rectangle 166"/>
            <p:cNvSpPr>
              <a:spLocks noChangeArrowheads="1"/>
            </p:cNvSpPr>
            <p:nvPr/>
          </p:nvSpPr>
          <p:spPr bwMode="auto">
            <a:xfrm>
              <a:off x="1899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30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grpSp>
          <p:nvGrpSpPr>
            <p:cNvPr id="10407" name="Group 167"/>
            <p:cNvGrpSpPr/>
            <p:nvPr/>
          </p:nvGrpSpPr>
          <p:grpSpPr bwMode="auto">
            <a:xfrm>
              <a:off x="1944" y="1304"/>
              <a:ext cx="944" cy="0"/>
              <a:chOff x="1944" y="1304"/>
              <a:chExt cx="944" cy="0"/>
            </a:xfrm>
          </p:grpSpPr>
          <p:sp>
            <p:nvSpPr>
              <p:cNvPr id="10408" name="Line 168"/>
              <p:cNvSpPr>
                <a:spLocks noChangeShapeType="1"/>
              </p:cNvSpPr>
              <p:nvPr/>
            </p:nvSpPr>
            <p:spPr bwMode="auto">
              <a:xfrm>
                <a:off x="1944" y="1304"/>
                <a:ext cx="288" cy="0"/>
              </a:xfrm>
              <a:prstGeom prst="line">
                <a:avLst/>
              </a:prstGeom>
              <a:noFill/>
              <a:ln w="50800">
                <a:solidFill>
                  <a:srgbClr val="F6BF69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09" name="Line 169"/>
              <p:cNvSpPr>
                <a:spLocks noChangeShapeType="1"/>
              </p:cNvSpPr>
              <p:nvPr/>
            </p:nvSpPr>
            <p:spPr bwMode="auto">
              <a:xfrm>
                <a:off x="2272" y="1304"/>
                <a:ext cx="360" cy="0"/>
              </a:xfrm>
              <a:prstGeom prst="line">
                <a:avLst/>
              </a:prstGeom>
              <a:noFill/>
              <a:ln w="50800">
                <a:solidFill>
                  <a:srgbClr val="A2C1FE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10" name="Line 170"/>
              <p:cNvSpPr>
                <a:spLocks noChangeShapeType="1"/>
              </p:cNvSpPr>
              <p:nvPr/>
            </p:nvSpPr>
            <p:spPr bwMode="auto">
              <a:xfrm>
                <a:off x="2672" y="1304"/>
                <a:ext cx="216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411" name="Rectangle 171"/>
            <p:cNvSpPr>
              <a:spLocks noChangeArrowheads="1"/>
            </p:cNvSpPr>
            <p:nvPr/>
          </p:nvSpPr>
          <p:spPr bwMode="auto">
            <a:xfrm>
              <a:off x="2268" y="1311"/>
              <a:ext cx="375" cy="3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40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12" name="Rectangle 172"/>
            <p:cNvSpPr>
              <a:spLocks noChangeArrowheads="1"/>
            </p:cNvSpPr>
            <p:nvPr/>
          </p:nvSpPr>
          <p:spPr bwMode="auto">
            <a:xfrm>
              <a:off x="2594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20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13" name="Line 173"/>
            <p:cNvSpPr>
              <a:spLocks noChangeShapeType="1"/>
            </p:cNvSpPr>
            <p:nvPr/>
          </p:nvSpPr>
          <p:spPr bwMode="auto">
            <a:xfrm>
              <a:off x="2256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4" name="Line 174"/>
            <p:cNvSpPr>
              <a:spLocks noChangeShapeType="1"/>
            </p:cNvSpPr>
            <p:nvPr/>
          </p:nvSpPr>
          <p:spPr bwMode="auto">
            <a:xfrm>
              <a:off x="2656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5" name="Line 175"/>
            <p:cNvSpPr>
              <a:spLocks noChangeShapeType="1"/>
            </p:cNvSpPr>
            <p:nvPr/>
          </p:nvSpPr>
          <p:spPr bwMode="auto">
            <a:xfrm>
              <a:off x="2912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6" name="Rectangle 176"/>
            <p:cNvSpPr>
              <a:spLocks noChangeArrowheads="1"/>
            </p:cNvSpPr>
            <p:nvPr/>
          </p:nvSpPr>
          <p:spPr bwMode="auto">
            <a:xfrm>
              <a:off x="2891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30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grpSp>
          <p:nvGrpSpPr>
            <p:cNvPr id="10417" name="Group 177"/>
            <p:cNvGrpSpPr/>
            <p:nvPr/>
          </p:nvGrpSpPr>
          <p:grpSpPr bwMode="auto">
            <a:xfrm>
              <a:off x="2936" y="1304"/>
              <a:ext cx="944" cy="0"/>
              <a:chOff x="2936" y="1304"/>
              <a:chExt cx="944" cy="0"/>
            </a:xfrm>
          </p:grpSpPr>
          <p:sp>
            <p:nvSpPr>
              <p:cNvPr id="10418" name="Line 178"/>
              <p:cNvSpPr>
                <a:spLocks noChangeShapeType="1"/>
              </p:cNvSpPr>
              <p:nvPr/>
            </p:nvSpPr>
            <p:spPr bwMode="auto">
              <a:xfrm>
                <a:off x="2936" y="1304"/>
                <a:ext cx="288" cy="0"/>
              </a:xfrm>
              <a:prstGeom prst="line">
                <a:avLst/>
              </a:prstGeom>
              <a:noFill/>
              <a:ln w="50800">
                <a:solidFill>
                  <a:srgbClr val="F6BF69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19" name="Line 179"/>
              <p:cNvSpPr>
                <a:spLocks noChangeShapeType="1"/>
              </p:cNvSpPr>
              <p:nvPr/>
            </p:nvSpPr>
            <p:spPr bwMode="auto">
              <a:xfrm>
                <a:off x="3264" y="1304"/>
                <a:ext cx="360" cy="0"/>
              </a:xfrm>
              <a:prstGeom prst="line">
                <a:avLst/>
              </a:prstGeom>
              <a:noFill/>
              <a:ln w="50800">
                <a:solidFill>
                  <a:srgbClr val="A2C1FE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20" name="Line 180"/>
              <p:cNvSpPr>
                <a:spLocks noChangeShapeType="1"/>
              </p:cNvSpPr>
              <p:nvPr/>
            </p:nvSpPr>
            <p:spPr bwMode="auto">
              <a:xfrm>
                <a:off x="3664" y="1304"/>
                <a:ext cx="216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421" name="Rectangle 181"/>
            <p:cNvSpPr>
              <a:spLocks noChangeArrowheads="1"/>
            </p:cNvSpPr>
            <p:nvPr/>
          </p:nvSpPr>
          <p:spPr bwMode="auto">
            <a:xfrm>
              <a:off x="3259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40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22" name="Rectangle 182"/>
            <p:cNvSpPr>
              <a:spLocks noChangeArrowheads="1"/>
            </p:cNvSpPr>
            <p:nvPr/>
          </p:nvSpPr>
          <p:spPr bwMode="auto">
            <a:xfrm>
              <a:off x="3587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20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23" name="Line 183"/>
            <p:cNvSpPr>
              <a:spLocks noChangeShapeType="1"/>
            </p:cNvSpPr>
            <p:nvPr/>
          </p:nvSpPr>
          <p:spPr bwMode="auto">
            <a:xfrm>
              <a:off x="3248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4" name="Line 184"/>
            <p:cNvSpPr>
              <a:spLocks noChangeShapeType="1"/>
            </p:cNvSpPr>
            <p:nvPr/>
          </p:nvSpPr>
          <p:spPr bwMode="auto">
            <a:xfrm>
              <a:off x="3648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5" name="Line 185"/>
            <p:cNvSpPr>
              <a:spLocks noChangeShapeType="1"/>
            </p:cNvSpPr>
            <p:nvPr/>
          </p:nvSpPr>
          <p:spPr bwMode="auto">
            <a:xfrm>
              <a:off x="3904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6" name="Rectangle 186"/>
            <p:cNvSpPr>
              <a:spLocks noChangeArrowheads="1"/>
            </p:cNvSpPr>
            <p:nvPr/>
          </p:nvSpPr>
          <p:spPr bwMode="auto">
            <a:xfrm>
              <a:off x="3882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30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grpSp>
          <p:nvGrpSpPr>
            <p:cNvPr id="10427" name="Group 187"/>
            <p:cNvGrpSpPr/>
            <p:nvPr/>
          </p:nvGrpSpPr>
          <p:grpSpPr bwMode="auto">
            <a:xfrm>
              <a:off x="3928" y="1304"/>
              <a:ext cx="944" cy="0"/>
              <a:chOff x="3928" y="1304"/>
              <a:chExt cx="944" cy="0"/>
            </a:xfrm>
          </p:grpSpPr>
          <p:sp>
            <p:nvSpPr>
              <p:cNvPr id="10428" name="Line 188"/>
              <p:cNvSpPr>
                <a:spLocks noChangeShapeType="1"/>
              </p:cNvSpPr>
              <p:nvPr/>
            </p:nvSpPr>
            <p:spPr bwMode="auto">
              <a:xfrm>
                <a:off x="3928" y="1304"/>
                <a:ext cx="288" cy="0"/>
              </a:xfrm>
              <a:prstGeom prst="line">
                <a:avLst/>
              </a:prstGeom>
              <a:noFill/>
              <a:ln w="50800">
                <a:solidFill>
                  <a:srgbClr val="F6BF69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29" name="Line 189"/>
              <p:cNvSpPr>
                <a:spLocks noChangeShapeType="1"/>
              </p:cNvSpPr>
              <p:nvPr/>
            </p:nvSpPr>
            <p:spPr bwMode="auto">
              <a:xfrm>
                <a:off x="4256" y="1304"/>
                <a:ext cx="360" cy="0"/>
              </a:xfrm>
              <a:prstGeom prst="line">
                <a:avLst/>
              </a:prstGeom>
              <a:noFill/>
              <a:ln w="50800">
                <a:solidFill>
                  <a:srgbClr val="A2C1FE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30" name="Line 190"/>
              <p:cNvSpPr>
                <a:spLocks noChangeShapeType="1"/>
              </p:cNvSpPr>
              <p:nvPr/>
            </p:nvSpPr>
            <p:spPr bwMode="auto">
              <a:xfrm>
                <a:off x="4656" y="1304"/>
                <a:ext cx="216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431" name="Rectangle 191"/>
            <p:cNvSpPr>
              <a:spLocks noChangeArrowheads="1"/>
            </p:cNvSpPr>
            <p:nvPr/>
          </p:nvSpPr>
          <p:spPr bwMode="auto">
            <a:xfrm>
              <a:off x="4251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40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32" name="Rectangle 192"/>
            <p:cNvSpPr>
              <a:spLocks noChangeArrowheads="1"/>
            </p:cNvSpPr>
            <p:nvPr/>
          </p:nvSpPr>
          <p:spPr bwMode="auto">
            <a:xfrm>
              <a:off x="4578" y="1311"/>
              <a:ext cx="37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20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33" name="Line 193"/>
            <p:cNvSpPr>
              <a:spLocks noChangeShapeType="1"/>
            </p:cNvSpPr>
            <p:nvPr/>
          </p:nvSpPr>
          <p:spPr bwMode="auto">
            <a:xfrm>
              <a:off x="4240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4" name="Line 194"/>
            <p:cNvSpPr>
              <a:spLocks noChangeShapeType="1"/>
            </p:cNvSpPr>
            <p:nvPr/>
          </p:nvSpPr>
          <p:spPr bwMode="auto">
            <a:xfrm>
              <a:off x="4640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5" name="Line 195"/>
            <p:cNvSpPr>
              <a:spLocks noChangeShapeType="1"/>
            </p:cNvSpPr>
            <p:nvPr/>
          </p:nvSpPr>
          <p:spPr bwMode="auto">
            <a:xfrm>
              <a:off x="4896" y="11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436" name="Group 196"/>
            <p:cNvGrpSpPr/>
            <p:nvPr/>
          </p:nvGrpSpPr>
          <p:grpSpPr bwMode="auto">
            <a:xfrm>
              <a:off x="940" y="1556"/>
              <a:ext cx="967" cy="448"/>
              <a:chOff x="940" y="1556"/>
              <a:chExt cx="967" cy="448"/>
            </a:xfrm>
          </p:grpSpPr>
          <p:grpSp>
            <p:nvGrpSpPr>
              <p:cNvPr id="10437" name="Group 197"/>
              <p:cNvGrpSpPr/>
              <p:nvPr/>
            </p:nvGrpSpPr>
            <p:grpSpPr bwMode="auto">
              <a:xfrm>
                <a:off x="940" y="1556"/>
                <a:ext cx="305" cy="448"/>
                <a:chOff x="940" y="1556"/>
                <a:chExt cx="305" cy="448"/>
              </a:xfrm>
            </p:grpSpPr>
            <p:grpSp>
              <p:nvGrpSpPr>
                <p:cNvPr id="10438" name="Group 198"/>
                <p:cNvGrpSpPr/>
                <p:nvPr/>
              </p:nvGrpSpPr>
              <p:grpSpPr bwMode="auto">
                <a:xfrm>
                  <a:off x="940" y="1556"/>
                  <a:ext cx="305" cy="448"/>
                  <a:chOff x="940" y="1556"/>
                  <a:chExt cx="305" cy="448"/>
                </a:xfrm>
              </p:grpSpPr>
              <p:sp>
                <p:nvSpPr>
                  <p:cNvPr id="10439" name="AutoShape 199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1627"/>
                    <a:ext cx="305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40" name="AutoShape 200"/>
                  <p:cNvSpPr>
                    <a:spLocks noChangeArrowheads="1"/>
                  </p:cNvSpPr>
                  <p:nvPr/>
                </p:nvSpPr>
                <p:spPr bwMode="auto">
                  <a:xfrm>
                    <a:off x="1010" y="1556"/>
                    <a:ext cx="235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441" name="AutoShape 201"/>
                <p:cNvSpPr>
                  <a:spLocks noChangeArrowheads="1"/>
                </p:cNvSpPr>
                <p:nvPr/>
              </p:nvSpPr>
              <p:spPr bwMode="auto">
                <a:xfrm>
                  <a:off x="1002" y="1660"/>
                  <a:ext cx="158" cy="27"/>
                </a:xfrm>
                <a:prstGeom prst="parallelogram">
                  <a:avLst>
                    <a:gd name="adj" fmla="val 146269"/>
                  </a:avLst>
                </a:prstGeom>
                <a:solidFill>
                  <a:srgbClr val="F6BF69"/>
                </a:solidFill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42" name="Group 202"/>
              <p:cNvGrpSpPr/>
              <p:nvPr/>
            </p:nvGrpSpPr>
            <p:grpSpPr bwMode="auto">
              <a:xfrm>
                <a:off x="1241" y="1556"/>
                <a:ext cx="378" cy="448"/>
                <a:chOff x="1241" y="1556"/>
                <a:chExt cx="378" cy="448"/>
              </a:xfrm>
            </p:grpSpPr>
            <p:grpSp>
              <p:nvGrpSpPr>
                <p:cNvPr id="10443" name="Group 203"/>
                <p:cNvGrpSpPr/>
                <p:nvPr/>
              </p:nvGrpSpPr>
              <p:grpSpPr bwMode="auto">
                <a:xfrm>
                  <a:off x="1241" y="1556"/>
                  <a:ext cx="378" cy="448"/>
                  <a:chOff x="1241" y="1556"/>
                  <a:chExt cx="378" cy="448"/>
                </a:xfrm>
              </p:grpSpPr>
              <p:sp>
                <p:nvSpPr>
                  <p:cNvPr id="10444" name="AutoShape 204"/>
                  <p:cNvSpPr>
                    <a:spLocks noChangeArrowheads="1"/>
                  </p:cNvSpPr>
                  <p:nvPr/>
                </p:nvSpPr>
                <p:spPr bwMode="auto">
                  <a:xfrm>
                    <a:off x="1241" y="1627"/>
                    <a:ext cx="378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45" name="AutoShape 205"/>
                  <p:cNvSpPr>
                    <a:spLocks noChangeArrowheads="1"/>
                  </p:cNvSpPr>
                  <p:nvPr/>
                </p:nvSpPr>
                <p:spPr bwMode="auto">
                  <a:xfrm>
                    <a:off x="1327" y="1556"/>
                    <a:ext cx="292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446" name="Oval 206"/>
                <p:cNvSpPr>
                  <a:spLocks noChangeArrowheads="1"/>
                </p:cNvSpPr>
                <p:nvPr/>
              </p:nvSpPr>
              <p:spPr bwMode="auto">
                <a:xfrm>
                  <a:off x="1356" y="1592"/>
                  <a:ext cx="49" cy="2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47" name="AutoShape 207"/>
                <p:cNvSpPr>
                  <a:spLocks noChangeArrowheads="1"/>
                </p:cNvSpPr>
                <p:nvPr/>
              </p:nvSpPr>
              <p:spPr bwMode="auto">
                <a:xfrm>
                  <a:off x="1288" y="1802"/>
                  <a:ext cx="198" cy="84"/>
                </a:xfrm>
                <a:prstGeom prst="octagon">
                  <a:avLst>
                    <a:gd name="adj" fmla="val 29282"/>
                  </a:avLst>
                </a:prstGeom>
                <a:solidFill>
                  <a:srgbClr val="A2C1FE"/>
                </a:solidFill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448" name="Freeform 208"/>
              <p:cNvSpPr/>
              <p:nvPr/>
            </p:nvSpPr>
            <p:spPr bwMode="auto">
              <a:xfrm>
                <a:off x="1805" y="1785"/>
                <a:ext cx="86" cy="192"/>
              </a:xfrm>
              <a:custGeom>
                <a:avLst/>
                <a:gdLst>
                  <a:gd name="T0" fmla="*/ 62 w 86"/>
                  <a:gd name="T1" fmla="*/ 0 h 192"/>
                  <a:gd name="T2" fmla="*/ 85 w 86"/>
                  <a:gd name="T3" fmla="*/ 0 h 192"/>
                  <a:gd name="T4" fmla="*/ 23 w 86"/>
                  <a:gd name="T5" fmla="*/ 191 h 192"/>
                  <a:gd name="T6" fmla="*/ 0 w 86"/>
                  <a:gd name="T7" fmla="*/ 191 h 192"/>
                  <a:gd name="T8" fmla="*/ 62 w 86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92">
                    <a:moveTo>
                      <a:pt x="62" y="0"/>
                    </a:moveTo>
                    <a:lnTo>
                      <a:pt x="85" y="0"/>
                    </a:lnTo>
                    <a:lnTo>
                      <a:pt x="23" y="191"/>
                    </a:lnTo>
                    <a:lnTo>
                      <a:pt x="0" y="191"/>
                    </a:lnTo>
                    <a:lnTo>
                      <a:pt x="62" y="0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9" name="Rectangle 209"/>
              <p:cNvSpPr>
                <a:spLocks noChangeArrowheads="1"/>
              </p:cNvSpPr>
              <p:nvPr/>
            </p:nvSpPr>
            <p:spPr bwMode="auto">
              <a:xfrm>
                <a:off x="1801" y="1785"/>
                <a:ext cx="106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0" name="Rectangle 210"/>
              <p:cNvSpPr>
                <a:spLocks noChangeArrowheads="1"/>
              </p:cNvSpPr>
              <p:nvPr/>
            </p:nvSpPr>
            <p:spPr bwMode="auto">
              <a:xfrm>
                <a:off x="1808" y="1866"/>
                <a:ext cx="82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1" name="Rectangle 211"/>
              <p:cNvSpPr>
                <a:spLocks noChangeArrowheads="1"/>
              </p:cNvSpPr>
              <p:nvPr/>
            </p:nvSpPr>
            <p:spPr bwMode="auto">
              <a:xfrm>
                <a:off x="1625" y="1866"/>
                <a:ext cx="103" cy="11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452" name="Group 212"/>
              <p:cNvGrpSpPr/>
              <p:nvPr/>
            </p:nvGrpSpPr>
            <p:grpSpPr bwMode="auto">
              <a:xfrm>
                <a:off x="1623" y="1613"/>
                <a:ext cx="194" cy="364"/>
                <a:chOff x="1623" y="1613"/>
                <a:chExt cx="194" cy="364"/>
              </a:xfrm>
            </p:grpSpPr>
            <p:sp>
              <p:nvSpPr>
                <p:cNvPr id="10453" name="Oval 213"/>
                <p:cNvSpPr>
                  <a:spLocks noChangeArrowheads="1"/>
                </p:cNvSpPr>
                <p:nvPr/>
              </p:nvSpPr>
              <p:spPr bwMode="auto">
                <a:xfrm>
                  <a:off x="1699" y="1613"/>
                  <a:ext cx="48" cy="48"/>
                </a:xfrm>
                <a:prstGeom prst="ellipse">
                  <a:avLst/>
                </a:prstGeom>
                <a:solidFill>
                  <a:srgbClr val="FC0128"/>
                </a:solidFill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4" name="Freeform 214"/>
                <p:cNvSpPr/>
                <p:nvPr/>
              </p:nvSpPr>
              <p:spPr bwMode="auto">
                <a:xfrm>
                  <a:off x="1623" y="1681"/>
                  <a:ext cx="194" cy="296"/>
                </a:xfrm>
                <a:custGeom>
                  <a:avLst/>
                  <a:gdLst>
                    <a:gd name="T0" fmla="*/ 2 w 194"/>
                    <a:gd name="T1" fmla="*/ 137 h 296"/>
                    <a:gd name="T2" fmla="*/ 1 w 194"/>
                    <a:gd name="T3" fmla="*/ 140 h 296"/>
                    <a:gd name="T4" fmla="*/ 0 w 194"/>
                    <a:gd name="T5" fmla="*/ 145 h 296"/>
                    <a:gd name="T6" fmla="*/ 0 w 194"/>
                    <a:gd name="T7" fmla="*/ 150 h 296"/>
                    <a:gd name="T8" fmla="*/ 2 w 194"/>
                    <a:gd name="T9" fmla="*/ 155 h 296"/>
                    <a:gd name="T10" fmla="*/ 4 w 194"/>
                    <a:gd name="T11" fmla="*/ 159 h 296"/>
                    <a:gd name="T12" fmla="*/ 8 w 194"/>
                    <a:gd name="T13" fmla="*/ 163 h 296"/>
                    <a:gd name="T14" fmla="*/ 12 w 194"/>
                    <a:gd name="T15" fmla="*/ 165 h 296"/>
                    <a:gd name="T16" fmla="*/ 16 w 194"/>
                    <a:gd name="T17" fmla="*/ 166 h 296"/>
                    <a:gd name="T18" fmla="*/ 21 w 194"/>
                    <a:gd name="T19" fmla="*/ 166 h 296"/>
                    <a:gd name="T20" fmla="*/ 126 w 194"/>
                    <a:gd name="T21" fmla="*/ 295 h 296"/>
                    <a:gd name="T22" fmla="*/ 159 w 194"/>
                    <a:gd name="T23" fmla="*/ 142 h 296"/>
                    <a:gd name="T24" fmla="*/ 159 w 194"/>
                    <a:gd name="T25" fmla="*/ 138 h 296"/>
                    <a:gd name="T26" fmla="*/ 157 w 194"/>
                    <a:gd name="T27" fmla="*/ 136 h 296"/>
                    <a:gd name="T28" fmla="*/ 154 w 194"/>
                    <a:gd name="T29" fmla="*/ 133 h 296"/>
                    <a:gd name="T30" fmla="*/ 152 w 194"/>
                    <a:gd name="T31" fmla="*/ 131 h 296"/>
                    <a:gd name="T32" fmla="*/ 148 w 194"/>
                    <a:gd name="T33" fmla="*/ 130 h 296"/>
                    <a:gd name="T34" fmla="*/ 144 w 194"/>
                    <a:gd name="T35" fmla="*/ 129 h 296"/>
                    <a:gd name="T36" fmla="*/ 140 w 194"/>
                    <a:gd name="T37" fmla="*/ 129 h 296"/>
                    <a:gd name="T38" fmla="*/ 137 w 194"/>
                    <a:gd name="T39" fmla="*/ 129 h 296"/>
                    <a:gd name="T40" fmla="*/ 93 w 194"/>
                    <a:gd name="T41" fmla="*/ 75 h 296"/>
                    <a:gd name="T42" fmla="*/ 179 w 194"/>
                    <a:gd name="T43" fmla="*/ 93 h 296"/>
                    <a:gd name="T44" fmla="*/ 183 w 194"/>
                    <a:gd name="T45" fmla="*/ 92 h 296"/>
                    <a:gd name="T46" fmla="*/ 185 w 194"/>
                    <a:gd name="T47" fmla="*/ 91 h 296"/>
                    <a:gd name="T48" fmla="*/ 189 w 194"/>
                    <a:gd name="T49" fmla="*/ 89 h 296"/>
                    <a:gd name="T50" fmla="*/ 191 w 194"/>
                    <a:gd name="T51" fmla="*/ 86 h 296"/>
                    <a:gd name="T52" fmla="*/ 192 w 194"/>
                    <a:gd name="T53" fmla="*/ 83 h 296"/>
                    <a:gd name="T54" fmla="*/ 193 w 194"/>
                    <a:gd name="T55" fmla="*/ 78 h 296"/>
                    <a:gd name="T56" fmla="*/ 192 w 194"/>
                    <a:gd name="T57" fmla="*/ 74 h 296"/>
                    <a:gd name="T58" fmla="*/ 190 w 194"/>
                    <a:gd name="T59" fmla="*/ 70 h 296"/>
                    <a:gd name="T60" fmla="*/ 188 w 194"/>
                    <a:gd name="T61" fmla="*/ 68 h 296"/>
                    <a:gd name="T62" fmla="*/ 184 w 194"/>
                    <a:gd name="T63" fmla="*/ 65 h 296"/>
                    <a:gd name="T64" fmla="*/ 181 w 194"/>
                    <a:gd name="T65" fmla="*/ 64 h 296"/>
                    <a:gd name="T66" fmla="*/ 122 w 194"/>
                    <a:gd name="T67" fmla="*/ 64 h 296"/>
                    <a:gd name="T68" fmla="*/ 112 w 194"/>
                    <a:gd name="T69" fmla="*/ 42 h 296"/>
                    <a:gd name="T70" fmla="*/ 113 w 194"/>
                    <a:gd name="T71" fmla="*/ 37 h 296"/>
                    <a:gd name="T72" fmla="*/ 114 w 194"/>
                    <a:gd name="T73" fmla="*/ 30 h 296"/>
                    <a:gd name="T74" fmla="*/ 114 w 194"/>
                    <a:gd name="T75" fmla="*/ 24 h 296"/>
                    <a:gd name="T76" fmla="*/ 112 w 194"/>
                    <a:gd name="T77" fmla="*/ 19 h 296"/>
                    <a:gd name="T78" fmla="*/ 110 w 194"/>
                    <a:gd name="T79" fmla="*/ 15 h 296"/>
                    <a:gd name="T80" fmla="*/ 107 w 194"/>
                    <a:gd name="T81" fmla="*/ 10 h 296"/>
                    <a:gd name="T82" fmla="*/ 103 w 194"/>
                    <a:gd name="T83" fmla="*/ 7 h 296"/>
                    <a:gd name="T84" fmla="*/ 98 w 194"/>
                    <a:gd name="T85" fmla="*/ 3 h 296"/>
                    <a:gd name="T86" fmla="*/ 93 w 194"/>
                    <a:gd name="T87" fmla="*/ 1 h 296"/>
                    <a:gd name="T88" fmla="*/ 87 w 194"/>
                    <a:gd name="T89" fmla="*/ 0 h 296"/>
                    <a:gd name="T90" fmla="*/ 81 w 194"/>
                    <a:gd name="T91" fmla="*/ 0 h 296"/>
                    <a:gd name="T92" fmla="*/ 75 w 194"/>
                    <a:gd name="T93" fmla="*/ 1 h 296"/>
                    <a:gd name="T94" fmla="*/ 69 w 194"/>
                    <a:gd name="T95" fmla="*/ 3 h 296"/>
                    <a:gd name="T96" fmla="*/ 63 w 194"/>
                    <a:gd name="T97" fmla="*/ 6 h 296"/>
                    <a:gd name="T98" fmla="*/ 59 w 194"/>
                    <a:gd name="T99" fmla="*/ 11 h 296"/>
                    <a:gd name="T100" fmla="*/ 55 w 194"/>
                    <a:gd name="T101" fmla="*/ 17 h 296"/>
                    <a:gd name="T102" fmla="*/ 53 w 194"/>
                    <a:gd name="T103" fmla="*/ 23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94" h="296">
                      <a:moveTo>
                        <a:pt x="53" y="23"/>
                      </a:moveTo>
                      <a:lnTo>
                        <a:pt x="2" y="137"/>
                      </a:lnTo>
                      <a:lnTo>
                        <a:pt x="1" y="138"/>
                      </a:lnTo>
                      <a:lnTo>
                        <a:pt x="1" y="140"/>
                      </a:lnTo>
                      <a:lnTo>
                        <a:pt x="0" y="142"/>
                      </a:lnTo>
                      <a:lnTo>
                        <a:pt x="0" y="145"/>
                      </a:lnTo>
                      <a:lnTo>
                        <a:pt x="0" y="147"/>
                      </a:lnTo>
                      <a:lnTo>
                        <a:pt x="0" y="150"/>
                      </a:lnTo>
                      <a:lnTo>
                        <a:pt x="1" y="152"/>
                      </a:lnTo>
                      <a:lnTo>
                        <a:pt x="2" y="155"/>
                      </a:lnTo>
                      <a:lnTo>
                        <a:pt x="3" y="157"/>
                      </a:lnTo>
                      <a:lnTo>
                        <a:pt x="4" y="159"/>
                      </a:lnTo>
                      <a:lnTo>
                        <a:pt x="6" y="161"/>
                      </a:lnTo>
                      <a:lnTo>
                        <a:pt x="8" y="163"/>
                      </a:lnTo>
                      <a:lnTo>
                        <a:pt x="10" y="164"/>
                      </a:lnTo>
                      <a:lnTo>
                        <a:pt x="12" y="165"/>
                      </a:lnTo>
                      <a:lnTo>
                        <a:pt x="14" y="165"/>
                      </a:lnTo>
                      <a:lnTo>
                        <a:pt x="16" y="166"/>
                      </a:lnTo>
                      <a:lnTo>
                        <a:pt x="18" y="166"/>
                      </a:lnTo>
                      <a:lnTo>
                        <a:pt x="21" y="166"/>
                      </a:lnTo>
                      <a:lnTo>
                        <a:pt x="126" y="166"/>
                      </a:lnTo>
                      <a:lnTo>
                        <a:pt x="126" y="295"/>
                      </a:lnTo>
                      <a:lnTo>
                        <a:pt x="159" y="295"/>
                      </a:lnTo>
                      <a:lnTo>
                        <a:pt x="159" y="142"/>
                      </a:lnTo>
                      <a:lnTo>
                        <a:pt x="159" y="140"/>
                      </a:lnTo>
                      <a:lnTo>
                        <a:pt x="159" y="138"/>
                      </a:lnTo>
                      <a:lnTo>
                        <a:pt x="158" y="137"/>
                      </a:lnTo>
                      <a:lnTo>
                        <a:pt x="157" y="136"/>
                      </a:lnTo>
                      <a:lnTo>
                        <a:pt x="156" y="135"/>
                      </a:lnTo>
                      <a:lnTo>
                        <a:pt x="154" y="133"/>
                      </a:lnTo>
                      <a:lnTo>
                        <a:pt x="153" y="132"/>
                      </a:lnTo>
                      <a:lnTo>
                        <a:pt x="152" y="131"/>
                      </a:lnTo>
                      <a:lnTo>
                        <a:pt x="150" y="131"/>
                      </a:lnTo>
                      <a:lnTo>
                        <a:pt x="148" y="130"/>
                      </a:lnTo>
                      <a:lnTo>
                        <a:pt x="146" y="130"/>
                      </a:lnTo>
                      <a:lnTo>
                        <a:pt x="144" y="129"/>
                      </a:lnTo>
                      <a:lnTo>
                        <a:pt x="142" y="129"/>
                      </a:lnTo>
                      <a:lnTo>
                        <a:pt x="140" y="129"/>
                      </a:lnTo>
                      <a:lnTo>
                        <a:pt x="139" y="129"/>
                      </a:lnTo>
                      <a:lnTo>
                        <a:pt x="137" y="129"/>
                      </a:lnTo>
                      <a:lnTo>
                        <a:pt x="76" y="125"/>
                      </a:lnTo>
                      <a:lnTo>
                        <a:pt x="93" y="75"/>
                      </a:lnTo>
                      <a:lnTo>
                        <a:pt x="105" y="93"/>
                      </a:lnTo>
                      <a:lnTo>
                        <a:pt x="179" y="93"/>
                      </a:lnTo>
                      <a:lnTo>
                        <a:pt x="181" y="92"/>
                      </a:lnTo>
                      <a:lnTo>
                        <a:pt x="183" y="92"/>
                      </a:lnTo>
                      <a:lnTo>
                        <a:pt x="184" y="91"/>
                      </a:lnTo>
                      <a:lnTo>
                        <a:pt x="185" y="91"/>
                      </a:lnTo>
                      <a:lnTo>
                        <a:pt x="187" y="90"/>
                      </a:lnTo>
                      <a:lnTo>
                        <a:pt x="189" y="89"/>
                      </a:lnTo>
                      <a:lnTo>
                        <a:pt x="190" y="87"/>
                      </a:lnTo>
                      <a:lnTo>
                        <a:pt x="191" y="86"/>
                      </a:lnTo>
                      <a:lnTo>
                        <a:pt x="192" y="84"/>
                      </a:lnTo>
                      <a:lnTo>
                        <a:pt x="192" y="83"/>
                      </a:lnTo>
                      <a:lnTo>
                        <a:pt x="193" y="81"/>
                      </a:lnTo>
                      <a:lnTo>
                        <a:pt x="193" y="78"/>
                      </a:lnTo>
                      <a:lnTo>
                        <a:pt x="193" y="76"/>
                      </a:lnTo>
                      <a:lnTo>
                        <a:pt x="192" y="74"/>
                      </a:lnTo>
                      <a:lnTo>
                        <a:pt x="191" y="72"/>
                      </a:lnTo>
                      <a:lnTo>
                        <a:pt x="190" y="70"/>
                      </a:lnTo>
                      <a:lnTo>
                        <a:pt x="189" y="69"/>
                      </a:lnTo>
                      <a:lnTo>
                        <a:pt x="188" y="68"/>
                      </a:lnTo>
                      <a:lnTo>
                        <a:pt x="186" y="66"/>
                      </a:lnTo>
                      <a:lnTo>
                        <a:pt x="184" y="65"/>
                      </a:lnTo>
                      <a:lnTo>
                        <a:pt x="184" y="64"/>
                      </a:lnTo>
                      <a:lnTo>
                        <a:pt x="181" y="64"/>
                      </a:lnTo>
                      <a:lnTo>
                        <a:pt x="179" y="64"/>
                      </a:lnTo>
                      <a:lnTo>
                        <a:pt x="122" y="64"/>
                      </a:lnTo>
                      <a:lnTo>
                        <a:pt x="110" y="44"/>
                      </a:lnTo>
                      <a:lnTo>
                        <a:pt x="112" y="42"/>
                      </a:lnTo>
                      <a:lnTo>
                        <a:pt x="113" y="39"/>
                      </a:lnTo>
                      <a:lnTo>
                        <a:pt x="113" y="37"/>
                      </a:lnTo>
                      <a:lnTo>
                        <a:pt x="114" y="34"/>
                      </a:lnTo>
                      <a:lnTo>
                        <a:pt x="114" y="30"/>
                      </a:lnTo>
                      <a:lnTo>
                        <a:pt x="114" y="28"/>
                      </a:lnTo>
                      <a:lnTo>
                        <a:pt x="114" y="24"/>
                      </a:lnTo>
                      <a:lnTo>
                        <a:pt x="113" y="22"/>
                      </a:lnTo>
                      <a:lnTo>
                        <a:pt x="112" y="19"/>
                      </a:lnTo>
                      <a:lnTo>
                        <a:pt x="111" y="17"/>
                      </a:lnTo>
                      <a:lnTo>
                        <a:pt x="110" y="15"/>
                      </a:lnTo>
                      <a:lnTo>
                        <a:pt x="109" y="13"/>
                      </a:lnTo>
                      <a:lnTo>
                        <a:pt x="107" y="10"/>
                      </a:lnTo>
                      <a:lnTo>
                        <a:pt x="105" y="9"/>
                      </a:lnTo>
                      <a:lnTo>
                        <a:pt x="103" y="7"/>
                      </a:lnTo>
                      <a:lnTo>
                        <a:pt x="101" y="5"/>
                      </a:lnTo>
                      <a:lnTo>
                        <a:pt x="98" y="3"/>
                      </a:lnTo>
                      <a:lnTo>
                        <a:pt x="96" y="3"/>
                      </a:lnTo>
                      <a:lnTo>
                        <a:pt x="93" y="1"/>
                      </a:lnTo>
                      <a:lnTo>
                        <a:pt x="90" y="1"/>
                      </a:lnTo>
                      <a:lnTo>
                        <a:pt x="87" y="0"/>
                      </a:lnTo>
                      <a:lnTo>
                        <a:pt x="84" y="0"/>
                      </a:lnTo>
                      <a:lnTo>
                        <a:pt x="81" y="0"/>
                      </a:lnTo>
                      <a:lnTo>
                        <a:pt x="78" y="0"/>
                      </a:lnTo>
                      <a:lnTo>
                        <a:pt x="75" y="1"/>
                      </a:lnTo>
                      <a:lnTo>
                        <a:pt x="72" y="2"/>
                      </a:lnTo>
                      <a:lnTo>
                        <a:pt x="69" y="3"/>
                      </a:lnTo>
                      <a:lnTo>
                        <a:pt x="66" y="4"/>
                      </a:lnTo>
                      <a:lnTo>
                        <a:pt x="63" y="6"/>
                      </a:lnTo>
                      <a:lnTo>
                        <a:pt x="61" y="9"/>
                      </a:lnTo>
                      <a:lnTo>
                        <a:pt x="59" y="11"/>
                      </a:lnTo>
                      <a:lnTo>
                        <a:pt x="57" y="13"/>
                      </a:lnTo>
                      <a:lnTo>
                        <a:pt x="55" y="17"/>
                      </a:lnTo>
                      <a:lnTo>
                        <a:pt x="53" y="19"/>
                      </a:lnTo>
                      <a:lnTo>
                        <a:pt x="53" y="23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455" name="Rectangle 215"/>
            <p:cNvSpPr>
              <a:spLocks noChangeArrowheads="1"/>
            </p:cNvSpPr>
            <p:nvPr/>
          </p:nvSpPr>
          <p:spPr bwMode="auto">
            <a:xfrm>
              <a:off x="715" y="615"/>
              <a:ext cx="606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6 PM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56" name="Line 216"/>
            <p:cNvSpPr>
              <a:spLocks noChangeShapeType="1"/>
            </p:cNvSpPr>
            <p:nvPr/>
          </p:nvSpPr>
          <p:spPr bwMode="auto">
            <a:xfrm>
              <a:off x="932" y="984"/>
              <a:ext cx="39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7" name="Line 217"/>
            <p:cNvSpPr>
              <a:spLocks noChangeShapeType="1"/>
            </p:cNvSpPr>
            <p:nvPr/>
          </p:nvSpPr>
          <p:spPr bwMode="auto">
            <a:xfrm>
              <a:off x="928" y="90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8" name="Rectangle 218"/>
            <p:cNvSpPr>
              <a:spLocks noChangeArrowheads="1"/>
            </p:cNvSpPr>
            <p:nvPr/>
          </p:nvSpPr>
          <p:spPr bwMode="auto">
            <a:xfrm>
              <a:off x="1479" y="623"/>
              <a:ext cx="249" cy="3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7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59" name="Rectangle 219"/>
            <p:cNvSpPr>
              <a:spLocks noChangeArrowheads="1"/>
            </p:cNvSpPr>
            <p:nvPr/>
          </p:nvSpPr>
          <p:spPr bwMode="auto">
            <a:xfrm>
              <a:off x="2151" y="623"/>
              <a:ext cx="249" cy="3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8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60" name="Rectangle 220"/>
            <p:cNvSpPr>
              <a:spLocks noChangeArrowheads="1"/>
            </p:cNvSpPr>
            <p:nvPr/>
          </p:nvSpPr>
          <p:spPr bwMode="auto">
            <a:xfrm>
              <a:off x="2789" y="623"/>
              <a:ext cx="251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9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61" name="Rectangle 221"/>
            <p:cNvSpPr>
              <a:spLocks noChangeArrowheads="1"/>
            </p:cNvSpPr>
            <p:nvPr/>
          </p:nvSpPr>
          <p:spPr bwMode="auto">
            <a:xfrm>
              <a:off x="3397" y="631"/>
              <a:ext cx="345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10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62" name="Rectangle 222"/>
            <p:cNvSpPr>
              <a:spLocks noChangeArrowheads="1"/>
            </p:cNvSpPr>
            <p:nvPr/>
          </p:nvSpPr>
          <p:spPr bwMode="auto">
            <a:xfrm>
              <a:off x="4102" y="623"/>
              <a:ext cx="312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11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0463" name="Rectangle 223"/>
            <p:cNvSpPr>
              <a:spLocks noChangeArrowheads="1"/>
            </p:cNvSpPr>
            <p:nvPr/>
          </p:nvSpPr>
          <p:spPr bwMode="auto">
            <a:xfrm>
              <a:off x="4461" y="615"/>
              <a:ext cx="984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Midnight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grpSp>
          <p:nvGrpSpPr>
            <p:cNvPr id="10464" name="Group 224"/>
            <p:cNvGrpSpPr/>
            <p:nvPr/>
          </p:nvGrpSpPr>
          <p:grpSpPr bwMode="auto">
            <a:xfrm>
              <a:off x="1900" y="2020"/>
              <a:ext cx="967" cy="448"/>
              <a:chOff x="1900" y="2020"/>
              <a:chExt cx="967" cy="448"/>
            </a:xfrm>
          </p:grpSpPr>
          <p:grpSp>
            <p:nvGrpSpPr>
              <p:cNvPr id="10465" name="Group 225"/>
              <p:cNvGrpSpPr/>
              <p:nvPr/>
            </p:nvGrpSpPr>
            <p:grpSpPr bwMode="auto">
              <a:xfrm>
                <a:off x="1900" y="2020"/>
                <a:ext cx="305" cy="448"/>
                <a:chOff x="1900" y="2020"/>
                <a:chExt cx="305" cy="448"/>
              </a:xfrm>
            </p:grpSpPr>
            <p:grpSp>
              <p:nvGrpSpPr>
                <p:cNvPr id="10466" name="Group 226"/>
                <p:cNvGrpSpPr/>
                <p:nvPr/>
              </p:nvGrpSpPr>
              <p:grpSpPr bwMode="auto">
                <a:xfrm>
                  <a:off x="1900" y="2020"/>
                  <a:ext cx="305" cy="448"/>
                  <a:chOff x="1900" y="2020"/>
                  <a:chExt cx="305" cy="448"/>
                </a:xfrm>
              </p:grpSpPr>
              <p:sp>
                <p:nvSpPr>
                  <p:cNvPr id="10467" name="AutoShape 227"/>
                  <p:cNvSpPr>
                    <a:spLocks noChangeArrowheads="1"/>
                  </p:cNvSpPr>
                  <p:nvPr/>
                </p:nvSpPr>
                <p:spPr bwMode="auto">
                  <a:xfrm>
                    <a:off x="1900" y="2091"/>
                    <a:ext cx="305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68" name="AutoShape 228"/>
                  <p:cNvSpPr>
                    <a:spLocks noChangeArrowheads="1"/>
                  </p:cNvSpPr>
                  <p:nvPr/>
                </p:nvSpPr>
                <p:spPr bwMode="auto">
                  <a:xfrm>
                    <a:off x="1970" y="2020"/>
                    <a:ext cx="235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469" name="AutoShape 229"/>
                <p:cNvSpPr>
                  <a:spLocks noChangeArrowheads="1"/>
                </p:cNvSpPr>
                <p:nvPr/>
              </p:nvSpPr>
              <p:spPr bwMode="auto">
                <a:xfrm>
                  <a:off x="1962" y="2124"/>
                  <a:ext cx="158" cy="27"/>
                </a:xfrm>
                <a:prstGeom prst="parallelogram">
                  <a:avLst>
                    <a:gd name="adj" fmla="val 146269"/>
                  </a:avLst>
                </a:prstGeom>
                <a:solidFill>
                  <a:srgbClr val="F6BF69"/>
                </a:solidFill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70" name="Group 230"/>
              <p:cNvGrpSpPr/>
              <p:nvPr/>
            </p:nvGrpSpPr>
            <p:grpSpPr bwMode="auto">
              <a:xfrm>
                <a:off x="2201" y="2020"/>
                <a:ext cx="378" cy="448"/>
                <a:chOff x="2201" y="2020"/>
                <a:chExt cx="378" cy="448"/>
              </a:xfrm>
            </p:grpSpPr>
            <p:grpSp>
              <p:nvGrpSpPr>
                <p:cNvPr id="10471" name="Group 231"/>
                <p:cNvGrpSpPr/>
                <p:nvPr/>
              </p:nvGrpSpPr>
              <p:grpSpPr bwMode="auto">
                <a:xfrm>
                  <a:off x="2201" y="2020"/>
                  <a:ext cx="378" cy="448"/>
                  <a:chOff x="2201" y="2020"/>
                  <a:chExt cx="378" cy="448"/>
                </a:xfrm>
              </p:grpSpPr>
              <p:sp>
                <p:nvSpPr>
                  <p:cNvPr id="10472" name="AutoShape 232"/>
                  <p:cNvSpPr>
                    <a:spLocks noChangeArrowheads="1"/>
                  </p:cNvSpPr>
                  <p:nvPr/>
                </p:nvSpPr>
                <p:spPr bwMode="auto">
                  <a:xfrm>
                    <a:off x="2201" y="2091"/>
                    <a:ext cx="378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73" name="AutoShape 233"/>
                  <p:cNvSpPr>
                    <a:spLocks noChangeArrowheads="1"/>
                  </p:cNvSpPr>
                  <p:nvPr/>
                </p:nvSpPr>
                <p:spPr bwMode="auto">
                  <a:xfrm>
                    <a:off x="2287" y="2020"/>
                    <a:ext cx="292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474" name="Oval 234"/>
                <p:cNvSpPr>
                  <a:spLocks noChangeArrowheads="1"/>
                </p:cNvSpPr>
                <p:nvPr/>
              </p:nvSpPr>
              <p:spPr bwMode="auto">
                <a:xfrm>
                  <a:off x="2316" y="2056"/>
                  <a:ext cx="49" cy="2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75" name="AutoShape 235"/>
                <p:cNvSpPr>
                  <a:spLocks noChangeArrowheads="1"/>
                </p:cNvSpPr>
                <p:nvPr/>
              </p:nvSpPr>
              <p:spPr bwMode="auto">
                <a:xfrm>
                  <a:off x="2248" y="2266"/>
                  <a:ext cx="198" cy="84"/>
                </a:xfrm>
                <a:prstGeom prst="octagon">
                  <a:avLst>
                    <a:gd name="adj" fmla="val 29282"/>
                  </a:avLst>
                </a:prstGeom>
                <a:solidFill>
                  <a:srgbClr val="A2C1FE"/>
                </a:solidFill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476" name="Freeform 236"/>
              <p:cNvSpPr/>
              <p:nvPr/>
            </p:nvSpPr>
            <p:spPr bwMode="auto">
              <a:xfrm>
                <a:off x="2765" y="2249"/>
                <a:ext cx="86" cy="192"/>
              </a:xfrm>
              <a:custGeom>
                <a:avLst/>
                <a:gdLst>
                  <a:gd name="T0" fmla="*/ 62 w 86"/>
                  <a:gd name="T1" fmla="*/ 0 h 192"/>
                  <a:gd name="T2" fmla="*/ 85 w 86"/>
                  <a:gd name="T3" fmla="*/ 0 h 192"/>
                  <a:gd name="T4" fmla="*/ 23 w 86"/>
                  <a:gd name="T5" fmla="*/ 191 h 192"/>
                  <a:gd name="T6" fmla="*/ 0 w 86"/>
                  <a:gd name="T7" fmla="*/ 191 h 192"/>
                  <a:gd name="T8" fmla="*/ 62 w 86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92">
                    <a:moveTo>
                      <a:pt x="62" y="0"/>
                    </a:moveTo>
                    <a:lnTo>
                      <a:pt x="85" y="0"/>
                    </a:lnTo>
                    <a:lnTo>
                      <a:pt x="23" y="191"/>
                    </a:lnTo>
                    <a:lnTo>
                      <a:pt x="0" y="191"/>
                    </a:lnTo>
                    <a:lnTo>
                      <a:pt x="62" y="0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77" name="Rectangle 237"/>
              <p:cNvSpPr>
                <a:spLocks noChangeArrowheads="1"/>
              </p:cNvSpPr>
              <p:nvPr/>
            </p:nvSpPr>
            <p:spPr bwMode="auto">
              <a:xfrm>
                <a:off x="2761" y="2249"/>
                <a:ext cx="106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78" name="Rectangle 238"/>
              <p:cNvSpPr>
                <a:spLocks noChangeArrowheads="1"/>
              </p:cNvSpPr>
              <p:nvPr/>
            </p:nvSpPr>
            <p:spPr bwMode="auto">
              <a:xfrm>
                <a:off x="2768" y="2330"/>
                <a:ext cx="82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79" name="Rectangle 239"/>
              <p:cNvSpPr>
                <a:spLocks noChangeArrowheads="1"/>
              </p:cNvSpPr>
              <p:nvPr/>
            </p:nvSpPr>
            <p:spPr bwMode="auto">
              <a:xfrm>
                <a:off x="2585" y="2330"/>
                <a:ext cx="103" cy="11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480" name="Group 240"/>
              <p:cNvGrpSpPr/>
              <p:nvPr/>
            </p:nvGrpSpPr>
            <p:grpSpPr bwMode="auto">
              <a:xfrm>
                <a:off x="2583" y="2077"/>
                <a:ext cx="194" cy="364"/>
                <a:chOff x="2583" y="2077"/>
                <a:chExt cx="194" cy="364"/>
              </a:xfrm>
            </p:grpSpPr>
            <p:sp>
              <p:nvSpPr>
                <p:cNvPr id="10481" name="Oval 241"/>
                <p:cNvSpPr>
                  <a:spLocks noChangeArrowheads="1"/>
                </p:cNvSpPr>
                <p:nvPr/>
              </p:nvSpPr>
              <p:spPr bwMode="auto">
                <a:xfrm>
                  <a:off x="2659" y="2077"/>
                  <a:ext cx="48" cy="48"/>
                </a:xfrm>
                <a:prstGeom prst="ellipse">
                  <a:avLst/>
                </a:prstGeom>
                <a:solidFill>
                  <a:srgbClr val="FC0128"/>
                </a:solidFill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82" name="Freeform 242"/>
                <p:cNvSpPr/>
                <p:nvPr/>
              </p:nvSpPr>
              <p:spPr bwMode="auto">
                <a:xfrm>
                  <a:off x="2583" y="2145"/>
                  <a:ext cx="194" cy="296"/>
                </a:xfrm>
                <a:custGeom>
                  <a:avLst/>
                  <a:gdLst>
                    <a:gd name="T0" fmla="*/ 2 w 194"/>
                    <a:gd name="T1" fmla="*/ 137 h 296"/>
                    <a:gd name="T2" fmla="*/ 1 w 194"/>
                    <a:gd name="T3" fmla="*/ 140 h 296"/>
                    <a:gd name="T4" fmla="*/ 0 w 194"/>
                    <a:gd name="T5" fmla="*/ 145 h 296"/>
                    <a:gd name="T6" fmla="*/ 0 w 194"/>
                    <a:gd name="T7" fmla="*/ 150 h 296"/>
                    <a:gd name="T8" fmla="*/ 2 w 194"/>
                    <a:gd name="T9" fmla="*/ 155 h 296"/>
                    <a:gd name="T10" fmla="*/ 4 w 194"/>
                    <a:gd name="T11" fmla="*/ 159 h 296"/>
                    <a:gd name="T12" fmla="*/ 8 w 194"/>
                    <a:gd name="T13" fmla="*/ 163 h 296"/>
                    <a:gd name="T14" fmla="*/ 12 w 194"/>
                    <a:gd name="T15" fmla="*/ 165 h 296"/>
                    <a:gd name="T16" fmla="*/ 16 w 194"/>
                    <a:gd name="T17" fmla="*/ 166 h 296"/>
                    <a:gd name="T18" fmla="*/ 21 w 194"/>
                    <a:gd name="T19" fmla="*/ 166 h 296"/>
                    <a:gd name="T20" fmla="*/ 126 w 194"/>
                    <a:gd name="T21" fmla="*/ 295 h 296"/>
                    <a:gd name="T22" fmla="*/ 159 w 194"/>
                    <a:gd name="T23" fmla="*/ 142 h 296"/>
                    <a:gd name="T24" fmla="*/ 159 w 194"/>
                    <a:gd name="T25" fmla="*/ 138 h 296"/>
                    <a:gd name="T26" fmla="*/ 157 w 194"/>
                    <a:gd name="T27" fmla="*/ 136 h 296"/>
                    <a:gd name="T28" fmla="*/ 154 w 194"/>
                    <a:gd name="T29" fmla="*/ 133 h 296"/>
                    <a:gd name="T30" fmla="*/ 152 w 194"/>
                    <a:gd name="T31" fmla="*/ 131 h 296"/>
                    <a:gd name="T32" fmla="*/ 148 w 194"/>
                    <a:gd name="T33" fmla="*/ 130 h 296"/>
                    <a:gd name="T34" fmla="*/ 144 w 194"/>
                    <a:gd name="T35" fmla="*/ 129 h 296"/>
                    <a:gd name="T36" fmla="*/ 140 w 194"/>
                    <a:gd name="T37" fmla="*/ 129 h 296"/>
                    <a:gd name="T38" fmla="*/ 137 w 194"/>
                    <a:gd name="T39" fmla="*/ 129 h 296"/>
                    <a:gd name="T40" fmla="*/ 93 w 194"/>
                    <a:gd name="T41" fmla="*/ 75 h 296"/>
                    <a:gd name="T42" fmla="*/ 179 w 194"/>
                    <a:gd name="T43" fmla="*/ 93 h 296"/>
                    <a:gd name="T44" fmla="*/ 183 w 194"/>
                    <a:gd name="T45" fmla="*/ 92 h 296"/>
                    <a:gd name="T46" fmla="*/ 185 w 194"/>
                    <a:gd name="T47" fmla="*/ 91 h 296"/>
                    <a:gd name="T48" fmla="*/ 189 w 194"/>
                    <a:gd name="T49" fmla="*/ 89 h 296"/>
                    <a:gd name="T50" fmla="*/ 191 w 194"/>
                    <a:gd name="T51" fmla="*/ 86 h 296"/>
                    <a:gd name="T52" fmla="*/ 192 w 194"/>
                    <a:gd name="T53" fmla="*/ 83 h 296"/>
                    <a:gd name="T54" fmla="*/ 193 w 194"/>
                    <a:gd name="T55" fmla="*/ 78 h 296"/>
                    <a:gd name="T56" fmla="*/ 192 w 194"/>
                    <a:gd name="T57" fmla="*/ 74 h 296"/>
                    <a:gd name="T58" fmla="*/ 190 w 194"/>
                    <a:gd name="T59" fmla="*/ 70 h 296"/>
                    <a:gd name="T60" fmla="*/ 188 w 194"/>
                    <a:gd name="T61" fmla="*/ 68 h 296"/>
                    <a:gd name="T62" fmla="*/ 184 w 194"/>
                    <a:gd name="T63" fmla="*/ 65 h 296"/>
                    <a:gd name="T64" fmla="*/ 181 w 194"/>
                    <a:gd name="T65" fmla="*/ 64 h 296"/>
                    <a:gd name="T66" fmla="*/ 122 w 194"/>
                    <a:gd name="T67" fmla="*/ 64 h 296"/>
                    <a:gd name="T68" fmla="*/ 112 w 194"/>
                    <a:gd name="T69" fmla="*/ 42 h 296"/>
                    <a:gd name="T70" fmla="*/ 113 w 194"/>
                    <a:gd name="T71" fmla="*/ 37 h 296"/>
                    <a:gd name="T72" fmla="*/ 114 w 194"/>
                    <a:gd name="T73" fmla="*/ 30 h 296"/>
                    <a:gd name="T74" fmla="*/ 114 w 194"/>
                    <a:gd name="T75" fmla="*/ 24 h 296"/>
                    <a:gd name="T76" fmla="*/ 112 w 194"/>
                    <a:gd name="T77" fmla="*/ 19 h 296"/>
                    <a:gd name="T78" fmla="*/ 110 w 194"/>
                    <a:gd name="T79" fmla="*/ 15 h 296"/>
                    <a:gd name="T80" fmla="*/ 107 w 194"/>
                    <a:gd name="T81" fmla="*/ 10 h 296"/>
                    <a:gd name="T82" fmla="*/ 103 w 194"/>
                    <a:gd name="T83" fmla="*/ 7 h 296"/>
                    <a:gd name="T84" fmla="*/ 98 w 194"/>
                    <a:gd name="T85" fmla="*/ 3 h 296"/>
                    <a:gd name="T86" fmla="*/ 93 w 194"/>
                    <a:gd name="T87" fmla="*/ 1 h 296"/>
                    <a:gd name="T88" fmla="*/ 87 w 194"/>
                    <a:gd name="T89" fmla="*/ 0 h 296"/>
                    <a:gd name="T90" fmla="*/ 81 w 194"/>
                    <a:gd name="T91" fmla="*/ 0 h 296"/>
                    <a:gd name="T92" fmla="*/ 75 w 194"/>
                    <a:gd name="T93" fmla="*/ 1 h 296"/>
                    <a:gd name="T94" fmla="*/ 69 w 194"/>
                    <a:gd name="T95" fmla="*/ 3 h 296"/>
                    <a:gd name="T96" fmla="*/ 63 w 194"/>
                    <a:gd name="T97" fmla="*/ 6 h 296"/>
                    <a:gd name="T98" fmla="*/ 59 w 194"/>
                    <a:gd name="T99" fmla="*/ 11 h 296"/>
                    <a:gd name="T100" fmla="*/ 55 w 194"/>
                    <a:gd name="T101" fmla="*/ 17 h 296"/>
                    <a:gd name="T102" fmla="*/ 53 w 194"/>
                    <a:gd name="T103" fmla="*/ 23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94" h="296">
                      <a:moveTo>
                        <a:pt x="53" y="23"/>
                      </a:moveTo>
                      <a:lnTo>
                        <a:pt x="2" y="137"/>
                      </a:lnTo>
                      <a:lnTo>
                        <a:pt x="1" y="138"/>
                      </a:lnTo>
                      <a:lnTo>
                        <a:pt x="1" y="140"/>
                      </a:lnTo>
                      <a:lnTo>
                        <a:pt x="0" y="142"/>
                      </a:lnTo>
                      <a:lnTo>
                        <a:pt x="0" y="145"/>
                      </a:lnTo>
                      <a:lnTo>
                        <a:pt x="0" y="147"/>
                      </a:lnTo>
                      <a:lnTo>
                        <a:pt x="0" y="150"/>
                      </a:lnTo>
                      <a:lnTo>
                        <a:pt x="1" y="152"/>
                      </a:lnTo>
                      <a:lnTo>
                        <a:pt x="2" y="155"/>
                      </a:lnTo>
                      <a:lnTo>
                        <a:pt x="3" y="157"/>
                      </a:lnTo>
                      <a:lnTo>
                        <a:pt x="4" y="159"/>
                      </a:lnTo>
                      <a:lnTo>
                        <a:pt x="6" y="161"/>
                      </a:lnTo>
                      <a:lnTo>
                        <a:pt x="8" y="163"/>
                      </a:lnTo>
                      <a:lnTo>
                        <a:pt x="10" y="164"/>
                      </a:lnTo>
                      <a:lnTo>
                        <a:pt x="12" y="165"/>
                      </a:lnTo>
                      <a:lnTo>
                        <a:pt x="14" y="165"/>
                      </a:lnTo>
                      <a:lnTo>
                        <a:pt x="16" y="166"/>
                      </a:lnTo>
                      <a:lnTo>
                        <a:pt x="18" y="166"/>
                      </a:lnTo>
                      <a:lnTo>
                        <a:pt x="21" y="166"/>
                      </a:lnTo>
                      <a:lnTo>
                        <a:pt x="126" y="166"/>
                      </a:lnTo>
                      <a:lnTo>
                        <a:pt x="126" y="295"/>
                      </a:lnTo>
                      <a:lnTo>
                        <a:pt x="159" y="295"/>
                      </a:lnTo>
                      <a:lnTo>
                        <a:pt x="159" y="142"/>
                      </a:lnTo>
                      <a:lnTo>
                        <a:pt x="159" y="140"/>
                      </a:lnTo>
                      <a:lnTo>
                        <a:pt x="159" y="138"/>
                      </a:lnTo>
                      <a:lnTo>
                        <a:pt x="158" y="137"/>
                      </a:lnTo>
                      <a:lnTo>
                        <a:pt x="157" y="136"/>
                      </a:lnTo>
                      <a:lnTo>
                        <a:pt x="156" y="135"/>
                      </a:lnTo>
                      <a:lnTo>
                        <a:pt x="154" y="133"/>
                      </a:lnTo>
                      <a:lnTo>
                        <a:pt x="153" y="132"/>
                      </a:lnTo>
                      <a:lnTo>
                        <a:pt x="152" y="131"/>
                      </a:lnTo>
                      <a:lnTo>
                        <a:pt x="150" y="131"/>
                      </a:lnTo>
                      <a:lnTo>
                        <a:pt x="148" y="130"/>
                      </a:lnTo>
                      <a:lnTo>
                        <a:pt x="146" y="130"/>
                      </a:lnTo>
                      <a:lnTo>
                        <a:pt x="144" y="129"/>
                      </a:lnTo>
                      <a:lnTo>
                        <a:pt x="142" y="129"/>
                      </a:lnTo>
                      <a:lnTo>
                        <a:pt x="140" y="129"/>
                      </a:lnTo>
                      <a:lnTo>
                        <a:pt x="139" y="129"/>
                      </a:lnTo>
                      <a:lnTo>
                        <a:pt x="137" y="129"/>
                      </a:lnTo>
                      <a:lnTo>
                        <a:pt x="76" y="125"/>
                      </a:lnTo>
                      <a:lnTo>
                        <a:pt x="93" y="75"/>
                      </a:lnTo>
                      <a:lnTo>
                        <a:pt x="105" y="93"/>
                      </a:lnTo>
                      <a:lnTo>
                        <a:pt x="179" y="93"/>
                      </a:lnTo>
                      <a:lnTo>
                        <a:pt x="181" y="92"/>
                      </a:lnTo>
                      <a:lnTo>
                        <a:pt x="183" y="92"/>
                      </a:lnTo>
                      <a:lnTo>
                        <a:pt x="184" y="91"/>
                      </a:lnTo>
                      <a:lnTo>
                        <a:pt x="185" y="91"/>
                      </a:lnTo>
                      <a:lnTo>
                        <a:pt x="187" y="90"/>
                      </a:lnTo>
                      <a:lnTo>
                        <a:pt x="189" y="89"/>
                      </a:lnTo>
                      <a:lnTo>
                        <a:pt x="190" y="87"/>
                      </a:lnTo>
                      <a:lnTo>
                        <a:pt x="191" y="86"/>
                      </a:lnTo>
                      <a:lnTo>
                        <a:pt x="192" y="84"/>
                      </a:lnTo>
                      <a:lnTo>
                        <a:pt x="192" y="83"/>
                      </a:lnTo>
                      <a:lnTo>
                        <a:pt x="193" y="81"/>
                      </a:lnTo>
                      <a:lnTo>
                        <a:pt x="193" y="78"/>
                      </a:lnTo>
                      <a:lnTo>
                        <a:pt x="193" y="76"/>
                      </a:lnTo>
                      <a:lnTo>
                        <a:pt x="192" y="74"/>
                      </a:lnTo>
                      <a:lnTo>
                        <a:pt x="191" y="72"/>
                      </a:lnTo>
                      <a:lnTo>
                        <a:pt x="190" y="70"/>
                      </a:lnTo>
                      <a:lnTo>
                        <a:pt x="189" y="69"/>
                      </a:lnTo>
                      <a:lnTo>
                        <a:pt x="188" y="68"/>
                      </a:lnTo>
                      <a:lnTo>
                        <a:pt x="186" y="66"/>
                      </a:lnTo>
                      <a:lnTo>
                        <a:pt x="184" y="65"/>
                      </a:lnTo>
                      <a:lnTo>
                        <a:pt x="184" y="64"/>
                      </a:lnTo>
                      <a:lnTo>
                        <a:pt x="181" y="64"/>
                      </a:lnTo>
                      <a:lnTo>
                        <a:pt x="179" y="64"/>
                      </a:lnTo>
                      <a:lnTo>
                        <a:pt x="122" y="64"/>
                      </a:lnTo>
                      <a:lnTo>
                        <a:pt x="110" y="44"/>
                      </a:lnTo>
                      <a:lnTo>
                        <a:pt x="112" y="42"/>
                      </a:lnTo>
                      <a:lnTo>
                        <a:pt x="113" y="39"/>
                      </a:lnTo>
                      <a:lnTo>
                        <a:pt x="113" y="37"/>
                      </a:lnTo>
                      <a:lnTo>
                        <a:pt x="114" y="34"/>
                      </a:lnTo>
                      <a:lnTo>
                        <a:pt x="114" y="30"/>
                      </a:lnTo>
                      <a:lnTo>
                        <a:pt x="114" y="28"/>
                      </a:lnTo>
                      <a:lnTo>
                        <a:pt x="114" y="24"/>
                      </a:lnTo>
                      <a:lnTo>
                        <a:pt x="113" y="22"/>
                      </a:lnTo>
                      <a:lnTo>
                        <a:pt x="112" y="19"/>
                      </a:lnTo>
                      <a:lnTo>
                        <a:pt x="111" y="17"/>
                      </a:lnTo>
                      <a:lnTo>
                        <a:pt x="110" y="15"/>
                      </a:lnTo>
                      <a:lnTo>
                        <a:pt x="109" y="13"/>
                      </a:lnTo>
                      <a:lnTo>
                        <a:pt x="107" y="10"/>
                      </a:lnTo>
                      <a:lnTo>
                        <a:pt x="105" y="9"/>
                      </a:lnTo>
                      <a:lnTo>
                        <a:pt x="103" y="7"/>
                      </a:lnTo>
                      <a:lnTo>
                        <a:pt x="101" y="5"/>
                      </a:lnTo>
                      <a:lnTo>
                        <a:pt x="98" y="3"/>
                      </a:lnTo>
                      <a:lnTo>
                        <a:pt x="96" y="3"/>
                      </a:lnTo>
                      <a:lnTo>
                        <a:pt x="93" y="1"/>
                      </a:lnTo>
                      <a:lnTo>
                        <a:pt x="90" y="1"/>
                      </a:lnTo>
                      <a:lnTo>
                        <a:pt x="87" y="0"/>
                      </a:lnTo>
                      <a:lnTo>
                        <a:pt x="84" y="0"/>
                      </a:lnTo>
                      <a:lnTo>
                        <a:pt x="81" y="0"/>
                      </a:lnTo>
                      <a:lnTo>
                        <a:pt x="78" y="0"/>
                      </a:lnTo>
                      <a:lnTo>
                        <a:pt x="75" y="1"/>
                      </a:lnTo>
                      <a:lnTo>
                        <a:pt x="72" y="2"/>
                      </a:lnTo>
                      <a:lnTo>
                        <a:pt x="69" y="3"/>
                      </a:lnTo>
                      <a:lnTo>
                        <a:pt x="66" y="4"/>
                      </a:lnTo>
                      <a:lnTo>
                        <a:pt x="63" y="6"/>
                      </a:lnTo>
                      <a:lnTo>
                        <a:pt x="61" y="9"/>
                      </a:lnTo>
                      <a:lnTo>
                        <a:pt x="59" y="11"/>
                      </a:lnTo>
                      <a:lnTo>
                        <a:pt x="57" y="13"/>
                      </a:lnTo>
                      <a:lnTo>
                        <a:pt x="55" y="17"/>
                      </a:lnTo>
                      <a:lnTo>
                        <a:pt x="53" y="19"/>
                      </a:lnTo>
                      <a:lnTo>
                        <a:pt x="53" y="23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483" name="Group 243"/>
            <p:cNvGrpSpPr/>
            <p:nvPr/>
          </p:nvGrpSpPr>
          <p:grpSpPr bwMode="auto">
            <a:xfrm>
              <a:off x="2812" y="2468"/>
              <a:ext cx="967" cy="448"/>
              <a:chOff x="2812" y="2468"/>
              <a:chExt cx="967" cy="448"/>
            </a:xfrm>
          </p:grpSpPr>
          <p:grpSp>
            <p:nvGrpSpPr>
              <p:cNvPr id="10484" name="Group 244"/>
              <p:cNvGrpSpPr/>
              <p:nvPr/>
            </p:nvGrpSpPr>
            <p:grpSpPr bwMode="auto">
              <a:xfrm>
                <a:off x="2812" y="2468"/>
                <a:ext cx="305" cy="448"/>
                <a:chOff x="2812" y="2468"/>
                <a:chExt cx="305" cy="448"/>
              </a:xfrm>
            </p:grpSpPr>
            <p:grpSp>
              <p:nvGrpSpPr>
                <p:cNvPr id="10485" name="Group 245"/>
                <p:cNvGrpSpPr/>
                <p:nvPr/>
              </p:nvGrpSpPr>
              <p:grpSpPr bwMode="auto">
                <a:xfrm>
                  <a:off x="2812" y="2468"/>
                  <a:ext cx="305" cy="448"/>
                  <a:chOff x="2812" y="2468"/>
                  <a:chExt cx="305" cy="448"/>
                </a:xfrm>
              </p:grpSpPr>
              <p:sp>
                <p:nvSpPr>
                  <p:cNvPr id="10486" name="AutoShape 246"/>
                  <p:cNvSpPr>
                    <a:spLocks noChangeArrowheads="1"/>
                  </p:cNvSpPr>
                  <p:nvPr/>
                </p:nvSpPr>
                <p:spPr bwMode="auto">
                  <a:xfrm>
                    <a:off x="2812" y="2539"/>
                    <a:ext cx="305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87" name="AutoShape 247"/>
                  <p:cNvSpPr>
                    <a:spLocks noChangeArrowheads="1"/>
                  </p:cNvSpPr>
                  <p:nvPr/>
                </p:nvSpPr>
                <p:spPr bwMode="auto">
                  <a:xfrm>
                    <a:off x="2882" y="2468"/>
                    <a:ext cx="235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488" name="AutoShape 248"/>
                <p:cNvSpPr>
                  <a:spLocks noChangeArrowheads="1"/>
                </p:cNvSpPr>
                <p:nvPr/>
              </p:nvSpPr>
              <p:spPr bwMode="auto">
                <a:xfrm>
                  <a:off x="2874" y="2572"/>
                  <a:ext cx="158" cy="27"/>
                </a:xfrm>
                <a:prstGeom prst="parallelogram">
                  <a:avLst>
                    <a:gd name="adj" fmla="val 146269"/>
                  </a:avLst>
                </a:prstGeom>
                <a:solidFill>
                  <a:srgbClr val="F6BF69"/>
                </a:solidFill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89" name="Group 249"/>
              <p:cNvGrpSpPr/>
              <p:nvPr/>
            </p:nvGrpSpPr>
            <p:grpSpPr bwMode="auto">
              <a:xfrm>
                <a:off x="3113" y="2468"/>
                <a:ext cx="378" cy="448"/>
                <a:chOff x="3113" y="2468"/>
                <a:chExt cx="378" cy="448"/>
              </a:xfrm>
            </p:grpSpPr>
            <p:grpSp>
              <p:nvGrpSpPr>
                <p:cNvPr id="10490" name="Group 250"/>
                <p:cNvGrpSpPr/>
                <p:nvPr/>
              </p:nvGrpSpPr>
              <p:grpSpPr bwMode="auto">
                <a:xfrm>
                  <a:off x="3113" y="2468"/>
                  <a:ext cx="378" cy="448"/>
                  <a:chOff x="3113" y="2468"/>
                  <a:chExt cx="378" cy="448"/>
                </a:xfrm>
              </p:grpSpPr>
              <p:sp>
                <p:nvSpPr>
                  <p:cNvPr id="10491" name="AutoShape 251"/>
                  <p:cNvSpPr>
                    <a:spLocks noChangeArrowheads="1"/>
                  </p:cNvSpPr>
                  <p:nvPr/>
                </p:nvSpPr>
                <p:spPr bwMode="auto">
                  <a:xfrm>
                    <a:off x="3113" y="2539"/>
                    <a:ext cx="378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92" name="AutoShape 252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468"/>
                    <a:ext cx="292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493" name="Oval 253"/>
                <p:cNvSpPr>
                  <a:spLocks noChangeArrowheads="1"/>
                </p:cNvSpPr>
                <p:nvPr/>
              </p:nvSpPr>
              <p:spPr bwMode="auto">
                <a:xfrm>
                  <a:off x="3228" y="2504"/>
                  <a:ext cx="49" cy="2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94" name="AutoShape 254"/>
                <p:cNvSpPr>
                  <a:spLocks noChangeArrowheads="1"/>
                </p:cNvSpPr>
                <p:nvPr/>
              </p:nvSpPr>
              <p:spPr bwMode="auto">
                <a:xfrm>
                  <a:off x="3160" y="2714"/>
                  <a:ext cx="198" cy="84"/>
                </a:xfrm>
                <a:prstGeom prst="octagon">
                  <a:avLst>
                    <a:gd name="adj" fmla="val 29282"/>
                  </a:avLst>
                </a:prstGeom>
                <a:solidFill>
                  <a:srgbClr val="A2C1FE"/>
                </a:solidFill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495" name="Freeform 255"/>
              <p:cNvSpPr/>
              <p:nvPr/>
            </p:nvSpPr>
            <p:spPr bwMode="auto">
              <a:xfrm>
                <a:off x="3677" y="2697"/>
                <a:ext cx="86" cy="192"/>
              </a:xfrm>
              <a:custGeom>
                <a:avLst/>
                <a:gdLst>
                  <a:gd name="T0" fmla="*/ 62 w 86"/>
                  <a:gd name="T1" fmla="*/ 0 h 192"/>
                  <a:gd name="T2" fmla="*/ 85 w 86"/>
                  <a:gd name="T3" fmla="*/ 0 h 192"/>
                  <a:gd name="T4" fmla="*/ 23 w 86"/>
                  <a:gd name="T5" fmla="*/ 191 h 192"/>
                  <a:gd name="T6" fmla="*/ 0 w 86"/>
                  <a:gd name="T7" fmla="*/ 191 h 192"/>
                  <a:gd name="T8" fmla="*/ 62 w 86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92">
                    <a:moveTo>
                      <a:pt x="62" y="0"/>
                    </a:moveTo>
                    <a:lnTo>
                      <a:pt x="85" y="0"/>
                    </a:lnTo>
                    <a:lnTo>
                      <a:pt x="23" y="191"/>
                    </a:lnTo>
                    <a:lnTo>
                      <a:pt x="0" y="191"/>
                    </a:lnTo>
                    <a:lnTo>
                      <a:pt x="62" y="0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96" name="Rectangle 256"/>
              <p:cNvSpPr>
                <a:spLocks noChangeArrowheads="1"/>
              </p:cNvSpPr>
              <p:nvPr/>
            </p:nvSpPr>
            <p:spPr bwMode="auto">
              <a:xfrm>
                <a:off x="3673" y="2697"/>
                <a:ext cx="106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97" name="Rectangle 257"/>
              <p:cNvSpPr>
                <a:spLocks noChangeArrowheads="1"/>
              </p:cNvSpPr>
              <p:nvPr/>
            </p:nvSpPr>
            <p:spPr bwMode="auto">
              <a:xfrm>
                <a:off x="3680" y="2778"/>
                <a:ext cx="82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98" name="Rectangle 258"/>
              <p:cNvSpPr>
                <a:spLocks noChangeArrowheads="1"/>
              </p:cNvSpPr>
              <p:nvPr/>
            </p:nvSpPr>
            <p:spPr bwMode="auto">
              <a:xfrm>
                <a:off x="3497" y="2778"/>
                <a:ext cx="103" cy="11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499" name="Group 259"/>
              <p:cNvGrpSpPr/>
              <p:nvPr/>
            </p:nvGrpSpPr>
            <p:grpSpPr bwMode="auto">
              <a:xfrm>
                <a:off x="3495" y="2525"/>
                <a:ext cx="194" cy="364"/>
                <a:chOff x="3495" y="2525"/>
                <a:chExt cx="194" cy="364"/>
              </a:xfrm>
            </p:grpSpPr>
            <p:sp>
              <p:nvSpPr>
                <p:cNvPr id="10500" name="Oval 260"/>
                <p:cNvSpPr>
                  <a:spLocks noChangeArrowheads="1"/>
                </p:cNvSpPr>
                <p:nvPr/>
              </p:nvSpPr>
              <p:spPr bwMode="auto">
                <a:xfrm>
                  <a:off x="3571" y="2525"/>
                  <a:ext cx="48" cy="48"/>
                </a:xfrm>
                <a:prstGeom prst="ellipse">
                  <a:avLst/>
                </a:prstGeom>
                <a:solidFill>
                  <a:srgbClr val="FC0128"/>
                </a:solidFill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01" name="Freeform 261"/>
                <p:cNvSpPr/>
                <p:nvPr/>
              </p:nvSpPr>
              <p:spPr bwMode="auto">
                <a:xfrm>
                  <a:off x="3495" y="2593"/>
                  <a:ext cx="194" cy="296"/>
                </a:xfrm>
                <a:custGeom>
                  <a:avLst/>
                  <a:gdLst>
                    <a:gd name="T0" fmla="*/ 2 w 194"/>
                    <a:gd name="T1" fmla="*/ 137 h 296"/>
                    <a:gd name="T2" fmla="*/ 1 w 194"/>
                    <a:gd name="T3" fmla="*/ 140 h 296"/>
                    <a:gd name="T4" fmla="*/ 0 w 194"/>
                    <a:gd name="T5" fmla="*/ 145 h 296"/>
                    <a:gd name="T6" fmla="*/ 0 w 194"/>
                    <a:gd name="T7" fmla="*/ 150 h 296"/>
                    <a:gd name="T8" fmla="*/ 2 w 194"/>
                    <a:gd name="T9" fmla="*/ 155 h 296"/>
                    <a:gd name="T10" fmla="*/ 4 w 194"/>
                    <a:gd name="T11" fmla="*/ 159 h 296"/>
                    <a:gd name="T12" fmla="*/ 8 w 194"/>
                    <a:gd name="T13" fmla="*/ 163 h 296"/>
                    <a:gd name="T14" fmla="*/ 12 w 194"/>
                    <a:gd name="T15" fmla="*/ 165 h 296"/>
                    <a:gd name="T16" fmla="*/ 16 w 194"/>
                    <a:gd name="T17" fmla="*/ 166 h 296"/>
                    <a:gd name="T18" fmla="*/ 21 w 194"/>
                    <a:gd name="T19" fmla="*/ 166 h 296"/>
                    <a:gd name="T20" fmla="*/ 126 w 194"/>
                    <a:gd name="T21" fmla="*/ 295 h 296"/>
                    <a:gd name="T22" fmla="*/ 159 w 194"/>
                    <a:gd name="T23" fmla="*/ 142 h 296"/>
                    <a:gd name="T24" fmla="*/ 159 w 194"/>
                    <a:gd name="T25" fmla="*/ 138 h 296"/>
                    <a:gd name="T26" fmla="*/ 157 w 194"/>
                    <a:gd name="T27" fmla="*/ 136 h 296"/>
                    <a:gd name="T28" fmla="*/ 154 w 194"/>
                    <a:gd name="T29" fmla="*/ 133 h 296"/>
                    <a:gd name="T30" fmla="*/ 152 w 194"/>
                    <a:gd name="T31" fmla="*/ 131 h 296"/>
                    <a:gd name="T32" fmla="*/ 148 w 194"/>
                    <a:gd name="T33" fmla="*/ 130 h 296"/>
                    <a:gd name="T34" fmla="*/ 144 w 194"/>
                    <a:gd name="T35" fmla="*/ 129 h 296"/>
                    <a:gd name="T36" fmla="*/ 140 w 194"/>
                    <a:gd name="T37" fmla="*/ 129 h 296"/>
                    <a:gd name="T38" fmla="*/ 137 w 194"/>
                    <a:gd name="T39" fmla="*/ 129 h 296"/>
                    <a:gd name="T40" fmla="*/ 93 w 194"/>
                    <a:gd name="T41" fmla="*/ 75 h 296"/>
                    <a:gd name="T42" fmla="*/ 179 w 194"/>
                    <a:gd name="T43" fmla="*/ 93 h 296"/>
                    <a:gd name="T44" fmla="*/ 183 w 194"/>
                    <a:gd name="T45" fmla="*/ 92 h 296"/>
                    <a:gd name="T46" fmla="*/ 185 w 194"/>
                    <a:gd name="T47" fmla="*/ 91 h 296"/>
                    <a:gd name="T48" fmla="*/ 189 w 194"/>
                    <a:gd name="T49" fmla="*/ 89 h 296"/>
                    <a:gd name="T50" fmla="*/ 191 w 194"/>
                    <a:gd name="T51" fmla="*/ 86 h 296"/>
                    <a:gd name="T52" fmla="*/ 192 w 194"/>
                    <a:gd name="T53" fmla="*/ 83 h 296"/>
                    <a:gd name="T54" fmla="*/ 193 w 194"/>
                    <a:gd name="T55" fmla="*/ 78 h 296"/>
                    <a:gd name="T56" fmla="*/ 192 w 194"/>
                    <a:gd name="T57" fmla="*/ 74 h 296"/>
                    <a:gd name="T58" fmla="*/ 190 w 194"/>
                    <a:gd name="T59" fmla="*/ 70 h 296"/>
                    <a:gd name="T60" fmla="*/ 188 w 194"/>
                    <a:gd name="T61" fmla="*/ 68 h 296"/>
                    <a:gd name="T62" fmla="*/ 184 w 194"/>
                    <a:gd name="T63" fmla="*/ 65 h 296"/>
                    <a:gd name="T64" fmla="*/ 181 w 194"/>
                    <a:gd name="T65" fmla="*/ 64 h 296"/>
                    <a:gd name="T66" fmla="*/ 122 w 194"/>
                    <a:gd name="T67" fmla="*/ 64 h 296"/>
                    <a:gd name="T68" fmla="*/ 112 w 194"/>
                    <a:gd name="T69" fmla="*/ 42 h 296"/>
                    <a:gd name="T70" fmla="*/ 113 w 194"/>
                    <a:gd name="T71" fmla="*/ 37 h 296"/>
                    <a:gd name="T72" fmla="*/ 114 w 194"/>
                    <a:gd name="T73" fmla="*/ 30 h 296"/>
                    <a:gd name="T74" fmla="*/ 114 w 194"/>
                    <a:gd name="T75" fmla="*/ 24 h 296"/>
                    <a:gd name="T76" fmla="*/ 112 w 194"/>
                    <a:gd name="T77" fmla="*/ 19 h 296"/>
                    <a:gd name="T78" fmla="*/ 110 w 194"/>
                    <a:gd name="T79" fmla="*/ 15 h 296"/>
                    <a:gd name="T80" fmla="*/ 107 w 194"/>
                    <a:gd name="T81" fmla="*/ 10 h 296"/>
                    <a:gd name="T82" fmla="*/ 103 w 194"/>
                    <a:gd name="T83" fmla="*/ 7 h 296"/>
                    <a:gd name="T84" fmla="*/ 98 w 194"/>
                    <a:gd name="T85" fmla="*/ 3 h 296"/>
                    <a:gd name="T86" fmla="*/ 93 w 194"/>
                    <a:gd name="T87" fmla="*/ 1 h 296"/>
                    <a:gd name="T88" fmla="*/ 87 w 194"/>
                    <a:gd name="T89" fmla="*/ 0 h 296"/>
                    <a:gd name="T90" fmla="*/ 81 w 194"/>
                    <a:gd name="T91" fmla="*/ 0 h 296"/>
                    <a:gd name="T92" fmla="*/ 75 w 194"/>
                    <a:gd name="T93" fmla="*/ 1 h 296"/>
                    <a:gd name="T94" fmla="*/ 69 w 194"/>
                    <a:gd name="T95" fmla="*/ 3 h 296"/>
                    <a:gd name="T96" fmla="*/ 63 w 194"/>
                    <a:gd name="T97" fmla="*/ 6 h 296"/>
                    <a:gd name="T98" fmla="*/ 59 w 194"/>
                    <a:gd name="T99" fmla="*/ 11 h 296"/>
                    <a:gd name="T100" fmla="*/ 55 w 194"/>
                    <a:gd name="T101" fmla="*/ 17 h 296"/>
                    <a:gd name="T102" fmla="*/ 53 w 194"/>
                    <a:gd name="T103" fmla="*/ 23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94" h="296">
                      <a:moveTo>
                        <a:pt x="53" y="23"/>
                      </a:moveTo>
                      <a:lnTo>
                        <a:pt x="2" y="137"/>
                      </a:lnTo>
                      <a:lnTo>
                        <a:pt x="1" y="138"/>
                      </a:lnTo>
                      <a:lnTo>
                        <a:pt x="1" y="140"/>
                      </a:lnTo>
                      <a:lnTo>
                        <a:pt x="0" y="142"/>
                      </a:lnTo>
                      <a:lnTo>
                        <a:pt x="0" y="145"/>
                      </a:lnTo>
                      <a:lnTo>
                        <a:pt x="0" y="147"/>
                      </a:lnTo>
                      <a:lnTo>
                        <a:pt x="0" y="150"/>
                      </a:lnTo>
                      <a:lnTo>
                        <a:pt x="1" y="152"/>
                      </a:lnTo>
                      <a:lnTo>
                        <a:pt x="2" y="155"/>
                      </a:lnTo>
                      <a:lnTo>
                        <a:pt x="3" y="157"/>
                      </a:lnTo>
                      <a:lnTo>
                        <a:pt x="4" y="159"/>
                      </a:lnTo>
                      <a:lnTo>
                        <a:pt x="6" y="161"/>
                      </a:lnTo>
                      <a:lnTo>
                        <a:pt x="8" y="163"/>
                      </a:lnTo>
                      <a:lnTo>
                        <a:pt x="10" y="164"/>
                      </a:lnTo>
                      <a:lnTo>
                        <a:pt x="12" y="165"/>
                      </a:lnTo>
                      <a:lnTo>
                        <a:pt x="14" y="165"/>
                      </a:lnTo>
                      <a:lnTo>
                        <a:pt x="16" y="166"/>
                      </a:lnTo>
                      <a:lnTo>
                        <a:pt x="18" y="166"/>
                      </a:lnTo>
                      <a:lnTo>
                        <a:pt x="21" y="166"/>
                      </a:lnTo>
                      <a:lnTo>
                        <a:pt x="126" y="166"/>
                      </a:lnTo>
                      <a:lnTo>
                        <a:pt x="126" y="295"/>
                      </a:lnTo>
                      <a:lnTo>
                        <a:pt x="159" y="295"/>
                      </a:lnTo>
                      <a:lnTo>
                        <a:pt x="159" y="142"/>
                      </a:lnTo>
                      <a:lnTo>
                        <a:pt x="159" y="140"/>
                      </a:lnTo>
                      <a:lnTo>
                        <a:pt x="159" y="138"/>
                      </a:lnTo>
                      <a:lnTo>
                        <a:pt x="158" y="137"/>
                      </a:lnTo>
                      <a:lnTo>
                        <a:pt x="157" y="136"/>
                      </a:lnTo>
                      <a:lnTo>
                        <a:pt x="156" y="135"/>
                      </a:lnTo>
                      <a:lnTo>
                        <a:pt x="154" y="133"/>
                      </a:lnTo>
                      <a:lnTo>
                        <a:pt x="153" y="132"/>
                      </a:lnTo>
                      <a:lnTo>
                        <a:pt x="152" y="131"/>
                      </a:lnTo>
                      <a:lnTo>
                        <a:pt x="150" y="131"/>
                      </a:lnTo>
                      <a:lnTo>
                        <a:pt x="148" y="130"/>
                      </a:lnTo>
                      <a:lnTo>
                        <a:pt x="146" y="130"/>
                      </a:lnTo>
                      <a:lnTo>
                        <a:pt x="144" y="129"/>
                      </a:lnTo>
                      <a:lnTo>
                        <a:pt x="142" y="129"/>
                      </a:lnTo>
                      <a:lnTo>
                        <a:pt x="140" y="129"/>
                      </a:lnTo>
                      <a:lnTo>
                        <a:pt x="139" y="129"/>
                      </a:lnTo>
                      <a:lnTo>
                        <a:pt x="137" y="129"/>
                      </a:lnTo>
                      <a:lnTo>
                        <a:pt x="76" y="125"/>
                      </a:lnTo>
                      <a:lnTo>
                        <a:pt x="93" y="75"/>
                      </a:lnTo>
                      <a:lnTo>
                        <a:pt x="105" y="93"/>
                      </a:lnTo>
                      <a:lnTo>
                        <a:pt x="179" y="93"/>
                      </a:lnTo>
                      <a:lnTo>
                        <a:pt x="181" y="92"/>
                      </a:lnTo>
                      <a:lnTo>
                        <a:pt x="183" y="92"/>
                      </a:lnTo>
                      <a:lnTo>
                        <a:pt x="184" y="91"/>
                      </a:lnTo>
                      <a:lnTo>
                        <a:pt x="185" y="91"/>
                      </a:lnTo>
                      <a:lnTo>
                        <a:pt x="187" y="90"/>
                      </a:lnTo>
                      <a:lnTo>
                        <a:pt x="189" y="89"/>
                      </a:lnTo>
                      <a:lnTo>
                        <a:pt x="190" y="87"/>
                      </a:lnTo>
                      <a:lnTo>
                        <a:pt x="191" y="86"/>
                      </a:lnTo>
                      <a:lnTo>
                        <a:pt x="192" y="84"/>
                      </a:lnTo>
                      <a:lnTo>
                        <a:pt x="192" y="83"/>
                      </a:lnTo>
                      <a:lnTo>
                        <a:pt x="193" y="81"/>
                      </a:lnTo>
                      <a:lnTo>
                        <a:pt x="193" y="78"/>
                      </a:lnTo>
                      <a:lnTo>
                        <a:pt x="193" y="76"/>
                      </a:lnTo>
                      <a:lnTo>
                        <a:pt x="192" y="74"/>
                      </a:lnTo>
                      <a:lnTo>
                        <a:pt x="191" y="72"/>
                      </a:lnTo>
                      <a:lnTo>
                        <a:pt x="190" y="70"/>
                      </a:lnTo>
                      <a:lnTo>
                        <a:pt x="189" y="69"/>
                      </a:lnTo>
                      <a:lnTo>
                        <a:pt x="188" y="68"/>
                      </a:lnTo>
                      <a:lnTo>
                        <a:pt x="186" y="66"/>
                      </a:lnTo>
                      <a:lnTo>
                        <a:pt x="184" y="65"/>
                      </a:lnTo>
                      <a:lnTo>
                        <a:pt x="184" y="64"/>
                      </a:lnTo>
                      <a:lnTo>
                        <a:pt x="181" y="64"/>
                      </a:lnTo>
                      <a:lnTo>
                        <a:pt x="179" y="64"/>
                      </a:lnTo>
                      <a:lnTo>
                        <a:pt x="122" y="64"/>
                      </a:lnTo>
                      <a:lnTo>
                        <a:pt x="110" y="44"/>
                      </a:lnTo>
                      <a:lnTo>
                        <a:pt x="112" y="42"/>
                      </a:lnTo>
                      <a:lnTo>
                        <a:pt x="113" y="39"/>
                      </a:lnTo>
                      <a:lnTo>
                        <a:pt x="113" y="37"/>
                      </a:lnTo>
                      <a:lnTo>
                        <a:pt x="114" y="34"/>
                      </a:lnTo>
                      <a:lnTo>
                        <a:pt x="114" y="30"/>
                      </a:lnTo>
                      <a:lnTo>
                        <a:pt x="114" y="28"/>
                      </a:lnTo>
                      <a:lnTo>
                        <a:pt x="114" y="24"/>
                      </a:lnTo>
                      <a:lnTo>
                        <a:pt x="113" y="22"/>
                      </a:lnTo>
                      <a:lnTo>
                        <a:pt x="112" y="19"/>
                      </a:lnTo>
                      <a:lnTo>
                        <a:pt x="111" y="17"/>
                      </a:lnTo>
                      <a:lnTo>
                        <a:pt x="110" y="15"/>
                      </a:lnTo>
                      <a:lnTo>
                        <a:pt x="109" y="13"/>
                      </a:lnTo>
                      <a:lnTo>
                        <a:pt x="107" y="10"/>
                      </a:lnTo>
                      <a:lnTo>
                        <a:pt x="105" y="9"/>
                      </a:lnTo>
                      <a:lnTo>
                        <a:pt x="103" y="7"/>
                      </a:lnTo>
                      <a:lnTo>
                        <a:pt x="101" y="5"/>
                      </a:lnTo>
                      <a:lnTo>
                        <a:pt x="98" y="3"/>
                      </a:lnTo>
                      <a:lnTo>
                        <a:pt x="96" y="3"/>
                      </a:lnTo>
                      <a:lnTo>
                        <a:pt x="93" y="1"/>
                      </a:lnTo>
                      <a:lnTo>
                        <a:pt x="90" y="1"/>
                      </a:lnTo>
                      <a:lnTo>
                        <a:pt x="87" y="0"/>
                      </a:lnTo>
                      <a:lnTo>
                        <a:pt x="84" y="0"/>
                      </a:lnTo>
                      <a:lnTo>
                        <a:pt x="81" y="0"/>
                      </a:lnTo>
                      <a:lnTo>
                        <a:pt x="78" y="0"/>
                      </a:lnTo>
                      <a:lnTo>
                        <a:pt x="75" y="1"/>
                      </a:lnTo>
                      <a:lnTo>
                        <a:pt x="72" y="2"/>
                      </a:lnTo>
                      <a:lnTo>
                        <a:pt x="69" y="3"/>
                      </a:lnTo>
                      <a:lnTo>
                        <a:pt x="66" y="4"/>
                      </a:lnTo>
                      <a:lnTo>
                        <a:pt x="63" y="6"/>
                      </a:lnTo>
                      <a:lnTo>
                        <a:pt x="61" y="9"/>
                      </a:lnTo>
                      <a:lnTo>
                        <a:pt x="59" y="11"/>
                      </a:lnTo>
                      <a:lnTo>
                        <a:pt x="57" y="13"/>
                      </a:lnTo>
                      <a:lnTo>
                        <a:pt x="55" y="17"/>
                      </a:lnTo>
                      <a:lnTo>
                        <a:pt x="53" y="19"/>
                      </a:lnTo>
                      <a:lnTo>
                        <a:pt x="53" y="23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502" name="Group 262"/>
            <p:cNvGrpSpPr/>
            <p:nvPr/>
          </p:nvGrpSpPr>
          <p:grpSpPr bwMode="auto">
            <a:xfrm>
              <a:off x="3852" y="2964"/>
              <a:ext cx="967" cy="448"/>
              <a:chOff x="3852" y="2964"/>
              <a:chExt cx="967" cy="448"/>
            </a:xfrm>
          </p:grpSpPr>
          <p:grpSp>
            <p:nvGrpSpPr>
              <p:cNvPr id="10503" name="Group 263"/>
              <p:cNvGrpSpPr/>
              <p:nvPr/>
            </p:nvGrpSpPr>
            <p:grpSpPr bwMode="auto">
              <a:xfrm>
                <a:off x="3852" y="2964"/>
                <a:ext cx="305" cy="448"/>
                <a:chOff x="3852" y="2964"/>
                <a:chExt cx="305" cy="448"/>
              </a:xfrm>
            </p:grpSpPr>
            <p:grpSp>
              <p:nvGrpSpPr>
                <p:cNvPr id="10504" name="Group 264"/>
                <p:cNvGrpSpPr/>
                <p:nvPr/>
              </p:nvGrpSpPr>
              <p:grpSpPr bwMode="auto">
                <a:xfrm>
                  <a:off x="3852" y="2964"/>
                  <a:ext cx="305" cy="448"/>
                  <a:chOff x="3852" y="2964"/>
                  <a:chExt cx="305" cy="448"/>
                </a:xfrm>
              </p:grpSpPr>
              <p:sp>
                <p:nvSpPr>
                  <p:cNvPr id="10505" name="AutoShape 265"/>
                  <p:cNvSpPr>
                    <a:spLocks noChangeArrowheads="1"/>
                  </p:cNvSpPr>
                  <p:nvPr/>
                </p:nvSpPr>
                <p:spPr bwMode="auto">
                  <a:xfrm>
                    <a:off x="3852" y="3035"/>
                    <a:ext cx="305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06" name="AutoShape 266"/>
                  <p:cNvSpPr>
                    <a:spLocks noChangeArrowheads="1"/>
                  </p:cNvSpPr>
                  <p:nvPr/>
                </p:nvSpPr>
                <p:spPr bwMode="auto">
                  <a:xfrm>
                    <a:off x="3922" y="2964"/>
                    <a:ext cx="235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507" name="AutoShape 267"/>
                <p:cNvSpPr>
                  <a:spLocks noChangeArrowheads="1"/>
                </p:cNvSpPr>
                <p:nvPr/>
              </p:nvSpPr>
              <p:spPr bwMode="auto">
                <a:xfrm>
                  <a:off x="3914" y="3068"/>
                  <a:ext cx="158" cy="27"/>
                </a:xfrm>
                <a:prstGeom prst="parallelogram">
                  <a:avLst>
                    <a:gd name="adj" fmla="val 146269"/>
                  </a:avLst>
                </a:prstGeom>
                <a:solidFill>
                  <a:srgbClr val="F6BF69"/>
                </a:solidFill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508" name="Group 268"/>
              <p:cNvGrpSpPr/>
              <p:nvPr/>
            </p:nvGrpSpPr>
            <p:grpSpPr bwMode="auto">
              <a:xfrm>
                <a:off x="4153" y="2964"/>
                <a:ext cx="378" cy="448"/>
                <a:chOff x="4153" y="2964"/>
                <a:chExt cx="378" cy="448"/>
              </a:xfrm>
            </p:grpSpPr>
            <p:grpSp>
              <p:nvGrpSpPr>
                <p:cNvPr id="10509" name="Group 269"/>
                <p:cNvGrpSpPr/>
                <p:nvPr/>
              </p:nvGrpSpPr>
              <p:grpSpPr bwMode="auto">
                <a:xfrm>
                  <a:off x="4153" y="2964"/>
                  <a:ext cx="378" cy="448"/>
                  <a:chOff x="4153" y="2964"/>
                  <a:chExt cx="378" cy="448"/>
                </a:xfrm>
              </p:grpSpPr>
              <p:sp>
                <p:nvSpPr>
                  <p:cNvPr id="10510" name="AutoShape 270"/>
                  <p:cNvSpPr>
                    <a:spLocks noChangeArrowheads="1"/>
                  </p:cNvSpPr>
                  <p:nvPr/>
                </p:nvSpPr>
                <p:spPr bwMode="auto">
                  <a:xfrm>
                    <a:off x="4153" y="3035"/>
                    <a:ext cx="378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11" name="AutoShape 271"/>
                  <p:cNvSpPr>
                    <a:spLocks noChangeArrowheads="1"/>
                  </p:cNvSpPr>
                  <p:nvPr/>
                </p:nvSpPr>
                <p:spPr bwMode="auto">
                  <a:xfrm>
                    <a:off x="4239" y="2964"/>
                    <a:ext cx="292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512" name="Oval 272"/>
                <p:cNvSpPr>
                  <a:spLocks noChangeArrowheads="1"/>
                </p:cNvSpPr>
                <p:nvPr/>
              </p:nvSpPr>
              <p:spPr bwMode="auto">
                <a:xfrm>
                  <a:off x="4268" y="3000"/>
                  <a:ext cx="49" cy="2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13" name="AutoShape 273"/>
                <p:cNvSpPr>
                  <a:spLocks noChangeArrowheads="1"/>
                </p:cNvSpPr>
                <p:nvPr/>
              </p:nvSpPr>
              <p:spPr bwMode="auto">
                <a:xfrm>
                  <a:off x="4200" y="3210"/>
                  <a:ext cx="198" cy="84"/>
                </a:xfrm>
                <a:prstGeom prst="octagon">
                  <a:avLst>
                    <a:gd name="adj" fmla="val 29282"/>
                  </a:avLst>
                </a:prstGeom>
                <a:solidFill>
                  <a:srgbClr val="A2C1FE"/>
                </a:solidFill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514" name="Freeform 274"/>
              <p:cNvSpPr/>
              <p:nvPr/>
            </p:nvSpPr>
            <p:spPr bwMode="auto">
              <a:xfrm>
                <a:off x="4717" y="3193"/>
                <a:ext cx="86" cy="192"/>
              </a:xfrm>
              <a:custGeom>
                <a:avLst/>
                <a:gdLst>
                  <a:gd name="T0" fmla="*/ 62 w 86"/>
                  <a:gd name="T1" fmla="*/ 0 h 192"/>
                  <a:gd name="T2" fmla="*/ 85 w 86"/>
                  <a:gd name="T3" fmla="*/ 0 h 192"/>
                  <a:gd name="T4" fmla="*/ 23 w 86"/>
                  <a:gd name="T5" fmla="*/ 191 h 192"/>
                  <a:gd name="T6" fmla="*/ 0 w 86"/>
                  <a:gd name="T7" fmla="*/ 191 h 192"/>
                  <a:gd name="T8" fmla="*/ 62 w 86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92">
                    <a:moveTo>
                      <a:pt x="62" y="0"/>
                    </a:moveTo>
                    <a:lnTo>
                      <a:pt x="85" y="0"/>
                    </a:lnTo>
                    <a:lnTo>
                      <a:pt x="23" y="191"/>
                    </a:lnTo>
                    <a:lnTo>
                      <a:pt x="0" y="191"/>
                    </a:lnTo>
                    <a:lnTo>
                      <a:pt x="62" y="0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5" name="Rectangle 275"/>
              <p:cNvSpPr>
                <a:spLocks noChangeArrowheads="1"/>
              </p:cNvSpPr>
              <p:nvPr/>
            </p:nvSpPr>
            <p:spPr bwMode="auto">
              <a:xfrm>
                <a:off x="4713" y="3193"/>
                <a:ext cx="106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16" name="Rectangle 276"/>
              <p:cNvSpPr>
                <a:spLocks noChangeArrowheads="1"/>
              </p:cNvSpPr>
              <p:nvPr/>
            </p:nvSpPr>
            <p:spPr bwMode="auto">
              <a:xfrm>
                <a:off x="4720" y="3274"/>
                <a:ext cx="82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17" name="Rectangle 277"/>
              <p:cNvSpPr>
                <a:spLocks noChangeArrowheads="1"/>
              </p:cNvSpPr>
              <p:nvPr/>
            </p:nvSpPr>
            <p:spPr bwMode="auto">
              <a:xfrm>
                <a:off x="4537" y="3274"/>
                <a:ext cx="103" cy="11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518" name="Group 278"/>
              <p:cNvGrpSpPr/>
              <p:nvPr/>
            </p:nvGrpSpPr>
            <p:grpSpPr bwMode="auto">
              <a:xfrm>
                <a:off x="4535" y="3021"/>
                <a:ext cx="194" cy="364"/>
                <a:chOff x="4535" y="3021"/>
                <a:chExt cx="194" cy="364"/>
              </a:xfrm>
            </p:grpSpPr>
            <p:sp>
              <p:nvSpPr>
                <p:cNvPr id="10519" name="Oval 279"/>
                <p:cNvSpPr>
                  <a:spLocks noChangeArrowheads="1"/>
                </p:cNvSpPr>
                <p:nvPr/>
              </p:nvSpPr>
              <p:spPr bwMode="auto">
                <a:xfrm>
                  <a:off x="4611" y="3021"/>
                  <a:ext cx="48" cy="48"/>
                </a:xfrm>
                <a:prstGeom prst="ellipse">
                  <a:avLst/>
                </a:prstGeom>
                <a:solidFill>
                  <a:srgbClr val="FC0128"/>
                </a:solidFill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20" name="Freeform 280"/>
                <p:cNvSpPr/>
                <p:nvPr/>
              </p:nvSpPr>
              <p:spPr bwMode="auto">
                <a:xfrm>
                  <a:off x="4535" y="3089"/>
                  <a:ext cx="194" cy="296"/>
                </a:xfrm>
                <a:custGeom>
                  <a:avLst/>
                  <a:gdLst>
                    <a:gd name="T0" fmla="*/ 2 w 194"/>
                    <a:gd name="T1" fmla="*/ 137 h 296"/>
                    <a:gd name="T2" fmla="*/ 1 w 194"/>
                    <a:gd name="T3" fmla="*/ 140 h 296"/>
                    <a:gd name="T4" fmla="*/ 0 w 194"/>
                    <a:gd name="T5" fmla="*/ 145 h 296"/>
                    <a:gd name="T6" fmla="*/ 0 w 194"/>
                    <a:gd name="T7" fmla="*/ 150 h 296"/>
                    <a:gd name="T8" fmla="*/ 2 w 194"/>
                    <a:gd name="T9" fmla="*/ 155 h 296"/>
                    <a:gd name="T10" fmla="*/ 4 w 194"/>
                    <a:gd name="T11" fmla="*/ 159 h 296"/>
                    <a:gd name="T12" fmla="*/ 8 w 194"/>
                    <a:gd name="T13" fmla="*/ 163 h 296"/>
                    <a:gd name="T14" fmla="*/ 12 w 194"/>
                    <a:gd name="T15" fmla="*/ 165 h 296"/>
                    <a:gd name="T16" fmla="*/ 16 w 194"/>
                    <a:gd name="T17" fmla="*/ 166 h 296"/>
                    <a:gd name="T18" fmla="*/ 21 w 194"/>
                    <a:gd name="T19" fmla="*/ 166 h 296"/>
                    <a:gd name="T20" fmla="*/ 126 w 194"/>
                    <a:gd name="T21" fmla="*/ 295 h 296"/>
                    <a:gd name="T22" fmla="*/ 159 w 194"/>
                    <a:gd name="T23" fmla="*/ 142 h 296"/>
                    <a:gd name="T24" fmla="*/ 159 w 194"/>
                    <a:gd name="T25" fmla="*/ 138 h 296"/>
                    <a:gd name="T26" fmla="*/ 157 w 194"/>
                    <a:gd name="T27" fmla="*/ 136 h 296"/>
                    <a:gd name="T28" fmla="*/ 154 w 194"/>
                    <a:gd name="T29" fmla="*/ 133 h 296"/>
                    <a:gd name="T30" fmla="*/ 152 w 194"/>
                    <a:gd name="T31" fmla="*/ 131 h 296"/>
                    <a:gd name="T32" fmla="*/ 148 w 194"/>
                    <a:gd name="T33" fmla="*/ 130 h 296"/>
                    <a:gd name="T34" fmla="*/ 144 w 194"/>
                    <a:gd name="T35" fmla="*/ 129 h 296"/>
                    <a:gd name="T36" fmla="*/ 140 w 194"/>
                    <a:gd name="T37" fmla="*/ 129 h 296"/>
                    <a:gd name="T38" fmla="*/ 137 w 194"/>
                    <a:gd name="T39" fmla="*/ 129 h 296"/>
                    <a:gd name="T40" fmla="*/ 93 w 194"/>
                    <a:gd name="T41" fmla="*/ 75 h 296"/>
                    <a:gd name="T42" fmla="*/ 179 w 194"/>
                    <a:gd name="T43" fmla="*/ 93 h 296"/>
                    <a:gd name="T44" fmla="*/ 183 w 194"/>
                    <a:gd name="T45" fmla="*/ 92 h 296"/>
                    <a:gd name="T46" fmla="*/ 185 w 194"/>
                    <a:gd name="T47" fmla="*/ 91 h 296"/>
                    <a:gd name="T48" fmla="*/ 189 w 194"/>
                    <a:gd name="T49" fmla="*/ 89 h 296"/>
                    <a:gd name="T50" fmla="*/ 191 w 194"/>
                    <a:gd name="T51" fmla="*/ 86 h 296"/>
                    <a:gd name="T52" fmla="*/ 192 w 194"/>
                    <a:gd name="T53" fmla="*/ 83 h 296"/>
                    <a:gd name="T54" fmla="*/ 193 w 194"/>
                    <a:gd name="T55" fmla="*/ 78 h 296"/>
                    <a:gd name="T56" fmla="*/ 192 w 194"/>
                    <a:gd name="T57" fmla="*/ 74 h 296"/>
                    <a:gd name="T58" fmla="*/ 190 w 194"/>
                    <a:gd name="T59" fmla="*/ 70 h 296"/>
                    <a:gd name="T60" fmla="*/ 188 w 194"/>
                    <a:gd name="T61" fmla="*/ 68 h 296"/>
                    <a:gd name="T62" fmla="*/ 184 w 194"/>
                    <a:gd name="T63" fmla="*/ 65 h 296"/>
                    <a:gd name="T64" fmla="*/ 181 w 194"/>
                    <a:gd name="T65" fmla="*/ 64 h 296"/>
                    <a:gd name="T66" fmla="*/ 122 w 194"/>
                    <a:gd name="T67" fmla="*/ 64 h 296"/>
                    <a:gd name="T68" fmla="*/ 112 w 194"/>
                    <a:gd name="T69" fmla="*/ 42 h 296"/>
                    <a:gd name="T70" fmla="*/ 113 w 194"/>
                    <a:gd name="T71" fmla="*/ 37 h 296"/>
                    <a:gd name="T72" fmla="*/ 114 w 194"/>
                    <a:gd name="T73" fmla="*/ 30 h 296"/>
                    <a:gd name="T74" fmla="*/ 114 w 194"/>
                    <a:gd name="T75" fmla="*/ 24 h 296"/>
                    <a:gd name="T76" fmla="*/ 112 w 194"/>
                    <a:gd name="T77" fmla="*/ 19 h 296"/>
                    <a:gd name="T78" fmla="*/ 110 w 194"/>
                    <a:gd name="T79" fmla="*/ 15 h 296"/>
                    <a:gd name="T80" fmla="*/ 107 w 194"/>
                    <a:gd name="T81" fmla="*/ 10 h 296"/>
                    <a:gd name="T82" fmla="*/ 103 w 194"/>
                    <a:gd name="T83" fmla="*/ 7 h 296"/>
                    <a:gd name="T84" fmla="*/ 98 w 194"/>
                    <a:gd name="T85" fmla="*/ 3 h 296"/>
                    <a:gd name="T86" fmla="*/ 93 w 194"/>
                    <a:gd name="T87" fmla="*/ 1 h 296"/>
                    <a:gd name="T88" fmla="*/ 87 w 194"/>
                    <a:gd name="T89" fmla="*/ 0 h 296"/>
                    <a:gd name="T90" fmla="*/ 81 w 194"/>
                    <a:gd name="T91" fmla="*/ 0 h 296"/>
                    <a:gd name="T92" fmla="*/ 75 w 194"/>
                    <a:gd name="T93" fmla="*/ 1 h 296"/>
                    <a:gd name="T94" fmla="*/ 69 w 194"/>
                    <a:gd name="T95" fmla="*/ 3 h 296"/>
                    <a:gd name="T96" fmla="*/ 63 w 194"/>
                    <a:gd name="T97" fmla="*/ 6 h 296"/>
                    <a:gd name="T98" fmla="*/ 59 w 194"/>
                    <a:gd name="T99" fmla="*/ 11 h 296"/>
                    <a:gd name="T100" fmla="*/ 55 w 194"/>
                    <a:gd name="T101" fmla="*/ 17 h 296"/>
                    <a:gd name="T102" fmla="*/ 53 w 194"/>
                    <a:gd name="T103" fmla="*/ 23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94" h="296">
                      <a:moveTo>
                        <a:pt x="53" y="23"/>
                      </a:moveTo>
                      <a:lnTo>
                        <a:pt x="2" y="137"/>
                      </a:lnTo>
                      <a:lnTo>
                        <a:pt x="1" y="138"/>
                      </a:lnTo>
                      <a:lnTo>
                        <a:pt x="1" y="140"/>
                      </a:lnTo>
                      <a:lnTo>
                        <a:pt x="0" y="142"/>
                      </a:lnTo>
                      <a:lnTo>
                        <a:pt x="0" y="145"/>
                      </a:lnTo>
                      <a:lnTo>
                        <a:pt x="0" y="147"/>
                      </a:lnTo>
                      <a:lnTo>
                        <a:pt x="0" y="150"/>
                      </a:lnTo>
                      <a:lnTo>
                        <a:pt x="1" y="152"/>
                      </a:lnTo>
                      <a:lnTo>
                        <a:pt x="2" y="155"/>
                      </a:lnTo>
                      <a:lnTo>
                        <a:pt x="3" y="157"/>
                      </a:lnTo>
                      <a:lnTo>
                        <a:pt x="4" y="159"/>
                      </a:lnTo>
                      <a:lnTo>
                        <a:pt x="6" y="161"/>
                      </a:lnTo>
                      <a:lnTo>
                        <a:pt x="8" y="163"/>
                      </a:lnTo>
                      <a:lnTo>
                        <a:pt x="10" y="164"/>
                      </a:lnTo>
                      <a:lnTo>
                        <a:pt x="12" y="165"/>
                      </a:lnTo>
                      <a:lnTo>
                        <a:pt x="14" y="165"/>
                      </a:lnTo>
                      <a:lnTo>
                        <a:pt x="16" y="166"/>
                      </a:lnTo>
                      <a:lnTo>
                        <a:pt x="18" y="166"/>
                      </a:lnTo>
                      <a:lnTo>
                        <a:pt x="21" y="166"/>
                      </a:lnTo>
                      <a:lnTo>
                        <a:pt x="126" y="166"/>
                      </a:lnTo>
                      <a:lnTo>
                        <a:pt x="126" y="295"/>
                      </a:lnTo>
                      <a:lnTo>
                        <a:pt x="159" y="295"/>
                      </a:lnTo>
                      <a:lnTo>
                        <a:pt x="159" y="142"/>
                      </a:lnTo>
                      <a:lnTo>
                        <a:pt x="159" y="140"/>
                      </a:lnTo>
                      <a:lnTo>
                        <a:pt x="159" y="138"/>
                      </a:lnTo>
                      <a:lnTo>
                        <a:pt x="158" y="137"/>
                      </a:lnTo>
                      <a:lnTo>
                        <a:pt x="157" y="136"/>
                      </a:lnTo>
                      <a:lnTo>
                        <a:pt x="156" y="135"/>
                      </a:lnTo>
                      <a:lnTo>
                        <a:pt x="154" y="133"/>
                      </a:lnTo>
                      <a:lnTo>
                        <a:pt x="153" y="132"/>
                      </a:lnTo>
                      <a:lnTo>
                        <a:pt x="152" y="131"/>
                      </a:lnTo>
                      <a:lnTo>
                        <a:pt x="150" y="131"/>
                      </a:lnTo>
                      <a:lnTo>
                        <a:pt x="148" y="130"/>
                      </a:lnTo>
                      <a:lnTo>
                        <a:pt x="146" y="130"/>
                      </a:lnTo>
                      <a:lnTo>
                        <a:pt x="144" y="129"/>
                      </a:lnTo>
                      <a:lnTo>
                        <a:pt x="142" y="129"/>
                      </a:lnTo>
                      <a:lnTo>
                        <a:pt x="140" y="129"/>
                      </a:lnTo>
                      <a:lnTo>
                        <a:pt x="139" y="129"/>
                      </a:lnTo>
                      <a:lnTo>
                        <a:pt x="137" y="129"/>
                      </a:lnTo>
                      <a:lnTo>
                        <a:pt x="76" y="125"/>
                      </a:lnTo>
                      <a:lnTo>
                        <a:pt x="93" y="75"/>
                      </a:lnTo>
                      <a:lnTo>
                        <a:pt x="105" y="93"/>
                      </a:lnTo>
                      <a:lnTo>
                        <a:pt x="179" y="93"/>
                      </a:lnTo>
                      <a:lnTo>
                        <a:pt x="181" y="92"/>
                      </a:lnTo>
                      <a:lnTo>
                        <a:pt x="183" y="92"/>
                      </a:lnTo>
                      <a:lnTo>
                        <a:pt x="184" y="91"/>
                      </a:lnTo>
                      <a:lnTo>
                        <a:pt x="185" y="91"/>
                      </a:lnTo>
                      <a:lnTo>
                        <a:pt x="187" y="90"/>
                      </a:lnTo>
                      <a:lnTo>
                        <a:pt x="189" y="89"/>
                      </a:lnTo>
                      <a:lnTo>
                        <a:pt x="190" y="87"/>
                      </a:lnTo>
                      <a:lnTo>
                        <a:pt x="191" y="86"/>
                      </a:lnTo>
                      <a:lnTo>
                        <a:pt x="192" y="84"/>
                      </a:lnTo>
                      <a:lnTo>
                        <a:pt x="192" y="83"/>
                      </a:lnTo>
                      <a:lnTo>
                        <a:pt x="193" y="81"/>
                      </a:lnTo>
                      <a:lnTo>
                        <a:pt x="193" y="78"/>
                      </a:lnTo>
                      <a:lnTo>
                        <a:pt x="193" y="76"/>
                      </a:lnTo>
                      <a:lnTo>
                        <a:pt x="192" y="74"/>
                      </a:lnTo>
                      <a:lnTo>
                        <a:pt x="191" y="72"/>
                      </a:lnTo>
                      <a:lnTo>
                        <a:pt x="190" y="70"/>
                      </a:lnTo>
                      <a:lnTo>
                        <a:pt x="189" y="69"/>
                      </a:lnTo>
                      <a:lnTo>
                        <a:pt x="188" y="68"/>
                      </a:lnTo>
                      <a:lnTo>
                        <a:pt x="186" y="66"/>
                      </a:lnTo>
                      <a:lnTo>
                        <a:pt x="184" y="65"/>
                      </a:lnTo>
                      <a:lnTo>
                        <a:pt x="184" y="64"/>
                      </a:lnTo>
                      <a:lnTo>
                        <a:pt x="181" y="64"/>
                      </a:lnTo>
                      <a:lnTo>
                        <a:pt x="179" y="64"/>
                      </a:lnTo>
                      <a:lnTo>
                        <a:pt x="122" y="64"/>
                      </a:lnTo>
                      <a:lnTo>
                        <a:pt x="110" y="44"/>
                      </a:lnTo>
                      <a:lnTo>
                        <a:pt x="112" y="42"/>
                      </a:lnTo>
                      <a:lnTo>
                        <a:pt x="113" y="39"/>
                      </a:lnTo>
                      <a:lnTo>
                        <a:pt x="113" y="37"/>
                      </a:lnTo>
                      <a:lnTo>
                        <a:pt x="114" y="34"/>
                      </a:lnTo>
                      <a:lnTo>
                        <a:pt x="114" y="30"/>
                      </a:lnTo>
                      <a:lnTo>
                        <a:pt x="114" y="28"/>
                      </a:lnTo>
                      <a:lnTo>
                        <a:pt x="114" y="24"/>
                      </a:lnTo>
                      <a:lnTo>
                        <a:pt x="113" y="22"/>
                      </a:lnTo>
                      <a:lnTo>
                        <a:pt x="112" y="19"/>
                      </a:lnTo>
                      <a:lnTo>
                        <a:pt x="111" y="17"/>
                      </a:lnTo>
                      <a:lnTo>
                        <a:pt x="110" y="15"/>
                      </a:lnTo>
                      <a:lnTo>
                        <a:pt x="109" y="13"/>
                      </a:lnTo>
                      <a:lnTo>
                        <a:pt x="107" y="10"/>
                      </a:lnTo>
                      <a:lnTo>
                        <a:pt x="105" y="9"/>
                      </a:lnTo>
                      <a:lnTo>
                        <a:pt x="103" y="7"/>
                      </a:lnTo>
                      <a:lnTo>
                        <a:pt x="101" y="5"/>
                      </a:lnTo>
                      <a:lnTo>
                        <a:pt x="98" y="3"/>
                      </a:lnTo>
                      <a:lnTo>
                        <a:pt x="96" y="3"/>
                      </a:lnTo>
                      <a:lnTo>
                        <a:pt x="93" y="1"/>
                      </a:lnTo>
                      <a:lnTo>
                        <a:pt x="90" y="1"/>
                      </a:lnTo>
                      <a:lnTo>
                        <a:pt x="87" y="0"/>
                      </a:lnTo>
                      <a:lnTo>
                        <a:pt x="84" y="0"/>
                      </a:lnTo>
                      <a:lnTo>
                        <a:pt x="81" y="0"/>
                      </a:lnTo>
                      <a:lnTo>
                        <a:pt x="78" y="0"/>
                      </a:lnTo>
                      <a:lnTo>
                        <a:pt x="75" y="1"/>
                      </a:lnTo>
                      <a:lnTo>
                        <a:pt x="72" y="2"/>
                      </a:lnTo>
                      <a:lnTo>
                        <a:pt x="69" y="3"/>
                      </a:lnTo>
                      <a:lnTo>
                        <a:pt x="66" y="4"/>
                      </a:lnTo>
                      <a:lnTo>
                        <a:pt x="63" y="6"/>
                      </a:lnTo>
                      <a:lnTo>
                        <a:pt x="61" y="9"/>
                      </a:lnTo>
                      <a:lnTo>
                        <a:pt x="59" y="11"/>
                      </a:lnTo>
                      <a:lnTo>
                        <a:pt x="57" y="13"/>
                      </a:lnTo>
                      <a:lnTo>
                        <a:pt x="55" y="17"/>
                      </a:lnTo>
                      <a:lnTo>
                        <a:pt x="53" y="19"/>
                      </a:lnTo>
                      <a:lnTo>
                        <a:pt x="53" y="23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521" name="Line 281"/>
            <p:cNvSpPr>
              <a:spLocks noChangeShapeType="1"/>
            </p:cNvSpPr>
            <p:nvPr/>
          </p:nvSpPr>
          <p:spPr bwMode="auto">
            <a:xfrm>
              <a:off x="400" y="1452"/>
              <a:ext cx="0" cy="1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2" name="Rectangle 282"/>
            <p:cNvSpPr>
              <a:spLocks noChangeArrowheads="1"/>
            </p:cNvSpPr>
            <p:nvPr/>
          </p:nvSpPr>
          <p:spPr bwMode="auto">
            <a:xfrm>
              <a:off x="2599" y="961"/>
              <a:ext cx="480" cy="2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350" i="1">
                  <a:latin typeface="Comic Sans MS" panose="030F0902030302020204" pitchFamily="66" charset="0"/>
                </a:rPr>
                <a:t>Time</a:t>
              </a:r>
              <a:endParaRPr lang="en-US" altLang="zh-CN" sz="1350" i="1">
                <a:latin typeface="Comic Sans MS" panose="030F0902030302020204" pitchFamily="66" charset="0"/>
              </a:endParaRPr>
            </a:p>
          </p:txBody>
        </p:sp>
      </p:grpSp>
      <p:sp>
        <p:nvSpPr>
          <p:cNvPr id="10523" name="Rectangle 283"/>
          <p:cNvSpPr>
            <a:spLocks noChangeArrowheads="1"/>
          </p:cNvSpPr>
          <p:nvPr/>
        </p:nvSpPr>
        <p:spPr bwMode="auto">
          <a:xfrm>
            <a:off x="1314451" y="1757958"/>
            <a:ext cx="345281" cy="1913987"/>
          </a:xfrm>
          <a:prstGeom prst="rect">
            <a:avLst/>
          </a:prstGeom>
          <a:noFill/>
          <a:ln>
            <a:noFill/>
          </a:ln>
          <a:effectLst/>
        </p:spPr>
        <p:txBody>
          <a:bodyPr lIns="67866" tIns="33338" rIns="67866" bIns="33338">
            <a:spAutoFit/>
          </a:bodyPr>
          <a:lstStyle/>
          <a:p>
            <a:pPr algn="ctr"/>
            <a:r>
              <a:rPr lang="en-US" altLang="zh-CN" sz="1200" i="1">
                <a:latin typeface="Comic Sans MS" panose="030F0902030302020204" pitchFamily="66" charset="0"/>
              </a:rPr>
              <a:t>T</a:t>
            </a:r>
            <a:endParaRPr lang="en-US" altLang="zh-CN" sz="1200" i="1">
              <a:latin typeface="Comic Sans MS" panose="030F0902030302020204" pitchFamily="66" charset="0"/>
            </a:endParaRPr>
          </a:p>
          <a:p>
            <a:pPr algn="ctr"/>
            <a:r>
              <a:rPr lang="en-US" altLang="zh-CN" sz="1200" i="1">
                <a:latin typeface="Comic Sans MS" panose="030F0902030302020204" pitchFamily="66" charset="0"/>
              </a:rPr>
              <a:t>a</a:t>
            </a:r>
            <a:endParaRPr lang="en-US" altLang="zh-CN" sz="1200" i="1">
              <a:latin typeface="Comic Sans MS" panose="030F0902030302020204" pitchFamily="66" charset="0"/>
            </a:endParaRPr>
          </a:p>
          <a:p>
            <a:pPr algn="ctr"/>
            <a:r>
              <a:rPr lang="en-US" altLang="zh-CN" sz="1200" i="1">
                <a:latin typeface="Comic Sans MS" panose="030F0902030302020204" pitchFamily="66" charset="0"/>
              </a:rPr>
              <a:t>s</a:t>
            </a:r>
            <a:endParaRPr lang="en-US" altLang="zh-CN" sz="1200" i="1">
              <a:latin typeface="Comic Sans MS" panose="030F0902030302020204" pitchFamily="66" charset="0"/>
            </a:endParaRPr>
          </a:p>
          <a:p>
            <a:pPr algn="ctr"/>
            <a:r>
              <a:rPr lang="en-US" altLang="zh-CN" sz="1200" i="1">
                <a:latin typeface="Comic Sans MS" panose="030F0902030302020204" pitchFamily="66" charset="0"/>
              </a:rPr>
              <a:t>k</a:t>
            </a:r>
            <a:endParaRPr lang="en-US" altLang="zh-CN" sz="1200" i="1">
              <a:latin typeface="Comic Sans MS" panose="030F0902030302020204" pitchFamily="66" charset="0"/>
            </a:endParaRPr>
          </a:p>
          <a:p>
            <a:pPr algn="ctr"/>
            <a:endParaRPr lang="en-US" altLang="zh-CN" sz="1200" i="1">
              <a:latin typeface="Comic Sans MS" panose="030F0902030302020204" pitchFamily="66" charset="0"/>
            </a:endParaRPr>
          </a:p>
          <a:p>
            <a:pPr algn="ctr"/>
            <a:r>
              <a:rPr lang="en-US" altLang="zh-CN" sz="1200" i="1">
                <a:latin typeface="Comic Sans MS" panose="030F0902030302020204" pitchFamily="66" charset="0"/>
              </a:rPr>
              <a:t>O</a:t>
            </a:r>
            <a:endParaRPr lang="en-US" altLang="zh-CN" sz="1200" i="1">
              <a:latin typeface="Comic Sans MS" panose="030F0902030302020204" pitchFamily="66" charset="0"/>
            </a:endParaRPr>
          </a:p>
          <a:p>
            <a:pPr algn="ctr"/>
            <a:r>
              <a:rPr lang="en-US" altLang="zh-CN" sz="1200" i="1">
                <a:latin typeface="Comic Sans MS" panose="030F0902030302020204" pitchFamily="66" charset="0"/>
              </a:rPr>
              <a:t>r</a:t>
            </a:r>
            <a:endParaRPr lang="en-US" altLang="zh-CN" sz="1200" i="1">
              <a:latin typeface="Comic Sans MS" panose="030F0902030302020204" pitchFamily="66" charset="0"/>
            </a:endParaRPr>
          </a:p>
          <a:p>
            <a:pPr algn="ctr"/>
            <a:r>
              <a:rPr lang="en-US" altLang="zh-CN" sz="1200" i="1">
                <a:latin typeface="Comic Sans MS" panose="030F0902030302020204" pitchFamily="66" charset="0"/>
              </a:rPr>
              <a:t>d</a:t>
            </a:r>
            <a:endParaRPr lang="en-US" altLang="zh-CN" sz="1200" i="1">
              <a:latin typeface="Comic Sans MS" panose="030F0902030302020204" pitchFamily="66" charset="0"/>
            </a:endParaRPr>
          </a:p>
          <a:p>
            <a:pPr algn="ctr"/>
            <a:r>
              <a:rPr lang="en-US" altLang="zh-CN" sz="1200" i="1">
                <a:latin typeface="Comic Sans MS" panose="030F0902030302020204" pitchFamily="66" charset="0"/>
              </a:rPr>
              <a:t>e</a:t>
            </a:r>
            <a:endParaRPr lang="en-US" altLang="zh-CN" sz="1200" i="1">
              <a:latin typeface="Comic Sans MS" panose="030F0902030302020204" pitchFamily="66" charset="0"/>
            </a:endParaRPr>
          </a:p>
          <a:p>
            <a:pPr algn="ctr"/>
            <a:r>
              <a:rPr lang="en-US" altLang="zh-CN" sz="1200" i="1">
                <a:latin typeface="Comic Sans MS" panose="030F0902030302020204" pitchFamily="66" charset="0"/>
              </a:rPr>
              <a:t>r</a:t>
            </a:r>
            <a:endParaRPr lang="en-US" altLang="zh-CN" sz="1200" i="1"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   Pipelined Laundry----Start work ASAP</a:t>
            </a:r>
            <a:endParaRPr lang="en-US" altLang="zh-CN" dirty="0"/>
          </a:p>
        </p:txBody>
      </p:sp>
      <p:sp>
        <p:nvSpPr>
          <p:cNvPr id="13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0A64A9C1-2CB7-4E03-9CE4-0CA1DB9CE2C3}" type="slidenum">
              <a:rPr lang="en-US" altLang="zh-CN"/>
            </a:fld>
            <a:endParaRPr lang="en-US" altLang="zh-CN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381844" y="3997523"/>
            <a:ext cx="6286500" cy="514350"/>
          </a:xfrm>
          <a:prstGeom prst="rect">
            <a:avLst/>
          </a:prstGeom>
          <a:noFill/>
          <a:ln>
            <a:noFill/>
          </a:ln>
          <a:effectLst/>
        </p:spPr>
        <p:txBody>
          <a:bodyPr lIns="67866" tIns="33338" rIns="67866" bIns="33338"/>
          <a:lstStyle/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US" altLang="zh-CN" sz="2100">
                <a:solidFill>
                  <a:srgbClr val="FF3300"/>
                </a:solidFill>
                <a:latin typeface="Comic Sans MS" panose="030F0902030302020204" pitchFamily="66" charset="0"/>
              </a:rPr>
              <a:t>Pipelined laundry takes 3.5 hours for 4 loads</a:t>
            </a:r>
            <a:r>
              <a:rPr lang="en-US" altLang="zh-CN" sz="2100">
                <a:solidFill>
                  <a:srgbClr val="FF3300"/>
                </a:solidFill>
                <a:latin typeface="Arial" panose="020B0604020202090204" pitchFamily="34" charset="0"/>
              </a:rPr>
              <a:t> </a:t>
            </a:r>
            <a:endParaRPr lang="en-US" altLang="zh-CN" sz="210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grpSp>
        <p:nvGrpSpPr>
          <p:cNvPr id="11269" name="Group 5"/>
          <p:cNvGrpSpPr/>
          <p:nvPr/>
        </p:nvGrpSpPr>
        <p:grpSpPr bwMode="auto">
          <a:xfrm>
            <a:off x="1543845" y="843558"/>
            <a:ext cx="5970682" cy="3141203"/>
            <a:chOff x="266" y="903"/>
            <a:chExt cx="5355" cy="2935"/>
          </a:xfrm>
        </p:grpSpPr>
        <p:grpSp>
          <p:nvGrpSpPr>
            <p:cNvPr id="11270" name="Group 6"/>
            <p:cNvGrpSpPr/>
            <p:nvPr/>
          </p:nvGrpSpPr>
          <p:grpSpPr bwMode="auto">
            <a:xfrm>
              <a:off x="712" y="1908"/>
              <a:ext cx="329" cy="371"/>
              <a:chOff x="712" y="1908"/>
              <a:chExt cx="329" cy="371"/>
            </a:xfrm>
          </p:grpSpPr>
          <p:sp>
            <p:nvSpPr>
              <p:cNvPr id="11271" name="Freeform 7"/>
              <p:cNvSpPr/>
              <p:nvPr/>
            </p:nvSpPr>
            <p:spPr bwMode="auto">
              <a:xfrm>
                <a:off x="712" y="1908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" name="Rectangle 8"/>
              <p:cNvSpPr>
                <a:spLocks noChangeArrowheads="1"/>
              </p:cNvSpPr>
              <p:nvPr/>
            </p:nvSpPr>
            <p:spPr bwMode="auto">
              <a:xfrm>
                <a:off x="754" y="1957"/>
                <a:ext cx="274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A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11273" name="Group 9"/>
            <p:cNvGrpSpPr/>
            <p:nvPr/>
          </p:nvGrpSpPr>
          <p:grpSpPr bwMode="auto">
            <a:xfrm>
              <a:off x="704" y="2444"/>
              <a:ext cx="329" cy="373"/>
              <a:chOff x="704" y="2444"/>
              <a:chExt cx="329" cy="373"/>
            </a:xfrm>
          </p:grpSpPr>
          <p:sp>
            <p:nvSpPr>
              <p:cNvPr id="11274" name="Freeform 10"/>
              <p:cNvSpPr/>
              <p:nvPr/>
            </p:nvSpPr>
            <p:spPr bwMode="auto">
              <a:xfrm>
                <a:off x="704" y="2444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" name="Rectangle 11"/>
              <p:cNvSpPr>
                <a:spLocks noChangeArrowheads="1"/>
              </p:cNvSpPr>
              <p:nvPr/>
            </p:nvSpPr>
            <p:spPr bwMode="auto">
              <a:xfrm>
                <a:off x="756" y="2495"/>
                <a:ext cx="254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B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11276" name="Group 12"/>
            <p:cNvGrpSpPr/>
            <p:nvPr/>
          </p:nvGrpSpPr>
          <p:grpSpPr bwMode="auto">
            <a:xfrm>
              <a:off x="680" y="2916"/>
              <a:ext cx="329" cy="372"/>
              <a:chOff x="680" y="2916"/>
              <a:chExt cx="329" cy="372"/>
            </a:xfrm>
          </p:grpSpPr>
          <p:sp>
            <p:nvSpPr>
              <p:cNvPr id="11277" name="Freeform 13"/>
              <p:cNvSpPr/>
              <p:nvPr/>
            </p:nvSpPr>
            <p:spPr bwMode="auto">
              <a:xfrm>
                <a:off x="680" y="2916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" name="Rectangle 14"/>
              <p:cNvSpPr>
                <a:spLocks noChangeArrowheads="1"/>
              </p:cNvSpPr>
              <p:nvPr/>
            </p:nvSpPr>
            <p:spPr bwMode="auto">
              <a:xfrm>
                <a:off x="733" y="2966"/>
                <a:ext cx="248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C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11279" name="Group 15"/>
            <p:cNvGrpSpPr/>
            <p:nvPr/>
          </p:nvGrpSpPr>
          <p:grpSpPr bwMode="auto">
            <a:xfrm>
              <a:off x="680" y="3372"/>
              <a:ext cx="329" cy="371"/>
              <a:chOff x="680" y="3372"/>
              <a:chExt cx="329" cy="371"/>
            </a:xfrm>
          </p:grpSpPr>
          <p:sp>
            <p:nvSpPr>
              <p:cNvPr id="11280" name="Freeform 16"/>
              <p:cNvSpPr/>
              <p:nvPr/>
            </p:nvSpPr>
            <p:spPr bwMode="auto">
              <a:xfrm>
                <a:off x="680" y="3372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" name="Rectangle 17"/>
              <p:cNvSpPr>
                <a:spLocks noChangeArrowheads="1"/>
              </p:cNvSpPr>
              <p:nvPr/>
            </p:nvSpPr>
            <p:spPr bwMode="auto">
              <a:xfrm>
                <a:off x="722" y="3421"/>
                <a:ext cx="272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D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11282" name="Rectangle 18"/>
            <p:cNvSpPr>
              <a:spLocks noChangeArrowheads="1"/>
            </p:cNvSpPr>
            <p:nvPr/>
          </p:nvSpPr>
          <p:spPr bwMode="auto">
            <a:xfrm>
              <a:off x="895" y="903"/>
              <a:ext cx="602" cy="3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6 PM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1283" name="Line 19"/>
            <p:cNvSpPr>
              <a:spLocks noChangeShapeType="1"/>
            </p:cNvSpPr>
            <p:nvPr/>
          </p:nvSpPr>
          <p:spPr bwMode="auto">
            <a:xfrm>
              <a:off x="1112" y="1272"/>
              <a:ext cx="39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4" name="Line 20"/>
            <p:cNvSpPr>
              <a:spLocks noChangeShapeType="1"/>
            </p:cNvSpPr>
            <p:nvPr/>
          </p:nvSpPr>
          <p:spPr bwMode="auto">
            <a:xfrm>
              <a:off x="1108" y="118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5" name="Rectangle 21"/>
            <p:cNvSpPr>
              <a:spLocks noChangeArrowheads="1"/>
            </p:cNvSpPr>
            <p:nvPr/>
          </p:nvSpPr>
          <p:spPr bwMode="auto">
            <a:xfrm>
              <a:off x="1658" y="911"/>
              <a:ext cx="249" cy="3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7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1286" name="Rectangle 22"/>
            <p:cNvSpPr>
              <a:spLocks noChangeArrowheads="1"/>
            </p:cNvSpPr>
            <p:nvPr/>
          </p:nvSpPr>
          <p:spPr bwMode="auto">
            <a:xfrm>
              <a:off x="2330" y="911"/>
              <a:ext cx="249" cy="3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8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1287" name="Rectangle 23"/>
            <p:cNvSpPr>
              <a:spLocks noChangeArrowheads="1"/>
            </p:cNvSpPr>
            <p:nvPr/>
          </p:nvSpPr>
          <p:spPr bwMode="auto">
            <a:xfrm>
              <a:off x="2969" y="911"/>
              <a:ext cx="249" cy="3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9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1288" name="Rectangle 24"/>
            <p:cNvSpPr>
              <a:spLocks noChangeArrowheads="1"/>
            </p:cNvSpPr>
            <p:nvPr/>
          </p:nvSpPr>
          <p:spPr bwMode="auto">
            <a:xfrm>
              <a:off x="3578" y="919"/>
              <a:ext cx="343" cy="3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10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1289" name="Rectangle 25"/>
            <p:cNvSpPr>
              <a:spLocks noChangeArrowheads="1"/>
            </p:cNvSpPr>
            <p:nvPr/>
          </p:nvSpPr>
          <p:spPr bwMode="auto">
            <a:xfrm>
              <a:off x="4282" y="911"/>
              <a:ext cx="310" cy="3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>
                  <a:latin typeface="Comic Sans MS" panose="030F0902030302020204" pitchFamily="66" charset="0"/>
                </a:rPr>
                <a:t>11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sp>
          <p:nvSpPr>
            <p:cNvPr id="11290" name="Rectangle 26"/>
            <p:cNvSpPr>
              <a:spLocks noChangeArrowheads="1"/>
            </p:cNvSpPr>
            <p:nvPr/>
          </p:nvSpPr>
          <p:spPr bwMode="auto">
            <a:xfrm>
              <a:off x="4644" y="903"/>
              <a:ext cx="977" cy="3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>
                  <a:latin typeface="Comic Sans MS" panose="030F0902030302020204" pitchFamily="66" charset="0"/>
                </a:rPr>
                <a:t>Midnight</a:t>
              </a:r>
              <a:endParaRPr lang="en-US" altLang="zh-CN">
                <a:latin typeface="Comic Sans MS" panose="030F0902030302020204" pitchFamily="66" charset="0"/>
              </a:endParaRPr>
            </a:p>
          </p:txBody>
        </p:sp>
        <p:grpSp>
          <p:nvGrpSpPr>
            <p:cNvPr id="11291" name="Group 27"/>
            <p:cNvGrpSpPr/>
            <p:nvPr/>
          </p:nvGrpSpPr>
          <p:grpSpPr bwMode="auto">
            <a:xfrm>
              <a:off x="1136" y="1844"/>
              <a:ext cx="2199" cy="1848"/>
              <a:chOff x="1136" y="1844"/>
              <a:chExt cx="2199" cy="1848"/>
            </a:xfrm>
          </p:grpSpPr>
          <p:grpSp>
            <p:nvGrpSpPr>
              <p:cNvPr id="11292" name="Group 28"/>
              <p:cNvGrpSpPr/>
              <p:nvPr/>
            </p:nvGrpSpPr>
            <p:grpSpPr bwMode="auto">
              <a:xfrm>
                <a:off x="1136" y="1844"/>
                <a:ext cx="967" cy="448"/>
                <a:chOff x="1136" y="1844"/>
                <a:chExt cx="967" cy="448"/>
              </a:xfrm>
            </p:grpSpPr>
            <p:grpSp>
              <p:nvGrpSpPr>
                <p:cNvPr id="11293" name="Group 29"/>
                <p:cNvGrpSpPr/>
                <p:nvPr/>
              </p:nvGrpSpPr>
              <p:grpSpPr bwMode="auto">
                <a:xfrm>
                  <a:off x="1136" y="1844"/>
                  <a:ext cx="305" cy="448"/>
                  <a:chOff x="1136" y="1844"/>
                  <a:chExt cx="305" cy="448"/>
                </a:xfrm>
              </p:grpSpPr>
              <p:grpSp>
                <p:nvGrpSpPr>
                  <p:cNvPr id="11294" name="Group 30"/>
                  <p:cNvGrpSpPr/>
                  <p:nvPr/>
                </p:nvGrpSpPr>
                <p:grpSpPr bwMode="auto">
                  <a:xfrm>
                    <a:off x="1136" y="1844"/>
                    <a:ext cx="305" cy="448"/>
                    <a:chOff x="1136" y="1844"/>
                    <a:chExt cx="305" cy="448"/>
                  </a:xfrm>
                </p:grpSpPr>
                <p:sp>
                  <p:nvSpPr>
                    <p:cNvPr id="11295" name="AutoShape 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6" y="1915"/>
                      <a:ext cx="305" cy="377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F6BF69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296" name="AutoShape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6" y="1844"/>
                      <a:ext cx="235" cy="78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F6BF69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1297" name="AutoShape 33"/>
                  <p:cNvSpPr>
                    <a:spLocks noChangeArrowheads="1"/>
                  </p:cNvSpPr>
                  <p:nvPr/>
                </p:nvSpPr>
                <p:spPr bwMode="auto">
                  <a:xfrm>
                    <a:off x="1198" y="1948"/>
                    <a:ext cx="158" cy="27"/>
                  </a:xfrm>
                  <a:prstGeom prst="parallelogram">
                    <a:avLst>
                      <a:gd name="adj" fmla="val 146269"/>
                    </a:avLst>
                  </a:prstGeom>
                  <a:solidFill>
                    <a:srgbClr val="F6BF69"/>
                  </a:solidFill>
                  <a:ln w="254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298" name="Group 34"/>
                <p:cNvGrpSpPr/>
                <p:nvPr/>
              </p:nvGrpSpPr>
              <p:grpSpPr bwMode="auto">
                <a:xfrm>
                  <a:off x="1437" y="1844"/>
                  <a:ext cx="378" cy="448"/>
                  <a:chOff x="1437" y="1844"/>
                  <a:chExt cx="378" cy="448"/>
                </a:xfrm>
              </p:grpSpPr>
              <p:grpSp>
                <p:nvGrpSpPr>
                  <p:cNvPr id="11299" name="Group 35"/>
                  <p:cNvGrpSpPr/>
                  <p:nvPr/>
                </p:nvGrpSpPr>
                <p:grpSpPr bwMode="auto">
                  <a:xfrm>
                    <a:off x="1437" y="1844"/>
                    <a:ext cx="378" cy="448"/>
                    <a:chOff x="1437" y="1844"/>
                    <a:chExt cx="378" cy="448"/>
                  </a:xfrm>
                </p:grpSpPr>
                <p:sp>
                  <p:nvSpPr>
                    <p:cNvPr id="11300" name="AutoShape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37" y="1915"/>
                      <a:ext cx="378" cy="377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A2C1FE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01" name="AutoShape 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3" y="1844"/>
                      <a:ext cx="292" cy="78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A2C1FE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1302" name="Oval 38"/>
                  <p:cNvSpPr>
                    <a:spLocks noChangeArrowheads="1"/>
                  </p:cNvSpPr>
                  <p:nvPr/>
                </p:nvSpPr>
                <p:spPr bwMode="auto">
                  <a:xfrm>
                    <a:off x="1552" y="1880"/>
                    <a:ext cx="49" cy="2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03" name="AutoShape 39"/>
                  <p:cNvSpPr>
                    <a:spLocks noChangeArrowheads="1"/>
                  </p:cNvSpPr>
                  <p:nvPr/>
                </p:nvSpPr>
                <p:spPr bwMode="auto">
                  <a:xfrm>
                    <a:off x="1484" y="2090"/>
                    <a:ext cx="198" cy="84"/>
                  </a:xfrm>
                  <a:prstGeom prst="octagon">
                    <a:avLst>
                      <a:gd name="adj" fmla="val 29282"/>
                    </a:avLst>
                  </a:prstGeom>
                  <a:solidFill>
                    <a:srgbClr val="A2C1FE"/>
                  </a:solidFill>
                  <a:ln w="254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304" name="Freeform 40"/>
                <p:cNvSpPr/>
                <p:nvPr/>
              </p:nvSpPr>
              <p:spPr bwMode="auto">
                <a:xfrm>
                  <a:off x="2001" y="2073"/>
                  <a:ext cx="86" cy="192"/>
                </a:xfrm>
                <a:custGeom>
                  <a:avLst/>
                  <a:gdLst>
                    <a:gd name="T0" fmla="*/ 62 w 86"/>
                    <a:gd name="T1" fmla="*/ 0 h 192"/>
                    <a:gd name="T2" fmla="*/ 85 w 86"/>
                    <a:gd name="T3" fmla="*/ 0 h 192"/>
                    <a:gd name="T4" fmla="*/ 23 w 86"/>
                    <a:gd name="T5" fmla="*/ 191 h 192"/>
                    <a:gd name="T6" fmla="*/ 0 w 86"/>
                    <a:gd name="T7" fmla="*/ 191 h 192"/>
                    <a:gd name="T8" fmla="*/ 62 w 86"/>
                    <a:gd name="T9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" h="192">
                      <a:moveTo>
                        <a:pt x="62" y="0"/>
                      </a:moveTo>
                      <a:lnTo>
                        <a:pt x="85" y="0"/>
                      </a:lnTo>
                      <a:lnTo>
                        <a:pt x="23" y="191"/>
                      </a:lnTo>
                      <a:lnTo>
                        <a:pt x="0" y="191"/>
                      </a:lnTo>
                      <a:lnTo>
                        <a:pt x="62" y="0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05" name="Rectangle 41"/>
                <p:cNvSpPr>
                  <a:spLocks noChangeArrowheads="1"/>
                </p:cNvSpPr>
                <p:nvPr/>
              </p:nvSpPr>
              <p:spPr bwMode="auto">
                <a:xfrm>
                  <a:off x="1997" y="2073"/>
                  <a:ext cx="106" cy="16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06" name="Rectangle 42"/>
                <p:cNvSpPr>
                  <a:spLocks noChangeArrowheads="1"/>
                </p:cNvSpPr>
                <p:nvPr/>
              </p:nvSpPr>
              <p:spPr bwMode="auto">
                <a:xfrm>
                  <a:off x="2004" y="2154"/>
                  <a:ext cx="82" cy="16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07" name="Rectangle 43"/>
                <p:cNvSpPr>
                  <a:spLocks noChangeArrowheads="1"/>
                </p:cNvSpPr>
                <p:nvPr/>
              </p:nvSpPr>
              <p:spPr bwMode="auto">
                <a:xfrm>
                  <a:off x="1821" y="2154"/>
                  <a:ext cx="103" cy="11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308" name="Group 44"/>
                <p:cNvGrpSpPr/>
                <p:nvPr/>
              </p:nvGrpSpPr>
              <p:grpSpPr bwMode="auto">
                <a:xfrm>
                  <a:off x="1819" y="1901"/>
                  <a:ext cx="194" cy="364"/>
                  <a:chOff x="1819" y="1901"/>
                  <a:chExt cx="194" cy="364"/>
                </a:xfrm>
              </p:grpSpPr>
              <p:sp>
                <p:nvSpPr>
                  <p:cNvPr id="11309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1895" y="1901"/>
                    <a:ext cx="48" cy="48"/>
                  </a:xfrm>
                  <a:prstGeom prst="ellipse">
                    <a:avLst/>
                  </a:prstGeom>
                  <a:solidFill>
                    <a:srgbClr val="FC0128"/>
                  </a:solidFill>
                  <a:ln w="127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10" name="Freeform 46"/>
                  <p:cNvSpPr/>
                  <p:nvPr/>
                </p:nvSpPr>
                <p:spPr bwMode="auto">
                  <a:xfrm>
                    <a:off x="1819" y="1969"/>
                    <a:ext cx="194" cy="296"/>
                  </a:xfrm>
                  <a:custGeom>
                    <a:avLst/>
                    <a:gdLst>
                      <a:gd name="T0" fmla="*/ 2 w 194"/>
                      <a:gd name="T1" fmla="*/ 137 h 296"/>
                      <a:gd name="T2" fmla="*/ 1 w 194"/>
                      <a:gd name="T3" fmla="*/ 140 h 296"/>
                      <a:gd name="T4" fmla="*/ 0 w 194"/>
                      <a:gd name="T5" fmla="*/ 145 h 296"/>
                      <a:gd name="T6" fmla="*/ 0 w 194"/>
                      <a:gd name="T7" fmla="*/ 150 h 296"/>
                      <a:gd name="T8" fmla="*/ 2 w 194"/>
                      <a:gd name="T9" fmla="*/ 155 h 296"/>
                      <a:gd name="T10" fmla="*/ 4 w 194"/>
                      <a:gd name="T11" fmla="*/ 159 h 296"/>
                      <a:gd name="T12" fmla="*/ 8 w 194"/>
                      <a:gd name="T13" fmla="*/ 163 h 296"/>
                      <a:gd name="T14" fmla="*/ 12 w 194"/>
                      <a:gd name="T15" fmla="*/ 165 h 296"/>
                      <a:gd name="T16" fmla="*/ 16 w 194"/>
                      <a:gd name="T17" fmla="*/ 166 h 296"/>
                      <a:gd name="T18" fmla="*/ 21 w 194"/>
                      <a:gd name="T19" fmla="*/ 166 h 296"/>
                      <a:gd name="T20" fmla="*/ 126 w 194"/>
                      <a:gd name="T21" fmla="*/ 295 h 296"/>
                      <a:gd name="T22" fmla="*/ 159 w 194"/>
                      <a:gd name="T23" fmla="*/ 142 h 296"/>
                      <a:gd name="T24" fmla="*/ 159 w 194"/>
                      <a:gd name="T25" fmla="*/ 138 h 296"/>
                      <a:gd name="T26" fmla="*/ 157 w 194"/>
                      <a:gd name="T27" fmla="*/ 136 h 296"/>
                      <a:gd name="T28" fmla="*/ 154 w 194"/>
                      <a:gd name="T29" fmla="*/ 133 h 296"/>
                      <a:gd name="T30" fmla="*/ 152 w 194"/>
                      <a:gd name="T31" fmla="*/ 131 h 296"/>
                      <a:gd name="T32" fmla="*/ 148 w 194"/>
                      <a:gd name="T33" fmla="*/ 130 h 296"/>
                      <a:gd name="T34" fmla="*/ 144 w 194"/>
                      <a:gd name="T35" fmla="*/ 129 h 296"/>
                      <a:gd name="T36" fmla="*/ 140 w 194"/>
                      <a:gd name="T37" fmla="*/ 129 h 296"/>
                      <a:gd name="T38" fmla="*/ 137 w 194"/>
                      <a:gd name="T39" fmla="*/ 129 h 296"/>
                      <a:gd name="T40" fmla="*/ 93 w 194"/>
                      <a:gd name="T41" fmla="*/ 75 h 296"/>
                      <a:gd name="T42" fmla="*/ 179 w 194"/>
                      <a:gd name="T43" fmla="*/ 93 h 296"/>
                      <a:gd name="T44" fmla="*/ 183 w 194"/>
                      <a:gd name="T45" fmla="*/ 92 h 296"/>
                      <a:gd name="T46" fmla="*/ 185 w 194"/>
                      <a:gd name="T47" fmla="*/ 91 h 296"/>
                      <a:gd name="T48" fmla="*/ 189 w 194"/>
                      <a:gd name="T49" fmla="*/ 89 h 296"/>
                      <a:gd name="T50" fmla="*/ 191 w 194"/>
                      <a:gd name="T51" fmla="*/ 86 h 296"/>
                      <a:gd name="T52" fmla="*/ 192 w 194"/>
                      <a:gd name="T53" fmla="*/ 83 h 296"/>
                      <a:gd name="T54" fmla="*/ 193 w 194"/>
                      <a:gd name="T55" fmla="*/ 78 h 296"/>
                      <a:gd name="T56" fmla="*/ 192 w 194"/>
                      <a:gd name="T57" fmla="*/ 74 h 296"/>
                      <a:gd name="T58" fmla="*/ 190 w 194"/>
                      <a:gd name="T59" fmla="*/ 70 h 296"/>
                      <a:gd name="T60" fmla="*/ 188 w 194"/>
                      <a:gd name="T61" fmla="*/ 68 h 296"/>
                      <a:gd name="T62" fmla="*/ 184 w 194"/>
                      <a:gd name="T63" fmla="*/ 65 h 296"/>
                      <a:gd name="T64" fmla="*/ 181 w 194"/>
                      <a:gd name="T65" fmla="*/ 64 h 296"/>
                      <a:gd name="T66" fmla="*/ 122 w 194"/>
                      <a:gd name="T67" fmla="*/ 64 h 296"/>
                      <a:gd name="T68" fmla="*/ 112 w 194"/>
                      <a:gd name="T69" fmla="*/ 42 h 296"/>
                      <a:gd name="T70" fmla="*/ 113 w 194"/>
                      <a:gd name="T71" fmla="*/ 37 h 296"/>
                      <a:gd name="T72" fmla="*/ 114 w 194"/>
                      <a:gd name="T73" fmla="*/ 30 h 296"/>
                      <a:gd name="T74" fmla="*/ 114 w 194"/>
                      <a:gd name="T75" fmla="*/ 24 h 296"/>
                      <a:gd name="T76" fmla="*/ 112 w 194"/>
                      <a:gd name="T77" fmla="*/ 19 h 296"/>
                      <a:gd name="T78" fmla="*/ 110 w 194"/>
                      <a:gd name="T79" fmla="*/ 15 h 296"/>
                      <a:gd name="T80" fmla="*/ 107 w 194"/>
                      <a:gd name="T81" fmla="*/ 10 h 296"/>
                      <a:gd name="T82" fmla="*/ 103 w 194"/>
                      <a:gd name="T83" fmla="*/ 7 h 296"/>
                      <a:gd name="T84" fmla="*/ 98 w 194"/>
                      <a:gd name="T85" fmla="*/ 3 h 296"/>
                      <a:gd name="T86" fmla="*/ 93 w 194"/>
                      <a:gd name="T87" fmla="*/ 1 h 296"/>
                      <a:gd name="T88" fmla="*/ 87 w 194"/>
                      <a:gd name="T89" fmla="*/ 0 h 296"/>
                      <a:gd name="T90" fmla="*/ 81 w 194"/>
                      <a:gd name="T91" fmla="*/ 0 h 296"/>
                      <a:gd name="T92" fmla="*/ 75 w 194"/>
                      <a:gd name="T93" fmla="*/ 1 h 296"/>
                      <a:gd name="T94" fmla="*/ 69 w 194"/>
                      <a:gd name="T95" fmla="*/ 3 h 296"/>
                      <a:gd name="T96" fmla="*/ 63 w 194"/>
                      <a:gd name="T97" fmla="*/ 6 h 296"/>
                      <a:gd name="T98" fmla="*/ 59 w 194"/>
                      <a:gd name="T99" fmla="*/ 11 h 296"/>
                      <a:gd name="T100" fmla="*/ 55 w 194"/>
                      <a:gd name="T101" fmla="*/ 17 h 296"/>
                      <a:gd name="T102" fmla="*/ 53 w 194"/>
                      <a:gd name="T103" fmla="*/ 23 h 2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194" h="296">
                        <a:moveTo>
                          <a:pt x="53" y="23"/>
                        </a:moveTo>
                        <a:lnTo>
                          <a:pt x="2" y="137"/>
                        </a:lnTo>
                        <a:lnTo>
                          <a:pt x="1" y="138"/>
                        </a:lnTo>
                        <a:lnTo>
                          <a:pt x="1" y="140"/>
                        </a:lnTo>
                        <a:lnTo>
                          <a:pt x="0" y="142"/>
                        </a:lnTo>
                        <a:lnTo>
                          <a:pt x="0" y="145"/>
                        </a:lnTo>
                        <a:lnTo>
                          <a:pt x="0" y="147"/>
                        </a:lnTo>
                        <a:lnTo>
                          <a:pt x="0" y="150"/>
                        </a:lnTo>
                        <a:lnTo>
                          <a:pt x="1" y="152"/>
                        </a:lnTo>
                        <a:lnTo>
                          <a:pt x="2" y="155"/>
                        </a:lnTo>
                        <a:lnTo>
                          <a:pt x="3" y="157"/>
                        </a:lnTo>
                        <a:lnTo>
                          <a:pt x="4" y="159"/>
                        </a:lnTo>
                        <a:lnTo>
                          <a:pt x="6" y="161"/>
                        </a:lnTo>
                        <a:lnTo>
                          <a:pt x="8" y="163"/>
                        </a:lnTo>
                        <a:lnTo>
                          <a:pt x="10" y="164"/>
                        </a:lnTo>
                        <a:lnTo>
                          <a:pt x="12" y="165"/>
                        </a:lnTo>
                        <a:lnTo>
                          <a:pt x="14" y="165"/>
                        </a:lnTo>
                        <a:lnTo>
                          <a:pt x="16" y="166"/>
                        </a:lnTo>
                        <a:lnTo>
                          <a:pt x="18" y="166"/>
                        </a:lnTo>
                        <a:lnTo>
                          <a:pt x="21" y="166"/>
                        </a:lnTo>
                        <a:lnTo>
                          <a:pt x="126" y="166"/>
                        </a:lnTo>
                        <a:lnTo>
                          <a:pt x="126" y="295"/>
                        </a:lnTo>
                        <a:lnTo>
                          <a:pt x="159" y="295"/>
                        </a:lnTo>
                        <a:lnTo>
                          <a:pt x="159" y="142"/>
                        </a:lnTo>
                        <a:lnTo>
                          <a:pt x="159" y="140"/>
                        </a:lnTo>
                        <a:lnTo>
                          <a:pt x="159" y="138"/>
                        </a:lnTo>
                        <a:lnTo>
                          <a:pt x="158" y="137"/>
                        </a:lnTo>
                        <a:lnTo>
                          <a:pt x="157" y="136"/>
                        </a:lnTo>
                        <a:lnTo>
                          <a:pt x="156" y="135"/>
                        </a:lnTo>
                        <a:lnTo>
                          <a:pt x="154" y="133"/>
                        </a:lnTo>
                        <a:lnTo>
                          <a:pt x="153" y="132"/>
                        </a:lnTo>
                        <a:lnTo>
                          <a:pt x="152" y="131"/>
                        </a:lnTo>
                        <a:lnTo>
                          <a:pt x="150" y="131"/>
                        </a:lnTo>
                        <a:lnTo>
                          <a:pt x="148" y="130"/>
                        </a:lnTo>
                        <a:lnTo>
                          <a:pt x="146" y="130"/>
                        </a:lnTo>
                        <a:lnTo>
                          <a:pt x="144" y="129"/>
                        </a:lnTo>
                        <a:lnTo>
                          <a:pt x="142" y="129"/>
                        </a:lnTo>
                        <a:lnTo>
                          <a:pt x="140" y="129"/>
                        </a:lnTo>
                        <a:lnTo>
                          <a:pt x="139" y="129"/>
                        </a:lnTo>
                        <a:lnTo>
                          <a:pt x="137" y="129"/>
                        </a:lnTo>
                        <a:lnTo>
                          <a:pt x="76" y="125"/>
                        </a:lnTo>
                        <a:lnTo>
                          <a:pt x="93" y="75"/>
                        </a:lnTo>
                        <a:lnTo>
                          <a:pt x="105" y="93"/>
                        </a:lnTo>
                        <a:lnTo>
                          <a:pt x="179" y="93"/>
                        </a:lnTo>
                        <a:lnTo>
                          <a:pt x="181" y="92"/>
                        </a:lnTo>
                        <a:lnTo>
                          <a:pt x="183" y="92"/>
                        </a:lnTo>
                        <a:lnTo>
                          <a:pt x="184" y="91"/>
                        </a:lnTo>
                        <a:lnTo>
                          <a:pt x="185" y="91"/>
                        </a:lnTo>
                        <a:lnTo>
                          <a:pt x="187" y="90"/>
                        </a:lnTo>
                        <a:lnTo>
                          <a:pt x="189" y="89"/>
                        </a:lnTo>
                        <a:lnTo>
                          <a:pt x="190" y="87"/>
                        </a:lnTo>
                        <a:lnTo>
                          <a:pt x="191" y="86"/>
                        </a:lnTo>
                        <a:lnTo>
                          <a:pt x="192" y="84"/>
                        </a:lnTo>
                        <a:lnTo>
                          <a:pt x="192" y="83"/>
                        </a:lnTo>
                        <a:lnTo>
                          <a:pt x="193" y="81"/>
                        </a:lnTo>
                        <a:lnTo>
                          <a:pt x="193" y="78"/>
                        </a:lnTo>
                        <a:lnTo>
                          <a:pt x="193" y="76"/>
                        </a:lnTo>
                        <a:lnTo>
                          <a:pt x="192" y="74"/>
                        </a:lnTo>
                        <a:lnTo>
                          <a:pt x="191" y="72"/>
                        </a:lnTo>
                        <a:lnTo>
                          <a:pt x="190" y="70"/>
                        </a:lnTo>
                        <a:lnTo>
                          <a:pt x="189" y="69"/>
                        </a:lnTo>
                        <a:lnTo>
                          <a:pt x="188" y="68"/>
                        </a:lnTo>
                        <a:lnTo>
                          <a:pt x="186" y="66"/>
                        </a:lnTo>
                        <a:lnTo>
                          <a:pt x="184" y="65"/>
                        </a:lnTo>
                        <a:lnTo>
                          <a:pt x="184" y="64"/>
                        </a:lnTo>
                        <a:lnTo>
                          <a:pt x="181" y="64"/>
                        </a:lnTo>
                        <a:lnTo>
                          <a:pt x="179" y="64"/>
                        </a:lnTo>
                        <a:lnTo>
                          <a:pt x="122" y="64"/>
                        </a:lnTo>
                        <a:lnTo>
                          <a:pt x="110" y="44"/>
                        </a:lnTo>
                        <a:lnTo>
                          <a:pt x="112" y="42"/>
                        </a:lnTo>
                        <a:lnTo>
                          <a:pt x="113" y="39"/>
                        </a:lnTo>
                        <a:lnTo>
                          <a:pt x="113" y="37"/>
                        </a:lnTo>
                        <a:lnTo>
                          <a:pt x="114" y="34"/>
                        </a:lnTo>
                        <a:lnTo>
                          <a:pt x="114" y="30"/>
                        </a:lnTo>
                        <a:lnTo>
                          <a:pt x="114" y="28"/>
                        </a:lnTo>
                        <a:lnTo>
                          <a:pt x="114" y="24"/>
                        </a:lnTo>
                        <a:lnTo>
                          <a:pt x="113" y="22"/>
                        </a:lnTo>
                        <a:lnTo>
                          <a:pt x="112" y="19"/>
                        </a:lnTo>
                        <a:lnTo>
                          <a:pt x="111" y="17"/>
                        </a:lnTo>
                        <a:lnTo>
                          <a:pt x="110" y="15"/>
                        </a:lnTo>
                        <a:lnTo>
                          <a:pt x="109" y="13"/>
                        </a:lnTo>
                        <a:lnTo>
                          <a:pt x="107" y="10"/>
                        </a:lnTo>
                        <a:lnTo>
                          <a:pt x="105" y="9"/>
                        </a:lnTo>
                        <a:lnTo>
                          <a:pt x="103" y="7"/>
                        </a:lnTo>
                        <a:lnTo>
                          <a:pt x="101" y="5"/>
                        </a:lnTo>
                        <a:lnTo>
                          <a:pt x="98" y="3"/>
                        </a:lnTo>
                        <a:lnTo>
                          <a:pt x="96" y="3"/>
                        </a:lnTo>
                        <a:lnTo>
                          <a:pt x="93" y="1"/>
                        </a:lnTo>
                        <a:lnTo>
                          <a:pt x="90" y="1"/>
                        </a:lnTo>
                        <a:lnTo>
                          <a:pt x="87" y="0"/>
                        </a:lnTo>
                        <a:lnTo>
                          <a:pt x="84" y="0"/>
                        </a:lnTo>
                        <a:lnTo>
                          <a:pt x="81" y="0"/>
                        </a:lnTo>
                        <a:lnTo>
                          <a:pt x="78" y="0"/>
                        </a:lnTo>
                        <a:lnTo>
                          <a:pt x="75" y="1"/>
                        </a:lnTo>
                        <a:lnTo>
                          <a:pt x="72" y="2"/>
                        </a:lnTo>
                        <a:lnTo>
                          <a:pt x="69" y="3"/>
                        </a:lnTo>
                        <a:lnTo>
                          <a:pt x="66" y="4"/>
                        </a:lnTo>
                        <a:lnTo>
                          <a:pt x="63" y="6"/>
                        </a:lnTo>
                        <a:lnTo>
                          <a:pt x="61" y="9"/>
                        </a:lnTo>
                        <a:lnTo>
                          <a:pt x="59" y="11"/>
                        </a:lnTo>
                        <a:lnTo>
                          <a:pt x="57" y="13"/>
                        </a:lnTo>
                        <a:lnTo>
                          <a:pt x="55" y="17"/>
                        </a:lnTo>
                        <a:lnTo>
                          <a:pt x="53" y="19"/>
                        </a:lnTo>
                        <a:lnTo>
                          <a:pt x="53" y="23"/>
                        </a:lnTo>
                      </a:path>
                    </a:pathLst>
                  </a:custGeom>
                  <a:solidFill>
                    <a:srgbClr val="FC0128"/>
                  </a:solid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11" name="Group 47"/>
              <p:cNvGrpSpPr/>
              <p:nvPr/>
            </p:nvGrpSpPr>
            <p:grpSpPr bwMode="auto">
              <a:xfrm>
                <a:off x="1536" y="2308"/>
                <a:ext cx="967" cy="448"/>
                <a:chOff x="1536" y="2308"/>
                <a:chExt cx="967" cy="448"/>
              </a:xfrm>
            </p:grpSpPr>
            <p:grpSp>
              <p:nvGrpSpPr>
                <p:cNvPr id="11312" name="Group 48"/>
                <p:cNvGrpSpPr/>
                <p:nvPr/>
              </p:nvGrpSpPr>
              <p:grpSpPr bwMode="auto">
                <a:xfrm>
                  <a:off x="1536" y="2308"/>
                  <a:ext cx="305" cy="448"/>
                  <a:chOff x="1536" y="2308"/>
                  <a:chExt cx="305" cy="448"/>
                </a:xfrm>
              </p:grpSpPr>
              <p:grpSp>
                <p:nvGrpSpPr>
                  <p:cNvPr id="11313" name="Group 49"/>
                  <p:cNvGrpSpPr/>
                  <p:nvPr/>
                </p:nvGrpSpPr>
                <p:grpSpPr bwMode="auto">
                  <a:xfrm>
                    <a:off x="1536" y="2308"/>
                    <a:ext cx="305" cy="448"/>
                    <a:chOff x="1536" y="2308"/>
                    <a:chExt cx="305" cy="448"/>
                  </a:xfrm>
                </p:grpSpPr>
                <p:sp>
                  <p:nvSpPr>
                    <p:cNvPr id="11314" name="AutoShape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6" y="2379"/>
                      <a:ext cx="305" cy="377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F6BF69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15" name="AutoShape 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06" y="2308"/>
                      <a:ext cx="235" cy="78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F6BF69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1316" name="AutoShape 52"/>
                  <p:cNvSpPr>
                    <a:spLocks noChangeArrowheads="1"/>
                  </p:cNvSpPr>
                  <p:nvPr/>
                </p:nvSpPr>
                <p:spPr bwMode="auto">
                  <a:xfrm>
                    <a:off x="1598" y="2412"/>
                    <a:ext cx="158" cy="27"/>
                  </a:xfrm>
                  <a:prstGeom prst="parallelogram">
                    <a:avLst>
                      <a:gd name="adj" fmla="val 146269"/>
                    </a:avLst>
                  </a:prstGeom>
                  <a:solidFill>
                    <a:srgbClr val="F6BF69"/>
                  </a:solidFill>
                  <a:ln w="254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317" name="Group 53"/>
                <p:cNvGrpSpPr/>
                <p:nvPr/>
              </p:nvGrpSpPr>
              <p:grpSpPr bwMode="auto">
                <a:xfrm>
                  <a:off x="1837" y="2308"/>
                  <a:ext cx="378" cy="448"/>
                  <a:chOff x="1837" y="2308"/>
                  <a:chExt cx="378" cy="448"/>
                </a:xfrm>
              </p:grpSpPr>
              <p:grpSp>
                <p:nvGrpSpPr>
                  <p:cNvPr id="11318" name="Group 54"/>
                  <p:cNvGrpSpPr/>
                  <p:nvPr/>
                </p:nvGrpSpPr>
                <p:grpSpPr bwMode="auto">
                  <a:xfrm>
                    <a:off x="1837" y="2308"/>
                    <a:ext cx="378" cy="448"/>
                    <a:chOff x="1837" y="2308"/>
                    <a:chExt cx="378" cy="448"/>
                  </a:xfrm>
                </p:grpSpPr>
                <p:sp>
                  <p:nvSpPr>
                    <p:cNvPr id="11319" name="AutoShape 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7" y="2379"/>
                      <a:ext cx="378" cy="377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A2C1FE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20" name="AutoShape 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3" y="2308"/>
                      <a:ext cx="292" cy="78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A2C1FE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1321" name="Oval 57"/>
                  <p:cNvSpPr>
                    <a:spLocks noChangeArrowheads="1"/>
                  </p:cNvSpPr>
                  <p:nvPr/>
                </p:nvSpPr>
                <p:spPr bwMode="auto">
                  <a:xfrm>
                    <a:off x="1952" y="2344"/>
                    <a:ext cx="49" cy="2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22" name="AutoShape 58"/>
                  <p:cNvSpPr>
                    <a:spLocks noChangeArrowheads="1"/>
                  </p:cNvSpPr>
                  <p:nvPr/>
                </p:nvSpPr>
                <p:spPr bwMode="auto">
                  <a:xfrm>
                    <a:off x="1884" y="2554"/>
                    <a:ext cx="198" cy="84"/>
                  </a:xfrm>
                  <a:prstGeom prst="octagon">
                    <a:avLst>
                      <a:gd name="adj" fmla="val 29282"/>
                    </a:avLst>
                  </a:prstGeom>
                  <a:solidFill>
                    <a:srgbClr val="A2C1FE"/>
                  </a:solidFill>
                  <a:ln w="254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323" name="Freeform 59"/>
                <p:cNvSpPr/>
                <p:nvPr/>
              </p:nvSpPr>
              <p:spPr bwMode="auto">
                <a:xfrm>
                  <a:off x="2401" y="2537"/>
                  <a:ext cx="86" cy="192"/>
                </a:xfrm>
                <a:custGeom>
                  <a:avLst/>
                  <a:gdLst>
                    <a:gd name="T0" fmla="*/ 62 w 86"/>
                    <a:gd name="T1" fmla="*/ 0 h 192"/>
                    <a:gd name="T2" fmla="*/ 85 w 86"/>
                    <a:gd name="T3" fmla="*/ 0 h 192"/>
                    <a:gd name="T4" fmla="*/ 23 w 86"/>
                    <a:gd name="T5" fmla="*/ 191 h 192"/>
                    <a:gd name="T6" fmla="*/ 0 w 86"/>
                    <a:gd name="T7" fmla="*/ 191 h 192"/>
                    <a:gd name="T8" fmla="*/ 62 w 86"/>
                    <a:gd name="T9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" h="192">
                      <a:moveTo>
                        <a:pt x="62" y="0"/>
                      </a:moveTo>
                      <a:lnTo>
                        <a:pt x="85" y="0"/>
                      </a:lnTo>
                      <a:lnTo>
                        <a:pt x="23" y="191"/>
                      </a:lnTo>
                      <a:lnTo>
                        <a:pt x="0" y="191"/>
                      </a:lnTo>
                      <a:lnTo>
                        <a:pt x="62" y="0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24" name="Rectangle 60"/>
                <p:cNvSpPr>
                  <a:spLocks noChangeArrowheads="1"/>
                </p:cNvSpPr>
                <p:nvPr/>
              </p:nvSpPr>
              <p:spPr bwMode="auto">
                <a:xfrm>
                  <a:off x="2397" y="2537"/>
                  <a:ext cx="106" cy="16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25" name="Rectangle 61"/>
                <p:cNvSpPr>
                  <a:spLocks noChangeArrowheads="1"/>
                </p:cNvSpPr>
                <p:nvPr/>
              </p:nvSpPr>
              <p:spPr bwMode="auto">
                <a:xfrm>
                  <a:off x="2404" y="2618"/>
                  <a:ext cx="82" cy="16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26" name="Rectangle 62"/>
                <p:cNvSpPr>
                  <a:spLocks noChangeArrowheads="1"/>
                </p:cNvSpPr>
                <p:nvPr/>
              </p:nvSpPr>
              <p:spPr bwMode="auto">
                <a:xfrm>
                  <a:off x="2221" y="2618"/>
                  <a:ext cx="103" cy="11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327" name="Group 63"/>
                <p:cNvGrpSpPr/>
                <p:nvPr/>
              </p:nvGrpSpPr>
              <p:grpSpPr bwMode="auto">
                <a:xfrm>
                  <a:off x="2219" y="2365"/>
                  <a:ext cx="194" cy="364"/>
                  <a:chOff x="2219" y="2365"/>
                  <a:chExt cx="194" cy="364"/>
                </a:xfrm>
              </p:grpSpPr>
              <p:sp>
                <p:nvSpPr>
                  <p:cNvPr id="11328" name="Oval 64"/>
                  <p:cNvSpPr>
                    <a:spLocks noChangeArrowheads="1"/>
                  </p:cNvSpPr>
                  <p:nvPr/>
                </p:nvSpPr>
                <p:spPr bwMode="auto">
                  <a:xfrm>
                    <a:off x="2295" y="2365"/>
                    <a:ext cx="48" cy="48"/>
                  </a:xfrm>
                  <a:prstGeom prst="ellipse">
                    <a:avLst/>
                  </a:prstGeom>
                  <a:solidFill>
                    <a:srgbClr val="FC0128"/>
                  </a:solidFill>
                  <a:ln w="127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29" name="Freeform 65"/>
                  <p:cNvSpPr/>
                  <p:nvPr/>
                </p:nvSpPr>
                <p:spPr bwMode="auto">
                  <a:xfrm>
                    <a:off x="2219" y="2433"/>
                    <a:ext cx="194" cy="296"/>
                  </a:xfrm>
                  <a:custGeom>
                    <a:avLst/>
                    <a:gdLst>
                      <a:gd name="T0" fmla="*/ 2 w 194"/>
                      <a:gd name="T1" fmla="*/ 137 h 296"/>
                      <a:gd name="T2" fmla="*/ 1 w 194"/>
                      <a:gd name="T3" fmla="*/ 140 h 296"/>
                      <a:gd name="T4" fmla="*/ 0 w 194"/>
                      <a:gd name="T5" fmla="*/ 145 h 296"/>
                      <a:gd name="T6" fmla="*/ 0 w 194"/>
                      <a:gd name="T7" fmla="*/ 150 h 296"/>
                      <a:gd name="T8" fmla="*/ 2 w 194"/>
                      <a:gd name="T9" fmla="*/ 155 h 296"/>
                      <a:gd name="T10" fmla="*/ 4 w 194"/>
                      <a:gd name="T11" fmla="*/ 159 h 296"/>
                      <a:gd name="T12" fmla="*/ 8 w 194"/>
                      <a:gd name="T13" fmla="*/ 163 h 296"/>
                      <a:gd name="T14" fmla="*/ 12 w 194"/>
                      <a:gd name="T15" fmla="*/ 165 h 296"/>
                      <a:gd name="T16" fmla="*/ 16 w 194"/>
                      <a:gd name="T17" fmla="*/ 166 h 296"/>
                      <a:gd name="T18" fmla="*/ 21 w 194"/>
                      <a:gd name="T19" fmla="*/ 166 h 296"/>
                      <a:gd name="T20" fmla="*/ 126 w 194"/>
                      <a:gd name="T21" fmla="*/ 295 h 296"/>
                      <a:gd name="T22" fmla="*/ 159 w 194"/>
                      <a:gd name="T23" fmla="*/ 142 h 296"/>
                      <a:gd name="T24" fmla="*/ 159 w 194"/>
                      <a:gd name="T25" fmla="*/ 138 h 296"/>
                      <a:gd name="T26" fmla="*/ 157 w 194"/>
                      <a:gd name="T27" fmla="*/ 136 h 296"/>
                      <a:gd name="T28" fmla="*/ 154 w 194"/>
                      <a:gd name="T29" fmla="*/ 133 h 296"/>
                      <a:gd name="T30" fmla="*/ 152 w 194"/>
                      <a:gd name="T31" fmla="*/ 131 h 296"/>
                      <a:gd name="T32" fmla="*/ 148 w 194"/>
                      <a:gd name="T33" fmla="*/ 130 h 296"/>
                      <a:gd name="T34" fmla="*/ 144 w 194"/>
                      <a:gd name="T35" fmla="*/ 129 h 296"/>
                      <a:gd name="T36" fmla="*/ 140 w 194"/>
                      <a:gd name="T37" fmla="*/ 129 h 296"/>
                      <a:gd name="T38" fmla="*/ 137 w 194"/>
                      <a:gd name="T39" fmla="*/ 129 h 296"/>
                      <a:gd name="T40" fmla="*/ 93 w 194"/>
                      <a:gd name="T41" fmla="*/ 75 h 296"/>
                      <a:gd name="T42" fmla="*/ 179 w 194"/>
                      <a:gd name="T43" fmla="*/ 93 h 296"/>
                      <a:gd name="T44" fmla="*/ 183 w 194"/>
                      <a:gd name="T45" fmla="*/ 92 h 296"/>
                      <a:gd name="T46" fmla="*/ 185 w 194"/>
                      <a:gd name="T47" fmla="*/ 91 h 296"/>
                      <a:gd name="T48" fmla="*/ 189 w 194"/>
                      <a:gd name="T49" fmla="*/ 89 h 296"/>
                      <a:gd name="T50" fmla="*/ 191 w 194"/>
                      <a:gd name="T51" fmla="*/ 86 h 296"/>
                      <a:gd name="T52" fmla="*/ 192 w 194"/>
                      <a:gd name="T53" fmla="*/ 83 h 296"/>
                      <a:gd name="T54" fmla="*/ 193 w 194"/>
                      <a:gd name="T55" fmla="*/ 78 h 296"/>
                      <a:gd name="T56" fmla="*/ 192 w 194"/>
                      <a:gd name="T57" fmla="*/ 74 h 296"/>
                      <a:gd name="T58" fmla="*/ 190 w 194"/>
                      <a:gd name="T59" fmla="*/ 70 h 296"/>
                      <a:gd name="T60" fmla="*/ 188 w 194"/>
                      <a:gd name="T61" fmla="*/ 68 h 296"/>
                      <a:gd name="T62" fmla="*/ 184 w 194"/>
                      <a:gd name="T63" fmla="*/ 65 h 296"/>
                      <a:gd name="T64" fmla="*/ 181 w 194"/>
                      <a:gd name="T65" fmla="*/ 64 h 296"/>
                      <a:gd name="T66" fmla="*/ 122 w 194"/>
                      <a:gd name="T67" fmla="*/ 64 h 296"/>
                      <a:gd name="T68" fmla="*/ 112 w 194"/>
                      <a:gd name="T69" fmla="*/ 42 h 296"/>
                      <a:gd name="T70" fmla="*/ 113 w 194"/>
                      <a:gd name="T71" fmla="*/ 37 h 296"/>
                      <a:gd name="T72" fmla="*/ 114 w 194"/>
                      <a:gd name="T73" fmla="*/ 30 h 296"/>
                      <a:gd name="T74" fmla="*/ 114 w 194"/>
                      <a:gd name="T75" fmla="*/ 24 h 296"/>
                      <a:gd name="T76" fmla="*/ 112 w 194"/>
                      <a:gd name="T77" fmla="*/ 19 h 296"/>
                      <a:gd name="T78" fmla="*/ 110 w 194"/>
                      <a:gd name="T79" fmla="*/ 15 h 296"/>
                      <a:gd name="T80" fmla="*/ 107 w 194"/>
                      <a:gd name="T81" fmla="*/ 10 h 296"/>
                      <a:gd name="T82" fmla="*/ 103 w 194"/>
                      <a:gd name="T83" fmla="*/ 7 h 296"/>
                      <a:gd name="T84" fmla="*/ 98 w 194"/>
                      <a:gd name="T85" fmla="*/ 3 h 296"/>
                      <a:gd name="T86" fmla="*/ 93 w 194"/>
                      <a:gd name="T87" fmla="*/ 1 h 296"/>
                      <a:gd name="T88" fmla="*/ 87 w 194"/>
                      <a:gd name="T89" fmla="*/ 0 h 296"/>
                      <a:gd name="T90" fmla="*/ 81 w 194"/>
                      <a:gd name="T91" fmla="*/ 0 h 296"/>
                      <a:gd name="T92" fmla="*/ 75 w 194"/>
                      <a:gd name="T93" fmla="*/ 1 h 296"/>
                      <a:gd name="T94" fmla="*/ 69 w 194"/>
                      <a:gd name="T95" fmla="*/ 3 h 296"/>
                      <a:gd name="T96" fmla="*/ 63 w 194"/>
                      <a:gd name="T97" fmla="*/ 6 h 296"/>
                      <a:gd name="T98" fmla="*/ 59 w 194"/>
                      <a:gd name="T99" fmla="*/ 11 h 296"/>
                      <a:gd name="T100" fmla="*/ 55 w 194"/>
                      <a:gd name="T101" fmla="*/ 17 h 296"/>
                      <a:gd name="T102" fmla="*/ 53 w 194"/>
                      <a:gd name="T103" fmla="*/ 23 h 2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194" h="296">
                        <a:moveTo>
                          <a:pt x="53" y="23"/>
                        </a:moveTo>
                        <a:lnTo>
                          <a:pt x="2" y="137"/>
                        </a:lnTo>
                        <a:lnTo>
                          <a:pt x="1" y="138"/>
                        </a:lnTo>
                        <a:lnTo>
                          <a:pt x="1" y="140"/>
                        </a:lnTo>
                        <a:lnTo>
                          <a:pt x="0" y="142"/>
                        </a:lnTo>
                        <a:lnTo>
                          <a:pt x="0" y="145"/>
                        </a:lnTo>
                        <a:lnTo>
                          <a:pt x="0" y="147"/>
                        </a:lnTo>
                        <a:lnTo>
                          <a:pt x="0" y="150"/>
                        </a:lnTo>
                        <a:lnTo>
                          <a:pt x="1" y="152"/>
                        </a:lnTo>
                        <a:lnTo>
                          <a:pt x="2" y="155"/>
                        </a:lnTo>
                        <a:lnTo>
                          <a:pt x="3" y="157"/>
                        </a:lnTo>
                        <a:lnTo>
                          <a:pt x="4" y="159"/>
                        </a:lnTo>
                        <a:lnTo>
                          <a:pt x="6" y="161"/>
                        </a:lnTo>
                        <a:lnTo>
                          <a:pt x="8" y="163"/>
                        </a:lnTo>
                        <a:lnTo>
                          <a:pt x="10" y="164"/>
                        </a:lnTo>
                        <a:lnTo>
                          <a:pt x="12" y="165"/>
                        </a:lnTo>
                        <a:lnTo>
                          <a:pt x="14" y="165"/>
                        </a:lnTo>
                        <a:lnTo>
                          <a:pt x="16" y="166"/>
                        </a:lnTo>
                        <a:lnTo>
                          <a:pt x="18" y="166"/>
                        </a:lnTo>
                        <a:lnTo>
                          <a:pt x="21" y="166"/>
                        </a:lnTo>
                        <a:lnTo>
                          <a:pt x="126" y="166"/>
                        </a:lnTo>
                        <a:lnTo>
                          <a:pt x="126" y="295"/>
                        </a:lnTo>
                        <a:lnTo>
                          <a:pt x="159" y="295"/>
                        </a:lnTo>
                        <a:lnTo>
                          <a:pt x="159" y="142"/>
                        </a:lnTo>
                        <a:lnTo>
                          <a:pt x="159" y="140"/>
                        </a:lnTo>
                        <a:lnTo>
                          <a:pt x="159" y="138"/>
                        </a:lnTo>
                        <a:lnTo>
                          <a:pt x="158" y="137"/>
                        </a:lnTo>
                        <a:lnTo>
                          <a:pt x="157" y="136"/>
                        </a:lnTo>
                        <a:lnTo>
                          <a:pt x="156" y="135"/>
                        </a:lnTo>
                        <a:lnTo>
                          <a:pt x="154" y="133"/>
                        </a:lnTo>
                        <a:lnTo>
                          <a:pt x="153" y="132"/>
                        </a:lnTo>
                        <a:lnTo>
                          <a:pt x="152" y="131"/>
                        </a:lnTo>
                        <a:lnTo>
                          <a:pt x="150" y="131"/>
                        </a:lnTo>
                        <a:lnTo>
                          <a:pt x="148" y="130"/>
                        </a:lnTo>
                        <a:lnTo>
                          <a:pt x="146" y="130"/>
                        </a:lnTo>
                        <a:lnTo>
                          <a:pt x="144" y="129"/>
                        </a:lnTo>
                        <a:lnTo>
                          <a:pt x="142" y="129"/>
                        </a:lnTo>
                        <a:lnTo>
                          <a:pt x="140" y="129"/>
                        </a:lnTo>
                        <a:lnTo>
                          <a:pt x="139" y="129"/>
                        </a:lnTo>
                        <a:lnTo>
                          <a:pt x="137" y="129"/>
                        </a:lnTo>
                        <a:lnTo>
                          <a:pt x="76" y="125"/>
                        </a:lnTo>
                        <a:lnTo>
                          <a:pt x="93" y="75"/>
                        </a:lnTo>
                        <a:lnTo>
                          <a:pt x="105" y="93"/>
                        </a:lnTo>
                        <a:lnTo>
                          <a:pt x="179" y="93"/>
                        </a:lnTo>
                        <a:lnTo>
                          <a:pt x="181" y="92"/>
                        </a:lnTo>
                        <a:lnTo>
                          <a:pt x="183" y="92"/>
                        </a:lnTo>
                        <a:lnTo>
                          <a:pt x="184" y="91"/>
                        </a:lnTo>
                        <a:lnTo>
                          <a:pt x="185" y="91"/>
                        </a:lnTo>
                        <a:lnTo>
                          <a:pt x="187" y="90"/>
                        </a:lnTo>
                        <a:lnTo>
                          <a:pt x="189" y="89"/>
                        </a:lnTo>
                        <a:lnTo>
                          <a:pt x="190" y="87"/>
                        </a:lnTo>
                        <a:lnTo>
                          <a:pt x="191" y="86"/>
                        </a:lnTo>
                        <a:lnTo>
                          <a:pt x="192" y="84"/>
                        </a:lnTo>
                        <a:lnTo>
                          <a:pt x="192" y="83"/>
                        </a:lnTo>
                        <a:lnTo>
                          <a:pt x="193" y="81"/>
                        </a:lnTo>
                        <a:lnTo>
                          <a:pt x="193" y="78"/>
                        </a:lnTo>
                        <a:lnTo>
                          <a:pt x="193" y="76"/>
                        </a:lnTo>
                        <a:lnTo>
                          <a:pt x="192" y="74"/>
                        </a:lnTo>
                        <a:lnTo>
                          <a:pt x="191" y="72"/>
                        </a:lnTo>
                        <a:lnTo>
                          <a:pt x="190" y="70"/>
                        </a:lnTo>
                        <a:lnTo>
                          <a:pt x="189" y="69"/>
                        </a:lnTo>
                        <a:lnTo>
                          <a:pt x="188" y="68"/>
                        </a:lnTo>
                        <a:lnTo>
                          <a:pt x="186" y="66"/>
                        </a:lnTo>
                        <a:lnTo>
                          <a:pt x="184" y="65"/>
                        </a:lnTo>
                        <a:lnTo>
                          <a:pt x="184" y="64"/>
                        </a:lnTo>
                        <a:lnTo>
                          <a:pt x="181" y="64"/>
                        </a:lnTo>
                        <a:lnTo>
                          <a:pt x="179" y="64"/>
                        </a:lnTo>
                        <a:lnTo>
                          <a:pt x="122" y="64"/>
                        </a:lnTo>
                        <a:lnTo>
                          <a:pt x="110" y="44"/>
                        </a:lnTo>
                        <a:lnTo>
                          <a:pt x="112" y="42"/>
                        </a:lnTo>
                        <a:lnTo>
                          <a:pt x="113" y="39"/>
                        </a:lnTo>
                        <a:lnTo>
                          <a:pt x="113" y="37"/>
                        </a:lnTo>
                        <a:lnTo>
                          <a:pt x="114" y="34"/>
                        </a:lnTo>
                        <a:lnTo>
                          <a:pt x="114" y="30"/>
                        </a:lnTo>
                        <a:lnTo>
                          <a:pt x="114" y="28"/>
                        </a:lnTo>
                        <a:lnTo>
                          <a:pt x="114" y="24"/>
                        </a:lnTo>
                        <a:lnTo>
                          <a:pt x="113" y="22"/>
                        </a:lnTo>
                        <a:lnTo>
                          <a:pt x="112" y="19"/>
                        </a:lnTo>
                        <a:lnTo>
                          <a:pt x="111" y="17"/>
                        </a:lnTo>
                        <a:lnTo>
                          <a:pt x="110" y="15"/>
                        </a:lnTo>
                        <a:lnTo>
                          <a:pt x="109" y="13"/>
                        </a:lnTo>
                        <a:lnTo>
                          <a:pt x="107" y="10"/>
                        </a:lnTo>
                        <a:lnTo>
                          <a:pt x="105" y="9"/>
                        </a:lnTo>
                        <a:lnTo>
                          <a:pt x="103" y="7"/>
                        </a:lnTo>
                        <a:lnTo>
                          <a:pt x="101" y="5"/>
                        </a:lnTo>
                        <a:lnTo>
                          <a:pt x="98" y="3"/>
                        </a:lnTo>
                        <a:lnTo>
                          <a:pt x="96" y="3"/>
                        </a:lnTo>
                        <a:lnTo>
                          <a:pt x="93" y="1"/>
                        </a:lnTo>
                        <a:lnTo>
                          <a:pt x="90" y="1"/>
                        </a:lnTo>
                        <a:lnTo>
                          <a:pt x="87" y="0"/>
                        </a:lnTo>
                        <a:lnTo>
                          <a:pt x="84" y="0"/>
                        </a:lnTo>
                        <a:lnTo>
                          <a:pt x="81" y="0"/>
                        </a:lnTo>
                        <a:lnTo>
                          <a:pt x="78" y="0"/>
                        </a:lnTo>
                        <a:lnTo>
                          <a:pt x="75" y="1"/>
                        </a:lnTo>
                        <a:lnTo>
                          <a:pt x="72" y="2"/>
                        </a:lnTo>
                        <a:lnTo>
                          <a:pt x="69" y="3"/>
                        </a:lnTo>
                        <a:lnTo>
                          <a:pt x="66" y="4"/>
                        </a:lnTo>
                        <a:lnTo>
                          <a:pt x="63" y="6"/>
                        </a:lnTo>
                        <a:lnTo>
                          <a:pt x="61" y="9"/>
                        </a:lnTo>
                        <a:lnTo>
                          <a:pt x="59" y="11"/>
                        </a:lnTo>
                        <a:lnTo>
                          <a:pt x="57" y="13"/>
                        </a:lnTo>
                        <a:lnTo>
                          <a:pt x="55" y="17"/>
                        </a:lnTo>
                        <a:lnTo>
                          <a:pt x="53" y="19"/>
                        </a:lnTo>
                        <a:lnTo>
                          <a:pt x="53" y="23"/>
                        </a:lnTo>
                      </a:path>
                    </a:pathLst>
                  </a:custGeom>
                  <a:solidFill>
                    <a:srgbClr val="FC0128"/>
                  </a:solid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30" name="Group 66"/>
              <p:cNvGrpSpPr/>
              <p:nvPr/>
            </p:nvGrpSpPr>
            <p:grpSpPr bwMode="auto">
              <a:xfrm>
                <a:off x="1952" y="2796"/>
                <a:ext cx="967" cy="448"/>
                <a:chOff x="1952" y="2796"/>
                <a:chExt cx="967" cy="448"/>
              </a:xfrm>
            </p:grpSpPr>
            <p:grpSp>
              <p:nvGrpSpPr>
                <p:cNvPr id="11331" name="Group 67"/>
                <p:cNvGrpSpPr/>
                <p:nvPr/>
              </p:nvGrpSpPr>
              <p:grpSpPr bwMode="auto">
                <a:xfrm>
                  <a:off x="1952" y="2796"/>
                  <a:ext cx="305" cy="448"/>
                  <a:chOff x="1952" y="2796"/>
                  <a:chExt cx="305" cy="448"/>
                </a:xfrm>
              </p:grpSpPr>
              <p:grpSp>
                <p:nvGrpSpPr>
                  <p:cNvPr id="11332" name="Group 68"/>
                  <p:cNvGrpSpPr/>
                  <p:nvPr/>
                </p:nvGrpSpPr>
                <p:grpSpPr bwMode="auto">
                  <a:xfrm>
                    <a:off x="1952" y="2796"/>
                    <a:ext cx="305" cy="448"/>
                    <a:chOff x="1952" y="2796"/>
                    <a:chExt cx="305" cy="448"/>
                  </a:xfrm>
                </p:grpSpPr>
                <p:sp>
                  <p:nvSpPr>
                    <p:cNvPr id="11333" name="AutoShap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52" y="2867"/>
                      <a:ext cx="305" cy="377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F6BF69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34" name="AutoShape 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22" y="2796"/>
                      <a:ext cx="235" cy="78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F6BF69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1335" name="AutoShape 71"/>
                  <p:cNvSpPr>
                    <a:spLocks noChangeArrowheads="1"/>
                  </p:cNvSpPr>
                  <p:nvPr/>
                </p:nvSpPr>
                <p:spPr bwMode="auto">
                  <a:xfrm>
                    <a:off x="2014" y="2900"/>
                    <a:ext cx="158" cy="27"/>
                  </a:xfrm>
                  <a:prstGeom prst="parallelogram">
                    <a:avLst>
                      <a:gd name="adj" fmla="val 146269"/>
                    </a:avLst>
                  </a:prstGeom>
                  <a:solidFill>
                    <a:srgbClr val="F6BF69"/>
                  </a:solidFill>
                  <a:ln w="254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336" name="Group 72"/>
                <p:cNvGrpSpPr/>
                <p:nvPr/>
              </p:nvGrpSpPr>
              <p:grpSpPr bwMode="auto">
                <a:xfrm>
                  <a:off x="2253" y="2796"/>
                  <a:ext cx="378" cy="448"/>
                  <a:chOff x="2253" y="2796"/>
                  <a:chExt cx="378" cy="448"/>
                </a:xfrm>
              </p:grpSpPr>
              <p:grpSp>
                <p:nvGrpSpPr>
                  <p:cNvPr id="11337" name="Group 73"/>
                  <p:cNvGrpSpPr/>
                  <p:nvPr/>
                </p:nvGrpSpPr>
                <p:grpSpPr bwMode="auto">
                  <a:xfrm>
                    <a:off x="2253" y="2796"/>
                    <a:ext cx="378" cy="448"/>
                    <a:chOff x="2253" y="2796"/>
                    <a:chExt cx="378" cy="448"/>
                  </a:xfrm>
                </p:grpSpPr>
                <p:sp>
                  <p:nvSpPr>
                    <p:cNvPr id="11338" name="AutoShape 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53" y="2867"/>
                      <a:ext cx="378" cy="377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A2C1FE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39" name="AutoShape 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39" y="2796"/>
                      <a:ext cx="292" cy="78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A2C1FE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1340" name="Oval 76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832"/>
                    <a:ext cx="49" cy="2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41" name="AutoShape 77"/>
                  <p:cNvSpPr>
                    <a:spLocks noChangeArrowheads="1"/>
                  </p:cNvSpPr>
                  <p:nvPr/>
                </p:nvSpPr>
                <p:spPr bwMode="auto">
                  <a:xfrm>
                    <a:off x="2300" y="3042"/>
                    <a:ext cx="198" cy="84"/>
                  </a:xfrm>
                  <a:prstGeom prst="octagon">
                    <a:avLst>
                      <a:gd name="adj" fmla="val 29282"/>
                    </a:avLst>
                  </a:prstGeom>
                  <a:solidFill>
                    <a:srgbClr val="A2C1FE"/>
                  </a:solidFill>
                  <a:ln w="254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342" name="Freeform 78"/>
                <p:cNvSpPr/>
                <p:nvPr/>
              </p:nvSpPr>
              <p:spPr bwMode="auto">
                <a:xfrm>
                  <a:off x="2817" y="3025"/>
                  <a:ext cx="86" cy="192"/>
                </a:xfrm>
                <a:custGeom>
                  <a:avLst/>
                  <a:gdLst>
                    <a:gd name="T0" fmla="*/ 62 w 86"/>
                    <a:gd name="T1" fmla="*/ 0 h 192"/>
                    <a:gd name="T2" fmla="*/ 85 w 86"/>
                    <a:gd name="T3" fmla="*/ 0 h 192"/>
                    <a:gd name="T4" fmla="*/ 23 w 86"/>
                    <a:gd name="T5" fmla="*/ 191 h 192"/>
                    <a:gd name="T6" fmla="*/ 0 w 86"/>
                    <a:gd name="T7" fmla="*/ 191 h 192"/>
                    <a:gd name="T8" fmla="*/ 62 w 86"/>
                    <a:gd name="T9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" h="192">
                      <a:moveTo>
                        <a:pt x="62" y="0"/>
                      </a:moveTo>
                      <a:lnTo>
                        <a:pt x="85" y="0"/>
                      </a:lnTo>
                      <a:lnTo>
                        <a:pt x="23" y="191"/>
                      </a:lnTo>
                      <a:lnTo>
                        <a:pt x="0" y="191"/>
                      </a:lnTo>
                      <a:lnTo>
                        <a:pt x="62" y="0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43" name="Rectangle 79"/>
                <p:cNvSpPr>
                  <a:spLocks noChangeArrowheads="1"/>
                </p:cNvSpPr>
                <p:nvPr/>
              </p:nvSpPr>
              <p:spPr bwMode="auto">
                <a:xfrm>
                  <a:off x="2813" y="3025"/>
                  <a:ext cx="106" cy="16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44" name="Rectangle 80"/>
                <p:cNvSpPr>
                  <a:spLocks noChangeArrowheads="1"/>
                </p:cNvSpPr>
                <p:nvPr/>
              </p:nvSpPr>
              <p:spPr bwMode="auto">
                <a:xfrm>
                  <a:off x="2820" y="3106"/>
                  <a:ext cx="82" cy="16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45" name="Rectangle 81"/>
                <p:cNvSpPr>
                  <a:spLocks noChangeArrowheads="1"/>
                </p:cNvSpPr>
                <p:nvPr/>
              </p:nvSpPr>
              <p:spPr bwMode="auto">
                <a:xfrm>
                  <a:off x="2637" y="3106"/>
                  <a:ext cx="103" cy="11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346" name="Group 82"/>
                <p:cNvGrpSpPr/>
                <p:nvPr/>
              </p:nvGrpSpPr>
              <p:grpSpPr bwMode="auto">
                <a:xfrm>
                  <a:off x="2635" y="2853"/>
                  <a:ext cx="194" cy="364"/>
                  <a:chOff x="2635" y="2853"/>
                  <a:chExt cx="194" cy="364"/>
                </a:xfrm>
              </p:grpSpPr>
              <p:sp>
                <p:nvSpPr>
                  <p:cNvPr id="11347" name="Oval 83"/>
                  <p:cNvSpPr>
                    <a:spLocks noChangeArrowheads="1"/>
                  </p:cNvSpPr>
                  <p:nvPr/>
                </p:nvSpPr>
                <p:spPr bwMode="auto">
                  <a:xfrm>
                    <a:off x="2711" y="2853"/>
                    <a:ext cx="48" cy="48"/>
                  </a:xfrm>
                  <a:prstGeom prst="ellipse">
                    <a:avLst/>
                  </a:prstGeom>
                  <a:solidFill>
                    <a:srgbClr val="FC0128"/>
                  </a:solidFill>
                  <a:ln w="127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48" name="Freeform 84"/>
                  <p:cNvSpPr/>
                  <p:nvPr/>
                </p:nvSpPr>
                <p:spPr bwMode="auto">
                  <a:xfrm>
                    <a:off x="2635" y="2921"/>
                    <a:ext cx="194" cy="296"/>
                  </a:xfrm>
                  <a:custGeom>
                    <a:avLst/>
                    <a:gdLst>
                      <a:gd name="T0" fmla="*/ 2 w 194"/>
                      <a:gd name="T1" fmla="*/ 137 h 296"/>
                      <a:gd name="T2" fmla="*/ 1 w 194"/>
                      <a:gd name="T3" fmla="*/ 140 h 296"/>
                      <a:gd name="T4" fmla="*/ 0 w 194"/>
                      <a:gd name="T5" fmla="*/ 145 h 296"/>
                      <a:gd name="T6" fmla="*/ 0 w 194"/>
                      <a:gd name="T7" fmla="*/ 150 h 296"/>
                      <a:gd name="T8" fmla="*/ 2 w 194"/>
                      <a:gd name="T9" fmla="*/ 155 h 296"/>
                      <a:gd name="T10" fmla="*/ 4 w 194"/>
                      <a:gd name="T11" fmla="*/ 159 h 296"/>
                      <a:gd name="T12" fmla="*/ 8 w 194"/>
                      <a:gd name="T13" fmla="*/ 163 h 296"/>
                      <a:gd name="T14" fmla="*/ 12 w 194"/>
                      <a:gd name="T15" fmla="*/ 165 h 296"/>
                      <a:gd name="T16" fmla="*/ 16 w 194"/>
                      <a:gd name="T17" fmla="*/ 166 h 296"/>
                      <a:gd name="T18" fmla="*/ 21 w 194"/>
                      <a:gd name="T19" fmla="*/ 166 h 296"/>
                      <a:gd name="T20" fmla="*/ 126 w 194"/>
                      <a:gd name="T21" fmla="*/ 295 h 296"/>
                      <a:gd name="T22" fmla="*/ 159 w 194"/>
                      <a:gd name="T23" fmla="*/ 142 h 296"/>
                      <a:gd name="T24" fmla="*/ 159 w 194"/>
                      <a:gd name="T25" fmla="*/ 138 h 296"/>
                      <a:gd name="T26" fmla="*/ 157 w 194"/>
                      <a:gd name="T27" fmla="*/ 136 h 296"/>
                      <a:gd name="T28" fmla="*/ 154 w 194"/>
                      <a:gd name="T29" fmla="*/ 133 h 296"/>
                      <a:gd name="T30" fmla="*/ 152 w 194"/>
                      <a:gd name="T31" fmla="*/ 131 h 296"/>
                      <a:gd name="T32" fmla="*/ 148 w 194"/>
                      <a:gd name="T33" fmla="*/ 130 h 296"/>
                      <a:gd name="T34" fmla="*/ 144 w 194"/>
                      <a:gd name="T35" fmla="*/ 129 h 296"/>
                      <a:gd name="T36" fmla="*/ 140 w 194"/>
                      <a:gd name="T37" fmla="*/ 129 h 296"/>
                      <a:gd name="T38" fmla="*/ 137 w 194"/>
                      <a:gd name="T39" fmla="*/ 129 h 296"/>
                      <a:gd name="T40" fmla="*/ 93 w 194"/>
                      <a:gd name="T41" fmla="*/ 75 h 296"/>
                      <a:gd name="T42" fmla="*/ 179 w 194"/>
                      <a:gd name="T43" fmla="*/ 93 h 296"/>
                      <a:gd name="T44" fmla="*/ 183 w 194"/>
                      <a:gd name="T45" fmla="*/ 92 h 296"/>
                      <a:gd name="T46" fmla="*/ 185 w 194"/>
                      <a:gd name="T47" fmla="*/ 91 h 296"/>
                      <a:gd name="T48" fmla="*/ 189 w 194"/>
                      <a:gd name="T49" fmla="*/ 89 h 296"/>
                      <a:gd name="T50" fmla="*/ 191 w 194"/>
                      <a:gd name="T51" fmla="*/ 86 h 296"/>
                      <a:gd name="T52" fmla="*/ 192 w 194"/>
                      <a:gd name="T53" fmla="*/ 83 h 296"/>
                      <a:gd name="T54" fmla="*/ 193 w 194"/>
                      <a:gd name="T55" fmla="*/ 78 h 296"/>
                      <a:gd name="T56" fmla="*/ 192 w 194"/>
                      <a:gd name="T57" fmla="*/ 74 h 296"/>
                      <a:gd name="T58" fmla="*/ 190 w 194"/>
                      <a:gd name="T59" fmla="*/ 70 h 296"/>
                      <a:gd name="T60" fmla="*/ 188 w 194"/>
                      <a:gd name="T61" fmla="*/ 68 h 296"/>
                      <a:gd name="T62" fmla="*/ 184 w 194"/>
                      <a:gd name="T63" fmla="*/ 65 h 296"/>
                      <a:gd name="T64" fmla="*/ 181 w 194"/>
                      <a:gd name="T65" fmla="*/ 64 h 296"/>
                      <a:gd name="T66" fmla="*/ 122 w 194"/>
                      <a:gd name="T67" fmla="*/ 64 h 296"/>
                      <a:gd name="T68" fmla="*/ 112 w 194"/>
                      <a:gd name="T69" fmla="*/ 42 h 296"/>
                      <a:gd name="T70" fmla="*/ 113 w 194"/>
                      <a:gd name="T71" fmla="*/ 37 h 296"/>
                      <a:gd name="T72" fmla="*/ 114 w 194"/>
                      <a:gd name="T73" fmla="*/ 30 h 296"/>
                      <a:gd name="T74" fmla="*/ 114 w 194"/>
                      <a:gd name="T75" fmla="*/ 24 h 296"/>
                      <a:gd name="T76" fmla="*/ 112 w 194"/>
                      <a:gd name="T77" fmla="*/ 19 h 296"/>
                      <a:gd name="T78" fmla="*/ 110 w 194"/>
                      <a:gd name="T79" fmla="*/ 15 h 296"/>
                      <a:gd name="T80" fmla="*/ 107 w 194"/>
                      <a:gd name="T81" fmla="*/ 10 h 296"/>
                      <a:gd name="T82" fmla="*/ 103 w 194"/>
                      <a:gd name="T83" fmla="*/ 7 h 296"/>
                      <a:gd name="T84" fmla="*/ 98 w 194"/>
                      <a:gd name="T85" fmla="*/ 3 h 296"/>
                      <a:gd name="T86" fmla="*/ 93 w 194"/>
                      <a:gd name="T87" fmla="*/ 1 h 296"/>
                      <a:gd name="T88" fmla="*/ 87 w 194"/>
                      <a:gd name="T89" fmla="*/ 0 h 296"/>
                      <a:gd name="T90" fmla="*/ 81 w 194"/>
                      <a:gd name="T91" fmla="*/ 0 h 296"/>
                      <a:gd name="T92" fmla="*/ 75 w 194"/>
                      <a:gd name="T93" fmla="*/ 1 h 296"/>
                      <a:gd name="T94" fmla="*/ 69 w 194"/>
                      <a:gd name="T95" fmla="*/ 3 h 296"/>
                      <a:gd name="T96" fmla="*/ 63 w 194"/>
                      <a:gd name="T97" fmla="*/ 6 h 296"/>
                      <a:gd name="T98" fmla="*/ 59 w 194"/>
                      <a:gd name="T99" fmla="*/ 11 h 296"/>
                      <a:gd name="T100" fmla="*/ 55 w 194"/>
                      <a:gd name="T101" fmla="*/ 17 h 296"/>
                      <a:gd name="T102" fmla="*/ 53 w 194"/>
                      <a:gd name="T103" fmla="*/ 23 h 2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194" h="296">
                        <a:moveTo>
                          <a:pt x="53" y="23"/>
                        </a:moveTo>
                        <a:lnTo>
                          <a:pt x="2" y="137"/>
                        </a:lnTo>
                        <a:lnTo>
                          <a:pt x="1" y="138"/>
                        </a:lnTo>
                        <a:lnTo>
                          <a:pt x="1" y="140"/>
                        </a:lnTo>
                        <a:lnTo>
                          <a:pt x="0" y="142"/>
                        </a:lnTo>
                        <a:lnTo>
                          <a:pt x="0" y="145"/>
                        </a:lnTo>
                        <a:lnTo>
                          <a:pt x="0" y="147"/>
                        </a:lnTo>
                        <a:lnTo>
                          <a:pt x="0" y="150"/>
                        </a:lnTo>
                        <a:lnTo>
                          <a:pt x="1" y="152"/>
                        </a:lnTo>
                        <a:lnTo>
                          <a:pt x="2" y="155"/>
                        </a:lnTo>
                        <a:lnTo>
                          <a:pt x="3" y="157"/>
                        </a:lnTo>
                        <a:lnTo>
                          <a:pt x="4" y="159"/>
                        </a:lnTo>
                        <a:lnTo>
                          <a:pt x="6" y="161"/>
                        </a:lnTo>
                        <a:lnTo>
                          <a:pt x="8" y="163"/>
                        </a:lnTo>
                        <a:lnTo>
                          <a:pt x="10" y="164"/>
                        </a:lnTo>
                        <a:lnTo>
                          <a:pt x="12" y="165"/>
                        </a:lnTo>
                        <a:lnTo>
                          <a:pt x="14" y="165"/>
                        </a:lnTo>
                        <a:lnTo>
                          <a:pt x="16" y="166"/>
                        </a:lnTo>
                        <a:lnTo>
                          <a:pt x="18" y="166"/>
                        </a:lnTo>
                        <a:lnTo>
                          <a:pt x="21" y="166"/>
                        </a:lnTo>
                        <a:lnTo>
                          <a:pt x="126" y="166"/>
                        </a:lnTo>
                        <a:lnTo>
                          <a:pt x="126" y="295"/>
                        </a:lnTo>
                        <a:lnTo>
                          <a:pt x="159" y="295"/>
                        </a:lnTo>
                        <a:lnTo>
                          <a:pt x="159" y="142"/>
                        </a:lnTo>
                        <a:lnTo>
                          <a:pt x="159" y="140"/>
                        </a:lnTo>
                        <a:lnTo>
                          <a:pt x="159" y="138"/>
                        </a:lnTo>
                        <a:lnTo>
                          <a:pt x="158" y="137"/>
                        </a:lnTo>
                        <a:lnTo>
                          <a:pt x="157" y="136"/>
                        </a:lnTo>
                        <a:lnTo>
                          <a:pt x="156" y="135"/>
                        </a:lnTo>
                        <a:lnTo>
                          <a:pt x="154" y="133"/>
                        </a:lnTo>
                        <a:lnTo>
                          <a:pt x="153" y="132"/>
                        </a:lnTo>
                        <a:lnTo>
                          <a:pt x="152" y="131"/>
                        </a:lnTo>
                        <a:lnTo>
                          <a:pt x="150" y="131"/>
                        </a:lnTo>
                        <a:lnTo>
                          <a:pt x="148" y="130"/>
                        </a:lnTo>
                        <a:lnTo>
                          <a:pt x="146" y="130"/>
                        </a:lnTo>
                        <a:lnTo>
                          <a:pt x="144" y="129"/>
                        </a:lnTo>
                        <a:lnTo>
                          <a:pt x="142" y="129"/>
                        </a:lnTo>
                        <a:lnTo>
                          <a:pt x="140" y="129"/>
                        </a:lnTo>
                        <a:lnTo>
                          <a:pt x="139" y="129"/>
                        </a:lnTo>
                        <a:lnTo>
                          <a:pt x="137" y="129"/>
                        </a:lnTo>
                        <a:lnTo>
                          <a:pt x="76" y="125"/>
                        </a:lnTo>
                        <a:lnTo>
                          <a:pt x="93" y="75"/>
                        </a:lnTo>
                        <a:lnTo>
                          <a:pt x="105" y="93"/>
                        </a:lnTo>
                        <a:lnTo>
                          <a:pt x="179" y="93"/>
                        </a:lnTo>
                        <a:lnTo>
                          <a:pt x="181" y="92"/>
                        </a:lnTo>
                        <a:lnTo>
                          <a:pt x="183" y="92"/>
                        </a:lnTo>
                        <a:lnTo>
                          <a:pt x="184" y="91"/>
                        </a:lnTo>
                        <a:lnTo>
                          <a:pt x="185" y="91"/>
                        </a:lnTo>
                        <a:lnTo>
                          <a:pt x="187" y="90"/>
                        </a:lnTo>
                        <a:lnTo>
                          <a:pt x="189" y="89"/>
                        </a:lnTo>
                        <a:lnTo>
                          <a:pt x="190" y="87"/>
                        </a:lnTo>
                        <a:lnTo>
                          <a:pt x="191" y="86"/>
                        </a:lnTo>
                        <a:lnTo>
                          <a:pt x="192" y="84"/>
                        </a:lnTo>
                        <a:lnTo>
                          <a:pt x="192" y="83"/>
                        </a:lnTo>
                        <a:lnTo>
                          <a:pt x="193" y="81"/>
                        </a:lnTo>
                        <a:lnTo>
                          <a:pt x="193" y="78"/>
                        </a:lnTo>
                        <a:lnTo>
                          <a:pt x="193" y="76"/>
                        </a:lnTo>
                        <a:lnTo>
                          <a:pt x="192" y="74"/>
                        </a:lnTo>
                        <a:lnTo>
                          <a:pt x="191" y="72"/>
                        </a:lnTo>
                        <a:lnTo>
                          <a:pt x="190" y="70"/>
                        </a:lnTo>
                        <a:lnTo>
                          <a:pt x="189" y="69"/>
                        </a:lnTo>
                        <a:lnTo>
                          <a:pt x="188" y="68"/>
                        </a:lnTo>
                        <a:lnTo>
                          <a:pt x="186" y="66"/>
                        </a:lnTo>
                        <a:lnTo>
                          <a:pt x="184" y="65"/>
                        </a:lnTo>
                        <a:lnTo>
                          <a:pt x="184" y="64"/>
                        </a:lnTo>
                        <a:lnTo>
                          <a:pt x="181" y="64"/>
                        </a:lnTo>
                        <a:lnTo>
                          <a:pt x="179" y="64"/>
                        </a:lnTo>
                        <a:lnTo>
                          <a:pt x="122" y="64"/>
                        </a:lnTo>
                        <a:lnTo>
                          <a:pt x="110" y="44"/>
                        </a:lnTo>
                        <a:lnTo>
                          <a:pt x="112" y="42"/>
                        </a:lnTo>
                        <a:lnTo>
                          <a:pt x="113" y="39"/>
                        </a:lnTo>
                        <a:lnTo>
                          <a:pt x="113" y="37"/>
                        </a:lnTo>
                        <a:lnTo>
                          <a:pt x="114" y="34"/>
                        </a:lnTo>
                        <a:lnTo>
                          <a:pt x="114" y="30"/>
                        </a:lnTo>
                        <a:lnTo>
                          <a:pt x="114" y="28"/>
                        </a:lnTo>
                        <a:lnTo>
                          <a:pt x="114" y="24"/>
                        </a:lnTo>
                        <a:lnTo>
                          <a:pt x="113" y="22"/>
                        </a:lnTo>
                        <a:lnTo>
                          <a:pt x="112" y="19"/>
                        </a:lnTo>
                        <a:lnTo>
                          <a:pt x="111" y="17"/>
                        </a:lnTo>
                        <a:lnTo>
                          <a:pt x="110" y="15"/>
                        </a:lnTo>
                        <a:lnTo>
                          <a:pt x="109" y="13"/>
                        </a:lnTo>
                        <a:lnTo>
                          <a:pt x="107" y="10"/>
                        </a:lnTo>
                        <a:lnTo>
                          <a:pt x="105" y="9"/>
                        </a:lnTo>
                        <a:lnTo>
                          <a:pt x="103" y="7"/>
                        </a:lnTo>
                        <a:lnTo>
                          <a:pt x="101" y="5"/>
                        </a:lnTo>
                        <a:lnTo>
                          <a:pt x="98" y="3"/>
                        </a:lnTo>
                        <a:lnTo>
                          <a:pt x="96" y="3"/>
                        </a:lnTo>
                        <a:lnTo>
                          <a:pt x="93" y="1"/>
                        </a:lnTo>
                        <a:lnTo>
                          <a:pt x="90" y="1"/>
                        </a:lnTo>
                        <a:lnTo>
                          <a:pt x="87" y="0"/>
                        </a:lnTo>
                        <a:lnTo>
                          <a:pt x="84" y="0"/>
                        </a:lnTo>
                        <a:lnTo>
                          <a:pt x="81" y="0"/>
                        </a:lnTo>
                        <a:lnTo>
                          <a:pt x="78" y="0"/>
                        </a:lnTo>
                        <a:lnTo>
                          <a:pt x="75" y="1"/>
                        </a:lnTo>
                        <a:lnTo>
                          <a:pt x="72" y="2"/>
                        </a:lnTo>
                        <a:lnTo>
                          <a:pt x="69" y="3"/>
                        </a:lnTo>
                        <a:lnTo>
                          <a:pt x="66" y="4"/>
                        </a:lnTo>
                        <a:lnTo>
                          <a:pt x="63" y="6"/>
                        </a:lnTo>
                        <a:lnTo>
                          <a:pt x="61" y="9"/>
                        </a:lnTo>
                        <a:lnTo>
                          <a:pt x="59" y="11"/>
                        </a:lnTo>
                        <a:lnTo>
                          <a:pt x="57" y="13"/>
                        </a:lnTo>
                        <a:lnTo>
                          <a:pt x="55" y="17"/>
                        </a:lnTo>
                        <a:lnTo>
                          <a:pt x="53" y="19"/>
                        </a:lnTo>
                        <a:lnTo>
                          <a:pt x="53" y="23"/>
                        </a:lnTo>
                      </a:path>
                    </a:pathLst>
                  </a:custGeom>
                  <a:solidFill>
                    <a:srgbClr val="FC0128"/>
                  </a:solid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49" name="Group 85"/>
              <p:cNvGrpSpPr/>
              <p:nvPr/>
            </p:nvGrpSpPr>
            <p:grpSpPr bwMode="auto">
              <a:xfrm>
                <a:off x="2368" y="3244"/>
                <a:ext cx="967" cy="448"/>
                <a:chOff x="2368" y="3244"/>
                <a:chExt cx="967" cy="448"/>
              </a:xfrm>
            </p:grpSpPr>
            <p:grpSp>
              <p:nvGrpSpPr>
                <p:cNvPr id="11350" name="Group 86"/>
                <p:cNvGrpSpPr/>
                <p:nvPr/>
              </p:nvGrpSpPr>
              <p:grpSpPr bwMode="auto">
                <a:xfrm>
                  <a:off x="2368" y="3244"/>
                  <a:ext cx="305" cy="448"/>
                  <a:chOff x="2368" y="3244"/>
                  <a:chExt cx="305" cy="448"/>
                </a:xfrm>
              </p:grpSpPr>
              <p:grpSp>
                <p:nvGrpSpPr>
                  <p:cNvPr id="11351" name="Group 87"/>
                  <p:cNvGrpSpPr/>
                  <p:nvPr/>
                </p:nvGrpSpPr>
                <p:grpSpPr bwMode="auto">
                  <a:xfrm>
                    <a:off x="2368" y="3244"/>
                    <a:ext cx="305" cy="448"/>
                    <a:chOff x="2368" y="3244"/>
                    <a:chExt cx="305" cy="448"/>
                  </a:xfrm>
                </p:grpSpPr>
                <p:sp>
                  <p:nvSpPr>
                    <p:cNvPr id="11352" name="AutoShape 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68" y="3315"/>
                      <a:ext cx="305" cy="377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F6BF69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53" name="AutoShape 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38" y="3244"/>
                      <a:ext cx="235" cy="78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F6BF69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1354" name="AutoShape 90"/>
                  <p:cNvSpPr>
                    <a:spLocks noChangeArrowheads="1"/>
                  </p:cNvSpPr>
                  <p:nvPr/>
                </p:nvSpPr>
                <p:spPr bwMode="auto">
                  <a:xfrm>
                    <a:off x="2430" y="3348"/>
                    <a:ext cx="158" cy="27"/>
                  </a:xfrm>
                  <a:prstGeom prst="parallelogram">
                    <a:avLst>
                      <a:gd name="adj" fmla="val 146269"/>
                    </a:avLst>
                  </a:prstGeom>
                  <a:solidFill>
                    <a:srgbClr val="F6BF69"/>
                  </a:solidFill>
                  <a:ln w="254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355" name="Group 91"/>
                <p:cNvGrpSpPr/>
                <p:nvPr/>
              </p:nvGrpSpPr>
              <p:grpSpPr bwMode="auto">
                <a:xfrm>
                  <a:off x="2669" y="3244"/>
                  <a:ext cx="378" cy="448"/>
                  <a:chOff x="2669" y="3244"/>
                  <a:chExt cx="378" cy="448"/>
                </a:xfrm>
              </p:grpSpPr>
              <p:grpSp>
                <p:nvGrpSpPr>
                  <p:cNvPr id="11356" name="Group 92"/>
                  <p:cNvGrpSpPr/>
                  <p:nvPr/>
                </p:nvGrpSpPr>
                <p:grpSpPr bwMode="auto">
                  <a:xfrm>
                    <a:off x="2669" y="3244"/>
                    <a:ext cx="378" cy="448"/>
                    <a:chOff x="2669" y="3244"/>
                    <a:chExt cx="378" cy="448"/>
                  </a:xfrm>
                </p:grpSpPr>
                <p:sp>
                  <p:nvSpPr>
                    <p:cNvPr id="11357" name="AutoShape 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69" y="3315"/>
                      <a:ext cx="378" cy="377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A2C1FE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58" name="AutoShape 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55" y="3244"/>
                      <a:ext cx="292" cy="78"/>
                    </a:xfrm>
                    <a:prstGeom prst="cube">
                      <a:avLst>
                        <a:gd name="adj" fmla="val 24995"/>
                      </a:avLst>
                    </a:prstGeom>
                    <a:solidFill>
                      <a:srgbClr val="A2C1FE"/>
                    </a:solidFill>
                    <a:ln w="12700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1359" name="Oval 95"/>
                  <p:cNvSpPr>
                    <a:spLocks noChangeArrowheads="1"/>
                  </p:cNvSpPr>
                  <p:nvPr/>
                </p:nvSpPr>
                <p:spPr bwMode="auto">
                  <a:xfrm>
                    <a:off x="2784" y="3280"/>
                    <a:ext cx="49" cy="2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60" name="AutoShape 96"/>
                  <p:cNvSpPr>
                    <a:spLocks noChangeArrowheads="1"/>
                  </p:cNvSpPr>
                  <p:nvPr/>
                </p:nvSpPr>
                <p:spPr bwMode="auto">
                  <a:xfrm>
                    <a:off x="2716" y="3490"/>
                    <a:ext cx="198" cy="84"/>
                  </a:xfrm>
                  <a:prstGeom prst="octagon">
                    <a:avLst>
                      <a:gd name="adj" fmla="val 29282"/>
                    </a:avLst>
                  </a:prstGeom>
                  <a:solidFill>
                    <a:srgbClr val="A2C1FE"/>
                  </a:solidFill>
                  <a:ln w="2540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361" name="Freeform 97"/>
                <p:cNvSpPr/>
                <p:nvPr/>
              </p:nvSpPr>
              <p:spPr bwMode="auto">
                <a:xfrm>
                  <a:off x="3233" y="3473"/>
                  <a:ext cx="86" cy="192"/>
                </a:xfrm>
                <a:custGeom>
                  <a:avLst/>
                  <a:gdLst>
                    <a:gd name="T0" fmla="*/ 62 w 86"/>
                    <a:gd name="T1" fmla="*/ 0 h 192"/>
                    <a:gd name="T2" fmla="*/ 85 w 86"/>
                    <a:gd name="T3" fmla="*/ 0 h 192"/>
                    <a:gd name="T4" fmla="*/ 23 w 86"/>
                    <a:gd name="T5" fmla="*/ 191 h 192"/>
                    <a:gd name="T6" fmla="*/ 0 w 86"/>
                    <a:gd name="T7" fmla="*/ 191 h 192"/>
                    <a:gd name="T8" fmla="*/ 62 w 86"/>
                    <a:gd name="T9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" h="192">
                      <a:moveTo>
                        <a:pt x="62" y="0"/>
                      </a:moveTo>
                      <a:lnTo>
                        <a:pt x="85" y="0"/>
                      </a:lnTo>
                      <a:lnTo>
                        <a:pt x="23" y="191"/>
                      </a:lnTo>
                      <a:lnTo>
                        <a:pt x="0" y="191"/>
                      </a:lnTo>
                      <a:lnTo>
                        <a:pt x="62" y="0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62" name="Rectangle 98"/>
                <p:cNvSpPr>
                  <a:spLocks noChangeArrowheads="1"/>
                </p:cNvSpPr>
                <p:nvPr/>
              </p:nvSpPr>
              <p:spPr bwMode="auto">
                <a:xfrm>
                  <a:off x="3229" y="3473"/>
                  <a:ext cx="106" cy="16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63" name="Rectangle 99"/>
                <p:cNvSpPr>
                  <a:spLocks noChangeArrowheads="1"/>
                </p:cNvSpPr>
                <p:nvPr/>
              </p:nvSpPr>
              <p:spPr bwMode="auto">
                <a:xfrm>
                  <a:off x="3236" y="3554"/>
                  <a:ext cx="82" cy="16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64" name="Rectangle 100"/>
                <p:cNvSpPr>
                  <a:spLocks noChangeArrowheads="1"/>
                </p:cNvSpPr>
                <p:nvPr/>
              </p:nvSpPr>
              <p:spPr bwMode="auto">
                <a:xfrm>
                  <a:off x="3053" y="3554"/>
                  <a:ext cx="103" cy="11"/>
                </a:xfrm>
                <a:prstGeom prst="rect">
                  <a:avLst/>
                </a:prstGeom>
                <a:solidFill>
                  <a:srgbClr val="FC0128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365" name="Group 101"/>
                <p:cNvGrpSpPr/>
                <p:nvPr/>
              </p:nvGrpSpPr>
              <p:grpSpPr bwMode="auto">
                <a:xfrm>
                  <a:off x="3051" y="3301"/>
                  <a:ext cx="194" cy="364"/>
                  <a:chOff x="3051" y="3301"/>
                  <a:chExt cx="194" cy="364"/>
                </a:xfrm>
              </p:grpSpPr>
              <p:sp>
                <p:nvSpPr>
                  <p:cNvPr id="11366" name="Oval 102"/>
                  <p:cNvSpPr>
                    <a:spLocks noChangeArrowheads="1"/>
                  </p:cNvSpPr>
                  <p:nvPr/>
                </p:nvSpPr>
                <p:spPr bwMode="auto">
                  <a:xfrm>
                    <a:off x="3127" y="3301"/>
                    <a:ext cx="48" cy="48"/>
                  </a:xfrm>
                  <a:prstGeom prst="ellipse">
                    <a:avLst/>
                  </a:prstGeom>
                  <a:solidFill>
                    <a:srgbClr val="FC0128"/>
                  </a:solidFill>
                  <a:ln w="127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67" name="Freeform 103"/>
                  <p:cNvSpPr/>
                  <p:nvPr/>
                </p:nvSpPr>
                <p:spPr bwMode="auto">
                  <a:xfrm>
                    <a:off x="3051" y="3369"/>
                    <a:ext cx="194" cy="296"/>
                  </a:xfrm>
                  <a:custGeom>
                    <a:avLst/>
                    <a:gdLst>
                      <a:gd name="T0" fmla="*/ 2 w 194"/>
                      <a:gd name="T1" fmla="*/ 137 h 296"/>
                      <a:gd name="T2" fmla="*/ 1 w 194"/>
                      <a:gd name="T3" fmla="*/ 140 h 296"/>
                      <a:gd name="T4" fmla="*/ 0 w 194"/>
                      <a:gd name="T5" fmla="*/ 145 h 296"/>
                      <a:gd name="T6" fmla="*/ 0 w 194"/>
                      <a:gd name="T7" fmla="*/ 150 h 296"/>
                      <a:gd name="T8" fmla="*/ 2 w 194"/>
                      <a:gd name="T9" fmla="*/ 155 h 296"/>
                      <a:gd name="T10" fmla="*/ 4 w 194"/>
                      <a:gd name="T11" fmla="*/ 159 h 296"/>
                      <a:gd name="T12" fmla="*/ 8 w 194"/>
                      <a:gd name="T13" fmla="*/ 163 h 296"/>
                      <a:gd name="T14" fmla="*/ 12 w 194"/>
                      <a:gd name="T15" fmla="*/ 165 h 296"/>
                      <a:gd name="T16" fmla="*/ 16 w 194"/>
                      <a:gd name="T17" fmla="*/ 166 h 296"/>
                      <a:gd name="T18" fmla="*/ 21 w 194"/>
                      <a:gd name="T19" fmla="*/ 166 h 296"/>
                      <a:gd name="T20" fmla="*/ 126 w 194"/>
                      <a:gd name="T21" fmla="*/ 295 h 296"/>
                      <a:gd name="T22" fmla="*/ 159 w 194"/>
                      <a:gd name="T23" fmla="*/ 142 h 296"/>
                      <a:gd name="T24" fmla="*/ 159 w 194"/>
                      <a:gd name="T25" fmla="*/ 138 h 296"/>
                      <a:gd name="T26" fmla="*/ 157 w 194"/>
                      <a:gd name="T27" fmla="*/ 136 h 296"/>
                      <a:gd name="T28" fmla="*/ 154 w 194"/>
                      <a:gd name="T29" fmla="*/ 133 h 296"/>
                      <a:gd name="T30" fmla="*/ 152 w 194"/>
                      <a:gd name="T31" fmla="*/ 131 h 296"/>
                      <a:gd name="T32" fmla="*/ 148 w 194"/>
                      <a:gd name="T33" fmla="*/ 130 h 296"/>
                      <a:gd name="T34" fmla="*/ 144 w 194"/>
                      <a:gd name="T35" fmla="*/ 129 h 296"/>
                      <a:gd name="T36" fmla="*/ 140 w 194"/>
                      <a:gd name="T37" fmla="*/ 129 h 296"/>
                      <a:gd name="T38" fmla="*/ 137 w 194"/>
                      <a:gd name="T39" fmla="*/ 129 h 296"/>
                      <a:gd name="T40" fmla="*/ 93 w 194"/>
                      <a:gd name="T41" fmla="*/ 75 h 296"/>
                      <a:gd name="T42" fmla="*/ 179 w 194"/>
                      <a:gd name="T43" fmla="*/ 93 h 296"/>
                      <a:gd name="T44" fmla="*/ 183 w 194"/>
                      <a:gd name="T45" fmla="*/ 92 h 296"/>
                      <a:gd name="T46" fmla="*/ 185 w 194"/>
                      <a:gd name="T47" fmla="*/ 91 h 296"/>
                      <a:gd name="T48" fmla="*/ 189 w 194"/>
                      <a:gd name="T49" fmla="*/ 89 h 296"/>
                      <a:gd name="T50" fmla="*/ 191 w 194"/>
                      <a:gd name="T51" fmla="*/ 86 h 296"/>
                      <a:gd name="T52" fmla="*/ 192 w 194"/>
                      <a:gd name="T53" fmla="*/ 83 h 296"/>
                      <a:gd name="T54" fmla="*/ 193 w 194"/>
                      <a:gd name="T55" fmla="*/ 78 h 296"/>
                      <a:gd name="T56" fmla="*/ 192 w 194"/>
                      <a:gd name="T57" fmla="*/ 74 h 296"/>
                      <a:gd name="T58" fmla="*/ 190 w 194"/>
                      <a:gd name="T59" fmla="*/ 70 h 296"/>
                      <a:gd name="T60" fmla="*/ 188 w 194"/>
                      <a:gd name="T61" fmla="*/ 68 h 296"/>
                      <a:gd name="T62" fmla="*/ 184 w 194"/>
                      <a:gd name="T63" fmla="*/ 65 h 296"/>
                      <a:gd name="T64" fmla="*/ 181 w 194"/>
                      <a:gd name="T65" fmla="*/ 64 h 296"/>
                      <a:gd name="T66" fmla="*/ 122 w 194"/>
                      <a:gd name="T67" fmla="*/ 64 h 296"/>
                      <a:gd name="T68" fmla="*/ 112 w 194"/>
                      <a:gd name="T69" fmla="*/ 42 h 296"/>
                      <a:gd name="T70" fmla="*/ 113 w 194"/>
                      <a:gd name="T71" fmla="*/ 37 h 296"/>
                      <a:gd name="T72" fmla="*/ 114 w 194"/>
                      <a:gd name="T73" fmla="*/ 30 h 296"/>
                      <a:gd name="T74" fmla="*/ 114 w 194"/>
                      <a:gd name="T75" fmla="*/ 24 h 296"/>
                      <a:gd name="T76" fmla="*/ 112 w 194"/>
                      <a:gd name="T77" fmla="*/ 19 h 296"/>
                      <a:gd name="T78" fmla="*/ 110 w 194"/>
                      <a:gd name="T79" fmla="*/ 15 h 296"/>
                      <a:gd name="T80" fmla="*/ 107 w 194"/>
                      <a:gd name="T81" fmla="*/ 10 h 296"/>
                      <a:gd name="T82" fmla="*/ 103 w 194"/>
                      <a:gd name="T83" fmla="*/ 7 h 296"/>
                      <a:gd name="T84" fmla="*/ 98 w 194"/>
                      <a:gd name="T85" fmla="*/ 3 h 296"/>
                      <a:gd name="T86" fmla="*/ 93 w 194"/>
                      <a:gd name="T87" fmla="*/ 1 h 296"/>
                      <a:gd name="T88" fmla="*/ 87 w 194"/>
                      <a:gd name="T89" fmla="*/ 0 h 296"/>
                      <a:gd name="T90" fmla="*/ 81 w 194"/>
                      <a:gd name="T91" fmla="*/ 0 h 296"/>
                      <a:gd name="T92" fmla="*/ 75 w 194"/>
                      <a:gd name="T93" fmla="*/ 1 h 296"/>
                      <a:gd name="T94" fmla="*/ 69 w 194"/>
                      <a:gd name="T95" fmla="*/ 3 h 296"/>
                      <a:gd name="T96" fmla="*/ 63 w 194"/>
                      <a:gd name="T97" fmla="*/ 6 h 296"/>
                      <a:gd name="T98" fmla="*/ 59 w 194"/>
                      <a:gd name="T99" fmla="*/ 11 h 296"/>
                      <a:gd name="T100" fmla="*/ 55 w 194"/>
                      <a:gd name="T101" fmla="*/ 17 h 296"/>
                      <a:gd name="T102" fmla="*/ 53 w 194"/>
                      <a:gd name="T103" fmla="*/ 23 h 2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194" h="296">
                        <a:moveTo>
                          <a:pt x="53" y="23"/>
                        </a:moveTo>
                        <a:lnTo>
                          <a:pt x="2" y="137"/>
                        </a:lnTo>
                        <a:lnTo>
                          <a:pt x="1" y="138"/>
                        </a:lnTo>
                        <a:lnTo>
                          <a:pt x="1" y="140"/>
                        </a:lnTo>
                        <a:lnTo>
                          <a:pt x="0" y="142"/>
                        </a:lnTo>
                        <a:lnTo>
                          <a:pt x="0" y="145"/>
                        </a:lnTo>
                        <a:lnTo>
                          <a:pt x="0" y="147"/>
                        </a:lnTo>
                        <a:lnTo>
                          <a:pt x="0" y="150"/>
                        </a:lnTo>
                        <a:lnTo>
                          <a:pt x="1" y="152"/>
                        </a:lnTo>
                        <a:lnTo>
                          <a:pt x="2" y="155"/>
                        </a:lnTo>
                        <a:lnTo>
                          <a:pt x="3" y="157"/>
                        </a:lnTo>
                        <a:lnTo>
                          <a:pt x="4" y="159"/>
                        </a:lnTo>
                        <a:lnTo>
                          <a:pt x="6" y="161"/>
                        </a:lnTo>
                        <a:lnTo>
                          <a:pt x="8" y="163"/>
                        </a:lnTo>
                        <a:lnTo>
                          <a:pt x="10" y="164"/>
                        </a:lnTo>
                        <a:lnTo>
                          <a:pt x="12" y="165"/>
                        </a:lnTo>
                        <a:lnTo>
                          <a:pt x="14" y="165"/>
                        </a:lnTo>
                        <a:lnTo>
                          <a:pt x="16" y="166"/>
                        </a:lnTo>
                        <a:lnTo>
                          <a:pt x="18" y="166"/>
                        </a:lnTo>
                        <a:lnTo>
                          <a:pt x="21" y="166"/>
                        </a:lnTo>
                        <a:lnTo>
                          <a:pt x="126" y="166"/>
                        </a:lnTo>
                        <a:lnTo>
                          <a:pt x="126" y="295"/>
                        </a:lnTo>
                        <a:lnTo>
                          <a:pt x="159" y="295"/>
                        </a:lnTo>
                        <a:lnTo>
                          <a:pt x="159" y="142"/>
                        </a:lnTo>
                        <a:lnTo>
                          <a:pt x="159" y="140"/>
                        </a:lnTo>
                        <a:lnTo>
                          <a:pt x="159" y="138"/>
                        </a:lnTo>
                        <a:lnTo>
                          <a:pt x="158" y="137"/>
                        </a:lnTo>
                        <a:lnTo>
                          <a:pt x="157" y="136"/>
                        </a:lnTo>
                        <a:lnTo>
                          <a:pt x="156" y="135"/>
                        </a:lnTo>
                        <a:lnTo>
                          <a:pt x="154" y="133"/>
                        </a:lnTo>
                        <a:lnTo>
                          <a:pt x="153" y="132"/>
                        </a:lnTo>
                        <a:lnTo>
                          <a:pt x="152" y="131"/>
                        </a:lnTo>
                        <a:lnTo>
                          <a:pt x="150" y="131"/>
                        </a:lnTo>
                        <a:lnTo>
                          <a:pt x="148" y="130"/>
                        </a:lnTo>
                        <a:lnTo>
                          <a:pt x="146" y="130"/>
                        </a:lnTo>
                        <a:lnTo>
                          <a:pt x="144" y="129"/>
                        </a:lnTo>
                        <a:lnTo>
                          <a:pt x="142" y="129"/>
                        </a:lnTo>
                        <a:lnTo>
                          <a:pt x="140" y="129"/>
                        </a:lnTo>
                        <a:lnTo>
                          <a:pt x="139" y="129"/>
                        </a:lnTo>
                        <a:lnTo>
                          <a:pt x="137" y="129"/>
                        </a:lnTo>
                        <a:lnTo>
                          <a:pt x="76" y="125"/>
                        </a:lnTo>
                        <a:lnTo>
                          <a:pt x="93" y="75"/>
                        </a:lnTo>
                        <a:lnTo>
                          <a:pt x="105" y="93"/>
                        </a:lnTo>
                        <a:lnTo>
                          <a:pt x="179" y="93"/>
                        </a:lnTo>
                        <a:lnTo>
                          <a:pt x="181" y="92"/>
                        </a:lnTo>
                        <a:lnTo>
                          <a:pt x="183" y="92"/>
                        </a:lnTo>
                        <a:lnTo>
                          <a:pt x="184" y="91"/>
                        </a:lnTo>
                        <a:lnTo>
                          <a:pt x="185" y="91"/>
                        </a:lnTo>
                        <a:lnTo>
                          <a:pt x="187" y="90"/>
                        </a:lnTo>
                        <a:lnTo>
                          <a:pt x="189" y="89"/>
                        </a:lnTo>
                        <a:lnTo>
                          <a:pt x="190" y="87"/>
                        </a:lnTo>
                        <a:lnTo>
                          <a:pt x="191" y="86"/>
                        </a:lnTo>
                        <a:lnTo>
                          <a:pt x="192" y="84"/>
                        </a:lnTo>
                        <a:lnTo>
                          <a:pt x="192" y="83"/>
                        </a:lnTo>
                        <a:lnTo>
                          <a:pt x="193" y="81"/>
                        </a:lnTo>
                        <a:lnTo>
                          <a:pt x="193" y="78"/>
                        </a:lnTo>
                        <a:lnTo>
                          <a:pt x="193" y="76"/>
                        </a:lnTo>
                        <a:lnTo>
                          <a:pt x="192" y="74"/>
                        </a:lnTo>
                        <a:lnTo>
                          <a:pt x="191" y="72"/>
                        </a:lnTo>
                        <a:lnTo>
                          <a:pt x="190" y="70"/>
                        </a:lnTo>
                        <a:lnTo>
                          <a:pt x="189" y="69"/>
                        </a:lnTo>
                        <a:lnTo>
                          <a:pt x="188" y="68"/>
                        </a:lnTo>
                        <a:lnTo>
                          <a:pt x="186" y="66"/>
                        </a:lnTo>
                        <a:lnTo>
                          <a:pt x="184" y="65"/>
                        </a:lnTo>
                        <a:lnTo>
                          <a:pt x="184" y="64"/>
                        </a:lnTo>
                        <a:lnTo>
                          <a:pt x="181" y="64"/>
                        </a:lnTo>
                        <a:lnTo>
                          <a:pt x="179" y="64"/>
                        </a:lnTo>
                        <a:lnTo>
                          <a:pt x="122" y="64"/>
                        </a:lnTo>
                        <a:lnTo>
                          <a:pt x="110" y="44"/>
                        </a:lnTo>
                        <a:lnTo>
                          <a:pt x="112" y="42"/>
                        </a:lnTo>
                        <a:lnTo>
                          <a:pt x="113" y="39"/>
                        </a:lnTo>
                        <a:lnTo>
                          <a:pt x="113" y="37"/>
                        </a:lnTo>
                        <a:lnTo>
                          <a:pt x="114" y="34"/>
                        </a:lnTo>
                        <a:lnTo>
                          <a:pt x="114" y="30"/>
                        </a:lnTo>
                        <a:lnTo>
                          <a:pt x="114" y="28"/>
                        </a:lnTo>
                        <a:lnTo>
                          <a:pt x="114" y="24"/>
                        </a:lnTo>
                        <a:lnTo>
                          <a:pt x="113" y="22"/>
                        </a:lnTo>
                        <a:lnTo>
                          <a:pt x="112" y="19"/>
                        </a:lnTo>
                        <a:lnTo>
                          <a:pt x="111" y="17"/>
                        </a:lnTo>
                        <a:lnTo>
                          <a:pt x="110" y="15"/>
                        </a:lnTo>
                        <a:lnTo>
                          <a:pt x="109" y="13"/>
                        </a:lnTo>
                        <a:lnTo>
                          <a:pt x="107" y="10"/>
                        </a:lnTo>
                        <a:lnTo>
                          <a:pt x="105" y="9"/>
                        </a:lnTo>
                        <a:lnTo>
                          <a:pt x="103" y="7"/>
                        </a:lnTo>
                        <a:lnTo>
                          <a:pt x="101" y="5"/>
                        </a:lnTo>
                        <a:lnTo>
                          <a:pt x="98" y="3"/>
                        </a:lnTo>
                        <a:lnTo>
                          <a:pt x="96" y="3"/>
                        </a:lnTo>
                        <a:lnTo>
                          <a:pt x="93" y="1"/>
                        </a:lnTo>
                        <a:lnTo>
                          <a:pt x="90" y="1"/>
                        </a:lnTo>
                        <a:lnTo>
                          <a:pt x="87" y="0"/>
                        </a:lnTo>
                        <a:lnTo>
                          <a:pt x="84" y="0"/>
                        </a:lnTo>
                        <a:lnTo>
                          <a:pt x="81" y="0"/>
                        </a:lnTo>
                        <a:lnTo>
                          <a:pt x="78" y="0"/>
                        </a:lnTo>
                        <a:lnTo>
                          <a:pt x="75" y="1"/>
                        </a:lnTo>
                        <a:lnTo>
                          <a:pt x="72" y="2"/>
                        </a:lnTo>
                        <a:lnTo>
                          <a:pt x="69" y="3"/>
                        </a:lnTo>
                        <a:lnTo>
                          <a:pt x="66" y="4"/>
                        </a:lnTo>
                        <a:lnTo>
                          <a:pt x="63" y="6"/>
                        </a:lnTo>
                        <a:lnTo>
                          <a:pt x="61" y="9"/>
                        </a:lnTo>
                        <a:lnTo>
                          <a:pt x="59" y="11"/>
                        </a:lnTo>
                        <a:lnTo>
                          <a:pt x="57" y="13"/>
                        </a:lnTo>
                        <a:lnTo>
                          <a:pt x="55" y="17"/>
                        </a:lnTo>
                        <a:lnTo>
                          <a:pt x="53" y="19"/>
                        </a:lnTo>
                        <a:lnTo>
                          <a:pt x="53" y="23"/>
                        </a:lnTo>
                      </a:path>
                    </a:pathLst>
                  </a:custGeom>
                  <a:solidFill>
                    <a:srgbClr val="FC0128"/>
                  </a:solid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11368" name="Rectangle 104"/>
            <p:cNvSpPr>
              <a:spLocks noChangeArrowheads="1"/>
            </p:cNvSpPr>
            <p:nvPr/>
          </p:nvSpPr>
          <p:spPr bwMode="auto">
            <a:xfrm>
              <a:off x="266" y="1834"/>
              <a:ext cx="247" cy="20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/>
              <a:r>
                <a:rPr lang="en-US" altLang="zh-CN" sz="1350" i="1">
                  <a:latin typeface="Comic Sans MS" panose="030F0902030302020204" pitchFamily="66" charset="0"/>
                </a:rPr>
                <a:t>T</a:t>
              </a:r>
              <a:endParaRPr lang="en-US" altLang="zh-CN" sz="1350" i="1">
                <a:latin typeface="Comic Sans MS" panose="030F0902030302020204" pitchFamily="66" charset="0"/>
              </a:endParaRPr>
            </a:p>
            <a:p>
              <a:pPr algn="ctr"/>
              <a:r>
                <a:rPr lang="en-US" altLang="zh-CN" sz="1350" i="1">
                  <a:latin typeface="Comic Sans MS" panose="030F0902030302020204" pitchFamily="66" charset="0"/>
                </a:rPr>
                <a:t>a</a:t>
              </a:r>
              <a:endParaRPr lang="en-US" altLang="zh-CN" sz="1350" i="1">
                <a:latin typeface="Comic Sans MS" panose="030F0902030302020204" pitchFamily="66" charset="0"/>
              </a:endParaRPr>
            </a:p>
            <a:p>
              <a:pPr algn="ctr"/>
              <a:r>
                <a:rPr lang="en-US" altLang="zh-CN" sz="1350" i="1">
                  <a:latin typeface="Comic Sans MS" panose="030F0902030302020204" pitchFamily="66" charset="0"/>
                </a:rPr>
                <a:t>s</a:t>
              </a:r>
              <a:endParaRPr lang="en-US" altLang="zh-CN" sz="1350" i="1">
                <a:latin typeface="Comic Sans MS" panose="030F0902030302020204" pitchFamily="66" charset="0"/>
              </a:endParaRPr>
            </a:p>
            <a:p>
              <a:pPr algn="ctr"/>
              <a:r>
                <a:rPr lang="en-US" altLang="zh-CN" sz="1350" i="1">
                  <a:latin typeface="Comic Sans MS" panose="030F0902030302020204" pitchFamily="66" charset="0"/>
                </a:rPr>
                <a:t>k</a:t>
              </a:r>
              <a:endParaRPr lang="en-US" altLang="zh-CN" sz="1350" i="1">
                <a:latin typeface="Comic Sans MS" panose="030F0902030302020204" pitchFamily="66" charset="0"/>
              </a:endParaRPr>
            </a:p>
            <a:p>
              <a:pPr algn="ctr"/>
              <a:endParaRPr lang="en-US" altLang="zh-CN" sz="1350" i="1">
                <a:latin typeface="Comic Sans MS" panose="030F0902030302020204" pitchFamily="66" charset="0"/>
              </a:endParaRPr>
            </a:p>
            <a:p>
              <a:pPr algn="ctr"/>
              <a:r>
                <a:rPr lang="en-US" altLang="zh-CN" sz="1350" i="1">
                  <a:latin typeface="Comic Sans MS" panose="030F0902030302020204" pitchFamily="66" charset="0"/>
                </a:rPr>
                <a:t>O</a:t>
              </a:r>
              <a:endParaRPr lang="en-US" altLang="zh-CN" sz="1350" i="1">
                <a:latin typeface="Comic Sans MS" panose="030F0902030302020204" pitchFamily="66" charset="0"/>
              </a:endParaRPr>
            </a:p>
            <a:p>
              <a:pPr algn="ctr"/>
              <a:r>
                <a:rPr lang="en-US" altLang="zh-CN" sz="1350" i="1">
                  <a:latin typeface="Comic Sans MS" panose="030F0902030302020204" pitchFamily="66" charset="0"/>
                </a:rPr>
                <a:t>r</a:t>
              </a:r>
              <a:endParaRPr lang="en-US" altLang="zh-CN" sz="1350" i="1">
                <a:latin typeface="Comic Sans MS" panose="030F0902030302020204" pitchFamily="66" charset="0"/>
              </a:endParaRPr>
            </a:p>
            <a:p>
              <a:pPr algn="ctr"/>
              <a:r>
                <a:rPr lang="en-US" altLang="zh-CN" sz="1350" i="1">
                  <a:latin typeface="Comic Sans MS" panose="030F0902030302020204" pitchFamily="66" charset="0"/>
                </a:rPr>
                <a:t>d</a:t>
              </a:r>
              <a:endParaRPr lang="en-US" altLang="zh-CN" sz="1350" i="1">
                <a:latin typeface="Comic Sans MS" panose="030F0902030302020204" pitchFamily="66" charset="0"/>
              </a:endParaRPr>
            </a:p>
            <a:p>
              <a:pPr algn="ctr"/>
              <a:r>
                <a:rPr lang="en-US" altLang="zh-CN" sz="1350" i="1">
                  <a:latin typeface="Comic Sans MS" panose="030F0902030302020204" pitchFamily="66" charset="0"/>
                </a:rPr>
                <a:t>e</a:t>
              </a:r>
              <a:endParaRPr lang="en-US" altLang="zh-CN" sz="1350" i="1">
                <a:latin typeface="Comic Sans MS" panose="030F0902030302020204" pitchFamily="66" charset="0"/>
              </a:endParaRPr>
            </a:p>
            <a:p>
              <a:pPr algn="ctr"/>
              <a:r>
                <a:rPr lang="en-US" altLang="zh-CN" sz="1350" i="1">
                  <a:latin typeface="Comic Sans MS" panose="030F0902030302020204" pitchFamily="66" charset="0"/>
                </a:rPr>
                <a:t>r</a:t>
              </a:r>
              <a:endParaRPr lang="en-US" altLang="zh-CN" sz="1350" i="1">
                <a:latin typeface="Comic Sans MS" panose="030F0902030302020204" pitchFamily="66" charset="0"/>
              </a:endParaRPr>
            </a:p>
          </p:txBody>
        </p:sp>
        <p:sp>
          <p:nvSpPr>
            <p:cNvPr id="11369" name="Line 105"/>
            <p:cNvSpPr>
              <a:spLocks noChangeShapeType="1"/>
            </p:cNvSpPr>
            <p:nvPr/>
          </p:nvSpPr>
          <p:spPr bwMode="auto">
            <a:xfrm>
              <a:off x="580" y="1740"/>
              <a:ext cx="0" cy="1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" name="Rectangle 106"/>
            <p:cNvSpPr>
              <a:spLocks noChangeArrowheads="1"/>
            </p:cNvSpPr>
            <p:nvPr/>
          </p:nvSpPr>
          <p:spPr bwMode="auto">
            <a:xfrm>
              <a:off x="2778" y="1250"/>
              <a:ext cx="477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350" i="1">
                  <a:latin typeface="Comic Sans MS" panose="030F0902030302020204" pitchFamily="66" charset="0"/>
                </a:rPr>
                <a:t>Time</a:t>
              </a:r>
              <a:endParaRPr lang="en-US" altLang="zh-CN" sz="1350" i="1">
                <a:latin typeface="Comic Sans MS" panose="030F0902030302020204" pitchFamily="66" charset="0"/>
              </a:endParaRPr>
            </a:p>
          </p:txBody>
        </p:sp>
        <p:grpSp>
          <p:nvGrpSpPr>
            <p:cNvPr id="11371" name="Group 107"/>
            <p:cNvGrpSpPr/>
            <p:nvPr/>
          </p:nvGrpSpPr>
          <p:grpSpPr bwMode="auto">
            <a:xfrm>
              <a:off x="1088" y="1484"/>
              <a:ext cx="2295" cy="437"/>
              <a:chOff x="1088" y="1484"/>
              <a:chExt cx="2295" cy="437"/>
            </a:xfrm>
          </p:grpSpPr>
          <p:sp>
            <p:nvSpPr>
              <p:cNvPr id="11372" name="Rectangle 108"/>
              <p:cNvSpPr>
                <a:spLocks noChangeArrowheads="1"/>
              </p:cNvSpPr>
              <p:nvPr/>
            </p:nvSpPr>
            <p:spPr bwMode="auto">
              <a:xfrm>
                <a:off x="1088" y="1599"/>
                <a:ext cx="376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30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  <p:sp>
            <p:nvSpPr>
              <p:cNvPr id="11373" name="Line 109"/>
              <p:cNvSpPr>
                <a:spLocks noChangeShapeType="1"/>
              </p:cNvSpPr>
              <p:nvPr/>
            </p:nvSpPr>
            <p:spPr bwMode="auto">
              <a:xfrm>
                <a:off x="1124" y="1560"/>
                <a:ext cx="288" cy="0"/>
              </a:xfrm>
              <a:prstGeom prst="line">
                <a:avLst/>
              </a:prstGeom>
              <a:noFill/>
              <a:ln w="50800">
                <a:solidFill>
                  <a:srgbClr val="F6BF69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74" name="Line 110"/>
              <p:cNvSpPr>
                <a:spLocks noChangeShapeType="1"/>
              </p:cNvSpPr>
              <p:nvPr/>
            </p:nvSpPr>
            <p:spPr bwMode="auto">
              <a:xfrm>
                <a:off x="1444" y="14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375" name="Group 111"/>
              <p:cNvGrpSpPr/>
              <p:nvPr/>
            </p:nvGrpSpPr>
            <p:grpSpPr bwMode="auto">
              <a:xfrm>
                <a:off x="1455" y="1484"/>
                <a:ext cx="389" cy="437"/>
                <a:chOff x="1455" y="1484"/>
                <a:chExt cx="389" cy="437"/>
              </a:xfrm>
            </p:grpSpPr>
            <p:sp>
              <p:nvSpPr>
                <p:cNvPr id="11376" name="Line 112"/>
                <p:cNvSpPr>
                  <a:spLocks noChangeShapeType="1"/>
                </p:cNvSpPr>
                <p:nvPr/>
              </p:nvSpPr>
              <p:spPr bwMode="auto">
                <a:xfrm>
                  <a:off x="1460" y="1592"/>
                  <a:ext cx="360" cy="0"/>
                </a:xfrm>
                <a:prstGeom prst="line">
                  <a:avLst/>
                </a:prstGeom>
                <a:noFill/>
                <a:ln w="50800">
                  <a:solidFill>
                    <a:srgbClr val="A2C1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77" name="Rectangle 113"/>
                <p:cNvSpPr>
                  <a:spLocks noChangeArrowheads="1"/>
                </p:cNvSpPr>
                <p:nvPr/>
              </p:nvSpPr>
              <p:spPr bwMode="auto">
                <a:xfrm>
                  <a:off x="1455" y="1599"/>
                  <a:ext cx="376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pPr algn="ctr"/>
                  <a:r>
                    <a:rPr lang="en-US" altLang="zh-CN">
                      <a:latin typeface="Comic Sans MS" panose="030F0902030302020204" pitchFamily="66" charset="0"/>
                    </a:rPr>
                    <a:t>40</a:t>
                  </a:r>
                  <a:endParaRPr lang="en-US" altLang="zh-CN">
                    <a:latin typeface="Comic Sans MS" panose="030F0902030302020204" pitchFamily="66" charset="0"/>
                  </a:endParaRPr>
                </a:p>
              </p:txBody>
            </p:sp>
            <p:sp>
              <p:nvSpPr>
                <p:cNvPr id="11378" name="Line 114"/>
                <p:cNvSpPr>
                  <a:spLocks noChangeShapeType="1"/>
                </p:cNvSpPr>
                <p:nvPr/>
              </p:nvSpPr>
              <p:spPr bwMode="auto">
                <a:xfrm>
                  <a:off x="1844" y="1484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79" name="Group 115"/>
              <p:cNvGrpSpPr/>
              <p:nvPr/>
            </p:nvGrpSpPr>
            <p:grpSpPr bwMode="auto">
              <a:xfrm>
                <a:off x="1863" y="1484"/>
                <a:ext cx="389" cy="437"/>
                <a:chOff x="1863" y="1484"/>
                <a:chExt cx="389" cy="437"/>
              </a:xfrm>
            </p:grpSpPr>
            <p:sp>
              <p:nvSpPr>
                <p:cNvPr id="11380" name="Line 116"/>
                <p:cNvSpPr>
                  <a:spLocks noChangeShapeType="1"/>
                </p:cNvSpPr>
                <p:nvPr/>
              </p:nvSpPr>
              <p:spPr bwMode="auto">
                <a:xfrm>
                  <a:off x="1868" y="1592"/>
                  <a:ext cx="360" cy="0"/>
                </a:xfrm>
                <a:prstGeom prst="line">
                  <a:avLst/>
                </a:prstGeom>
                <a:noFill/>
                <a:ln w="50800">
                  <a:solidFill>
                    <a:srgbClr val="A2C1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81" name="Rectangle 117"/>
                <p:cNvSpPr>
                  <a:spLocks noChangeArrowheads="1"/>
                </p:cNvSpPr>
                <p:nvPr/>
              </p:nvSpPr>
              <p:spPr bwMode="auto">
                <a:xfrm>
                  <a:off x="1863" y="1599"/>
                  <a:ext cx="376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pPr algn="ctr"/>
                  <a:r>
                    <a:rPr lang="en-US" altLang="zh-CN">
                      <a:latin typeface="Comic Sans MS" panose="030F0902030302020204" pitchFamily="66" charset="0"/>
                    </a:rPr>
                    <a:t>40</a:t>
                  </a:r>
                  <a:endParaRPr lang="en-US" altLang="zh-CN">
                    <a:latin typeface="Comic Sans MS" panose="030F0902030302020204" pitchFamily="66" charset="0"/>
                  </a:endParaRPr>
                </a:p>
              </p:txBody>
            </p:sp>
            <p:sp>
              <p:nvSpPr>
                <p:cNvPr id="11382" name="Line 118"/>
                <p:cNvSpPr>
                  <a:spLocks noChangeShapeType="1"/>
                </p:cNvSpPr>
                <p:nvPr/>
              </p:nvSpPr>
              <p:spPr bwMode="auto">
                <a:xfrm>
                  <a:off x="2252" y="1484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83" name="Group 119"/>
              <p:cNvGrpSpPr/>
              <p:nvPr/>
            </p:nvGrpSpPr>
            <p:grpSpPr bwMode="auto">
              <a:xfrm>
                <a:off x="2272" y="1484"/>
                <a:ext cx="388" cy="437"/>
                <a:chOff x="2272" y="1484"/>
                <a:chExt cx="388" cy="437"/>
              </a:xfrm>
            </p:grpSpPr>
            <p:sp>
              <p:nvSpPr>
                <p:cNvPr id="11384" name="Line 120"/>
                <p:cNvSpPr>
                  <a:spLocks noChangeShapeType="1"/>
                </p:cNvSpPr>
                <p:nvPr/>
              </p:nvSpPr>
              <p:spPr bwMode="auto">
                <a:xfrm>
                  <a:off x="2276" y="1592"/>
                  <a:ext cx="360" cy="0"/>
                </a:xfrm>
                <a:prstGeom prst="line">
                  <a:avLst/>
                </a:prstGeom>
                <a:noFill/>
                <a:ln w="50800">
                  <a:solidFill>
                    <a:srgbClr val="A2C1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85" name="Rectangle 121"/>
                <p:cNvSpPr>
                  <a:spLocks noChangeArrowheads="1"/>
                </p:cNvSpPr>
                <p:nvPr/>
              </p:nvSpPr>
              <p:spPr bwMode="auto">
                <a:xfrm>
                  <a:off x="2272" y="1599"/>
                  <a:ext cx="376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pPr algn="ctr"/>
                  <a:r>
                    <a:rPr lang="en-US" altLang="zh-CN">
                      <a:latin typeface="Comic Sans MS" panose="030F0902030302020204" pitchFamily="66" charset="0"/>
                    </a:rPr>
                    <a:t>40</a:t>
                  </a:r>
                  <a:endParaRPr lang="en-US" altLang="zh-CN">
                    <a:latin typeface="Comic Sans MS" panose="030F0902030302020204" pitchFamily="66" charset="0"/>
                  </a:endParaRPr>
                </a:p>
              </p:txBody>
            </p:sp>
            <p:sp>
              <p:nvSpPr>
                <p:cNvPr id="11386" name="Line 122"/>
                <p:cNvSpPr>
                  <a:spLocks noChangeShapeType="1"/>
                </p:cNvSpPr>
                <p:nvPr/>
              </p:nvSpPr>
              <p:spPr bwMode="auto">
                <a:xfrm>
                  <a:off x="2660" y="1484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387" name="Line 123"/>
              <p:cNvSpPr>
                <a:spLocks noChangeShapeType="1"/>
              </p:cNvSpPr>
              <p:nvPr/>
            </p:nvSpPr>
            <p:spPr bwMode="auto">
              <a:xfrm>
                <a:off x="2684" y="1592"/>
                <a:ext cx="360" cy="0"/>
              </a:xfrm>
              <a:prstGeom prst="line">
                <a:avLst/>
              </a:prstGeom>
              <a:noFill/>
              <a:ln w="50800">
                <a:solidFill>
                  <a:srgbClr val="A2C1FE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8" name="Line 124"/>
              <p:cNvSpPr>
                <a:spLocks noChangeShapeType="1"/>
              </p:cNvSpPr>
              <p:nvPr/>
            </p:nvSpPr>
            <p:spPr bwMode="auto">
              <a:xfrm>
                <a:off x="3084" y="1624"/>
                <a:ext cx="216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9" name="Rectangle 125"/>
              <p:cNvSpPr>
                <a:spLocks noChangeArrowheads="1"/>
              </p:cNvSpPr>
              <p:nvPr/>
            </p:nvSpPr>
            <p:spPr bwMode="auto">
              <a:xfrm>
                <a:off x="2681" y="1599"/>
                <a:ext cx="376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40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  <p:sp>
            <p:nvSpPr>
              <p:cNvPr id="11390" name="Rectangle 126"/>
              <p:cNvSpPr>
                <a:spLocks noChangeArrowheads="1"/>
              </p:cNvSpPr>
              <p:nvPr/>
            </p:nvSpPr>
            <p:spPr bwMode="auto">
              <a:xfrm>
                <a:off x="3007" y="1599"/>
                <a:ext cx="376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902030302020204" pitchFamily="66" charset="0"/>
                  </a:rPr>
                  <a:t>20</a:t>
                </a:r>
                <a:endParaRPr lang="en-US" altLang="zh-CN">
                  <a:latin typeface="Comic Sans MS" panose="030F0902030302020204" pitchFamily="66" charset="0"/>
                </a:endParaRPr>
              </a:p>
            </p:txBody>
          </p:sp>
          <p:sp>
            <p:nvSpPr>
              <p:cNvPr id="11391" name="Line 127"/>
              <p:cNvSpPr>
                <a:spLocks noChangeShapeType="1"/>
              </p:cNvSpPr>
              <p:nvPr/>
            </p:nvSpPr>
            <p:spPr bwMode="auto">
              <a:xfrm>
                <a:off x="3068" y="14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92" name="Line 128"/>
              <p:cNvSpPr>
                <a:spLocks noChangeShapeType="1"/>
              </p:cNvSpPr>
              <p:nvPr/>
            </p:nvSpPr>
            <p:spPr bwMode="auto">
              <a:xfrm>
                <a:off x="3324" y="14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93" name="Line 129"/>
              <p:cNvSpPr>
                <a:spLocks noChangeShapeType="1"/>
              </p:cNvSpPr>
              <p:nvPr/>
            </p:nvSpPr>
            <p:spPr bwMode="auto">
              <a:xfrm>
                <a:off x="1532" y="1560"/>
                <a:ext cx="288" cy="0"/>
              </a:xfrm>
              <a:prstGeom prst="line">
                <a:avLst/>
              </a:prstGeom>
              <a:noFill/>
              <a:ln w="50800">
                <a:solidFill>
                  <a:srgbClr val="F6BF69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94" name="Line 130"/>
              <p:cNvSpPr>
                <a:spLocks noChangeShapeType="1"/>
              </p:cNvSpPr>
              <p:nvPr/>
            </p:nvSpPr>
            <p:spPr bwMode="auto">
              <a:xfrm>
                <a:off x="1940" y="1560"/>
                <a:ext cx="288" cy="0"/>
              </a:xfrm>
              <a:prstGeom prst="line">
                <a:avLst/>
              </a:prstGeom>
              <a:noFill/>
              <a:ln w="50800">
                <a:solidFill>
                  <a:srgbClr val="F6BF69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95" name="Line 131"/>
              <p:cNvSpPr>
                <a:spLocks noChangeShapeType="1"/>
              </p:cNvSpPr>
              <p:nvPr/>
            </p:nvSpPr>
            <p:spPr bwMode="auto">
              <a:xfrm>
                <a:off x="2348" y="1560"/>
                <a:ext cx="288" cy="0"/>
              </a:xfrm>
              <a:prstGeom prst="line">
                <a:avLst/>
              </a:prstGeom>
              <a:noFill/>
              <a:ln w="50800">
                <a:solidFill>
                  <a:srgbClr val="F6BF69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96" name="Line 132"/>
              <p:cNvSpPr>
                <a:spLocks noChangeShapeType="1"/>
              </p:cNvSpPr>
              <p:nvPr/>
            </p:nvSpPr>
            <p:spPr bwMode="auto">
              <a:xfrm>
                <a:off x="1868" y="1624"/>
                <a:ext cx="216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97" name="Line 133"/>
              <p:cNvSpPr>
                <a:spLocks noChangeShapeType="1"/>
              </p:cNvSpPr>
              <p:nvPr/>
            </p:nvSpPr>
            <p:spPr bwMode="auto">
              <a:xfrm>
                <a:off x="2276" y="1624"/>
                <a:ext cx="216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98" name="Line 134"/>
              <p:cNvSpPr>
                <a:spLocks noChangeShapeType="1"/>
              </p:cNvSpPr>
              <p:nvPr/>
            </p:nvSpPr>
            <p:spPr bwMode="auto">
              <a:xfrm>
                <a:off x="2684" y="1624"/>
                <a:ext cx="216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2" name="Rectangle 12"/>
          <p:cNvSpPr>
            <a:spLocks noGrp="1" noChangeArrowheads="1"/>
          </p:cNvSpPr>
          <p:nvPr>
            <p:ph sz="half" idx="1"/>
          </p:nvPr>
        </p:nvSpPr>
        <p:spPr>
          <a:xfrm>
            <a:off x="4629150" y="1971700"/>
            <a:ext cx="3143250" cy="2286000"/>
          </a:xfrm>
        </p:spPr>
        <p:txBody>
          <a:bodyPr/>
          <a:lstStyle/>
          <a:p>
            <a:r>
              <a:rPr lang="en-US" altLang="zh-CN" dirty="0">
                <a:solidFill>
                  <a:srgbClr val="FD0128"/>
                </a:solidFill>
                <a:latin typeface="Comic Sans MS" panose="030F0902030302020204" pitchFamily="66" charset="0"/>
              </a:rPr>
              <a:t>Latches, called pipeline registers’ break up computation into 5 stages</a:t>
            </a:r>
            <a:endParaRPr lang="en-US" altLang="zh-CN" dirty="0">
              <a:latin typeface="Comic Sans MS" panose="030F0902030302020204" pitchFamily="66" charset="0"/>
            </a:endParaRPr>
          </a:p>
          <a:p>
            <a:r>
              <a:rPr lang="en-US" altLang="zh-CN" dirty="0">
                <a:latin typeface="Comic Sans MS" panose="030F0902030302020204" pitchFamily="66" charset="0"/>
              </a:rPr>
              <a:t>Deal 5 tasks at the same time.</a:t>
            </a:r>
            <a:endParaRPr lang="en-US" altLang="zh-CN" dirty="0">
              <a:latin typeface="Comic Sans MS" panose="030F0902030302020204" pitchFamily="66" charset="0"/>
            </a:endParaRPr>
          </a:p>
        </p:txBody>
      </p:sp>
      <p:sp>
        <p:nvSpPr>
          <p:cNvPr id="30733" name="Rectangle 13"/>
          <p:cNvSpPr>
            <a:spLocks noGrp="1" noChangeArrowheads="1"/>
          </p:cNvSpPr>
          <p:nvPr>
            <p:ph sz="half" idx="2"/>
          </p:nvPr>
        </p:nvSpPr>
        <p:spPr>
          <a:xfrm>
            <a:off x="1314450" y="2200300"/>
            <a:ext cx="3143250" cy="2343150"/>
          </a:xfrm>
        </p:spPr>
        <p:txBody>
          <a:bodyPr/>
          <a:lstStyle/>
          <a:p>
            <a:r>
              <a:rPr lang="en-US" altLang="zh-CN" dirty="0">
                <a:latin typeface="Comic Sans MS" panose="030F0902030302020204" pitchFamily="66" charset="0"/>
              </a:rPr>
              <a:t>Only deal one task each time.</a:t>
            </a:r>
            <a:endParaRPr lang="en-US" altLang="zh-CN" dirty="0">
              <a:latin typeface="Comic Sans MS" panose="030F0902030302020204" pitchFamily="66" charset="0"/>
            </a:endParaRPr>
          </a:p>
          <a:p>
            <a:r>
              <a:rPr lang="en-US" altLang="zh-CN" dirty="0">
                <a:latin typeface="Comic Sans MS" panose="030F0902030302020204" pitchFamily="66" charset="0"/>
              </a:rPr>
              <a:t>This  task takes </a:t>
            </a:r>
            <a:endParaRPr lang="en-US" altLang="zh-CN" dirty="0">
              <a:latin typeface="Comic Sans MS" panose="030F0902030302020204" pitchFamily="66" charset="0"/>
            </a:endParaRPr>
          </a:p>
          <a:p>
            <a:pPr>
              <a:buFontTx/>
              <a:buNone/>
            </a:pPr>
            <a:r>
              <a:rPr lang="en-US" altLang="zh-CN" dirty="0">
                <a:latin typeface="Comic Sans MS" panose="030F0902030302020204" pitchFamily="66" charset="0"/>
              </a:rPr>
              <a:t>   “ such a long time”</a:t>
            </a:r>
            <a:endParaRPr lang="en-US" altLang="zh-CN" dirty="0">
              <a:latin typeface="Comic Sans MS" panose="030F0902030302020204" pitchFamily="66" charset="0"/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0D836-DF4A-46AA-8B72-C3781B309D82}" type="slidenum">
              <a:rPr lang="en-US" altLang="zh-CN"/>
            </a:fld>
            <a:endParaRPr lang="en-US" altLang="zh-CN"/>
          </a:p>
        </p:txBody>
      </p:sp>
      <p:sp>
        <p:nvSpPr>
          <p:cNvPr id="30731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Why pipelining :  overlapped</a:t>
            </a:r>
            <a:endParaRPr lang="en-US" altLang="zh-CN"/>
          </a:p>
        </p:txBody>
      </p:sp>
      <p:pic>
        <p:nvPicPr>
          <p:cNvPr id="3072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43558"/>
            <a:ext cx="2628900" cy="12001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729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771550"/>
            <a:ext cx="2686050" cy="1143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314450" y="2086000"/>
            <a:ext cx="3257550" cy="2114550"/>
          </a:xfrm>
        </p:spPr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Comic Sans MS" panose="030F0902030302020204" pitchFamily="66" charset="0"/>
              </a:rPr>
              <a:t>Can “launch” a new computation every </a:t>
            </a:r>
            <a:r>
              <a:rPr lang="en-US" altLang="zh-CN">
                <a:solidFill>
                  <a:srgbClr val="FD0128"/>
                </a:solidFill>
                <a:latin typeface="Comic Sans MS" panose="030F0902030302020204" pitchFamily="66" charset="0"/>
              </a:rPr>
              <a:t>100ns </a:t>
            </a:r>
            <a:r>
              <a:rPr lang="en-US" altLang="zh-CN">
                <a:solidFill>
                  <a:srgbClr val="000000"/>
                </a:solidFill>
                <a:latin typeface="Comic Sans MS" panose="030F0902030302020204" pitchFamily="66" charset="0"/>
              </a:rPr>
              <a:t>in this structure</a:t>
            </a:r>
            <a:endParaRPr lang="en-US" altLang="zh-CN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r>
              <a:rPr lang="en-US" altLang="zh-CN">
                <a:latin typeface="Comic Sans MS" panose="030F0902030302020204" pitchFamily="66" charset="0"/>
              </a:rPr>
              <a:t>Can finish 10</a:t>
            </a:r>
            <a:r>
              <a:rPr lang="en-US" altLang="zh-CN" baseline="30000">
                <a:latin typeface="Comic Sans MS" panose="030F0902030302020204" pitchFamily="66" charset="0"/>
              </a:rPr>
              <a:t>7</a:t>
            </a:r>
            <a:r>
              <a:rPr lang="en-US" altLang="zh-CN">
                <a:latin typeface="Comic Sans MS" panose="030F0902030302020204" pitchFamily="66" charset="0"/>
              </a:rPr>
              <a:t> computations  per second</a:t>
            </a:r>
            <a:endParaRPr lang="en-US" altLang="zh-CN">
              <a:latin typeface="Comic Sans MS" panose="030F0902030302020204" pitchFamily="66" charset="0"/>
            </a:endParaRPr>
          </a:p>
        </p:txBody>
      </p:sp>
      <p:sp>
        <p:nvSpPr>
          <p:cNvPr id="33796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686300" y="2028850"/>
            <a:ext cx="3143250" cy="2343150"/>
          </a:xfrm>
        </p:spPr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Comic Sans MS" panose="030F0902030302020204" pitchFamily="66" charset="0"/>
              </a:rPr>
              <a:t>Can launch a new computation every </a:t>
            </a:r>
            <a:r>
              <a:rPr lang="en-US" altLang="zh-CN">
                <a:solidFill>
                  <a:srgbClr val="FD0128"/>
                </a:solidFill>
                <a:latin typeface="Comic Sans MS" panose="030F0902030302020204" pitchFamily="66" charset="0"/>
              </a:rPr>
              <a:t>20ns </a:t>
            </a:r>
            <a:r>
              <a:rPr lang="en-US" altLang="zh-CN">
                <a:solidFill>
                  <a:srgbClr val="000000"/>
                </a:solidFill>
                <a:latin typeface="Comic Sans MS" panose="030F0902030302020204" pitchFamily="66" charset="0"/>
              </a:rPr>
              <a:t>in pipelined structure</a:t>
            </a:r>
            <a:endParaRPr lang="en-US" altLang="zh-CN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Comic Sans MS" panose="030F0902030302020204" pitchFamily="66" charset="0"/>
              </a:rPr>
              <a:t>Can finish 5×10</a:t>
            </a:r>
            <a:r>
              <a:rPr lang="en-US" altLang="zh-CN" baseline="30000">
                <a:solidFill>
                  <a:srgbClr val="000000"/>
                </a:solidFill>
                <a:latin typeface="Comic Sans MS" panose="030F0902030302020204" pitchFamily="66" charset="0"/>
              </a:rPr>
              <a:t>7</a:t>
            </a:r>
            <a:r>
              <a:rPr lang="en-US" altLang="zh-CN">
                <a:solidFill>
                  <a:srgbClr val="000000"/>
                </a:solidFill>
                <a:latin typeface="Comic Sans MS" panose="030F0902030302020204" pitchFamily="66" charset="0"/>
              </a:rPr>
              <a:t> computations per second</a:t>
            </a:r>
            <a:endParaRPr lang="en-US" altLang="zh-CN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9D79-F652-4462-852E-7663C01DAAA9}" type="slidenum">
              <a:rPr lang="en-US" altLang="zh-CN"/>
            </a:fld>
            <a:endParaRPr lang="en-US" altLang="zh-CN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Why pipelining: more faster</a:t>
            </a:r>
            <a:endParaRPr lang="en-US" altLang="zh-CN"/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28700"/>
            <a:ext cx="2628900" cy="12001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771550"/>
            <a:ext cx="2686050" cy="1143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987574"/>
            <a:ext cx="7820742" cy="3086100"/>
          </a:xfrm>
        </p:spPr>
        <p:txBody>
          <a:bodyPr/>
          <a:lstStyle/>
          <a:p>
            <a:r>
              <a:rPr lang="en-US" altLang="zh-CN" sz="2100" dirty="0"/>
              <a:t>The key implementation technique used to Make </a:t>
            </a:r>
            <a:r>
              <a:rPr lang="en-US" altLang="zh-CN" sz="2100" dirty="0">
                <a:solidFill>
                  <a:srgbClr val="FF3300"/>
                </a:solidFill>
              </a:rPr>
              <a:t>fast</a:t>
            </a:r>
            <a:r>
              <a:rPr lang="en-US" altLang="zh-CN" sz="2100" dirty="0"/>
              <a:t> CPU:  </a:t>
            </a:r>
            <a:r>
              <a:rPr lang="en-US" altLang="zh-CN" sz="2100" dirty="0">
                <a:solidFill>
                  <a:srgbClr val="FF3300"/>
                </a:solidFill>
              </a:rPr>
              <a:t>decrease </a:t>
            </a:r>
            <a:r>
              <a:rPr lang="en-US" altLang="zh-CN" dirty="0" err="1">
                <a:solidFill>
                  <a:srgbClr val="FF3300"/>
                </a:solidFill>
              </a:rPr>
              <a:t>CPUtime</a:t>
            </a:r>
            <a:r>
              <a:rPr lang="en-US" altLang="zh-CN" dirty="0"/>
              <a:t>.</a:t>
            </a:r>
            <a:endParaRPr lang="en-US" altLang="zh-CN" sz="2100" dirty="0"/>
          </a:p>
          <a:p>
            <a:r>
              <a:rPr lang="en-US" altLang="zh-CN" sz="2100" dirty="0"/>
              <a:t>Improving of </a:t>
            </a:r>
            <a:r>
              <a:rPr lang="en-US" altLang="zh-CN" sz="2100" dirty="0">
                <a:solidFill>
                  <a:srgbClr val="FF3300"/>
                </a:solidFill>
              </a:rPr>
              <a:t>Throughput</a:t>
            </a:r>
            <a:r>
              <a:rPr lang="en-US" altLang="zh-CN" sz="2100" dirty="0"/>
              <a:t> ( rather than individual execution time)</a:t>
            </a:r>
            <a:endParaRPr lang="en-US" altLang="zh-CN" sz="2100" dirty="0"/>
          </a:p>
          <a:p>
            <a:r>
              <a:rPr lang="en-US" altLang="zh-CN" sz="2100" dirty="0"/>
              <a:t>Improving of </a:t>
            </a:r>
            <a:r>
              <a:rPr lang="en-US" altLang="zh-CN" sz="2100" dirty="0">
                <a:solidFill>
                  <a:srgbClr val="FF3300"/>
                </a:solidFill>
              </a:rPr>
              <a:t>efficiency</a:t>
            </a:r>
            <a:r>
              <a:rPr lang="en-US" altLang="zh-CN" sz="2100" dirty="0"/>
              <a:t> for resources  (functional unit)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Why pipelining : conclusion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1DEBAFFA-A137-4AE5-AF66-1B28C0FFD3C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762386"/>
            <a:ext cx="7763592" cy="3714750"/>
          </a:xfrm>
        </p:spPr>
        <p:txBody>
          <a:bodyPr/>
          <a:lstStyle/>
          <a:p>
            <a:r>
              <a:rPr lang="en-US" altLang="zh-CN" dirty="0"/>
              <a:t>A pipeline is like an auto assemble line</a:t>
            </a:r>
            <a:endParaRPr lang="en-US" altLang="zh-CN" dirty="0"/>
          </a:p>
          <a:p>
            <a:r>
              <a:rPr lang="en-US" altLang="zh-CN" dirty="0"/>
              <a:t>A pipeline has </a:t>
            </a:r>
            <a:r>
              <a:rPr lang="en-US" altLang="zh-CN" dirty="0">
                <a:solidFill>
                  <a:srgbClr val="FF3300"/>
                </a:solidFill>
              </a:rPr>
              <a:t>many stages</a:t>
            </a:r>
            <a:endParaRPr lang="en-US" altLang="zh-CN" dirty="0"/>
          </a:p>
          <a:p>
            <a:r>
              <a:rPr lang="en-US" altLang="zh-CN" dirty="0"/>
              <a:t>Each stage carries out a </a:t>
            </a:r>
            <a:r>
              <a:rPr lang="en-US" altLang="zh-CN" dirty="0">
                <a:solidFill>
                  <a:srgbClr val="FF3300"/>
                </a:solidFill>
              </a:rPr>
              <a:t>different part</a:t>
            </a:r>
            <a:r>
              <a:rPr lang="en-US" altLang="zh-CN" dirty="0"/>
              <a:t> of instruction or operation</a:t>
            </a:r>
            <a:endParaRPr lang="en-US" altLang="zh-CN" dirty="0"/>
          </a:p>
          <a:p>
            <a:r>
              <a:rPr lang="en-US" altLang="zh-CN" dirty="0"/>
              <a:t>The stages, which  cooperates at a </a:t>
            </a:r>
            <a:r>
              <a:rPr lang="en-US" altLang="zh-CN" dirty="0">
                <a:solidFill>
                  <a:srgbClr val="FF3300"/>
                </a:solidFill>
              </a:rPr>
              <a:t>synchronized clock</a:t>
            </a:r>
            <a:r>
              <a:rPr lang="en-US" altLang="zh-CN" dirty="0"/>
              <a:t>,  are connected to form a pipe</a:t>
            </a:r>
            <a:endParaRPr lang="en-US" altLang="zh-CN" dirty="0"/>
          </a:p>
          <a:p>
            <a:r>
              <a:rPr lang="en-US" altLang="zh-CN" dirty="0"/>
              <a:t>An instruction or operation enters through one end and progresses through the stages and exit through the other end</a:t>
            </a:r>
            <a:endParaRPr lang="en-US" altLang="zh-CN" dirty="0"/>
          </a:p>
          <a:p>
            <a:r>
              <a:rPr lang="en-US" altLang="zh-CN" dirty="0"/>
              <a:t>Pipelining is an implementation technique that </a:t>
            </a:r>
            <a:r>
              <a:rPr lang="en-US" altLang="zh-CN" dirty="0">
                <a:solidFill>
                  <a:srgbClr val="FF3300"/>
                </a:solidFill>
              </a:rPr>
              <a:t>exploits parallelism</a:t>
            </a:r>
            <a:r>
              <a:rPr lang="en-US" altLang="zh-CN" dirty="0"/>
              <a:t> among the instructions in a sequential instruction stream </a:t>
            </a:r>
            <a:endParaRPr lang="en-US" altLang="zh-CN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What is a pipeline ?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01A348D9-850C-4DE2-AE26-DF04674C88E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 the stages are perfectly balanced, The time per instruction on the pipelined processor equal to:</a:t>
            </a:r>
            <a:endParaRPr lang="en-US" altLang="zh-CN" dirty="0"/>
          </a:p>
          <a:p>
            <a:pPr>
              <a:buFontTx/>
              <a:buNone/>
            </a:pPr>
            <a:r>
              <a:rPr lang="en-US" altLang="zh-CN" dirty="0"/>
              <a:t> </a:t>
            </a:r>
            <a:r>
              <a:rPr lang="en-US" altLang="zh-CN" i="1" u="sng" dirty="0"/>
              <a:t>Time per instruction on unpipelined machine</a:t>
            </a:r>
            <a:endParaRPr lang="en-US" altLang="zh-CN" i="1" u="sng" dirty="0"/>
          </a:p>
          <a:p>
            <a:pPr>
              <a:buFontTx/>
              <a:buNone/>
            </a:pPr>
            <a:r>
              <a:rPr lang="en-US" altLang="zh-CN" i="1" dirty="0"/>
              <a:t>                      Number of pipe stages</a:t>
            </a:r>
            <a:endParaRPr lang="en-US" altLang="zh-CN" dirty="0"/>
          </a:p>
          <a:p>
            <a:pPr>
              <a:buFontTx/>
              <a:buNone/>
            </a:pPr>
            <a:endParaRPr lang="en-US" altLang="zh-CN" dirty="0"/>
          </a:p>
          <a:p>
            <a:r>
              <a:rPr lang="en-US" altLang="zh-CN" dirty="0"/>
              <a:t>So, </a:t>
            </a:r>
            <a:r>
              <a:rPr lang="en-US" altLang="zh-CN" b="1" dirty="0"/>
              <a:t>Ideal speedup</a:t>
            </a:r>
            <a:r>
              <a:rPr lang="en-US" altLang="zh-CN" dirty="0"/>
              <a:t> </a:t>
            </a:r>
            <a:r>
              <a:rPr lang="en-US" altLang="zh-CN" b="1" dirty="0"/>
              <a:t>equal to</a:t>
            </a:r>
            <a:r>
              <a:rPr lang="en-US" altLang="zh-CN" dirty="0"/>
              <a:t> </a:t>
            </a:r>
            <a:endParaRPr lang="en-US" altLang="zh-CN" dirty="0"/>
          </a:p>
          <a:p>
            <a:pPr>
              <a:buFontTx/>
              <a:buNone/>
            </a:pPr>
            <a:r>
              <a:rPr lang="en-US" altLang="zh-CN" dirty="0"/>
              <a:t>          </a:t>
            </a:r>
            <a:r>
              <a:rPr lang="en-US" altLang="zh-CN" b="1" dirty="0">
                <a:solidFill>
                  <a:srgbClr val="FF3300"/>
                </a:solidFill>
              </a:rPr>
              <a:t>Number of pipe stages</a:t>
            </a:r>
            <a:r>
              <a:rPr lang="en-US" altLang="zh-CN" dirty="0">
                <a:solidFill>
                  <a:srgbClr val="FF3300"/>
                </a:solidFill>
              </a:rPr>
              <a:t>.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Ideal Performance for Pipelining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48777E81-84A0-4F11-9C89-5F50B689678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61629" y="779045"/>
            <a:ext cx="7649292" cy="971550"/>
          </a:xfrm>
        </p:spPr>
        <p:txBody>
          <a:bodyPr/>
          <a:lstStyle/>
          <a:p>
            <a:r>
              <a:rPr lang="en-US" altLang="zh-CN" dirty="0"/>
              <a:t>Some computations just won’t divide into any finer (shorter in time) logical implementation.</a:t>
            </a:r>
            <a:endParaRPr lang="en-US" altLang="zh-CN" dirty="0"/>
          </a:p>
        </p:txBody>
      </p:sp>
      <p:sp>
        <p:nvSpPr>
          <p:cNvPr id="39942" name="Rectangle 6"/>
          <p:cNvSpPr>
            <a:spLocks noGrp="1" noChangeArrowheads="1"/>
          </p:cNvSpPr>
          <p:nvPr>
            <p:ph sz="half" idx="2"/>
          </p:nvPr>
        </p:nvSpPr>
        <p:spPr>
          <a:xfrm>
            <a:off x="5257800" y="2137420"/>
            <a:ext cx="2514600" cy="1828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800" b="1" dirty="0"/>
              <a:t>5 stages    OK</a:t>
            </a:r>
            <a:endParaRPr lang="en-US" altLang="zh-CN" sz="1800" b="1" dirty="0"/>
          </a:p>
          <a:p>
            <a:pPr>
              <a:buFontTx/>
              <a:buNone/>
            </a:pPr>
            <a:endParaRPr lang="en-US" altLang="zh-CN" sz="1800" b="1" dirty="0"/>
          </a:p>
          <a:p>
            <a:pPr>
              <a:buFontTx/>
              <a:buNone/>
            </a:pPr>
            <a:endParaRPr lang="en-US" altLang="zh-CN" sz="1800" b="1" dirty="0"/>
          </a:p>
          <a:p>
            <a:pPr>
              <a:buFontTx/>
              <a:buNone/>
            </a:pPr>
            <a:endParaRPr lang="en-US" altLang="zh-CN" sz="1800" b="1" dirty="0"/>
          </a:p>
          <a:p>
            <a:pPr>
              <a:buFontTx/>
              <a:buNone/>
            </a:pPr>
            <a:r>
              <a:rPr lang="en-US" altLang="zh-CN" sz="1800" b="1" dirty="0"/>
              <a:t>50 stages   </a:t>
            </a:r>
            <a:r>
              <a:rPr lang="en-US" altLang="zh-CN" sz="1800" b="1" dirty="0">
                <a:solidFill>
                  <a:srgbClr val="FF3300"/>
                </a:solidFill>
              </a:rPr>
              <a:t>NO. Sorry!</a:t>
            </a:r>
            <a:endParaRPr lang="en-US" altLang="zh-CN" sz="1800" b="1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300192" y="4686300"/>
            <a:ext cx="2133600" cy="342900"/>
          </a:xfrm>
        </p:spPr>
        <p:txBody>
          <a:bodyPr/>
          <a:lstStyle/>
          <a:p>
            <a:fld id="{50550765-C7D4-40DD-A7C8-A19D65E1C2D1}" type="slidenum">
              <a:rPr lang="en-US" altLang="zh-CN"/>
            </a:fld>
            <a:endParaRPr lang="en-US" altLang="zh-CN" dirty="0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Why not just make a 50-stage pipeline ?</a:t>
            </a:r>
            <a:endParaRPr lang="en-US" altLang="zh-CN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851670"/>
            <a:ext cx="3829050" cy="12001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166120"/>
            <a:ext cx="3886200" cy="1143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61629" y="915566"/>
            <a:ext cx="7877892" cy="1885950"/>
          </a:xfrm>
        </p:spPr>
        <p:txBody>
          <a:bodyPr/>
          <a:lstStyle/>
          <a:p>
            <a:r>
              <a:rPr lang="en-US" altLang="zh-CN" sz="1800" dirty="0"/>
              <a:t>Those latches are </a:t>
            </a:r>
            <a:r>
              <a:rPr lang="en-US" altLang="zh-CN" sz="1800" b="1" dirty="0">
                <a:solidFill>
                  <a:srgbClr val="FF3300"/>
                </a:solidFill>
              </a:rPr>
              <a:t>NOT </a:t>
            </a:r>
            <a:r>
              <a:rPr lang="en-US" altLang="zh-CN" sz="1800" dirty="0">
                <a:solidFill>
                  <a:srgbClr val="FF3300"/>
                </a:solidFill>
              </a:rPr>
              <a:t>free</a:t>
            </a:r>
            <a:r>
              <a:rPr lang="en-US" altLang="zh-CN" sz="1800" dirty="0"/>
              <a:t>, they take up </a:t>
            </a:r>
            <a:r>
              <a:rPr lang="en-US" altLang="zh-CN" sz="1800" b="1" dirty="0">
                <a:solidFill>
                  <a:srgbClr val="FF3300"/>
                </a:solidFill>
              </a:rPr>
              <a:t>area</a:t>
            </a:r>
            <a:r>
              <a:rPr lang="en-US" altLang="zh-CN" sz="1800" dirty="0"/>
              <a:t>, and there is a real </a:t>
            </a:r>
            <a:r>
              <a:rPr lang="en-US" altLang="zh-CN" sz="1800" b="1" dirty="0">
                <a:solidFill>
                  <a:srgbClr val="FF3300"/>
                </a:solidFill>
              </a:rPr>
              <a:t>delay</a:t>
            </a:r>
            <a:r>
              <a:rPr lang="en-US" altLang="zh-CN" sz="1800" b="1" dirty="0"/>
              <a:t> </a:t>
            </a:r>
            <a:r>
              <a:rPr lang="en-US" altLang="zh-CN" sz="1800" dirty="0"/>
              <a:t>to go THRU the latch itself. </a:t>
            </a:r>
            <a:endParaRPr lang="en-US" altLang="zh-CN" sz="1800" dirty="0"/>
          </a:p>
          <a:p>
            <a:pPr lvl="1"/>
            <a:r>
              <a:rPr lang="en-US" altLang="zh-CN" dirty="0"/>
              <a:t> Machine cycle &gt; latch latency + clock skew</a:t>
            </a:r>
            <a:endParaRPr lang="en-US" altLang="zh-CN" dirty="0"/>
          </a:p>
          <a:p>
            <a:r>
              <a:rPr lang="en-US" altLang="zh-CN" sz="1800" dirty="0">
                <a:solidFill>
                  <a:srgbClr val="000000"/>
                </a:solidFill>
              </a:rPr>
              <a:t>In modern, deep pipeline (10-20 stages), this is a real effect</a:t>
            </a:r>
            <a:endParaRPr lang="en-US" altLang="zh-CN" sz="1800" dirty="0">
              <a:solidFill>
                <a:srgbClr val="000000"/>
              </a:solidFill>
            </a:endParaRPr>
          </a:p>
          <a:p>
            <a:r>
              <a:rPr lang="en-US" altLang="zh-CN" sz="1800" dirty="0">
                <a:solidFill>
                  <a:srgbClr val="000000"/>
                </a:solidFill>
              </a:rPr>
              <a:t>Typically see logic “depths” in one pipe stage of 10-20 “gates”.  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41988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314950" y="3030116"/>
            <a:ext cx="2400300" cy="14287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800">
                <a:latin typeface="Comic Sans MS" panose="030F0902030302020204" pitchFamily="66" charset="0"/>
              </a:rPr>
              <a:t>At these speeds, and with this few levels of logic, latch delay is important</a:t>
            </a:r>
            <a:endParaRPr lang="en-US" altLang="zh-CN" sz="1800">
              <a:latin typeface="Comic Sans MS" panose="030F0902030302020204" pitchFamily="66" charset="0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BEBB-C09C-4171-9FA7-974672F573EB}" type="slidenum">
              <a:rPr lang="en-US" altLang="zh-CN"/>
            </a:fld>
            <a:endParaRPr lang="en-US" altLang="zh-CN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Why not just make a 50-stage pipeline ?</a:t>
            </a:r>
            <a:endParaRPr lang="en-US" altLang="zh-CN"/>
          </a:p>
        </p:txBody>
      </p:sp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201566"/>
            <a:ext cx="3714750" cy="1143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915566"/>
            <a:ext cx="7192092" cy="3600450"/>
          </a:xfrm>
        </p:spPr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</a:rPr>
              <a:t>E.g., Intel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Pentium III, Pentium 4: 20+ stages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More than 20 instructions in flight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High clock frequency (&gt;1GHz)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High IPC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zh-CN" sz="15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zh-CN" sz="1500" dirty="0">
              <a:solidFill>
                <a:srgbClr val="000000"/>
              </a:solidFill>
            </a:endParaRPr>
          </a:p>
          <a:p>
            <a:r>
              <a:rPr lang="en-US" altLang="zh-CN" dirty="0">
                <a:solidFill>
                  <a:srgbClr val="000000"/>
                </a:solidFill>
              </a:rPr>
              <a:t>Too many stages: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Lots of complications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Should take care of possible dependencies among in-flight instructions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Control logic is huge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How Many Pipeline Stages?</a:t>
            </a:r>
            <a:endParaRPr lang="en-US" altLang="zh-CN" b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E83A1E31-8284-4C9B-AB95-5F724624290C}" type="slidenum">
              <a:rPr lang="en-US" altLang="zh-CN"/>
            </a:fld>
            <a:endParaRPr lang="en-US" altLang="zh-CN"/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843558"/>
            <a:ext cx="2693194" cy="25717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Single-cycle implementation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83673661-8A15-459F-B7C1-6766607557A7}" type="slidenum">
              <a:rPr lang="en-US" altLang="zh-CN"/>
            </a:fld>
            <a:endParaRPr lang="en-US" altLang="zh-CN"/>
          </a:p>
        </p:txBody>
      </p:sp>
      <p:pic>
        <p:nvPicPr>
          <p:cNvPr id="37892" name="Picture 4" descr="E:\English_arch\611\chap3_1.files\aa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771550"/>
            <a:ext cx="6172200" cy="3543300"/>
          </a:xfrm>
          <a:prstGeom prst="rect">
            <a:avLst/>
          </a:prstGeom>
          <a:noFill/>
        </p:spPr>
      </p:pic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1600200" y="3914800"/>
            <a:ext cx="1657350" cy="3693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b="0">
                <a:solidFill>
                  <a:srgbClr val="FF3300"/>
                </a:solidFill>
                <a:latin typeface="Comic Sans MS" panose="030F0902030302020204" pitchFamily="66" charset="0"/>
              </a:rPr>
              <a:t>seldom used !</a:t>
            </a:r>
            <a:endParaRPr lang="en-US" altLang="zh-CN" b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Multi-cycle implementation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352C348B-F6C7-4585-885E-C30847DA5D5F}" type="slidenum">
              <a:rPr lang="en-US" altLang="zh-CN"/>
            </a:fld>
            <a:endParaRPr lang="en-US" altLang="zh-CN"/>
          </a:p>
        </p:txBody>
      </p:sp>
      <p:pic>
        <p:nvPicPr>
          <p:cNvPr id="35847" name="Picture 7" descr="E:\English_arch\611\chap3_1.files\chap3_1-2new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762386"/>
            <a:ext cx="6400800" cy="37147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b="0"/>
              <a:t>Optimized Multi-cycle implementation</a:t>
            </a:r>
            <a:endParaRPr kumimoji="0" lang="en-US" altLang="zh-CN" b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CFB46156-9764-4598-8127-606F88ECBB9D}" type="slidenum">
              <a:rPr lang="en-US" altLang="zh-CN"/>
            </a:fld>
            <a:endParaRPr lang="en-US" altLang="zh-CN"/>
          </a:p>
        </p:txBody>
      </p:sp>
      <p:grpSp>
        <p:nvGrpSpPr>
          <p:cNvPr id="49159" name="Group 7"/>
          <p:cNvGrpSpPr/>
          <p:nvPr/>
        </p:nvGrpSpPr>
        <p:grpSpPr bwMode="auto">
          <a:xfrm>
            <a:off x="1143000" y="791765"/>
            <a:ext cx="6858000" cy="3894535"/>
            <a:chOff x="0" y="834"/>
            <a:chExt cx="5760" cy="3271"/>
          </a:xfrm>
        </p:grpSpPr>
        <p:graphicFrame>
          <p:nvGraphicFramePr>
            <p:cNvPr id="49156" name="Object 4"/>
            <p:cNvGraphicFramePr>
              <a:graphicFrameLocks noChangeAspect="1"/>
            </p:cNvGraphicFramePr>
            <p:nvPr/>
          </p:nvGraphicFramePr>
          <p:xfrm>
            <a:off x="0" y="834"/>
            <a:ext cx="5760" cy="29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" name="Picture" r:id="rId1" imgW="4972050" imgH="2847975" progId="Word.Picture.8">
                    <p:embed/>
                  </p:oleObj>
                </mc:Choice>
                <mc:Fallback>
                  <p:oleObj name="Picture" r:id="rId1" imgW="4972050" imgH="2847975" progId="Word.Picture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4"/>
                          <a:ext cx="5760" cy="29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57" name="Rectangle 5"/>
            <p:cNvSpPr>
              <a:spLocks noChangeArrowheads="1"/>
            </p:cNvSpPr>
            <p:nvPr/>
          </p:nvSpPr>
          <p:spPr bwMode="auto">
            <a:xfrm>
              <a:off x="384" y="3840"/>
              <a:ext cx="240" cy="2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8" name="Text Box 6"/>
            <p:cNvSpPr txBox="1">
              <a:spLocks noChangeArrowheads="1"/>
            </p:cNvSpPr>
            <p:nvPr/>
          </p:nvSpPr>
          <p:spPr bwMode="auto">
            <a:xfrm>
              <a:off x="543" y="3795"/>
              <a:ext cx="2739" cy="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>
                  <a:latin typeface="Comic Sans MS" panose="030F0902030302020204" pitchFamily="66" charset="0"/>
                </a:rPr>
                <a:t>Temporary storage locations</a:t>
              </a:r>
              <a:endParaRPr lang="en-US" altLang="zh-CN" b="0"/>
            </a:p>
          </p:txBody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5-stage Version of MIPS Datapath</a:t>
            </a:r>
            <a:endParaRPr lang="en-US" altLang="zh-CN" b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6419EF53-A9D2-498C-A683-9C09DA0EAD21}" type="slidenum">
              <a:rPr lang="en-US" altLang="zh-CN"/>
            </a:fld>
            <a:endParaRPr lang="en-US" altLang="zh-CN"/>
          </a:p>
        </p:txBody>
      </p:sp>
      <p:grpSp>
        <p:nvGrpSpPr>
          <p:cNvPr id="47121" name="Group 17"/>
          <p:cNvGrpSpPr/>
          <p:nvPr/>
        </p:nvGrpSpPr>
        <p:grpSpPr bwMode="auto">
          <a:xfrm>
            <a:off x="1428750" y="818982"/>
            <a:ext cx="6229350" cy="3569493"/>
            <a:chOff x="240" y="960"/>
            <a:chExt cx="5232" cy="2998"/>
          </a:xfrm>
        </p:grpSpPr>
        <p:pic>
          <p:nvPicPr>
            <p:cNvPr id="47111" name="Picture 7" descr="E:\English_arch\611\chap3_4.files\chap3_4-5new.gi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960"/>
              <a:ext cx="5232" cy="2784"/>
            </a:xfrm>
            <a:prstGeom prst="rect">
              <a:avLst/>
            </a:prstGeom>
            <a:noFill/>
          </p:spPr>
        </p:pic>
        <p:grpSp>
          <p:nvGrpSpPr>
            <p:cNvPr id="47120" name="Group 16"/>
            <p:cNvGrpSpPr/>
            <p:nvPr/>
          </p:nvGrpSpPr>
          <p:grpSpPr bwMode="auto">
            <a:xfrm>
              <a:off x="3079" y="3002"/>
              <a:ext cx="2393" cy="956"/>
              <a:chOff x="3079" y="3002"/>
              <a:chExt cx="2393" cy="956"/>
            </a:xfrm>
          </p:grpSpPr>
          <p:sp>
            <p:nvSpPr>
              <p:cNvPr id="47117" name="Text Box 13"/>
              <p:cNvSpPr txBox="1">
                <a:spLocks noChangeArrowheads="1"/>
              </p:cNvSpPr>
              <p:nvPr/>
            </p:nvSpPr>
            <p:spPr bwMode="auto">
              <a:xfrm>
                <a:off x="3079" y="3002"/>
                <a:ext cx="582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>
                    <a:solidFill>
                      <a:srgbClr val="339966"/>
                    </a:solidFill>
                  </a:rPr>
                  <a:t>store</a:t>
                </a:r>
                <a:endParaRPr lang="en-US" altLang="zh-CN" b="0"/>
              </a:p>
            </p:txBody>
          </p:sp>
          <p:sp>
            <p:nvSpPr>
              <p:cNvPr id="47118" name="Text Box 14"/>
              <p:cNvSpPr txBox="1">
                <a:spLocks noChangeArrowheads="1"/>
              </p:cNvSpPr>
              <p:nvPr/>
            </p:nvSpPr>
            <p:spPr bwMode="auto">
              <a:xfrm>
                <a:off x="4896" y="3648"/>
                <a:ext cx="576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dirty="0">
                    <a:solidFill>
                      <a:srgbClr val="339966"/>
                    </a:solidFill>
                  </a:rPr>
                  <a:t>load</a:t>
                </a:r>
                <a:endParaRPr lang="en-US" altLang="zh-CN" b="0" dirty="0"/>
              </a:p>
            </p:txBody>
          </p:sp>
        </p:grpSp>
      </p:grpSp>
      <p:grpSp>
        <p:nvGrpSpPr>
          <p:cNvPr id="47122" name="Group 18"/>
          <p:cNvGrpSpPr/>
          <p:nvPr/>
        </p:nvGrpSpPr>
        <p:grpSpPr bwMode="auto">
          <a:xfrm>
            <a:off x="1403747" y="3733630"/>
            <a:ext cx="2768203" cy="692944"/>
            <a:chOff x="219" y="3408"/>
            <a:chExt cx="2325" cy="582"/>
          </a:xfrm>
        </p:grpSpPr>
        <p:sp>
          <p:nvSpPr>
            <p:cNvPr id="47112" name="Text Box 8"/>
            <p:cNvSpPr txBox="1">
              <a:spLocks noChangeArrowheads="1"/>
            </p:cNvSpPr>
            <p:nvPr/>
          </p:nvSpPr>
          <p:spPr bwMode="auto">
            <a:xfrm>
              <a:off x="219" y="3408"/>
              <a:ext cx="880" cy="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3500" tIns="0" rIns="13500" bIns="0">
              <a:spAutoFit/>
            </a:bodyPr>
            <a:lstStyle/>
            <a:p>
              <a:pPr eaLnBrk="1" hangingPunct="1"/>
              <a:r>
                <a:rPr lang="en-US" altLang="zh-CN" sz="1500">
                  <a:solidFill>
                    <a:srgbClr val="FF00FF"/>
                  </a:solidFill>
                </a:rPr>
                <a:t>pipeline </a:t>
              </a:r>
              <a:endParaRPr lang="en-US" altLang="zh-CN" sz="1500">
                <a:solidFill>
                  <a:srgbClr val="FF00FF"/>
                </a:solidFill>
              </a:endParaRPr>
            </a:p>
            <a:p>
              <a:pPr eaLnBrk="1" hangingPunct="1"/>
              <a:r>
                <a:rPr lang="en-US" altLang="zh-CN" sz="1500">
                  <a:solidFill>
                    <a:srgbClr val="FF00FF"/>
                  </a:solidFill>
                </a:rPr>
                <a:t>registers or </a:t>
              </a:r>
              <a:endParaRPr lang="en-US" altLang="zh-CN">
                <a:solidFill>
                  <a:srgbClr val="FF00FF"/>
                </a:solidFill>
              </a:endParaRPr>
            </a:p>
            <a:p>
              <a:pPr eaLnBrk="1" hangingPunct="1"/>
              <a:r>
                <a:rPr lang="en-US" altLang="zh-CN" sz="1500">
                  <a:solidFill>
                    <a:srgbClr val="FF00FF"/>
                  </a:solidFill>
                </a:rPr>
                <a:t>latches</a:t>
              </a:r>
              <a:r>
                <a:rPr lang="en-US" altLang="zh-CN" sz="1500"/>
                <a:t>  </a:t>
              </a:r>
              <a:endParaRPr lang="en-US" altLang="zh-CN" sz="1500"/>
            </a:p>
          </p:txBody>
        </p:sp>
        <p:sp>
          <p:nvSpPr>
            <p:cNvPr id="47113" name="Line 9"/>
            <p:cNvSpPr>
              <a:spLocks noChangeShapeType="1"/>
            </p:cNvSpPr>
            <p:nvPr/>
          </p:nvSpPr>
          <p:spPr bwMode="auto">
            <a:xfrm flipV="1">
              <a:off x="912" y="3456"/>
              <a:ext cx="624" cy="192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4" name="Line 10"/>
            <p:cNvSpPr>
              <a:spLocks noChangeShapeType="1"/>
            </p:cNvSpPr>
            <p:nvPr/>
          </p:nvSpPr>
          <p:spPr bwMode="auto">
            <a:xfrm flipV="1">
              <a:off x="1008" y="3456"/>
              <a:ext cx="1536" cy="24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Single-cycle implementation vs. pipelining</a:t>
            </a:r>
            <a:endParaRPr lang="en-US" altLang="zh-CN"/>
          </a:p>
        </p:txBody>
      </p:sp>
      <p:sp>
        <p:nvSpPr>
          <p:cNvPr id="154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26C3635C-9258-4C2C-9231-F21D72DE9BD9}" type="slidenum">
              <a:rPr lang="en-US" altLang="zh-CN"/>
            </a:fld>
            <a:endParaRPr lang="en-US" altLang="zh-CN"/>
          </a:p>
        </p:txBody>
      </p:sp>
      <p:grpSp>
        <p:nvGrpSpPr>
          <p:cNvPr id="53441" name="Group 193"/>
          <p:cNvGrpSpPr/>
          <p:nvPr/>
        </p:nvGrpSpPr>
        <p:grpSpPr bwMode="auto">
          <a:xfrm>
            <a:off x="1377554" y="3657600"/>
            <a:ext cx="4414837" cy="938213"/>
            <a:chOff x="197" y="2928"/>
            <a:chExt cx="3708" cy="788"/>
          </a:xfrm>
        </p:grpSpPr>
        <p:sp>
          <p:nvSpPr>
            <p:cNvPr id="53331" name="Rectangle 83"/>
            <p:cNvSpPr>
              <a:spLocks noChangeArrowheads="1"/>
            </p:cNvSpPr>
            <p:nvPr/>
          </p:nvSpPr>
          <p:spPr bwMode="auto">
            <a:xfrm>
              <a:off x="197" y="2928"/>
              <a:ext cx="38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/>
                <a:t>Load</a:t>
              </a:r>
              <a:endParaRPr lang="en-US" altLang="zh-CN" sz="1200"/>
            </a:p>
          </p:txBody>
        </p:sp>
        <p:grpSp>
          <p:nvGrpSpPr>
            <p:cNvPr id="53332" name="Group 84"/>
            <p:cNvGrpSpPr/>
            <p:nvPr/>
          </p:nvGrpSpPr>
          <p:grpSpPr bwMode="auto">
            <a:xfrm>
              <a:off x="549" y="2928"/>
              <a:ext cx="2384" cy="212"/>
              <a:chOff x="488" y="3260"/>
              <a:chExt cx="2384" cy="212"/>
            </a:xfrm>
          </p:grpSpPr>
          <p:grpSp>
            <p:nvGrpSpPr>
              <p:cNvPr id="53333" name="Group 85"/>
              <p:cNvGrpSpPr/>
              <p:nvPr/>
            </p:nvGrpSpPr>
            <p:grpSpPr bwMode="auto">
              <a:xfrm>
                <a:off x="488" y="3260"/>
                <a:ext cx="464" cy="212"/>
                <a:chOff x="488" y="3260"/>
                <a:chExt cx="464" cy="212"/>
              </a:xfrm>
            </p:grpSpPr>
            <p:sp>
              <p:nvSpPr>
                <p:cNvPr id="53334" name="Rectangle 86"/>
                <p:cNvSpPr>
                  <a:spLocks noChangeArrowheads="1"/>
                </p:cNvSpPr>
                <p:nvPr/>
              </p:nvSpPr>
              <p:spPr bwMode="auto">
                <a:xfrm>
                  <a:off x="48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5" name="Rectangle 87"/>
                <p:cNvSpPr>
                  <a:spLocks noChangeArrowheads="1"/>
                </p:cNvSpPr>
                <p:nvPr/>
              </p:nvSpPr>
              <p:spPr bwMode="auto">
                <a:xfrm>
                  <a:off x="521" y="3260"/>
                  <a:ext cx="23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IF</a:t>
                  </a:r>
                  <a:endParaRPr lang="en-US" altLang="zh-CN" sz="1200"/>
                </a:p>
              </p:txBody>
            </p:sp>
          </p:grpSp>
          <p:grpSp>
            <p:nvGrpSpPr>
              <p:cNvPr id="53336" name="Group 88"/>
              <p:cNvGrpSpPr/>
              <p:nvPr/>
            </p:nvGrpSpPr>
            <p:grpSpPr bwMode="auto">
              <a:xfrm>
                <a:off x="968" y="3260"/>
                <a:ext cx="464" cy="212"/>
                <a:chOff x="968" y="3260"/>
                <a:chExt cx="464" cy="212"/>
              </a:xfrm>
            </p:grpSpPr>
            <p:sp>
              <p:nvSpPr>
                <p:cNvPr id="53337" name="Rectangle 89"/>
                <p:cNvSpPr>
                  <a:spLocks noChangeArrowheads="1"/>
                </p:cNvSpPr>
                <p:nvPr/>
              </p:nvSpPr>
              <p:spPr bwMode="auto">
                <a:xfrm>
                  <a:off x="96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8" name="Rectangle 90"/>
                <p:cNvSpPr>
                  <a:spLocks noChangeArrowheads="1"/>
                </p:cNvSpPr>
                <p:nvPr/>
              </p:nvSpPr>
              <p:spPr bwMode="auto">
                <a:xfrm>
                  <a:off x="1045" y="3260"/>
                  <a:ext cx="25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ID</a:t>
                  </a:r>
                  <a:endParaRPr lang="en-US" altLang="zh-CN" sz="1200"/>
                </a:p>
              </p:txBody>
            </p:sp>
          </p:grpSp>
          <p:grpSp>
            <p:nvGrpSpPr>
              <p:cNvPr id="53339" name="Group 91"/>
              <p:cNvGrpSpPr/>
              <p:nvPr/>
            </p:nvGrpSpPr>
            <p:grpSpPr bwMode="auto">
              <a:xfrm>
                <a:off x="1448" y="3260"/>
                <a:ext cx="464" cy="212"/>
                <a:chOff x="1448" y="3260"/>
                <a:chExt cx="464" cy="212"/>
              </a:xfrm>
            </p:grpSpPr>
            <p:sp>
              <p:nvSpPr>
                <p:cNvPr id="53340" name="Rectangle 92"/>
                <p:cNvSpPr>
                  <a:spLocks noChangeArrowheads="1"/>
                </p:cNvSpPr>
                <p:nvPr/>
              </p:nvSpPr>
              <p:spPr bwMode="auto">
                <a:xfrm>
                  <a:off x="144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1" name="Rectangle 93"/>
                <p:cNvSpPr>
                  <a:spLocks noChangeArrowheads="1"/>
                </p:cNvSpPr>
                <p:nvPr/>
              </p:nvSpPr>
              <p:spPr bwMode="auto">
                <a:xfrm>
                  <a:off x="1488" y="3260"/>
                  <a:ext cx="26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EX</a:t>
                  </a:r>
                  <a:endParaRPr lang="en-US" altLang="zh-CN" sz="1200"/>
                </a:p>
              </p:txBody>
            </p:sp>
          </p:grpSp>
          <p:grpSp>
            <p:nvGrpSpPr>
              <p:cNvPr id="53342" name="Group 94"/>
              <p:cNvGrpSpPr/>
              <p:nvPr/>
            </p:nvGrpSpPr>
            <p:grpSpPr bwMode="auto">
              <a:xfrm>
                <a:off x="1928" y="3260"/>
                <a:ext cx="464" cy="212"/>
                <a:chOff x="1928" y="3260"/>
                <a:chExt cx="464" cy="212"/>
              </a:xfrm>
            </p:grpSpPr>
            <p:sp>
              <p:nvSpPr>
                <p:cNvPr id="53343" name="Rectangle 95"/>
                <p:cNvSpPr>
                  <a:spLocks noChangeArrowheads="1"/>
                </p:cNvSpPr>
                <p:nvPr/>
              </p:nvSpPr>
              <p:spPr bwMode="auto">
                <a:xfrm>
                  <a:off x="192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4" name="Rectangle 96"/>
                <p:cNvSpPr>
                  <a:spLocks noChangeArrowheads="1"/>
                </p:cNvSpPr>
                <p:nvPr/>
              </p:nvSpPr>
              <p:spPr bwMode="auto">
                <a:xfrm>
                  <a:off x="1982" y="3260"/>
                  <a:ext cx="38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MEM</a:t>
                  </a:r>
                  <a:endParaRPr lang="en-US" altLang="zh-CN" sz="1200"/>
                </a:p>
              </p:txBody>
            </p:sp>
          </p:grpSp>
          <p:grpSp>
            <p:nvGrpSpPr>
              <p:cNvPr id="53345" name="Group 97"/>
              <p:cNvGrpSpPr/>
              <p:nvPr/>
            </p:nvGrpSpPr>
            <p:grpSpPr bwMode="auto">
              <a:xfrm>
                <a:off x="2408" y="3260"/>
                <a:ext cx="464" cy="212"/>
                <a:chOff x="2408" y="3260"/>
                <a:chExt cx="464" cy="212"/>
              </a:xfrm>
            </p:grpSpPr>
            <p:sp>
              <p:nvSpPr>
                <p:cNvPr id="53346" name="Rectangle 98"/>
                <p:cNvSpPr>
                  <a:spLocks noChangeArrowheads="1"/>
                </p:cNvSpPr>
                <p:nvPr/>
              </p:nvSpPr>
              <p:spPr bwMode="auto">
                <a:xfrm>
                  <a:off x="240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7" name="Rectangle 99"/>
                <p:cNvSpPr>
                  <a:spLocks noChangeArrowheads="1"/>
                </p:cNvSpPr>
                <p:nvPr/>
              </p:nvSpPr>
              <p:spPr bwMode="auto">
                <a:xfrm>
                  <a:off x="2492" y="3260"/>
                  <a:ext cx="30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WB</a:t>
                  </a:r>
                  <a:endParaRPr lang="en-US" altLang="zh-CN" sz="1200"/>
                </a:p>
              </p:txBody>
            </p:sp>
          </p:grpSp>
        </p:grpSp>
        <p:grpSp>
          <p:nvGrpSpPr>
            <p:cNvPr id="53363" name="Group 115"/>
            <p:cNvGrpSpPr/>
            <p:nvPr/>
          </p:nvGrpSpPr>
          <p:grpSpPr bwMode="auto">
            <a:xfrm>
              <a:off x="1029" y="3216"/>
              <a:ext cx="2384" cy="212"/>
              <a:chOff x="968" y="3548"/>
              <a:chExt cx="2384" cy="212"/>
            </a:xfrm>
          </p:grpSpPr>
          <p:grpSp>
            <p:nvGrpSpPr>
              <p:cNvPr id="53364" name="Group 116"/>
              <p:cNvGrpSpPr/>
              <p:nvPr/>
            </p:nvGrpSpPr>
            <p:grpSpPr bwMode="auto">
              <a:xfrm>
                <a:off x="968" y="3548"/>
                <a:ext cx="464" cy="212"/>
                <a:chOff x="968" y="3548"/>
                <a:chExt cx="464" cy="212"/>
              </a:xfrm>
            </p:grpSpPr>
            <p:sp>
              <p:nvSpPr>
                <p:cNvPr id="53365" name="Rectangle 117"/>
                <p:cNvSpPr>
                  <a:spLocks noChangeArrowheads="1"/>
                </p:cNvSpPr>
                <p:nvPr/>
              </p:nvSpPr>
              <p:spPr bwMode="auto">
                <a:xfrm>
                  <a:off x="96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6" name="Rectangle 118"/>
                <p:cNvSpPr>
                  <a:spLocks noChangeArrowheads="1"/>
                </p:cNvSpPr>
                <p:nvPr/>
              </p:nvSpPr>
              <p:spPr bwMode="auto">
                <a:xfrm>
                  <a:off x="1001" y="3548"/>
                  <a:ext cx="23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IF</a:t>
                  </a:r>
                  <a:endParaRPr lang="en-US" altLang="zh-CN" sz="1200"/>
                </a:p>
              </p:txBody>
            </p:sp>
          </p:grpSp>
          <p:grpSp>
            <p:nvGrpSpPr>
              <p:cNvPr id="53367" name="Group 119"/>
              <p:cNvGrpSpPr/>
              <p:nvPr/>
            </p:nvGrpSpPr>
            <p:grpSpPr bwMode="auto">
              <a:xfrm>
                <a:off x="1448" y="3548"/>
                <a:ext cx="464" cy="212"/>
                <a:chOff x="1448" y="3548"/>
                <a:chExt cx="464" cy="212"/>
              </a:xfrm>
            </p:grpSpPr>
            <p:sp>
              <p:nvSpPr>
                <p:cNvPr id="53368" name="Rectangle 120"/>
                <p:cNvSpPr>
                  <a:spLocks noChangeArrowheads="1"/>
                </p:cNvSpPr>
                <p:nvPr/>
              </p:nvSpPr>
              <p:spPr bwMode="auto">
                <a:xfrm>
                  <a:off x="144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9" name="Rectangle 121"/>
                <p:cNvSpPr>
                  <a:spLocks noChangeArrowheads="1"/>
                </p:cNvSpPr>
                <p:nvPr/>
              </p:nvSpPr>
              <p:spPr bwMode="auto">
                <a:xfrm>
                  <a:off x="1525" y="3548"/>
                  <a:ext cx="25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ID</a:t>
                  </a:r>
                  <a:endParaRPr lang="en-US" altLang="zh-CN" sz="1200"/>
                </a:p>
              </p:txBody>
            </p:sp>
          </p:grpSp>
          <p:grpSp>
            <p:nvGrpSpPr>
              <p:cNvPr id="53370" name="Group 122"/>
              <p:cNvGrpSpPr/>
              <p:nvPr/>
            </p:nvGrpSpPr>
            <p:grpSpPr bwMode="auto">
              <a:xfrm>
                <a:off x="1928" y="3548"/>
                <a:ext cx="464" cy="212"/>
                <a:chOff x="1928" y="3548"/>
                <a:chExt cx="464" cy="212"/>
              </a:xfrm>
            </p:grpSpPr>
            <p:sp>
              <p:nvSpPr>
                <p:cNvPr id="53371" name="Rectangle 123"/>
                <p:cNvSpPr>
                  <a:spLocks noChangeArrowheads="1"/>
                </p:cNvSpPr>
                <p:nvPr/>
              </p:nvSpPr>
              <p:spPr bwMode="auto">
                <a:xfrm>
                  <a:off x="192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2" name="Rectangle 124"/>
                <p:cNvSpPr>
                  <a:spLocks noChangeArrowheads="1"/>
                </p:cNvSpPr>
                <p:nvPr/>
              </p:nvSpPr>
              <p:spPr bwMode="auto">
                <a:xfrm>
                  <a:off x="1968" y="3548"/>
                  <a:ext cx="26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EX</a:t>
                  </a:r>
                  <a:endParaRPr lang="en-US" altLang="zh-CN" sz="1200"/>
                </a:p>
              </p:txBody>
            </p:sp>
          </p:grpSp>
          <p:grpSp>
            <p:nvGrpSpPr>
              <p:cNvPr id="53373" name="Group 125"/>
              <p:cNvGrpSpPr/>
              <p:nvPr/>
            </p:nvGrpSpPr>
            <p:grpSpPr bwMode="auto">
              <a:xfrm>
                <a:off x="2408" y="3548"/>
                <a:ext cx="464" cy="212"/>
                <a:chOff x="2408" y="3548"/>
                <a:chExt cx="464" cy="212"/>
              </a:xfrm>
            </p:grpSpPr>
            <p:sp>
              <p:nvSpPr>
                <p:cNvPr id="53374" name="Rectangle 126"/>
                <p:cNvSpPr>
                  <a:spLocks noChangeArrowheads="1"/>
                </p:cNvSpPr>
                <p:nvPr/>
              </p:nvSpPr>
              <p:spPr bwMode="auto">
                <a:xfrm>
                  <a:off x="240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5" name="Rectangle 127"/>
                <p:cNvSpPr>
                  <a:spLocks noChangeArrowheads="1"/>
                </p:cNvSpPr>
                <p:nvPr/>
              </p:nvSpPr>
              <p:spPr bwMode="auto">
                <a:xfrm>
                  <a:off x="2462" y="3548"/>
                  <a:ext cx="38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MEM</a:t>
                  </a:r>
                  <a:endParaRPr lang="en-US" altLang="zh-CN" sz="1200"/>
                </a:p>
              </p:txBody>
            </p:sp>
          </p:grpSp>
          <p:grpSp>
            <p:nvGrpSpPr>
              <p:cNvPr id="53376" name="Group 128"/>
              <p:cNvGrpSpPr/>
              <p:nvPr/>
            </p:nvGrpSpPr>
            <p:grpSpPr bwMode="auto">
              <a:xfrm>
                <a:off x="2888" y="3548"/>
                <a:ext cx="464" cy="212"/>
                <a:chOff x="2888" y="3548"/>
                <a:chExt cx="464" cy="212"/>
              </a:xfrm>
            </p:grpSpPr>
            <p:sp>
              <p:nvSpPr>
                <p:cNvPr id="53377" name="Rectangle 129"/>
                <p:cNvSpPr>
                  <a:spLocks noChangeArrowheads="1"/>
                </p:cNvSpPr>
                <p:nvPr/>
              </p:nvSpPr>
              <p:spPr bwMode="auto">
                <a:xfrm>
                  <a:off x="288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8" name="Rectangle 130"/>
                <p:cNvSpPr>
                  <a:spLocks noChangeArrowheads="1"/>
                </p:cNvSpPr>
                <p:nvPr/>
              </p:nvSpPr>
              <p:spPr bwMode="auto">
                <a:xfrm>
                  <a:off x="2972" y="3548"/>
                  <a:ext cx="30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WB</a:t>
                  </a:r>
                  <a:endParaRPr lang="en-US" altLang="zh-CN" sz="1200"/>
                </a:p>
              </p:txBody>
            </p:sp>
          </p:grpSp>
        </p:grpSp>
        <p:sp>
          <p:nvSpPr>
            <p:cNvPr id="53379" name="Rectangle 131"/>
            <p:cNvSpPr>
              <a:spLocks noChangeArrowheads="1"/>
            </p:cNvSpPr>
            <p:nvPr/>
          </p:nvSpPr>
          <p:spPr bwMode="auto">
            <a:xfrm>
              <a:off x="668" y="3216"/>
              <a:ext cx="415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/>
                <a:t>Store</a:t>
              </a:r>
              <a:endParaRPr lang="en-US" altLang="zh-CN" sz="1200"/>
            </a:p>
          </p:txBody>
        </p:sp>
        <p:grpSp>
          <p:nvGrpSpPr>
            <p:cNvPr id="53409" name="Group 161"/>
            <p:cNvGrpSpPr/>
            <p:nvPr/>
          </p:nvGrpSpPr>
          <p:grpSpPr bwMode="auto">
            <a:xfrm>
              <a:off x="1521" y="3504"/>
              <a:ext cx="2384" cy="212"/>
              <a:chOff x="1496" y="3836"/>
              <a:chExt cx="2384" cy="212"/>
            </a:xfrm>
          </p:grpSpPr>
          <p:grpSp>
            <p:nvGrpSpPr>
              <p:cNvPr id="53410" name="Group 162"/>
              <p:cNvGrpSpPr/>
              <p:nvPr/>
            </p:nvGrpSpPr>
            <p:grpSpPr bwMode="auto">
              <a:xfrm>
                <a:off x="1496" y="3836"/>
                <a:ext cx="464" cy="212"/>
                <a:chOff x="1496" y="3836"/>
                <a:chExt cx="464" cy="212"/>
              </a:xfrm>
            </p:grpSpPr>
            <p:sp>
              <p:nvSpPr>
                <p:cNvPr id="53411" name="Rectangle 163"/>
                <p:cNvSpPr>
                  <a:spLocks noChangeArrowheads="1"/>
                </p:cNvSpPr>
                <p:nvPr/>
              </p:nvSpPr>
              <p:spPr bwMode="auto">
                <a:xfrm>
                  <a:off x="149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2" name="Rectangle 164"/>
                <p:cNvSpPr>
                  <a:spLocks noChangeArrowheads="1"/>
                </p:cNvSpPr>
                <p:nvPr/>
              </p:nvSpPr>
              <p:spPr bwMode="auto">
                <a:xfrm>
                  <a:off x="1529" y="3836"/>
                  <a:ext cx="23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IF</a:t>
                  </a:r>
                  <a:endParaRPr lang="en-US" altLang="zh-CN" sz="1200"/>
                </a:p>
              </p:txBody>
            </p:sp>
          </p:grpSp>
          <p:grpSp>
            <p:nvGrpSpPr>
              <p:cNvPr id="53413" name="Group 165"/>
              <p:cNvGrpSpPr/>
              <p:nvPr/>
            </p:nvGrpSpPr>
            <p:grpSpPr bwMode="auto">
              <a:xfrm>
                <a:off x="1976" y="3836"/>
                <a:ext cx="464" cy="212"/>
                <a:chOff x="1976" y="3836"/>
                <a:chExt cx="464" cy="212"/>
              </a:xfrm>
            </p:grpSpPr>
            <p:sp>
              <p:nvSpPr>
                <p:cNvPr id="53414" name="Rectangle 166"/>
                <p:cNvSpPr>
                  <a:spLocks noChangeArrowheads="1"/>
                </p:cNvSpPr>
                <p:nvPr/>
              </p:nvSpPr>
              <p:spPr bwMode="auto">
                <a:xfrm>
                  <a:off x="197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5" name="Rectangle 167"/>
                <p:cNvSpPr>
                  <a:spLocks noChangeArrowheads="1"/>
                </p:cNvSpPr>
                <p:nvPr/>
              </p:nvSpPr>
              <p:spPr bwMode="auto">
                <a:xfrm>
                  <a:off x="2053" y="3836"/>
                  <a:ext cx="25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ID</a:t>
                  </a:r>
                  <a:endParaRPr lang="en-US" altLang="zh-CN" sz="1200"/>
                </a:p>
              </p:txBody>
            </p:sp>
          </p:grpSp>
          <p:grpSp>
            <p:nvGrpSpPr>
              <p:cNvPr id="53416" name="Group 168"/>
              <p:cNvGrpSpPr/>
              <p:nvPr/>
            </p:nvGrpSpPr>
            <p:grpSpPr bwMode="auto">
              <a:xfrm>
                <a:off x="2456" y="3836"/>
                <a:ext cx="464" cy="212"/>
                <a:chOff x="2456" y="3836"/>
                <a:chExt cx="464" cy="212"/>
              </a:xfrm>
            </p:grpSpPr>
            <p:sp>
              <p:nvSpPr>
                <p:cNvPr id="53417" name="Rectangle 169"/>
                <p:cNvSpPr>
                  <a:spLocks noChangeArrowheads="1"/>
                </p:cNvSpPr>
                <p:nvPr/>
              </p:nvSpPr>
              <p:spPr bwMode="auto">
                <a:xfrm>
                  <a:off x="245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8" name="Rectangle 170"/>
                <p:cNvSpPr>
                  <a:spLocks noChangeArrowheads="1"/>
                </p:cNvSpPr>
                <p:nvPr/>
              </p:nvSpPr>
              <p:spPr bwMode="auto">
                <a:xfrm>
                  <a:off x="2496" y="3836"/>
                  <a:ext cx="26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EX</a:t>
                  </a:r>
                  <a:endParaRPr lang="en-US" altLang="zh-CN" sz="1200"/>
                </a:p>
              </p:txBody>
            </p:sp>
          </p:grpSp>
          <p:grpSp>
            <p:nvGrpSpPr>
              <p:cNvPr id="53419" name="Group 171"/>
              <p:cNvGrpSpPr/>
              <p:nvPr/>
            </p:nvGrpSpPr>
            <p:grpSpPr bwMode="auto">
              <a:xfrm>
                <a:off x="2936" y="3836"/>
                <a:ext cx="464" cy="212"/>
                <a:chOff x="2936" y="3836"/>
                <a:chExt cx="464" cy="212"/>
              </a:xfrm>
            </p:grpSpPr>
            <p:sp>
              <p:nvSpPr>
                <p:cNvPr id="53420" name="Rectangle 172"/>
                <p:cNvSpPr>
                  <a:spLocks noChangeArrowheads="1"/>
                </p:cNvSpPr>
                <p:nvPr/>
              </p:nvSpPr>
              <p:spPr bwMode="auto">
                <a:xfrm>
                  <a:off x="293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1" name="Rectangle 173"/>
                <p:cNvSpPr>
                  <a:spLocks noChangeArrowheads="1"/>
                </p:cNvSpPr>
                <p:nvPr/>
              </p:nvSpPr>
              <p:spPr bwMode="auto">
                <a:xfrm>
                  <a:off x="2990" y="3836"/>
                  <a:ext cx="38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MEM</a:t>
                  </a:r>
                  <a:endParaRPr lang="en-US" altLang="zh-CN" sz="1200"/>
                </a:p>
              </p:txBody>
            </p:sp>
          </p:grpSp>
          <p:grpSp>
            <p:nvGrpSpPr>
              <p:cNvPr id="53422" name="Group 174"/>
              <p:cNvGrpSpPr/>
              <p:nvPr/>
            </p:nvGrpSpPr>
            <p:grpSpPr bwMode="auto">
              <a:xfrm>
                <a:off x="3416" y="3836"/>
                <a:ext cx="464" cy="212"/>
                <a:chOff x="3416" y="3836"/>
                <a:chExt cx="464" cy="212"/>
              </a:xfrm>
            </p:grpSpPr>
            <p:sp>
              <p:nvSpPr>
                <p:cNvPr id="53423" name="Rectangle 175"/>
                <p:cNvSpPr>
                  <a:spLocks noChangeArrowheads="1"/>
                </p:cNvSpPr>
                <p:nvPr/>
              </p:nvSpPr>
              <p:spPr bwMode="auto">
                <a:xfrm>
                  <a:off x="341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4" name="Rectangle 176"/>
                <p:cNvSpPr>
                  <a:spLocks noChangeArrowheads="1"/>
                </p:cNvSpPr>
                <p:nvPr/>
              </p:nvSpPr>
              <p:spPr bwMode="auto">
                <a:xfrm>
                  <a:off x="3500" y="3836"/>
                  <a:ext cx="30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WB</a:t>
                  </a:r>
                  <a:endParaRPr lang="en-US" altLang="zh-CN" sz="1200"/>
                </a:p>
              </p:txBody>
            </p:sp>
          </p:grpSp>
        </p:grpSp>
        <p:sp>
          <p:nvSpPr>
            <p:cNvPr id="53425" name="Rectangle 177"/>
            <p:cNvSpPr>
              <a:spLocks noChangeArrowheads="1"/>
            </p:cNvSpPr>
            <p:nvPr/>
          </p:nvSpPr>
          <p:spPr bwMode="auto">
            <a:xfrm>
              <a:off x="1056" y="3504"/>
              <a:ext cx="48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/>
                <a:t>R-type</a:t>
              </a:r>
              <a:endParaRPr lang="en-US" altLang="zh-CN" sz="1200"/>
            </a:p>
          </p:txBody>
        </p:sp>
      </p:grpSp>
      <p:sp>
        <p:nvSpPr>
          <p:cNvPr id="53398" name="Rectangle 150"/>
          <p:cNvSpPr>
            <a:spLocks noChangeArrowheads="1"/>
          </p:cNvSpPr>
          <p:nvPr/>
        </p:nvSpPr>
        <p:spPr bwMode="auto">
          <a:xfrm>
            <a:off x="1371600" y="838200"/>
            <a:ext cx="5029200" cy="275076"/>
          </a:xfrm>
          <a:prstGeom prst="rect">
            <a:avLst/>
          </a:prstGeom>
          <a:noFill/>
          <a:ln>
            <a:noFill/>
          </a:ln>
          <a:effectLst/>
        </p:spPr>
        <p:txBody>
          <a:bodyPr lIns="67866" tIns="33338" rIns="67866" bIns="33338">
            <a:spAutoFit/>
          </a:bodyPr>
          <a:lstStyle/>
          <a:p>
            <a:r>
              <a:rPr lang="en-US" altLang="zh-CN" sz="1350" i="1" u="sng">
                <a:solidFill>
                  <a:schemeClr val="accent2"/>
                </a:solidFill>
                <a:latin typeface="Arial" panose="020B0604020202090204" pitchFamily="34" charset="0"/>
              </a:rPr>
              <a:t>Single Cycle Implementation:</a:t>
            </a:r>
            <a:r>
              <a:rPr lang="en-US" altLang="zh-CN" sz="1350" i="1">
                <a:solidFill>
                  <a:schemeClr val="accent2"/>
                </a:solidFill>
                <a:latin typeface="Arial" panose="020B0604020202090204" pitchFamily="34" charset="0"/>
              </a:rPr>
              <a:t>     </a:t>
            </a:r>
            <a:r>
              <a:rPr lang="en-US" altLang="zh-CN" sz="1350">
                <a:solidFill>
                  <a:srgbClr val="FF3300"/>
                </a:solidFill>
                <a:latin typeface="Comic Sans MS" panose="030F0902030302020204" pitchFamily="66" charset="0"/>
              </a:rPr>
              <a:t>CPI=1,   long clock cycle</a:t>
            </a:r>
            <a:r>
              <a:rPr lang="en-US" altLang="zh-CN" sz="1350" i="1" u="sng">
                <a:solidFill>
                  <a:schemeClr val="accent2"/>
                </a:solidFill>
                <a:latin typeface="Arial" panose="020B0604020202090204" pitchFamily="34" charset="0"/>
              </a:rPr>
              <a:t> </a:t>
            </a:r>
            <a:endParaRPr lang="en-US" altLang="zh-CN" sz="1350" i="1" u="sng">
              <a:solidFill>
                <a:srgbClr val="000099"/>
              </a:solidFill>
              <a:latin typeface="Arial" panose="020B0604020202090204" pitchFamily="34" charset="0"/>
            </a:endParaRPr>
          </a:p>
        </p:txBody>
      </p:sp>
      <p:sp>
        <p:nvSpPr>
          <p:cNvPr id="53383" name="Line 135"/>
          <p:cNvSpPr>
            <a:spLocks noChangeShapeType="1"/>
          </p:cNvSpPr>
          <p:nvPr/>
        </p:nvSpPr>
        <p:spPr bwMode="auto">
          <a:xfrm>
            <a:off x="1510904" y="1419225"/>
            <a:ext cx="266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84" name="Line 136"/>
          <p:cNvSpPr>
            <a:spLocks noChangeShapeType="1"/>
          </p:cNvSpPr>
          <p:nvPr/>
        </p:nvSpPr>
        <p:spPr bwMode="auto">
          <a:xfrm>
            <a:off x="1787129" y="142875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87" name="Line 139"/>
          <p:cNvSpPr>
            <a:spLocks noChangeShapeType="1"/>
          </p:cNvSpPr>
          <p:nvPr/>
        </p:nvSpPr>
        <p:spPr bwMode="auto">
          <a:xfrm>
            <a:off x="4473179" y="142875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88" name="Line 140"/>
          <p:cNvSpPr>
            <a:spLocks noChangeShapeType="1"/>
          </p:cNvSpPr>
          <p:nvPr/>
        </p:nvSpPr>
        <p:spPr bwMode="auto">
          <a:xfrm flipV="1">
            <a:off x="7264004" y="1123950"/>
            <a:ext cx="0" cy="116205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89" name="Line 141"/>
          <p:cNvSpPr>
            <a:spLocks noChangeShapeType="1"/>
          </p:cNvSpPr>
          <p:nvPr/>
        </p:nvSpPr>
        <p:spPr bwMode="auto">
          <a:xfrm>
            <a:off x="7273529" y="142875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0" name="Line 142"/>
          <p:cNvSpPr>
            <a:spLocks noChangeShapeType="1"/>
          </p:cNvSpPr>
          <p:nvPr/>
        </p:nvSpPr>
        <p:spPr bwMode="auto">
          <a:xfrm>
            <a:off x="1796654" y="1590675"/>
            <a:ext cx="1409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1" name="Line 143"/>
          <p:cNvSpPr>
            <a:spLocks noChangeShapeType="1"/>
          </p:cNvSpPr>
          <p:nvPr/>
        </p:nvSpPr>
        <p:spPr bwMode="auto">
          <a:xfrm>
            <a:off x="3225404" y="1419225"/>
            <a:ext cx="1238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2" name="Line 144"/>
          <p:cNvSpPr>
            <a:spLocks noChangeShapeType="1"/>
          </p:cNvSpPr>
          <p:nvPr/>
        </p:nvSpPr>
        <p:spPr bwMode="auto">
          <a:xfrm>
            <a:off x="3215879" y="142875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3" name="Line 145"/>
          <p:cNvSpPr>
            <a:spLocks noChangeShapeType="1"/>
          </p:cNvSpPr>
          <p:nvPr/>
        </p:nvSpPr>
        <p:spPr bwMode="auto">
          <a:xfrm>
            <a:off x="4482704" y="1590675"/>
            <a:ext cx="1409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4" name="Line 146"/>
          <p:cNvSpPr>
            <a:spLocks noChangeShapeType="1"/>
          </p:cNvSpPr>
          <p:nvPr/>
        </p:nvSpPr>
        <p:spPr bwMode="auto">
          <a:xfrm>
            <a:off x="5911454" y="1419225"/>
            <a:ext cx="13525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5" name="Line 147"/>
          <p:cNvSpPr>
            <a:spLocks noChangeShapeType="1"/>
          </p:cNvSpPr>
          <p:nvPr/>
        </p:nvSpPr>
        <p:spPr bwMode="auto">
          <a:xfrm>
            <a:off x="5901929" y="142875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6" name="Line 148"/>
          <p:cNvSpPr>
            <a:spLocks noChangeShapeType="1"/>
          </p:cNvSpPr>
          <p:nvPr/>
        </p:nvSpPr>
        <p:spPr bwMode="auto">
          <a:xfrm>
            <a:off x="7340204" y="1590675"/>
            <a:ext cx="266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7" name="Rectangle 149"/>
          <p:cNvSpPr>
            <a:spLocks noChangeArrowheads="1"/>
          </p:cNvSpPr>
          <p:nvPr/>
        </p:nvSpPr>
        <p:spPr bwMode="auto">
          <a:xfrm>
            <a:off x="1443962" y="1414462"/>
            <a:ext cx="342243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/>
              <a:t>Clk</a:t>
            </a:r>
            <a:endParaRPr lang="en-US" altLang="zh-CN" sz="1200"/>
          </a:p>
        </p:txBody>
      </p:sp>
      <p:sp>
        <p:nvSpPr>
          <p:cNvPr id="53399" name="Rectangle 151"/>
          <p:cNvSpPr>
            <a:spLocks noChangeArrowheads="1"/>
          </p:cNvSpPr>
          <p:nvPr/>
        </p:nvSpPr>
        <p:spPr bwMode="auto">
          <a:xfrm>
            <a:off x="1771650" y="1809750"/>
            <a:ext cx="2667000" cy="2095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00" name="Rectangle 152"/>
          <p:cNvSpPr>
            <a:spLocks noChangeArrowheads="1"/>
          </p:cNvSpPr>
          <p:nvPr/>
        </p:nvSpPr>
        <p:spPr bwMode="auto">
          <a:xfrm>
            <a:off x="4457700" y="1809750"/>
            <a:ext cx="2781300" cy="2095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01" name="Rectangle 153"/>
          <p:cNvSpPr>
            <a:spLocks noChangeArrowheads="1"/>
          </p:cNvSpPr>
          <p:nvPr/>
        </p:nvSpPr>
        <p:spPr bwMode="auto">
          <a:xfrm>
            <a:off x="2781049" y="1795462"/>
            <a:ext cx="462468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/>
              <a:t>Load</a:t>
            </a:r>
            <a:endParaRPr lang="en-US" altLang="zh-CN" sz="1200"/>
          </a:p>
        </p:txBody>
      </p:sp>
      <p:sp>
        <p:nvSpPr>
          <p:cNvPr id="53402" name="Rectangle 154"/>
          <p:cNvSpPr>
            <a:spLocks noChangeArrowheads="1"/>
          </p:cNvSpPr>
          <p:nvPr/>
        </p:nvSpPr>
        <p:spPr bwMode="auto">
          <a:xfrm>
            <a:off x="5627665" y="1795462"/>
            <a:ext cx="493758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/>
              <a:t>Store</a:t>
            </a:r>
            <a:endParaRPr lang="en-US" altLang="zh-CN" sz="1200"/>
          </a:p>
        </p:txBody>
      </p:sp>
      <p:sp>
        <p:nvSpPr>
          <p:cNvPr id="53403" name="Line 155"/>
          <p:cNvSpPr>
            <a:spLocks noChangeShapeType="1"/>
          </p:cNvSpPr>
          <p:nvPr/>
        </p:nvSpPr>
        <p:spPr bwMode="auto">
          <a:xfrm flipV="1">
            <a:off x="6734175" y="1790700"/>
            <a:ext cx="0" cy="24765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04" name="Rectangle 156"/>
          <p:cNvSpPr>
            <a:spLocks noChangeArrowheads="1"/>
          </p:cNvSpPr>
          <p:nvPr/>
        </p:nvSpPr>
        <p:spPr bwMode="auto">
          <a:xfrm>
            <a:off x="6713690" y="1795462"/>
            <a:ext cx="552941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/>
              <a:t>Waste</a:t>
            </a:r>
            <a:endParaRPr lang="en-US" altLang="zh-CN" sz="1200"/>
          </a:p>
        </p:txBody>
      </p:sp>
      <p:sp>
        <p:nvSpPr>
          <p:cNvPr id="53426" name="Line 178"/>
          <p:cNvSpPr>
            <a:spLocks noChangeShapeType="1"/>
          </p:cNvSpPr>
          <p:nvPr/>
        </p:nvSpPr>
        <p:spPr bwMode="auto">
          <a:xfrm flipV="1">
            <a:off x="1787129" y="1181100"/>
            <a:ext cx="0" cy="24765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27" name="Rectangle 179"/>
          <p:cNvSpPr>
            <a:spLocks noChangeArrowheads="1"/>
          </p:cNvSpPr>
          <p:nvPr/>
        </p:nvSpPr>
        <p:spPr bwMode="auto">
          <a:xfrm>
            <a:off x="2909454" y="1185862"/>
            <a:ext cx="624756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/>
              <a:t>Cycle 1</a:t>
            </a:r>
            <a:endParaRPr lang="en-US" altLang="zh-CN" sz="1200"/>
          </a:p>
        </p:txBody>
      </p:sp>
      <p:sp>
        <p:nvSpPr>
          <p:cNvPr id="53428" name="Line 180"/>
          <p:cNvSpPr>
            <a:spLocks noChangeShapeType="1"/>
          </p:cNvSpPr>
          <p:nvPr/>
        </p:nvSpPr>
        <p:spPr bwMode="auto">
          <a:xfrm flipV="1">
            <a:off x="4473179" y="1181100"/>
            <a:ext cx="0" cy="24765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29" name="Line 181"/>
          <p:cNvSpPr>
            <a:spLocks noChangeShapeType="1"/>
          </p:cNvSpPr>
          <p:nvPr/>
        </p:nvSpPr>
        <p:spPr bwMode="auto">
          <a:xfrm flipV="1">
            <a:off x="7273529" y="1181100"/>
            <a:ext cx="0" cy="24765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0" name="Rectangle 182"/>
          <p:cNvSpPr>
            <a:spLocks noChangeArrowheads="1"/>
          </p:cNvSpPr>
          <p:nvPr/>
        </p:nvSpPr>
        <p:spPr bwMode="auto">
          <a:xfrm>
            <a:off x="5595504" y="1185862"/>
            <a:ext cx="624756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/>
              <a:t>Cycle 2</a:t>
            </a:r>
            <a:endParaRPr lang="en-US" altLang="zh-CN" sz="1200"/>
          </a:p>
        </p:txBody>
      </p:sp>
      <p:sp>
        <p:nvSpPr>
          <p:cNvPr id="53431" name="Line 183"/>
          <p:cNvSpPr>
            <a:spLocks noChangeShapeType="1"/>
          </p:cNvSpPr>
          <p:nvPr/>
        </p:nvSpPr>
        <p:spPr bwMode="auto">
          <a:xfrm>
            <a:off x="1796654" y="1304925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2" name="Line 184"/>
          <p:cNvSpPr>
            <a:spLocks noChangeShapeType="1"/>
          </p:cNvSpPr>
          <p:nvPr/>
        </p:nvSpPr>
        <p:spPr bwMode="auto">
          <a:xfrm>
            <a:off x="4482704" y="1304925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3" name="Line 185"/>
          <p:cNvSpPr>
            <a:spLocks noChangeShapeType="1"/>
          </p:cNvSpPr>
          <p:nvPr/>
        </p:nvSpPr>
        <p:spPr bwMode="auto">
          <a:xfrm flipH="1">
            <a:off x="6178154" y="1304925"/>
            <a:ext cx="1104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4" name="Line 186"/>
          <p:cNvSpPr>
            <a:spLocks noChangeShapeType="1"/>
          </p:cNvSpPr>
          <p:nvPr/>
        </p:nvSpPr>
        <p:spPr bwMode="auto">
          <a:xfrm flipH="1">
            <a:off x="3549254" y="1304925"/>
            <a:ext cx="819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5" name="Line 187"/>
          <p:cNvSpPr>
            <a:spLocks noChangeShapeType="1"/>
          </p:cNvSpPr>
          <p:nvPr/>
        </p:nvSpPr>
        <p:spPr bwMode="auto">
          <a:xfrm flipV="1">
            <a:off x="4473179" y="1409700"/>
            <a:ext cx="0" cy="8763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9" name="Rectangle 191"/>
          <p:cNvSpPr>
            <a:spLocks noChangeArrowheads="1"/>
          </p:cNvSpPr>
          <p:nvPr/>
        </p:nvSpPr>
        <p:spPr bwMode="auto">
          <a:xfrm>
            <a:off x="1257300" y="2355839"/>
            <a:ext cx="6400800" cy="275076"/>
          </a:xfrm>
          <a:prstGeom prst="rect">
            <a:avLst/>
          </a:prstGeom>
          <a:noFill/>
          <a:ln>
            <a:noFill/>
          </a:ln>
          <a:effectLst/>
        </p:spPr>
        <p:txBody>
          <a:bodyPr lIns="67866" tIns="33338" rIns="67866" bIns="33338">
            <a:spAutoFit/>
          </a:bodyPr>
          <a:lstStyle/>
          <a:p>
            <a:r>
              <a:rPr lang="en-US" altLang="zh-CN" sz="1350" i="1" u="sng" dirty="0">
                <a:solidFill>
                  <a:schemeClr val="accent2"/>
                </a:solidFill>
                <a:latin typeface="Arial" panose="020B0604020202090204" pitchFamily="34" charset="0"/>
              </a:rPr>
              <a:t>Pipeline Implementation: </a:t>
            </a:r>
            <a:r>
              <a:rPr lang="en-US" altLang="zh-CN" sz="1350" i="1" dirty="0">
                <a:solidFill>
                  <a:schemeClr val="accent2"/>
                </a:solidFill>
                <a:latin typeface="Arial" panose="020B0604020202090204" pitchFamily="34" charset="0"/>
              </a:rPr>
              <a:t>    </a:t>
            </a:r>
            <a:r>
              <a:rPr lang="en-US" altLang="zh-CN" sz="1350" dirty="0">
                <a:solidFill>
                  <a:srgbClr val="FF3300"/>
                </a:solidFill>
                <a:latin typeface="Comic Sans MS" panose="030F0902030302020204" pitchFamily="66" charset="0"/>
              </a:rPr>
              <a:t>CPI=1, clock cycle </a:t>
            </a:r>
            <a:r>
              <a:rPr lang="en-US" altLang="zh-CN" sz="1350" dirty="0">
                <a:solidFill>
                  <a:srgbClr val="FF3300"/>
                </a:solidFill>
                <a:latin typeface="Comic Sans MS" panose="030F0902030302020204" pitchFamily="66" charset="0"/>
                <a:sym typeface="Symbol" pitchFamily="18" charset="2"/>
              </a:rPr>
              <a:t>  long clock cycle/5</a:t>
            </a:r>
            <a:endParaRPr lang="en-US" altLang="zh-CN" sz="1350" i="1" u="sng" dirty="0">
              <a:solidFill>
                <a:srgbClr val="000099"/>
              </a:solidFill>
              <a:latin typeface="Arial" panose="020B0604020202090204" pitchFamily="34" charset="0"/>
            </a:endParaRPr>
          </a:p>
        </p:txBody>
      </p:sp>
      <p:grpSp>
        <p:nvGrpSpPr>
          <p:cNvPr id="53506" name="Group 258"/>
          <p:cNvGrpSpPr/>
          <p:nvPr/>
        </p:nvGrpSpPr>
        <p:grpSpPr bwMode="auto">
          <a:xfrm>
            <a:off x="1385888" y="2650332"/>
            <a:ext cx="6392466" cy="921544"/>
            <a:chOff x="204" y="2226"/>
            <a:chExt cx="5369" cy="774"/>
          </a:xfrm>
        </p:grpSpPr>
        <p:grpSp>
          <p:nvGrpSpPr>
            <p:cNvPr id="53505" name="Group 257"/>
            <p:cNvGrpSpPr/>
            <p:nvPr/>
          </p:nvGrpSpPr>
          <p:grpSpPr bwMode="auto">
            <a:xfrm>
              <a:off x="541" y="2226"/>
              <a:ext cx="2400" cy="544"/>
              <a:chOff x="541" y="2112"/>
              <a:chExt cx="2400" cy="544"/>
            </a:xfrm>
          </p:grpSpPr>
          <p:sp>
            <p:nvSpPr>
              <p:cNvPr id="53259" name="Line 11"/>
              <p:cNvSpPr>
                <a:spLocks noChangeShapeType="1"/>
              </p:cNvSpPr>
              <p:nvPr/>
            </p:nvSpPr>
            <p:spPr bwMode="auto">
              <a:xfrm flipV="1">
                <a:off x="541" y="2120"/>
                <a:ext cx="0" cy="536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86" name="Line 138"/>
              <p:cNvSpPr>
                <a:spLocks noChangeShapeType="1"/>
              </p:cNvSpPr>
              <p:nvPr/>
            </p:nvSpPr>
            <p:spPr bwMode="auto">
              <a:xfrm flipV="1">
                <a:off x="2941" y="2112"/>
                <a:ext cx="0" cy="544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3504" name="Group 256"/>
            <p:cNvGrpSpPr/>
            <p:nvPr/>
          </p:nvGrpSpPr>
          <p:grpSpPr bwMode="auto">
            <a:xfrm>
              <a:off x="204" y="2544"/>
              <a:ext cx="5369" cy="456"/>
              <a:chOff x="204" y="2444"/>
              <a:chExt cx="5369" cy="456"/>
            </a:xfrm>
          </p:grpSpPr>
          <p:sp>
            <p:nvSpPr>
              <p:cNvPr id="53442" name="Rectangle 194"/>
              <p:cNvSpPr>
                <a:spLocks noChangeArrowheads="1"/>
              </p:cNvSpPr>
              <p:nvPr/>
            </p:nvSpPr>
            <p:spPr bwMode="auto">
              <a:xfrm>
                <a:off x="204" y="2688"/>
                <a:ext cx="287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Clk</a:t>
                </a:r>
                <a:endParaRPr lang="en-US" altLang="zh-CN" sz="1200"/>
              </a:p>
            </p:txBody>
          </p:sp>
          <p:sp>
            <p:nvSpPr>
              <p:cNvPr id="53443" name="Line 195"/>
              <p:cNvSpPr>
                <a:spLocks noChangeShapeType="1"/>
              </p:cNvSpPr>
              <p:nvPr/>
            </p:nvSpPr>
            <p:spPr bwMode="auto">
              <a:xfrm>
                <a:off x="5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4" name="Line 196"/>
              <p:cNvSpPr>
                <a:spLocks noChangeShapeType="1"/>
              </p:cNvSpPr>
              <p:nvPr/>
            </p:nvSpPr>
            <p:spPr bwMode="auto">
              <a:xfrm>
                <a:off x="5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5" name="Line 197"/>
              <p:cNvSpPr>
                <a:spLocks noChangeShapeType="1"/>
              </p:cNvSpPr>
              <p:nvPr/>
            </p:nvSpPr>
            <p:spPr bwMode="auto">
              <a:xfrm flipV="1">
                <a:off x="7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6" name="Line 198"/>
              <p:cNvSpPr>
                <a:spLocks noChangeShapeType="1"/>
              </p:cNvSpPr>
              <p:nvPr/>
            </p:nvSpPr>
            <p:spPr bwMode="auto">
              <a:xfrm>
                <a:off x="7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7" name="Line 199"/>
              <p:cNvSpPr>
                <a:spLocks noChangeShapeType="1"/>
              </p:cNvSpPr>
              <p:nvPr/>
            </p:nvSpPr>
            <p:spPr bwMode="auto">
              <a:xfrm>
                <a:off x="10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8" name="Line 200"/>
              <p:cNvSpPr>
                <a:spLocks noChangeShapeType="1"/>
              </p:cNvSpPr>
              <p:nvPr/>
            </p:nvSpPr>
            <p:spPr bwMode="auto">
              <a:xfrm>
                <a:off x="3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9" name="Rectangle 201"/>
              <p:cNvSpPr>
                <a:spLocks noChangeArrowheads="1"/>
              </p:cNvSpPr>
              <p:nvPr/>
            </p:nvSpPr>
            <p:spPr bwMode="auto">
              <a:xfrm>
                <a:off x="52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1</a:t>
                </a:r>
                <a:endParaRPr lang="en-US" altLang="zh-CN" sz="1200"/>
              </a:p>
            </p:txBody>
          </p:sp>
          <p:sp>
            <p:nvSpPr>
              <p:cNvPr id="53450" name="Line 202"/>
              <p:cNvSpPr>
                <a:spLocks noChangeShapeType="1"/>
              </p:cNvSpPr>
              <p:nvPr/>
            </p:nvSpPr>
            <p:spPr bwMode="auto">
              <a:xfrm>
                <a:off x="10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1" name="Line 203"/>
              <p:cNvSpPr>
                <a:spLocks noChangeShapeType="1"/>
              </p:cNvSpPr>
              <p:nvPr/>
            </p:nvSpPr>
            <p:spPr bwMode="auto">
              <a:xfrm flipV="1">
                <a:off x="12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2" name="Line 204"/>
              <p:cNvSpPr>
                <a:spLocks noChangeShapeType="1"/>
              </p:cNvSpPr>
              <p:nvPr/>
            </p:nvSpPr>
            <p:spPr bwMode="auto">
              <a:xfrm>
                <a:off x="12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3" name="Line 205"/>
              <p:cNvSpPr>
                <a:spLocks noChangeShapeType="1"/>
              </p:cNvSpPr>
              <p:nvPr/>
            </p:nvSpPr>
            <p:spPr bwMode="auto">
              <a:xfrm>
                <a:off x="15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4" name="Line 206"/>
              <p:cNvSpPr>
                <a:spLocks noChangeShapeType="1"/>
              </p:cNvSpPr>
              <p:nvPr/>
            </p:nvSpPr>
            <p:spPr bwMode="auto">
              <a:xfrm flipV="1">
                <a:off x="10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5" name="Rectangle 207"/>
              <p:cNvSpPr>
                <a:spLocks noChangeArrowheads="1"/>
              </p:cNvSpPr>
              <p:nvPr/>
            </p:nvSpPr>
            <p:spPr bwMode="auto">
              <a:xfrm>
                <a:off x="100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2</a:t>
                </a:r>
                <a:endParaRPr lang="en-US" altLang="zh-CN" sz="1200"/>
              </a:p>
            </p:txBody>
          </p:sp>
          <p:sp>
            <p:nvSpPr>
              <p:cNvPr id="53456" name="Line 208"/>
              <p:cNvSpPr>
                <a:spLocks noChangeShapeType="1"/>
              </p:cNvSpPr>
              <p:nvPr/>
            </p:nvSpPr>
            <p:spPr bwMode="auto">
              <a:xfrm>
                <a:off x="15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7" name="Line 209"/>
              <p:cNvSpPr>
                <a:spLocks noChangeShapeType="1"/>
              </p:cNvSpPr>
              <p:nvPr/>
            </p:nvSpPr>
            <p:spPr bwMode="auto">
              <a:xfrm flipV="1">
                <a:off x="17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8" name="Line 210"/>
              <p:cNvSpPr>
                <a:spLocks noChangeShapeType="1"/>
              </p:cNvSpPr>
              <p:nvPr/>
            </p:nvSpPr>
            <p:spPr bwMode="auto">
              <a:xfrm>
                <a:off x="17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9" name="Line 211"/>
              <p:cNvSpPr>
                <a:spLocks noChangeShapeType="1"/>
              </p:cNvSpPr>
              <p:nvPr/>
            </p:nvSpPr>
            <p:spPr bwMode="auto">
              <a:xfrm>
                <a:off x="19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0" name="Line 212"/>
              <p:cNvSpPr>
                <a:spLocks noChangeShapeType="1"/>
              </p:cNvSpPr>
              <p:nvPr/>
            </p:nvSpPr>
            <p:spPr bwMode="auto">
              <a:xfrm flipV="1">
                <a:off x="15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1" name="Rectangle 213"/>
              <p:cNvSpPr>
                <a:spLocks noChangeArrowheads="1"/>
              </p:cNvSpPr>
              <p:nvPr/>
            </p:nvSpPr>
            <p:spPr bwMode="auto">
              <a:xfrm>
                <a:off x="148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3</a:t>
                </a:r>
                <a:endParaRPr lang="en-US" altLang="zh-CN" sz="1200"/>
              </a:p>
            </p:txBody>
          </p:sp>
          <p:sp>
            <p:nvSpPr>
              <p:cNvPr id="53462" name="Line 214"/>
              <p:cNvSpPr>
                <a:spLocks noChangeShapeType="1"/>
              </p:cNvSpPr>
              <p:nvPr/>
            </p:nvSpPr>
            <p:spPr bwMode="auto">
              <a:xfrm>
                <a:off x="19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3" name="Line 215"/>
              <p:cNvSpPr>
                <a:spLocks noChangeShapeType="1"/>
              </p:cNvSpPr>
              <p:nvPr/>
            </p:nvSpPr>
            <p:spPr bwMode="auto">
              <a:xfrm flipV="1">
                <a:off x="22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4" name="Line 216"/>
              <p:cNvSpPr>
                <a:spLocks noChangeShapeType="1"/>
              </p:cNvSpPr>
              <p:nvPr/>
            </p:nvSpPr>
            <p:spPr bwMode="auto">
              <a:xfrm>
                <a:off x="22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5" name="Line 217"/>
              <p:cNvSpPr>
                <a:spLocks noChangeShapeType="1"/>
              </p:cNvSpPr>
              <p:nvPr/>
            </p:nvSpPr>
            <p:spPr bwMode="auto">
              <a:xfrm>
                <a:off x="24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6" name="Line 218"/>
              <p:cNvSpPr>
                <a:spLocks noChangeShapeType="1"/>
              </p:cNvSpPr>
              <p:nvPr/>
            </p:nvSpPr>
            <p:spPr bwMode="auto">
              <a:xfrm flipV="1">
                <a:off x="19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7" name="Rectangle 219"/>
              <p:cNvSpPr>
                <a:spLocks noChangeArrowheads="1"/>
              </p:cNvSpPr>
              <p:nvPr/>
            </p:nvSpPr>
            <p:spPr bwMode="auto">
              <a:xfrm>
                <a:off x="196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4</a:t>
                </a:r>
                <a:endParaRPr lang="en-US" altLang="zh-CN" sz="1200"/>
              </a:p>
            </p:txBody>
          </p:sp>
          <p:sp>
            <p:nvSpPr>
              <p:cNvPr id="53468" name="Line 220"/>
              <p:cNvSpPr>
                <a:spLocks noChangeShapeType="1"/>
              </p:cNvSpPr>
              <p:nvPr/>
            </p:nvSpPr>
            <p:spPr bwMode="auto">
              <a:xfrm>
                <a:off x="24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9" name="Line 221"/>
              <p:cNvSpPr>
                <a:spLocks noChangeShapeType="1"/>
              </p:cNvSpPr>
              <p:nvPr/>
            </p:nvSpPr>
            <p:spPr bwMode="auto">
              <a:xfrm flipV="1">
                <a:off x="27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0" name="Line 222"/>
              <p:cNvSpPr>
                <a:spLocks noChangeShapeType="1"/>
              </p:cNvSpPr>
              <p:nvPr/>
            </p:nvSpPr>
            <p:spPr bwMode="auto">
              <a:xfrm>
                <a:off x="27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1" name="Line 223"/>
              <p:cNvSpPr>
                <a:spLocks noChangeShapeType="1"/>
              </p:cNvSpPr>
              <p:nvPr/>
            </p:nvSpPr>
            <p:spPr bwMode="auto">
              <a:xfrm>
                <a:off x="29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2" name="Line 224"/>
              <p:cNvSpPr>
                <a:spLocks noChangeShapeType="1"/>
              </p:cNvSpPr>
              <p:nvPr/>
            </p:nvSpPr>
            <p:spPr bwMode="auto">
              <a:xfrm flipV="1">
                <a:off x="24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3" name="Rectangle 225"/>
              <p:cNvSpPr>
                <a:spLocks noChangeArrowheads="1"/>
              </p:cNvSpPr>
              <p:nvPr/>
            </p:nvSpPr>
            <p:spPr bwMode="auto">
              <a:xfrm>
                <a:off x="244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5</a:t>
                </a:r>
                <a:endParaRPr lang="en-US" altLang="zh-CN" sz="1200"/>
              </a:p>
            </p:txBody>
          </p:sp>
          <p:sp>
            <p:nvSpPr>
              <p:cNvPr id="53474" name="Line 226"/>
              <p:cNvSpPr>
                <a:spLocks noChangeShapeType="1"/>
              </p:cNvSpPr>
              <p:nvPr/>
            </p:nvSpPr>
            <p:spPr bwMode="auto">
              <a:xfrm>
                <a:off x="29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5" name="Line 227"/>
              <p:cNvSpPr>
                <a:spLocks noChangeShapeType="1"/>
              </p:cNvSpPr>
              <p:nvPr/>
            </p:nvSpPr>
            <p:spPr bwMode="auto">
              <a:xfrm flipV="1">
                <a:off x="31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6" name="Line 228"/>
              <p:cNvSpPr>
                <a:spLocks noChangeShapeType="1"/>
              </p:cNvSpPr>
              <p:nvPr/>
            </p:nvSpPr>
            <p:spPr bwMode="auto">
              <a:xfrm>
                <a:off x="31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7" name="Line 229"/>
              <p:cNvSpPr>
                <a:spLocks noChangeShapeType="1"/>
              </p:cNvSpPr>
              <p:nvPr/>
            </p:nvSpPr>
            <p:spPr bwMode="auto">
              <a:xfrm>
                <a:off x="34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8" name="Rectangle 230"/>
              <p:cNvSpPr>
                <a:spLocks noChangeArrowheads="1"/>
              </p:cNvSpPr>
              <p:nvPr/>
            </p:nvSpPr>
            <p:spPr bwMode="auto">
              <a:xfrm>
                <a:off x="292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6</a:t>
                </a:r>
                <a:endParaRPr lang="en-US" altLang="zh-CN" sz="1200"/>
              </a:p>
            </p:txBody>
          </p:sp>
          <p:sp>
            <p:nvSpPr>
              <p:cNvPr id="53479" name="Line 231"/>
              <p:cNvSpPr>
                <a:spLocks noChangeShapeType="1"/>
              </p:cNvSpPr>
              <p:nvPr/>
            </p:nvSpPr>
            <p:spPr bwMode="auto">
              <a:xfrm>
                <a:off x="34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0" name="Line 232"/>
              <p:cNvSpPr>
                <a:spLocks noChangeShapeType="1"/>
              </p:cNvSpPr>
              <p:nvPr/>
            </p:nvSpPr>
            <p:spPr bwMode="auto">
              <a:xfrm flipV="1">
                <a:off x="36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1" name="Line 233"/>
              <p:cNvSpPr>
                <a:spLocks noChangeShapeType="1"/>
              </p:cNvSpPr>
              <p:nvPr/>
            </p:nvSpPr>
            <p:spPr bwMode="auto">
              <a:xfrm>
                <a:off x="36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2" name="Line 234"/>
              <p:cNvSpPr>
                <a:spLocks noChangeShapeType="1"/>
              </p:cNvSpPr>
              <p:nvPr/>
            </p:nvSpPr>
            <p:spPr bwMode="auto">
              <a:xfrm>
                <a:off x="39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3" name="Line 235"/>
              <p:cNvSpPr>
                <a:spLocks noChangeShapeType="1"/>
              </p:cNvSpPr>
              <p:nvPr/>
            </p:nvSpPr>
            <p:spPr bwMode="auto">
              <a:xfrm flipV="1">
                <a:off x="34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4" name="Rectangle 236"/>
              <p:cNvSpPr>
                <a:spLocks noChangeArrowheads="1"/>
              </p:cNvSpPr>
              <p:nvPr/>
            </p:nvSpPr>
            <p:spPr bwMode="auto">
              <a:xfrm>
                <a:off x="340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7</a:t>
                </a:r>
                <a:endParaRPr lang="en-US" altLang="zh-CN" sz="1200"/>
              </a:p>
            </p:txBody>
          </p:sp>
          <p:sp>
            <p:nvSpPr>
              <p:cNvPr id="53485" name="Line 237"/>
              <p:cNvSpPr>
                <a:spLocks noChangeShapeType="1"/>
              </p:cNvSpPr>
              <p:nvPr/>
            </p:nvSpPr>
            <p:spPr bwMode="auto">
              <a:xfrm>
                <a:off x="39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6" name="Line 238"/>
              <p:cNvSpPr>
                <a:spLocks noChangeShapeType="1"/>
              </p:cNvSpPr>
              <p:nvPr/>
            </p:nvSpPr>
            <p:spPr bwMode="auto">
              <a:xfrm flipV="1">
                <a:off x="41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7" name="Line 239"/>
              <p:cNvSpPr>
                <a:spLocks noChangeShapeType="1"/>
              </p:cNvSpPr>
              <p:nvPr/>
            </p:nvSpPr>
            <p:spPr bwMode="auto">
              <a:xfrm>
                <a:off x="41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8" name="Line 240"/>
              <p:cNvSpPr>
                <a:spLocks noChangeShapeType="1"/>
              </p:cNvSpPr>
              <p:nvPr/>
            </p:nvSpPr>
            <p:spPr bwMode="auto">
              <a:xfrm>
                <a:off x="43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9" name="Line 241"/>
              <p:cNvSpPr>
                <a:spLocks noChangeShapeType="1"/>
              </p:cNvSpPr>
              <p:nvPr/>
            </p:nvSpPr>
            <p:spPr bwMode="auto">
              <a:xfrm flipV="1">
                <a:off x="39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0" name="Rectangle 242"/>
              <p:cNvSpPr>
                <a:spLocks noChangeArrowheads="1"/>
              </p:cNvSpPr>
              <p:nvPr/>
            </p:nvSpPr>
            <p:spPr bwMode="auto">
              <a:xfrm>
                <a:off x="388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8</a:t>
                </a:r>
                <a:endParaRPr lang="en-US" altLang="zh-CN" sz="1200"/>
              </a:p>
            </p:txBody>
          </p:sp>
          <p:sp>
            <p:nvSpPr>
              <p:cNvPr id="53491" name="Line 243"/>
              <p:cNvSpPr>
                <a:spLocks noChangeShapeType="1"/>
              </p:cNvSpPr>
              <p:nvPr/>
            </p:nvSpPr>
            <p:spPr bwMode="auto">
              <a:xfrm>
                <a:off x="43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2" name="Line 244"/>
              <p:cNvSpPr>
                <a:spLocks noChangeShapeType="1"/>
              </p:cNvSpPr>
              <p:nvPr/>
            </p:nvSpPr>
            <p:spPr bwMode="auto">
              <a:xfrm flipV="1">
                <a:off x="46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3" name="Line 245"/>
              <p:cNvSpPr>
                <a:spLocks noChangeShapeType="1"/>
              </p:cNvSpPr>
              <p:nvPr/>
            </p:nvSpPr>
            <p:spPr bwMode="auto">
              <a:xfrm>
                <a:off x="46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4" name="Line 246"/>
              <p:cNvSpPr>
                <a:spLocks noChangeShapeType="1"/>
              </p:cNvSpPr>
              <p:nvPr/>
            </p:nvSpPr>
            <p:spPr bwMode="auto">
              <a:xfrm>
                <a:off x="48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5" name="Line 247"/>
              <p:cNvSpPr>
                <a:spLocks noChangeShapeType="1"/>
              </p:cNvSpPr>
              <p:nvPr/>
            </p:nvSpPr>
            <p:spPr bwMode="auto">
              <a:xfrm flipV="1">
                <a:off x="43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6" name="Rectangle 248"/>
              <p:cNvSpPr>
                <a:spLocks noChangeArrowheads="1"/>
              </p:cNvSpPr>
              <p:nvPr/>
            </p:nvSpPr>
            <p:spPr bwMode="auto">
              <a:xfrm>
                <a:off x="436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9</a:t>
                </a:r>
                <a:endParaRPr lang="en-US" altLang="zh-CN" sz="1200"/>
              </a:p>
            </p:txBody>
          </p:sp>
          <p:sp>
            <p:nvSpPr>
              <p:cNvPr id="53497" name="Line 249"/>
              <p:cNvSpPr>
                <a:spLocks noChangeShapeType="1"/>
              </p:cNvSpPr>
              <p:nvPr/>
            </p:nvSpPr>
            <p:spPr bwMode="auto">
              <a:xfrm>
                <a:off x="48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8" name="Line 250"/>
              <p:cNvSpPr>
                <a:spLocks noChangeShapeType="1"/>
              </p:cNvSpPr>
              <p:nvPr/>
            </p:nvSpPr>
            <p:spPr bwMode="auto">
              <a:xfrm flipV="1">
                <a:off x="51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9" name="Line 251"/>
              <p:cNvSpPr>
                <a:spLocks noChangeShapeType="1"/>
              </p:cNvSpPr>
              <p:nvPr/>
            </p:nvSpPr>
            <p:spPr bwMode="auto">
              <a:xfrm>
                <a:off x="51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0" name="Line 252"/>
              <p:cNvSpPr>
                <a:spLocks noChangeShapeType="1"/>
              </p:cNvSpPr>
              <p:nvPr/>
            </p:nvSpPr>
            <p:spPr bwMode="auto">
              <a:xfrm>
                <a:off x="53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1" name="Line 253"/>
              <p:cNvSpPr>
                <a:spLocks noChangeShapeType="1"/>
              </p:cNvSpPr>
              <p:nvPr/>
            </p:nvSpPr>
            <p:spPr bwMode="auto">
              <a:xfrm flipV="1">
                <a:off x="48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2" name="Rectangle 254"/>
              <p:cNvSpPr>
                <a:spLocks noChangeArrowheads="1"/>
              </p:cNvSpPr>
              <p:nvPr/>
            </p:nvSpPr>
            <p:spPr bwMode="auto">
              <a:xfrm>
                <a:off x="4793" y="2448"/>
                <a:ext cx="59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10</a:t>
                </a:r>
                <a:endParaRPr lang="en-US" altLang="zh-CN" sz="1200"/>
              </a:p>
            </p:txBody>
          </p:sp>
          <p:sp>
            <p:nvSpPr>
              <p:cNvPr id="53503" name="Line 255"/>
              <p:cNvSpPr>
                <a:spLocks noChangeShapeType="1"/>
              </p:cNvSpPr>
              <p:nvPr/>
            </p:nvSpPr>
            <p:spPr bwMode="auto">
              <a:xfrm>
                <a:off x="53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Multi-cycle implementation vs. pipelining</a:t>
            </a:r>
            <a:endParaRPr lang="en-US" altLang="zh-CN"/>
          </a:p>
        </p:txBody>
      </p:sp>
      <p:sp>
        <p:nvSpPr>
          <p:cNvPr id="233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E1C28170-7DB6-4F25-8686-7720C7F75AA5}" type="slidenum">
              <a:rPr lang="en-US" altLang="zh-CN"/>
            </a:fld>
            <a:endParaRPr lang="en-US" altLang="zh-CN"/>
          </a:p>
        </p:txBody>
      </p:sp>
      <p:sp>
        <p:nvSpPr>
          <p:cNvPr id="54384" name="Rectangle 112"/>
          <p:cNvSpPr>
            <a:spLocks noChangeArrowheads="1"/>
          </p:cNvSpPr>
          <p:nvPr/>
        </p:nvSpPr>
        <p:spPr bwMode="auto">
          <a:xfrm>
            <a:off x="1777351" y="1807468"/>
            <a:ext cx="462468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 dirty="0"/>
              <a:t>Load</a:t>
            </a:r>
            <a:endParaRPr lang="en-US" altLang="zh-CN" sz="1200" dirty="0"/>
          </a:p>
        </p:txBody>
      </p:sp>
      <p:sp>
        <p:nvSpPr>
          <p:cNvPr id="54385" name="Rectangle 113"/>
          <p:cNvSpPr>
            <a:spLocks noChangeArrowheads="1"/>
          </p:cNvSpPr>
          <p:nvPr/>
        </p:nvSpPr>
        <p:spPr bwMode="auto">
          <a:xfrm>
            <a:off x="4623968" y="1807468"/>
            <a:ext cx="493758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/>
              <a:t>Store</a:t>
            </a:r>
            <a:endParaRPr lang="en-US" altLang="zh-CN" sz="1200"/>
          </a:p>
        </p:txBody>
      </p:sp>
      <p:sp>
        <p:nvSpPr>
          <p:cNvPr id="54386" name="Line 114"/>
          <p:cNvSpPr>
            <a:spLocks noChangeShapeType="1"/>
          </p:cNvSpPr>
          <p:nvPr/>
        </p:nvSpPr>
        <p:spPr bwMode="auto">
          <a:xfrm flipV="1">
            <a:off x="4644629" y="1495425"/>
            <a:ext cx="0" cy="70485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05" name="Line 133"/>
          <p:cNvSpPr>
            <a:spLocks noChangeShapeType="1"/>
          </p:cNvSpPr>
          <p:nvPr/>
        </p:nvSpPr>
        <p:spPr bwMode="auto">
          <a:xfrm flipV="1">
            <a:off x="1787129" y="2400300"/>
            <a:ext cx="0" cy="295275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06" name="Line 134"/>
          <p:cNvSpPr>
            <a:spLocks noChangeShapeType="1"/>
          </p:cNvSpPr>
          <p:nvPr/>
        </p:nvSpPr>
        <p:spPr bwMode="auto">
          <a:xfrm flipV="1">
            <a:off x="4644629" y="2409825"/>
            <a:ext cx="0" cy="59055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09" name="Line 137"/>
          <p:cNvSpPr>
            <a:spLocks noChangeShapeType="1"/>
          </p:cNvSpPr>
          <p:nvPr/>
        </p:nvSpPr>
        <p:spPr bwMode="auto">
          <a:xfrm flipV="1">
            <a:off x="6930629" y="1485900"/>
            <a:ext cx="0" cy="70485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32" name="Rectangle 160"/>
          <p:cNvSpPr>
            <a:spLocks noChangeArrowheads="1"/>
          </p:cNvSpPr>
          <p:nvPr/>
        </p:nvSpPr>
        <p:spPr bwMode="auto">
          <a:xfrm>
            <a:off x="6915397" y="1807468"/>
            <a:ext cx="575768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/>
              <a:t>R-type</a:t>
            </a:r>
            <a:endParaRPr lang="en-US" altLang="zh-CN" sz="1200"/>
          </a:p>
        </p:txBody>
      </p:sp>
      <p:sp>
        <p:nvSpPr>
          <p:cNvPr id="54460" name="Line 188"/>
          <p:cNvSpPr>
            <a:spLocks noChangeShapeType="1"/>
          </p:cNvSpPr>
          <p:nvPr/>
        </p:nvSpPr>
        <p:spPr bwMode="auto">
          <a:xfrm flipV="1">
            <a:off x="1787129" y="1895475"/>
            <a:ext cx="0" cy="28575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4461" name="Group 189"/>
          <p:cNvGrpSpPr/>
          <p:nvPr/>
        </p:nvGrpSpPr>
        <p:grpSpPr bwMode="auto">
          <a:xfrm>
            <a:off x="1385888" y="2628901"/>
            <a:ext cx="6392466" cy="921544"/>
            <a:chOff x="204" y="2226"/>
            <a:chExt cx="5369" cy="774"/>
          </a:xfrm>
        </p:grpSpPr>
        <p:grpSp>
          <p:nvGrpSpPr>
            <p:cNvPr id="54462" name="Group 190"/>
            <p:cNvGrpSpPr/>
            <p:nvPr/>
          </p:nvGrpSpPr>
          <p:grpSpPr bwMode="auto">
            <a:xfrm>
              <a:off x="541" y="2226"/>
              <a:ext cx="2400" cy="544"/>
              <a:chOff x="541" y="2112"/>
              <a:chExt cx="2400" cy="544"/>
            </a:xfrm>
          </p:grpSpPr>
          <p:sp>
            <p:nvSpPr>
              <p:cNvPr id="54463" name="Line 191"/>
              <p:cNvSpPr>
                <a:spLocks noChangeShapeType="1"/>
              </p:cNvSpPr>
              <p:nvPr/>
            </p:nvSpPr>
            <p:spPr bwMode="auto">
              <a:xfrm flipV="1">
                <a:off x="541" y="2120"/>
                <a:ext cx="0" cy="536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64" name="Line 192"/>
              <p:cNvSpPr>
                <a:spLocks noChangeShapeType="1"/>
              </p:cNvSpPr>
              <p:nvPr/>
            </p:nvSpPr>
            <p:spPr bwMode="auto">
              <a:xfrm flipV="1">
                <a:off x="2941" y="2112"/>
                <a:ext cx="0" cy="544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4465" name="Group 193"/>
            <p:cNvGrpSpPr/>
            <p:nvPr/>
          </p:nvGrpSpPr>
          <p:grpSpPr bwMode="auto">
            <a:xfrm>
              <a:off x="204" y="2544"/>
              <a:ext cx="5369" cy="456"/>
              <a:chOff x="204" y="2444"/>
              <a:chExt cx="5369" cy="456"/>
            </a:xfrm>
          </p:grpSpPr>
          <p:sp>
            <p:nvSpPr>
              <p:cNvPr id="54466" name="Rectangle 194"/>
              <p:cNvSpPr>
                <a:spLocks noChangeArrowheads="1"/>
              </p:cNvSpPr>
              <p:nvPr/>
            </p:nvSpPr>
            <p:spPr bwMode="auto">
              <a:xfrm>
                <a:off x="204" y="2688"/>
                <a:ext cx="287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Clk</a:t>
                </a:r>
                <a:endParaRPr lang="en-US" altLang="zh-CN" sz="1200"/>
              </a:p>
            </p:txBody>
          </p:sp>
          <p:sp>
            <p:nvSpPr>
              <p:cNvPr id="54467" name="Line 195"/>
              <p:cNvSpPr>
                <a:spLocks noChangeShapeType="1"/>
              </p:cNvSpPr>
              <p:nvPr/>
            </p:nvSpPr>
            <p:spPr bwMode="auto">
              <a:xfrm>
                <a:off x="5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68" name="Line 196"/>
              <p:cNvSpPr>
                <a:spLocks noChangeShapeType="1"/>
              </p:cNvSpPr>
              <p:nvPr/>
            </p:nvSpPr>
            <p:spPr bwMode="auto">
              <a:xfrm>
                <a:off x="5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69" name="Line 197"/>
              <p:cNvSpPr>
                <a:spLocks noChangeShapeType="1"/>
              </p:cNvSpPr>
              <p:nvPr/>
            </p:nvSpPr>
            <p:spPr bwMode="auto">
              <a:xfrm flipV="1">
                <a:off x="7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0" name="Line 198"/>
              <p:cNvSpPr>
                <a:spLocks noChangeShapeType="1"/>
              </p:cNvSpPr>
              <p:nvPr/>
            </p:nvSpPr>
            <p:spPr bwMode="auto">
              <a:xfrm>
                <a:off x="7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1" name="Line 199"/>
              <p:cNvSpPr>
                <a:spLocks noChangeShapeType="1"/>
              </p:cNvSpPr>
              <p:nvPr/>
            </p:nvSpPr>
            <p:spPr bwMode="auto">
              <a:xfrm>
                <a:off x="10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2" name="Line 200"/>
              <p:cNvSpPr>
                <a:spLocks noChangeShapeType="1"/>
              </p:cNvSpPr>
              <p:nvPr/>
            </p:nvSpPr>
            <p:spPr bwMode="auto">
              <a:xfrm>
                <a:off x="3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3" name="Rectangle 201"/>
              <p:cNvSpPr>
                <a:spLocks noChangeArrowheads="1"/>
              </p:cNvSpPr>
              <p:nvPr/>
            </p:nvSpPr>
            <p:spPr bwMode="auto">
              <a:xfrm>
                <a:off x="52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1</a:t>
                </a:r>
                <a:endParaRPr lang="en-US" altLang="zh-CN" sz="1200"/>
              </a:p>
            </p:txBody>
          </p:sp>
          <p:sp>
            <p:nvSpPr>
              <p:cNvPr id="54474" name="Line 202"/>
              <p:cNvSpPr>
                <a:spLocks noChangeShapeType="1"/>
              </p:cNvSpPr>
              <p:nvPr/>
            </p:nvSpPr>
            <p:spPr bwMode="auto">
              <a:xfrm>
                <a:off x="10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5" name="Line 203"/>
              <p:cNvSpPr>
                <a:spLocks noChangeShapeType="1"/>
              </p:cNvSpPr>
              <p:nvPr/>
            </p:nvSpPr>
            <p:spPr bwMode="auto">
              <a:xfrm flipV="1">
                <a:off x="12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6" name="Line 204"/>
              <p:cNvSpPr>
                <a:spLocks noChangeShapeType="1"/>
              </p:cNvSpPr>
              <p:nvPr/>
            </p:nvSpPr>
            <p:spPr bwMode="auto">
              <a:xfrm>
                <a:off x="12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7" name="Line 205"/>
              <p:cNvSpPr>
                <a:spLocks noChangeShapeType="1"/>
              </p:cNvSpPr>
              <p:nvPr/>
            </p:nvSpPr>
            <p:spPr bwMode="auto">
              <a:xfrm>
                <a:off x="15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8" name="Line 206"/>
              <p:cNvSpPr>
                <a:spLocks noChangeShapeType="1"/>
              </p:cNvSpPr>
              <p:nvPr/>
            </p:nvSpPr>
            <p:spPr bwMode="auto">
              <a:xfrm flipV="1">
                <a:off x="10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9" name="Rectangle 207"/>
              <p:cNvSpPr>
                <a:spLocks noChangeArrowheads="1"/>
              </p:cNvSpPr>
              <p:nvPr/>
            </p:nvSpPr>
            <p:spPr bwMode="auto">
              <a:xfrm>
                <a:off x="100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2</a:t>
                </a:r>
                <a:endParaRPr lang="en-US" altLang="zh-CN" sz="1200"/>
              </a:p>
            </p:txBody>
          </p:sp>
          <p:sp>
            <p:nvSpPr>
              <p:cNvPr id="54480" name="Line 208"/>
              <p:cNvSpPr>
                <a:spLocks noChangeShapeType="1"/>
              </p:cNvSpPr>
              <p:nvPr/>
            </p:nvSpPr>
            <p:spPr bwMode="auto">
              <a:xfrm>
                <a:off x="15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1" name="Line 209"/>
              <p:cNvSpPr>
                <a:spLocks noChangeShapeType="1"/>
              </p:cNvSpPr>
              <p:nvPr/>
            </p:nvSpPr>
            <p:spPr bwMode="auto">
              <a:xfrm flipV="1">
                <a:off x="17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2" name="Line 210"/>
              <p:cNvSpPr>
                <a:spLocks noChangeShapeType="1"/>
              </p:cNvSpPr>
              <p:nvPr/>
            </p:nvSpPr>
            <p:spPr bwMode="auto">
              <a:xfrm>
                <a:off x="17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3" name="Line 211"/>
              <p:cNvSpPr>
                <a:spLocks noChangeShapeType="1"/>
              </p:cNvSpPr>
              <p:nvPr/>
            </p:nvSpPr>
            <p:spPr bwMode="auto">
              <a:xfrm>
                <a:off x="19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4" name="Line 212"/>
              <p:cNvSpPr>
                <a:spLocks noChangeShapeType="1"/>
              </p:cNvSpPr>
              <p:nvPr/>
            </p:nvSpPr>
            <p:spPr bwMode="auto">
              <a:xfrm flipV="1">
                <a:off x="15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5" name="Rectangle 213"/>
              <p:cNvSpPr>
                <a:spLocks noChangeArrowheads="1"/>
              </p:cNvSpPr>
              <p:nvPr/>
            </p:nvSpPr>
            <p:spPr bwMode="auto">
              <a:xfrm>
                <a:off x="148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3</a:t>
                </a:r>
                <a:endParaRPr lang="en-US" altLang="zh-CN" sz="1200"/>
              </a:p>
            </p:txBody>
          </p:sp>
          <p:sp>
            <p:nvSpPr>
              <p:cNvPr id="54486" name="Line 214"/>
              <p:cNvSpPr>
                <a:spLocks noChangeShapeType="1"/>
              </p:cNvSpPr>
              <p:nvPr/>
            </p:nvSpPr>
            <p:spPr bwMode="auto">
              <a:xfrm>
                <a:off x="19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7" name="Line 215"/>
              <p:cNvSpPr>
                <a:spLocks noChangeShapeType="1"/>
              </p:cNvSpPr>
              <p:nvPr/>
            </p:nvSpPr>
            <p:spPr bwMode="auto">
              <a:xfrm flipV="1">
                <a:off x="22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8" name="Line 216"/>
              <p:cNvSpPr>
                <a:spLocks noChangeShapeType="1"/>
              </p:cNvSpPr>
              <p:nvPr/>
            </p:nvSpPr>
            <p:spPr bwMode="auto">
              <a:xfrm>
                <a:off x="22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9" name="Line 217"/>
              <p:cNvSpPr>
                <a:spLocks noChangeShapeType="1"/>
              </p:cNvSpPr>
              <p:nvPr/>
            </p:nvSpPr>
            <p:spPr bwMode="auto">
              <a:xfrm>
                <a:off x="24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0" name="Line 218"/>
              <p:cNvSpPr>
                <a:spLocks noChangeShapeType="1"/>
              </p:cNvSpPr>
              <p:nvPr/>
            </p:nvSpPr>
            <p:spPr bwMode="auto">
              <a:xfrm flipV="1">
                <a:off x="19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1" name="Rectangle 219"/>
              <p:cNvSpPr>
                <a:spLocks noChangeArrowheads="1"/>
              </p:cNvSpPr>
              <p:nvPr/>
            </p:nvSpPr>
            <p:spPr bwMode="auto">
              <a:xfrm>
                <a:off x="196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4</a:t>
                </a:r>
                <a:endParaRPr lang="en-US" altLang="zh-CN" sz="1200"/>
              </a:p>
            </p:txBody>
          </p:sp>
          <p:sp>
            <p:nvSpPr>
              <p:cNvPr id="54492" name="Line 220"/>
              <p:cNvSpPr>
                <a:spLocks noChangeShapeType="1"/>
              </p:cNvSpPr>
              <p:nvPr/>
            </p:nvSpPr>
            <p:spPr bwMode="auto">
              <a:xfrm>
                <a:off x="24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3" name="Line 221"/>
              <p:cNvSpPr>
                <a:spLocks noChangeShapeType="1"/>
              </p:cNvSpPr>
              <p:nvPr/>
            </p:nvSpPr>
            <p:spPr bwMode="auto">
              <a:xfrm flipV="1">
                <a:off x="27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4" name="Line 222"/>
              <p:cNvSpPr>
                <a:spLocks noChangeShapeType="1"/>
              </p:cNvSpPr>
              <p:nvPr/>
            </p:nvSpPr>
            <p:spPr bwMode="auto">
              <a:xfrm>
                <a:off x="27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5" name="Line 223"/>
              <p:cNvSpPr>
                <a:spLocks noChangeShapeType="1"/>
              </p:cNvSpPr>
              <p:nvPr/>
            </p:nvSpPr>
            <p:spPr bwMode="auto">
              <a:xfrm>
                <a:off x="29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6" name="Line 224"/>
              <p:cNvSpPr>
                <a:spLocks noChangeShapeType="1"/>
              </p:cNvSpPr>
              <p:nvPr/>
            </p:nvSpPr>
            <p:spPr bwMode="auto">
              <a:xfrm flipV="1">
                <a:off x="24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7" name="Rectangle 225"/>
              <p:cNvSpPr>
                <a:spLocks noChangeArrowheads="1"/>
              </p:cNvSpPr>
              <p:nvPr/>
            </p:nvSpPr>
            <p:spPr bwMode="auto">
              <a:xfrm>
                <a:off x="244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5</a:t>
                </a:r>
                <a:endParaRPr lang="en-US" altLang="zh-CN" sz="1200"/>
              </a:p>
            </p:txBody>
          </p:sp>
          <p:sp>
            <p:nvSpPr>
              <p:cNvPr id="54498" name="Line 226"/>
              <p:cNvSpPr>
                <a:spLocks noChangeShapeType="1"/>
              </p:cNvSpPr>
              <p:nvPr/>
            </p:nvSpPr>
            <p:spPr bwMode="auto">
              <a:xfrm>
                <a:off x="29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9" name="Line 227"/>
              <p:cNvSpPr>
                <a:spLocks noChangeShapeType="1"/>
              </p:cNvSpPr>
              <p:nvPr/>
            </p:nvSpPr>
            <p:spPr bwMode="auto">
              <a:xfrm flipV="1">
                <a:off x="31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0" name="Line 228"/>
              <p:cNvSpPr>
                <a:spLocks noChangeShapeType="1"/>
              </p:cNvSpPr>
              <p:nvPr/>
            </p:nvSpPr>
            <p:spPr bwMode="auto">
              <a:xfrm>
                <a:off x="31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1" name="Line 229"/>
              <p:cNvSpPr>
                <a:spLocks noChangeShapeType="1"/>
              </p:cNvSpPr>
              <p:nvPr/>
            </p:nvSpPr>
            <p:spPr bwMode="auto">
              <a:xfrm>
                <a:off x="34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2" name="Rectangle 230"/>
              <p:cNvSpPr>
                <a:spLocks noChangeArrowheads="1"/>
              </p:cNvSpPr>
              <p:nvPr/>
            </p:nvSpPr>
            <p:spPr bwMode="auto">
              <a:xfrm>
                <a:off x="292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6</a:t>
                </a:r>
                <a:endParaRPr lang="en-US" altLang="zh-CN" sz="1200"/>
              </a:p>
            </p:txBody>
          </p:sp>
          <p:sp>
            <p:nvSpPr>
              <p:cNvPr id="54503" name="Line 231"/>
              <p:cNvSpPr>
                <a:spLocks noChangeShapeType="1"/>
              </p:cNvSpPr>
              <p:nvPr/>
            </p:nvSpPr>
            <p:spPr bwMode="auto">
              <a:xfrm>
                <a:off x="34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4" name="Line 232"/>
              <p:cNvSpPr>
                <a:spLocks noChangeShapeType="1"/>
              </p:cNvSpPr>
              <p:nvPr/>
            </p:nvSpPr>
            <p:spPr bwMode="auto">
              <a:xfrm flipV="1">
                <a:off x="36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5" name="Line 233"/>
              <p:cNvSpPr>
                <a:spLocks noChangeShapeType="1"/>
              </p:cNvSpPr>
              <p:nvPr/>
            </p:nvSpPr>
            <p:spPr bwMode="auto">
              <a:xfrm>
                <a:off x="36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6" name="Line 234"/>
              <p:cNvSpPr>
                <a:spLocks noChangeShapeType="1"/>
              </p:cNvSpPr>
              <p:nvPr/>
            </p:nvSpPr>
            <p:spPr bwMode="auto">
              <a:xfrm>
                <a:off x="39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7" name="Line 235"/>
              <p:cNvSpPr>
                <a:spLocks noChangeShapeType="1"/>
              </p:cNvSpPr>
              <p:nvPr/>
            </p:nvSpPr>
            <p:spPr bwMode="auto">
              <a:xfrm flipV="1">
                <a:off x="34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8" name="Rectangle 236"/>
              <p:cNvSpPr>
                <a:spLocks noChangeArrowheads="1"/>
              </p:cNvSpPr>
              <p:nvPr/>
            </p:nvSpPr>
            <p:spPr bwMode="auto">
              <a:xfrm>
                <a:off x="340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7</a:t>
                </a:r>
                <a:endParaRPr lang="en-US" altLang="zh-CN" sz="1200"/>
              </a:p>
            </p:txBody>
          </p:sp>
          <p:sp>
            <p:nvSpPr>
              <p:cNvPr id="54509" name="Line 237"/>
              <p:cNvSpPr>
                <a:spLocks noChangeShapeType="1"/>
              </p:cNvSpPr>
              <p:nvPr/>
            </p:nvSpPr>
            <p:spPr bwMode="auto">
              <a:xfrm>
                <a:off x="39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0" name="Line 238"/>
              <p:cNvSpPr>
                <a:spLocks noChangeShapeType="1"/>
              </p:cNvSpPr>
              <p:nvPr/>
            </p:nvSpPr>
            <p:spPr bwMode="auto">
              <a:xfrm flipV="1">
                <a:off x="41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1" name="Line 239"/>
              <p:cNvSpPr>
                <a:spLocks noChangeShapeType="1"/>
              </p:cNvSpPr>
              <p:nvPr/>
            </p:nvSpPr>
            <p:spPr bwMode="auto">
              <a:xfrm>
                <a:off x="41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2" name="Line 240"/>
              <p:cNvSpPr>
                <a:spLocks noChangeShapeType="1"/>
              </p:cNvSpPr>
              <p:nvPr/>
            </p:nvSpPr>
            <p:spPr bwMode="auto">
              <a:xfrm>
                <a:off x="43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3" name="Line 241"/>
              <p:cNvSpPr>
                <a:spLocks noChangeShapeType="1"/>
              </p:cNvSpPr>
              <p:nvPr/>
            </p:nvSpPr>
            <p:spPr bwMode="auto">
              <a:xfrm flipV="1">
                <a:off x="39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4" name="Rectangle 242"/>
              <p:cNvSpPr>
                <a:spLocks noChangeArrowheads="1"/>
              </p:cNvSpPr>
              <p:nvPr/>
            </p:nvSpPr>
            <p:spPr bwMode="auto">
              <a:xfrm>
                <a:off x="388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8</a:t>
                </a:r>
                <a:endParaRPr lang="en-US" altLang="zh-CN" sz="1200"/>
              </a:p>
            </p:txBody>
          </p:sp>
          <p:sp>
            <p:nvSpPr>
              <p:cNvPr id="54515" name="Line 243"/>
              <p:cNvSpPr>
                <a:spLocks noChangeShapeType="1"/>
              </p:cNvSpPr>
              <p:nvPr/>
            </p:nvSpPr>
            <p:spPr bwMode="auto">
              <a:xfrm>
                <a:off x="43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6" name="Line 244"/>
              <p:cNvSpPr>
                <a:spLocks noChangeShapeType="1"/>
              </p:cNvSpPr>
              <p:nvPr/>
            </p:nvSpPr>
            <p:spPr bwMode="auto">
              <a:xfrm flipV="1">
                <a:off x="46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7" name="Line 245"/>
              <p:cNvSpPr>
                <a:spLocks noChangeShapeType="1"/>
              </p:cNvSpPr>
              <p:nvPr/>
            </p:nvSpPr>
            <p:spPr bwMode="auto">
              <a:xfrm>
                <a:off x="46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8" name="Line 246"/>
              <p:cNvSpPr>
                <a:spLocks noChangeShapeType="1"/>
              </p:cNvSpPr>
              <p:nvPr/>
            </p:nvSpPr>
            <p:spPr bwMode="auto">
              <a:xfrm>
                <a:off x="48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9" name="Line 247"/>
              <p:cNvSpPr>
                <a:spLocks noChangeShapeType="1"/>
              </p:cNvSpPr>
              <p:nvPr/>
            </p:nvSpPr>
            <p:spPr bwMode="auto">
              <a:xfrm flipV="1">
                <a:off x="43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0" name="Rectangle 248"/>
              <p:cNvSpPr>
                <a:spLocks noChangeArrowheads="1"/>
              </p:cNvSpPr>
              <p:nvPr/>
            </p:nvSpPr>
            <p:spPr bwMode="auto">
              <a:xfrm>
                <a:off x="436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9</a:t>
                </a:r>
                <a:endParaRPr lang="en-US" altLang="zh-CN" sz="1200"/>
              </a:p>
            </p:txBody>
          </p:sp>
          <p:sp>
            <p:nvSpPr>
              <p:cNvPr id="54521" name="Line 249"/>
              <p:cNvSpPr>
                <a:spLocks noChangeShapeType="1"/>
              </p:cNvSpPr>
              <p:nvPr/>
            </p:nvSpPr>
            <p:spPr bwMode="auto">
              <a:xfrm>
                <a:off x="48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2" name="Line 250"/>
              <p:cNvSpPr>
                <a:spLocks noChangeShapeType="1"/>
              </p:cNvSpPr>
              <p:nvPr/>
            </p:nvSpPr>
            <p:spPr bwMode="auto">
              <a:xfrm flipV="1">
                <a:off x="51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3" name="Line 251"/>
              <p:cNvSpPr>
                <a:spLocks noChangeShapeType="1"/>
              </p:cNvSpPr>
              <p:nvPr/>
            </p:nvSpPr>
            <p:spPr bwMode="auto">
              <a:xfrm>
                <a:off x="51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4" name="Line 252"/>
              <p:cNvSpPr>
                <a:spLocks noChangeShapeType="1"/>
              </p:cNvSpPr>
              <p:nvPr/>
            </p:nvSpPr>
            <p:spPr bwMode="auto">
              <a:xfrm>
                <a:off x="53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5" name="Line 253"/>
              <p:cNvSpPr>
                <a:spLocks noChangeShapeType="1"/>
              </p:cNvSpPr>
              <p:nvPr/>
            </p:nvSpPr>
            <p:spPr bwMode="auto">
              <a:xfrm flipV="1">
                <a:off x="48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6" name="Rectangle 254"/>
              <p:cNvSpPr>
                <a:spLocks noChangeArrowheads="1"/>
              </p:cNvSpPr>
              <p:nvPr/>
            </p:nvSpPr>
            <p:spPr bwMode="auto">
              <a:xfrm>
                <a:off x="4793" y="2448"/>
                <a:ext cx="59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10</a:t>
                </a:r>
                <a:endParaRPr lang="en-US" altLang="zh-CN" sz="1200"/>
              </a:p>
            </p:txBody>
          </p:sp>
          <p:sp>
            <p:nvSpPr>
              <p:cNvPr id="54527" name="Line 255"/>
              <p:cNvSpPr>
                <a:spLocks noChangeShapeType="1"/>
              </p:cNvSpPr>
              <p:nvPr/>
            </p:nvSpPr>
            <p:spPr bwMode="auto">
              <a:xfrm>
                <a:off x="53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4529" name="Group 257"/>
          <p:cNvGrpSpPr/>
          <p:nvPr/>
        </p:nvGrpSpPr>
        <p:grpSpPr bwMode="auto">
          <a:xfrm>
            <a:off x="1385888" y="972741"/>
            <a:ext cx="6392466" cy="921544"/>
            <a:chOff x="204" y="2226"/>
            <a:chExt cx="5369" cy="774"/>
          </a:xfrm>
        </p:grpSpPr>
        <p:grpSp>
          <p:nvGrpSpPr>
            <p:cNvPr id="54530" name="Group 258"/>
            <p:cNvGrpSpPr/>
            <p:nvPr/>
          </p:nvGrpSpPr>
          <p:grpSpPr bwMode="auto">
            <a:xfrm>
              <a:off x="541" y="2226"/>
              <a:ext cx="2400" cy="544"/>
              <a:chOff x="541" y="2112"/>
              <a:chExt cx="2400" cy="544"/>
            </a:xfrm>
          </p:grpSpPr>
          <p:sp>
            <p:nvSpPr>
              <p:cNvPr id="54531" name="Line 259"/>
              <p:cNvSpPr>
                <a:spLocks noChangeShapeType="1"/>
              </p:cNvSpPr>
              <p:nvPr/>
            </p:nvSpPr>
            <p:spPr bwMode="auto">
              <a:xfrm flipV="1">
                <a:off x="541" y="2120"/>
                <a:ext cx="0" cy="536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32" name="Line 260"/>
              <p:cNvSpPr>
                <a:spLocks noChangeShapeType="1"/>
              </p:cNvSpPr>
              <p:nvPr/>
            </p:nvSpPr>
            <p:spPr bwMode="auto">
              <a:xfrm flipV="1">
                <a:off x="2941" y="2112"/>
                <a:ext cx="0" cy="544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4533" name="Group 261"/>
            <p:cNvGrpSpPr/>
            <p:nvPr/>
          </p:nvGrpSpPr>
          <p:grpSpPr bwMode="auto">
            <a:xfrm>
              <a:off x="204" y="2544"/>
              <a:ext cx="5369" cy="456"/>
              <a:chOff x="204" y="2444"/>
              <a:chExt cx="5369" cy="456"/>
            </a:xfrm>
          </p:grpSpPr>
          <p:sp>
            <p:nvSpPr>
              <p:cNvPr id="54534" name="Rectangle 262"/>
              <p:cNvSpPr>
                <a:spLocks noChangeArrowheads="1"/>
              </p:cNvSpPr>
              <p:nvPr/>
            </p:nvSpPr>
            <p:spPr bwMode="auto">
              <a:xfrm>
                <a:off x="204" y="2688"/>
                <a:ext cx="287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Clk</a:t>
                </a:r>
                <a:endParaRPr lang="en-US" altLang="zh-CN" sz="1200"/>
              </a:p>
            </p:txBody>
          </p:sp>
          <p:sp>
            <p:nvSpPr>
              <p:cNvPr id="54535" name="Line 263"/>
              <p:cNvSpPr>
                <a:spLocks noChangeShapeType="1"/>
              </p:cNvSpPr>
              <p:nvPr/>
            </p:nvSpPr>
            <p:spPr bwMode="auto">
              <a:xfrm>
                <a:off x="5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36" name="Line 264"/>
              <p:cNvSpPr>
                <a:spLocks noChangeShapeType="1"/>
              </p:cNvSpPr>
              <p:nvPr/>
            </p:nvSpPr>
            <p:spPr bwMode="auto">
              <a:xfrm>
                <a:off x="5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37" name="Line 265"/>
              <p:cNvSpPr>
                <a:spLocks noChangeShapeType="1"/>
              </p:cNvSpPr>
              <p:nvPr/>
            </p:nvSpPr>
            <p:spPr bwMode="auto">
              <a:xfrm flipV="1">
                <a:off x="7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38" name="Line 266"/>
              <p:cNvSpPr>
                <a:spLocks noChangeShapeType="1"/>
              </p:cNvSpPr>
              <p:nvPr/>
            </p:nvSpPr>
            <p:spPr bwMode="auto">
              <a:xfrm>
                <a:off x="7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39" name="Line 267"/>
              <p:cNvSpPr>
                <a:spLocks noChangeShapeType="1"/>
              </p:cNvSpPr>
              <p:nvPr/>
            </p:nvSpPr>
            <p:spPr bwMode="auto">
              <a:xfrm>
                <a:off x="10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0" name="Line 268"/>
              <p:cNvSpPr>
                <a:spLocks noChangeShapeType="1"/>
              </p:cNvSpPr>
              <p:nvPr/>
            </p:nvSpPr>
            <p:spPr bwMode="auto">
              <a:xfrm>
                <a:off x="3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1" name="Rectangle 269"/>
              <p:cNvSpPr>
                <a:spLocks noChangeArrowheads="1"/>
              </p:cNvSpPr>
              <p:nvPr/>
            </p:nvSpPr>
            <p:spPr bwMode="auto">
              <a:xfrm>
                <a:off x="52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1</a:t>
                </a:r>
                <a:endParaRPr lang="en-US" altLang="zh-CN" sz="1200"/>
              </a:p>
            </p:txBody>
          </p:sp>
          <p:sp>
            <p:nvSpPr>
              <p:cNvPr id="54542" name="Line 270"/>
              <p:cNvSpPr>
                <a:spLocks noChangeShapeType="1"/>
              </p:cNvSpPr>
              <p:nvPr/>
            </p:nvSpPr>
            <p:spPr bwMode="auto">
              <a:xfrm>
                <a:off x="10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3" name="Line 271"/>
              <p:cNvSpPr>
                <a:spLocks noChangeShapeType="1"/>
              </p:cNvSpPr>
              <p:nvPr/>
            </p:nvSpPr>
            <p:spPr bwMode="auto">
              <a:xfrm flipV="1">
                <a:off x="12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4" name="Line 272"/>
              <p:cNvSpPr>
                <a:spLocks noChangeShapeType="1"/>
              </p:cNvSpPr>
              <p:nvPr/>
            </p:nvSpPr>
            <p:spPr bwMode="auto">
              <a:xfrm>
                <a:off x="12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5" name="Line 273"/>
              <p:cNvSpPr>
                <a:spLocks noChangeShapeType="1"/>
              </p:cNvSpPr>
              <p:nvPr/>
            </p:nvSpPr>
            <p:spPr bwMode="auto">
              <a:xfrm>
                <a:off x="15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6" name="Line 274"/>
              <p:cNvSpPr>
                <a:spLocks noChangeShapeType="1"/>
              </p:cNvSpPr>
              <p:nvPr/>
            </p:nvSpPr>
            <p:spPr bwMode="auto">
              <a:xfrm flipV="1">
                <a:off x="10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7" name="Rectangle 275"/>
              <p:cNvSpPr>
                <a:spLocks noChangeArrowheads="1"/>
              </p:cNvSpPr>
              <p:nvPr/>
            </p:nvSpPr>
            <p:spPr bwMode="auto">
              <a:xfrm>
                <a:off x="100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 dirty="0"/>
                  <a:t>Cycle 2</a:t>
                </a:r>
                <a:endParaRPr lang="en-US" altLang="zh-CN" sz="1200" dirty="0"/>
              </a:p>
            </p:txBody>
          </p:sp>
          <p:sp>
            <p:nvSpPr>
              <p:cNvPr id="54548" name="Line 276"/>
              <p:cNvSpPr>
                <a:spLocks noChangeShapeType="1"/>
              </p:cNvSpPr>
              <p:nvPr/>
            </p:nvSpPr>
            <p:spPr bwMode="auto">
              <a:xfrm>
                <a:off x="15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9" name="Line 277"/>
              <p:cNvSpPr>
                <a:spLocks noChangeShapeType="1"/>
              </p:cNvSpPr>
              <p:nvPr/>
            </p:nvSpPr>
            <p:spPr bwMode="auto">
              <a:xfrm flipV="1">
                <a:off x="17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0" name="Line 278"/>
              <p:cNvSpPr>
                <a:spLocks noChangeShapeType="1"/>
              </p:cNvSpPr>
              <p:nvPr/>
            </p:nvSpPr>
            <p:spPr bwMode="auto">
              <a:xfrm>
                <a:off x="17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1" name="Line 279"/>
              <p:cNvSpPr>
                <a:spLocks noChangeShapeType="1"/>
              </p:cNvSpPr>
              <p:nvPr/>
            </p:nvSpPr>
            <p:spPr bwMode="auto">
              <a:xfrm>
                <a:off x="19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2" name="Line 280"/>
              <p:cNvSpPr>
                <a:spLocks noChangeShapeType="1"/>
              </p:cNvSpPr>
              <p:nvPr/>
            </p:nvSpPr>
            <p:spPr bwMode="auto">
              <a:xfrm flipV="1">
                <a:off x="15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3" name="Rectangle 281"/>
              <p:cNvSpPr>
                <a:spLocks noChangeArrowheads="1"/>
              </p:cNvSpPr>
              <p:nvPr/>
            </p:nvSpPr>
            <p:spPr bwMode="auto">
              <a:xfrm>
                <a:off x="148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3</a:t>
                </a:r>
                <a:endParaRPr lang="en-US" altLang="zh-CN" sz="1200"/>
              </a:p>
            </p:txBody>
          </p:sp>
          <p:sp>
            <p:nvSpPr>
              <p:cNvPr id="54554" name="Line 282"/>
              <p:cNvSpPr>
                <a:spLocks noChangeShapeType="1"/>
              </p:cNvSpPr>
              <p:nvPr/>
            </p:nvSpPr>
            <p:spPr bwMode="auto">
              <a:xfrm>
                <a:off x="19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5" name="Line 283"/>
              <p:cNvSpPr>
                <a:spLocks noChangeShapeType="1"/>
              </p:cNvSpPr>
              <p:nvPr/>
            </p:nvSpPr>
            <p:spPr bwMode="auto">
              <a:xfrm flipV="1">
                <a:off x="22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6" name="Line 284"/>
              <p:cNvSpPr>
                <a:spLocks noChangeShapeType="1"/>
              </p:cNvSpPr>
              <p:nvPr/>
            </p:nvSpPr>
            <p:spPr bwMode="auto">
              <a:xfrm>
                <a:off x="22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7" name="Line 285"/>
              <p:cNvSpPr>
                <a:spLocks noChangeShapeType="1"/>
              </p:cNvSpPr>
              <p:nvPr/>
            </p:nvSpPr>
            <p:spPr bwMode="auto">
              <a:xfrm>
                <a:off x="24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8" name="Line 286"/>
              <p:cNvSpPr>
                <a:spLocks noChangeShapeType="1"/>
              </p:cNvSpPr>
              <p:nvPr/>
            </p:nvSpPr>
            <p:spPr bwMode="auto">
              <a:xfrm flipV="1">
                <a:off x="19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9" name="Rectangle 287"/>
              <p:cNvSpPr>
                <a:spLocks noChangeArrowheads="1"/>
              </p:cNvSpPr>
              <p:nvPr/>
            </p:nvSpPr>
            <p:spPr bwMode="auto">
              <a:xfrm>
                <a:off x="196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4</a:t>
                </a:r>
                <a:endParaRPr lang="en-US" altLang="zh-CN" sz="1200"/>
              </a:p>
            </p:txBody>
          </p:sp>
          <p:sp>
            <p:nvSpPr>
              <p:cNvPr id="54560" name="Line 288"/>
              <p:cNvSpPr>
                <a:spLocks noChangeShapeType="1"/>
              </p:cNvSpPr>
              <p:nvPr/>
            </p:nvSpPr>
            <p:spPr bwMode="auto">
              <a:xfrm>
                <a:off x="24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1" name="Line 289"/>
              <p:cNvSpPr>
                <a:spLocks noChangeShapeType="1"/>
              </p:cNvSpPr>
              <p:nvPr/>
            </p:nvSpPr>
            <p:spPr bwMode="auto">
              <a:xfrm flipV="1">
                <a:off x="27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2" name="Line 290"/>
              <p:cNvSpPr>
                <a:spLocks noChangeShapeType="1"/>
              </p:cNvSpPr>
              <p:nvPr/>
            </p:nvSpPr>
            <p:spPr bwMode="auto">
              <a:xfrm>
                <a:off x="27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3" name="Line 291"/>
              <p:cNvSpPr>
                <a:spLocks noChangeShapeType="1"/>
              </p:cNvSpPr>
              <p:nvPr/>
            </p:nvSpPr>
            <p:spPr bwMode="auto">
              <a:xfrm>
                <a:off x="29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4" name="Line 292"/>
              <p:cNvSpPr>
                <a:spLocks noChangeShapeType="1"/>
              </p:cNvSpPr>
              <p:nvPr/>
            </p:nvSpPr>
            <p:spPr bwMode="auto">
              <a:xfrm flipV="1">
                <a:off x="24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5" name="Rectangle 293"/>
              <p:cNvSpPr>
                <a:spLocks noChangeArrowheads="1"/>
              </p:cNvSpPr>
              <p:nvPr/>
            </p:nvSpPr>
            <p:spPr bwMode="auto">
              <a:xfrm>
                <a:off x="244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5</a:t>
                </a:r>
                <a:endParaRPr lang="en-US" altLang="zh-CN" sz="1200"/>
              </a:p>
            </p:txBody>
          </p:sp>
          <p:sp>
            <p:nvSpPr>
              <p:cNvPr id="54566" name="Line 294"/>
              <p:cNvSpPr>
                <a:spLocks noChangeShapeType="1"/>
              </p:cNvSpPr>
              <p:nvPr/>
            </p:nvSpPr>
            <p:spPr bwMode="auto">
              <a:xfrm>
                <a:off x="29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7" name="Line 295"/>
              <p:cNvSpPr>
                <a:spLocks noChangeShapeType="1"/>
              </p:cNvSpPr>
              <p:nvPr/>
            </p:nvSpPr>
            <p:spPr bwMode="auto">
              <a:xfrm flipV="1">
                <a:off x="31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8" name="Line 296"/>
              <p:cNvSpPr>
                <a:spLocks noChangeShapeType="1"/>
              </p:cNvSpPr>
              <p:nvPr/>
            </p:nvSpPr>
            <p:spPr bwMode="auto">
              <a:xfrm>
                <a:off x="31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9" name="Line 297"/>
              <p:cNvSpPr>
                <a:spLocks noChangeShapeType="1"/>
              </p:cNvSpPr>
              <p:nvPr/>
            </p:nvSpPr>
            <p:spPr bwMode="auto">
              <a:xfrm>
                <a:off x="34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0" name="Rectangle 298"/>
              <p:cNvSpPr>
                <a:spLocks noChangeArrowheads="1"/>
              </p:cNvSpPr>
              <p:nvPr/>
            </p:nvSpPr>
            <p:spPr bwMode="auto">
              <a:xfrm>
                <a:off x="292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6</a:t>
                </a:r>
                <a:endParaRPr lang="en-US" altLang="zh-CN" sz="1200"/>
              </a:p>
            </p:txBody>
          </p:sp>
          <p:sp>
            <p:nvSpPr>
              <p:cNvPr id="54571" name="Line 299"/>
              <p:cNvSpPr>
                <a:spLocks noChangeShapeType="1"/>
              </p:cNvSpPr>
              <p:nvPr/>
            </p:nvSpPr>
            <p:spPr bwMode="auto">
              <a:xfrm>
                <a:off x="34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2" name="Line 300"/>
              <p:cNvSpPr>
                <a:spLocks noChangeShapeType="1"/>
              </p:cNvSpPr>
              <p:nvPr/>
            </p:nvSpPr>
            <p:spPr bwMode="auto">
              <a:xfrm flipV="1">
                <a:off x="36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3" name="Line 301"/>
              <p:cNvSpPr>
                <a:spLocks noChangeShapeType="1"/>
              </p:cNvSpPr>
              <p:nvPr/>
            </p:nvSpPr>
            <p:spPr bwMode="auto">
              <a:xfrm>
                <a:off x="36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4" name="Line 302"/>
              <p:cNvSpPr>
                <a:spLocks noChangeShapeType="1"/>
              </p:cNvSpPr>
              <p:nvPr/>
            </p:nvSpPr>
            <p:spPr bwMode="auto">
              <a:xfrm>
                <a:off x="39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5" name="Line 303"/>
              <p:cNvSpPr>
                <a:spLocks noChangeShapeType="1"/>
              </p:cNvSpPr>
              <p:nvPr/>
            </p:nvSpPr>
            <p:spPr bwMode="auto">
              <a:xfrm flipV="1">
                <a:off x="34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6" name="Rectangle 304"/>
              <p:cNvSpPr>
                <a:spLocks noChangeArrowheads="1"/>
              </p:cNvSpPr>
              <p:nvPr/>
            </p:nvSpPr>
            <p:spPr bwMode="auto">
              <a:xfrm>
                <a:off x="340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7</a:t>
                </a:r>
                <a:endParaRPr lang="en-US" altLang="zh-CN" sz="1200"/>
              </a:p>
            </p:txBody>
          </p:sp>
          <p:sp>
            <p:nvSpPr>
              <p:cNvPr id="54577" name="Line 305"/>
              <p:cNvSpPr>
                <a:spLocks noChangeShapeType="1"/>
              </p:cNvSpPr>
              <p:nvPr/>
            </p:nvSpPr>
            <p:spPr bwMode="auto">
              <a:xfrm>
                <a:off x="39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8" name="Line 306"/>
              <p:cNvSpPr>
                <a:spLocks noChangeShapeType="1"/>
              </p:cNvSpPr>
              <p:nvPr/>
            </p:nvSpPr>
            <p:spPr bwMode="auto">
              <a:xfrm flipV="1">
                <a:off x="41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9" name="Line 307"/>
              <p:cNvSpPr>
                <a:spLocks noChangeShapeType="1"/>
              </p:cNvSpPr>
              <p:nvPr/>
            </p:nvSpPr>
            <p:spPr bwMode="auto">
              <a:xfrm>
                <a:off x="41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0" name="Line 308"/>
              <p:cNvSpPr>
                <a:spLocks noChangeShapeType="1"/>
              </p:cNvSpPr>
              <p:nvPr/>
            </p:nvSpPr>
            <p:spPr bwMode="auto">
              <a:xfrm>
                <a:off x="43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1" name="Line 309"/>
              <p:cNvSpPr>
                <a:spLocks noChangeShapeType="1"/>
              </p:cNvSpPr>
              <p:nvPr/>
            </p:nvSpPr>
            <p:spPr bwMode="auto">
              <a:xfrm flipV="1">
                <a:off x="39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2" name="Rectangle 310"/>
              <p:cNvSpPr>
                <a:spLocks noChangeArrowheads="1"/>
              </p:cNvSpPr>
              <p:nvPr/>
            </p:nvSpPr>
            <p:spPr bwMode="auto">
              <a:xfrm>
                <a:off x="388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8</a:t>
                </a:r>
                <a:endParaRPr lang="en-US" altLang="zh-CN" sz="1200"/>
              </a:p>
            </p:txBody>
          </p:sp>
          <p:sp>
            <p:nvSpPr>
              <p:cNvPr id="54583" name="Line 311"/>
              <p:cNvSpPr>
                <a:spLocks noChangeShapeType="1"/>
              </p:cNvSpPr>
              <p:nvPr/>
            </p:nvSpPr>
            <p:spPr bwMode="auto">
              <a:xfrm>
                <a:off x="43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4" name="Line 312"/>
              <p:cNvSpPr>
                <a:spLocks noChangeShapeType="1"/>
              </p:cNvSpPr>
              <p:nvPr/>
            </p:nvSpPr>
            <p:spPr bwMode="auto">
              <a:xfrm flipV="1">
                <a:off x="46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5" name="Line 313"/>
              <p:cNvSpPr>
                <a:spLocks noChangeShapeType="1"/>
              </p:cNvSpPr>
              <p:nvPr/>
            </p:nvSpPr>
            <p:spPr bwMode="auto">
              <a:xfrm>
                <a:off x="46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6" name="Line 314"/>
              <p:cNvSpPr>
                <a:spLocks noChangeShapeType="1"/>
              </p:cNvSpPr>
              <p:nvPr/>
            </p:nvSpPr>
            <p:spPr bwMode="auto">
              <a:xfrm>
                <a:off x="48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7" name="Line 315"/>
              <p:cNvSpPr>
                <a:spLocks noChangeShapeType="1"/>
              </p:cNvSpPr>
              <p:nvPr/>
            </p:nvSpPr>
            <p:spPr bwMode="auto">
              <a:xfrm flipV="1">
                <a:off x="43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8" name="Rectangle 316"/>
              <p:cNvSpPr>
                <a:spLocks noChangeArrowheads="1"/>
              </p:cNvSpPr>
              <p:nvPr/>
            </p:nvSpPr>
            <p:spPr bwMode="auto">
              <a:xfrm>
                <a:off x="4364" y="2448"/>
                <a:ext cx="52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9</a:t>
                </a:r>
                <a:endParaRPr lang="en-US" altLang="zh-CN" sz="1200"/>
              </a:p>
            </p:txBody>
          </p:sp>
          <p:sp>
            <p:nvSpPr>
              <p:cNvPr id="54589" name="Line 317"/>
              <p:cNvSpPr>
                <a:spLocks noChangeShapeType="1"/>
              </p:cNvSpPr>
              <p:nvPr/>
            </p:nvSpPr>
            <p:spPr bwMode="auto">
              <a:xfrm>
                <a:off x="48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90" name="Line 318"/>
              <p:cNvSpPr>
                <a:spLocks noChangeShapeType="1"/>
              </p:cNvSpPr>
              <p:nvPr/>
            </p:nvSpPr>
            <p:spPr bwMode="auto">
              <a:xfrm flipV="1">
                <a:off x="51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91" name="Line 319"/>
              <p:cNvSpPr>
                <a:spLocks noChangeShapeType="1"/>
              </p:cNvSpPr>
              <p:nvPr/>
            </p:nvSpPr>
            <p:spPr bwMode="auto">
              <a:xfrm>
                <a:off x="51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92" name="Line 320"/>
              <p:cNvSpPr>
                <a:spLocks noChangeShapeType="1"/>
              </p:cNvSpPr>
              <p:nvPr/>
            </p:nvSpPr>
            <p:spPr bwMode="auto">
              <a:xfrm>
                <a:off x="53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93" name="Line 321"/>
              <p:cNvSpPr>
                <a:spLocks noChangeShapeType="1"/>
              </p:cNvSpPr>
              <p:nvPr/>
            </p:nvSpPr>
            <p:spPr bwMode="auto">
              <a:xfrm flipV="1">
                <a:off x="48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94" name="Rectangle 322"/>
              <p:cNvSpPr>
                <a:spLocks noChangeArrowheads="1"/>
              </p:cNvSpPr>
              <p:nvPr/>
            </p:nvSpPr>
            <p:spPr bwMode="auto">
              <a:xfrm>
                <a:off x="4793" y="2448"/>
                <a:ext cx="59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/>
                  <a:t>Cycle 10</a:t>
                </a:r>
                <a:endParaRPr lang="en-US" altLang="zh-CN" sz="1200"/>
              </a:p>
            </p:txBody>
          </p:sp>
          <p:sp>
            <p:nvSpPr>
              <p:cNvPr id="54595" name="Line 323"/>
              <p:cNvSpPr>
                <a:spLocks noChangeShapeType="1"/>
              </p:cNvSpPr>
              <p:nvPr/>
            </p:nvSpPr>
            <p:spPr bwMode="auto">
              <a:xfrm>
                <a:off x="53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4596" name="Rectangle 324"/>
          <p:cNvSpPr>
            <a:spLocks noChangeArrowheads="1"/>
          </p:cNvSpPr>
          <p:nvPr/>
        </p:nvSpPr>
        <p:spPr bwMode="auto">
          <a:xfrm>
            <a:off x="1371600" y="653041"/>
            <a:ext cx="3886200" cy="275076"/>
          </a:xfrm>
          <a:prstGeom prst="rect">
            <a:avLst/>
          </a:prstGeom>
          <a:noFill/>
          <a:ln>
            <a:noFill/>
          </a:ln>
          <a:effectLst/>
        </p:spPr>
        <p:txBody>
          <a:bodyPr lIns="67866" tIns="33338" rIns="67866" bIns="33338">
            <a:spAutoFit/>
          </a:bodyPr>
          <a:lstStyle/>
          <a:p>
            <a:r>
              <a:rPr lang="en-US" altLang="zh-CN" sz="1350" i="1" u="sng" dirty="0" err="1">
                <a:solidFill>
                  <a:schemeClr val="accent2"/>
                </a:solidFill>
                <a:latin typeface="Arial" panose="020B0604020202090204" pitchFamily="34" charset="0"/>
              </a:rPr>
              <a:t>Multip</a:t>
            </a:r>
            <a:r>
              <a:rPr lang="en-US" altLang="zh-CN" sz="1350" i="1" u="sng" dirty="0">
                <a:solidFill>
                  <a:schemeClr val="accent2"/>
                </a:solidFill>
                <a:latin typeface="Arial" panose="020B0604020202090204" pitchFamily="34" charset="0"/>
              </a:rPr>
              <a:t>-Cycle Implementation:</a:t>
            </a:r>
            <a:r>
              <a:rPr lang="en-US" altLang="zh-CN" sz="1350" i="1" dirty="0">
                <a:solidFill>
                  <a:schemeClr val="accent2"/>
                </a:solidFill>
                <a:latin typeface="Arial" panose="020B0604020202090204" pitchFamily="34" charset="0"/>
              </a:rPr>
              <a:t>     </a:t>
            </a:r>
            <a:r>
              <a:rPr lang="en-US" altLang="zh-CN" sz="1350" dirty="0">
                <a:solidFill>
                  <a:srgbClr val="FF3300"/>
                </a:solidFill>
                <a:latin typeface="Comic Sans MS" panose="030F0902030302020204" pitchFamily="66" charset="0"/>
              </a:rPr>
              <a:t>CPI=5,   </a:t>
            </a:r>
            <a:r>
              <a:rPr lang="en-US" altLang="zh-CN" sz="1350" i="1" u="sng" dirty="0">
                <a:solidFill>
                  <a:schemeClr val="accent2"/>
                </a:solidFill>
                <a:latin typeface="Arial" panose="020B0604020202090204" pitchFamily="34" charset="0"/>
              </a:rPr>
              <a:t> </a:t>
            </a:r>
            <a:endParaRPr lang="en-US" altLang="zh-CN" sz="1350" i="1" u="sng" dirty="0">
              <a:solidFill>
                <a:srgbClr val="000099"/>
              </a:solidFill>
              <a:latin typeface="Arial" panose="020B0604020202090204" pitchFamily="34" charset="0"/>
            </a:endParaRPr>
          </a:p>
        </p:txBody>
      </p:sp>
      <p:sp>
        <p:nvSpPr>
          <p:cNvPr id="54597" name="Rectangle 325"/>
          <p:cNvSpPr>
            <a:spLocks noChangeArrowheads="1"/>
          </p:cNvSpPr>
          <p:nvPr/>
        </p:nvSpPr>
        <p:spPr bwMode="auto">
          <a:xfrm>
            <a:off x="1636797" y="2571750"/>
            <a:ext cx="3028950" cy="275076"/>
          </a:xfrm>
          <a:prstGeom prst="rect">
            <a:avLst/>
          </a:prstGeom>
          <a:noFill/>
          <a:ln>
            <a:noFill/>
          </a:ln>
          <a:effectLst/>
        </p:spPr>
        <p:txBody>
          <a:bodyPr lIns="67866" tIns="33338" rIns="67866" bIns="33338">
            <a:spAutoFit/>
          </a:bodyPr>
          <a:lstStyle/>
          <a:p>
            <a:r>
              <a:rPr lang="en-US" altLang="zh-CN" sz="1350" i="1" u="sng" dirty="0">
                <a:solidFill>
                  <a:schemeClr val="accent2"/>
                </a:solidFill>
                <a:latin typeface="Arial" panose="020B0604020202090204" pitchFamily="34" charset="0"/>
              </a:rPr>
              <a:t>Pipeline Implementation: </a:t>
            </a:r>
            <a:r>
              <a:rPr lang="en-US" altLang="zh-CN" sz="1350" i="1" dirty="0">
                <a:solidFill>
                  <a:schemeClr val="accent2"/>
                </a:solidFill>
                <a:latin typeface="Arial" panose="020B0604020202090204" pitchFamily="34" charset="0"/>
              </a:rPr>
              <a:t>    </a:t>
            </a:r>
            <a:r>
              <a:rPr lang="en-US" altLang="zh-CN" sz="1350" dirty="0">
                <a:solidFill>
                  <a:srgbClr val="FF3300"/>
                </a:solidFill>
                <a:latin typeface="Comic Sans MS" panose="030F0902030302020204" pitchFamily="66" charset="0"/>
              </a:rPr>
              <a:t>CPI=1, </a:t>
            </a:r>
            <a:endParaRPr lang="en-US" altLang="zh-CN" sz="1350" i="1" u="sng" dirty="0">
              <a:solidFill>
                <a:srgbClr val="000099"/>
              </a:solidFill>
              <a:latin typeface="Arial" panose="020B0604020202090204" pitchFamily="34" charset="0"/>
            </a:endParaRPr>
          </a:p>
        </p:txBody>
      </p:sp>
      <p:grpSp>
        <p:nvGrpSpPr>
          <p:cNvPr id="54684" name="Group 412"/>
          <p:cNvGrpSpPr/>
          <p:nvPr/>
        </p:nvGrpSpPr>
        <p:grpSpPr bwMode="auto">
          <a:xfrm>
            <a:off x="1377554" y="3657600"/>
            <a:ext cx="4414837" cy="938213"/>
            <a:chOff x="197" y="3072"/>
            <a:chExt cx="3708" cy="788"/>
          </a:xfrm>
        </p:grpSpPr>
        <p:sp>
          <p:nvSpPr>
            <p:cNvPr id="54600" name="Rectangle 328"/>
            <p:cNvSpPr>
              <a:spLocks noChangeArrowheads="1"/>
            </p:cNvSpPr>
            <p:nvPr/>
          </p:nvSpPr>
          <p:spPr bwMode="auto">
            <a:xfrm>
              <a:off x="197" y="3072"/>
              <a:ext cx="38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/>
                <a:t>Load</a:t>
              </a:r>
              <a:endParaRPr lang="en-US" altLang="zh-CN" sz="1200"/>
            </a:p>
          </p:txBody>
        </p:sp>
        <p:grpSp>
          <p:nvGrpSpPr>
            <p:cNvPr id="54601" name="Group 329"/>
            <p:cNvGrpSpPr/>
            <p:nvPr/>
          </p:nvGrpSpPr>
          <p:grpSpPr bwMode="auto">
            <a:xfrm>
              <a:off x="549" y="3072"/>
              <a:ext cx="2384" cy="212"/>
              <a:chOff x="488" y="3260"/>
              <a:chExt cx="2384" cy="212"/>
            </a:xfrm>
          </p:grpSpPr>
          <p:grpSp>
            <p:nvGrpSpPr>
              <p:cNvPr id="54602" name="Group 330"/>
              <p:cNvGrpSpPr/>
              <p:nvPr/>
            </p:nvGrpSpPr>
            <p:grpSpPr bwMode="auto">
              <a:xfrm>
                <a:off x="488" y="3260"/>
                <a:ext cx="464" cy="212"/>
                <a:chOff x="488" y="3260"/>
                <a:chExt cx="464" cy="212"/>
              </a:xfrm>
            </p:grpSpPr>
            <p:sp>
              <p:nvSpPr>
                <p:cNvPr id="54603" name="Rectangle 331"/>
                <p:cNvSpPr>
                  <a:spLocks noChangeArrowheads="1"/>
                </p:cNvSpPr>
                <p:nvPr/>
              </p:nvSpPr>
              <p:spPr bwMode="auto">
                <a:xfrm>
                  <a:off x="48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04" name="Rectangle 332"/>
                <p:cNvSpPr>
                  <a:spLocks noChangeArrowheads="1"/>
                </p:cNvSpPr>
                <p:nvPr/>
              </p:nvSpPr>
              <p:spPr bwMode="auto">
                <a:xfrm>
                  <a:off x="521" y="3260"/>
                  <a:ext cx="23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IF</a:t>
                  </a:r>
                  <a:endParaRPr lang="en-US" altLang="zh-CN" sz="1200"/>
                </a:p>
              </p:txBody>
            </p:sp>
          </p:grpSp>
          <p:grpSp>
            <p:nvGrpSpPr>
              <p:cNvPr id="54605" name="Group 333"/>
              <p:cNvGrpSpPr/>
              <p:nvPr/>
            </p:nvGrpSpPr>
            <p:grpSpPr bwMode="auto">
              <a:xfrm>
                <a:off x="968" y="3260"/>
                <a:ext cx="464" cy="212"/>
                <a:chOff x="968" y="3260"/>
                <a:chExt cx="464" cy="212"/>
              </a:xfrm>
            </p:grpSpPr>
            <p:sp>
              <p:nvSpPr>
                <p:cNvPr id="54606" name="Rectangle 334"/>
                <p:cNvSpPr>
                  <a:spLocks noChangeArrowheads="1"/>
                </p:cNvSpPr>
                <p:nvPr/>
              </p:nvSpPr>
              <p:spPr bwMode="auto">
                <a:xfrm>
                  <a:off x="96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07" name="Rectangle 335"/>
                <p:cNvSpPr>
                  <a:spLocks noChangeArrowheads="1"/>
                </p:cNvSpPr>
                <p:nvPr/>
              </p:nvSpPr>
              <p:spPr bwMode="auto">
                <a:xfrm>
                  <a:off x="1045" y="3260"/>
                  <a:ext cx="25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ID</a:t>
                  </a:r>
                  <a:endParaRPr lang="en-US" altLang="zh-CN" sz="1200"/>
                </a:p>
              </p:txBody>
            </p:sp>
          </p:grpSp>
          <p:grpSp>
            <p:nvGrpSpPr>
              <p:cNvPr id="54608" name="Group 336"/>
              <p:cNvGrpSpPr/>
              <p:nvPr/>
            </p:nvGrpSpPr>
            <p:grpSpPr bwMode="auto">
              <a:xfrm>
                <a:off x="1448" y="3260"/>
                <a:ext cx="464" cy="212"/>
                <a:chOff x="1448" y="3260"/>
                <a:chExt cx="464" cy="212"/>
              </a:xfrm>
            </p:grpSpPr>
            <p:sp>
              <p:nvSpPr>
                <p:cNvPr id="54609" name="Rectangle 337"/>
                <p:cNvSpPr>
                  <a:spLocks noChangeArrowheads="1"/>
                </p:cNvSpPr>
                <p:nvPr/>
              </p:nvSpPr>
              <p:spPr bwMode="auto">
                <a:xfrm>
                  <a:off x="144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10" name="Rectangle 338"/>
                <p:cNvSpPr>
                  <a:spLocks noChangeArrowheads="1"/>
                </p:cNvSpPr>
                <p:nvPr/>
              </p:nvSpPr>
              <p:spPr bwMode="auto">
                <a:xfrm>
                  <a:off x="1488" y="3260"/>
                  <a:ext cx="26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EX</a:t>
                  </a:r>
                  <a:endParaRPr lang="en-US" altLang="zh-CN" sz="1200"/>
                </a:p>
              </p:txBody>
            </p:sp>
          </p:grpSp>
          <p:grpSp>
            <p:nvGrpSpPr>
              <p:cNvPr id="54611" name="Group 339"/>
              <p:cNvGrpSpPr/>
              <p:nvPr/>
            </p:nvGrpSpPr>
            <p:grpSpPr bwMode="auto">
              <a:xfrm>
                <a:off x="1928" y="3260"/>
                <a:ext cx="464" cy="212"/>
                <a:chOff x="1928" y="3260"/>
                <a:chExt cx="464" cy="212"/>
              </a:xfrm>
            </p:grpSpPr>
            <p:sp>
              <p:nvSpPr>
                <p:cNvPr id="54612" name="Rectangle 340"/>
                <p:cNvSpPr>
                  <a:spLocks noChangeArrowheads="1"/>
                </p:cNvSpPr>
                <p:nvPr/>
              </p:nvSpPr>
              <p:spPr bwMode="auto">
                <a:xfrm>
                  <a:off x="192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13" name="Rectangle 341"/>
                <p:cNvSpPr>
                  <a:spLocks noChangeArrowheads="1"/>
                </p:cNvSpPr>
                <p:nvPr/>
              </p:nvSpPr>
              <p:spPr bwMode="auto">
                <a:xfrm>
                  <a:off x="1982" y="3260"/>
                  <a:ext cx="38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MEM</a:t>
                  </a:r>
                  <a:endParaRPr lang="en-US" altLang="zh-CN" sz="1200"/>
                </a:p>
              </p:txBody>
            </p:sp>
          </p:grpSp>
          <p:grpSp>
            <p:nvGrpSpPr>
              <p:cNvPr id="54614" name="Group 342"/>
              <p:cNvGrpSpPr/>
              <p:nvPr/>
            </p:nvGrpSpPr>
            <p:grpSpPr bwMode="auto">
              <a:xfrm>
                <a:off x="2408" y="3260"/>
                <a:ext cx="464" cy="212"/>
                <a:chOff x="2408" y="3260"/>
                <a:chExt cx="464" cy="212"/>
              </a:xfrm>
            </p:grpSpPr>
            <p:sp>
              <p:nvSpPr>
                <p:cNvPr id="54615" name="Rectangle 343"/>
                <p:cNvSpPr>
                  <a:spLocks noChangeArrowheads="1"/>
                </p:cNvSpPr>
                <p:nvPr/>
              </p:nvSpPr>
              <p:spPr bwMode="auto">
                <a:xfrm>
                  <a:off x="240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16" name="Rectangle 344"/>
                <p:cNvSpPr>
                  <a:spLocks noChangeArrowheads="1"/>
                </p:cNvSpPr>
                <p:nvPr/>
              </p:nvSpPr>
              <p:spPr bwMode="auto">
                <a:xfrm>
                  <a:off x="2492" y="3260"/>
                  <a:ext cx="30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WB</a:t>
                  </a:r>
                  <a:endParaRPr lang="en-US" altLang="zh-CN" sz="1200"/>
                </a:p>
              </p:txBody>
            </p:sp>
          </p:grpSp>
        </p:grpSp>
        <p:grpSp>
          <p:nvGrpSpPr>
            <p:cNvPr id="54617" name="Group 345"/>
            <p:cNvGrpSpPr/>
            <p:nvPr/>
          </p:nvGrpSpPr>
          <p:grpSpPr bwMode="auto">
            <a:xfrm>
              <a:off x="1029" y="3360"/>
              <a:ext cx="2384" cy="212"/>
              <a:chOff x="968" y="3548"/>
              <a:chExt cx="2384" cy="212"/>
            </a:xfrm>
          </p:grpSpPr>
          <p:grpSp>
            <p:nvGrpSpPr>
              <p:cNvPr id="54618" name="Group 346"/>
              <p:cNvGrpSpPr/>
              <p:nvPr/>
            </p:nvGrpSpPr>
            <p:grpSpPr bwMode="auto">
              <a:xfrm>
                <a:off x="968" y="3548"/>
                <a:ext cx="464" cy="212"/>
                <a:chOff x="968" y="3548"/>
                <a:chExt cx="464" cy="212"/>
              </a:xfrm>
            </p:grpSpPr>
            <p:sp>
              <p:nvSpPr>
                <p:cNvPr id="54619" name="Rectangle 347"/>
                <p:cNvSpPr>
                  <a:spLocks noChangeArrowheads="1"/>
                </p:cNvSpPr>
                <p:nvPr/>
              </p:nvSpPr>
              <p:spPr bwMode="auto">
                <a:xfrm>
                  <a:off x="96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20" name="Rectangle 348"/>
                <p:cNvSpPr>
                  <a:spLocks noChangeArrowheads="1"/>
                </p:cNvSpPr>
                <p:nvPr/>
              </p:nvSpPr>
              <p:spPr bwMode="auto">
                <a:xfrm>
                  <a:off x="1001" y="3548"/>
                  <a:ext cx="23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IF</a:t>
                  </a:r>
                  <a:endParaRPr lang="en-US" altLang="zh-CN" sz="1200"/>
                </a:p>
              </p:txBody>
            </p:sp>
          </p:grpSp>
          <p:grpSp>
            <p:nvGrpSpPr>
              <p:cNvPr id="54621" name="Group 349"/>
              <p:cNvGrpSpPr/>
              <p:nvPr/>
            </p:nvGrpSpPr>
            <p:grpSpPr bwMode="auto">
              <a:xfrm>
                <a:off x="1448" y="3548"/>
                <a:ext cx="464" cy="212"/>
                <a:chOff x="1448" y="3548"/>
                <a:chExt cx="464" cy="212"/>
              </a:xfrm>
            </p:grpSpPr>
            <p:sp>
              <p:nvSpPr>
                <p:cNvPr id="54622" name="Rectangle 350"/>
                <p:cNvSpPr>
                  <a:spLocks noChangeArrowheads="1"/>
                </p:cNvSpPr>
                <p:nvPr/>
              </p:nvSpPr>
              <p:spPr bwMode="auto">
                <a:xfrm>
                  <a:off x="144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23" name="Rectangle 351"/>
                <p:cNvSpPr>
                  <a:spLocks noChangeArrowheads="1"/>
                </p:cNvSpPr>
                <p:nvPr/>
              </p:nvSpPr>
              <p:spPr bwMode="auto">
                <a:xfrm>
                  <a:off x="1525" y="3548"/>
                  <a:ext cx="25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ID</a:t>
                  </a:r>
                  <a:endParaRPr lang="en-US" altLang="zh-CN" sz="1200"/>
                </a:p>
              </p:txBody>
            </p:sp>
          </p:grpSp>
          <p:grpSp>
            <p:nvGrpSpPr>
              <p:cNvPr id="54624" name="Group 352"/>
              <p:cNvGrpSpPr/>
              <p:nvPr/>
            </p:nvGrpSpPr>
            <p:grpSpPr bwMode="auto">
              <a:xfrm>
                <a:off x="1928" y="3548"/>
                <a:ext cx="464" cy="212"/>
                <a:chOff x="1928" y="3548"/>
                <a:chExt cx="464" cy="212"/>
              </a:xfrm>
            </p:grpSpPr>
            <p:sp>
              <p:nvSpPr>
                <p:cNvPr id="54625" name="Rectangle 353"/>
                <p:cNvSpPr>
                  <a:spLocks noChangeArrowheads="1"/>
                </p:cNvSpPr>
                <p:nvPr/>
              </p:nvSpPr>
              <p:spPr bwMode="auto">
                <a:xfrm>
                  <a:off x="192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26" name="Rectangle 354"/>
                <p:cNvSpPr>
                  <a:spLocks noChangeArrowheads="1"/>
                </p:cNvSpPr>
                <p:nvPr/>
              </p:nvSpPr>
              <p:spPr bwMode="auto">
                <a:xfrm>
                  <a:off x="1968" y="3548"/>
                  <a:ext cx="26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EX</a:t>
                  </a:r>
                  <a:endParaRPr lang="en-US" altLang="zh-CN" sz="1200"/>
                </a:p>
              </p:txBody>
            </p:sp>
          </p:grpSp>
          <p:grpSp>
            <p:nvGrpSpPr>
              <p:cNvPr id="54627" name="Group 355"/>
              <p:cNvGrpSpPr/>
              <p:nvPr/>
            </p:nvGrpSpPr>
            <p:grpSpPr bwMode="auto">
              <a:xfrm>
                <a:off x="2408" y="3548"/>
                <a:ext cx="464" cy="212"/>
                <a:chOff x="2408" y="3548"/>
                <a:chExt cx="464" cy="212"/>
              </a:xfrm>
            </p:grpSpPr>
            <p:sp>
              <p:nvSpPr>
                <p:cNvPr id="54628" name="Rectangle 356"/>
                <p:cNvSpPr>
                  <a:spLocks noChangeArrowheads="1"/>
                </p:cNvSpPr>
                <p:nvPr/>
              </p:nvSpPr>
              <p:spPr bwMode="auto">
                <a:xfrm>
                  <a:off x="240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29" name="Rectangle 357"/>
                <p:cNvSpPr>
                  <a:spLocks noChangeArrowheads="1"/>
                </p:cNvSpPr>
                <p:nvPr/>
              </p:nvSpPr>
              <p:spPr bwMode="auto">
                <a:xfrm>
                  <a:off x="2462" y="3548"/>
                  <a:ext cx="38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MEM</a:t>
                  </a:r>
                  <a:endParaRPr lang="en-US" altLang="zh-CN" sz="1200"/>
                </a:p>
              </p:txBody>
            </p:sp>
          </p:grpSp>
          <p:grpSp>
            <p:nvGrpSpPr>
              <p:cNvPr id="54630" name="Group 358"/>
              <p:cNvGrpSpPr/>
              <p:nvPr/>
            </p:nvGrpSpPr>
            <p:grpSpPr bwMode="auto">
              <a:xfrm>
                <a:off x="2888" y="3548"/>
                <a:ext cx="464" cy="212"/>
                <a:chOff x="2888" y="3548"/>
                <a:chExt cx="464" cy="212"/>
              </a:xfrm>
            </p:grpSpPr>
            <p:sp>
              <p:nvSpPr>
                <p:cNvPr id="54631" name="Rectangle 359"/>
                <p:cNvSpPr>
                  <a:spLocks noChangeArrowheads="1"/>
                </p:cNvSpPr>
                <p:nvPr/>
              </p:nvSpPr>
              <p:spPr bwMode="auto">
                <a:xfrm>
                  <a:off x="288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32" name="Rectangle 360"/>
                <p:cNvSpPr>
                  <a:spLocks noChangeArrowheads="1"/>
                </p:cNvSpPr>
                <p:nvPr/>
              </p:nvSpPr>
              <p:spPr bwMode="auto">
                <a:xfrm>
                  <a:off x="2972" y="3548"/>
                  <a:ext cx="30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WB</a:t>
                  </a:r>
                  <a:endParaRPr lang="en-US" altLang="zh-CN" sz="1200"/>
                </a:p>
              </p:txBody>
            </p:sp>
          </p:grpSp>
        </p:grpSp>
        <p:sp>
          <p:nvSpPr>
            <p:cNvPr id="54633" name="Rectangle 361"/>
            <p:cNvSpPr>
              <a:spLocks noChangeArrowheads="1"/>
            </p:cNvSpPr>
            <p:nvPr/>
          </p:nvSpPr>
          <p:spPr bwMode="auto">
            <a:xfrm>
              <a:off x="668" y="3360"/>
              <a:ext cx="415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/>
                <a:t>Store</a:t>
              </a:r>
              <a:endParaRPr lang="en-US" altLang="zh-CN" sz="1200"/>
            </a:p>
          </p:txBody>
        </p:sp>
        <p:grpSp>
          <p:nvGrpSpPr>
            <p:cNvPr id="54634" name="Group 362"/>
            <p:cNvGrpSpPr/>
            <p:nvPr/>
          </p:nvGrpSpPr>
          <p:grpSpPr bwMode="auto">
            <a:xfrm>
              <a:off x="1521" y="3648"/>
              <a:ext cx="2384" cy="212"/>
              <a:chOff x="1496" y="3836"/>
              <a:chExt cx="2384" cy="212"/>
            </a:xfrm>
          </p:grpSpPr>
          <p:grpSp>
            <p:nvGrpSpPr>
              <p:cNvPr id="54635" name="Group 363"/>
              <p:cNvGrpSpPr/>
              <p:nvPr/>
            </p:nvGrpSpPr>
            <p:grpSpPr bwMode="auto">
              <a:xfrm>
                <a:off x="1496" y="3836"/>
                <a:ext cx="464" cy="212"/>
                <a:chOff x="1496" y="3836"/>
                <a:chExt cx="464" cy="212"/>
              </a:xfrm>
            </p:grpSpPr>
            <p:sp>
              <p:nvSpPr>
                <p:cNvPr id="54636" name="Rectangle 364"/>
                <p:cNvSpPr>
                  <a:spLocks noChangeArrowheads="1"/>
                </p:cNvSpPr>
                <p:nvPr/>
              </p:nvSpPr>
              <p:spPr bwMode="auto">
                <a:xfrm>
                  <a:off x="149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37" name="Rectangle 365"/>
                <p:cNvSpPr>
                  <a:spLocks noChangeArrowheads="1"/>
                </p:cNvSpPr>
                <p:nvPr/>
              </p:nvSpPr>
              <p:spPr bwMode="auto">
                <a:xfrm>
                  <a:off x="1529" y="3836"/>
                  <a:ext cx="23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IF</a:t>
                  </a:r>
                  <a:endParaRPr lang="en-US" altLang="zh-CN" sz="1200"/>
                </a:p>
              </p:txBody>
            </p:sp>
          </p:grpSp>
          <p:grpSp>
            <p:nvGrpSpPr>
              <p:cNvPr id="54638" name="Group 366"/>
              <p:cNvGrpSpPr/>
              <p:nvPr/>
            </p:nvGrpSpPr>
            <p:grpSpPr bwMode="auto">
              <a:xfrm>
                <a:off x="1976" y="3836"/>
                <a:ext cx="464" cy="212"/>
                <a:chOff x="1976" y="3836"/>
                <a:chExt cx="464" cy="212"/>
              </a:xfrm>
            </p:grpSpPr>
            <p:sp>
              <p:nvSpPr>
                <p:cNvPr id="54639" name="Rectangle 367"/>
                <p:cNvSpPr>
                  <a:spLocks noChangeArrowheads="1"/>
                </p:cNvSpPr>
                <p:nvPr/>
              </p:nvSpPr>
              <p:spPr bwMode="auto">
                <a:xfrm>
                  <a:off x="197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40" name="Rectangle 368"/>
                <p:cNvSpPr>
                  <a:spLocks noChangeArrowheads="1"/>
                </p:cNvSpPr>
                <p:nvPr/>
              </p:nvSpPr>
              <p:spPr bwMode="auto">
                <a:xfrm>
                  <a:off x="2053" y="3836"/>
                  <a:ext cx="25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ID</a:t>
                  </a:r>
                  <a:endParaRPr lang="en-US" altLang="zh-CN" sz="1200"/>
                </a:p>
              </p:txBody>
            </p:sp>
          </p:grpSp>
          <p:grpSp>
            <p:nvGrpSpPr>
              <p:cNvPr id="54641" name="Group 369"/>
              <p:cNvGrpSpPr/>
              <p:nvPr/>
            </p:nvGrpSpPr>
            <p:grpSpPr bwMode="auto">
              <a:xfrm>
                <a:off x="2456" y="3836"/>
                <a:ext cx="464" cy="212"/>
                <a:chOff x="2456" y="3836"/>
                <a:chExt cx="464" cy="212"/>
              </a:xfrm>
            </p:grpSpPr>
            <p:sp>
              <p:nvSpPr>
                <p:cNvPr id="54642" name="Rectangle 370"/>
                <p:cNvSpPr>
                  <a:spLocks noChangeArrowheads="1"/>
                </p:cNvSpPr>
                <p:nvPr/>
              </p:nvSpPr>
              <p:spPr bwMode="auto">
                <a:xfrm>
                  <a:off x="245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43" name="Rectangle 371"/>
                <p:cNvSpPr>
                  <a:spLocks noChangeArrowheads="1"/>
                </p:cNvSpPr>
                <p:nvPr/>
              </p:nvSpPr>
              <p:spPr bwMode="auto">
                <a:xfrm>
                  <a:off x="2496" y="3836"/>
                  <a:ext cx="26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EX</a:t>
                  </a:r>
                  <a:endParaRPr lang="en-US" altLang="zh-CN" sz="1200"/>
                </a:p>
              </p:txBody>
            </p:sp>
          </p:grpSp>
          <p:grpSp>
            <p:nvGrpSpPr>
              <p:cNvPr id="54644" name="Group 372"/>
              <p:cNvGrpSpPr/>
              <p:nvPr/>
            </p:nvGrpSpPr>
            <p:grpSpPr bwMode="auto">
              <a:xfrm>
                <a:off x="2936" y="3836"/>
                <a:ext cx="464" cy="212"/>
                <a:chOff x="2936" y="3836"/>
                <a:chExt cx="464" cy="212"/>
              </a:xfrm>
            </p:grpSpPr>
            <p:sp>
              <p:nvSpPr>
                <p:cNvPr id="54645" name="Rectangle 373"/>
                <p:cNvSpPr>
                  <a:spLocks noChangeArrowheads="1"/>
                </p:cNvSpPr>
                <p:nvPr/>
              </p:nvSpPr>
              <p:spPr bwMode="auto">
                <a:xfrm>
                  <a:off x="293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46" name="Rectangle 374"/>
                <p:cNvSpPr>
                  <a:spLocks noChangeArrowheads="1"/>
                </p:cNvSpPr>
                <p:nvPr/>
              </p:nvSpPr>
              <p:spPr bwMode="auto">
                <a:xfrm>
                  <a:off x="2990" y="3836"/>
                  <a:ext cx="38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MEM</a:t>
                  </a:r>
                  <a:endParaRPr lang="en-US" altLang="zh-CN" sz="1200"/>
                </a:p>
              </p:txBody>
            </p:sp>
          </p:grpSp>
          <p:grpSp>
            <p:nvGrpSpPr>
              <p:cNvPr id="54647" name="Group 375"/>
              <p:cNvGrpSpPr/>
              <p:nvPr/>
            </p:nvGrpSpPr>
            <p:grpSpPr bwMode="auto">
              <a:xfrm>
                <a:off x="3416" y="3836"/>
                <a:ext cx="464" cy="212"/>
                <a:chOff x="3416" y="3836"/>
                <a:chExt cx="464" cy="212"/>
              </a:xfrm>
            </p:grpSpPr>
            <p:sp>
              <p:nvSpPr>
                <p:cNvPr id="54648" name="Rectangle 376"/>
                <p:cNvSpPr>
                  <a:spLocks noChangeArrowheads="1"/>
                </p:cNvSpPr>
                <p:nvPr/>
              </p:nvSpPr>
              <p:spPr bwMode="auto">
                <a:xfrm>
                  <a:off x="341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49" name="Rectangle 377"/>
                <p:cNvSpPr>
                  <a:spLocks noChangeArrowheads="1"/>
                </p:cNvSpPr>
                <p:nvPr/>
              </p:nvSpPr>
              <p:spPr bwMode="auto">
                <a:xfrm>
                  <a:off x="3500" y="3836"/>
                  <a:ext cx="30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WB</a:t>
                  </a:r>
                  <a:endParaRPr lang="en-US" altLang="zh-CN" sz="1200"/>
                </a:p>
              </p:txBody>
            </p:sp>
          </p:grpSp>
        </p:grpSp>
        <p:sp>
          <p:nvSpPr>
            <p:cNvPr id="54650" name="Rectangle 378"/>
            <p:cNvSpPr>
              <a:spLocks noChangeArrowheads="1"/>
            </p:cNvSpPr>
            <p:nvPr/>
          </p:nvSpPr>
          <p:spPr bwMode="auto">
            <a:xfrm>
              <a:off x="1056" y="3648"/>
              <a:ext cx="48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/>
                <a:t>R-type</a:t>
              </a:r>
              <a:endParaRPr lang="en-US" altLang="zh-CN" sz="1200"/>
            </a:p>
          </p:txBody>
        </p:sp>
      </p:grpSp>
      <p:grpSp>
        <p:nvGrpSpPr>
          <p:cNvPr id="54683" name="Group 411"/>
          <p:cNvGrpSpPr/>
          <p:nvPr/>
        </p:nvGrpSpPr>
        <p:grpSpPr bwMode="auto">
          <a:xfrm>
            <a:off x="1795462" y="2031305"/>
            <a:ext cx="5701904" cy="252413"/>
            <a:chOff x="548" y="1824"/>
            <a:chExt cx="4789" cy="212"/>
          </a:xfrm>
        </p:grpSpPr>
        <p:grpSp>
          <p:nvGrpSpPr>
            <p:cNvPr id="54651" name="Group 379"/>
            <p:cNvGrpSpPr/>
            <p:nvPr/>
          </p:nvGrpSpPr>
          <p:grpSpPr bwMode="auto">
            <a:xfrm>
              <a:off x="548" y="1824"/>
              <a:ext cx="2384" cy="212"/>
              <a:chOff x="1496" y="3836"/>
              <a:chExt cx="2384" cy="212"/>
            </a:xfrm>
          </p:grpSpPr>
          <p:grpSp>
            <p:nvGrpSpPr>
              <p:cNvPr id="54652" name="Group 380"/>
              <p:cNvGrpSpPr/>
              <p:nvPr/>
            </p:nvGrpSpPr>
            <p:grpSpPr bwMode="auto">
              <a:xfrm>
                <a:off x="1496" y="3836"/>
                <a:ext cx="464" cy="212"/>
                <a:chOff x="1496" y="3836"/>
                <a:chExt cx="464" cy="212"/>
              </a:xfrm>
            </p:grpSpPr>
            <p:sp>
              <p:nvSpPr>
                <p:cNvPr id="54653" name="Rectangle 381"/>
                <p:cNvSpPr>
                  <a:spLocks noChangeArrowheads="1"/>
                </p:cNvSpPr>
                <p:nvPr/>
              </p:nvSpPr>
              <p:spPr bwMode="auto">
                <a:xfrm>
                  <a:off x="149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54" name="Rectangle 382"/>
                <p:cNvSpPr>
                  <a:spLocks noChangeArrowheads="1"/>
                </p:cNvSpPr>
                <p:nvPr/>
              </p:nvSpPr>
              <p:spPr bwMode="auto">
                <a:xfrm>
                  <a:off x="1529" y="3836"/>
                  <a:ext cx="23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IF</a:t>
                  </a:r>
                  <a:endParaRPr lang="en-US" altLang="zh-CN" sz="1200"/>
                </a:p>
              </p:txBody>
            </p:sp>
          </p:grpSp>
          <p:grpSp>
            <p:nvGrpSpPr>
              <p:cNvPr id="54655" name="Group 383"/>
              <p:cNvGrpSpPr/>
              <p:nvPr/>
            </p:nvGrpSpPr>
            <p:grpSpPr bwMode="auto">
              <a:xfrm>
                <a:off x="1976" y="3836"/>
                <a:ext cx="464" cy="212"/>
                <a:chOff x="1976" y="3836"/>
                <a:chExt cx="464" cy="212"/>
              </a:xfrm>
            </p:grpSpPr>
            <p:sp>
              <p:nvSpPr>
                <p:cNvPr id="54656" name="Rectangle 384"/>
                <p:cNvSpPr>
                  <a:spLocks noChangeArrowheads="1"/>
                </p:cNvSpPr>
                <p:nvPr/>
              </p:nvSpPr>
              <p:spPr bwMode="auto">
                <a:xfrm>
                  <a:off x="197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57" name="Rectangle 385"/>
                <p:cNvSpPr>
                  <a:spLocks noChangeArrowheads="1"/>
                </p:cNvSpPr>
                <p:nvPr/>
              </p:nvSpPr>
              <p:spPr bwMode="auto">
                <a:xfrm>
                  <a:off x="2053" y="3836"/>
                  <a:ext cx="25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ID</a:t>
                  </a:r>
                  <a:endParaRPr lang="en-US" altLang="zh-CN" sz="1200"/>
                </a:p>
              </p:txBody>
            </p:sp>
          </p:grpSp>
          <p:grpSp>
            <p:nvGrpSpPr>
              <p:cNvPr id="54658" name="Group 386"/>
              <p:cNvGrpSpPr/>
              <p:nvPr/>
            </p:nvGrpSpPr>
            <p:grpSpPr bwMode="auto">
              <a:xfrm>
                <a:off x="2456" y="3836"/>
                <a:ext cx="464" cy="212"/>
                <a:chOff x="2456" y="3836"/>
                <a:chExt cx="464" cy="212"/>
              </a:xfrm>
            </p:grpSpPr>
            <p:sp>
              <p:nvSpPr>
                <p:cNvPr id="54659" name="Rectangle 387"/>
                <p:cNvSpPr>
                  <a:spLocks noChangeArrowheads="1"/>
                </p:cNvSpPr>
                <p:nvPr/>
              </p:nvSpPr>
              <p:spPr bwMode="auto">
                <a:xfrm>
                  <a:off x="245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60" name="Rectangle 388"/>
                <p:cNvSpPr>
                  <a:spLocks noChangeArrowheads="1"/>
                </p:cNvSpPr>
                <p:nvPr/>
              </p:nvSpPr>
              <p:spPr bwMode="auto">
                <a:xfrm>
                  <a:off x="2496" y="3836"/>
                  <a:ext cx="26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EX</a:t>
                  </a:r>
                  <a:endParaRPr lang="en-US" altLang="zh-CN" sz="1200"/>
                </a:p>
              </p:txBody>
            </p:sp>
          </p:grpSp>
          <p:grpSp>
            <p:nvGrpSpPr>
              <p:cNvPr id="54661" name="Group 389"/>
              <p:cNvGrpSpPr/>
              <p:nvPr/>
            </p:nvGrpSpPr>
            <p:grpSpPr bwMode="auto">
              <a:xfrm>
                <a:off x="2936" y="3836"/>
                <a:ext cx="464" cy="212"/>
                <a:chOff x="2936" y="3836"/>
                <a:chExt cx="464" cy="212"/>
              </a:xfrm>
            </p:grpSpPr>
            <p:sp>
              <p:nvSpPr>
                <p:cNvPr id="54662" name="Rectangle 390"/>
                <p:cNvSpPr>
                  <a:spLocks noChangeArrowheads="1"/>
                </p:cNvSpPr>
                <p:nvPr/>
              </p:nvSpPr>
              <p:spPr bwMode="auto">
                <a:xfrm>
                  <a:off x="293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63" name="Rectangle 391"/>
                <p:cNvSpPr>
                  <a:spLocks noChangeArrowheads="1"/>
                </p:cNvSpPr>
                <p:nvPr/>
              </p:nvSpPr>
              <p:spPr bwMode="auto">
                <a:xfrm>
                  <a:off x="2990" y="3836"/>
                  <a:ext cx="38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MEM</a:t>
                  </a:r>
                  <a:endParaRPr lang="en-US" altLang="zh-CN" sz="1200"/>
                </a:p>
              </p:txBody>
            </p:sp>
          </p:grpSp>
          <p:grpSp>
            <p:nvGrpSpPr>
              <p:cNvPr id="54664" name="Group 392"/>
              <p:cNvGrpSpPr/>
              <p:nvPr/>
            </p:nvGrpSpPr>
            <p:grpSpPr bwMode="auto">
              <a:xfrm>
                <a:off x="3416" y="3836"/>
                <a:ext cx="464" cy="212"/>
                <a:chOff x="3416" y="3836"/>
                <a:chExt cx="464" cy="212"/>
              </a:xfrm>
            </p:grpSpPr>
            <p:sp>
              <p:nvSpPr>
                <p:cNvPr id="54665" name="Rectangle 393"/>
                <p:cNvSpPr>
                  <a:spLocks noChangeArrowheads="1"/>
                </p:cNvSpPr>
                <p:nvPr/>
              </p:nvSpPr>
              <p:spPr bwMode="auto">
                <a:xfrm>
                  <a:off x="341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66" name="Rectangle 394"/>
                <p:cNvSpPr>
                  <a:spLocks noChangeArrowheads="1"/>
                </p:cNvSpPr>
                <p:nvPr/>
              </p:nvSpPr>
              <p:spPr bwMode="auto">
                <a:xfrm>
                  <a:off x="3500" y="3836"/>
                  <a:ext cx="30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WB</a:t>
                  </a:r>
                  <a:endParaRPr lang="en-US" altLang="zh-CN" sz="1200"/>
                </a:p>
              </p:txBody>
            </p:sp>
          </p:grpSp>
        </p:grpSp>
        <p:grpSp>
          <p:nvGrpSpPr>
            <p:cNvPr id="54667" name="Group 395"/>
            <p:cNvGrpSpPr/>
            <p:nvPr/>
          </p:nvGrpSpPr>
          <p:grpSpPr bwMode="auto">
            <a:xfrm>
              <a:off x="2953" y="1824"/>
              <a:ext cx="2384" cy="212"/>
              <a:chOff x="1496" y="3836"/>
              <a:chExt cx="2384" cy="212"/>
            </a:xfrm>
          </p:grpSpPr>
          <p:grpSp>
            <p:nvGrpSpPr>
              <p:cNvPr id="54668" name="Group 396"/>
              <p:cNvGrpSpPr/>
              <p:nvPr/>
            </p:nvGrpSpPr>
            <p:grpSpPr bwMode="auto">
              <a:xfrm>
                <a:off x="1496" y="3836"/>
                <a:ext cx="464" cy="212"/>
                <a:chOff x="1496" y="3836"/>
                <a:chExt cx="464" cy="212"/>
              </a:xfrm>
            </p:grpSpPr>
            <p:sp>
              <p:nvSpPr>
                <p:cNvPr id="54669" name="Rectangle 397"/>
                <p:cNvSpPr>
                  <a:spLocks noChangeArrowheads="1"/>
                </p:cNvSpPr>
                <p:nvPr/>
              </p:nvSpPr>
              <p:spPr bwMode="auto">
                <a:xfrm>
                  <a:off x="149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70" name="Rectangle 398"/>
                <p:cNvSpPr>
                  <a:spLocks noChangeArrowheads="1"/>
                </p:cNvSpPr>
                <p:nvPr/>
              </p:nvSpPr>
              <p:spPr bwMode="auto">
                <a:xfrm>
                  <a:off x="1529" y="3836"/>
                  <a:ext cx="23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IF</a:t>
                  </a:r>
                  <a:endParaRPr lang="en-US" altLang="zh-CN" sz="1200"/>
                </a:p>
              </p:txBody>
            </p:sp>
          </p:grpSp>
          <p:grpSp>
            <p:nvGrpSpPr>
              <p:cNvPr id="54671" name="Group 399"/>
              <p:cNvGrpSpPr/>
              <p:nvPr/>
            </p:nvGrpSpPr>
            <p:grpSpPr bwMode="auto">
              <a:xfrm>
                <a:off x="1976" y="3836"/>
                <a:ext cx="464" cy="212"/>
                <a:chOff x="1976" y="3836"/>
                <a:chExt cx="464" cy="212"/>
              </a:xfrm>
            </p:grpSpPr>
            <p:sp>
              <p:nvSpPr>
                <p:cNvPr id="54672" name="Rectangle 400"/>
                <p:cNvSpPr>
                  <a:spLocks noChangeArrowheads="1"/>
                </p:cNvSpPr>
                <p:nvPr/>
              </p:nvSpPr>
              <p:spPr bwMode="auto">
                <a:xfrm>
                  <a:off x="197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73" name="Rectangle 401"/>
                <p:cNvSpPr>
                  <a:spLocks noChangeArrowheads="1"/>
                </p:cNvSpPr>
                <p:nvPr/>
              </p:nvSpPr>
              <p:spPr bwMode="auto">
                <a:xfrm>
                  <a:off x="2053" y="3836"/>
                  <a:ext cx="251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ID</a:t>
                  </a:r>
                  <a:endParaRPr lang="en-US" altLang="zh-CN" sz="1200"/>
                </a:p>
              </p:txBody>
            </p:sp>
          </p:grpSp>
          <p:grpSp>
            <p:nvGrpSpPr>
              <p:cNvPr id="54674" name="Group 402"/>
              <p:cNvGrpSpPr/>
              <p:nvPr/>
            </p:nvGrpSpPr>
            <p:grpSpPr bwMode="auto">
              <a:xfrm>
                <a:off x="2456" y="3836"/>
                <a:ext cx="464" cy="212"/>
                <a:chOff x="2456" y="3836"/>
                <a:chExt cx="464" cy="212"/>
              </a:xfrm>
            </p:grpSpPr>
            <p:sp>
              <p:nvSpPr>
                <p:cNvPr id="54675" name="Rectangle 403"/>
                <p:cNvSpPr>
                  <a:spLocks noChangeArrowheads="1"/>
                </p:cNvSpPr>
                <p:nvPr/>
              </p:nvSpPr>
              <p:spPr bwMode="auto">
                <a:xfrm>
                  <a:off x="245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76" name="Rectangle 404"/>
                <p:cNvSpPr>
                  <a:spLocks noChangeArrowheads="1"/>
                </p:cNvSpPr>
                <p:nvPr/>
              </p:nvSpPr>
              <p:spPr bwMode="auto">
                <a:xfrm>
                  <a:off x="2496" y="3836"/>
                  <a:ext cx="26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EX</a:t>
                  </a:r>
                  <a:endParaRPr lang="en-US" altLang="zh-CN" sz="1200"/>
                </a:p>
              </p:txBody>
            </p:sp>
          </p:grpSp>
          <p:grpSp>
            <p:nvGrpSpPr>
              <p:cNvPr id="54677" name="Group 405"/>
              <p:cNvGrpSpPr/>
              <p:nvPr/>
            </p:nvGrpSpPr>
            <p:grpSpPr bwMode="auto">
              <a:xfrm>
                <a:off x="2936" y="3836"/>
                <a:ext cx="464" cy="212"/>
                <a:chOff x="2936" y="3836"/>
                <a:chExt cx="464" cy="212"/>
              </a:xfrm>
            </p:grpSpPr>
            <p:sp>
              <p:nvSpPr>
                <p:cNvPr id="54678" name="Rectangle 406"/>
                <p:cNvSpPr>
                  <a:spLocks noChangeArrowheads="1"/>
                </p:cNvSpPr>
                <p:nvPr/>
              </p:nvSpPr>
              <p:spPr bwMode="auto">
                <a:xfrm>
                  <a:off x="293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79" name="Rectangle 407"/>
                <p:cNvSpPr>
                  <a:spLocks noChangeArrowheads="1"/>
                </p:cNvSpPr>
                <p:nvPr/>
              </p:nvSpPr>
              <p:spPr bwMode="auto">
                <a:xfrm>
                  <a:off x="2990" y="3836"/>
                  <a:ext cx="38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MEM</a:t>
                  </a:r>
                  <a:endParaRPr lang="en-US" altLang="zh-CN" sz="1200"/>
                </a:p>
              </p:txBody>
            </p:sp>
          </p:grpSp>
          <p:grpSp>
            <p:nvGrpSpPr>
              <p:cNvPr id="54680" name="Group 408"/>
              <p:cNvGrpSpPr/>
              <p:nvPr/>
            </p:nvGrpSpPr>
            <p:grpSpPr bwMode="auto">
              <a:xfrm>
                <a:off x="3416" y="3836"/>
                <a:ext cx="464" cy="212"/>
                <a:chOff x="3416" y="3836"/>
                <a:chExt cx="464" cy="212"/>
              </a:xfrm>
            </p:grpSpPr>
            <p:sp>
              <p:nvSpPr>
                <p:cNvPr id="54681" name="Rectangle 409"/>
                <p:cNvSpPr>
                  <a:spLocks noChangeArrowheads="1"/>
                </p:cNvSpPr>
                <p:nvPr/>
              </p:nvSpPr>
              <p:spPr bwMode="auto">
                <a:xfrm>
                  <a:off x="341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82" name="Rectangle 410"/>
                <p:cNvSpPr>
                  <a:spLocks noChangeArrowheads="1"/>
                </p:cNvSpPr>
                <p:nvPr/>
              </p:nvSpPr>
              <p:spPr bwMode="auto">
                <a:xfrm>
                  <a:off x="3500" y="3836"/>
                  <a:ext cx="30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/>
                    <a:t>WB</a:t>
                  </a:r>
                  <a:endParaRPr lang="en-US" altLang="zh-CN" sz="1200"/>
                </a:p>
              </p:txBody>
            </p:sp>
          </p:grpSp>
        </p:grp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How simple as this !  Really ?</a:t>
            </a:r>
            <a:r>
              <a:rPr lang="en-US" altLang="zh-CN" b="0" dirty="0">
                <a:latin typeface="Arial" panose="020B0604020202090204" pitchFamily="34" charset="0"/>
              </a:rPr>
              <a:t> </a:t>
            </a:r>
            <a:endParaRPr lang="en-US" altLang="zh-CN" b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89F36044-DCED-49C8-9260-91D44438AF52}" type="slidenum">
              <a:rPr lang="en-US" altLang="zh-CN"/>
            </a:fld>
            <a:endParaRPr lang="en-US" altLang="zh-CN"/>
          </a:p>
        </p:txBody>
      </p:sp>
      <p:grpSp>
        <p:nvGrpSpPr>
          <p:cNvPr id="52226" name="Group 2"/>
          <p:cNvGrpSpPr/>
          <p:nvPr/>
        </p:nvGrpSpPr>
        <p:grpSpPr bwMode="auto">
          <a:xfrm>
            <a:off x="1428750" y="843558"/>
            <a:ext cx="6229350" cy="3569493"/>
            <a:chOff x="240" y="960"/>
            <a:chExt cx="5232" cy="2998"/>
          </a:xfrm>
        </p:grpSpPr>
        <p:pic>
          <p:nvPicPr>
            <p:cNvPr id="52227" name="Picture 3" descr="E:\English_arch\611\chap3_4.files\chap3_4-5new.gi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960"/>
              <a:ext cx="5232" cy="2784"/>
            </a:xfrm>
            <a:prstGeom prst="rect">
              <a:avLst/>
            </a:prstGeom>
            <a:noFill/>
          </p:spPr>
        </p:pic>
        <p:grpSp>
          <p:nvGrpSpPr>
            <p:cNvPr id="52228" name="Group 4"/>
            <p:cNvGrpSpPr/>
            <p:nvPr/>
          </p:nvGrpSpPr>
          <p:grpSpPr bwMode="auto">
            <a:xfrm>
              <a:off x="3079" y="3002"/>
              <a:ext cx="2393" cy="956"/>
              <a:chOff x="3079" y="3002"/>
              <a:chExt cx="2393" cy="956"/>
            </a:xfrm>
          </p:grpSpPr>
          <p:sp>
            <p:nvSpPr>
              <p:cNvPr id="52229" name="Text Box 5"/>
              <p:cNvSpPr txBox="1">
                <a:spLocks noChangeArrowheads="1"/>
              </p:cNvSpPr>
              <p:nvPr/>
            </p:nvSpPr>
            <p:spPr bwMode="auto">
              <a:xfrm>
                <a:off x="3079" y="3002"/>
                <a:ext cx="582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>
                    <a:solidFill>
                      <a:srgbClr val="339966"/>
                    </a:solidFill>
                  </a:rPr>
                  <a:t>store</a:t>
                </a:r>
                <a:endParaRPr lang="en-US" altLang="zh-CN" b="0"/>
              </a:p>
            </p:txBody>
          </p:sp>
          <p:sp>
            <p:nvSpPr>
              <p:cNvPr id="52230" name="Text Box 6"/>
              <p:cNvSpPr txBox="1">
                <a:spLocks noChangeArrowheads="1"/>
              </p:cNvSpPr>
              <p:nvPr/>
            </p:nvSpPr>
            <p:spPr bwMode="auto">
              <a:xfrm>
                <a:off x="4896" y="3648"/>
                <a:ext cx="576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dirty="0">
                    <a:solidFill>
                      <a:srgbClr val="339966"/>
                    </a:solidFill>
                  </a:rPr>
                  <a:t>load</a:t>
                </a:r>
                <a:endParaRPr lang="en-US" altLang="zh-CN" b="0" dirty="0"/>
              </a:p>
            </p:txBody>
          </p:sp>
        </p:grpSp>
      </p:grpSp>
      <p:grpSp>
        <p:nvGrpSpPr>
          <p:cNvPr id="52232" name="Group 8"/>
          <p:cNvGrpSpPr/>
          <p:nvPr/>
        </p:nvGrpSpPr>
        <p:grpSpPr bwMode="auto">
          <a:xfrm>
            <a:off x="1403747" y="3758206"/>
            <a:ext cx="2768203" cy="692944"/>
            <a:chOff x="219" y="3408"/>
            <a:chExt cx="2325" cy="582"/>
          </a:xfrm>
        </p:grpSpPr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219" y="3408"/>
              <a:ext cx="880" cy="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3500" tIns="0" rIns="13500" bIns="0">
              <a:spAutoFit/>
            </a:bodyPr>
            <a:lstStyle/>
            <a:p>
              <a:pPr eaLnBrk="1" hangingPunct="1"/>
              <a:r>
                <a:rPr lang="en-US" altLang="zh-CN" sz="1500">
                  <a:solidFill>
                    <a:srgbClr val="FF00FF"/>
                  </a:solidFill>
                </a:rPr>
                <a:t>pipeline </a:t>
              </a:r>
              <a:endParaRPr lang="en-US" altLang="zh-CN" sz="1500">
                <a:solidFill>
                  <a:srgbClr val="FF00FF"/>
                </a:solidFill>
              </a:endParaRPr>
            </a:p>
            <a:p>
              <a:pPr eaLnBrk="1" hangingPunct="1"/>
              <a:r>
                <a:rPr lang="en-US" altLang="zh-CN" sz="1500">
                  <a:solidFill>
                    <a:srgbClr val="FF00FF"/>
                  </a:solidFill>
                </a:rPr>
                <a:t>registers or </a:t>
              </a:r>
              <a:endParaRPr lang="en-US" altLang="zh-CN">
                <a:solidFill>
                  <a:srgbClr val="FF00FF"/>
                </a:solidFill>
              </a:endParaRPr>
            </a:p>
            <a:p>
              <a:pPr eaLnBrk="1" hangingPunct="1"/>
              <a:r>
                <a:rPr lang="en-US" altLang="zh-CN" sz="1500">
                  <a:solidFill>
                    <a:srgbClr val="FF00FF"/>
                  </a:solidFill>
                </a:rPr>
                <a:t>latches</a:t>
              </a:r>
              <a:r>
                <a:rPr lang="en-US" altLang="zh-CN" sz="1500"/>
                <a:t>  </a:t>
              </a:r>
              <a:endParaRPr lang="en-US" altLang="zh-CN" sz="1500"/>
            </a:p>
          </p:txBody>
        </p:sp>
        <p:sp>
          <p:nvSpPr>
            <p:cNvPr id="52234" name="Line 10"/>
            <p:cNvSpPr>
              <a:spLocks noChangeShapeType="1"/>
            </p:cNvSpPr>
            <p:nvPr/>
          </p:nvSpPr>
          <p:spPr bwMode="auto">
            <a:xfrm flipV="1">
              <a:off x="912" y="3456"/>
              <a:ext cx="624" cy="192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5" name="Line 11"/>
            <p:cNvSpPr>
              <a:spLocks noChangeShapeType="1"/>
            </p:cNvSpPr>
            <p:nvPr/>
          </p:nvSpPr>
          <p:spPr bwMode="auto">
            <a:xfrm flipV="1">
              <a:off x="1008" y="3456"/>
              <a:ext cx="1536" cy="24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2236" name="Group 12"/>
          <p:cNvGrpSpPr/>
          <p:nvPr/>
        </p:nvGrpSpPr>
        <p:grpSpPr bwMode="auto">
          <a:xfrm>
            <a:off x="3457575" y="3701058"/>
            <a:ext cx="2447925" cy="847726"/>
            <a:chOff x="1944" y="3360"/>
            <a:chExt cx="2056" cy="712"/>
          </a:xfrm>
        </p:grpSpPr>
        <p:sp>
          <p:nvSpPr>
            <p:cNvPr id="52237" name="Text Box 13"/>
            <p:cNvSpPr txBox="1">
              <a:spLocks noChangeArrowheads="1"/>
            </p:cNvSpPr>
            <p:nvPr/>
          </p:nvSpPr>
          <p:spPr bwMode="auto">
            <a:xfrm>
              <a:off x="1944" y="3801"/>
              <a:ext cx="2056" cy="27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>
                  <a:solidFill>
                    <a:srgbClr val="FF3300"/>
                  </a:solidFill>
                </a:rPr>
                <a:t>Why need to add this line?</a:t>
              </a:r>
              <a:endParaRPr lang="en-US" altLang="zh-CN" b="0"/>
            </a:p>
          </p:txBody>
        </p:sp>
        <p:sp>
          <p:nvSpPr>
            <p:cNvPr id="52238" name="Line 14"/>
            <p:cNvSpPr>
              <a:spLocks noChangeShapeType="1"/>
            </p:cNvSpPr>
            <p:nvPr/>
          </p:nvSpPr>
          <p:spPr bwMode="auto">
            <a:xfrm flipV="1">
              <a:off x="3024" y="3360"/>
              <a:ext cx="192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en-US" altLang="zh-CN" b="1" dirty="0"/>
              <a:t>hazard</a:t>
            </a:r>
            <a:r>
              <a:rPr lang="en-US" altLang="zh-CN" dirty="0"/>
              <a:t> is a condition that prevents an instruction in the pipe from executing its next scheduled pipe stage</a:t>
            </a:r>
            <a:endParaRPr lang="en-US" altLang="zh-CN" dirty="0"/>
          </a:p>
          <a:p>
            <a:r>
              <a:rPr lang="en-US" altLang="zh-CN" dirty="0"/>
              <a:t>Taxonomy of hazard</a:t>
            </a:r>
            <a:endParaRPr lang="en-US" altLang="zh-CN" dirty="0"/>
          </a:p>
          <a:p>
            <a:pPr lvl="1"/>
            <a:r>
              <a:rPr lang="en-US" altLang="zh-CN" b="1" dirty="0"/>
              <a:t>Structural hazards </a:t>
            </a:r>
            <a:endParaRPr lang="en-US" altLang="zh-CN" b="1" dirty="0"/>
          </a:p>
          <a:p>
            <a:pPr lvl="2"/>
            <a:r>
              <a:rPr lang="en-US" altLang="zh-CN" dirty="0"/>
              <a:t>These are conflicts over hardware resources. </a:t>
            </a:r>
            <a:endParaRPr lang="en-US" altLang="zh-CN" dirty="0"/>
          </a:p>
          <a:p>
            <a:pPr lvl="1"/>
            <a:r>
              <a:rPr lang="en-US" altLang="zh-CN" b="1" dirty="0"/>
              <a:t>Data hazards</a:t>
            </a:r>
            <a:endParaRPr lang="en-US" altLang="zh-CN" b="1" dirty="0"/>
          </a:p>
          <a:p>
            <a:pPr lvl="2"/>
            <a:r>
              <a:rPr lang="en-US" altLang="zh-CN" dirty="0"/>
              <a:t>Instruction depends on result of prior computation which is not ready (computed or stored) yet</a:t>
            </a:r>
            <a:endParaRPr lang="en-US" altLang="zh-CN" dirty="0"/>
          </a:p>
          <a:p>
            <a:pPr lvl="1"/>
            <a:r>
              <a:rPr lang="en-US" altLang="zh-CN" b="1" dirty="0"/>
              <a:t>Control hazards </a:t>
            </a:r>
            <a:endParaRPr lang="en-US" altLang="zh-CN" b="1" dirty="0"/>
          </a:p>
          <a:p>
            <a:pPr lvl="2"/>
            <a:r>
              <a:rPr lang="en-US" altLang="zh-CN" dirty="0"/>
              <a:t>branch condition and the branch PC are not available in time to fetch an instruction on the next clock</a:t>
            </a:r>
            <a:endParaRPr lang="en-US" altLang="zh-CN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Pipeline hazard: the major hurdle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simplest way to "fix" hazards is to </a:t>
            </a:r>
            <a:r>
              <a:rPr lang="en-US" altLang="zh-CN" b="1" dirty="0"/>
              <a:t>stall</a:t>
            </a:r>
            <a:r>
              <a:rPr lang="en-US" altLang="zh-CN" dirty="0"/>
              <a:t> the pipeline. </a:t>
            </a:r>
            <a:endParaRPr lang="en-US" altLang="zh-CN" dirty="0"/>
          </a:p>
          <a:p>
            <a:r>
              <a:rPr lang="en-US" altLang="zh-CN" dirty="0"/>
              <a:t>Stall means suspending the pipeline for some instructions by one or more clock cycles. </a:t>
            </a:r>
            <a:endParaRPr lang="en-US" altLang="zh-CN" dirty="0"/>
          </a:p>
          <a:p>
            <a:r>
              <a:rPr lang="en-US" altLang="zh-CN" dirty="0"/>
              <a:t>The </a:t>
            </a:r>
            <a:r>
              <a:rPr lang="en-US" altLang="zh-CN" b="1" dirty="0"/>
              <a:t>stall</a:t>
            </a:r>
            <a:r>
              <a:rPr lang="en-US" altLang="zh-CN" dirty="0"/>
              <a:t> delays </a:t>
            </a:r>
            <a:r>
              <a:rPr lang="en-US" altLang="zh-CN" b="1" dirty="0"/>
              <a:t>all instructions issued after </a:t>
            </a:r>
            <a:r>
              <a:rPr lang="en-US" altLang="zh-CN" dirty="0"/>
              <a:t>the instruction that was stalled, while other instructions in the pipeline go on proceeding.</a:t>
            </a:r>
            <a:endParaRPr lang="en-US" altLang="zh-CN" dirty="0"/>
          </a:p>
          <a:p>
            <a:r>
              <a:rPr lang="en-US" altLang="zh-CN" dirty="0"/>
              <a:t>A pipeline stall is also called a </a:t>
            </a:r>
            <a:r>
              <a:rPr lang="en-US" altLang="zh-CN" b="1" dirty="0"/>
              <a:t>pipeline bubble </a:t>
            </a:r>
            <a:r>
              <a:rPr lang="en-US" altLang="zh-CN" dirty="0"/>
              <a:t>or simply </a:t>
            </a:r>
            <a:r>
              <a:rPr lang="en-US" altLang="zh-CN" b="1" dirty="0"/>
              <a:t>bubble</a:t>
            </a:r>
            <a:r>
              <a:rPr lang="en-US" altLang="zh-CN" dirty="0"/>
              <a:t>. </a:t>
            </a:r>
            <a:endParaRPr lang="en-US" altLang="zh-CN" dirty="0"/>
          </a:p>
          <a:p>
            <a:r>
              <a:rPr lang="en-US" altLang="zh-CN" dirty="0"/>
              <a:t>No new instructions are fetched during a stall .</a:t>
            </a:r>
            <a:endParaRPr lang="en-US" altLang="zh-CN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Hazards can always be resolved by Stall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Pipeline stalls decrease performance from the ideal </a:t>
            </a:r>
            <a:endParaRPr lang="en-US" altLang="zh-CN" dirty="0"/>
          </a:p>
          <a:p>
            <a:r>
              <a:rPr lang="en-US" altLang="zh-CN" dirty="0"/>
              <a:t>Recall the speedup formula: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Performance of pipeline with stalls</a:t>
            </a:r>
            <a:endParaRPr lang="en-US" altLang="zh-CN"/>
          </a:p>
        </p:txBody>
      </p:sp>
      <p:pic>
        <p:nvPicPr>
          <p:cNvPr id="10244" name="Picture 4" descr="chap3_2-2new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218" y="1707654"/>
            <a:ext cx="5657850" cy="1007269"/>
          </a:xfrm>
          <a:prstGeom prst="rect">
            <a:avLst/>
          </a:prstGeom>
          <a:noFill/>
        </p:spPr>
      </p:pic>
      <p:pic>
        <p:nvPicPr>
          <p:cNvPr id="10245" name="Picture 5" descr="chap3_2-3n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0" y="2736354"/>
            <a:ext cx="4343400" cy="1714500"/>
          </a:xfrm>
          <a:prstGeom prst="rect">
            <a:avLst/>
          </a:prstGeom>
          <a:noFill/>
        </p:spPr>
      </p:pic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4000500" y="3593604"/>
            <a:ext cx="3771900" cy="8001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ideal CPI on a pipelined processor is almost always 1. (may less than  or greater that )</a:t>
            </a:r>
            <a:endParaRPr lang="en-US" altLang="zh-CN" dirty="0"/>
          </a:p>
          <a:p>
            <a:r>
              <a:rPr lang="en-US" altLang="zh-CN" dirty="0"/>
              <a:t>So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Ignore the overhead of pipelining clock cycle.</a:t>
            </a:r>
            <a:endParaRPr lang="en-US" altLang="zh-CN" dirty="0"/>
          </a:p>
          <a:p>
            <a:r>
              <a:rPr lang="en-US" altLang="zh-CN" dirty="0"/>
              <a:t>Pipe stages are ideal balanced.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Case of multi-cycle implementation</a:t>
            </a:r>
            <a:endParaRPr lang="en-US" altLang="zh-CN"/>
          </a:p>
        </p:txBody>
      </p:sp>
      <p:pic>
        <p:nvPicPr>
          <p:cNvPr id="11268" name="Picture 4" descr="chap3_2-4new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822" y="2143125"/>
            <a:ext cx="5486400" cy="8572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 So: Clock cycle unpipelined = Clock cycle pipelining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Case of multi-cycle implementation</a:t>
            </a:r>
            <a:endParaRPr lang="en-US" altLang="zh-CN"/>
          </a:p>
        </p:txBody>
      </p:sp>
      <p:pic>
        <p:nvPicPr>
          <p:cNvPr id="69636" name="Picture 4" descr="chap3_2-5new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085" y="1707654"/>
            <a:ext cx="4572000" cy="857250"/>
          </a:xfrm>
          <a:prstGeom prst="rect">
            <a:avLst/>
          </a:prstGeom>
          <a:noFill/>
        </p:spPr>
      </p:pic>
      <p:pic>
        <p:nvPicPr>
          <p:cNvPr id="69637" name="Picture 5" descr="chap3_2-6n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241" y="3328095"/>
            <a:ext cx="4457700" cy="7429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2129947" y="2680396"/>
            <a:ext cx="350179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CPl unpipelined = pipeline depth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CPI unpipelined  = 1</a:t>
            </a:r>
            <a:endParaRPr lang="en-US" altLang="zh-CN"/>
          </a:p>
          <a:p>
            <a:endParaRPr lang="en-US" altLang="zh-CN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Case of single-cycle implementation</a:t>
            </a:r>
            <a:endParaRPr lang="en-US" altLang="zh-CN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371600" y="1771650"/>
            <a:ext cx="3200400" cy="4154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200">
                <a:latin typeface="Times New Roman" panose="02020503050405090304" pitchFamily="18" charset="0"/>
                <a:sym typeface="Symbol" pitchFamily="18" charset="2"/>
              </a:rPr>
              <a:t> </a:t>
            </a:r>
            <a:r>
              <a:rPr lang="en-US" altLang="zh-CN">
                <a:latin typeface="Times New Roman" panose="02020503050405090304" pitchFamily="18" charset="0"/>
                <a:sym typeface="Symbol" pitchFamily="18" charset="2"/>
              </a:rPr>
              <a:t> </a:t>
            </a:r>
            <a:r>
              <a:rPr lang="en-US" altLang="zh-CN" sz="2100"/>
              <a:t>Clock cycle pipelined =</a:t>
            </a:r>
            <a:r>
              <a:rPr lang="en-US" altLang="zh-CN">
                <a:latin typeface="Times New Roman" panose="02020503050405090304" pitchFamily="18" charset="0"/>
              </a:rPr>
              <a:t> 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343400" y="1657350"/>
            <a:ext cx="3143250" cy="73866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2100" u="sng"/>
              <a:t>Clock cycle unpipelined</a:t>
            </a:r>
            <a:endParaRPr lang="en-US" altLang="zh-CN" sz="2100"/>
          </a:p>
          <a:p>
            <a:pPr algn="ctr" eaLnBrk="1" hangingPunct="1"/>
            <a:r>
              <a:rPr lang="en-US" altLang="zh-CN" sz="2100"/>
              <a:t>pipeline depth</a:t>
            </a:r>
            <a:endParaRPr lang="en-US" altLang="zh-CN" sz="2100"/>
          </a:p>
        </p:txBody>
      </p:sp>
      <p:pic>
        <p:nvPicPr>
          <p:cNvPr id="12294" name="Picture 6" descr="bb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514600"/>
            <a:ext cx="6457950" cy="857250"/>
          </a:xfrm>
          <a:prstGeom prst="rect">
            <a:avLst/>
          </a:prstGeom>
          <a:noFill/>
        </p:spPr>
      </p:pic>
      <p:pic>
        <p:nvPicPr>
          <p:cNvPr id="12295" name="Picture 7" descr="chap3_2-6n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600450"/>
            <a:ext cx="4229100" cy="9144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Structural hazards</a:t>
            </a:r>
            <a:endParaRPr lang="en-US" altLang="zh-CN" b="1" dirty="0"/>
          </a:p>
          <a:p>
            <a:pPr lvl="1"/>
            <a:r>
              <a:rPr lang="en-US" altLang="zh-CN" dirty="0"/>
              <a:t>Occurs when two or more instructions want to use the same hardware resource in the same cycle</a:t>
            </a:r>
            <a:endParaRPr lang="en-US" altLang="zh-CN" dirty="0"/>
          </a:p>
          <a:p>
            <a:pPr lvl="1"/>
            <a:r>
              <a:rPr lang="en-US" altLang="zh-CN" dirty="0"/>
              <a:t>Causes bubble (stall) in pipelined machines</a:t>
            </a:r>
            <a:endParaRPr lang="en-US" altLang="zh-CN" dirty="0"/>
          </a:p>
          <a:p>
            <a:pPr lvl="1"/>
            <a:r>
              <a:rPr lang="en-US" altLang="zh-CN" dirty="0"/>
              <a:t>Overcome by replicating hardware resources</a:t>
            </a:r>
            <a:endParaRPr lang="en-US" altLang="zh-CN" dirty="0"/>
          </a:p>
          <a:p>
            <a:pPr lvl="2"/>
            <a:r>
              <a:rPr lang="en-US" altLang="zh-CN" dirty="0"/>
              <a:t>Multiple accesses to the register file</a:t>
            </a:r>
            <a:endParaRPr lang="en-US" altLang="zh-CN" dirty="0"/>
          </a:p>
          <a:p>
            <a:pPr lvl="2"/>
            <a:r>
              <a:rPr lang="en-US" altLang="zh-CN" dirty="0"/>
              <a:t>Multiple accesses to memory</a:t>
            </a:r>
            <a:endParaRPr lang="en-US" altLang="zh-CN" dirty="0"/>
          </a:p>
          <a:p>
            <a:pPr lvl="2"/>
            <a:r>
              <a:rPr lang="en-US" altLang="zh-CN" dirty="0"/>
              <a:t>some functional unit is not fully pipelined.</a:t>
            </a:r>
            <a:endParaRPr lang="en-US" altLang="zh-CN" dirty="0"/>
          </a:p>
          <a:p>
            <a:pPr lvl="2"/>
            <a:r>
              <a:rPr lang="en-US" altLang="zh-CN" dirty="0"/>
              <a:t>Not pipelined functional units</a:t>
            </a:r>
            <a:endParaRPr lang="en-US" altLang="zh-CN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Structural hazard: Pipe Stage Contention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Focus:  different operations with the same data path resource on the same clock cycle is not possible. (structure hazard)</a:t>
            </a:r>
            <a:endParaRPr lang="en-US" altLang="zh-CN" dirty="0"/>
          </a:p>
          <a:p>
            <a:r>
              <a:rPr lang="en-US" altLang="zh-CN" dirty="0"/>
              <a:t>There is </a:t>
            </a:r>
            <a:r>
              <a:rPr lang="en-US" altLang="zh-CN" dirty="0">
                <a:solidFill>
                  <a:srgbClr val="FF0000"/>
                </a:solidFill>
              </a:rPr>
              <a:t>conflict</a:t>
            </a:r>
            <a:r>
              <a:rPr lang="en-US" altLang="zh-CN" dirty="0"/>
              <a:t>  about the memory ! 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Problems that pipelining introduces</a:t>
            </a:r>
            <a:endParaRPr lang="en-US" altLang="zh-CN"/>
          </a:p>
        </p:txBody>
      </p:sp>
      <p:sp>
        <p:nvSpPr>
          <p:cNvPr id="140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00DA352D-F2DF-4ABA-B057-98681FA46DA1}" type="slidenum">
              <a:rPr lang="en-US" altLang="zh-CN"/>
            </a:fld>
            <a:endParaRPr lang="en-US" altLang="zh-CN"/>
          </a:p>
        </p:txBody>
      </p:sp>
      <p:grpSp>
        <p:nvGrpSpPr>
          <p:cNvPr id="55466" name="Group 170"/>
          <p:cNvGrpSpPr/>
          <p:nvPr/>
        </p:nvGrpSpPr>
        <p:grpSpPr bwMode="auto">
          <a:xfrm>
            <a:off x="1642566" y="2042266"/>
            <a:ext cx="5592366" cy="2461022"/>
            <a:chOff x="479" y="1776"/>
            <a:chExt cx="4697" cy="2067"/>
          </a:xfrm>
        </p:grpSpPr>
        <p:grpSp>
          <p:nvGrpSpPr>
            <p:cNvPr id="55301" name="Group 5"/>
            <p:cNvGrpSpPr/>
            <p:nvPr/>
          </p:nvGrpSpPr>
          <p:grpSpPr bwMode="auto">
            <a:xfrm>
              <a:off x="2825" y="2231"/>
              <a:ext cx="340" cy="259"/>
              <a:chOff x="2624" y="1200"/>
              <a:chExt cx="340" cy="294"/>
            </a:xfrm>
          </p:grpSpPr>
          <p:sp>
            <p:nvSpPr>
              <p:cNvPr id="55302" name="Freeform 6"/>
              <p:cNvSpPr/>
              <p:nvPr/>
            </p:nvSpPr>
            <p:spPr bwMode="auto">
              <a:xfrm>
                <a:off x="2816" y="1205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5303" name="Group 7"/>
              <p:cNvGrpSpPr/>
              <p:nvPr/>
            </p:nvGrpSpPr>
            <p:grpSpPr bwMode="auto">
              <a:xfrm>
                <a:off x="2624" y="1200"/>
                <a:ext cx="340" cy="289"/>
                <a:chOff x="2624" y="1200"/>
                <a:chExt cx="340" cy="289"/>
              </a:xfrm>
            </p:grpSpPr>
            <p:sp>
              <p:nvSpPr>
                <p:cNvPr id="55304" name="Freeform 8"/>
                <p:cNvSpPr/>
                <p:nvPr/>
              </p:nvSpPr>
              <p:spPr bwMode="auto">
                <a:xfrm>
                  <a:off x="2624" y="1200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05" name="Freeform 9"/>
                <p:cNvSpPr/>
                <p:nvPr/>
              </p:nvSpPr>
              <p:spPr bwMode="auto">
                <a:xfrm>
                  <a:off x="2793" y="1200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5306" name="Group 10"/>
            <p:cNvGrpSpPr/>
            <p:nvPr/>
          </p:nvGrpSpPr>
          <p:grpSpPr bwMode="auto">
            <a:xfrm>
              <a:off x="2825" y="3457"/>
              <a:ext cx="340" cy="259"/>
              <a:chOff x="2624" y="2592"/>
              <a:chExt cx="340" cy="294"/>
            </a:xfrm>
          </p:grpSpPr>
          <p:sp>
            <p:nvSpPr>
              <p:cNvPr id="55307" name="Freeform 11"/>
              <p:cNvSpPr/>
              <p:nvPr/>
            </p:nvSpPr>
            <p:spPr bwMode="auto">
              <a:xfrm>
                <a:off x="2816" y="2597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5308" name="Group 12"/>
              <p:cNvGrpSpPr/>
              <p:nvPr/>
            </p:nvGrpSpPr>
            <p:grpSpPr bwMode="auto">
              <a:xfrm>
                <a:off x="2624" y="2592"/>
                <a:ext cx="340" cy="289"/>
                <a:chOff x="2624" y="2592"/>
                <a:chExt cx="340" cy="289"/>
              </a:xfrm>
            </p:grpSpPr>
            <p:sp>
              <p:nvSpPr>
                <p:cNvPr id="55309" name="Freeform 13"/>
                <p:cNvSpPr/>
                <p:nvPr/>
              </p:nvSpPr>
              <p:spPr bwMode="auto">
                <a:xfrm>
                  <a:off x="2624" y="2592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10" name="Freeform 14"/>
                <p:cNvSpPr/>
                <p:nvPr/>
              </p:nvSpPr>
              <p:spPr bwMode="auto">
                <a:xfrm>
                  <a:off x="2793" y="2592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5311" name="Rectangle 15"/>
            <p:cNvSpPr>
              <a:spLocks noChangeArrowheads="1"/>
            </p:cNvSpPr>
            <p:nvPr/>
          </p:nvSpPr>
          <p:spPr bwMode="auto">
            <a:xfrm>
              <a:off x="2808" y="3459"/>
              <a:ext cx="402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Mem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sp>
          <p:nvSpPr>
            <p:cNvPr id="55312" name="Rectangle 16"/>
            <p:cNvSpPr>
              <a:spLocks noChangeArrowheads="1"/>
            </p:cNvSpPr>
            <p:nvPr/>
          </p:nvSpPr>
          <p:spPr bwMode="auto">
            <a:xfrm>
              <a:off x="479" y="2251"/>
              <a:ext cx="228" cy="15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I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n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s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t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r.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O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r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d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e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r</a:t>
              </a:r>
              <a:endParaRPr lang="en-US" altLang="zh-CN" sz="1350" i="1">
                <a:latin typeface="Arial" panose="020B0604020202090204" pitchFamily="34" charset="0"/>
              </a:endParaRPr>
            </a:p>
          </p:txBody>
        </p:sp>
        <p:sp>
          <p:nvSpPr>
            <p:cNvPr id="55313" name="Line 17"/>
            <p:cNvSpPr>
              <a:spLocks noChangeShapeType="1"/>
            </p:cNvSpPr>
            <p:nvPr/>
          </p:nvSpPr>
          <p:spPr bwMode="auto">
            <a:xfrm flipH="1">
              <a:off x="768" y="2256"/>
              <a:ext cx="0" cy="1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4" name="Line 18"/>
            <p:cNvSpPr>
              <a:spLocks noChangeShapeType="1"/>
            </p:cNvSpPr>
            <p:nvPr/>
          </p:nvSpPr>
          <p:spPr bwMode="auto">
            <a:xfrm>
              <a:off x="1200" y="2016"/>
              <a:ext cx="3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5" name="Rectangle 19"/>
            <p:cNvSpPr>
              <a:spLocks noChangeArrowheads="1"/>
            </p:cNvSpPr>
            <p:nvPr/>
          </p:nvSpPr>
          <p:spPr bwMode="auto">
            <a:xfrm>
              <a:off x="2394" y="1776"/>
              <a:ext cx="1350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350" i="1">
                  <a:latin typeface="Arial" panose="020B0604020202090204" pitchFamily="34" charset="0"/>
                </a:rPr>
                <a:t>Time (clock cycles)</a:t>
              </a:r>
              <a:endParaRPr lang="en-US" altLang="zh-CN" sz="1350" i="1">
                <a:latin typeface="Arial" panose="020B0604020202090204" pitchFamily="34" charset="0"/>
              </a:endParaRPr>
            </a:p>
          </p:txBody>
        </p:sp>
        <p:sp>
          <p:nvSpPr>
            <p:cNvPr id="55316" name="Rectangle 20"/>
            <p:cNvSpPr>
              <a:spLocks noChangeArrowheads="1"/>
            </p:cNvSpPr>
            <p:nvPr/>
          </p:nvSpPr>
          <p:spPr bwMode="auto">
            <a:xfrm>
              <a:off x="776" y="2321"/>
              <a:ext cx="662" cy="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b="0">
                  <a:latin typeface="Comic Sans MS" panose="030F0902030302020204" pitchFamily="66" charset="0"/>
                </a:rPr>
                <a:t>Ld/St</a:t>
              </a:r>
              <a:endParaRPr lang="en-US" altLang="zh-CN" sz="2100">
                <a:latin typeface="Arial" panose="020B0604020202090204" pitchFamily="34" charset="0"/>
              </a:endParaRPr>
            </a:p>
          </p:txBody>
        </p:sp>
        <p:sp>
          <p:nvSpPr>
            <p:cNvPr id="55317" name="Rectangle 21"/>
            <p:cNvSpPr>
              <a:spLocks noChangeArrowheads="1"/>
            </p:cNvSpPr>
            <p:nvPr/>
          </p:nvSpPr>
          <p:spPr bwMode="auto">
            <a:xfrm>
              <a:off x="760" y="2687"/>
              <a:ext cx="747" cy="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b="0">
                  <a:latin typeface="Comic Sans MS" panose="030F0902030302020204" pitchFamily="66" charset="0"/>
                </a:rPr>
                <a:t>Instr 1</a:t>
              </a:r>
              <a:endParaRPr lang="en-US" altLang="zh-CN" sz="2100">
                <a:latin typeface="Arial" panose="020B0604020202090204" pitchFamily="34" charset="0"/>
              </a:endParaRPr>
            </a:p>
          </p:txBody>
        </p:sp>
        <p:sp>
          <p:nvSpPr>
            <p:cNvPr id="55318" name="Rectangle 22"/>
            <p:cNvSpPr>
              <a:spLocks noChangeArrowheads="1"/>
            </p:cNvSpPr>
            <p:nvPr/>
          </p:nvSpPr>
          <p:spPr bwMode="auto">
            <a:xfrm>
              <a:off x="752" y="3096"/>
              <a:ext cx="778" cy="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b="0">
                  <a:latin typeface="Comic Sans MS" panose="030F0902030302020204" pitchFamily="66" charset="0"/>
                </a:rPr>
                <a:t>Instr 2</a:t>
              </a:r>
              <a:endParaRPr lang="en-US" altLang="zh-CN" sz="2100">
                <a:latin typeface="Arial" panose="020B0604020202090204" pitchFamily="34" charset="0"/>
              </a:endParaRPr>
            </a:p>
          </p:txBody>
        </p:sp>
        <p:sp>
          <p:nvSpPr>
            <p:cNvPr id="55319" name="Rectangle 23"/>
            <p:cNvSpPr>
              <a:spLocks noChangeArrowheads="1"/>
            </p:cNvSpPr>
            <p:nvPr/>
          </p:nvSpPr>
          <p:spPr bwMode="auto">
            <a:xfrm>
              <a:off x="795" y="3474"/>
              <a:ext cx="778" cy="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b="0">
                  <a:latin typeface="Comic Sans MS" panose="030F0902030302020204" pitchFamily="66" charset="0"/>
                </a:rPr>
                <a:t>Instr 3</a:t>
              </a:r>
              <a:endParaRPr lang="en-US" altLang="zh-CN" sz="2100">
                <a:latin typeface="Arial" panose="020B0604020202090204" pitchFamily="34" charset="0"/>
              </a:endParaRPr>
            </a:p>
          </p:txBody>
        </p:sp>
        <p:grpSp>
          <p:nvGrpSpPr>
            <p:cNvPr id="55464" name="Group 168"/>
            <p:cNvGrpSpPr/>
            <p:nvPr/>
          </p:nvGrpSpPr>
          <p:grpSpPr bwMode="auto">
            <a:xfrm>
              <a:off x="1920" y="2064"/>
              <a:ext cx="3024" cy="1728"/>
              <a:chOff x="1929" y="1985"/>
              <a:chExt cx="3024" cy="2479"/>
            </a:xfrm>
          </p:grpSpPr>
          <p:sp>
            <p:nvSpPr>
              <p:cNvPr id="55321" name="Line 25"/>
              <p:cNvSpPr>
                <a:spLocks noChangeShapeType="1"/>
              </p:cNvSpPr>
              <p:nvPr/>
            </p:nvSpPr>
            <p:spPr bwMode="auto">
              <a:xfrm>
                <a:off x="192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2" name="Line 26"/>
              <p:cNvSpPr>
                <a:spLocks noChangeShapeType="1"/>
              </p:cNvSpPr>
              <p:nvPr/>
            </p:nvSpPr>
            <p:spPr bwMode="auto">
              <a:xfrm>
                <a:off x="236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3" name="Line 27"/>
              <p:cNvSpPr>
                <a:spLocks noChangeShapeType="1"/>
              </p:cNvSpPr>
              <p:nvPr/>
            </p:nvSpPr>
            <p:spPr bwMode="auto">
              <a:xfrm>
                <a:off x="279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4" name="Line 28"/>
              <p:cNvSpPr>
                <a:spLocks noChangeShapeType="1"/>
              </p:cNvSpPr>
              <p:nvPr/>
            </p:nvSpPr>
            <p:spPr bwMode="auto">
              <a:xfrm>
                <a:off x="3225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5" name="Line 29"/>
              <p:cNvSpPr>
                <a:spLocks noChangeShapeType="1"/>
              </p:cNvSpPr>
              <p:nvPr/>
            </p:nvSpPr>
            <p:spPr bwMode="auto">
              <a:xfrm>
                <a:off x="3657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6" name="Line 30"/>
              <p:cNvSpPr>
                <a:spLocks noChangeShapeType="1"/>
              </p:cNvSpPr>
              <p:nvPr/>
            </p:nvSpPr>
            <p:spPr bwMode="auto">
              <a:xfrm>
                <a:off x="408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7" name="Line 31"/>
              <p:cNvSpPr>
                <a:spLocks noChangeShapeType="1"/>
              </p:cNvSpPr>
              <p:nvPr/>
            </p:nvSpPr>
            <p:spPr bwMode="auto">
              <a:xfrm>
                <a:off x="452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8" name="Line 32"/>
              <p:cNvSpPr>
                <a:spLocks noChangeShapeType="1"/>
              </p:cNvSpPr>
              <p:nvPr/>
            </p:nvSpPr>
            <p:spPr bwMode="auto">
              <a:xfrm>
                <a:off x="495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5329" name="Group 33"/>
            <p:cNvGrpSpPr/>
            <p:nvPr/>
          </p:nvGrpSpPr>
          <p:grpSpPr bwMode="auto">
            <a:xfrm>
              <a:off x="2456" y="2189"/>
              <a:ext cx="227" cy="423"/>
              <a:chOff x="2255" y="1152"/>
              <a:chExt cx="227" cy="481"/>
            </a:xfrm>
          </p:grpSpPr>
          <p:sp>
            <p:nvSpPr>
              <p:cNvPr id="55330" name="Freeform 34"/>
              <p:cNvSpPr/>
              <p:nvPr/>
            </p:nvSpPr>
            <p:spPr bwMode="auto">
              <a:xfrm>
                <a:off x="2269" y="1152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1" name="Rectangle 35"/>
              <p:cNvSpPr>
                <a:spLocks noChangeArrowheads="1"/>
              </p:cNvSpPr>
              <p:nvPr/>
            </p:nvSpPr>
            <p:spPr bwMode="auto">
              <a:xfrm rot="5400000">
                <a:off x="2153" y="1296"/>
                <a:ext cx="416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ALU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</p:grpSp>
        <p:grpSp>
          <p:nvGrpSpPr>
            <p:cNvPr id="55332" name="Group 36"/>
            <p:cNvGrpSpPr/>
            <p:nvPr/>
          </p:nvGrpSpPr>
          <p:grpSpPr bwMode="auto">
            <a:xfrm>
              <a:off x="1527" y="2273"/>
              <a:ext cx="402" cy="255"/>
              <a:chOff x="1326" y="1248"/>
              <a:chExt cx="402" cy="289"/>
            </a:xfrm>
          </p:grpSpPr>
          <p:sp>
            <p:nvSpPr>
              <p:cNvPr id="55333" name="Rectangle 37"/>
              <p:cNvSpPr>
                <a:spLocks noChangeArrowheads="1"/>
              </p:cNvSpPr>
              <p:nvPr/>
            </p:nvSpPr>
            <p:spPr bwMode="auto">
              <a:xfrm>
                <a:off x="1326" y="1250"/>
                <a:ext cx="402" cy="2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Mem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5334" name="Group 38"/>
              <p:cNvGrpSpPr/>
              <p:nvPr/>
            </p:nvGrpSpPr>
            <p:grpSpPr bwMode="auto">
              <a:xfrm>
                <a:off x="1343" y="1248"/>
                <a:ext cx="340" cy="289"/>
                <a:chOff x="1343" y="1248"/>
                <a:chExt cx="340" cy="289"/>
              </a:xfrm>
            </p:grpSpPr>
            <p:sp>
              <p:nvSpPr>
                <p:cNvPr id="55335" name="Freeform 39"/>
                <p:cNvSpPr/>
                <p:nvPr/>
              </p:nvSpPr>
              <p:spPr bwMode="auto">
                <a:xfrm>
                  <a:off x="1343" y="1248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36" name="Freeform 40"/>
                <p:cNvSpPr/>
                <p:nvPr/>
              </p:nvSpPr>
              <p:spPr bwMode="auto">
                <a:xfrm>
                  <a:off x="1512" y="1248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5337" name="Rectangle 41"/>
            <p:cNvSpPr>
              <a:spLocks noChangeArrowheads="1"/>
            </p:cNvSpPr>
            <p:nvPr/>
          </p:nvSpPr>
          <p:spPr bwMode="auto">
            <a:xfrm>
              <a:off x="1988" y="2280"/>
              <a:ext cx="35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Reg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grpSp>
          <p:nvGrpSpPr>
            <p:cNvPr id="55338" name="Group 42"/>
            <p:cNvGrpSpPr/>
            <p:nvPr/>
          </p:nvGrpSpPr>
          <p:grpSpPr bwMode="auto">
            <a:xfrm>
              <a:off x="2004" y="2273"/>
              <a:ext cx="296" cy="255"/>
              <a:chOff x="1803" y="1248"/>
              <a:chExt cx="296" cy="289"/>
            </a:xfrm>
          </p:grpSpPr>
          <p:sp>
            <p:nvSpPr>
              <p:cNvPr id="55339" name="Freeform 43"/>
              <p:cNvSpPr/>
              <p:nvPr/>
            </p:nvSpPr>
            <p:spPr bwMode="auto">
              <a:xfrm>
                <a:off x="1803" y="1248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0" name="Freeform 44"/>
              <p:cNvSpPr/>
              <p:nvPr/>
            </p:nvSpPr>
            <p:spPr bwMode="auto">
              <a:xfrm>
                <a:off x="1951" y="1248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341" name="Line 45"/>
            <p:cNvSpPr>
              <a:spLocks noChangeShapeType="1"/>
            </p:cNvSpPr>
            <p:nvPr/>
          </p:nvSpPr>
          <p:spPr bwMode="auto">
            <a:xfrm>
              <a:off x="1889" y="240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2" name="Freeform 46"/>
            <p:cNvSpPr/>
            <p:nvPr/>
          </p:nvSpPr>
          <p:spPr bwMode="auto">
            <a:xfrm>
              <a:off x="1951" y="2316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3" name="Line 47"/>
            <p:cNvSpPr>
              <a:spLocks noChangeShapeType="1"/>
            </p:cNvSpPr>
            <p:nvPr/>
          </p:nvSpPr>
          <p:spPr bwMode="auto">
            <a:xfrm>
              <a:off x="2305" y="2316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4" name="Rectangle 48"/>
            <p:cNvSpPr>
              <a:spLocks noChangeArrowheads="1"/>
            </p:cNvSpPr>
            <p:nvPr/>
          </p:nvSpPr>
          <p:spPr bwMode="auto">
            <a:xfrm>
              <a:off x="2804" y="2275"/>
              <a:ext cx="402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Mem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sp>
          <p:nvSpPr>
            <p:cNvPr id="55345" name="Rectangle 49"/>
            <p:cNvSpPr>
              <a:spLocks noChangeArrowheads="1"/>
            </p:cNvSpPr>
            <p:nvPr/>
          </p:nvSpPr>
          <p:spPr bwMode="auto">
            <a:xfrm>
              <a:off x="3297" y="2275"/>
              <a:ext cx="35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Reg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grpSp>
          <p:nvGrpSpPr>
            <p:cNvPr id="55346" name="Group 50"/>
            <p:cNvGrpSpPr/>
            <p:nvPr/>
          </p:nvGrpSpPr>
          <p:grpSpPr bwMode="auto">
            <a:xfrm>
              <a:off x="3321" y="2273"/>
              <a:ext cx="284" cy="255"/>
              <a:chOff x="3120" y="1248"/>
              <a:chExt cx="284" cy="289"/>
            </a:xfrm>
          </p:grpSpPr>
          <p:sp>
            <p:nvSpPr>
              <p:cNvPr id="55347" name="Freeform 51"/>
              <p:cNvSpPr/>
              <p:nvPr/>
            </p:nvSpPr>
            <p:spPr bwMode="auto">
              <a:xfrm>
                <a:off x="3120" y="1248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8" name="Freeform 52"/>
              <p:cNvSpPr/>
              <p:nvPr/>
            </p:nvSpPr>
            <p:spPr bwMode="auto">
              <a:xfrm>
                <a:off x="3261" y="1248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349" name="Line 53"/>
            <p:cNvSpPr>
              <a:spLocks noChangeShapeType="1"/>
            </p:cNvSpPr>
            <p:nvPr/>
          </p:nvSpPr>
          <p:spPr bwMode="auto">
            <a:xfrm>
              <a:off x="3174" y="2400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50" name="Line 54"/>
            <p:cNvSpPr>
              <a:spLocks noChangeShapeType="1"/>
            </p:cNvSpPr>
            <p:nvPr/>
          </p:nvSpPr>
          <p:spPr bwMode="auto">
            <a:xfrm>
              <a:off x="2690" y="2400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51" name="Freeform 55"/>
            <p:cNvSpPr/>
            <p:nvPr/>
          </p:nvSpPr>
          <p:spPr bwMode="auto">
            <a:xfrm>
              <a:off x="2811" y="2400"/>
              <a:ext cx="431" cy="170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2" name="Line 56"/>
            <p:cNvSpPr>
              <a:spLocks noChangeShapeType="1"/>
            </p:cNvSpPr>
            <p:nvPr/>
          </p:nvSpPr>
          <p:spPr bwMode="auto">
            <a:xfrm>
              <a:off x="2305" y="2485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53" name="Freeform 57"/>
            <p:cNvSpPr/>
            <p:nvPr/>
          </p:nvSpPr>
          <p:spPr bwMode="auto">
            <a:xfrm>
              <a:off x="2398" y="2396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354" name="Group 58"/>
            <p:cNvGrpSpPr/>
            <p:nvPr/>
          </p:nvGrpSpPr>
          <p:grpSpPr bwMode="auto">
            <a:xfrm>
              <a:off x="1954" y="2583"/>
              <a:ext cx="2121" cy="452"/>
              <a:chOff x="1753" y="1600"/>
              <a:chExt cx="2121" cy="513"/>
            </a:xfrm>
          </p:grpSpPr>
          <p:grpSp>
            <p:nvGrpSpPr>
              <p:cNvPr id="55355" name="Group 59"/>
              <p:cNvGrpSpPr/>
              <p:nvPr/>
            </p:nvGrpSpPr>
            <p:grpSpPr bwMode="auto">
              <a:xfrm>
                <a:off x="2685" y="1600"/>
                <a:ext cx="224" cy="481"/>
                <a:chOff x="2685" y="1600"/>
                <a:chExt cx="224" cy="481"/>
              </a:xfrm>
            </p:grpSpPr>
            <p:sp>
              <p:nvSpPr>
                <p:cNvPr id="55356" name="Freeform 60"/>
                <p:cNvSpPr/>
                <p:nvPr/>
              </p:nvSpPr>
              <p:spPr bwMode="auto">
                <a:xfrm>
                  <a:off x="2696" y="1600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57" name="Rectangle 61"/>
                <p:cNvSpPr>
                  <a:spLocks noChangeArrowheads="1"/>
                </p:cNvSpPr>
                <p:nvPr/>
              </p:nvSpPr>
              <p:spPr bwMode="auto">
                <a:xfrm rot="5400000">
                  <a:off x="2583" y="1745"/>
                  <a:ext cx="415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>
                      <a:latin typeface="Arial" panose="020B0604020202090204" pitchFamily="34" charset="0"/>
                    </a:rPr>
                    <a:t>ALU</a:t>
                  </a:r>
                  <a:endParaRPr lang="en-US" altLang="zh-CN" sz="1200">
                    <a:latin typeface="Arial" panose="020B0604020202090204" pitchFamily="34" charset="0"/>
                  </a:endParaRPr>
                </a:p>
              </p:txBody>
            </p:sp>
          </p:grpSp>
          <p:grpSp>
            <p:nvGrpSpPr>
              <p:cNvPr id="55358" name="Group 62"/>
              <p:cNvGrpSpPr/>
              <p:nvPr/>
            </p:nvGrpSpPr>
            <p:grpSpPr bwMode="auto">
              <a:xfrm>
                <a:off x="1753" y="1696"/>
                <a:ext cx="402" cy="289"/>
                <a:chOff x="1753" y="1696"/>
                <a:chExt cx="402" cy="289"/>
              </a:xfrm>
            </p:grpSpPr>
            <p:sp>
              <p:nvSpPr>
                <p:cNvPr id="55359" name="Rectangle 63"/>
                <p:cNvSpPr>
                  <a:spLocks noChangeArrowheads="1"/>
                </p:cNvSpPr>
                <p:nvPr/>
              </p:nvSpPr>
              <p:spPr bwMode="auto">
                <a:xfrm>
                  <a:off x="1753" y="1698"/>
                  <a:ext cx="402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>
                      <a:latin typeface="Arial" panose="020B0604020202090204" pitchFamily="34" charset="0"/>
                    </a:rPr>
                    <a:t>Mem</a:t>
                  </a:r>
                  <a:endParaRPr lang="en-US" altLang="zh-CN" sz="1200">
                    <a:latin typeface="Arial" panose="020B0604020202090204" pitchFamily="34" charset="0"/>
                  </a:endParaRPr>
                </a:p>
              </p:txBody>
            </p:sp>
            <p:grpSp>
              <p:nvGrpSpPr>
                <p:cNvPr id="55360" name="Group 64"/>
                <p:cNvGrpSpPr/>
                <p:nvPr/>
              </p:nvGrpSpPr>
              <p:grpSpPr bwMode="auto">
                <a:xfrm>
                  <a:off x="1770" y="1696"/>
                  <a:ext cx="340" cy="289"/>
                  <a:chOff x="1770" y="1696"/>
                  <a:chExt cx="340" cy="289"/>
                </a:xfrm>
              </p:grpSpPr>
              <p:sp>
                <p:nvSpPr>
                  <p:cNvPr id="55361" name="Freeform 65"/>
                  <p:cNvSpPr/>
                  <p:nvPr/>
                </p:nvSpPr>
                <p:spPr bwMode="auto">
                  <a:xfrm>
                    <a:off x="1770" y="1696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362" name="Freeform 66"/>
                  <p:cNvSpPr/>
                  <p:nvPr/>
                </p:nvSpPr>
                <p:spPr bwMode="auto">
                  <a:xfrm>
                    <a:off x="1939" y="1696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5363" name="Rectangle 67"/>
              <p:cNvSpPr>
                <a:spLocks noChangeArrowheads="1"/>
              </p:cNvSpPr>
              <p:nvPr/>
            </p:nvSpPr>
            <p:spPr bwMode="auto">
              <a:xfrm>
                <a:off x="2214" y="1703"/>
                <a:ext cx="351" cy="2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Reg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5364" name="Group 68"/>
              <p:cNvGrpSpPr/>
              <p:nvPr/>
            </p:nvGrpSpPr>
            <p:grpSpPr bwMode="auto">
              <a:xfrm>
                <a:off x="2230" y="1696"/>
                <a:ext cx="296" cy="289"/>
                <a:chOff x="2230" y="1696"/>
                <a:chExt cx="296" cy="289"/>
              </a:xfrm>
            </p:grpSpPr>
            <p:sp>
              <p:nvSpPr>
                <p:cNvPr id="55365" name="Freeform 69"/>
                <p:cNvSpPr/>
                <p:nvPr/>
              </p:nvSpPr>
              <p:spPr bwMode="auto">
                <a:xfrm>
                  <a:off x="2230" y="1696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66" name="Freeform 70"/>
                <p:cNvSpPr/>
                <p:nvPr/>
              </p:nvSpPr>
              <p:spPr bwMode="auto">
                <a:xfrm>
                  <a:off x="2378" y="1696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367" name="Line 71"/>
              <p:cNvSpPr>
                <a:spLocks noChangeShapeType="1"/>
              </p:cNvSpPr>
              <p:nvPr/>
            </p:nvSpPr>
            <p:spPr bwMode="auto">
              <a:xfrm>
                <a:off x="2115" y="1840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68" name="Freeform 72"/>
              <p:cNvSpPr/>
              <p:nvPr/>
            </p:nvSpPr>
            <p:spPr bwMode="auto">
              <a:xfrm>
                <a:off x="2177" y="1744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9" name="Line 73"/>
              <p:cNvSpPr>
                <a:spLocks noChangeShapeType="1"/>
              </p:cNvSpPr>
              <p:nvPr/>
            </p:nvSpPr>
            <p:spPr bwMode="auto">
              <a:xfrm>
                <a:off x="2531" y="174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70" name="Rectangle 74"/>
              <p:cNvSpPr>
                <a:spLocks noChangeArrowheads="1"/>
              </p:cNvSpPr>
              <p:nvPr/>
            </p:nvSpPr>
            <p:spPr bwMode="auto">
              <a:xfrm>
                <a:off x="3030" y="1696"/>
                <a:ext cx="402" cy="2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 dirty="0">
                    <a:latin typeface="Arial" panose="020B0604020202090204" pitchFamily="34" charset="0"/>
                  </a:rPr>
                  <a:t>Mem</a:t>
                </a:r>
                <a:endParaRPr lang="en-US" altLang="zh-CN" sz="1200" dirty="0">
                  <a:latin typeface="Arial" panose="020B0604020202090204" pitchFamily="34" charset="0"/>
                </a:endParaRPr>
              </a:p>
            </p:txBody>
          </p:sp>
          <p:grpSp>
            <p:nvGrpSpPr>
              <p:cNvPr id="55371" name="Group 75"/>
              <p:cNvGrpSpPr/>
              <p:nvPr/>
            </p:nvGrpSpPr>
            <p:grpSpPr bwMode="auto">
              <a:xfrm>
                <a:off x="3079" y="1696"/>
                <a:ext cx="325" cy="289"/>
                <a:chOff x="3079" y="1696"/>
                <a:chExt cx="325" cy="289"/>
              </a:xfrm>
            </p:grpSpPr>
            <p:sp>
              <p:nvSpPr>
                <p:cNvPr id="55372" name="Freeform 76"/>
                <p:cNvSpPr/>
                <p:nvPr/>
              </p:nvSpPr>
              <p:spPr bwMode="auto">
                <a:xfrm>
                  <a:off x="3079" y="1696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73" name="Freeform 77"/>
                <p:cNvSpPr/>
                <p:nvPr/>
              </p:nvSpPr>
              <p:spPr bwMode="auto">
                <a:xfrm>
                  <a:off x="3240" y="1696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374" name="Rectangle 78"/>
              <p:cNvSpPr>
                <a:spLocks noChangeArrowheads="1"/>
              </p:cNvSpPr>
              <p:nvPr/>
            </p:nvSpPr>
            <p:spPr bwMode="auto">
              <a:xfrm>
                <a:off x="3523" y="1696"/>
                <a:ext cx="351" cy="2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Reg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5375" name="Group 79"/>
              <p:cNvGrpSpPr/>
              <p:nvPr/>
            </p:nvGrpSpPr>
            <p:grpSpPr bwMode="auto">
              <a:xfrm>
                <a:off x="3547" y="1696"/>
                <a:ext cx="284" cy="289"/>
                <a:chOff x="3547" y="1696"/>
                <a:chExt cx="284" cy="289"/>
              </a:xfrm>
            </p:grpSpPr>
            <p:sp>
              <p:nvSpPr>
                <p:cNvPr id="55376" name="Freeform 80"/>
                <p:cNvSpPr/>
                <p:nvPr/>
              </p:nvSpPr>
              <p:spPr bwMode="auto">
                <a:xfrm>
                  <a:off x="3547" y="1696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77" name="Freeform 81"/>
                <p:cNvSpPr/>
                <p:nvPr/>
              </p:nvSpPr>
              <p:spPr bwMode="auto">
                <a:xfrm>
                  <a:off x="3688" y="1696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378" name="Line 82"/>
              <p:cNvSpPr>
                <a:spLocks noChangeShapeType="1"/>
              </p:cNvSpPr>
              <p:nvPr/>
            </p:nvSpPr>
            <p:spPr bwMode="auto">
              <a:xfrm>
                <a:off x="3400" y="1840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79" name="Line 83"/>
              <p:cNvSpPr>
                <a:spLocks noChangeShapeType="1"/>
              </p:cNvSpPr>
              <p:nvPr/>
            </p:nvSpPr>
            <p:spPr bwMode="auto">
              <a:xfrm>
                <a:off x="2916" y="1840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80" name="Freeform 84"/>
              <p:cNvSpPr/>
              <p:nvPr/>
            </p:nvSpPr>
            <p:spPr bwMode="auto">
              <a:xfrm>
                <a:off x="3037" y="1840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1" name="Line 85"/>
              <p:cNvSpPr>
                <a:spLocks noChangeShapeType="1"/>
              </p:cNvSpPr>
              <p:nvPr/>
            </p:nvSpPr>
            <p:spPr bwMode="auto">
              <a:xfrm>
                <a:off x="2531" y="1936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82" name="Freeform 86"/>
              <p:cNvSpPr/>
              <p:nvPr/>
            </p:nvSpPr>
            <p:spPr bwMode="auto">
              <a:xfrm>
                <a:off x="2624" y="1835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5383" name="Group 87"/>
            <p:cNvGrpSpPr/>
            <p:nvPr/>
          </p:nvGrpSpPr>
          <p:grpSpPr bwMode="auto">
            <a:xfrm>
              <a:off x="2381" y="2978"/>
              <a:ext cx="2121" cy="451"/>
              <a:chOff x="2180" y="2048"/>
              <a:chExt cx="2121" cy="513"/>
            </a:xfrm>
          </p:grpSpPr>
          <p:grpSp>
            <p:nvGrpSpPr>
              <p:cNvPr id="55384" name="Group 88"/>
              <p:cNvGrpSpPr/>
              <p:nvPr/>
            </p:nvGrpSpPr>
            <p:grpSpPr bwMode="auto">
              <a:xfrm>
                <a:off x="3110" y="2048"/>
                <a:ext cx="226" cy="481"/>
                <a:chOff x="3110" y="2048"/>
                <a:chExt cx="226" cy="481"/>
              </a:xfrm>
            </p:grpSpPr>
            <p:sp>
              <p:nvSpPr>
                <p:cNvPr id="55385" name="Freeform 89"/>
                <p:cNvSpPr/>
                <p:nvPr/>
              </p:nvSpPr>
              <p:spPr bwMode="auto">
                <a:xfrm>
                  <a:off x="3123" y="2048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86" name="Rectangle 90"/>
                <p:cNvSpPr>
                  <a:spLocks noChangeArrowheads="1"/>
                </p:cNvSpPr>
                <p:nvPr/>
              </p:nvSpPr>
              <p:spPr bwMode="auto">
                <a:xfrm rot="5400000">
                  <a:off x="3008" y="2192"/>
                  <a:ext cx="416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>
                      <a:latin typeface="Arial" panose="020B0604020202090204" pitchFamily="34" charset="0"/>
                    </a:rPr>
                    <a:t>ALU</a:t>
                  </a:r>
                  <a:endParaRPr lang="en-US" altLang="zh-CN" sz="1200">
                    <a:latin typeface="Arial" panose="020B0604020202090204" pitchFamily="34" charset="0"/>
                  </a:endParaRPr>
                </a:p>
              </p:txBody>
            </p:sp>
          </p:grpSp>
          <p:grpSp>
            <p:nvGrpSpPr>
              <p:cNvPr id="55387" name="Group 91"/>
              <p:cNvGrpSpPr/>
              <p:nvPr/>
            </p:nvGrpSpPr>
            <p:grpSpPr bwMode="auto">
              <a:xfrm>
                <a:off x="2180" y="2144"/>
                <a:ext cx="402" cy="289"/>
                <a:chOff x="2180" y="2144"/>
                <a:chExt cx="402" cy="289"/>
              </a:xfrm>
            </p:grpSpPr>
            <p:sp>
              <p:nvSpPr>
                <p:cNvPr id="55388" name="Rectangle 92"/>
                <p:cNvSpPr>
                  <a:spLocks noChangeArrowheads="1"/>
                </p:cNvSpPr>
                <p:nvPr/>
              </p:nvSpPr>
              <p:spPr bwMode="auto">
                <a:xfrm>
                  <a:off x="2180" y="2146"/>
                  <a:ext cx="402" cy="2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>
                      <a:latin typeface="Arial" panose="020B0604020202090204" pitchFamily="34" charset="0"/>
                    </a:rPr>
                    <a:t>Mem</a:t>
                  </a:r>
                  <a:endParaRPr lang="en-US" altLang="zh-CN" sz="1200">
                    <a:latin typeface="Arial" panose="020B0604020202090204" pitchFamily="34" charset="0"/>
                  </a:endParaRPr>
                </a:p>
              </p:txBody>
            </p:sp>
            <p:grpSp>
              <p:nvGrpSpPr>
                <p:cNvPr id="55389" name="Group 93"/>
                <p:cNvGrpSpPr/>
                <p:nvPr/>
              </p:nvGrpSpPr>
              <p:grpSpPr bwMode="auto">
                <a:xfrm>
                  <a:off x="2197" y="2144"/>
                  <a:ext cx="340" cy="289"/>
                  <a:chOff x="2197" y="2144"/>
                  <a:chExt cx="340" cy="289"/>
                </a:xfrm>
              </p:grpSpPr>
              <p:sp>
                <p:nvSpPr>
                  <p:cNvPr id="55390" name="Freeform 94"/>
                  <p:cNvSpPr/>
                  <p:nvPr/>
                </p:nvSpPr>
                <p:spPr bwMode="auto">
                  <a:xfrm>
                    <a:off x="2197" y="2144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391" name="Freeform 95"/>
                  <p:cNvSpPr/>
                  <p:nvPr/>
                </p:nvSpPr>
                <p:spPr bwMode="auto">
                  <a:xfrm>
                    <a:off x="2366" y="2144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5392" name="Rectangle 96"/>
              <p:cNvSpPr>
                <a:spLocks noChangeArrowheads="1"/>
              </p:cNvSpPr>
              <p:nvPr/>
            </p:nvSpPr>
            <p:spPr bwMode="auto">
              <a:xfrm>
                <a:off x="2641" y="2152"/>
                <a:ext cx="351" cy="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Reg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5393" name="Group 97"/>
              <p:cNvGrpSpPr/>
              <p:nvPr/>
            </p:nvGrpSpPr>
            <p:grpSpPr bwMode="auto">
              <a:xfrm>
                <a:off x="2657" y="2144"/>
                <a:ext cx="296" cy="289"/>
                <a:chOff x="2657" y="2144"/>
                <a:chExt cx="296" cy="289"/>
              </a:xfrm>
            </p:grpSpPr>
            <p:sp>
              <p:nvSpPr>
                <p:cNvPr id="55394" name="Freeform 98"/>
                <p:cNvSpPr/>
                <p:nvPr/>
              </p:nvSpPr>
              <p:spPr bwMode="auto">
                <a:xfrm>
                  <a:off x="2657" y="2144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95" name="Freeform 99"/>
                <p:cNvSpPr/>
                <p:nvPr/>
              </p:nvSpPr>
              <p:spPr bwMode="auto">
                <a:xfrm>
                  <a:off x="2805" y="2144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396" name="Line 100"/>
              <p:cNvSpPr>
                <a:spLocks noChangeShapeType="1"/>
              </p:cNvSpPr>
              <p:nvPr/>
            </p:nvSpPr>
            <p:spPr bwMode="auto">
              <a:xfrm>
                <a:off x="2542" y="2288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97" name="Freeform 101"/>
              <p:cNvSpPr/>
              <p:nvPr/>
            </p:nvSpPr>
            <p:spPr bwMode="auto">
              <a:xfrm>
                <a:off x="2604" y="2192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8" name="Line 102"/>
              <p:cNvSpPr>
                <a:spLocks noChangeShapeType="1"/>
              </p:cNvSpPr>
              <p:nvPr/>
            </p:nvSpPr>
            <p:spPr bwMode="auto">
              <a:xfrm>
                <a:off x="2958" y="2192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99" name="Rectangle 103"/>
              <p:cNvSpPr>
                <a:spLocks noChangeArrowheads="1"/>
              </p:cNvSpPr>
              <p:nvPr/>
            </p:nvSpPr>
            <p:spPr bwMode="auto">
              <a:xfrm>
                <a:off x="3457" y="2146"/>
                <a:ext cx="402" cy="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Mem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5400" name="Group 104"/>
              <p:cNvGrpSpPr/>
              <p:nvPr/>
            </p:nvGrpSpPr>
            <p:grpSpPr bwMode="auto">
              <a:xfrm>
                <a:off x="3506" y="2144"/>
                <a:ext cx="325" cy="289"/>
                <a:chOff x="3506" y="2144"/>
                <a:chExt cx="325" cy="289"/>
              </a:xfrm>
            </p:grpSpPr>
            <p:sp>
              <p:nvSpPr>
                <p:cNvPr id="55401" name="Freeform 105"/>
                <p:cNvSpPr/>
                <p:nvPr/>
              </p:nvSpPr>
              <p:spPr bwMode="auto">
                <a:xfrm>
                  <a:off x="3506" y="2144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402" name="Freeform 106"/>
                <p:cNvSpPr/>
                <p:nvPr/>
              </p:nvSpPr>
              <p:spPr bwMode="auto">
                <a:xfrm>
                  <a:off x="3667" y="2144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403" name="Rectangle 107"/>
              <p:cNvSpPr>
                <a:spLocks noChangeArrowheads="1"/>
              </p:cNvSpPr>
              <p:nvPr/>
            </p:nvSpPr>
            <p:spPr bwMode="auto">
              <a:xfrm>
                <a:off x="3950" y="2146"/>
                <a:ext cx="351" cy="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Reg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5404" name="Group 108"/>
              <p:cNvGrpSpPr/>
              <p:nvPr/>
            </p:nvGrpSpPr>
            <p:grpSpPr bwMode="auto">
              <a:xfrm>
                <a:off x="3974" y="2144"/>
                <a:ext cx="284" cy="289"/>
                <a:chOff x="3974" y="2144"/>
                <a:chExt cx="284" cy="289"/>
              </a:xfrm>
            </p:grpSpPr>
            <p:sp>
              <p:nvSpPr>
                <p:cNvPr id="55405" name="Freeform 109"/>
                <p:cNvSpPr/>
                <p:nvPr/>
              </p:nvSpPr>
              <p:spPr bwMode="auto">
                <a:xfrm>
                  <a:off x="3974" y="2144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406" name="Freeform 110"/>
                <p:cNvSpPr/>
                <p:nvPr/>
              </p:nvSpPr>
              <p:spPr bwMode="auto">
                <a:xfrm>
                  <a:off x="4115" y="2144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407" name="Line 111"/>
              <p:cNvSpPr>
                <a:spLocks noChangeShapeType="1"/>
              </p:cNvSpPr>
              <p:nvPr/>
            </p:nvSpPr>
            <p:spPr bwMode="auto">
              <a:xfrm>
                <a:off x="3827" y="2288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408" name="Line 112"/>
              <p:cNvSpPr>
                <a:spLocks noChangeShapeType="1"/>
              </p:cNvSpPr>
              <p:nvPr/>
            </p:nvSpPr>
            <p:spPr bwMode="auto">
              <a:xfrm>
                <a:off x="3343" y="2288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409" name="Freeform 113"/>
              <p:cNvSpPr/>
              <p:nvPr/>
            </p:nvSpPr>
            <p:spPr bwMode="auto">
              <a:xfrm>
                <a:off x="3464" y="2288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0" name="Line 114"/>
              <p:cNvSpPr>
                <a:spLocks noChangeShapeType="1"/>
              </p:cNvSpPr>
              <p:nvPr/>
            </p:nvSpPr>
            <p:spPr bwMode="auto">
              <a:xfrm>
                <a:off x="2958" y="238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411" name="Freeform 115"/>
              <p:cNvSpPr/>
              <p:nvPr/>
            </p:nvSpPr>
            <p:spPr bwMode="auto">
              <a:xfrm>
                <a:off x="3051" y="2283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5412" name="Group 116"/>
            <p:cNvGrpSpPr/>
            <p:nvPr/>
          </p:nvGrpSpPr>
          <p:grpSpPr bwMode="auto">
            <a:xfrm>
              <a:off x="3740" y="3372"/>
              <a:ext cx="224" cy="424"/>
              <a:chOff x="3539" y="2496"/>
              <a:chExt cx="224" cy="481"/>
            </a:xfrm>
          </p:grpSpPr>
          <p:sp>
            <p:nvSpPr>
              <p:cNvPr id="55413" name="Freeform 117"/>
              <p:cNvSpPr/>
              <p:nvPr/>
            </p:nvSpPr>
            <p:spPr bwMode="auto">
              <a:xfrm>
                <a:off x="3550" y="2496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4" name="Rectangle 118"/>
              <p:cNvSpPr>
                <a:spLocks noChangeArrowheads="1"/>
              </p:cNvSpPr>
              <p:nvPr/>
            </p:nvSpPr>
            <p:spPr bwMode="auto">
              <a:xfrm rot="5400000">
                <a:off x="3437" y="2641"/>
                <a:ext cx="41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ALU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</p:grpSp>
        <p:sp>
          <p:nvSpPr>
            <p:cNvPr id="55415" name="Rectangle 119"/>
            <p:cNvSpPr>
              <a:spLocks noChangeArrowheads="1"/>
            </p:cNvSpPr>
            <p:nvPr/>
          </p:nvSpPr>
          <p:spPr bwMode="auto">
            <a:xfrm>
              <a:off x="3269" y="3463"/>
              <a:ext cx="35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Reg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grpSp>
          <p:nvGrpSpPr>
            <p:cNvPr id="55416" name="Group 120"/>
            <p:cNvGrpSpPr/>
            <p:nvPr/>
          </p:nvGrpSpPr>
          <p:grpSpPr bwMode="auto">
            <a:xfrm>
              <a:off x="3285" y="3457"/>
              <a:ext cx="296" cy="254"/>
              <a:chOff x="3084" y="2592"/>
              <a:chExt cx="296" cy="289"/>
            </a:xfrm>
          </p:grpSpPr>
          <p:sp>
            <p:nvSpPr>
              <p:cNvPr id="55417" name="Freeform 121"/>
              <p:cNvSpPr/>
              <p:nvPr/>
            </p:nvSpPr>
            <p:spPr bwMode="auto">
              <a:xfrm>
                <a:off x="3084" y="2592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8" name="Freeform 122"/>
              <p:cNvSpPr/>
              <p:nvPr/>
            </p:nvSpPr>
            <p:spPr bwMode="auto">
              <a:xfrm>
                <a:off x="3232" y="2592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419" name="Line 123"/>
            <p:cNvSpPr>
              <a:spLocks noChangeShapeType="1"/>
            </p:cNvSpPr>
            <p:nvPr/>
          </p:nvSpPr>
          <p:spPr bwMode="auto">
            <a:xfrm>
              <a:off x="3170" y="3584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20" name="Freeform 124"/>
            <p:cNvSpPr/>
            <p:nvPr/>
          </p:nvSpPr>
          <p:spPr bwMode="auto">
            <a:xfrm>
              <a:off x="3232" y="3499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1" name="Line 125"/>
            <p:cNvSpPr>
              <a:spLocks noChangeShapeType="1"/>
            </p:cNvSpPr>
            <p:nvPr/>
          </p:nvSpPr>
          <p:spPr bwMode="auto">
            <a:xfrm>
              <a:off x="3586" y="3499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22" name="Rectangle 126"/>
            <p:cNvSpPr>
              <a:spLocks noChangeArrowheads="1"/>
            </p:cNvSpPr>
            <p:nvPr/>
          </p:nvSpPr>
          <p:spPr bwMode="auto">
            <a:xfrm>
              <a:off x="4085" y="3459"/>
              <a:ext cx="402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Mem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grpSp>
          <p:nvGrpSpPr>
            <p:cNvPr id="55423" name="Group 127"/>
            <p:cNvGrpSpPr/>
            <p:nvPr/>
          </p:nvGrpSpPr>
          <p:grpSpPr bwMode="auto">
            <a:xfrm>
              <a:off x="4134" y="3457"/>
              <a:ext cx="325" cy="254"/>
              <a:chOff x="3933" y="2592"/>
              <a:chExt cx="325" cy="289"/>
            </a:xfrm>
          </p:grpSpPr>
          <p:sp>
            <p:nvSpPr>
              <p:cNvPr id="55424" name="Freeform 128"/>
              <p:cNvSpPr/>
              <p:nvPr/>
            </p:nvSpPr>
            <p:spPr bwMode="auto">
              <a:xfrm>
                <a:off x="3933" y="2592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5" name="Freeform 129"/>
              <p:cNvSpPr/>
              <p:nvPr/>
            </p:nvSpPr>
            <p:spPr bwMode="auto">
              <a:xfrm>
                <a:off x="4094" y="2592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426" name="Rectangle 130"/>
            <p:cNvSpPr>
              <a:spLocks noChangeArrowheads="1"/>
            </p:cNvSpPr>
            <p:nvPr/>
          </p:nvSpPr>
          <p:spPr bwMode="auto">
            <a:xfrm>
              <a:off x="4578" y="3459"/>
              <a:ext cx="35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Reg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grpSp>
          <p:nvGrpSpPr>
            <p:cNvPr id="55427" name="Group 131"/>
            <p:cNvGrpSpPr/>
            <p:nvPr/>
          </p:nvGrpSpPr>
          <p:grpSpPr bwMode="auto">
            <a:xfrm>
              <a:off x="4602" y="3457"/>
              <a:ext cx="284" cy="254"/>
              <a:chOff x="4401" y="2592"/>
              <a:chExt cx="284" cy="289"/>
            </a:xfrm>
          </p:grpSpPr>
          <p:sp>
            <p:nvSpPr>
              <p:cNvPr id="55428" name="Freeform 132"/>
              <p:cNvSpPr/>
              <p:nvPr/>
            </p:nvSpPr>
            <p:spPr bwMode="auto">
              <a:xfrm>
                <a:off x="4401" y="2592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9" name="Freeform 133"/>
              <p:cNvSpPr/>
              <p:nvPr/>
            </p:nvSpPr>
            <p:spPr bwMode="auto">
              <a:xfrm>
                <a:off x="4542" y="2592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430" name="Line 134"/>
            <p:cNvSpPr>
              <a:spLocks noChangeShapeType="1"/>
            </p:cNvSpPr>
            <p:nvPr/>
          </p:nvSpPr>
          <p:spPr bwMode="auto">
            <a:xfrm>
              <a:off x="4455" y="3584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31" name="Line 135"/>
            <p:cNvSpPr>
              <a:spLocks noChangeShapeType="1"/>
            </p:cNvSpPr>
            <p:nvPr/>
          </p:nvSpPr>
          <p:spPr bwMode="auto">
            <a:xfrm>
              <a:off x="3971" y="3584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32" name="Freeform 136"/>
            <p:cNvSpPr/>
            <p:nvPr/>
          </p:nvSpPr>
          <p:spPr bwMode="auto">
            <a:xfrm>
              <a:off x="4092" y="3584"/>
              <a:ext cx="431" cy="169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3" name="Line 137"/>
            <p:cNvSpPr>
              <a:spLocks noChangeShapeType="1"/>
            </p:cNvSpPr>
            <p:nvPr/>
          </p:nvSpPr>
          <p:spPr bwMode="auto">
            <a:xfrm>
              <a:off x="3586" y="3668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34" name="Freeform 138"/>
            <p:cNvSpPr/>
            <p:nvPr/>
          </p:nvSpPr>
          <p:spPr bwMode="auto">
            <a:xfrm>
              <a:off x="3679" y="3579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Insert Stall</a:t>
            </a:r>
            <a:endParaRPr lang="en-US" altLang="zh-CN"/>
          </a:p>
        </p:txBody>
      </p:sp>
      <p:grpSp>
        <p:nvGrpSpPr>
          <p:cNvPr id="18435" name="Group 3"/>
          <p:cNvGrpSpPr/>
          <p:nvPr/>
        </p:nvGrpSpPr>
        <p:grpSpPr bwMode="auto">
          <a:xfrm>
            <a:off x="4483894" y="1714501"/>
            <a:ext cx="377429" cy="308372"/>
            <a:chOff x="2624" y="1200"/>
            <a:chExt cx="340" cy="294"/>
          </a:xfrm>
        </p:grpSpPr>
        <p:sp>
          <p:nvSpPr>
            <p:cNvPr id="18436" name="Freeform 4"/>
            <p:cNvSpPr/>
            <p:nvPr/>
          </p:nvSpPr>
          <p:spPr bwMode="auto">
            <a:xfrm>
              <a:off x="2816" y="1205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solidFill>
              <a:schemeClr val="accent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37" name="Group 5"/>
            <p:cNvGrpSpPr/>
            <p:nvPr/>
          </p:nvGrpSpPr>
          <p:grpSpPr bwMode="auto">
            <a:xfrm>
              <a:off x="2624" y="1200"/>
              <a:ext cx="340" cy="289"/>
              <a:chOff x="2624" y="1200"/>
              <a:chExt cx="340" cy="289"/>
            </a:xfrm>
          </p:grpSpPr>
          <p:sp>
            <p:nvSpPr>
              <p:cNvPr id="18438" name="Freeform 6"/>
              <p:cNvSpPr/>
              <p:nvPr/>
            </p:nvSpPr>
            <p:spPr bwMode="auto">
              <a:xfrm>
                <a:off x="2624" y="1200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39" name="Freeform 7"/>
              <p:cNvSpPr/>
              <p:nvPr/>
            </p:nvSpPr>
            <p:spPr bwMode="auto">
              <a:xfrm>
                <a:off x="2793" y="1200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1657351" y="1708548"/>
            <a:ext cx="269081" cy="2352568"/>
          </a:xfrm>
          <a:prstGeom prst="rect">
            <a:avLst/>
          </a:prstGeom>
          <a:noFill/>
          <a:ln>
            <a:noFill/>
          </a:ln>
          <a:effectLst/>
        </p:spPr>
        <p:txBody>
          <a:bodyPr lIns="67866" tIns="33338" rIns="67866" bIns="33338">
            <a:spAutoFit/>
          </a:bodyPr>
          <a:lstStyle/>
          <a:p>
            <a:pPr algn="ctr"/>
            <a:r>
              <a:rPr lang="en-US" altLang="zh-CN" sz="1350" i="1">
                <a:latin typeface="Arial" panose="020B0604020202090204" pitchFamily="34" charset="0"/>
              </a:rPr>
              <a:t>I</a:t>
            </a:r>
            <a:endParaRPr lang="en-US" altLang="zh-CN" sz="1350" i="1">
              <a:latin typeface="Arial" panose="020B0604020202090204" pitchFamily="34" charset="0"/>
            </a:endParaRPr>
          </a:p>
          <a:p>
            <a:pPr algn="ctr"/>
            <a:r>
              <a:rPr lang="en-US" altLang="zh-CN" sz="1350" i="1">
                <a:latin typeface="Arial" panose="020B0604020202090204" pitchFamily="34" charset="0"/>
              </a:rPr>
              <a:t>n</a:t>
            </a:r>
            <a:endParaRPr lang="en-US" altLang="zh-CN" sz="1350" i="1">
              <a:latin typeface="Arial" panose="020B0604020202090204" pitchFamily="34" charset="0"/>
            </a:endParaRPr>
          </a:p>
          <a:p>
            <a:pPr algn="ctr"/>
            <a:r>
              <a:rPr lang="en-US" altLang="zh-CN" sz="1350" i="1">
                <a:latin typeface="Arial" panose="020B0604020202090204" pitchFamily="34" charset="0"/>
              </a:rPr>
              <a:t>s</a:t>
            </a:r>
            <a:endParaRPr lang="en-US" altLang="zh-CN" sz="1350" i="1">
              <a:latin typeface="Arial" panose="020B0604020202090204" pitchFamily="34" charset="0"/>
            </a:endParaRPr>
          </a:p>
          <a:p>
            <a:pPr algn="ctr"/>
            <a:r>
              <a:rPr lang="en-US" altLang="zh-CN" sz="1350" i="1">
                <a:latin typeface="Arial" panose="020B0604020202090204" pitchFamily="34" charset="0"/>
              </a:rPr>
              <a:t>t</a:t>
            </a:r>
            <a:endParaRPr lang="en-US" altLang="zh-CN" sz="1350" i="1">
              <a:latin typeface="Arial" panose="020B0604020202090204" pitchFamily="34" charset="0"/>
            </a:endParaRPr>
          </a:p>
          <a:p>
            <a:pPr algn="ctr"/>
            <a:r>
              <a:rPr lang="en-US" altLang="zh-CN" sz="1350" i="1">
                <a:latin typeface="Arial" panose="020B0604020202090204" pitchFamily="34" charset="0"/>
              </a:rPr>
              <a:t>r.</a:t>
            </a:r>
            <a:endParaRPr lang="en-US" altLang="zh-CN" sz="1350" i="1">
              <a:latin typeface="Arial" panose="020B0604020202090204" pitchFamily="34" charset="0"/>
            </a:endParaRPr>
          </a:p>
          <a:p>
            <a:pPr algn="ctr"/>
            <a:endParaRPr lang="en-US" altLang="zh-CN" sz="1350" i="1">
              <a:latin typeface="Arial" panose="020B0604020202090204" pitchFamily="34" charset="0"/>
            </a:endParaRPr>
          </a:p>
          <a:p>
            <a:pPr algn="ctr"/>
            <a:r>
              <a:rPr lang="en-US" altLang="zh-CN" sz="1350" i="1">
                <a:latin typeface="Arial" panose="020B0604020202090204" pitchFamily="34" charset="0"/>
              </a:rPr>
              <a:t>O</a:t>
            </a:r>
            <a:endParaRPr lang="en-US" altLang="zh-CN" sz="1350" i="1">
              <a:latin typeface="Arial" panose="020B0604020202090204" pitchFamily="34" charset="0"/>
            </a:endParaRPr>
          </a:p>
          <a:p>
            <a:pPr algn="ctr"/>
            <a:r>
              <a:rPr lang="en-US" altLang="zh-CN" sz="1350" i="1">
                <a:latin typeface="Arial" panose="020B0604020202090204" pitchFamily="34" charset="0"/>
              </a:rPr>
              <a:t>r</a:t>
            </a:r>
            <a:endParaRPr lang="en-US" altLang="zh-CN" sz="1350" i="1">
              <a:latin typeface="Arial" panose="020B0604020202090204" pitchFamily="34" charset="0"/>
            </a:endParaRPr>
          </a:p>
          <a:p>
            <a:pPr algn="ctr"/>
            <a:r>
              <a:rPr lang="en-US" altLang="zh-CN" sz="1350" i="1">
                <a:latin typeface="Arial" panose="020B0604020202090204" pitchFamily="34" charset="0"/>
              </a:rPr>
              <a:t>d</a:t>
            </a:r>
            <a:endParaRPr lang="en-US" altLang="zh-CN" sz="1350" i="1">
              <a:latin typeface="Arial" panose="020B0604020202090204" pitchFamily="34" charset="0"/>
            </a:endParaRPr>
          </a:p>
          <a:p>
            <a:pPr algn="ctr"/>
            <a:r>
              <a:rPr lang="en-US" altLang="zh-CN" sz="1350" i="1">
                <a:latin typeface="Arial" panose="020B0604020202090204" pitchFamily="34" charset="0"/>
              </a:rPr>
              <a:t>e</a:t>
            </a:r>
            <a:endParaRPr lang="en-US" altLang="zh-CN" sz="1350" i="1">
              <a:latin typeface="Arial" panose="020B0604020202090204" pitchFamily="34" charset="0"/>
            </a:endParaRPr>
          </a:p>
          <a:p>
            <a:pPr algn="ctr"/>
            <a:r>
              <a:rPr lang="en-US" altLang="zh-CN" sz="1350" i="1">
                <a:latin typeface="Arial" panose="020B0604020202090204" pitchFamily="34" charset="0"/>
              </a:rPr>
              <a:t>r</a:t>
            </a:r>
            <a:endParaRPr lang="en-US" altLang="zh-CN" sz="1350" i="1">
              <a:latin typeface="Arial" panose="020B0604020202090204" pitchFamily="34" charset="0"/>
            </a:endParaRPr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 flipH="1">
            <a:off x="2000250" y="17145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2514600" y="1428750"/>
            <a:ext cx="4733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3936341" y="1143000"/>
            <a:ext cx="1607076" cy="27507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350" i="1">
                <a:latin typeface="Arial" panose="020B0604020202090204" pitchFamily="34" charset="0"/>
              </a:rPr>
              <a:t>Time (clock cycles)</a:t>
            </a:r>
            <a:endParaRPr lang="en-US" altLang="zh-CN" sz="1350" i="1">
              <a:latin typeface="Arial" panose="020B0604020202090204" pitchFamily="34" charset="0"/>
            </a:endParaRPr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2066840" y="1791891"/>
            <a:ext cx="674064" cy="3904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/>
              <a:t>Ld/St</a:t>
            </a:r>
            <a:endParaRPr lang="en-US" altLang="zh-CN" sz="2100" b="1">
              <a:latin typeface="Arial" panose="020B0604020202090204" pitchFamily="34" charset="0"/>
            </a:endParaRP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2028643" y="2227660"/>
            <a:ext cx="812371" cy="3904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/>
              <a:t>Instr 1</a:t>
            </a:r>
            <a:endParaRPr lang="en-US" altLang="zh-CN" sz="2100" b="1">
              <a:latin typeface="Arial" panose="020B0604020202090204" pitchFamily="34" charset="0"/>
            </a:endParaRP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2037573" y="2714625"/>
            <a:ext cx="812371" cy="3904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/>
              <a:t>Instr 2</a:t>
            </a:r>
            <a:endParaRPr lang="en-US" altLang="zh-CN" sz="2100" b="1">
              <a:latin typeface="Arial" panose="020B0604020202090204" pitchFamily="34" charset="0"/>
            </a:endParaRPr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2109011" y="3714751"/>
            <a:ext cx="812371" cy="34432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/>
              <a:t>Instr 3</a:t>
            </a:r>
            <a:endParaRPr lang="en-US" altLang="zh-CN"/>
          </a:p>
        </p:txBody>
      </p:sp>
      <p:grpSp>
        <p:nvGrpSpPr>
          <p:cNvPr id="18448" name="Group 16"/>
          <p:cNvGrpSpPr/>
          <p:nvPr/>
        </p:nvGrpSpPr>
        <p:grpSpPr bwMode="auto">
          <a:xfrm>
            <a:off x="3371850" y="1485900"/>
            <a:ext cx="3600450" cy="2914650"/>
            <a:chOff x="1929" y="1985"/>
            <a:chExt cx="3024" cy="2479"/>
          </a:xfrm>
        </p:grpSpPr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>
              <a:off x="1929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>
              <a:off x="2361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1" name="Line 19"/>
            <p:cNvSpPr>
              <a:spLocks noChangeShapeType="1"/>
            </p:cNvSpPr>
            <p:nvPr/>
          </p:nvSpPr>
          <p:spPr bwMode="auto">
            <a:xfrm>
              <a:off x="2793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2" name="Line 20"/>
            <p:cNvSpPr>
              <a:spLocks noChangeShapeType="1"/>
            </p:cNvSpPr>
            <p:nvPr/>
          </p:nvSpPr>
          <p:spPr bwMode="auto">
            <a:xfrm>
              <a:off x="3225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3" name="Line 21"/>
            <p:cNvSpPr>
              <a:spLocks noChangeShapeType="1"/>
            </p:cNvSpPr>
            <p:nvPr/>
          </p:nvSpPr>
          <p:spPr bwMode="auto">
            <a:xfrm>
              <a:off x="3657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4" name="Line 22"/>
            <p:cNvSpPr>
              <a:spLocks noChangeShapeType="1"/>
            </p:cNvSpPr>
            <p:nvPr/>
          </p:nvSpPr>
          <p:spPr bwMode="auto">
            <a:xfrm>
              <a:off x="4089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5" name="Line 23"/>
            <p:cNvSpPr>
              <a:spLocks noChangeShapeType="1"/>
            </p:cNvSpPr>
            <p:nvPr/>
          </p:nvSpPr>
          <p:spPr bwMode="auto">
            <a:xfrm>
              <a:off x="4521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6" name="Line 24"/>
            <p:cNvSpPr>
              <a:spLocks noChangeShapeType="1"/>
            </p:cNvSpPr>
            <p:nvPr/>
          </p:nvSpPr>
          <p:spPr bwMode="auto">
            <a:xfrm>
              <a:off x="4953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57" name="Group 25"/>
          <p:cNvGrpSpPr/>
          <p:nvPr/>
        </p:nvGrpSpPr>
        <p:grpSpPr bwMode="auto">
          <a:xfrm>
            <a:off x="4015975" y="1634729"/>
            <a:ext cx="264319" cy="503634"/>
            <a:chOff x="2260" y="1152"/>
            <a:chExt cx="222" cy="481"/>
          </a:xfrm>
        </p:grpSpPr>
        <p:sp>
          <p:nvSpPr>
            <p:cNvPr id="18458" name="Freeform 26"/>
            <p:cNvSpPr/>
            <p:nvPr/>
          </p:nvSpPr>
          <p:spPr bwMode="auto">
            <a:xfrm>
              <a:off x="2269" y="1152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Rectangle 27"/>
            <p:cNvSpPr>
              <a:spLocks noChangeArrowheads="1"/>
            </p:cNvSpPr>
            <p:nvPr/>
          </p:nvSpPr>
          <p:spPr bwMode="auto">
            <a:xfrm rot="5400000">
              <a:off x="2155" y="1303"/>
              <a:ext cx="410" cy="1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100" b="1" dirty="0">
                  <a:latin typeface="Arial" panose="020B0604020202090204" pitchFamily="34" charset="0"/>
                </a:rPr>
                <a:t>ALU</a:t>
              </a:r>
              <a:endParaRPr lang="en-US" altLang="zh-CN" sz="1200" b="1" dirty="0">
                <a:latin typeface="Arial" panose="020B0604020202090204" pitchFamily="34" charset="0"/>
              </a:endParaRPr>
            </a:p>
          </p:txBody>
        </p:sp>
      </p:grpSp>
      <p:grpSp>
        <p:nvGrpSpPr>
          <p:cNvPr id="18460" name="Group 28"/>
          <p:cNvGrpSpPr/>
          <p:nvPr/>
        </p:nvGrpSpPr>
        <p:grpSpPr bwMode="auto">
          <a:xfrm>
            <a:off x="2899173" y="1734741"/>
            <a:ext cx="486966" cy="303609"/>
            <a:chOff x="1322" y="1248"/>
            <a:chExt cx="409" cy="289"/>
          </a:xfrm>
        </p:grpSpPr>
        <p:sp>
          <p:nvSpPr>
            <p:cNvPr id="18461" name="Rectangle 29"/>
            <p:cNvSpPr>
              <a:spLocks noChangeArrowheads="1"/>
            </p:cNvSpPr>
            <p:nvPr/>
          </p:nvSpPr>
          <p:spPr bwMode="auto">
            <a:xfrm>
              <a:off x="1322" y="1250"/>
              <a:ext cx="409" cy="2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Mem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grpSp>
          <p:nvGrpSpPr>
            <p:cNvPr id="18462" name="Group 30"/>
            <p:cNvGrpSpPr/>
            <p:nvPr/>
          </p:nvGrpSpPr>
          <p:grpSpPr bwMode="auto">
            <a:xfrm>
              <a:off x="1343" y="1248"/>
              <a:ext cx="340" cy="289"/>
              <a:chOff x="1343" y="1248"/>
              <a:chExt cx="340" cy="289"/>
            </a:xfrm>
          </p:grpSpPr>
          <p:sp>
            <p:nvSpPr>
              <p:cNvPr id="18463" name="Freeform 31"/>
              <p:cNvSpPr/>
              <p:nvPr/>
            </p:nvSpPr>
            <p:spPr bwMode="auto">
              <a:xfrm>
                <a:off x="1343" y="1248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4" name="Freeform 32"/>
              <p:cNvSpPr/>
              <p:nvPr/>
            </p:nvSpPr>
            <p:spPr bwMode="auto">
              <a:xfrm>
                <a:off x="1512" y="1248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8465" name="Rectangle 33"/>
          <p:cNvSpPr>
            <a:spLocks noChangeArrowheads="1"/>
          </p:cNvSpPr>
          <p:nvPr/>
        </p:nvSpPr>
        <p:spPr bwMode="auto">
          <a:xfrm>
            <a:off x="3446976" y="1743075"/>
            <a:ext cx="427202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 b="1">
                <a:latin typeface="Arial" panose="020B0604020202090204" pitchFamily="34" charset="0"/>
              </a:rPr>
              <a:t>Reg</a:t>
            </a:r>
            <a:endParaRPr lang="en-US" altLang="zh-CN" sz="1200" b="1">
              <a:latin typeface="Arial" panose="020B0604020202090204" pitchFamily="34" charset="0"/>
            </a:endParaRPr>
          </a:p>
        </p:txBody>
      </p:sp>
      <p:grpSp>
        <p:nvGrpSpPr>
          <p:cNvPr id="18466" name="Group 34"/>
          <p:cNvGrpSpPr/>
          <p:nvPr/>
        </p:nvGrpSpPr>
        <p:grpSpPr bwMode="auto">
          <a:xfrm>
            <a:off x="3471863" y="1734741"/>
            <a:ext cx="352425" cy="303609"/>
            <a:chOff x="1803" y="1248"/>
            <a:chExt cx="296" cy="289"/>
          </a:xfrm>
        </p:grpSpPr>
        <p:sp>
          <p:nvSpPr>
            <p:cNvPr id="18467" name="Freeform 35"/>
            <p:cNvSpPr/>
            <p:nvPr/>
          </p:nvSpPr>
          <p:spPr bwMode="auto">
            <a:xfrm>
              <a:off x="1803" y="1248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Freeform 36"/>
            <p:cNvSpPr/>
            <p:nvPr/>
          </p:nvSpPr>
          <p:spPr bwMode="auto">
            <a:xfrm>
              <a:off x="1951" y="1248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69" name="Line 37"/>
          <p:cNvSpPr>
            <a:spLocks noChangeShapeType="1"/>
          </p:cNvSpPr>
          <p:nvPr/>
        </p:nvSpPr>
        <p:spPr bwMode="auto">
          <a:xfrm>
            <a:off x="3334941" y="1885950"/>
            <a:ext cx="114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0" name="Freeform 38"/>
          <p:cNvSpPr/>
          <p:nvPr/>
        </p:nvSpPr>
        <p:spPr bwMode="auto">
          <a:xfrm>
            <a:off x="3408760" y="1785937"/>
            <a:ext cx="57150" cy="101204"/>
          </a:xfrm>
          <a:custGeom>
            <a:avLst/>
            <a:gdLst>
              <a:gd name="T0" fmla="*/ 0 w 48"/>
              <a:gd name="T1" fmla="*/ 96 h 97"/>
              <a:gd name="T2" fmla="*/ 0 w 48"/>
              <a:gd name="T3" fmla="*/ 0 h 97"/>
              <a:gd name="T4" fmla="*/ 47 w 48"/>
              <a:gd name="T5" fmla="*/ 0 h 97"/>
              <a:gd name="T6" fmla="*/ 47 w 48"/>
              <a:gd name="T7" fmla="*/ 0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  <a:lnTo>
                  <a:pt x="47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71" name="Line 39"/>
          <p:cNvSpPr>
            <a:spLocks noChangeShapeType="1"/>
          </p:cNvSpPr>
          <p:nvPr/>
        </p:nvSpPr>
        <p:spPr bwMode="auto">
          <a:xfrm>
            <a:off x="3830241" y="1785938"/>
            <a:ext cx="186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2" name="Rectangle 40"/>
          <p:cNvSpPr>
            <a:spLocks noChangeArrowheads="1"/>
          </p:cNvSpPr>
          <p:nvPr/>
        </p:nvSpPr>
        <p:spPr bwMode="auto">
          <a:xfrm>
            <a:off x="4456141" y="1771650"/>
            <a:ext cx="486512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 b="1">
                <a:latin typeface="Arial" panose="020B0604020202090204" pitchFamily="34" charset="0"/>
              </a:rPr>
              <a:t>Mem</a:t>
            </a:r>
            <a:endParaRPr lang="en-US" altLang="zh-CN" sz="1200" b="1">
              <a:latin typeface="Arial" panose="020B0604020202090204" pitchFamily="34" charset="0"/>
            </a:endParaRPr>
          </a:p>
        </p:txBody>
      </p:sp>
      <p:sp>
        <p:nvSpPr>
          <p:cNvPr id="18473" name="Rectangle 41"/>
          <p:cNvSpPr>
            <a:spLocks noChangeArrowheads="1"/>
          </p:cNvSpPr>
          <p:nvPr/>
        </p:nvSpPr>
        <p:spPr bwMode="auto">
          <a:xfrm>
            <a:off x="5005504" y="1737122"/>
            <a:ext cx="427202" cy="251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200" b="1">
                <a:latin typeface="Arial" panose="020B0604020202090204" pitchFamily="34" charset="0"/>
              </a:rPr>
              <a:t>Reg</a:t>
            </a:r>
            <a:endParaRPr lang="en-US" altLang="zh-CN" sz="1200" b="1">
              <a:latin typeface="Arial" panose="020B0604020202090204" pitchFamily="34" charset="0"/>
            </a:endParaRPr>
          </a:p>
        </p:txBody>
      </p:sp>
      <p:grpSp>
        <p:nvGrpSpPr>
          <p:cNvPr id="18474" name="Group 42"/>
          <p:cNvGrpSpPr/>
          <p:nvPr/>
        </p:nvGrpSpPr>
        <p:grpSpPr bwMode="auto">
          <a:xfrm>
            <a:off x="5039916" y="1734741"/>
            <a:ext cx="338138" cy="303609"/>
            <a:chOff x="3120" y="1248"/>
            <a:chExt cx="284" cy="289"/>
          </a:xfrm>
        </p:grpSpPr>
        <p:sp>
          <p:nvSpPr>
            <p:cNvPr id="18475" name="Freeform 43"/>
            <p:cNvSpPr/>
            <p:nvPr/>
          </p:nvSpPr>
          <p:spPr bwMode="auto">
            <a:xfrm>
              <a:off x="3120" y="1248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Freeform 44"/>
            <p:cNvSpPr/>
            <p:nvPr/>
          </p:nvSpPr>
          <p:spPr bwMode="auto">
            <a:xfrm>
              <a:off x="3261" y="1248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77" name="Line 45"/>
          <p:cNvSpPr>
            <a:spLocks noChangeShapeType="1"/>
          </p:cNvSpPr>
          <p:nvPr/>
        </p:nvSpPr>
        <p:spPr bwMode="auto">
          <a:xfrm>
            <a:off x="4864894" y="1885950"/>
            <a:ext cx="16549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8" name="Line 46"/>
          <p:cNvSpPr>
            <a:spLocks noChangeShapeType="1"/>
          </p:cNvSpPr>
          <p:nvPr/>
        </p:nvSpPr>
        <p:spPr bwMode="auto">
          <a:xfrm>
            <a:off x="4288632" y="1885950"/>
            <a:ext cx="18454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9" name="Freeform 47"/>
          <p:cNvSpPr/>
          <p:nvPr/>
        </p:nvSpPr>
        <p:spPr bwMode="auto">
          <a:xfrm>
            <a:off x="4432697" y="1885951"/>
            <a:ext cx="513159" cy="202406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192 h 193"/>
              <a:gd name="T4" fmla="*/ 391 w 431"/>
              <a:gd name="T5" fmla="*/ 192 h 193"/>
              <a:gd name="T6" fmla="*/ 391 w 431"/>
              <a:gd name="T7" fmla="*/ 64 h 193"/>
              <a:gd name="T8" fmla="*/ 430 w 431"/>
              <a:gd name="T9" fmla="*/ 0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80" name="Line 48"/>
          <p:cNvSpPr>
            <a:spLocks noChangeShapeType="1"/>
          </p:cNvSpPr>
          <p:nvPr/>
        </p:nvSpPr>
        <p:spPr bwMode="auto">
          <a:xfrm>
            <a:off x="3830241" y="1987154"/>
            <a:ext cx="186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1" name="Freeform 49"/>
          <p:cNvSpPr/>
          <p:nvPr/>
        </p:nvSpPr>
        <p:spPr bwMode="auto">
          <a:xfrm>
            <a:off x="3940969" y="1881187"/>
            <a:ext cx="401241" cy="291704"/>
          </a:xfrm>
          <a:custGeom>
            <a:avLst/>
            <a:gdLst>
              <a:gd name="T0" fmla="*/ 0 w 337"/>
              <a:gd name="T1" fmla="*/ 101 h 278"/>
              <a:gd name="T2" fmla="*/ 0 w 337"/>
              <a:gd name="T3" fmla="*/ 277 h 278"/>
              <a:gd name="T4" fmla="*/ 294 w 337"/>
              <a:gd name="T5" fmla="*/ 277 h 278"/>
              <a:gd name="T6" fmla="*/ 294 w 337"/>
              <a:gd name="T7" fmla="*/ 90 h 278"/>
              <a:gd name="T8" fmla="*/ 336 w 337"/>
              <a:gd name="T9" fmla="*/ 0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8482" name="Group 50"/>
          <p:cNvGrpSpPr/>
          <p:nvPr/>
        </p:nvGrpSpPr>
        <p:grpSpPr bwMode="auto">
          <a:xfrm>
            <a:off x="3407569" y="2103835"/>
            <a:ext cx="2534841" cy="538163"/>
            <a:chOff x="1749" y="1600"/>
            <a:chExt cx="2129" cy="513"/>
          </a:xfrm>
        </p:grpSpPr>
        <p:grpSp>
          <p:nvGrpSpPr>
            <p:cNvPr id="18483" name="Group 51"/>
            <p:cNvGrpSpPr/>
            <p:nvPr/>
          </p:nvGrpSpPr>
          <p:grpSpPr bwMode="auto">
            <a:xfrm>
              <a:off x="2690" y="1600"/>
              <a:ext cx="219" cy="481"/>
              <a:chOff x="2690" y="1600"/>
              <a:chExt cx="219" cy="481"/>
            </a:xfrm>
          </p:grpSpPr>
          <p:sp>
            <p:nvSpPr>
              <p:cNvPr id="18484" name="Freeform 52"/>
              <p:cNvSpPr/>
              <p:nvPr/>
            </p:nvSpPr>
            <p:spPr bwMode="auto">
              <a:xfrm>
                <a:off x="2696" y="1600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85" name="Rectangle 53"/>
              <p:cNvSpPr>
                <a:spLocks noChangeArrowheads="1"/>
              </p:cNvSpPr>
              <p:nvPr/>
            </p:nvSpPr>
            <p:spPr bwMode="auto">
              <a:xfrm rot="5400000">
                <a:off x="2585" y="1752"/>
                <a:ext cx="409" cy="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100" b="1" dirty="0">
                    <a:latin typeface="Arial" panose="020B0604020202090204" pitchFamily="34" charset="0"/>
                  </a:rPr>
                  <a:t>ALU</a:t>
                </a:r>
                <a:endParaRPr lang="en-US" altLang="zh-CN" sz="1200" b="1" dirty="0">
                  <a:latin typeface="Arial" panose="020B0604020202090204" pitchFamily="34" charset="0"/>
                </a:endParaRPr>
              </a:p>
            </p:txBody>
          </p:sp>
        </p:grpSp>
        <p:grpSp>
          <p:nvGrpSpPr>
            <p:cNvPr id="18486" name="Group 54"/>
            <p:cNvGrpSpPr/>
            <p:nvPr/>
          </p:nvGrpSpPr>
          <p:grpSpPr bwMode="auto">
            <a:xfrm>
              <a:off x="1749" y="1696"/>
              <a:ext cx="409" cy="289"/>
              <a:chOff x="1749" y="1696"/>
              <a:chExt cx="409" cy="289"/>
            </a:xfrm>
          </p:grpSpPr>
          <p:sp>
            <p:nvSpPr>
              <p:cNvPr id="18487" name="Rectangle 55"/>
              <p:cNvSpPr>
                <a:spLocks noChangeArrowheads="1"/>
              </p:cNvSpPr>
              <p:nvPr/>
            </p:nvSpPr>
            <p:spPr bwMode="auto">
              <a:xfrm>
                <a:off x="1749" y="1701"/>
                <a:ext cx="409" cy="2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 b="1">
                    <a:latin typeface="Arial" panose="020B0604020202090204" pitchFamily="34" charset="0"/>
                  </a:rPr>
                  <a:t>Mem</a:t>
                </a:r>
                <a:endParaRPr lang="en-US" altLang="zh-CN" sz="1200" b="1">
                  <a:latin typeface="Arial" panose="020B0604020202090204" pitchFamily="34" charset="0"/>
                </a:endParaRPr>
              </a:p>
            </p:txBody>
          </p:sp>
          <p:grpSp>
            <p:nvGrpSpPr>
              <p:cNvPr id="18488" name="Group 56"/>
              <p:cNvGrpSpPr/>
              <p:nvPr/>
            </p:nvGrpSpPr>
            <p:grpSpPr bwMode="auto">
              <a:xfrm>
                <a:off x="1770" y="1696"/>
                <a:ext cx="340" cy="289"/>
                <a:chOff x="1770" y="1696"/>
                <a:chExt cx="340" cy="289"/>
              </a:xfrm>
            </p:grpSpPr>
            <p:sp>
              <p:nvSpPr>
                <p:cNvPr id="18489" name="Freeform 57"/>
                <p:cNvSpPr/>
                <p:nvPr/>
              </p:nvSpPr>
              <p:spPr bwMode="auto">
                <a:xfrm>
                  <a:off x="1770" y="1696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90" name="Freeform 58"/>
                <p:cNvSpPr/>
                <p:nvPr/>
              </p:nvSpPr>
              <p:spPr bwMode="auto">
                <a:xfrm>
                  <a:off x="1939" y="1696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491" name="Rectangle 59"/>
            <p:cNvSpPr>
              <a:spLocks noChangeArrowheads="1"/>
            </p:cNvSpPr>
            <p:nvPr/>
          </p:nvSpPr>
          <p:spPr bwMode="auto">
            <a:xfrm>
              <a:off x="2210" y="1703"/>
              <a:ext cx="359" cy="2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Reg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grpSp>
          <p:nvGrpSpPr>
            <p:cNvPr id="18492" name="Group 60"/>
            <p:cNvGrpSpPr/>
            <p:nvPr/>
          </p:nvGrpSpPr>
          <p:grpSpPr bwMode="auto">
            <a:xfrm>
              <a:off x="2230" y="1696"/>
              <a:ext cx="296" cy="289"/>
              <a:chOff x="2230" y="1696"/>
              <a:chExt cx="296" cy="289"/>
            </a:xfrm>
          </p:grpSpPr>
          <p:sp>
            <p:nvSpPr>
              <p:cNvPr id="18493" name="Freeform 61"/>
              <p:cNvSpPr/>
              <p:nvPr/>
            </p:nvSpPr>
            <p:spPr bwMode="auto">
              <a:xfrm>
                <a:off x="2230" y="1696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4" name="Freeform 62"/>
              <p:cNvSpPr/>
              <p:nvPr/>
            </p:nvSpPr>
            <p:spPr bwMode="auto">
              <a:xfrm>
                <a:off x="2378" y="1696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95" name="Line 63"/>
            <p:cNvSpPr>
              <a:spLocks noChangeShapeType="1"/>
            </p:cNvSpPr>
            <p:nvPr/>
          </p:nvSpPr>
          <p:spPr bwMode="auto">
            <a:xfrm>
              <a:off x="2115" y="18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6" name="Freeform 64"/>
            <p:cNvSpPr/>
            <p:nvPr/>
          </p:nvSpPr>
          <p:spPr bwMode="auto">
            <a:xfrm>
              <a:off x="2177" y="1744"/>
              <a:ext cx="48" cy="97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7" name="Line 65"/>
            <p:cNvSpPr>
              <a:spLocks noChangeShapeType="1"/>
            </p:cNvSpPr>
            <p:nvPr/>
          </p:nvSpPr>
          <p:spPr bwMode="auto">
            <a:xfrm>
              <a:off x="2531" y="1744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8" name="Rectangle 66"/>
            <p:cNvSpPr>
              <a:spLocks noChangeArrowheads="1"/>
            </p:cNvSpPr>
            <p:nvPr/>
          </p:nvSpPr>
          <p:spPr bwMode="auto">
            <a:xfrm>
              <a:off x="3026" y="1696"/>
              <a:ext cx="409" cy="2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Mem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grpSp>
          <p:nvGrpSpPr>
            <p:cNvPr id="18499" name="Group 67"/>
            <p:cNvGrpSpPr/>
            <p:nvPr/>
          </p:nvGrpSpPr>
          <p:grpSpPr bwMode="auto">
            <a:xfrm>
              <a:off x="3079" y="1696"/>
              <a:ext cx="325" cy="289"/>
              <a:chOff x="3079" y="1696"/>
              <a:chExt cx="325" cy="289"/>
            </a:xfrm>
          </p:grpSpPr>
          <p:sp>
            <p:nvSpPr>
              <p:cNvPr id="18500" name="Freeform 68"/>
              <p:cNvSpPr/>
              <p:nvPr/>
            </p:nvSpPr>
            <p:spPr bwMode="auto">
              <a:xfrm>
                <a:off x="3079" y="1696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1" name="Freeform 69"/>
              <p:cNvSpPr/>
              <p:nvPr/>
            </p:nvSpPr>
            <p:spPr bwMode="auto">
              <a:xfrm>
                <a:off x="3240" y="1696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02" name="Rectangle 70"/>
            <p:cNvSpPr>
              <a:spLocks noChangeArrowheads="1"/>
            </p:cNvSpPr>
            <p:nvPr/>
          </p:nvSpPr>
          <p:spPr bwMode="auto">
            <a:xfrm>
              <a:off x="3519" y="1696"/>
              <a:ext cx="359" cy="2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Reg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grpSp>
          <p:nvGrpSpPr>
            <p:cNvPr id="18503" name="Group 71"/>
            <p:cNvGrpSpPr/>
            <p:nvPr/>
          </p:nvGrpSpPr>
          <p:grpSpPr bwMode="auto">
            <a:xfrm>
              <a:off x="3547" y="1696"/>
              <a:ext cx="284" cy="289"/>
              <a:chOff x="3547" y="1696"/>
              <a:chExt cx="284" cy="289"/>
            </a:xfrm>
          </p:grpSpPr>
          <p:sp>
            <p:nvSpPr>
              <p:cNvPr id="18504" name="Freeform 72"/>
              <p:cNvSpPr/>
              <p:nvPr/>
            </p:nvSpPr>
            <p:spPr bwMode="auto">
              <a:xfrm>
                <a:off x="3547" y="1696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5" name="Freeform 73"/>
              <p:cNvSpPr/>
              <p:nvPr/>
            </p:nvSpPr>
            <p:spPr bwMode="auto">
              <a:xfrm>
                <a:off x="3688" y="1696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06" name="Line 74"/>
            <p:cNvSpPr>
              <a:spLocks noChangeShapeType="1"/>
            </p:cNvSpPr>
            <p:nvPr/>
          </p:nvSpPr>
          <p:spPr bwMode="auto">
            <a:xfrm>
              <a:off x="3400" y="1840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7" name="Line 75"/>
            <p:cNvSpPr>
              <a:spLocks noChangeShapeType="1"/>
            </p:cNvSpPr>
            <p:nvPr/>
          </p:nvSpPr>
          <p:spPr bwMode="auto">
            <a:xfrm>
              <a:off x="2916" y="1840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8" name="Freeform 76"/>
            <p:cNvSpPr/>
            <p:nvPr/>
          </p:nvSpPr>
          <p:spPr bwMode="auto">
            <a:xfrm>
              <a:off x="3037" y="1840"/>
              <a:ext cx="431" cy="193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Line 77"/>
            <p:cNvSpPr>
              <a:spLocks noChangeShapeType="1"/>
            </p:cNvSpPr>
            <p:nvPr/>
          </p:nvSpPr>
          <p:spPr bwMode="auto">
            <a:xfrm>
              <a:off x="2531" y="1936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10" name="Freeform 78"/>
            <p:cNvSpPr/>
            <p:nvPr/>
          </p:nvSpPr>
          <p:spPr bwMode="auto">
            <a:xfrm>
              <a:off x="2624" y="1835"/>
              <a:ext cx="337" cy="278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511" name="Group 79"/>
          <p:cNvGrpSpPr/>
          <p:nvPr/>
        </p:nvGrpSpPr>
        <p:grpSpPr bwMode="auto">
          <a:xfrm>
            <a:off x="3915966" y="2574132"/>
            <a:ext cx="2534841" cy="536972"/>
            <a:chOff x="2176" y="2048"/>
            <a:chExt cx="2129" cy="513"/>
          </a:xfrm>
        </p:grpSpPr>
        <p:grpSp>
          <p:nvGrpSpPr>
            <p:cNvPr id="18512" name="Group 80"/>
            <p:cNvGrpSpPr/>
            <p:nvPr/>
          </p:nvGrpSpPr>
          <p:grpSpPr bwMode="auto">
            <a:xfrm>
              <a:off x="3115" y="2048"/>
              <a:ext cx="221" cy="481"/>
              <a:chOff x="3115" y="2048"/>
              <a:chExt cx="221" cy="481"/>
            </a:xfrm>
          </p:grpSpPr>
          <p:sp>
            <p:nvSpPr>
              <p:cNvPr id="18513" name="Freeform 81"/>
              <p:cNvSpPr/>
              <p:nvPr/>
            </p:nvSpPr>
            <p:spPr bwMode="auto">
              <a:xfrm>
                <a:off x="3123" y="2048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14" name="Rectangle 82"/>
              <p:cNvSpPr>
                <a:spLocks noChangeArrowheads="1"/>
              </p:cNvSpPr>
              <p:nvPr/>
            </p:nvSpPr>
            <p:spPr bwMode="auto">
              <a:xfrm rot="5400000">
                <a:off x="3010" y="2199"/>
                <a:ext cx="410" cy="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100" b="1" dirty="0">
                    <a:latin typeface="Arial" panose="020B0604020202090204" pitchFamily="34" charset="0"/>
                  </a:rPr>
                  <a:t>ALU</a:t>
                </a:r>
                <a:endParaRPr lang="en-US" altLang="zh-CN" sz="1200" b="1" dirty="0">
                  <a:latin typeface="Arial" panose="020B0604020202090204" pitchFamily="34" charset="0"/>
                </a:endParaRPr>
              </a:p>
            </p:txBody>
          </p:sp>
        </p:grpSp>
        <p:grpSp>
          <p:nvGrpSpPr>
            <p:cNvPr id="18515" name="Group 83"/>
            <p:cNvGrpSpPr/>
            <p:nvPr/>
          </p:nvGrpSpPr>
          <p:grpSpPr bwMode="auto">
            <a:xfrm>
              <a:off x="2176" y="2144"/>
              <a:ext cx="409" cy="289"/>
              <a:chOff x="2176" y="2144"/>
              <a:chExt cx="409" cy="289"/>
            </a:xfrm>
          </p:grpSpPr>
          <p:sp>
            <p:nvSpPr>
              <p:cNvPr id="18516" name="Rectangle 84"/>
              <p:cNvSpPr>
                <a:spLocks noChangeArrowheads="1"/>
              </p:cNvSpPr>
              <p:nvPr/>
            </p:nvSpPr>
            <p:spPr bwMode="auto">
              <a:xfrm>
                <a:off x="2176" y="2146"/>
                <a:ext cx="409" cy="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 b="1">
                    <a:latin typeface="Arial" panose="020B0604020202090204" pitchFamily="34" charset="0"/>
                  </a:rPr>
                  <a:t>Mem</a:t>
                </a:r>
                <a:endParaRPr lang="en-US" altLang="zh-CN" sz="1200" b="1">
                  <a:latin typeface="Arial" panose="020B0604020202090204" pitchFamily="34" charset="0"/>
                </a:endParaRPr>
              </a:p>
            </p:txBody>
          </p:sp>
          <p:grpSp>
            <p:nvGrpSpPr>
              <p:cNvPr id="18517" name="Group 85"/>
              <p:cNvGrpSpPr/>
              <p:nvPr/>
            </p:nvGrpSpPr>
            <p:grpSpPr bwMode="auto">
              <a:xfrm>
                <a:off x="2197" y="2144"/>
                <a:ext cx="340" cy="289"/>
                <a:chOff x="2197" y="2144"/>
                <a:chExt cx="340" cy="289"/>
              </a:xfrm>
            </p:grpSpPr>
            <p:sp>
              <p:nvSpPr>
                <p:cNvPr id="18518" name="Freeform 86"/>
                <p:cNvSpPr/>
                <p:nvPr/>
              </p:nvSpPr>
              <p:spPr bwMode="auto">
                <a:xfrm>
                  <a:off x="2197" y="2144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9" name="Freeform 87"/>
                <p:cNvSpPr/>
                <p:nvPr/>
              </p:nvSpPr>
              <p:spPr bwMode="auto">
                <a:xfrm>
                  <a:off x="2366" y="2144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520" name="Rectangle 88"/>
            <p:cNvSpPr>
              <a:spLocks noChangeArrowheads="1"/>
            </p:cNvSpPr>
            <p:nvPr/>
          </p:nvSpPr>
          <p:spPr bwMode="auto">
            <a:xfrm>
              <a:off x="2637" y="2152"/>
              <a:ext cx="359" cy="2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Reg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grpSp>
          <p:nvGrpSpPr>
            <p:cNvPr id="18521" name="Group 89"/>
            <p:cNvGrpSpPr/>
            <p:nvPr/>
          </p:nvGrpSpPr>
          <p:grpSpPr bwMode="auto">
            <a:xfrm>
              <a:off x="2657" y="2144"/>
              <a:ext cx="296" cy="289"/>
              <a:chOff x="2657" y="2144"/>
              <a:chExt cx="296" cy="289"/>
            </a:xfrm>
          </p:grpSpPr>
          <p:sp>
            <p:nvSpPr>
              <p:cNvPr id="18522" name="Freeform 90"/>
              <p:cNvSpPr/>
              <p:nvPr/>
            </p:nvSpPr>
            <p:spPr bwMode="auto">
              <a:xfrm>
                <a:off x="2657" y="2144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23" name="Freeform 91"/>
              <p:cNvSpPr/>
              <p:nvPr/>
            </p:nvSpPr>
            <p:spPr bwMode="auto">
              <a:xfrm>
                <a:off x="2805" y="2144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24" name="Line 92"/>
            <p:cNvSpPr>
              <a:spLocks noChangeShapeType="1"/>
            </p:cNvSpPr>
            <p:nvPr/>
          </p:nvSpPr>
          <p:spPr bwMode="auto">
            <a:xfrm>
              <a:off x="2542" y="22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5" name="Freeform 93"/>
            <p:cNvSpPr/>
            <p:nvPr/>
          </p:nvSpPr>
          <p:spPr bwMode="auto">
            <a:xfrm>
              <a:off x="2604" y="2192"/>
              <a:ext cx="48" cy="97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6" name="Line 94"/>
            <p:cNvSpPr>
              <a:spLocks noChangeShapeType="1"/>
            </p:cNvSpPr>
            <p:nvPr/>
          </p:nvSpPr>
          <p:spPr bwMode="auto">
            <a:xfrm>
              <a:off x="2958" y="2192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7" name="Rectangle 95"/>
            <p:cNvSpPr>
              <a:spLocks noChangeArrowheads="1"/>
            </p:cNvSpPr>
            <p:nvPr/>
          </p:nvSpPr>
          <p:spPr bwMode="auto">
            <a:xfrm>
              <a:off x="3453" y="2146"/>
              <a:ext cx="409" cy="2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Mem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grpSp>
          <p:nvGrpSpPr>
            <p:cNvPr id="18528" name="Group 96"/>
            <p:cNvGrpSpPr/>
            <p:nvPr/>
          </p:nvGrpSpPr>
          <p:grpSpPr bwMode="auto">
            <a:xfrm>
              <a:off x="3506" y="2144"/>
              <a:ext cx="325" cy="289"/>
              <a:chOff x="3506" y="2144"/>
              <a:chExt cx="325" cy="289"/>
            </a:xfrm>
          </p:grpSpPr>
          <p:sp>
            <p:nvSpPr>
              <p:cNvPr id="18529" name="Freeform 97"/>
              <p:cNvSpPr/>
              <p:nvPr/>
            </p:nvSpPr>
            <p:spPr bwMode="auto">
              <a:xfrm>
                <a:off x="3506" y="2144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0" name="Freeform 98"/>
              <p:cNvSpPr/>
              <p:nvPr/>
            </p:nvSpPr>
            <p:spPr bwMode="auto">
              <a:xfrm>
                <a:off x="3667" y="2144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31" name="Rectangle 99"/>
            <p:cNvSpPr>
              <a:spLocks noChangeArrowheads="1"/>
            </p:cNvSpPr>
            <p:nvPr/>
          </p:nvSpPr>
          <p:spPr bwMode="auto">
            <a:xfrm>
              <a:off x="3946" y="2146"/>
              <a:ext cx="359" cy="2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Reg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grpSp>
          <p:nvGrpSpPr>
            <p:cNvPr id="18532" name="Group 100"/>
            <p:cNvGrpSpPr/>
            <p:nvPr/>
          </p:nvGrpSpPr>
          <p:grpSpPr bwMode="auto">
            <a:xfrm>
              <a:off x="3974" y="2144"/>
              <a:ext cx="284" cy="289"/>
              <a:chOff x="3974" y="2144"/>
              <a:chExt cx="284" cy="289"/>
            </a:xfrm>
          </p:grpSpPr>
          <p:sp>
            <p:nvSpPr>
              <p:cNvPr id="18533" name="Freeform 101"/>
              <p:cNvSpPr/>
              <p:nvPr/>
            </p:nvSpPr>
            <p:spPr bwMode="auto">
              <a:xfrm>
                <a:off x="3974" y="2144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4" name="Freeform 102"/>
              <p:cNvSpPr/>
              <p:nvPr/>
            </p:nvSpPr>
            <p:spPr bwMode="auto">
              <a:xfrm>
                <a:off x="4115" y="2144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35" name="Line 103"/>
            <p:cNvSpPr>
              <a:spLocks noChangeShapeType="1"/>
            </p:cNvSpPr>
            <p:nvPr/>
          </p:nvSpPr>
          <p:spPr bwMode="auto">
            <a:xfrm>
              <a:off x="3827" y="2288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6" name="Line 104"/>
            <p:cNvSpPr>
              <a:spLocks noChangeShapeType="1"/>
            </p:cNvSpPr>
            <p:nvPr/>
          </p:nvSpPr>
          <p:spPr bwMode="auto">
            <a:xfrm>
              <a:off x="3343" y="2288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7" name="Freeform 105"/>
            <p:cNvSpPr/>
            <p:nvPr/>
          </p:nvSpPr>
          <p:spPr bwMode="auto">
            <a:xfrm>
              <a:off x="3464" y="2288"/>
              <a:ext cx="431" cy="193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8" name="Line 106"/>
            <p:cNvSpPr>
              <a:spLocks noChangeShapeType="1"/>
            </p:cNvSpPr>
            <p:nvPr/>
          </p:nvSpPr>
          <p:spPr bwMode="auto">
            <a:xfrm>
              <a:off x="2958" y="2384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9" name="Freeform 107"/>
            <p:cNvSpPr/>
            <p:nvPr/>
          </p:nvSpPr>
          <p:spPr bwMode="auto">
            <a:xfrm>
              <a:off x="3051" y="2283"/>
              <a:ext cx="337" cy="278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540" name="Group 108"/>
          <p:cNvGrpSpPr/>
          <p:nvPr/>
        </p:nvGrpSpPr>
        <p:grpSpPr bwMode="auto">
          <a:xfrm>
            <a:off x="4969669" y="3600450"/>
            <a:ext cx="2534841" cy="609600"/>
            <a:chOff x="3310" y="2928"/>
            <a:chExt cx="2129" cy="512"/>
          </a:xfrm>
        </p:grpSpPr>
        <p:grpSp>
          <p:nvGrpSpPr>
            <p:cNvPr id="18541" name="Group 109"/>
            <p:cNvGrpSpPr/>
            <p:nvPr/>
          </p:nvGrpSpPr>
          <p:grpSpPr bwMode="auto">
            <a:xfrm>
              <a:off x="4229" y="2928"/>
              <a:ext cx="220" cy="480"/>
              <a:chOff x="3543" y="2496"/>
              <a:chExt cx="220" cy="481"/>
            </a:xfrm>
          </p:grpSpPr>
          <p:sp>
            <p:nvSpPr>
              <p:cNvPr id="18542" name="Freeform 110"/>
              <p:cNvSpPr/>
              <p:nvPr/>
            </p:nvSpPr>
            <p:spPr bwMode="auto">
              <a:xfrm>
                <a:off x="3550" y="2496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3" name="Rectangle 111"/>
              <p:cNvSpPr>
                <a:spLocks noChangeArrowheads="1"/>
              </p:cNvSpPr>
              <p:nvPr/>
            </p:nvSpPr>
            <p:spPr bwMode="auto">
              <a:xfrm rot="5400000">
                <a:off x="3462" y="2622"/>
                <a:ext cx="361" cy="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100" b="1" dirty="0">
                    <a:latin typeface="Arial" panose="020B0604020202090204" pitchFamily="34" charset="0"/>
                  </a:rPr>
                  <a:t>ALU</a:t>
                </a:r>
                <a:endParaRPr lang="en-US" altLang="zh-CN" sz="1200" b="1" dirty="0">
                  <a:latin typeface="Arial" panose="020B0604020202090204" pitchFamily="34" charset="0"/>
                </a:endParaRPr>
              </a:p>
            </p:txBody>
          </p:sp>
        </p:grpSp>
        <p:grpSp>
          <p:nvGrpSpPr>
            <p:cNvPr id="18544" name="Group 112"/>
            <p:cNvGrpSpPr/>
            <p:nvPr/>
          </p:nvGrpSpPr>
          <p:grpSpPr bwMode="auto">
            <a:xfrm>
              <a:off x="3338" y="3072"/>
              <a:ext cx="340" cy="259"/>
              <a:chOff x="2624" y="2592"/>
              <a:chExt cx="340" cy="294"/>
            </a:xfrm>
          </p:grpSpPr>
          <p:sp>
            <p:nvSpPr>
              <p:cNvPr id="18545" name="Freeform 113"/>
              <p:cNvSpPr/>
              <p:nvPr/>
            </p:nvSpPr>
            <p:spPr bwMode="auto">
              <a:xfrm>
                <a:off x="2816" y="2597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8546" name="Group 114"/>
              <p:cNvGrpSpPr/>
              <p:nvPr/>
            </p:nvGrpSpPr>
            <p:grpSpPr bwMode="auto">
              <a:xfrm>
                <a:off x="2624" y="2592"/>
                <a:ext cx="340" cy="289"/>
                <a:chOff x="2624" y="2592"/>
                <a:chExt cx="340" cy="289"/>
              </a:xfrm>
            </p:grpSpPr>
            <p:sp>
              <p:nvSpPr>
                <p:cNvPr id="18547" name="Freeform 115"/>
                <p:cNvSpPr/>
                <p:nvPr/>
              </p:nvSpPr>
              <p:spPr bwMode="auto">
                <a:xfrm>
                  <a:off x="2624" y="2592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solidFill>
                  <a:schemeClr val="accent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48" name="Freeform 116"/>
                <p:cNvSpPr/>
                <p:nvPr/>
              </p:nvSpPr>
              <p:spPr bwMode="auto">
                <a:xfrm>
                  <a:off x="2793" y="2592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solidFill>
                  <a:schemeClr val="accent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549" name="Rectangle 117"/>
            <p:cNvSpPr>
              <a:spLocks noChangeArrowheads="1"/>
            </p:cNvSpPr>
            <p:nvPr/>
          </p:nvSpPr>
          <p:spPr bwMode="auto">
            <a:xfrm>
              <a:off x="3310" y="3072"/>
              <a:ext cx="40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Mem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sp>
          <p:nvSpPr>
            <p:cNvPr id="18550" name="Rectangle 118"/>
            <p:cNvSpPr>
              <a:spLocks noChangeArrowheads="1"/>
            </p:cNvSpPr>
            <p:nvPr/>
          </p:nvSpPr>
          <p:spPr bwMode="auto">
            <a:xfrm>
              <a:off x="3771" y="3079"/>
              <a:ext cx="35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Reg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grpSp>
          <p:nvGrpSpPr>
            <p:cNvPr id="18551" name="Group 119"/>
            <p:cNvGrpSpPr/>
            <p:nvPr/>
          </p:nvGrpSpPr>
          <p:grpSpPr bwMode="auto">
            <a:xfrm>
              <a:off x="3791" y="3073"/>
              <a:ext cx="296" cy="254"/>
              <a:chOff x="3084" y="2592"/>
              <a:chExt cx="296" cy="289"/>
            </a:xfrm>
          </p:grpSpPr>
          <p:sp>
            <p:nvSpPr>
              <p:cNvPr id="18552" name="Freeform 120"/>
              <p:cNvSpPr/>
              <p:nvPr/>
            </p:nvSpPr>
            <p:spPr bwMode="auto">
              <a:xfrm>
                <a:off x="3084" y="2592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53" name="Freeform 121"/>
              <p:cNvSpPr/>
              <p:nvPr/>
            </p:nvSpPr>
            <p:spPr bwMode="auto">
              <a:xfrm>
                <a:off x="3232" y="2592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54" name="Line 122"/>
            <p:cNvSpPr>
              <a:spLocks noChangeShapeType="1"/>
            </p:cNvSpPr>
            <p:nvPr/>
          </p:nvSpPr>
          <p:spPr bwMode="auto">
            <a:xfrm>
              <a:off x="3676" y="320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55" name="Freeform 123"/>
            <p:cNvSpPr/>
            <p:nvPr/>
          </p:nvSpPr>
          <p:spPr bwMode="auto">
            <a:xfrm>
              <a:off x="3738" y="3115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6" name="Line 124"/>
            <p:cNvSpPr>
              <a:spLocks noChangeShapeType="1"/>
            </p:cNvSpPr>
            <p:nvPr/>
          </p:nvSpPr>
          <p:spPr bwMode="auto">
            <a:xfrm>
              <a:off x="4092" y="3115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57" name="Rectangle 125"/>
            <p:cNvSpPr>
              <a:spLocks noChangeArrowheads="1"/>
            </p:cNvSpPr>
            <p:nvPr/>
          </p:nvSpPr>
          <p:spPr bwMode="auto">
            <a:xfrm>
              <a:off x="4587" y="3075"/>
              <a:ext cx="40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Mem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grpSp>
          <p:nvGrpSpPr>
            <p:cNvPr id="18558" name="Group 126"/>
            <p:cNvGrpSpPr/>
            <p:nvPr/>
          </p:nvGrpSpPr>
          <p:grpSpPr bwMode="auto">
            <a:xfrm>
              <a:off x="4640" y="3073"/>
              <a:ext cx="325" cy="254"/>
              <a:chOff x="3933" y="2592"/>
              <a:chExt cx="325" cy="289"/>
            </a:xfrm>
          </p:grpSpPr>
          <p:sp>
            <p:nvSpPr>
              <p:cNvPr id="18559" name="Freeform 127"/>
              <p:cNvSpPr/>
              <p:nvPr/>
            </p:nvSpPr>
            <p:spPr bwMode="auto">
              <a:xfrm>
                <a:off x="3933" y="2592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60" name="Freeform 128"/>
              <p:cNvSpPr/>
              <p:nvPr/>
            </p:nvSpPr>
            <p:spPr bwMode="auto">
              <a:xfrm>
                <a:off x="4094" y="2592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61" name="Rectangle 129"/>
            <p:cNvSpPr>
              <a:spLocks noChangeArrowheads="1"/>
            </p:cNvSpPr>
            <p:nvPr/>
          </p:nvSpPr>
          <p:spPr bwMode="auto">
            <a:xfrm>
              <a:off x="5080" y="3075"/>
              <a:ext cx="35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 b="1">
                  <a:latin typeface="Arial" panose="020B0604020202090204" pitchFamily="34" charset="0"/>
                </a:rPr>
                <a:t>Reg</a:t>
              </a:r>
              <a:endParaRPr lang="en-US" altLang="zh-CN" sz="1200" b="1">
                <a:latin typeface="Arial" panose="020B0604020202090204" pitchFamily="34" charset="0"/>
              </a:endParaRPr>
            </a:p>
          </p:txBody>
        </p:sp>
        <p:grpSp>
          <p:nvGrpSpPr>
            <p:cNvPr id="18562" name="Group 130"/>
            <p:cNvGrpSpPr/>
            <p:nvPr/>
          </p:nvGrpSpPr>
          <p:grpSpPr bwMode="auto">
            <a:xfrm>
              <a:off x="5108" y="3073"/>
              <a:ext cx="284" cy="254"/>
              <a:chOff x="4401" y="2592"/>
              <a:chExt cx="284" cy="289"/>
            </a:xfrm>
          </p:grpSpPr>
          <p:sp>
            <p:nvSpPr>
              <p:cNvPr id="18563" name="Freeform 131"/>
              <p:cNvSpPr/>
              <p:nvPr/>
            </p:nvSpPr>
            <p:spPr bwMode="auto">
              <a:xfrm>
                <a:off x="4401" y="2592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64" name="Freeform 132"/>
              <p:cNvSpPr/>
              <p:nvPr/>
            </p:nvSpPr>
            <p:spPr bwMode="auto">
              <a:xfrm>
                <a:off x="4542" y="2592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65" name="Line 133"/>
            <p:cNvSpPr>
              <a:spLocks noChangeShapeType="1"/>
            </p:cNvSpPr>
            <p:nvPr/>
          </p:nvSpPr>
          <p:spPr bwMode="auto">
            <a:xfrm>
              <a:off x="4961" y="3200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66" name="Line 134"/>
            <p:cNvSpPr>
              <a:spLocks noChangeShapeType="1"/>
            </p:cNvSpPr>
            <p:nvPr/>
          </p:nvSpPr>
          <p:spPr bwMode="auto">
            <a:xfrm>
              <a:off x="4477" y="3200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67" name="Freeform 135"/>
            <p:cNvSpPr/>
            <p:nvPr/>
          </p:nvSpPr>
          <p:spPr bwMode="auto">
            <a:xfrm>
              <a:off x="4598" y="3200"/>
              <a:ext cx="431" cy="169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8" name="Line 136"/>
            <p:cNvSpPr>
              <a:spLocks noChangeShapeType="1"/>
            </p:cNvSpPr>
            <p:nvPr/>
          </p:nvSpPr>
          <p:spPr bwMode="auto">
            <a:xfrm>
              <a:off x="4080" y="3264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69" name="Freeform 137"/>
            <p:cNvSpPr/>
            <p:nvPr/>
          </p:nvSpPr>
          <p:spPr bwMode="auto">
            <a:xfrm>
              <a:off x="4185" y="3195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570" name="Group 138"/>
          <p:cNvGrpSpPr/>
          <p:nvPr/>
        </p:nvGrpSpPr>
        <p:grpSpPr bwMode="auto">
          <a:xfrm>
            <a:off x="4343400" y="3200400"/>
            <a:ext cx="2628900" cy="457200"/>
            <a:chOff x="3216" y="2832"/>
            <a:chExt cx="2736" cy="384"/>
          </a:xfrm>
        </p:grpSpPr>
        <p:sp>
          <p:nvSpPr>
            <p:cNvPr id="18571" name="AutoShape 139"/>
            <p:cNvSpPr>
              <a:spLocks noChangeArrowheads="1"/>
            </p:cNvSpPr>
            <p:nvPr/>
          </p:nvSpPr>
          <p:spPr bwMode="auto">
            <a:xfrm>
              <a:off x="3216" y="2832"/>
              <a:ext cx="480" cy="384"/>
            </a:xfrm>
            <a:prstGeom prst="cloudCallout">
              <a:avLst>
                <a:gd name="adj1" fmla="val 21875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800" b="1" dirty="0"/>
                <a:t>Bubble</a:t>
              </a:r>
              <a:endParaRPr lang="en-US" altLang="zh-CN" sz="800" b="1" dirty="0"/>
            </a:p>
          </p:txBody>
        </p:sp>
        <p:sp>
          <p:nvSpPr>
            <p:cNvPr id="18572" name="AutoShape 140"/>
            <p:cNvSpPr>
              <a:spLocks noChangeArrowheads="1"/>
            </p:cNvSpPr>
            <p:nvPr/>
          </p:nvSpPr>
          <p:spPr bwMode="auto">
            <a:xfrm>
              <a:off x="4272" y="2832"/>
              <a:ext cx="528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800" b="1" dirty="0"/>
                <a:t>Bubble</a:t>
              </a:r>
              <a:endParaRPr lang="en-US" altLang="zh-CN" sz="1200" b="1" dirty="0"/>
            </a:p>
          </p:txBody>
        </p:sp>
        <p:sp>
          <p:nvSpPr>
            <p:cNvPr id="18573" name="AutoShape 141"/>
            <p:cNvSpPr>
              <a:spLocks noChangeArrowheads="1"/>
            </p:cNvSpPr>
            <p:nvPr/>
          </p:nvSpPr>
          <p:spPr bwMode="auto">
            <a:xfrm>
              <a:off x="4848" y="2832"/>
              <a:ext cx="528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800" b="1" dirty="0"/>
                <a:t>Bubble</a:t>
              </a:r>
              <a:endParaRPr lang="en-US" altLang="zh-CN" sz="1200" b="1" dirty="0"/>
            </a:p>
          </p:txBody>
        </p:sp>
        <p:sp>
          <p:nvSpPr>
            <p:cNvPr id="18574" name="AutoShape 142"/>
            <p:cNvSpPr>
              <a:spLocks noChangeArrowheads="1"/>
            </p:cNvSpPr>
            <p:nvPr/>
          </p:nvSpPr>
          <p:spPr bwMode="auto">
            <a:xfrm>
              <a:off x="5424" y="2832"/>
              <a:ext cx="528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800" b="1" dirty="0"/>
                <a:t>Bubble</a:t>
              </a:r>
              <a:endParaRPr lang="en-US" altLang="zh-CN" sz="1200" b="1" dirty="0"/>
            </a:p>
          </p:txBody>
        </p:sp>
        <p:sp>
          <p:nvSpPr>
            <p:cNvPr id="18575" name="AutoShape 143"/>
            <p:cNvSpPr>
              <a:spLocks noChangeArrowheads="1"/>
            </p:cNvSpPr>
            <p:nvPr/>
          </p:nvSpPr>
          <p:spPr bwMode="auto">
            <a:xfrm>
              <a:off x="3744" y="2832"/>
              <a:ext cx="528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800" b="1" dirty="0"/>
                <a:t>Bubble</a:t>
              </a:r>
              <a:endParaRPr lang="en-US" altLang="zh-CN" sz="1200" b="1" dirty="0"/>
            </a:p>
          </p:txBody>
        </p:sp>
      </p:grpSp>
      <p:sp>
        <p:nvSpPr>
          <p:cNvPr id="18576" name="Rectangle 144"/>
          <p:cNvSpPr>
            <a:spLocks noChangeArrowheads="1"/>
          </p:cNvSpPr>
          <p:nvPr/>
        </p:nvSpPr>
        <p:spPr bwMode="auto">
          <a:xfrm>
            <a:off x="2094178" y="3257551"/>
            <a:ext cx="570574" cy="34432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</a:rPr>
              <a:t>Stall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Let’s split instruction and data cache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memory system must deliver 5 times the bandwidth over the unpipelined version.</a:t>
            </a:r>
            <a:endParaRPr lang="en-US" altLang="zh-CN" dirty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Separate instruction and data memories</a:t>
            </a:r>
            <a:endParaRPr lang="en-US" altLang="zh-CN"/>
          </a:p>
        </p:txBody>
      </p:sp>
      <p:sp>
        <p:nvSpPr>
          <p:cNvPr id="140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8F3025D9-A424-423D-989B-85EEC18A5F75}" type="slidenum">
              <a:rPr lang="en-US" altLang="zh-CN"/>
            </a:fld>
            <a:endParaRPr lang="en-US" altLang="zh-CN"/>
          </a:p>
        </p:txBody>
      </p:sp>
      <p:grpSp>
        <p:nvGrpSpPr>
          <p:cNvPr id="57483" name="Group 139"/>
          <p:cNvGrpSpPr/>
          <p:nvPr/>
        </p:nvGrpSpPr>
        <p:grpSpPr bwMode="auto">
          <a:xfrm>
            <a:off x="1999060" y="1406872"/>
            <a:ext cx="5592366" cy="2461022"/>
            <a:chOff x="719" y="1248"/>
            <a:chExt cx="4697" cy="2067"/>
          </a:xfrm>
        </p:grpSpPr>
        <p:grpSp>
          <p:nvGrpSpPr>
            <p:cNvPr id="57349" name="Group 5"/>
            <p:cNvGrpSpPr/>
            <p:nvPr/>
          </p:nvGrpSpPr>
          <p:grpSpPr bwMode="auto">
            <a:xfrm>
              <a:off x="3094" y="1728"/>
              <a:ext cx="317" cy="259"/>
              <a:chOff x="2624" y="1200"/>
              <a:chExt cx="340" cy="294"/>
            </a:xfrm>
          </p:grpSpPr>
          <p:sp>
            <p:nvSpPr>
              <p:cNvPr id="57350" name="Freeform 6"/>
              <p:cNvSpPr/>
              <p:nvPr/>
            </p:nvSpPr>
            <p:spPr bwMode="auto">
              <a:xfrm>
                <a:off x="2816" y="1205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7351" name="Group 7"/>
              <p:cNvGrpSpPr/>
              <p:nvPr/>
            </p:nvGrpSpPr>
            <p:grpSpPr bwMode="auto">
              <a:xfrm>
                <a:off x="2624" y="1200"/>
                <a:ext cx="340" cy="289"/>
                <a:chOff x="2624" y="1200"/>
                <a:chExt cx="340" cy="289"/>
              </a:xfrm>
            </p:grpSpPr>
            <p:sp>
              <p:nvSpPr>
                <p:cNvPr id="57352" name="Freeform 8"/>
                <p:cNvSpPr/>
                <p:nvPr/>
              </p:nvSpPr>
              <p:spPr bwMode="auto">
                <a:xfrm>
                  <a:off x="2624" y="1200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solidFill>
                  <a:schemeClr val="accent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53" name="Freeform 9"/>
                <p:cNvSpPr/>
                <p:nvPr/>
              </p:nvSpPr>
              <p:spPr bwMode="auto">
                <a:xfrm>
                  <a:off x="2793" y="1200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solidFill>
                  <a:schemeClr val="accent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7354" name="Group 10"/>
            <p:cNvGrpSpPr/>
            <p:nvPr/>
          </p:nvGrpSpPr>
          <p:grpSpPr bwMode="auto">
            <a:xfrm>
              <a:off x="3072" y="2928"/>
              <a:ext cx="340" cy="259"/>
              <a:chOff x="2624" y="2592"/>
              <a:chExt cx="340" cy="294"/>
            </a:xfrm>
          </p:grpSpPr>
          <p:sp>
            <p:nvSpPr>
              <p:cNvPr id="57355" name="Freeform 11"/>
              <p:cNvSpPr/>
              <p:nvPr/>
            </p:nvSpPr>
            <p:spPr bwMode="auto">
              <a:xfrm>
                <a:off x="2816" y="2597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rgbClr val="FF0000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7356" name="Group 12"/>
              <p:cNvGrpSpPr/>
              <p:nvPr/>
            </p:nvGrpSpPr>
            <p:grpSpPr bwMode="auto">
              <a:xfrm>
                <a:off x="2624" y="2592"/>
                <a:ext cx="340" cy="289"/>
                <a:chOff x="2624" y="2592"/>
                <a:chExt cx="340" cy="289"/>
              </a:xfrm>
            </p:grpSpPr>
            <p:sp>
              <p:nvSpPr>
                <p:cNvPr id="57357" name="Freeform 13"/>
                <p:cNvSpPr/>
                <p:nvPr/>
              </p:nvSpPr>
              <p:spPr bwMode="auto">
                <a:xfrm>
                  <a:off x="2624" y="2592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solidFill>
                  <a:srgbClr val="FF0000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58" name="Freeform 14"/>
                <p:cNvSpPr/>
                <p:nvPr/>
              </p:nvSpPr>
              <p:spPr bwMode="auto">
                <a:xfrm>
                  <a:off x="2793" y="2592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solidFill>
                  <a:srgbClr val="FF0000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7359" name="Rectangle 15"/>
            <p:cNvSpPr>
              <a:spLocks noChangeArrowheads="1"/>
            </p:cNvSpPr>
            <p:nvPr/>
          </p:nvSpPr>
          <p:spPr bwMode="auto">
            <a:xfrm>
              <a:off x="3045" y="2931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IM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sp>
          <p:nvSpPr>
            <p:cNvPr id="57360" name="Rectangle 16"/>
            <p:cNvSpPr>
              <a:spLocks noChangeArrowheads="1"/>
            </p:cNvSpPr>
            <p:nvPr/>
          </p:nvSpPr>
          <p:spPr bwMode="auto">
            <a:xfrm>
              <a:off x="719" y="1723"/>
              <a:ext cx="228" cy="15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I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n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s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t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r.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O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r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d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e</a:t>
              </a:r>
              <a:endParaRPr lang="en-US" altLang="zh-CN" sz="1350" i="1"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350" i="1">
                  <a:latin typeface="Arial" panose="020B0604020202090204" pitchFamily="34" charset="0"/>
                </a:rPr>
                <a:t>r</a:t>
              </a:r>
              <a:endParaRPr lang="en-US" altLang="zh-CN" sz="1350" i="1">
                <a:latin typeface="Arial" panose="020B0604020202090204" pitchFamily="34" charset="0"/>
              </a:endParaRPr>
            </a:p>
          </p:txBody>
        </p:sp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 flipH="1">
              <a:off x="1008" y="1728"/>
              <a:ext cx="0" cy="1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>
              <a:off x="1440" y="1488"/>
              <a:ext cx="3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3" name="Rectangle 19"/>
            <p:cNvSpPr>
              <a:spLocks noChangeArrowheads="1"/>
            </p:cNvSpPr>
            <p:nvPr/>
          </p:nvSpPr>
          <p:spPr bwMode="auto">
            <a:xfrm>
              <a:off x="2634" y="1248"/>
              <a:ext cx="1350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350" i="1">
                  <a:latin typeface="Arial" panose="020B0604020202090204" pitchFamily="34" charset="0"/>
                </a:rPr>
                <a:t>Time (clock cycles)</a:t>
              </a:r>
              <a:endParaRPr lang="en-US" altLang="zh-CN" sz="1350" i="1">
                <a:latin typeface="Arial" panose="020B0604020202090204" pitchFamily="34" charset="0"/>
              </a:endParaRPr>
            </a:p>
          </p:txBody>
        </p:sp>
        <p:sp>
          <p:nvSpPr>
            <p:cNvPr id="57364" name="Rectangle 20"/>
            <p:cNvSpPr>
              <a:spLocks noChangeArrowheads="1"/>
            </p:cNvSpPr>
            <p:nvPr/>
          </p:nvSpPr>
          <p:spPr bwMode="auto">
            <a:xfrm>
              <a:off x="1016" y="1793"/>
              <a:ext cx="662" cy="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b="0">
                  <a:latin typeface="Comic Sans MS" panose="030F0902030302020204" pitchFamily="66" charset="0"/>
                </a:rPr>
                <a:t>Ld/St</a:t>
              </a:r>
              <a:endParaRPr lang="en-US" altLang="zh-CN" sz="2100">
                <a:latin typeface="Arial" panose="020B0604020202090204" pitchFamily="34" charset="0"/>
              </a:endParaRPr>
            </a:p>
          </p:txBody>
        </p:sp>
        <p:sp>
          <p:nvSpPr>
            <p:cNvPr id="57365" name="Rectangle 21"/>
            <p:cNvSpPr>
              <a:spLocks noChangeArrowheads="1"/>
            </p:cNvSpPr>
            <p:nvPr/>
          </p:nvSpPr>
          <p:spPr bwMode="auto">
            <a:xfrm>
              <a:off x="1000" y="2159"/>
              <a:ext cx="747" cy="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b="0">
                  <a:latin typeface="Comic Sans MS" panose="030F0902030302020204" pitchFamily="66" charset="0"/>
                </a:rPr>
                <a:t>Instr 1</a:t>
              </a:r>
              <a:endParaRPr lang="en-US" altLang="zh-CN" sz="2100">
                <a:latin typeface="Arial" panose="020B0604020202090204" pitchFamily="34" charset="0"/>
              </a:endParaRPr>
            </a:p>
          </p:txBody>
        </p:sp>
        <p:sp>
          <p:nvSpPr>
            <p:cNvPr id="57366" name="Rectangle 22"/>
            <p:cNvSpPr>
              <a:spLocks noChangeArrowheads="1"/>
            </p:cNvSpPr>
            <p:nvPr/>
          </p:nvSpPr>
          <p:spPr bwMode="auto">
            <a:xfrm>
              <a:off x="992" y="2568"/>
              <a:ext cx="778" cy="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b="0">
                  <a:latin typeface="Comic Sans MS" panose="030F0902030302020204" pitchFamily="66" charset="0"/>
                </a:rPr>
                <a:t>Instr 2</a:t>
              </a:r>
              <a:endParaRPr lang="en-US" altLang="zh-CN" sz="2100">
                <a:latin typeface="Arial" panose="020B0604020202090204" pitchFamily="34" charset="0"/>
              </a:endParaRPr>
            </a:p>
          </p:txBody>
        </p:sp>
        <p:sp>
          <p:nvSpPr>
            <p:cNvPr id="57367" name="Rectangle 23"/>
            <p:cNvSpPr>
              <a:spLocks noChangeArrowheads="1"/>
            </p:cNvSpPr>
            <p:nvPr/>
          </p:nvSpPr>
          <p:spPr bwMode="auto">
            <a:xfrm>
              <a:off x="1035" y="2946"/>
              <a:ext cx="778" cy="28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b="0">
                  <a:latin typeface="Comic Sans MS" panose="030F0902030302020204" pitchFamily="66" charset="0"/>
                </a:rPr>
                <a:t>Instr 3</a:t>
              </a:r>
              <a:endParaRPr lang="en-US" altLang="zh-CN" b="0">
                <a:latin typeface="Comic Sans MS" panose="030F0902030302020204" pitchFamily="66" charset="0"/>
              </a:endParaRPr>
            </a:p>
          </p:txBody>
        </p:sp>
        <p:grpSp>
          <p:nvGrpSpPr>
            <p:cNvPr id="57368" name="Group 24"/>
            <p:cNvGrpSpPr/>
            <p:nvPr/>
          </p:nvGrpSpPr>
          <p:grpSpPr bwMode="auto">
            <a:xfrm>
              <a:off x="2160" y="1536"/>
              <a:ext cx="3024" cy="1728"/>
              <a:chOff x="1929" y="1985"/>
              <a:chExt cx="3024" cy="2479"/>
            </a:xfrm>
          </p:grpSpPr>
          <p:sp>
            <p:nvSpPr>
              <p:cNvPr id="57369" name="Line 25"/>
              <p:cNvSpPr>
                <a:spLocks noChangeShapeType="1"/>
              </p:cNvSpPr>
              <p:nvPr/>
            </p:nvSpPr>
            <p:spPr bwMode="auto">
              <a:xfrm>
                <a:off x="192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0" name="Line 26"/>
              <p:cNvSpPr>
                <a:spLocks noChangeShapeType="1"/>
              </p:cNvSpPr>
              <p:nvPr/>
            </p:nvSpPr>
            <p:spPr bwMode="auto">
              <a:xfrm>
                <a:off x="236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1" name="Line 27"/>
              <p:cNvSpPr>
                <a:spLocks noChangeShapeType="1"/>
              </p:cNvSpPr>
              <p:nvPr/>
            </p:nvSpPr>
            <p:spPr bwMode="auto">
              <a:xfrm>
                <a:off x="279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2" name="Line 28"/>
              <p:cNvSpPr>
                <a:spLocks noChangeShapeType="1"/>
              </p:cNvSpPr>
              <p:nvPr/>
            </p:nvSpPr>
            <p:spPr bwMode="auto">
              <a:xfrm>
                <a:off x="3225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3" name="Line 29"/>
              <p:cNvSpPr>
                <a:spLocks noChangeShapeType="1"/>
              </p:cNvSpPr>
              <p:nvPr/>
            </p:nvSpPr>
            <p:spPr bwMode="auto">
              <a:xfrm>
                <a:off x="3657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4" name="Line 30"/>
              <p:cNvSpPr>
                <a:spLocks noChangeShapeType="1"/>
              </p:cNvSpPr>
              <p:nvPr/>
            </p:nvSpPr>
            <p:spPr bwMode="auto">
              <a:xfrm>
                <a:off x="408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5" name="Line 31"/>
              <p:cNvSpPr>
                <a:spLocks noChangeShapeType="1"/>
              </p:cNvSpPr>
              <p:nvPr/>
            </p:nvSpPr>
            <p:spPr bwMode="auto">
              <a:xfrm>
                <a:off x="452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6" name="Line 32"/>
              <p:cNvSpPr>
                <a:spLocks noChangeShapeType="1"/>
              </p:cNvSpPr>
              <p:nvPr/>
            </p:nvSpPr>
            <p:spPr bwMode="auto">
              <a:xfrm>
                <a:off x="495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7377" name="Group 33"/>
            <p:cNvGrpSpPr/>
            <p:nvPr/>
          </p:nvGrpSpPr>
          <p:grpSpPr bwMode="auto">
            <a:xfrm>
              <a:off x="2696" y="1661"/>
              <a:ext cx="227" cy="423"/>
              <a:chOff x="2255" y="1152"/>
              <a:chExt cx="227" cy="481"/>
            </a:xfrm>
          </p:grpSpPr>
          <p:sp>
            <p:nvSpPr>
              <p:cNvPr id="57378" name="Freeform 34"/>
              <p:cNvSpPr/>
              <p:nvPr/>
            </p:nvSpPr>
            <p:spPr bwMode="auto">
              <a:xfrm>
                <a:off x="2269" y="1152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79" name="Rectangle 35"/>
              <p:cNvSpPr>
                <a:spLocks noChangeArrowheads="1"/>
              </p:cNvSpPr>
              <p:nvPr/>
            </p:nvSpPr>
            <p:spPr bwMode="auto">
              <a:xfrm rot="5400000">
                <a:off x="2153" y="1296"/>
                <a:ext cx="416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ALU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</p:grpSp>
        <p:grpSp>
          <p:nvGrpSpPr>
            <p:cNvPr id="57380" name="Group 36"/>
            <p:cNvGrpSpPr/>
            <p:nvPr/>
          </p:nvGrpSpPr>
          <p:grpSpPr bwMode="auto">
            <a:xfrm>
              <a:off x="1764" y="1745"/>
              <a:ext cx="360" cy="255"/>
              <a:chOff x="1323" y="1248"/>
              <a:chExt cx="360" cy="289"/>
            </a:xfrm>
          </p:grpSpPr>
          <p:sp>
            <p:nvSpPr>
              <p:cNvPr id="57381" name="Rectangle 37"/>
              <p:cNvSpPr>
                <a:spLocks noChangeArrowheads="1"/>
              </p:cNvSpPr>
              <p:nvPr/>
            </p:nvSpPr>
            <p:spPr bwMode="auto">
              <a:xfrm>
                <a:off x="1323" y="1250"/>
                <a:ext cx="259" cy="2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IM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7382" name="Group 38"/>
              <p:cNvGrpSpPr/>
              <p:nvPr/>
            </p:nvGrpSpPr>
            <p:grpSpPr bwMode="auto">
              <a:xfrm>
                <a:off x="1343" y="1248"/>
                <a:ext cx="340" cy="289"/>
                <a:chOff x="1343" y="1248"/>
                <a:chExt cx="340" cy="289"/>
              </a:xfrm>
            </p:grpSpPr>
            <p:sp>
              <p:nvSpPr>
                <p:cNvPr id="57383" name="Freeform 39"/>
                <p:cNvSpPr/>
                <p:nvPr/>
              </p:nvSpPr>
              <p:spPr bwMode="auto">
                <a:xfrm>
                  <a:off x="1343" y="1248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84" name="Freeform 40"/>
                <p:cNvSpPr/>
                <p:nvPr/>
              </p:nvSpPr>
              <p:spPr bwMode="auto">
                <a:xfrm>
                  <a:off x="1512" y="1248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7385" name="Rectangle 41"/>
            <p:cNvSpPr>
              <a:spLocks noChangeArrowheads="1"/>
            </p:cNvSpPr>
            <p:nvPr/>
          </p:nvSpPr>
          <p:spPr bwMode="auto">
            <a:xfrm>
              <a:off x="2228" y="1752"/>
              <a:ext cx="35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Reg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grpSp>
          <p:nvGrpSpPr>
            <p:cNvPr id="57386" name="Group 42"/>
            <p:cNvGrpSpPr/>
            <p:nvPr/>
          </p:nvGrpSpPr>
          <p:grpSpPr bwMode="auto">
            <a:xfrm>
              <a:off x="2244" y="1745"/>
              <a:ext cx="296" cy="255"/>
              <a:chOff x="1803" y="1248"/>
              <a:chExt cx="296" cy="289"/>
            </a:xfrm>
          </p:grpSpPr>
          <p:sp>
            <p:nvSpPr>
              <p:cNvPr id="57387" name="Freeform 43"/>
              <p:cNvSpPr/>
              <p:nvPr/>
            </p:nvSpPr>
            <p:spPr bwMode="auto">
              <a:xfrm>
                <a:off x="1803" y="1248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8" name="Freeform 44"/>
              <p:cNvSpPr/>
              <p:nvPr/>
            </p:nvSpPr>
            <p:spPr bwMode="auto">
              <a:xfrm>
                <a:off x="1951" y="1248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89" name="Line 45"/>
            <p:cNvSpPr>
              <a:spLocks noChangeShapeType="1"/>
            </p:cNvSpPr>
            <p:nvPr/>
          </p:nvSpPr>
          <p:spPr bwMode="auto">
            <a:xfrm>
              <a:off x="2129" y="1872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90" name="Freeform 46"/>
            <p:cNvSpPr/>
            <p:nvPr/>
          </p:nvSpPr>
          <p:spPr bwMode="auto">
            <a:xfrm>
              <a:off x="2191" y="1788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1" name="Line 47"/>
            <p:cNvSpPr>
              <a:spLocks noChangeShapeType="1"/>
            </p:cNvSpPr>
            <p:nvPr/>
          </p:nvSpPr>
          <p:spPr bwMode="auto">
            <a:xfrm>
              <a:off x="2545" y="1788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92" name="Rectangle 48"/>
            <p:cNvSpPr>
              <a:spLocks noChangeArrowheads="1"/>
            </p:cNvSpPr>
            <p:nvPr/>
          </p:nvSpPr>
          <p:spPr bwMode="auto">
            <a:xfrm>
              <a:off x="3119" y="1776"/>
              <a:ext cx="31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DM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sp>
          <p:nvSpPr>
            <p:cNvPr id="57393" name="Rectangle 49"/>
            <p:cNvSpPr>
              <a:spLocks noChangeArrowheads="1"/>
            </p:cNvSpPr>
            <p:nvPr/>
          </p:nvSpPr>
          <p:spPr bwMode="auto">
            <a:xfrm>
              <a:off x="3537" y="1747"/>
              <a:ext cx="35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Reg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grpSp>
          <p:nvGrpSpPr>
            <p:cNvPr id="57394" name="Group 50"/>
            <p:cNvGrpSpPr/>
            <p:nvPr/>
          </p:nvGrpSpPr>
          <p:grpSpPr bwMode="auto">
            <a:xfrm>
              <a:off x="3561" y="1745"/>
              <a:ext cx="284" cy="255"/>
              <a:chOff x="3120" y="1248"/>
              <a:chExt cx="284" cy="289"/>
            </a:xfrm>
          </p:grpSpPr>
          <p:sp>
            <p:nvSpPr>
              <p:cNvPr id="57395" name="Freeform 51"/>
              <p:cNvSpPr/>
              <p:nvPr/>
            </p:nvSpPr>
            <p:spPr bwMode="auto">
              <a:xfrm>
                <a:off x="3120" y="1248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6" name="Freeform 52"/>
              <p:cNvSpPr/>
              <p:nvPr/>
            </p:nvSpPr>
            <p:spPr bwMode="auto">
              <a:xfrm>
                <a:off x="3261" y="1248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97" name="Line 53"/>
            <p:cNvSpPr>
              <a:spLocks noChangeShapeType="1"/>
            </p:cNvSpPr>
            <p:nvPr/>
          </p:nvSpPr>
          <p:spPr bwMode="auto">
            <a:xfrm>
              <a:off x="3414" y="1872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98" name="Line 54"/>
            <p:cNvSpPr>
              <a:spLocks noChangeShapeType="1"/>
            </p:cNvSpPr>
            <p:nvPr/>
          </p:nvSpPr>
          <p:spPr bwMode="auto">
            <a:xfrm>
              <a:off x="2930" y="1872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99" name="Freeform 55"/>
            <p:cNvSpPr/>
            <p:nvPr/>
          </p:nvSpPr>
          <p:spPr bwMode="auto">
            <a:xfrm>
              <a:off x="3051" y="1872"/>
              <a:ext cx="431" cy="170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0" name="Line 56"/>
            <p:cNvSpPr>
              <a:spLocks noChangeShapeType="1"/>
            </p:cNvSpPr>
            <p:nvPr/>
          </p:nvSpPr>
          <p:spPr bwMode="auto">
            <a:xfrm>
              <a:off x="2545" y="1957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01" name="Freeform 57"/>
            <p:cNvSpPr/>
            <p:nvPr/>
          </p:nvSpPr>
          <p:spPr bwMode="auto">
            <a:xfrm>
              <a:off x="2638" y="1868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402" name="Group 58"/>
            <p:cNvGrpSpPr/>
            <p:nvPr/>
          </p:nvGrpSpPr>
          <p:grpSpPr bwMode="auto">
            <a:xfrm>
              <a:off x="2191" y="2055"/>
              <a:ext cx="2124" cy="452"/>
              <a:chOff x="1750" y="1600"/>
              <a:chExt cx="2124" cy="513"/>
            </a:xfrm>
          </p:grpSpPr>
          <p:grpSp>
            <p:nvGrpSpPr>
              <p:cNvPr id="57403" name="Group 59"/>
              <p:cNvGrpSpPr/>
              <p:nvPr/>
            </p:nvGrpSpPr>
            <p:grpSpPr bwMode="auto">
              <a:xfrm>
                <a:off x="2685" y="1600"/>
                <a:ext cx="224" cy="481"/>
                <a:chOff x="2685" y="1600"/>
                <a:chExt cx="224" cy="481"/>
              </a:xfrm>
            </p:grpSpPr>
            <p:sp>
              <p:nvSpPr>
                <p:cNvPr id="57404" name="Freeform 60"/>
                <p:cNvSpPr/>
                <p:nvPr/>
              </p:nvSpPr>
              <p:spPr bwMode="auto">
                <a:xfrm>
                  <a:off x="2696" y="1600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05" name="Rectangle 61"/>
                <p:cNvSpPr>
                  <a:spLocks noChangeArrowheads="1"/>
                </p:cNvSpPr>
                <p:nvPr/>
              </p:nvSpPr>
              <p:spPr bwMode="auto">
                <a:xfrm rot="5400000">
                  <a:off x="2583" y="1745"/>
                  <a:ext cx="415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>
                      <a:latin typeface="Arial" panose="020B0604020202090204" pitchFamily="34" charset="0"/>
                    </a:rPr>
                    <a:t>ALU</a:t>
                  </a:r>
                  <a:endParaRPr lang="en-US" altLang="zh-CN" sz="1200">
                    <a:latin typeface="Arial" panose="020B0604020202090204" pitchFamily="34" charset="0"/>
                  </a:endParaRPr>
                </a:p>
              </p:txBody>
            </p:sp>
          </p:grpSp>
          <p:grpSp>
            <p:nvGrpSpPr>
              <p:cNvPr id="57406" name="Group 62"/>
              <p:cNvGrpSpPr/>
              <p:nvPr/>
            </p:nvGrpSpPr>
            <p:grpSpPr bwMode="auto">
              <a:xfrm>
                <a:off x="1750" y="1696"/>
                <a:ext cx="360" cy="289"/>
                <a:chOff x="1750" y="1696"/>
                <a:chExt cx="360" cy="289"/>
              </a:xfrm>
            </p:grpSpPr>
            <p:sp>
              <p:nvSpPr>
                <p:cNvPr id="57407" name="Rectangle 63"/>
                <p:cNvSpPr>
                  <a:spLocks noChangeArrowheads="1"/>
                </p:cNvSpPr>
                <p:nvPr/>
              </p:nvSpPr>
              <p:spPr bwMode="auto">
                <a:xfrm>
                  <a:off x="1750" y="1701"/>
                  <a:ext cx="259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>
                      <a:latin typeface="Arial" panose="020B0604020202090204" pitchFamily="34" charset="0"/>
                    </a:rPr>
                    <a:t>IM</a:t>
                  </a:r>
                  <a:endParaRPr lang="en-US" altLang="zh-CN" sz="1200">
                    <a:latin typeface="Arial" panose="020B0604020202090204" pitchFamily="34" charset="0"/>
                  </a:endParaRPr>
                </a:p>
              </p:txBody>
            </p:sp>
            <p:grpSp>
              <p:nvGrpSpPr>
                <p:cNvPr id="57408" name="Group 64"/>
                <p:cNvGrpSpPr/>
                <p:nvPr/>
              </p:nvGrpSpPr>
              <p:grpSpPr bwMode="auto">
                <a:xfrm>
                  <a:off x="1770" y="1696"/>
                  <a:ext cx="340" cy="289"/>
                  <a:chOff x="1770" y="1696"/>
                  <a:chExt cx="340" cy="289"/>
                </a:xfrm>
              </p:grpSpPr>
              <p:sp>
                <p:nvSpPr>
                  <p:cNvPr id="57409" name="Freeform 65"/>
                  <p:cNvSpPr/>
                  <p:nvPr/>
                </p:nvSpPr>
                <p:spPr bwMode="auto">
                  <a:xfrm>
                    <a:off x="1770" y="1696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10" name="Freeform 66"/>
                  <p:cNvSpPr/>
                  <p:nvPr/>
                </p:nvSpPr>
                <p:spPr bwMode="auto">
                  <a:xfrm>
                    <a:off x="1939" y="1696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7411" name="Rectangle 67"/>
              <p:cNvSpPr>
                <a:spLocks noChangeArrowheads="1"/>
              </p:cNvSpPr>
              <p:nvPr/>
            </p:nvSpPr>
            <p:spPr bwMode="auto">
              <a:xfrm>
                <a:off x="2214" y="1703"/>
                <a:ext cx="351" cy="2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Reg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7412" name="Group 68"/>
              <p:cNvGrpSpPr/>
              <p:nvPr/>
            </p:nvGrpSpPr>
            <p:grpSpPr bwMode="auto">
              <a:xfrm>
                <a:off x="2230" y="1696"/>
                <a:ext cx="296" cy="289"/>
                <a:chOff x="2230" y="1696"/>
                <a:chExt cx="296" cy="289"/>
              </a:xfrm>
            </p:grpSpPr>
            <p:sp>
              <p:nvSpPr>
                <p:cNvPr id="57413" name="Freeform 69"/>
                <p:cNvSpPr/>
                <p:nvPr/>
              </p:nvSpPr>
              <p:spPr bwMode="auto">
                <a:xfrm>
                  <a:off x="2230" y="1696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14" name="Freeform 70"/>
                <p:cNvSpPr/>
                <p:nvPr/>
              </p:nvSpPr>
              <p:spPr bwMode="auto">
                <a:xfrm>
                  <a:off x="2378" y="1696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15" name="Line 71"/>
              <p:cNvSpPr>
                <a:spLocks noChangeShapeType="1"/>
              </p:cNvSpPr>
              <p:nvPr/>
            </p:nvSpPr>
            <p:spPr bwMode="auto">
              <a:xfrm>
                <a:off x="2115" y="1840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16" name="Freeform 72"/>
              <p:cNvSpPr/>
              <p:nvPr/>
            </p:nvSpPr>
            <p:spPr bwMode="auto">
              <a:xfrm>
                <a:off x="2177" y="1744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7" name="Line 73"/>
              <p:cNvSpPr>
                <a:spLocks noChangeShapeType="1"/>
              </p:cNvSpPr>
              <p:nvPr/>
            </p:nvSpPr>
            <p:spPr bwMode="auto">
              <a:xfrm>
                <a:off x="2531" y="174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18" name="Rectangle 74"/>
              <p:cNvSpPr>
                <a:spLocks noChangeArrowheads="1"/>
              </p:cNvSpPr>
              <p:nvPr/>
            </p:nvSpPr>
            <p:spPr bwMode="auto">
              <a:xfrm>
                <a:off x="3027" y="1696"/>
                <a:ext cx="316" cy="2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DM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7419" name="Group 75"/>
              <p:cNvGrpSpPr/>
              <p:nvPr/>
            </p:nvGrpSpPr>
            <p:grpSpPr bwMode="auto">
              <a:xfrm>
                <a:off x="3079" y="1696"/>
                <a:ext cx="325" cy="289"/>
                <a:chOff x="3079" y="1696"/>
                <a:chExt cx="325" cy="289"/>
              </a:xfrm>
            </p:grpSpPr>
            <p:sp>
              <p:nvSpPr>
                <p:cNvPr id="57420" name="Freeform 76"/>
                <p:cNvSpPr/>
                <p:nvPr/>
              </p:nvSpPr>
              <p:spPr bwMode="auto">
                <a:xfrm>
                  <a:off x="3079" y="1696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21" name="Freeform 77"/>
                <p:cNvSpPr/>
                <p:nvPr/>
              </p:nvSpPr>
              <p:spPr bwMode="auto">
                <a:xfrm>
                  <a:off x="3240" y="1696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22" name="Rectangle 78"/>
              <p:cNvSpPr>
                <a:spLocks noChangeArrowheads="1"/>
              </p:cNvSpPr>
              <p:nvPr/>
            </p:nvSpPr>
            <p:spPr bwMode="auto">
              <a:xfrm>
                <a:off x="3523" y="1696"/>
                <a:ext cx="351" cy="2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Reg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7423" name="Group 79"/>
              <p:cNvGrpSpPr/>
              <p:nvPr/>
            </p:nvGrpSpPr>
            <p:grpSpPr bwMode="auto">
              <a:xfrm>
                <a:off x="3547" y="1696"/>
                <a:ext cx="284" cy="289"/>
                <a:chOff x="3547" y="1696"/>
                <a:chExt cx="284" cy="289"/>
              </a:xfrm>
            </p:grpSpPr>
            <p:sp>
              <p:nvSpPr>
                <p:cNvPr id="57424" name="Freeform 80"/>
                <p:cNvSpPr/>
                <p:nvPr/>
              </p:nvSpPr>
              <p:spPr bwMode="auto">
                <a:xfrm>
                  <a:off x="3547" y="1696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25" name="Freeform 81"/>
                <p:cNvSpPr/>
                <p:nvPr/>
              </p:nvSpPr>
              <p:spPr bwMode="auto">
                <a:xfrm>
                  <a:off x="3688" y="1696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26" name="Line 82"/>
              <p:cNvSpPr>
                <a:spLocks noChangeShapeType="1"/>
              </p:cNvSpPr>
              <p:nvPr/>
            </p:nvSpPr>
            <p:spPr bwMode="auto">
              <a:xfrm>
                <a:off x="3400" y="1840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27" name="Line 83"/>
              <p:cNvSpPr>
                <a:spLocks noChangeShapeType="1"/>
              </p:cNvSpPr>
              <p:nvPr/>
            </p:nvSpPr>
            <p:spPr bwMode="auto">
              <a:xfrm>
                <a:off x="2916" y="1840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28" name="Freeform 84"/>
              <p:cNvSpPr/>
              <p:nvPr/>
            </p:nvSpPr>
            <p:spPr bwMode="auto">
              <a:xfrm>
                <a:off x="3037" y="1840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29" name="Line 85"/>
              <p:cNvSpPr>
                <a:spLocks noChangeShapeType="1"/>
              </p:cNvSpPr>
              <p:nvPr/>
            </p:nvSpPr>
            <p:spPr bwMode="auto">
              <a:xfrm>
                <a:off x="2531" y="1936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30" name="Freeform 86"/>
              <p:cNvSpPr/>
              <p:nvPr/>
            </p:nvSpPr>
            <p:spPr bwMode="auto">
              <a:xfrm>
                <a:off x="2624" y="1835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431" name="Group 87"/>
            <p:cNvGrpSpPr/>
            <p:nvPr/>
          </p:nvGrpSpPr>
          <p:grpSpPr bwMode="auto">
            <a:xfrm>
              <a:off x="2618" y="2450"/>
              <a:ext cx="2124" cy="451"/>
              <a:chOff x="2177" y="2048"/>
              <a:chExt cx="2124" cy="513"/>
            </a:xfrm>
          </p:grpSpPr>
          <p:grpSp>
            <p:nvGrpSpPr>
              <p:cNvPr id="57432" name="Group 88"/>
              <p:cNvGrpSpPr/>
              <p:nvPr/>
            </p:nvGrpSpPr>
            <p:grpSpPr bwMode="auto">
              <a:xfrm>
                <a:off x="3110" y="2048"/>
                <a:ext cx="226" cy="481"/>
                <a:chOff x="3110" y="2048"/>
                <a:chExt cx="226" cy="481"/>
              </a:xfrm>
            </p:grpSpPr>
            <p:sp>
              <p:nvSpPr>
                <p:cNvPr id="57433" name="Freeform 89"/>
                <p:cNvSpPr/>
                <p:nvPr/>
              </p:nvSpPr>
              <p:spPr bwMode="auto">
                <a:xfrm>
                  <a:off x="3123" y="2048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34" name="Rectangle 90"/>
                <p:cNvSpPr>
                  <a:spLocks noChangeArrowheads="1"/>
                </p:cNvSpPr>
                <p:nvPr/>
              </p:nvSpPr>
              <p:spPr bwMode="auto">
                <a:xfrm rot="5400000">
                  <a:off x="3008" y="2192"/>
                  <a:ext cx="416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>
                      <a:latin typeface="Arial" panose="020B0604020202090204" pitchFamily="34" charset="0"/>
                    </a:rPr>
                    <a:t>ALU</a:t>
                  </a:r>
                  <a:endParaRPr lang="en-US" altLang="zh-CN" sz="1200">
                    <a:latin typeface="Arial" panose="020B0604020202090204" pitchFamily="34" charset="0"/>
                  </a:endParaRPr>
                </a:p>
              </p:txBody>
            </p:sp>
          </p:grpSp>
          <p:grpSp>
            <p:nvGrpSpPr>
              <p:cNvPr id="57435" name="Group 91"/>
              <p:cNvGrpSpPr/>
              <p:nvPr/>
            </p:nvGrpSpPr>
            <p:grpSpPr bwMode="auto">
              <a:xfrm>
                <a:off x="2177" y="2144"/>
                <a:ext cx="360" cy="289"/>
                <a:chOff x="2177" y="2144"/>
                <a:chExt cx="360" cy="289"/>
              </a:xfrm>
            </p:grpSpPr>
            <p:sp>
              <p:nvSpPr>
                <p:cNvPr id="57436" name="Rectangle 92"/>
                <p:cNvSpPr>
                  <a:spLocks noChangeArrowheads="1"/>
                </p:cNvSpPr>
                <p:nvPr/>
              </p:nvSpPr>
              <p:spPr bwMode="auto">
                <a:xfrm>
                  <a:off x="2177" y="2146"/>
                  <a:ext cx="259" cy="2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lIns="67866" tIns="33338" rIns="67866" bIns="33338">
                  <a:spAutoFit/>
                </a:bodyPr>
                <a:lstStyle/>
                <a:p>
                  <a:r>
                    <a:rPr lang="en-US" altLang="zh-CN" sz="1200">
                      <a:latin typeface="Arial" panose="020B0604020202090204" pitchFamily="34" charset="0"/>
                    </a:rPr>
                    <a:t>IM</a:t>
                  </a:r>
                  <a:endParaRPr lang="en-US" altLang="zh-CN" sz="1200">
                    <a:latin typeface="Arial" panose="020B0604020202090204" pitchFamily="34" charset="0"/>
                  </a:endParaRPr>
                </a:p>
              </p:txBody>
            </p:sp>
            <p:grpSp>
              <p:nvGrpSpPr>
                <p:cNvPr id="57437" name="Group 93"/>
                <p:cNvGrpSpPr/>
                <p:nvPr/>
              </p:nvGrpSpPr>
              <p:grpSpPr bwMode="auto">
                <a:xfrm>
                  <a:off x="2197" y="2144"/>
                  <a:ext cx="340" cy="289"/>
                  <a:chOff x="2197" y="2144"/>
                  <a:chExt cx="340" cy="289"/>
                </a:xfrm>
              </p:grpSpPr>
              <p:sp>
                <p:nvSpPr>
                  <p:cNvPr id="57438" name="Freeform 94"/>
                  <p:cNvSpPr/>
                  <p:nvPr/>
                </p:nvSpPr>
                <p:spPr bwMode="auto">
                  <a:xfrm>
                    <a:off x="2197" y="2144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39" name="Freeform 95"/>
                  <p:cNvSpPr/>
                  <p:nvPr/>
                </p:nvSpPr>
                <p:spPr bwMode="auto">
                  <a:xfrm>
                    <a:off x="2366" y="2144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7440" name="Rectangle 96"/>
              <p:cNvSpPr>
                <a:spLocks noChangeArrowheads="1"/>
              </p:cNvSpPr>
              <p:nvPr/>
            </p:nvSpPr>
            <p:spPr bwMode="auto">
              <a:xfrm>
                <a:off x="2641" y="2152"/>
                <a:ext cx="351" cy="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Reg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7441" name="Group 97"/>
              <p:cNvGrpSpPr/>
              <p:nvPr/>
            </p:nvGrpSpPr>
            <p:grpSpPr bwMode="auto">
              <a:xfrm>
                <a:off x="2657" y="2144"/>
                <a:ext cx="296" cy="289"/>
                <a:chOff x="2657" y="2144"/>
                <a:chExt cx="296" cy="289"/>
              </a:xfrm>
            </p:grpSpPr>
            <p:sp>
              <p:nvSpPr>
                <p:cNvPr id="57442" name="Freeform 98"/>
                <p:cNvSpPr/>
                <p:nvPr/>
              </p:nvSpPr>
              <p:spPr bwMode="auto">
                <a:xfrm>
                  <a:off x="2657" y="2144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43" name="Freeform 99"/>
                <p:cNvSpPr/>
                <p:nvPr/>
              </p:nvSpPr>
              <p:spPr bwMode="auto">
                <a:xfrm>
                  <a:off x="2805" y="2144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44" name="Line 100"/>
              <p:cNvSpPr>
                <a:spLocks noChangeShapeType="1"/>
              </p:cNvSpPr>
              <p:nvPr/>
            </p:nvSpPr>
            <p:spPr bwMode="auto">
              <a:xfrm>
                <a:off x="2542" y="2288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45" name="Freeform 101"/>
              <p:cNvSpPr/>
              <p:nvPr/>
            </p:nvSpPr>
            <p:spPr bwMode="auto">
              <a:xfrm>
                <a:off x="2604" y="2192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46" name="Line 102"/>
              <p:cNvSpPr>
                <a:spLocks noChangeShapeType="1"/>
              </p:cNvSpPr>
              <p:nvPr/>
            </p:nvSpPr>
            <p:spPr bwMode="auto">
              <a:xfrm>
                <a:off x="2958" y="2192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47" name="Rectangle 103"/>
              <p:cNvSpPr>
                <a:spLocks noChangeArrowheads="1"/>
              </p:cNvSpPr>
              <p:nvPr/>
            </p:nvSpPr>
            <p:spPr bwMode="auto">
              <a:xfrm>
                <a:off x="3454" y="2146"/>
                <a:ext cx="316" cy="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DM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7448" name="Group 104"/>
              <p:cNvGrpSpPr/>
              <p:nvPr/>
            </p:nvGrpSpPr>
            <p:grpSpPr bwMode="auto">
              <a:xfrm>
                <a:off x="3506" y="2144"/>
                <a:ext cx="325" cy="289"/>
                <a:chOff x="3506" y="2144"/>
                <a:chExt cx="325" cy="289"/>
              </a:xfrm>
            </p:grpSpPr>
            <p:sp>
              <p:nvSpPr>
                <p:cNvPr id="57449" name="Freeform 105"/>
                <p:cNvSpPr/>
                <p:nvPr/>
              </p:nvSpPr>
              <p:spPr bwMode="auto">
                <a:xfrm>
                  <a:off x="3506" y="2144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50" name="Freeform 106"/>
                <p:cNvSpPr/>
                <p:nvPr/>
              </p:nvSpPr>
              <p:spPr bwMode="auto">
                <a:xfrm>
                  <a:off x="3667" y="2144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51" name="Rectangle 107"/>
              <p:cNvSpPr>
                <a:spLocks noChangeArrowheads="1"/>
              </p:cNvSpPr>
              <p:nvPr/>
            </p:nvSpPr>
            <p:spPr bwMode="auto">
              <a:xfrm>
                <a:off x="3950" y="2146"/>
                <a:ext cx="351" cy="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Reg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  <p:grpSp>
            <p:nvGrpSpPr>
              <p:cNvPr id="57452" name="Group 108"/>
              <p:cNvGrpSpPr/>
              <p:nvPr/>
            </p:nvGrpSpPr>
            <p:grpSpPr bwMode="auto">
              <a:xfrm>
                <a:off x="3974" y="2144"/>
                <a:ext cx="284" cy="289"/>
                <a:chOff x="3974" y="2144"/>
                <a:chExt cx="284" cy="289"/>
              </a:xfrm>
            </p:grpSpPr>
            <p:sp>
              <p:nvSpPr>
                <p:cNvPr id="57453" name="Freeform 109"/>
                <p:cNvSpPr/>
                <p:nvPr/>
              </p:nvSpPr>
              <p:spPr bwMode="auto">
                <a:xfrm>
                  <a:off x="3974" y="2144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54" name="Freeform 110"/>
                <p:cNvSpPr/>
                <p:nvPr/>
              </p:nvSpPr>
              <p:spPr bwMode="auto">
                <a:xfrm>
                  <a:off x="4115" y="2144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55" name="Line 111"/>
              <p:cNvSpPr>
                <a:spLocks noChangeShapeType="1"/>
              </p:cNvSpPr>
              <p:nvPr/>
            </p:nvSpPr>
            <p:spPr bwMode="auto">
              <a:xfrm>
                <a:off x="3827" y="2288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56" name="Line 112"/>
              <p:cNvSpPr>
                <a:spLocks noChangeShapeType="1"/>
              </p:cNvSpPr>
              <p:nvPr/>
            </p:nvSpPr>
            <p:spPr bwMode="auto">
              <a:xfrm>
                <a:off x="3343" y="2288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57" name="Freeform 113"/>
              <p:cNvSpPr/>
              <p:nvPr/>
            </p:nvSpPr>
            <p:spPr bwMode="auto">
              <a:xfrm>
                <a:off x="3464" y="2288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58" name="Line 114"/>
              <p:cNvSpPr>
                <a:spLocks noChangeShapeType="1"/>
              </p:cNvSpPr>
              <p:nvPr/>
            </p:nvSpPr>
            <p:spPr bwMode="auto">
              <a:xfrm>
                <a:off x="2958" y="238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59" name="Freeform 115"/>
              <p:cNvSpPr/>
              <p:nvPr/>
            </p:nvSpPr>
            <p:spPr bwMode="auto">
              <a:xfrm>
                <a:off x="3051" y="2283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460" name="Group 116"/>
            <p:cNvGrpSpPr/>
            <p:nvPr/>
          </p:nvGrpSpPr>
          <p:grpSpPr bwMode="auto">
            <a:xfrm>
              <a:off x="3980" y="2844"/>
              <a:ext cx="224" cy="424"/>
              <a:chOff x="3539" y="2496"/>
              <a:chExt cx="224" cy="481"/>
            </a:xfrm>
          </p:grpSpPr>
          <p:sp>
            <p:nvSpPr>
              <p:cNvPr id="57461" name="Freeform 117"/>
              <p:cNvSpPr/>
              <p:nvPr/>
            </p:nvSpPr>
            <p:spPr bwMode="auto">
              <a:xfrm>
                <a:off x="3550" y="2496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62" name="Rectangle 118"/>
              <p:cNvSpPr>
                <a:spLocks noChangeArrowheads="1"/>
              </p:cNvSpPr>
              <p:nvPr/>
            </p:nvSpPr>
            <p:spPr bwMode="auto">
              <a:xfrm rot="5400000">
                <a:off x="3437" y="2641"/>
                <a:ext cx="415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67866" tIns="33338" rIns="67866" bIns="33338">
                <a:spAutoFit/>
              </a:bodyPr>
              <a:lstStyle/>
              <a:p>
                <a:r>
                  <a:rPr lang="en-US" altLang="zh-CN" sz="1200">
                    <a:latin typeface="Arial" panose="020B0604020202090204" pitchFamily="34" charset="0"/>
                  </a:rPr>
                  <a:t>ALU</a:t>
                </a:r>
                <a:endParaRPr lang="en-US" altLang="zh-CN" sz="1200">
                  <a:latin typeface="Arial" panose="020B0604020202090204" pitchFamily="34" charset="0"/>
                </a:endParaRPr>
              </a:p>
            </p:txBody>
          </p:sp>
        </p:grpSp>
        <p:sp>
          <p:nvSpPr>
            <p:cNvPr id="57463" name="Rectangle 119"/>
            <p:cNvSpPr>
              <a:spLocks noChangeArrowheads="1"/>
            </p:cNvSpPr>
            <p:nvPr/>
          </p:nvSpPr>
          <p:spPr bwMode="auto">
            <a:xfrm>
              <a:off x="3509" y="2935"/>
              <a:ext cx="35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Reg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grpSp>
          <p:nvGrpSpPr>
            <p:cNvPr id="57464" name="Group 120"/>
            <p:cNvGrpSpPr/>
            <p:nvPr/>
          </p:nvGrpSpPr>
          <p:grpSpPr bwMode="auto">
            <a:xfrm>
              <a:off x="3525" y="2929"/>
              <a:ext cx="296" cy="254"/>
              <a:chOff x="3084" y="2592"/>
              <a:chExt cx="296" cy="289"/>
            </a:xfrm>
          </p:grpSpPr>
          <p:sp>
            <p:nvSpPr>
              <p:cNvPr id="57465" name="Freeform 121"/>
              <p:cNvSpPr/>
              <p:nvPr/>
            </p:nvSpPr>
            <p:spPr bwMode="auto">
              <a:xfrm>
                <a:off x="3084" y="2592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66" name="Freeform 122"/>
              <p:cNvSpPr/>
              <p:nvPr/>
            </p:nvSpPr>
            <p:spPr bwMode="auto">
              <a:xfrm>
                <a:off x="3232" y="2592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467" name="Line 123"/>
            <p:cNvSpPr>
              <a:spLocks noChangeShapeType="1"/>
            </p:cNvSpPr>
            <p:nvPr/>
          </p:nvSpPr>
          <p:spPr bwMode="auto">
            <a:xfrm>
              <a:off x="3410" y="305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68" name="Freeform 124"/>
            <p:cNvSpPr/>
            <p:nvPr/>
          </p:nvSpPr>
          <p:spPr bwMode="auto">
            <a:xfrm>
              <a:off x="3472" y="2971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69" name="Line 125"/>
            <p:cNvSpPr>
              <a:spLocks noChangeShapeType="1"/>
            </p:cNvSpPr>
            <p:nvPr/>
          </p:nvSpPr>
          <p:spPr bwMode="auto">
            <a:xfrm>
              <a:off x="3826" y="2971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70" name="Rectangle 126"/>
            <p:cNvSpPr>
              <a:spLocks noChangeArrowheads="1"/>
            </p:cNvSpPr>
            <p:nvPr/>
          </p:nvSpPr>
          <p:spPr bwMode="auto">
            <a:xfrm>
              <a:off x="4322" y="2931"/>
              <a:ext cx="31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DM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grpSp>
          <p:nvGrpSpPr>
            <p:cNvPr id="57471" name="Group 127"/>
            <p:cNvGrpSpPr/>
            <p:nvPr/>
          </p:nvGrpSpPr>
          <p:grpSpPr bwMode="auto">
            <a:xfrm>
              <a:off x="4374" y="2929"/>
              <a:ext cx="325" cy="254"/>
              <a:chOff x="3933" y="2592"/>
              <a:chExt cx="325" cy="289"/>
            </a:xfrm>
          </p:grpSpPr>
          <p:sp>
            <p:nvSpPr>
              <p:cNvPr id="57472" name="Freeform 128"/>
              <p:cNvSpPr/>
              <p:nvPr/>
            </p:nvSpPr>
            <p:spPr bwMode="auto">
              <a:xfrm>
                <a:off x="3933" y="2592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73" name="Freeform 129"/>
              <p:cNvSpPr/>
              <p:nvPr/>
            </p:nvSpPr>
            <p:spPr bwMode="auto">
              <a:xfrm>
                <a:off x="4094" y="2592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474" name="Rectangle 130"/>
            <p:cNvSpPr>
              <a:spLocks noChangeArrowheads="1"/>
            </p:cNvSpPr>
            <p:nvPr/>
          </p:nvSpPr>
          <p:spPr bwMode="auto">
            <a:xfrm>
              <a:off x="4818" y="2931"/>
              <a:ext cx="35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/>
            <a:p>
              <a:r>
                <a:rPr lang="en-US" altLang="zh-CN" sz="1200">
                  <a:latin typeface="Arial" panose="020B0604020202090204" pitchFamily="34" charset="0"/>
                </a:rPr>
                <a:t>Reg</a:t>
              </a:r>
              <a:endParaRPr lang="en-US" altLang="zh-CN" sz="1200">
                <a:latin typeface="Arial" panose="020B0604020202090204" pitchFamily="34" charset="0"/>
              </a:endParaRPr>
            </a:p>
          </p:txBody>
        </p:sp>
        <p:grpSp>
          <p:nvGrpSpPr>
            <p:cNvPr id="57475" name="Group 131"/>
            <p:cNvGrpSpPr/>
            <p:nvPr/>
          </p:nvGrpSpPr>
          <p:grpSpPr bwMode="auto">
            <a:xfrm>
              <a:off x="4842" y="2929"/>
              <a:ext cx="284" cy="254"/>
              <a:chOff x="4401" y="2592"/>
              <a:chExt cx="284" cy="289"/>
            </a:xfrm>
          </p:grpSpPr>
          <p:sp>
            <p:nvSpPr>
              <p:cNvPr id="57476" name="Freeform 132"/>
              <p:cNvSpPr/>
              <p:nvPr/>
            </p:nvSpPr>
            <p:spPr bwMode="auto">
              <a:xfrm>
                <a:off x="4401" y="2592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77" name="Freeform 133"/>
              <p:cNvSpPr/>
              <p:nvPr/>
            </p:nvSpPr>
            <p:spPr bwMode="auto">
              <a:xfrm>
                <a:off x="4542" y="2592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478" name="Line 134"/>
            <p:cNvSpPr>
              <a:spLocks noChangeShapeType="1"/>
            </p:cNvSpPr>
            <p:nvPr/>
          </p:nvSpPr>
          <p:spPr bwMode="auto">
            <a:xfrm>
              <a:off x="4695" y="3056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79" name="Line 135"/>
            <p:cNvSpPr>
              <a:spLocks noChangeShapeType="1"/>
            </p:cNvSpPr>
            <p:nvPr/>
          </p:nvSpPr>
          <p:spPr bwMode="auto">
            <a:xfrm>
              <a:off x="4211" y="3056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80" name="Freeform 136"/>
            <p:cNvSpPr/>
            <p:nvPr/>
          </p:nvSpPr>
          <p:spPr bwMode="auto">
            <a:xfrm>
              <a:off x="4332" y="3056"/>
              <a:ext cx="431" cy="169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81" name="Line 137"/>
            <p:cNvSpPr>
              <a:spLocks noChangeShapeType="1"/>
            </p:cNvSpPr>
            <p:nvPr/>
          </p:nvSpPr>
          <p:spPr bwMode="auto">
            <a:xfrm>
              <a:off x="3826" y="3140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82" name="Freeform 138"/>
            <p:cNvSpPr/>
            <p:nvPr/>
          </p:nvSpPr>
          <p:spPr bwMode="auto">
            <a:xfrm>
              <a:off x="3919" y="3051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805830"/>
            <a:ext cx="7924800" cy="3314700"/>
          </a:xfrm>
        </p:spPr>
        <p:txBody>
          <a:bodyPr/>
          <a:lstStyle/>
          <a:p>
            <a:r>
              <a:rPr lang="en-US" altLang="zh-CN" dirty="0"/>
              <a:t>allow </a:t>
            </a:r>
            <a:r>
              <a:rPr lang="en-US" altLang="zh-CN" dirty="0">
                <a:solidFill>
                  <a:srgbClr val="FF0000"/>
                </a:solidFill>
              </a:rPr>
              <a:t>WRITE-then-READ</a:t>
            </a:r>
            <a:r>
              <a:rPr lang="en-US" altLang="zh-CN" dirty="0"/>
              <a:t> in one clock cycle (double pump)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Two reads and one write required per clock.</a:t>
            </a:r>
            <a:endParaRPr lang="en-US" altLang="zh-CN" dirty="0"/>
          </a:p>
          <a:p>
            <a:pPr lvl="1"/>
            <a:r>
              <a:rPr lang="en-US" altLang="zh-CN" dirty="0"/>
              <a:t>Need to provide two read port and one write port. </a:t>
            </a:r>
            <a:endParaRPr lang="en-US" altLang="zh-CN" dirty="0"/>
          </a:p>
          <a:p>
            <a:r>
              <a:rPr lang="en-US" altLang="zh-CN" dirty="0"/>
              <a:t>What happens when a read and a write occur to the same register ?  ( Data hazard )</a:t>
            </a:r>
            <a:endParaRPr lang="en-US" altLang="zh-CN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Sometimes we can redesign the resource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400800" y="4686300"/>
            <a:ext cx="1600200" cy="342900"/>
          </a:xfrm>
          <a:prstGeom prst="rect">
            <a:avLst/>
          </a:prstGeom>
        </p:spPr>
        <p:txBody>
          <a:bodyPr/>
          <a:lstStyle/>
          <a:p>
            <a:fld id="{B2158F8B-6551-436E-B24C-AEA07C295253}" type="slidenum">
              <a:rPr lang="en-US" altLang="zh-CN"/>
            </a:fld>
            <a:endParaRPr lang="en-US" altLang="zh-CN"/>
          </a:p>
        </p:txBody>
      </p:sp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624" y="1275606"/>
            <a:ext cx="5257800" cy="19431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71450"/>
            <a:ext cx="6000750" cy="742950"/>
          </a:xfrm>
        </p:spPr>
        <p:txBody>
          <a:bodyPr/>
          <a:lstStyle/>
          <a:p>
            <a:r>
              <a:rPr lang="en-US" altLang="zh-CN" dirty="0"/>
              <a:t>Not fully pipelined function unit : </a:t>
            </a:r>
            <a:br>
              <a:rPr lang="en-US" altLang="zh-CN" dirty="0"/>
            </a:br>
            <a:r>
              <a:rPr lang="en-US" altLang="zh-CN" dirty="0"/>
              <a:t>may cause structural hazard </a:t>
            </a:r>
            <a:endParaRPr lang="en-US" altLang="zh-CN" dirty="0"/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1143000" y="771550"/>
          <a:ext cx="6572250" cy="377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Document" r:id="rId1" imgW="8125460" imgH="5035550" progId="Word.Document.8">
                  <p:embed/>
                </p:oleObj>
              </mc:Choice>
              <mc:Fallback>
                <p:oleObj name="Document" r:id="rId1" imgW="8125460" imgH="503555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771550"/>
                        <a:ext cx="6572250" cy="3775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Example (pA-14)</a:t>
            </a:r>
            <a:endParaRPr lang="en-US" altLang="zh-CN" dirty="0"/>
          </a:p>
          <a:p>
            <a:pPr lvl="1"/>
            <a:r>
              <a:rPr lang="en-US" altLang="zh-CN" dirty="0"/>
              <a:t>Data reference constitute 40% of the mix</a:t>
            </a:r>
            <a:endParaRPr lang="en-US" altLang="zh-CN" dirty="0"/>
          </a:p>
          <a:p>
            <a:pPr lvl="1"/>
            <a:r>
              <a:rPr lang="en-US" altLang="zh-CN" dirty="0"/>
              <a:t>Ideal CPI ignoring the structural hazard is 1</a:t>
            </a:r>
            <a:endParaRPr lang="en-US" altLang="zh-CN" dirty="0"/>
          </a:p>
          <a:p>
            <a:pPr lvl="1"/>
            <a:r>
              <a:rPr lang="en-US" altLang="zh-CN" dirty="0"/>
              <a:t>The processor with the structural hazard has a clock rate that is 1.05 times higher than that of a processor without structural hazard.</a:t>
            </a:r>
            <a:endParaRPr lang="en-US" altLang="zh-CN" dirty="0"/>
          </a:p>
          <a:p>
            <a:r>
              <a:rPr lang="en-US" altLang="zh-CN" dirty="0"/>
              <a:t>Answer</a:t>
            </a:r>
            <a:endParaRPr lang="en-US" altLang="zh-CN" dirty="0"/>
          </a:p>
          <a:p>
            <a:pPr lvl="1"/>
            <a:r>
              <a:rPr lang="en-US" altLang="zh-CN" dirty="0"/>
              <a:t>Average instruction time = </a:t>
            </a:r>
            <a:r>
              <a:rPr lang="en-US" altLang="zh-CN" dirty="0" err="1"/>
              <a:t>CPI</a:t>
            </a:r>
            <a:r>
              <a:rPr lang="en-US" altLang="zh-CN" dirty="0" err="1">
                <a:sym typeface="Symbol" pitchFamily="18" charset="2"/>
              </a:rPr>
              <a:t>Clock</a:t>
            </a:r>
            <a:r>
              <a:rPr lang="en-US" altLang="zh-CN" dirty="0">
                <a:sym typeface="Symbol" pitchFamily="18" charset="2"/>
              </a:rPr>
              <a:t> cycle time</a:t>
            </a:r>
            <a:endParaRPr lang="en-US" altLang="zh-CN" dirty="0">
              <a:sym typeface="Symbol" pitchFamily="18" charset="2"/>
            </a:endParaRPr>
          </a:p>
          <a:p>
            <a:pPr lvl="1"/>
            <a:r>
              <a:rPr lang="en-US" altLang="zh-CN" dirty="0">
                <a:sym typeface="Symbol" pitchFamily="18" charset="2"/>
              </a:rPr>
              <a:t>                                           =(1+0.4 1) </a:t>
            </a:r>
            <a:r>
              <a:rPr lang="en-US" altLang="zh-CN" dirty="0" err="1">
                <a:sym typeface="Symbol" pitchFamily="18" charset="2"/>
              </a:rPr>
              <a:t>CC</a:t>
            </a:r>
            <a:r>
              <a:rPr lang="en-US" altLang="zh-CN" baseline="-25000" dirty="0" err="1">
                <a:sym typeface="Symbol" pitchFamily="18" charset="2"/>
              </a:rPr>
              <a:t>ideal</a:t>
            </a:r>
            <a:r>
              <a:rPr lang="en-US" altLang="zh-CN" dirty="0">
                <a:sym typeface="Symbol" pitchFamily="18" charset="2"/>
              </a:rPr>
              <a:t>/1.05</a:t>
            </a:r>
            <a:endParaRPr lang="en-US" altLang="zh-CN" dirty="0">
              <a:sym typeface="Symbol" pitchFamily="18" charset="2"/>
            </a:endParaRPr>
          </a:p>
          <a:p>
            <a:pPr lvl="1"/>
            <a:r>
              <a:rPr lang="en-US" altLang="zh-CN" dirty="0">
                <a:sym typeface="Symbol" pitchFamily="18" charset="2"/>
              </a:rPr>
              <a:t>                                           = 1.3  </a:t>
            </a:r>
            <a:r>
              <a:rPr lang="en-US" altLang="zh-CN" dirty="0" err="1">
                <a:sym typeface="Symbol" pitchFamily="18" charset="2"/>
              </a:rPr>
              <a:t>CC</a:t>
            </a:r>
            <a:r>
              <a:rPr lang="en-US" altLang="zh-CN" baseline="-25000" dirty="0" err="1">
                <a:sym typeface="Symbol" pitchFamily="18" charset="2"/>
              </a:rPr>
              <a:t>ideal</a:t>
            </a:r>
            <a:endParaRPr lang="en-US" altLang="zh-CN" baseline="-25000" dirty="0">
              <a:sym typeface="Symbol" pitchFamily="18" charset="2"/>
            </a:endParaRPr>
          </a:p>
          <a:p>
            <a:pPr lvl="1"/>
            <a:r>
              <a:rPr lang="en-US" altLang="zh-CN" dirty="0">
                <a:sym typeface="Symbol" pitchFamily="18" charset="2"/>
              </a:rPr>
              <a:t>Clearly, </a:t>
            </a:r>
            <a:r>
              <a:rPr lang="en-US" altLang="zh-CN" b="1" dirty="0">
                <a:sym typeface="Symbol" pitchFamily="18" charset="2"/>
              </a:rPr>
              <a:t>the processor without the structural hazard is faster</a:t>
            </a:r>
            <a:r>
              <a:rPr lang="en-US" altLang="zh-CN" dirty="0">
                <a:sym typeface="Symbol" pitchFamily="18" charset="2"/>
              </a:rPr>
              <a:t>.</a:t>
            </a:r>
            <a:endParaRPr lang="en-US" altLang="zh-CN" dirty="0">
              <a:sym typeface="Symbol" pitchFamily="18" charset="2"/>
            </a:endParaRPr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500" dirty="0"/>
              <a:t>Machine without structural hazards will always have a lower CPI</a:t>
            </a:r>
            <a:endParaRPr lang="en-US" altLang="zh-CN" sz="1500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To reduce cost. </a:t>
            </a:r>
            <a:endParaRPr lang="en-US" altLang="zh-CN" b="1" dirty="0"/>
          </a:p>
          <a:p>
            <a:pPr lvl="1"/>
            <a:r>
              <a:rPr lang="en-US" altLang="zh-CN" dirty="0"/>
              <a:t>i.e. adding split caches, requires twice the memory bandwidth. </a:t>
            </a:r>
            <a:endParaRPr lang="en-US" altLang="zh-CN" dirty="0"/>
          </a:p>
          <a:p>
            <a:pPr lvl="1"/>
            <a:r>
              <a:rPr lang="en-US" altLang="zh-CN" dirty="0"/>
              <a:t>also fully pipelined floating point units costs lots of gates. </a:t>
            </a:r>
            <a:endParaRPr lang="en-US" altLang="zh-CN" dirty="0"/>
          </a:p>
          <a:p>
            <a:pPr lvl="1"/>
            <a:r>
              <a:rPr lang="en-US" altLang="zh-CN" dirty="0"/>
              <a:t>It is not worth the cost if the hazard does not occur very often. </a:t>
            </a:r>
            <a:endParaRPr lang="en-US" altLang="zh-CN" dirty="0"/>
          </a:p>
          <a:p>
            <a:r>
              <a:rPr lang="en-US" altLang="zh-CN" b="1" dirty="0"/>
              <a:t>To reduce latency of the unit. </a:t>
            </a:r>
            <a:endParaRPr lang="en-US" altLang="zh-CN" b="1" dirty="0"/>
          </a:p>
          <a:p>
            <a:pPr lvl="1"/>
            <a:r>
              <a:rPr lang="en-US" altLang="zh-CN" dirty="0"/>
              <a:t>Making functional units pipelined adds delay </a:t>
            </a:r>
            <a:endParaRPr lang="en-US" altLang="zh-CN" dirty="0"/>
          </a:p>
          <a:p>
            <a:pPr lvl="1"/>
            <a:r>
              <a:rPr lang="en-US" altLang="zh-CN" dirty="0"/>
              <a:t>         (pipeline overhead -&gt; registers.) </a:t>
            </a:r>
            <a:endParaRPr lang="en-US" altLang="zh-CN" dirty="0"/>
          </a:p>
          <a:p>
            <a:pPr lvl="1"/>
            <a:r>
              <a:rPr lang="en-US" altLang="zh-CN" dirty="0"/>
              <a:t>An unpipelined version may require fewer clocks per operation. </a:t>
            </a:r>
            <a:endParaRPr lang="en-US" altLang="zh-CN" dirty="0"/>
          </a:p>
          <a:p>
            <a:pPr lvl="1"/>
            <a:r>
              <a:rPr lang="en-US" altLang="zh-CN" dirty="0"/>
              <a:t>Reducing latency has other performance benefits, as we will see.</a:t>
            </a:r>
            <a:endParaRPr lang="en-US" altLang="zh-CN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Why allow machine with structural hazard ?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altLang="zh-CN" dirty="0"/>
          </a:p>
          <a:p>
            <a:pPr lvl="1"/>
            <a:r>
              <a:rPr lang="en-US" altLang="zh-CN" dirty="0"/>
              <a:t>Many machines have unpipelined float-point multiplier.</a:t>
            </a:r>
            <a:endParaRPr lang="en-US" altLang="zh-CN" dirty="0"/>
          </a:p>
          <a:p>
            <a:pPr lvl="1"/>
            <a:r>
              <a:rPr lang="en-US" altLang="zh-CN" dirty="0"/>
              <a:t>The function unit time of FP multiplier is 6 clock cycles</a:t>
            </a:r>
            <a:endParaRPr lang="en-US" altLang="zh-CN" dirty="0"/>
          </a:p>
          <a:p>
            <a:pPr lvl="1"/>
            <a:r>
              <a:rPr lang="en-US" altLang="zh-CN" dirty="0"/>
              <a:t>FP multiply has a frequency of 14% in a </a:t>
            </a:r>
            <a:r>
              <a:rPr lang="en-US" altLang="zh-CN" dirty="0" err="1"/>
              <a:t>SPECfp</a:t>
            </a:r>
            <a:r>
              <a:rPr lang="en-US" altLang="zh-CN" dirty="0"/>
              <a:t> benchmark</a:t>
            </a:r>
            <a:endParaRPr lang="en-US" altLang="zh-CN" dirty="0"/>
          </a:p>
          <a:p>
            <a:pPr lvl="1"/>
            <a:r>
              <a:rPr lang="en-US" altLang="zh-CN" dirty="0"/>
              <a:t>Will the structural </a:t>
            </a:r>
            <a:r>
              <a:rPr lang="en-US" altLang="zh-CN" dirty="0" err="1"/>
              <a:t>hzard</a:t>
            </a:r>
            <a:r>
              <a:rPr lang="en-US" altLang="zh-CN" dirty="0"/>
              <a:t> have a large performance impact on the </a:t>
            </a:r>
            <a:r>
              <a:rPr lang="en-US" altLang="zh-CN" dirty="0" err="1"/>
              <a:t>SPECfp</a:t>
            </a:r>
            <a:r>
              <a:rPr lang="en-US" altLang="zh-CN" dirty="0"/>
              <a:t> benchmark?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500" dirty="0"/>
              <a:t>Example: impact of structural hazard to performance</a:t>
            </a:r>
            <a:endParaRPr lang="en-US" altLang="zh-CN" sz="1500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In the best case</a:t>
            </a:r>
            <a:r>
              <a:rPr lang="en-US" altLang="zh-CN" dirty="0"/>
              <a:t>: FP multiplies are distributed uniformly.</a:t>
            </a:r>
            <a:endParaRPr lang="en-US" altLang="zh-CN" dirty="0"/>
          </a:p>
          <a:p>
            <a:pPr lvl="1"/>
            <a:r>
              <a:rPr lang="en-US" altLang="zh-CN" dirty="0"/>
              <a:t>There is one multiply in every 7 clock.    1/14%</a:t>
            </a:r>
            <a:endParaRPr lang="en-US" altLang="zh-CN" dirty="0"/>
          </a:p>
          <a:p>
            <a:pPr lvl="1"/>
            <a:r>
              <a:rPr lang="en-US" altLang="zh-CN" dirty="0"/>
              <a:t>Then there will be no structural hazard, then there is no performance penalty at all.</a:t>
            </a:r>
            <a:endParaRPr lang="en-US" altLang="zh-CN" dirty="0"/>
          </a:p>
          <a:p>
            <a:r>
              <a:rPr lang="en-US" altLang="zh-CN" b="1" dirty="0"/>
              <a:t>In the worst case</a:t>
            </a:r>
            <a:r>
              <a:rPr lang="en-US" altLang="zh-CN" dirty="0"/>
              <a:t>: the multiplies are all clustered with no intervening instructions.</a:t>
            </a:r>
            <a:endParaRPr lang="en-US" altLang="zh-CN" dirty="0"/>
          </a:p>
          <a:p>
            <a:pPr lvl="1"/>
            <a:r>
              <a:rPr lang="en-US" altLang="zh-CN" dirty="0"/>
              <a:t>Then every multiply instruction have to stall 5 clock cycles to wait for the multiplier be released. </a:t>
            </a:r>
            <a:endParaRPr lang="en-US" altLang="zh-CN" dirty="0"/>
          </a:p>
          <a:p>
            <a:pPr lvl="1"/>
            <a:r>
              <a:rPr lang="en-US" altLang="zh-CN" dirty="0"/>
              <a:t>The CPI will increase 70% to 1.7, if the ideal CPI is 1. </a:t>
            </a:r>
            <a:endParaRPr lang="en-US" altLang="zh-CN" dirty="0"/>
          </a:p>
          <a:p>
            <a:r>
              <a:rPr lang="en-US" altLang="zh-CN" dirty="0"/>
              <a:t>Experiment result:</a:t>
            </a:r>
            <a:endParaRPr lang="en-US" altLang="zh-CN" dirty="0"/>
          </a:p>
          <a:p>
            <a:pPr lvl="1"/>
            <a:r>
              <a:rPr lang="en-US" altLang="zh-CN" dirty="0"/>
              <a:t>This structural hazard increase execution time by less than </a:t>
            </a:r>
            <a:r>
              <a:rPr lang="en-US" altLang="zh-CN" b="1" dirty="0"/>
              <a:t>3%</a:t>
            </a:r>
            <a:r>
              <a:rPr lang="en-US" altLang="zh-CN" dirty="0"/>
              <a:t>. </a:t>
            </a:r>
            <a:endParaRPr lang="en-US" altLang="zh-CN" dirty="0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Answer to the example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3300"/>
                </a:solidFill>
                <a:ea typeface="楷体_GB2312" pitchFamily="49" charset="-122"/>
              </a:rPr>
              <a:t>Data hazards</a:t>
            </a:r>
            <a:r>
              <a:rPr lang="en-US" altLang="zh-CN" dirty="0"/>
              <a:t> occur when the pipeline changes the order of read/write accesses to operands comparing with that in  sequential executing .</a:t>
            </a:r>
            <a:endParaRPr lang="en-US" altLang="zh-CN" dirty="0"/>
          </a:p>
          <a:p>
            <a:r>
              <a:rPr lang="en-US" altLang="zh-CN" dirty="0"/>
              <a:t>Let’s see an Example</a:t>
            </a:r>
            <a:endParaRPr lang="en-US" altLang="zh-CN" dirty="0"/>
          </a:p>
          <a:p>
            <a:pPr lvl="1">
              <a:buFontTx/>
              <a:buNone/>
            </a:pPr>
            <a:r>
              <a:rPr lang="en-US" altLang="zh-CN" sz="1800" dirty="0"/>
              <a:t>DADD </a:t>
            </a:r>
            <a:r>
              <a:rPr lang="en-US" altLang="zh-CN" sz="1800" dirty="0">
                <a:solidFill>
                  <a:srgbClr val="FF0000"/>
                </a:solidFill>
              </a:rPr>
              <a:t>R1</a:t>
            </a:r>
            <a:r>
              <a:rPr lang="en-US" altLang="zh-CN" sz="1800" dirty="0"/>
              <a:t>,   R1, R3</a:t>
            </a:r>
            <a:endParaRPr lang="en-US" altLang="zh-CN" sz="1800" dirty="0"/>
          </a:p>
          <a:p>
            <a:pPr lvl="1">
              <a:buFontTx/>
              <a:buNone/>
            </a:pPr>
            <a:r>
              <a:rPr lang="en-US" altLang="zh-CN" sz="1800" dirty="0"/>
              <a:t>DSUB R4,   </a:t>
            </a:r>
            <a:r>
              <a:rPr lang="en-US" altLang="zh-CN" sz="1800" dirty="0">
                <a:solidFill>
                  <a:srgbClr val="FF0000"/>
                </a:solidFill>
              </a:rPr>
              <a:t>R1</a:t>
            </a:r>
            <a:r>
              <a:rPr lang="en-US" altLang="zh-CN" sz="1800" dirty="0"/>
              <a:t>, R5</a:t>
            </a:r>
            <a:endParaRPr lang="en-US" altLang="zh-CN" sz="1800" dirty="0"/>
          </a:p>
          <a:p>
            <a:pPr lvl="1">
              <a:buFontTx/>
              <a:buNone/>
            </a:pPr>
            <a:r>
              <a:rPr lang="en-US" altLang="zh-CN" sz="1800" dirty="0"/>
              <a:t>AND   R6,   </a:t>
            </a:r>
            <a:r>
              <a:rPr lang="en-US" altLang="zh-CN" sz="1800" dirty="0">
                <a:solidFill>
                  <a:srgbClr val="FF0000"/>
                </a:solidFill>
              </a:rPr>
              <a:t>R1</a:t>
            </a:r>
            <a:r>
              <a:rPr lang="en-US" altLang="zh-CN" sz="1800" dirty="0"/>
              <a:t>, R7</a:t>
            </a:r>
            <a:endParaRPr lang="en-US" altLang="zh-CN" sz="1800" dirty="0"/>
          </a:p>
          <a:p>
            <a:pPr lvl="1">
              <a:buFontTx/>
              <a:buNone/>
            </a:pPr>
            <a:r>
              <a:rPr lang="en-US" altLang="zh-CN" sz="1800" dirty="0"/>
              <a:t>OR      R8,   </a:t>
            </a:r>
            <a:r>
              <a:rPr lang="en-US" altLang="zh-CN" sz="1800" dirty="0">
                <a:solidFill>
                  <a:srgbClr val="FF0000"/>
                </a:solidFill>
              </a:rPr>
              <a:t>R1</a:t>
            </a:r>
            <a:r>
              <a:rPr lang="en-US" altLang="zh-CN" sz="1800" dirty="0"/>
              <a:t>, R9</a:t>
            </a:r>
            <a:endParaRPr lang="en-US" altLang="zh-CN" sz="1800" dirty="0"/>
          </a:p>
          <a:p>
            <a:pPr lvl="1">
              <a:buFontTx/>
              <a:buNone/>
            </a:pPr>
            <a:r>
              <a:rPr lang="en-US" altLang="zh-CN" sz="1800" dirty="0"/>
              <a:t>XOR    R10, </a:t>
            </a:r>
            <a:r>
              <a:rPr lang="en-US" altLang="zh-CN" sz="1800" dirty="0">
                <a:solidFill>
                  <a:srgbClr val="FF0000"/>
                </a:solidFill>
              </a:rPr>
              <a:t>R1</a:t>
            </a:r>
            <a:r>
              <a:rPr lang="en-US" altLang="zh-CN" sz="1800" dirty="0"/>
              <a:t>, R11</a:t>
            </a:r>
            <a:endParaRPr lang="en-US" altLang="zh-CN" sz="1800" dirty="0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 hazard 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Coping with data hazards:example</a:t>
            </a:r>
            <a:endParaRPr lang="en-US" altLang="zh-CN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1371600" y="789552"/>
          <a:ext cx="6400800" cy="37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Picture" r:id="rId1" imgW="4467225" imgH="2752725" progId="Word.Picture.8">
                  <p:embed/>
                </p:oleObj>
              </mc:Choice>
              <mc:Fallback>
                <p:oleObj name="Picture" r:id="rId1" imgW="4467225" imgH="2752725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789552"/>
                        <a:ext cx="6400800" cy="371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681540"/>
            <a:ext cx="7819936" cy="4158462"/>
          </a:xfrm>
        </p:spPr>
        <p:txBody>
          <a:bodyPr/>
          <a:lstStyle/>
          <a:p>
            <a:r>
              <a:rPr lang="en-US" altLang="zh-CN" b="1" dirty="0"/>
              <a:t>Basic structure</a:t>
            </a:r>
            <a:endParaRPr lang="en-US" altLang="zh-CN" b="1" dirty="0"/>
          </a:p>
          <a:p>
            <a:pPr lvl="1"/>
            <a:r>
              <a:rPr lang="en-US" altLang="zh-CN" dirty="0"/>
              <a:t>An instruction in flight wants to use a data value that’s </a:t>
            </a:r>
            <a:r>
              <a:rPr lang="en-US" altLang="zh-CN" b="1" dirty="0"/>
              <a:t>not</a:t>
            </a:r>
            <a:r>
              <a:rPr lang="en-US" altLang="zh-CN" dirty="0"/>
              <a:t> “</a:t>
            </a:r>
            <a:r>
              <a:rPr lang="en-US" altLang="zh-CN" b="1" dirty="0"/>
              <a:t>done</a:t>
            </a:r>
            <a:r>
              <a:rPr lang="en-US" altLang="zh-CN" dirty="0"/>
              <a:t>” yet</a:t>
            </a:r>
            <a:endParaRPr lang="en-US" altLang="zh-CN" dirty="0"/>
          </a:p>
          <a:p>
            <a:pPr lvl="1"/>
            <a:r>
              <a:rPr lang="en-US" altLang="zh-CN" dirty="0"/>
              <a:t>“</a:t>
            </a:r>
            <a:r>
              <a:rPr lang="en-US" altLang="zh-CN" b="1" dirty="0"/>
              <a:t>Done</a:t>
            </a:r>
            <a:r>
              <a:rPr lang="en-US" altLang="zh-CN" dirty="0"/>
              <a:t>” means “it’s been computed” and “it’s located where I would normally expect to go look in the pipe hardware to find it”</a:t>
            </a:r>
            <a:endParaRPr lang="en-US" altLang="zh-CN" dirty="0"/>
          </a:p>
          <a:p>
            <a:r>
              <a:rPr lang="en-US" altLang="zh-CN" b="1" dirty="0"/>
              <a:t>Basic cause</a:t>
            </a:r>
            <a:endParaRPr lang="en-US" altLang="zh-CN" b="1" dirty="0"/>
          </a:p>
          <a:p>
            <a:pPr lvl="1"/>
            <a:r>
              <a:rPr lang="en-US" altLang="zh-CN" dirty="0"/>
              <a:t>You are used to assuming a purely sequential model of instruction execution</a:t>
            </a:r>
            <a:endParaRPr lang="en-US" altLang="zh-CN" dirty="0"/>
          </a:p>
          <a:p>
            <a:pPr lvl="1"/>
            <a:r>
              <a:rPr lang="en-US" altLang="zh-CN" dirty="0"/>
              <a:t>Instruction N finishes before instruction </a:t>
            </a:r>
            <a:r>
              <a:rPr lang="en-US" altLang="zh-CN" dirty="0" err="1"/>
              <a:t>N+k</a:t>
            </a:r>
            <a:r>
              <a:rPr lang="en-US" altLang="zh-CN" dirty="0"/>
              <a:t>, for k &gt;= 1</a:t>
            </a:r>
            <a:endParaRPr lang="en-US" altLang="zh-CN" dirty="0"/>
          </a:p>
          <a:p>
            <a:pPr lvl="1"/>
            <a:r>
              <a:rPr lang="en-US" altLang="zh-CN" dirty="0"/>
              <a:t>There are </a:t>
            </a:r>
            <a:r>
              <a:rPr lang="en-US" altLang="zh-CN" b="1" dirty="0"/>
              <a:t>dependencies</a:t>
            </a:r>
            <a:r>
              <a:rPr lang="en-US" altLang="zh-CN" dirty="0"/>
              <a:t> </a:t>
            </a:r>
            <a:r>
              <a:rPr lang="en-US" altLang="zh-CN" b="1" dirty="0"/>
              <a:t>now</a:t>
            </a:r>
            <a:r>
              <a:rPr lang="en-US" altLang="zh-CN" dirty="0"/>
              <a:t> </a:t>
            </a:r>
            <a:r>
              <a:rPr lang="en-US" altLang="zh-CN" b="1" dirty="0"/>
              <a:t>between “nearby” instructions </a:t>
            </a:r>
            <a:r>
              <a:rPr lang="en-US" altLang="zh-CN" dirty="0"/>
              <a:t>(“near” in sequential order of fetch from memory)</a:t>
            </a:r>
            <a:endParaRPr lang="en-US" altLang="zh-CN" dirty="0"/>
          </a:p>
          <a:p>
            <a:r>
              <a:rPr lang="en-US" altLang="zh-CN" b="1" dirty="0"/>
              <a:t>Consequence</a:t>
            </a:r>
            <a:endParaRPr lang="en-US" altLang="zh-CN" b="1" dirty="0"/>
          </a:p>
          <a:p>
            <a:pPr lvl="1"/>
            <a:r>
              <a:rPr lang="en-US" altLang="zh-CN" dirty="0"/>
              <a:t>Data hazards -- instructions want data values that are not done yet, or in the right place yet</a:t>
            </a:r>
            <a:endParaRPr lang="en-US" altLang="zh-CN" dirty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 hazard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Somecases “Double Bump” can do !</a:t>
            </a:r>
            <a:endParaRPr lang="en-US" altLang="zh-CN"/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1402743" y="789552"/>
          <a:ext cx="6400800" cy="37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Picture" r:id="rId1" imgW="4467225" imgH="2752725" progId="Word.Picture.8">
                  <p:embed/>
                </p:oleObj>
              </mc:Choice>
              <mc:Fallback>
                <p:oleObj name="Picture" r:id="rId1" imgW="4467225" imgH="2752725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743" y="789552"/>
                        <a:ext cx="6400800" cy="371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Proposed solution</a:t>
            </a:r>
            <a:endParaRPr lang="en-US" altLang="zh-CN" b="1" dirty="0"/>
          </a:p>
          <a:p>
            <a:pPr lvl="1"/>
            <a:r>
              <a:rPr lang="en-US" altLang="zh-CN" b="1" dirty="0"/>
              <a:t>Don’t</a:t>
            </a:r>
            <a:r>
              <a:rPr lang="en-US" altLang="zh-CN" dirty="0"/>
              <a:t> let them </a:t>
            </a:r>
            <a:r>
              <a:rPr lang="en-US" altLang="zh-CN" b="1" dirty="0"/>
              <a:t>overlap</a:t>
            </a:r>
            <a:r>
              <a:rPr lang="en-US" altLang="zh-CN" dirty="0"/>
              <a:t> like this…?</a:t>
            </a:r>
            <a:endParaRPr lang="en-US" altLang="zh-CN" dirty="0"/>
          </a:p>
          <a:p>
            <a:r>
              <a:rPr lang="en-US" altLang="zh-CN" b="1" dirty="0"/>
              <a:t>Mechanics</a:t>
            </a:r>
            <a:endParaRPr lang="en-US" altLang="zh-CN" b="1" dirty="0"/>
          </a:p>
          <a:p>
            <a:pPr lvl="1"/>
            <a:r>
              <a:rPr lang="en-US" altLang="zh-CN" dirty="0"/>
              <a:t>Don’t let the instruction flow through the pipe</a:t>
            </a:r>
            <a:endParaRPr lang="en-US" altLang="zh-CN" dirty="0"/>
          </a:p>
          <a:p>
            <a:pPr lvl="1"/>
            <a:r>
              <a:rPr lang="en-US" altLang="zh-CN" dirty="0"/>
              <a:t>In particular, don’t let it </a:t>
            </a:r>
            <a:r>
              <a:rPr lang="en-US" altLang="zh-CN" b="1" dirty="0"/>
              <a:t>WRITE</a:t>
            </a:r>
            <a:r>
              <a:rPr lang="en-US" altLang="zh-CN" dirty="0"/>
              <a:t> any bits anywhere in the pipe hardware that represents </a:t>
            </a:r>
            <a:r>
              <a:rPr lang="en-US" altLang="zh-CN" b="1" dirty="0"/>
              <a:t>REAL</a:t>
            </a:r>
            <a:r>
              <a:rPr lang="en-US" altLang="zh-CN" dirty="0"/>
              <a:t> CPU state (e.g., register file, memory)</a:t>
            </a:r>
            <a:endParaRPr lang="en-US" altLang="zh-CN" dirty="0"/>
          </a:p>
          <a:p>
            <a:pPr lvl="1"/>
            <a:r>
              <a:rPr lang="en-US" altLang="zh-CN" b="1" dirty="0"/>
              <a:t>Let the instruction wait until the hazard resolved. </a:t>
            </a:r>
            <a:endParaRPr lang="en-US" altLang="zh-CN" b="1" dirty="0"/>
          </a:p>
          <a:p>
            <a:pPr lvl="1"/>
            <a:r>
              <a:rPr lang="en-US" altLang="zh-CN" dirty="0"/>
              <a:t>Name for this operation: </a:t>
            </a:r>
            <a:r>
              <a:rPr lang="en-US" altLang="zh-CN" b="1" dirty="0"/>
              <a:t>PIPELINE STALL</a:t>
            </a:r>
            <a:endParaRPr lang="en-US" altLang="zh-CN" b="1" dirty="0"/>
          </a:p>
          <a:p>
            <a:pPr lvl="1"/>
            <a:r>
              <a:rPr lang="en-US" altLang="zh-CN" b="1" dirty="0"/>
              <a:t>SLOW</a:t>
            </a:r>
            <a:r>
              <a:rPr lang="zh-CN" altLang="en-US" b="1" dirty="0"/>
              <a:t>！</a:t>
            </a:r>
            <a:endParaRPr lang="en-US" altLang="zh-CN" b="1" dirty="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Proposed solution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 the result you need does not exist AT ALL yet,</a:t>
            </a:r>
            <a:endParaRPr lang="en-US" altLang="zh-CN" dirty="0"/>
          </a:p>
          <a:p>
            <a:pPr lvl="1"/>
            <a:r>
              <a:rPr lang="en-US" altLang="zh-CN" dirty="0"/>
              <a:t>you are out of luck,  sorry.</a:t>
            </a:r>
            <a:endParaRPr lang="en-US" altLang="zh-CN" dirty="0"/>
          </a:p>
          <a:p>
            <a:r>
              <a:rPr lang="en-US" altLang="zh-CN" dirty="0"/>
              <a:t>But, what if the result exists, but is not stored back yet?</a:t>
            </a:r>
            <a:endParaRPr lang="en-US" altLang="zh-CN" dirty="0"/>
          </a:p>
          <a:p>
            <a:pPr lvl="1"/>
            <a:r>
              <a:rPr lang="en-US" altLang="zh-CN" dirty="0"/>
              <a:t>Instead of stalling until the result is stored back in its “natural” home…</a:t>
            </a:r>
            <a:endParaRPr lang="en-US" altLang="zh-CN" dirty="0"/>
          </a:p>
          <a:p>
            <a:pPr lvl="1"/>
            <a:r>
              <a:rPr lang="en-US" altLang="zh-CN" b="1" dirty="0"/>
              <a:t>grab the result “on the fly” from “inside” the pipe, and send it to the other instruction (another pipe stage) that wants to use it</a:t>
            </a:r>
            <a:endParaRPr lang="en-US" altLang="zh-CN" b="1" dirty="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Forwarding: reduce data hazard stalls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Generic name: </a:t>
            </a:r>
            <a:r>
              <a:rPr lang="en-US" altLang="zh-CN" b="1" dirty="0"/>
              <a:t>forwarding ( bypass, short-circuiting)</a:t>
            </a:r>
            <a:endParaRPr lang="en-US" altLang="zh-CN" b="1" dirty="0"/>
          </a:p>
          <a:p>
            <a:pPr lvl="1"/>
            <a:r>
              <a:rPr lang="en-US" altLang="zh-CN" dirty="0"/>
              <a:t>Instead of waiting to store the result, we forward it immediately (more or less) to the instruction that wants it</a:t>
            </a:r>
            <a:endParaRPr lang="en-US" altLang="zh-CN" dirty="0"/>
          </a:p>
          <a:p>
            <a:pPr lvl="1"/>
            <a:r>
              <a:rPr lang="en-US" altLang="zh-CN" dirty="0"/>
              <a:t>Mechanically, we add buses to the </a:t>
            </a:r>
            <a:r>
              <a:rPr lang="en-US" altLang="zh-CN" dirty="0" err="1"/>
              <a:t>datapath</a:t>
            </a:r>
            <a:r>
              <a:rPr lang="en-US" altLang="zh-CN" dirty="0"/>
              <a:t> to move these values around, and these </a:t>
            </a:r>
            <a:r>
              <a:rPr lang="en-US" altLang="zh-CN" b="1" dirty="0"/>
              <a:t>buses</a:t>
            </a:r>
            <a:r>
              <a:rPr lang="en-US" altLang="zh-CN" dirty="0"/>
              <a:t> always “point backwards” in the </a:t>
            </a:r>
            <a:r>
              <a:rPr lang="en-US" altLang="zh-CN" dirty="0" err="1"/>
              <a:t>datapath</a:t>
            </a:r>
            <a:r>
              <a:rPr lang="en-US" altLang="zh-CN" dirty="0"/>
              <a:t>, </a:t>
            </a:r>
            <a:r>
              <a:rPr lang="en-US" altLang="zh-CN" b="1" dirty="0"/>
              <a:t>from later stages to earlier stages</a:t>
            </a:r>
            <a:endParaRPr lang="en-US" altLang="zh-CN" b="1" dirty="0"/>
          </a:p>
          <a:p>
            <a:endParaRPr lang="en-US" altLang="zh-CN" dirty="0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Forwarding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 may be already computed - just not in the Register File</a:t>
            </a:r>
            <a:endParaRPr lang="en-US" altLang="zh-CN" dirty="0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Forwarding: reduce data hazard stalls </a:t>
            </a:r>
            <a:endParaRPr lang="en-US" altLang="zh-CN" dirty="0"/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1371600" y="1828801"/>
          <a:ext cx="6400800" cy="2441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Picture" r:id="rId1" imgW="4467225" imgH="1809750" progId="Word.Picture.8">
                  <p:embed/>
                </p:oleObj>
              </mc:Choice>
              <mc:Fallback>
                <p:oleObj name="Picture" r:id="rId1" imgW="4467225" imgH="180975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828801"/>
                        <a:ext cx="6400800" cy="2441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Line 5"/>
          <p:cNvSpPr>
            <a:spLocks noChangeShapeType="1"/>
          </p:cNvSpPr>
          <p:nvPr/>
        </p:nvSpPr>
        <p:spPr bwMode="auto">
          <a:xfrm flipH="1">
            <a:off x="4857750" y="1428750"/>
            <a:ext cx="171450" cy="10287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 flipH="1">
            <a:off x="6400800" y="1428750"/>
            <a:ext cx="171450" cy="97155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2343151" y="4286250"/>
            <a:ext cx="3612356" cy="60016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500" b="1">
                <a:solidFill>
                  <a:srgbClr val="CC0099"/>
                </a:solidFill>
                <a:latin typeface="Times New Roman" panose="02020503050405090304" pitchFamily="18" charset="0"/>
                <a:sym typeface="Symbol" pitchFamily="18" charset="2"/>
              </a:rPr>
              <a:t>EX/MEM.ALUoutput  ALU input port</a:t>
            </a:r>
            <a:endParaRPr lang="en-US" altLang="zh-CN" sz="1500" b="1">
              <a:latin typeface="Times New Roman" panose="02020503050405090304" pitchFamily="18" charset="0"/>
              <a:sym typeface="Symbol" pitchFamily="18" charset="2"/>
            </a:endParaRPr>
          </a:p>
          <a:p>
            <a:pPr eaLnBrk="1" hangingPunct="1"/>
            <a:r>
              <a:rPr lang="en-US" altLang="zh-CN" sz="1500" b="1">
                <a:solidFill>
                  <a:srgbClr val="FF3300"/>
                </a:solidFill>
                <a:latin typeface="Times New Roman" panose="02020503050405090304" pitchFamily="18" charset="0"/>
                <a:sym typeface="Symbol" pitchFamily="18" charset="2"/>
              </a:rPr>
              <a:t>MEM/WB.ALUoutput  ALU input port</a:t>
            </a:r>
            <a:r>
              <a:rPr lang="en-US" altLang="zh-CN" b="1">
                <a:solidFill>
                  <a:srgbClr val="FF3300"/>
                </a:solidFill>
                <a:latin typeface="Times New Roman" panose="02020503050405090304" pitchFamily="18" charset="0"/>
                <a:sym typeface="Symbol" pitchFamily="18" charset="2"/>
              </a:rPr>
              <a:t>  </a:t>
            </a:r>
            <a:endParaRPr lang="en-US" altLang="zh-CN" b="1">
              <a:solidFill>
                <a:srgbClr val="FF3300"/>
              </a:solidFill>
              <a:latin typeface="Times New Roman" panose="02020503050405090304" pitchFamily="18" charset="0"/>
              <a:sym typeface="Symbol" pitchFamily="18" charset="2"/>
            </a:endParaRPr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>
            <a:off x="1371600" y="4400550"/>
            <a:ext cx="971550" cy="0"/>
          </a:xfrm>
          <a:prstGeom prst="line">
            <a:avLst/>
          </a:prstGeom>
          <a:noFill/>
          <a:ln w="28575" cap="rnd">
            <a:solidFill>
              <a:srgbClr val="800080"/>
            </a:solidFill>
            <a:prstDash val="sysDot"/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1371600" y="4686300"/>
            <a:ext cx="971550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Hardware Change for Forwarding</a:t>
            </a:r>
            <a:endParaRPr lang="en-US" altLang="zh-CN"/>
          </a:p>
        </p:txBody>
      </p:sp>
      <p:grpSp>
        <p:nvGrpSpPr>
          <p:cNvPr id="39990" name="Group 54"/>
          <p:cNvGrpSpPr/>
          <p:nvPr/>
        </p:nvGrpSpPr>
        <p:grpSpPr bwMode="auto">
          <a:xfrm>
            <a:off x="1347788" y="843558"/>
            <a:ext cx="6572250" cy="2914650"/>
            <a:chOff x="172" y="912"/>
            <a:chExt cx="5520" cy="2448"/>
          </a:xfrm>
        </p:grpSpPr>
        <p:sp>
          <p:nvSpPr>
            <p:cNvPr id="39940" name="Rectangle 4"/>
            <p:cNvSpPr>
              <a:spLocks noChangeArrowheads="1"/>
            </p:cNvSpPr>
            <p:nvPr/>
          </p:nvSpPr>
          <p:spPr bwMode="auto">
            <a:xfrm>
              <a:off x="186" y="912"/>
              <a:ext cx="4828" cy="2448"/>
            </a:xfrm>
            <a:prstGeom prst="rect">
              <a:avLst/>
            </a:prstGeom>
            <a:noFill/>
            <a:ln w="0">
              <a:solidFill>
                <a:srgbClr val="FFFFFE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1" name="Rectangle 5"/>
            <p:cNvSpPr>
              <a:spLocks noChangeArrowheads="1"/>
            </p:cNvSpPr>
            <p:nvPr/>
          </p:nvSpPr>
          <p:spPr bwMode="auto">
            <a:xfrm>
              <a:off x="4506" y="1160"/>
              <a:ext cx="240" cy="1819"/>
            </a:xfrm>
            <a:prstGeom prst="rect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 algn="ctr"/>
              <a:r>
                <a:rPr lang="en-US" altLang="zh-CN" sz="1350"/>
                <a:t>MEM/WR</a:t>
              </a:r>
              <a:endParaRPr lang="en-US" altLang="zh-CN" sz="1350"/>
            </a:p>
          </p:txBody>
        </p:sp>
        <p:sp>
          <p:nvSpPr>
            <p:cNvPr id="39942" name="Rectangle 6"/>
            <p:cNvSpPr>
              <a:spLocks noChangeArrowheads="1"/>
            </p:cNvSpPr>
            <p:nvPr/>
          </p:nvSpPr>
          <p:spPr bwMode="auto">
            <a:xfrm>
              <a:off x="1189" y="1160"/>
              <a:ext cx="240" cy="1819"/>
            </a:xfrm>
            <a:prstGeom prst="rect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 algn="ctr"/>
              <a:r>
                <a:rPr lang="en-US" altLang="zh-CN" sz="1350"/>
                <a:t>ID/EX</a:t>
              </a:r>
              <a:endParaRPr lang="en-US" altLang="zh-CN" sz="1350"/>
            </a:p>
          </p:txBody>
        </p:sp>
        <p:sp>
          <p:nvSpPr>
            <p:cNvPr id="39943" name="Rectangle 7"/>
            <p:cNvSpPr>
              <a:spLocks noChangeArrowheads="1"/>
            </p:cNvSpPr>
            <p:nvPr/>
          </p:nvSpPr>
          <p:spPr bwMode="auto">
            <a:xfrm>
              <a:off x="2917" y="1160"/>
              <a:ext cx="240" cy="1819"/>
            </a:xfrm>
            <a:prstGeom prst="rect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 algn="ctr"/>
              <a:r>
                <a:rPr lang="en-US" altLang="zh-CN" sz="1350"/>
                <a:t>EX/MEM </a:t>
              </a:r>
              <a:endParaRPr lang="en-US" altLang="zh-CN" sz="1350"/>
            </a:p>
          </p:txBody>
        </p:sp>
        <p:sp>
          <p:nvSpPr>
            <p:cNvPr id="39944" name="Rectangle 8"/>
            <p:cNvSpPr>
              <a:spLocks noChangeArrowheads="1"/>
            </p:cNvSpPr>
            <p:nvPr/>
          </p:nvSpPr>
          <p:spPr bwMode="auto">
            <a:xfrm>
              <a:off x="3589" y="1822"/>
              <a:ext cx="576" cy="8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350"/>
                <a:t>Data</a:t>
              </a:r>
              <a:endParaRPr lang="en-US" altLang="zh-CN" sz="1350"/>
            </a:p>
            <a:p>
              <a:pPr algn="ctr"/>
              <a:r>
                <a:rPr lang="en-US" altLang="zh-CN" sz="1350"/>
                <a:t>Memory</a:t>
              </a:r>
              <a:endParaRPr lang="en-US" altLang="zh-CN" sz="1350"/>
            </a:p>
          </p:txBody>
        </p:sp>
        <p:grpSp>
          <p:nvGrpSpPr>
            <p:cNvPr id="39945" name="Group 9"/>
            <p:cNvGrpSpPr/>
            <p:nvPr/>
          </p:nvGrpSpPr>
          <p:grpSpPr bwMode="auto">
            <a:xfrm>
              <a:off x="2224" y="1561"/>
              <a:ext cx="400" cy="798"/>
              <a:chOff x="1782" y="2232"/>
              <a:chExt cx="468" cy="816"/>
            </a:xfrm>
          </p:grpSpPr>
          <p:sp>
            <p:nvSpPr>
              <p:cNvPr id="39946" name="Freeform 10"/>
              <p:cNvSpPr/>
              <p:nvPr/>
            </p:nvSpPr>
            <p:spPr bwMode="auto">
              <a:xfrm>
                <a:off x="1782" y="2232"/>
                <a:ext cx="468" cy="816"/>
              </a:xfrm>
              <a:custGeom>
                <a:avLst/>
                <a:gdLst>
                  <a:gd name="T0" fmla="*/ 0 w 468"/>
                  <a:gd name="T1" fmla="*/ 0 h 816"/>
                  <a:gd name="T2" fmla="*/ 468 w 468"/>
                  <a:gd name="T3" fmla="*/ 252 h 816"/>
                  <a:gd name="T4" fmla="*/ 468 w 468"/>
                  <a:gd name="T5" fmla="*/ 588 h 816"/>
                  <a:gd name="T6" fmla="*/ 0 w 468"/>
                  <a:gd name="T7" fmla="*/ 816 h 816"/>
                  <a:gd name="T8" fmla="*/ 0 w 468"/>
                  <a:gd name="T9" fmla="*/ 576 h 816"/>
                  <a:gd name="T10" fmla="*/ 168 w 468"/>
                  <a:gd name="T11" fmla="*/ 420 h 816"/>
                  <a:gd name="T12" fmla="*/ 0 w 468"/>
                  <a:gd name="T13" fmla="*/ 258 h 816"/>
                  <a:gd name="T14" fmla="*/ 0 w 468"/>
                  <a:gd name="T1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8" h="816">
                    <a:moveTo>
                      <a:pt x="0" y="0"/>
                    </a:moveTo>
                    <a:lnTo>
                      <a:pt x="468" y="252"/>
                    </a:lnTo>
                    <a:lnTo>
                      <a:pt x="468" y="588"/>
                    </a:lnTo>
                    <a:lnTo>
                      <a:pt x="0" y="816"/>
                    </a:lnTo>
                    <a:lnTo>
                      <a:pt x="0" y="576"/>
                    </a:lnTo>
                    <a:lnTo>
                      <a:pt x="168" y="420"/>
                    </a:lnTo>
                    <a:lnTo>
                      <a:pt x="0" y="25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47" name="Text Box 11"/>
              <p:cNvSpPr txBox="1">
                <a:spLocks noChangeArrowheads="1"/>
              </p:cNvSpPr>
              <p:nvPr/>
            </p:nvSpPr>
            <p:spPr bwMode="auto">
              <a:xfrm rot="5400000">
                <a:off x="1875" y="2511"/>
                <a:ext cx="391" cy="2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1200"/>
                  <a:t>ALU</a:t>
                </a:r>
                <a:endParaRPr lang="en-US" altLang="zh-CN" sz="1200"/>
              </a:p>
            </p:txBody>
          </p:sp>
        </p:grpSp>
        <p:sp>
          <p:nvSpPr>
            <p:cNvPr id="39948" name="AutoShape 12"/>
            <p:cNvSpPr>
              <a:spLocks noChangeArrowheads="1"/>
            </p:cNvSpPr>
            <p:nvPr/>
          </p:nvSpPr>
          <p:spPr bwMode="auto">
            <a:xfrm>
              <a:off x="1808" y="1449"/>
              <a:ext cx="240" cy="414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vert="eaVert" wrap="none" anchor="ctr"/>
            <a:lstStyle/>
            <a:p>
              <a:pPr algn="ctr"/>
              <a:r>
                <a:rPr lang="en-US" altLang="zh-CN" sz="1350"/>
                <a:t>mux</a:t>
              </a:r>
              <a:endParaRPr lang="en-US" altLang="zh-CN" sz="1350"/>
            </a:p>
          </p:txBody>
        </p:sp>
        <p:sp>
          <p:nvSpPr>
            <p:cNvPr id="39949" name="AutoShape 13"/>
            <p:cNvSpPr>
              <a:spLocks noChangeArrowheads="1"/>
            </p:cNvSpPr>
            <p:nvPr/>
          </p:nvSpPr>
          <p:spPr bwMode="auto">
            <a:xfrm>
              <a:off x="1808" y="2094"/>
              <a:ext cx="240" cy="413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vert="eaVert" wrap="none" anchor="ctr"/>
            <a:lstStyle/>
            <a:p>
              <a:pPr algn="ctr"/>
              <a:r>
                <a:rPr lang="en-US" altLang="zh-CN" sz="1350"/>
                <a:t>mux</a:t>
              </a:r>
              <a:endParaRPr lang="en-US" altLang="zh-CN" sz="1350"/>
            </a:p>
          </p:txBody>
        </p:sp>
        <p:sp>
          <p:nvSpPr>
            <p:cNvPr id="39950" name="Line 14"/>
            <p:cNvSpPr>
              <a:spLocks noChangeShapeType="1"/>
            </p:cNvSpPr>
            <p:nvPr/>
          </p:nvSpPr>
          <p:spPr bwMode="auto">
            <a:xfrm>
              <a:off x="2048" y="165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1" name="Line 15"/>
            <p:cNvSpPr>
              <a:spLocks noChangeShapeType="1"/>
            </p:cNvSpPr>
            <p:nvPr/>
          </p:nvSpPr>
          <p:spPr bwMode="auto">
            <a:xfrm>
              <a:off x="2048" y="2235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2" name="Rectangle 16"/>
            <p:cNvSpPr>
              <a:spLocks noChangeArrowheads="1"/>
            </p:cNvSpPr>
            <p:nvPr/>
          </p:nvSpPr>
          <p:spPr bwMode="auto">
            <a:xfrm rot="10800000">
              <a:off x="464" y="1532"/>
              <a:ext cx="432" cy="8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</p:spPr>
          <p:txBody>
            <a:bodyPr rot="10800000" vert="eaVert" wrap="none" anchor="ctr"/>
            <a:lstStyle/>
            <a:p>
              <a:pPr algn="ctr"/>
              <a:r>
                <a:rPr lang="en-US" altLang="zh-CN" sz="1350"/>
                <a:t>Registers</a:t>
              </a:r>
              <a:endParaRPr lang="en-US" altLang="zh-CN" sz="1350"/>
            </a:p>
          </p:txBody>
        </p:sp>
        <p:sp>
          <p:nvSpPr>
            <p:cNvPr id="39953" name="Line 17"/>
            <p:cNvSpPr>
              <a:spLocks noChangeShapeType="1"/>
            </p:cNvSpPr>
            <p:nvPr/>
          </p:nvSpPr>
          <p:spPr bwMode="auto">
            <a:xfrm>
              <a:off x="896" y="178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4" name="Line 18"/>
            <p:cNvSpPr>
              <a:spLocks noChangeShapeType="1"/>
            </p:cNvSpPr>
            <p:nvPr/>
          </p:nvSpPr>
          <p:spPr bwMode="auto">
            <a:xfrm>
              <a:off x="896" y="215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5" name="Line 19"/>
            <p:cNvSpPr>
              <a:spLocks noChangeShapeType="1"/>
            </p:cNvSpPr>
            <p:nvPr/>
          </p:nvSpPr>
          <p:spPr bwMode="auto">
            <a:xfrm>
              <a:off x="1424" y="1780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6" name="Line 20"/>
            <p:cNvSpPr>
              <a:spLocks noChangeShapeType="1"/>
            </p:cNvSpPr>
            <p:nvPr/>
          </p:nvSpPr>
          <p:spPr bwMode="auto">
            <a:xfrm>
              <a:off x="1424" y="215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7" name="Text Box 21"/>
            <p:cNvSpPr txBox="1">
              <a:spLocks noChangeArrowheads="1"/>
            </p:cNvSpPr>
            <p:nvPr/>
          </p:nvSpPr>
          <p:spPr bwMode="auto">
            <a:xfrm>
              <a:off x="368" y="1177"/>
              <a:ext cx="56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200"/>
                <a:t>NextPC</a:t>
              </a:r>
              <a:endParaRPr lang="en-US" altLang="zh-CN" sz="1200"/>
            </a:p>
          </p:txBody>
        </p:sp>
        <p:sp>
          <p:nvSpPr>
            <p:cNvPr id="39958" name="Line 22"/>
            <p:cNvSpPr>
              <a:spLocks noChangeShapeType="1"/>
            </p:cNvSpPr>
            <p:nvPr/>
          </p:nvSpPr>
          <p:spPr bwMode="auto">
            <a:xfrm>
              <a:off x="896" y="128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9" name="Text Box 23"/>
            <p:cNvSpPr txBox="1">
              <a:spLocks noChangeArrowheads="1"/>
            </p:cNvSpPr>
            <p:nvPr/>
          </p:nvSpPr>
          <p:spPr bwMode="auto">
            <a:xfrm>
              <a:off x="225" y="2437"/>
              <a:ext cx="770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200"/>
                <a:t>Immediate</a:t>
              </a:r>
              <a:endParaRPr lang="en-US" altLang="zh-CN" sz="1200"/>
            </a:p>
          </p:txBody>
        </p:sp>
        <p:sp>
          <p:nvSpPr>
            <p:cNvPr id="39960" name="Line 24"/>
            <p:cNvSpPr>
              <a:spLocks noChangeShapeType="1"/>
            </p:cNvSpPr>
            <p:nvPr/>
          </p:nvSpPr>
          <p:spPr bwMode="auto">
            <a:xfrm>
              <a:off x="944" y="256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1" name="Freeform 25"/>
            <p:cNvSpPr/>
            <p:nvPr/>
          </p:nvSpPr>
          <p:spPr bwMode="auto">
            <a:xfrm>
              <a:off x="1424" y="2232"/>
              <a:ext cx="384" cy="334"/>
            </a:xfrm>
            <a:custGeom>
              <a:avLst/>
              <a:gdLst>
                <a:gd name="T0" fmla="*/ 0 w 384"/>
                <a:gd name="T1" fmla="*/ 388 h 388"/>
                <a:gd name="T2" fmla="*/ 76 w 384"/>
                <a:gd name="T3" fmla="*/ 384 h 388"/>
                <a:gd name="T4" fmla="*/ 76 w 384"/>
                <a:gd name="T5" fmla="*/ 0 h 388"/>
                <a:gd name="T6" fmla="*/ 384 w 384"/>
                <a:gd name="T7" fmla="*/ 4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4" h="388">
                  <a:moveTo>
                    <a:pt x="0" y="388"/>
                  </a:moveTo>
                  <a:lnTo>
                    <a:pt x="76" y="384"/>
                  </a:lnTo>
                  <a:lnTo>
                    <a:pt x="76" y="0"/>
                  </a:lnTo>
                  <a:lnTo>
                    <a:pt x="384" y="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2" name="Freeform 26"/>
            <p:cNvSpPr/>
            <p:nvPr/>
          </p:nvSpPr>
          <p:spPr bwMode="auto">
            <a:xfrm>
              <a:off x="1568" y="2152"/>
              <a:ext cx="1344" cy="414"/>
            </a:xfrm>
            <a:custGeom>
              <a:avLst/>
              <a:gdLst>
                <a:gd name="T0" fmla="*/ 0 w 1344"/>
                <a:gd name="T1" fmla="*/ 0 h 624"/>
                <a:gd name="T2" fmla="*/ 0 w 1344"/>
                <a:gd name="T3" fmla="*/ 624 h 624"/>
                <a:gd name="T4" fmla="*/ 1344 w 1344"/>
                <a:gd name="T5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4" h="624">
                  <a:moveTo>
                    <a:pt x="0" y="0"/>
                  </a:moveTo>
                  <a:lnTo>
                    <a:pt x="0" y="624"/>
                  </a:lnTo>
                  <a:lnTo>
                    <a:pt x="1344" y="62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3" name="Line 27"/>
            <p:cNvSpPr>
              <a:spLocks noChangeShapeType="1"/>
            </p:cNvSpPr>
            <p:nvPr/>
          </p:nvSpPr>
          <p:spPr bwMode="auto">
            <a:xfrm>
              <a:off x="3152" y="2566"/>
              <a:ext cx="4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4" name="Line 28"/>
            <p:cNvSpPr>
              <a:spLocks noChangeShapeType="1"/>
            </p:cNvSpPr>
            <p:nvPr/>
          </p:nvSpPr>
          <p:spPr bwMode="auto">
            <a:xfrm>
              <a:off x="2624" y="198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5" name="Line 29"/>
            <p:cNvSpPr>
              <a:spLocks noChangeShapeType="1"/>
            </p:cNvSpPr>
            <p:nvPr/>
          </p:nvSpPr>
          <p:spPr bwMode="auto">
            <a:xfrm>
              <a:off x="3152" y="1987"/>
              <a:ext cx="4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6" name="Line 30"/>
            <p:cNvSpPr>
              <a:spLocks noChangeShapeType="1"/>
            </p:cNvSpPr>
            <p:nvPr/>
          </p:nvSpPr>
          <p:spPr bwMode="auto">
            <a:xfrm flipV="1">
              <a:off x="4165" y="2276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7" name="Freeform 31"/>
            <p:cNvSpPr/>
            <p:nvPr/>
          </p:nvSpPr>
          <p:spPr bwMode="auto">
            <a:xfrm>
              <a:off x="3349" y="1987"/>
              <a:ext cx="1152" cy="868"/>
            </a:xfrm>
            <a:custGeom>
              <a:avLst/>
              <a:gdLst>
                <a:gd name="T0" fmla="*/ 0 w 1152"/>
                <a:gd name="T1" fmla="*/ 0 h 1008"/>
                <a:gd name="T2" fmla="*/ 0 w 1152"/>
                <a:gd name="T3" fmla="*/ 1008 h 1008"/>
                <a:gd name="T4" fmla="*/ 1152 w 1152"/>
                <a:gd name="T5" fmla="*/ 1008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2" h="1008">
                  <a:moveTo>
                    <a:pt x="0" y="0"/>
                  </a:moveTo>
                  <a:lnTo>
                    <a:pt x="0" y="1008"/>
                  </a:lnTo>
                  <a:lnTo>
                    <a:pt x="1152" y="100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8" name="Oval 32"/>
            <p:cNvSpPr>
              <a:spLocks noChangeArrowheads="1"/>
            </p:cNvSpPr>
            <p:nvPr/>
          </p:nvSpPr>
          <p:spPr bwMode="auto">
            <a:xfrm>
              <a:off x="3326" y="1970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9" name="Oval 33"/>
            <p:cNvSpPr>
              <a:spLocks noChangeArrowheads="1"/>
            </p:cNvSpPr>
            <p:nvPr/>
          </p:nvSpPr>
          <p:spPr bwMode="auto">
            <a:xfrm>
              <a:off x="1542" y="2132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0" name="Line 34"/>
            <p:cNvSpPr>
              <a:spLocks noChangeShapeType="1"/>
            </p:cNvSpPr>
            <p:nvPr/>
          </p:nvSpPr>
          <p:spPr bwMode="auto">
            <a:xfrm flipV="1">
              <a:off x="4758" y="2845"/>
              <a:ext cx="6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1" name="Line 35"/>
            <p:cNvSpPr>
              <a:spLocks noChangeShapeType="1"/>
            </p:cNvSpPr>
            <p:nvPr/>
          </p:nvSpPr>
          <p:spPr bwMode="auto">
            <a:xfrm flipV="1">
              <a:off x="4746" y="2273"/>
              <a:ext cx="656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2" name="Oval 36"/>
            <p:cNvSpPr>
              <a:spLocks noChangeArrowheads="1"/>
            </p:cNvSpPr>
            <p:nvPr/>
          </p:nvSpPr>
          <p:spPr bwMode="auto">
            <a:xfrm>
              <a:off x="3334" y="2831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9989" name="Group 53"/>
            <p:cNvGrpSpPr/>
            <p:nvPr/>
          </p:nvGrpSpPr>
          <p:grpSpPr bwMode="auto">
            <a:xfrm>
              <a:off x="1618" y="953"/>
              <a:ext cx="3512" cy="2316"/>
              <a:chOff x="1618" y="953"/>
              <a:chExt cx="3512" cy="2316"/>
            </a:xfrm>
          </p:grpSpPr>
          <p:sp>
            <p:nvSpPr>
              <p:cNvPr id="39974" name="Freeform 38"/>
              <p:cNvSpPr/>
              <p:nvPr/>
            </p:nvSpPr>
            <p:spPr bwMode="auto">
              <a:xfrm>
                <a:off x="1695" y="2442"/>
                <a:ext cx="1659" cy="579"/>
              </a:xfrm>
              <a:custGeom>
                <a:avLst/>
                <a:gdLst>
                  <a:gd name="T0" fmla="*/ 1659 w 1659"/>
                  <a:gd name="T1" fmla="*/ 480 h 672"/>
                  <a:gd name="T2" fmla="*/ 1659 w 1659"/>
                  <a:gd name="T3" fmla="*/ 672 h 672"/>
                  <a:gd name="T4" fmla="*/ 0 w 1659"/>
                  <a:gd name="T5" fmla="*/ 666 h 672"/>
                  <a:gd name="T6" fmla="*/ 0 w 1659"/>
                  <a:gd name="T7" fmla="*/ 0 h 672"/>
                  <a:gd name="T8" fmla="*/ 114 w 1659"/>
                  <a:gd name="T9" fmla="*/ 0 h 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9" h="672">
                    <a:moveTo>
                      <a:pt x="1659" y="480"/>
                    </a:moveTo>
                    <a:lnTo>
                      <a:pt x="1659" y="672"/>
                    </a:lnTo>
                    <a:lnTo>
                      <a:pt x="0" y="666"/>
                    </a:lnTo>
                    <a:lnTo>
                      <a:pt x="0" y="0"/>
                    </a:lnTo>
                    <a:lnTo>
                      <a:pt x="11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5" name="Freeform 39"/>
              <p:cNvSpPr/>
              <p:nvPr/>
            </p:nvSpPr>
            <p:spPr bwMode="auto">
              <a:xfrm>
                <a:off x="1626" y="953"/>
                <a:ext cx="3504" cy="1323"/>
              </a:xfrm>
              <a:custGeom>
                <a:avLst/>
                <a:gdLst>
                  <a:gd name="T0" fmla="*/ 3504 w 3504"/>
                  <a:gd name="T1" fmla="*/ 1536 h 1536"/>
                  <a:gd name="T2" fmla="*/ 3504 w 3504"/>
                  <a:gd name="T3" fmla="*/ 0 h 1536"/>
                  <a:gd name="T4" fmla="*/ 0 w 3504"/>
                  <a:gd name="T5" fmla="*/ 0 h 1536"/>
                  <a:gd name="T6" fmla="*/ 3 w 3504"/>
                  <a:gd name="T7" fmla="*/ 798 h 1536"/>
                  <a:gd name="T8" fmla="*/ 186 w 3504"/>
                  <a:gd name="T9" fmla="*/ 795 h 1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04" h="1536">
                    <a:moveTo>
                      <a:pt x="3504" y="1536"/>
                    </a:moveTo>
                    <a:lnTo>
                      <a:pt x="3504" y="0"/>
                    </a:lnTo>
                    <a:lnTo>
                      <a:pt x="0" y="0"/>
                    </a:lnTo>
                    <a:lnTo>
                      <a:pt x="3" y="798"/>
                    </a:lnTo>
                    <a:lnTo>
                      <a:pt x="186" y="795"/>
                    </a:lnTo>
                  </a:path>
                </a:pathLst>
              </a:custGeom>
              <a:noFill/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6" name="Freeform 40"/>
              <p:cNvSpPr/>
              <p:nvPr/>
            </p:nvSpPr>
            <p:spPr bwMode="auto">
              <a:xfrm>
                <a:off x="1657" y="2400"/>
                <a:ext cx="3380" cy="824"/>
              </a:xfrm>
              <a:custGeom>
                <a:avLst/>
                <a:gdLst>
                  <a:gd name="T0" fmla="*/ 3088 w 3380"/>
                  <a:gd name="T1" fmla="*/ 540 h 956"/>
                  <a:gd name="T2" fmla="*/ 3380 w 3380"/>
                  <a:gd name="T3" fmla="*/ 540 h 956"/>
                  <a:gd name="T4" fmla="*/ 3380 w 3380"/>
                  <a:gd name="T5" fmla="*/ 956 h 956"/>
                  <a:gd name="T6" fmla="*/ 0 w 3380"/>
                  <a:gd name="T7" fmla="*/ 956 h 956"/>
                  <a:gd name="T8" fmla="*/ 0 w 3380"/>
                  <a:gd name="T9" fmla="*/ 0 h 956"/>
                  <a:gd name="T10" fmla="*/ 152 w 3380"/>
                  <a:gd name="T11" fmla="*/ 0 h 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80" h="956">
                    <a:moveTo>
                      <a:pt x="3088" y="540"/>
                    </a:moveTo>
                    <a:lnTo>
                      <a:pt x="3380" y="540"/>
                    </a:lnTo>
                    <a:lnTo>
                      <a:pt x="3380" y="956"/>
                    </a:lnTo>
                    <a:lnTo>
                      <a:pt x="0" y="956"/>
                    </a:lnTo>
                    <a:lnTo>
                      <a:pt x="0" y="0"/>
                    </a:lnTo>
                    <a:lnTo>
                      <a:pt x="152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7" name="Freeform 41"/>
              <p:cNvSpPr/>
              <p:nvPr/>
            </p:nvSpPr>
            <p:spPr bwMode="auto">
              <a:xfrm>
                <a:off x="1618" y="2276"/>
                <a:ext cx="3512" cy="993"/>
              </a:xfrm>
              <a:custGeom>
                <a:avLst/>
                <a:gdLst>
                  <a:gd name="T0" fmla="*/ 3128 w 3512"/>
                  <a:gd name="T1" fmla="*/ 0 h 1152"/>
                  <a:gd name="T2" fmla="*/ 3512 w 3512"/>
                  <a:gd name="T3" fmla="*/ 0 h 1152"/>
                  <a:gd name="T4" fmla="*/ 3512 w 3512"/>
                  <a:gd name="T5" fmla="*/ 1152 h 1152"/>
                  <a:gd name="T6" fmla="*/ 0 w 3512"/>
                  <a:gd name="T7" fmla="*/ 1152 h 1152"/>
                  <a:gd name="T8" fmla="*/ 2 w 3512"/>
                  <a:gd name="T9" fmla="*/ 33 h 1152"/>
                  <a:gd name="T10" fmla="*/ 191 w 3512"/>
                  <a:gd name="T11" fmla="*/ 36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12" h="1152">
                    <a:moveTo>
                      <a:pt x="3128" y="0"/>
                    </a:moveTo>
                    <a:lnTo>
                      <a:pt x="3512" y="0"/>
                    </a:lnTo>
                    <a:lnTo>
                      <a:pt x="3512" y="1152"/>
                    </a:lnTo>
                    <a:lnTo>
                      <a:pt x="0" y="1152"/>
                    </a:lnTo>
                    <a:lnTo>
                      <a:pt x="2" y="33"/>
                    </a:lnTo>
                    <a:lnTo>
                      <a:pt x="191" y="36"/>
                    </a:lnTo>
                  </a:path>
                </a:pathLst>
              </a:custGeom>
              <a:noFill/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8" name="Freeform 42"/>
              <p:cNvSpPr/>
              <p:nvPr/>
            </p:nvSpPr>
            <p:spPr bwMode="auto">
              <a:xfrm>
                <a:off x="1701" y="1118"/>
                <a:ext cx="1653" cy="869"/>
              </a:xfrm>
              <a:custGeom>
                <a:avLst/>
                <a:gdLst>
                  <a:gd name="T0" fmla="*/ 1653 w 1653"/>
                  <a:gd name="T1" fmla="*/ 1008 h 1008"/>
                  <a:gd name="T2" fmla="*/ 1653 w 1653"/>
                  <a:gd name="T3" fmla="*/ 0 h 1008"/>
                  <a:gd name="T4" fmla="*/ 0 w 1653"/>
                  <a:gd name="T5" fmla="*/ 0 h 1008"/>
                  <a:gd name="T6" fmla="*/ 0 w 1653"/>
                  <a:gd name="T7" fmla="*/ 432 h 1008"/>
                  <a:gd name="T8" fmla="*/ 117 w 1653"/>
                  <a:gd name="T9" fmla="*/ 432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3" h="1008">
                    <a:moveTo>
                      <a:pt x="1653" y="1008"/>
                    </a:moveTo>
                    <a:lnTo>
                      <a:pt x="1653" y="0"/>
                    </a:lnTo>
                    <a:lnTo>
                      <a:pt x="0" y="0"/>
                    </a:lnTo>
                    <a:lnTo>
                      <a:pt x="0" y="432"/>
                    </a:lnTo>
                    <a:lnTo>
                      <a:pt x="117" y="432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9" name="Freeform 43"/>
              <p:cNvSpPr/>
              <p:nvPr/>
            </p:nvSpPr>
            <p:spPr bwMode="auto">
              <a:xfrm>
                <a:off x="1674" y="1036"/>
                <a:ext cx="3360" cy="1819"/>
              </a:xfrm>
              <a:custGeom>
                <a:avLst/>
                <a:gdLst>
                  <a:gd name="T0" fmla="*/ 3360 w 3360"/>
                  <a:gd name="T1" fmla="*/ 2112 h 2112"/>
                  <a:gd name="T2" fmla="*/ 3360 w 3360"/>
                  <a:gd name="T3" fmla="*/ 0 h 2112"/>
                  <a:gd name="T4" fmla="*/ 0 w 3360"/>
                  <a:gd name="T5" fmla="*/ 0 h 2112"/>
                  <a:gd name="T6" fmla="*/ 0 w 3360"/>
                  <a:gd name="T7" fmla="*/ 624 h 2112"/>
                  <a:gd name="T8" fmla="*/ 144 w 3360"/>
                  <a:gd name="T9" fmla="*/ 624 h 2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0" h="2112">
                    <a:moveTo>
                      <a:pt x="3360" y="2112"/>
                    </a:moveTo>
                    <a:lnTo>
                      <a:pt x="3360" y="0"/>
                    </a:lnTo>
                    <a:lnTo>
                      <a:pt x="0" y="0"/>
                    </a:lnTo>
                    <a:lnTo>
                      <a:pt x="0" y="624"/>
                    </a:lnTo>
                    <a:lnTo>
                      <a:pt x="144" y="624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80" name="Oval 44"/>
            <p:cNvSpPr>
              <a:spLocks noChangeArrowheads="1"/>
            </p:cNvSpPr>
            <p:nvPr/>
          </p:nvSpPr>
          <p:spPr bwMode="auto">
            <a:xfrm>
              <a:off x="5006" y="2824"/>
              <a:ext cx="48" cy="4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1" name="Oval 45"/>
            <p:cNvSpPr>
              <a:spLocks noChangeArrowheads="1"/>
            </p:cNvSpPr>
            <p:nvPr/>
          </p:nvSpPr>
          <p:spPr bwMode="auto">
            <a:xfrm>
              <a:off x="5106" y="2256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2" name="AutoShape 46"/>
            <p:cNvSpPr>
              <a:spLocks noChangeArrowheads="1"/>
            </p:cNvSpPr>
            <p:nvPr/>
          </p:nvSpPr>
          <p:spPr bwMode="auto">
            <a:xfrm>
              <a:off x="5365" y="2111"/>
              <a:ext cx="240" cy="868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vert="eaVert" wrap="none" anchor="ctr"/>
            <a:lstStyle/>
            <a:p>
              <a:pPr algn="ctr"/>
              <a:r>
                <a:rPr lang="en-US" altLang="zh-CN" sz="1350"/>
                <a:t>mux</a:t>
              </a:r>
              <a:endParaRPr lang="en-US" altLang="zh-CN" sz="1350"/>
            </a:p>
          </p:txBody>
        </p:sp>
        <p:sp>
          <p:nvSpPr>
            <p:cNvPr id="39983" name="Freeform 47"/>
            <p:cNvSpPr/>
            <p:nvPr/>
          </p:nvSpPr>
          <p:spPr bwMode="auto">
            <a:xfrm>
              <a:off x="172" y="1946"/>
              <a:ext cx="5520" cy="1405"/>
            </a:xfrm>
            <a:custGeom>
              <a:avLst/>
              <a:gdLst>
                <a:gd name="T0" fmla="*/ 5424 w 5520"/>
                <a:gd name="T1" fmla="*/ 720 h 1632"/>
                <a:gd name="T2" fmla="*/ 5520 w 5520"/>
                <a:gd name="T3" fmla="*/ 720 h 1632"/>
                <a:gd name="T4" fmla="*/ 5520 w 5520"/>
                <a:gd name="T5" fmla="*/ 1632 h 1632"/>
                <a:gd name="T6" fmla="*/ 0 w 5520"/>
                <a:gd name="T7" fmla="*/ 1632 h 1632"/>
                <a:gd name="T8" fmla="*/ 0 w 5520"/>
                <a:gd name="T9" fmla="*/ 0 h 1632"/>
                <a:gd name="T10" fmla="*/ 288 w 5520"/>
                <a:gd name="T11" fmla="*/ 0 h 1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20" h="1632">
                  <a:moveTo>
                    <a:pt x="5424" y="720"/>
                  </a:moveTo>
                  <a:lnTo>
                    <a:pt x="5520" y="720"/>
                  </a:lnTo>
                  <a:lnTo>
                    <a:pt x="5520" y="1632"/>
                  </a:lnTo>
                  <a:lnTo>
                    <a:pt x="0" y="1632"/>
                  </a:lnTo>
                  <a:lnTo>
                    <a:pt x="0" y="0"/>
                  </a:lnTo>
                  <a:lnTo>
                    <a:pt x="288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991" name="Group 55"/>
          <p:cNvGrpSpPr/>
          <p:nvPr/>
        </p:nvGrpSpPr>
        <p:grpSpPr bwMode="auto">
          <a:xfrm>
            <a:off x="1314451" y="3815361"/>
            <a:ext cx="4531518" cy="922735"/>
            <a:chOff x="144" y="3408"/>
            <a:chExt cx="3806" cy="775"/>
          </a:xfrm>
        </p:grpSpPr>
        <p:sp>
          <p:nvSpPr>
            <p:cNvPr id="39985" name="Line 49"/>
            <p:cNvSpPr>
              <a:spLocks noChangeShapeType="1"/>
            </p:cNvSpPr>
            <p:nvPr/>
          </p:nvSpPr>
          <p:spPr bwMode="auto">
            <a:xfrm>
              <a:off x="144" y="3545"/>
              <a:ext cx="384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6" name="Text Box 50"/>
            <p:cNvSpPr txBox="1">
              <a:spLocks noChangeArrowheads="1"/>
            </p:cNvSpPr>
            <p:nvPr/>
          </p:nvSpPr>
          <p:spPr bwMode="auto">
            <a:xfrm>
              <a:off x="525" y="3408"/>
              <a:ext cx="3425" cy="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FF0000"/>
                  </a:solidFill>
                </a:rPr>
                <a:t>EX/Mem.ALUoutput </a:t>
              </a:r>
              <a:r>
                <a:rPr lang="en-US" altLang="zh-CN" b="1">
                  <a:solidFill>
                    <a:srgbClr val="FF0000"/>
                  </a:solidFill>
                  <a:sym typeface="Symbol" pitchFamily="18" charset="2"/>
                </a:rPr>
                <a:t> ALU</a:t>
              </a:r>
              <a:r>
                <a:rPr lang="en-US" altLang="zh-CN">
                  <a:solidFill>
                    <a:srgbClr val="FF0000"/>
                  </a:solidFill>
                  <a:sym typeface="Symbol" pitchFamily="18" charset="2"/>
                </a:rPr>
                <a:t> input</a:t>
              </a:r>
              <a:endParaRPr lang="en-US" altLang="zh-CN">
                <a:solidFill>
                  <a:srgbClr val="FF0000"/>
                </a:solidFill>
                <a:sym typeface="Symbol" pitchFamily="18" charset="2"/>
              </a:endParaRPr>
            </a:p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sym typeface="Symbol" pitchFamily="18" charset="2"/>
                </a:rPr>
                <a:t>MEM/WB.ALUoutput  ALU input</a:t>
              </a:r>
              <a:endParaRPr lang="en-US" altLang="zh-CN">
                <a:solidFill>
                  <a:srgbClr val="0000FF"/>
                </a:solidFill>
                <a:latin typeface="Times New Roman" panose="02020503050405090304" pitchFamily="18" charset="0"/>
                <a:sym typeface="Symbol" pitchFamily="18" charset="2"/>
              </a:endParaRPr>
            </a:p>
            <a:p>
              <a:pPr eaLnBrk="1" hangingPunct="1"/>
              <a:r>
                <a:rPr lang="en-US" altLang="zh-CN">
                  <a:solidFill>
                    <a:srgbClr val="CC00FF"/>
                  </a:solidFill>
                  <a:sym typeface="Symbol" pitchFamily="18" charset="2"/>
                </a:rPr>
                <a:t>MEM/WB.LMD </a:t>
              </a:r>
              <a:r>
                <a:rPr lang="en-US" altLang="zh-CN" b="1">
                  <a:solidFill>
                    <a:srgbClr val="CC00FF"/>
                  </a:solidFill>
                  <a:sym typeface="Symbol" pitchFamily="18" charset="2"/>
                </a:rPr>
                <a:t> ALU</a:t>
              </a:r>
              <a:r>
                <a:rPr lang="en-US" altLang="zh-CN">
                  <a:solidFill>
                    <a:srgbClr val="CC00FF"/>
                  </a:solidFill>
                  <a:sym typeface="Symbol" pitchFamily="18" charset="2"/>
                </a:rPr>
                <a:t> input</a:t>
              </a:r>
              <a:endParaRPr lang="en-US" altLang="zh-CN">
                <a:solidFill>
                  <a:srgbClr val="CC00FF"/>
                </a:solidFill>
                <a:latin typeface="Times New Roman" panose="02020503050405090304" pitchFamily="18" charset="0"/>
                <a:sym typeface="Symbol" pitchFamily="18" charset="2"/>
              </a:endParaRPr>
            </a:p>
          </p:txBody>
        </p:sp>
        <p:sp>
          <p:nvSpPr>
            <p:cNvPr id="39987" name="Line 51"/>
            <p:cNvSpPr>
              <a:spLocks noChangeShapeType="1"/>
            </p:cNvSpPr>
            <p:nvPr/>
          </p:nvSpPr>
          <p:spPr bwMode="auto">
            <a:xfrm>
              <a:off x="144" y="3833"/>
              <a:ext cx="384" cy="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8" name="Line 52"/>
            <p:cNvSpPr>
              <a:spLocks noChangeShapeType="1"/>
            </p:cNvSpPr>
            <p:nvPr/>
          </p:nvSpPr>
          <p:spPr bwMode="auto">
            <a:xfrm>
              <a:off x="144" y="4073"/>
              <a:ext cx="384" cy="0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Forwarding path to other input entry</a:t>
            </a:r>
            <a:endParaRPr lang="en-US" altLang="zh-CN"/>
          </a:p>
        </p:txBody>
      </p:sp>
      <p:grpSp>
        <p:nvGrpSpPr>
          <p:cNvPr id="40988" name="Group 28"/>
          <p:cNvGrpSpPr/>
          <p:nvPr/>
        </p:nvGrpSpPr>
        <p:grpSpPr bwMode="auto">
          <a:xfrm>
            <a:off x="1428750" y="843558"/>
            <a:ext cx="6229350" cy="3626644"/>
            <a:chOff x="240" y="1008"/>
            <a:chExt cx="5232" cy="3046"/>
          </a:xfrm>
        </p:grpSpPr>
        <p:grpSp>
          <p:nvGrpSpPr>
            <p:cNvPr id="40965" name="Group 5"/>
            <p:cNvGrpSpPr/>
            <p:nvPr/>
          </p:nvGrpSpPr>
          <p:grpSpPr bwMode="auto">
            <a:xfrm>
              <a:off x="240" y="1056"/>
              <a:ext cx="5232" cy="2998"/>
              <a:chOff x="240" y="960"/>
              <a:chExt cx="5232" cy="2998"/>
            </a:xfrm>
          </p:grpSpPr>
          <p:pic>
            <p:nvPicPr>
              <p:cNvPr id="40966" name="Picture 6" descr="chap3_4-5new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" y="960"/>
                <a:ext cx="5232" cy="2784"/>
              </a:xfrm>
              <a:prstGeom prst="rect">
                <a:avLst/>
              </a:prstGeom>
              <a:noFill/>
            </p:spPr>
          </p:pic>
          <p:grpSp>
            <p:nvGrpSpPr>
              <p:cNvPr id="40967" name="Group 7"/>
              <p:cNvGrpSpPr/>
              <p:nvPr/>
            </p:nvGrpSpPr>
            <p:grpSpPr bwMode="auto">
              <a:xfrm>
                <a:off x="3090" y="3002"/>
                <a:ext cx="2382" cy="956"/>
                <a:chOff x="3090" y="3002"/>
                <a:chExt cx="2382" cy="956"/>
              </a:xfrm>
            </p:grpSpPr>
            <p:sp>
              <p:nvSpPr>
                <p:cNvPr id="4096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090" y="3002"/>
                  <a:ext cx="561" cy="3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b="1">
                      <a:solidFill>
                        <a:srgbClr val="339966"/>
                      </a:solidFill>
                      <a:latin typeface="Times New Roman" panose="02020503050405090304" pitchFamily="18" charset="0"/>
                    </a:rPr>
                    <a:t>store</a:t>
                  </a:r>
                  <a:endParaRPr lang="en-US" altLang="zh-CN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4096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896" y="3648"/>
                  <a:ext cx="576" cy="3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eaLnBrk="1" hangingPunct="1"/>
                  <a:r>
                    <a:rPr lang="en-US" altLang="zh-CN" b="1" dirty="0">
                      <a:solidFill>
                        <a:srgbClr val="339966"/>
                      </a:solidFill>
                      <a:latin typeface="Times New Roman" panose="02020503050405090304" pitchFamily="18" charset="0"/>
                    </a:rPr>
                    <a:t>load</a:t>
                  </a:r>
                  <a:endParaRPr lang="en-US" altLang="zh-CN" dirty="0">
                    <a:latin typeface="Times New Roman" panose="02020503050405090304" pitchFamily="18" charset="0"/>
                  </a:endParaRPr>
                </a:p>
              </p:txBody>
            </p:sp>
          </p:grpSp>
        </p:grpSp>
        <p:sp>
          <p:nvSpPr>
            <p:cNvPr id="40971" name="Line 11"/>
            <p:cNvSpPr>
              <a:spLocks noChangeShapeType="1"/>
            </p:cNvSpPr>
            <p:nvPr/>
          </p:nvSpPr>
          <p:spPr bwMode="auto">
            <a:xfrm flipV="1">
              <a:off x="4080" y="1248"/>
              <a:ext cx="0" cy="1344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2" name="Line 12"/>
            <p:cNvSpPr>
              <a:spLocks noChangeShapeType="1"/>
            </p:cNvSpPr>
            <p:nvPr/>
          </p:nvSpPr>
          <p:spPr bwMode="auto">
            <a:xfrm flipH="1">
              <a:off x="3424" y="1248"/>
              <a:ext cx="656" cy="5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3" name="Line 13"/>
            <p:cNvSpPr>
              <a:spLocks noChangeShapeType="1"/>
            </p:cNvSpPr>
            <p:nvPr/>
          </p:nvSpPr>
          <p:spPr bwMode="auto">
            <a:xfrm flipH="1">
              <a:off x="3016" y="1253"/>
              <a:ext cx="408" cy="1088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round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5" name="Line 15"/>
            <p:cNvSpPr>
              <a:spLocks noChangeShapeType="1"/>
            </p:cNvSpPr>
            <p:nvPr/>
          </p:nvSpPr>
          <p:spPr bwMode="auto">
            <a:xfrm flipV="1">
              <a:off x="4944" y="1104"/>
              <a:ext cx="0" cy="1487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6" name="Line 16"/>
            <p:cNvSpPr>
              <a:spLocks noChangeShapeType="1"/>
            </p:cNvSpPr>
            <p:nvPr/>
          </p:nvSpPr>
          <p:spPr bwMode="auto">
            <a:xfrm flipH="1">
              <a:off x="3288" y="1104"/>
              <a:ext cx="1656" cy="13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7" name="Line 17"/>
            <p:cNvSpPr>
              <a:spLocks noChangeShapeType="1"/>
            </p:cNvSpPr>
            <p:nvPr/>
          </p:nvSpPr>
          <p:spPr bwMode="auto">
            <a:xfrm flipH="1">
              <a:off x="2835" y="1117"/>
              <a:ext cx="453" cy="1204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Line 19"/>
            <p:cNvSpPr>
              <a:spLocks noChangeShapeType="1"/>
            </p:cNvSpPr>
            <p:nvPr/>
          </p:nvSpPr>
          <p:spPr bwMode="auto">
            <a:xfrm flipV="1">
              <a:off x="5040" y="1008"/>
              <a:ext cx="0" cy="1728"/>
            </a:xfrm>
            <a:prstGeom prst="line">
              <a:avLst/>
            </a:prstGeom>
            <a:noFill/>
            <a:ln w="34925">
              <a:solidFill>
                <a:srgbClr val="00FF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Line 20"/>
            <p:cNvSpPr>
              <a:spLocks noChangeShapeType="1"/>
            </p:cNvSpPr>
            <p:nvPr/>
          </p:nvSpPr>
          <p:spPr bwMode="auto">
            <a:xfrm flipH="1">
              <a:off x="3198" y="1008"/>
              <a:ext cx="1842" cy="18"/>
            </a:xfrm>
            <a:prstGeom prst="line">
              <a:avLst/>
            </a:prstGeom>
            <a:noFill/>
            <a:ln w="34925">
              <a:solidFill>
                <a:srgbClr val="00FF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Line 21"/>
            <p:cNvSpPr>
              <a:spLocks noChangeShapeType="1"/>
            </p:cNvSpPr>
            <p:nvPr/>
          </p:nvSpPr>
          <p:spPr bwMode="auto">
            <a:xfrm flipH="1">
              <a:off x="2699" y="1026"/>
              <a:ext cx="499" cy="1315"/>
            </a:xfrm>
            <a:prstGeom prst="line">
              <a:avLst/>
            </a:prstGeom>
            <a:noFill/>
            <a:ln w="34925">
              <a:solidFill>
                <a:srgbClr val="00FF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982" name="Group 22"/>
            <p:cNvGrpSpPr/>
            <p:nvPr/>
          </p:nvGrpSpPr>
          <p:grpSpPr bwMode="auto">
            <a:xfrm>
              <a:off x="4176" y="2592"/>
              <a:ext cx="768" cy="1056"/>
              <a:chOff x="4176" y="2544"/>
              <a:chExt cx="768" cy="1056"/>
            </a:xfrm>
          </p:grpSpPr>
          <p:sp>
            <p:nvSpPr>
              <p:cNvPr id="40983" name="Line 23"/>
              <p:cNvSpPr>
                <a:spLocks noChangeShapeType="1"/>
              </p:cNvSpPr>
              <p:nvPr/>
            </p:nvSpPr>
            <p:spPr bwMode="auto">
              <a:xfrm>
                <a:off x="4944" y="2544"/>
                <a:ext cx="0" cy="1056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4" name="Line 24"/>
              <p:cNvSpPr>
                <a:spLocks noChangeShapeType="1"/>
              </p:cNvSpPr>
              <p:nvPr/>
            </p:nvSpPr>
            <p:spPr bwMode="auto">
              <a:xfrm flipH="1">
                <a:off x="4176" y="3600"/>
                <a:ext cx="768" cy="0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5" name="Line 25"/>
              <p:cNvSpPr>
                <a:spLocks noChangeShapeType="1"/>
              </p:cNvSpPr>
              <p:nvPr/>
            </p:nvSpPr>
            <p:spPr bwMode="auto">
              <a:xfrm flipV="1">
                <a:off x="4176" y="3216"/>
                <a:ext cx="0" cy="384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6" name="Line 26"/>
              <p:cNvSpPr>
                <a:spLocks noChangeShapeType="1"/>
              </p:cNvSpPr>
              <p:nvPr/>
            </p:nvSpPr>
            <p:spPr bwMode="auto">
              <a:xfrm>
                <a:off x="4176" y="3216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0987" name="Text Box 27"/>
          <p:cNvSpPr txBox="1">
            <a:spLocks noChangeArrowheads="1"/>
          </p:cNvSpPr>
          <p:nvPr/>
        </p:nvSpPr>
        <p:spPr bwMode="auto">
          <a:xfrm>
            <a:off x="1143000" y="4215408"/>
            <a:ext cx="3257550" cy="3693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MEM/WB.LMD </a:t>
            </a:r>
            <a:r>
              <a:rPr lang="en-US" altLang="zh-CN" b="1">
                <a:solidFill>
                  <a:srgbClr val="FF3300"/>
                </a:solidFill>
                <a:sym typeface="Symbol" pitchFamily="18" charset="2"/>
              </a:rPr>
              <a:t> DM input</a:t>
            </a:r>
            <a:endParaRPr lang="en-US" altLang="zh-CN">
              <a:solidFill>
                <a:srgbClr val="CC00FF"/>
              </a:solidFill>
              <a:sym typeface="Symbol" pitchFamily="18" charset="2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Forwarding Doesn’t Always Work</a:t>
            </a:r>
            <a:endParaRPr lang="en-US" altLang="zh-CN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43558"/>
            <a:ext cx="6265069" cy="3479006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 we have to insert stall: </a:t>
            </a:r>
            <a:r>
              <a:rPr lang="en-US" altLang="zh-CN" dirty="0">
                <a:solidFill>
                  <a:schemeClr val="accent2"/>
                </a:solidFill>
              </a:rPr>
              <a:t>Load stall</a:t>
            </a:r>
            <a:endParaRPr lang="en-US" altLang="zh-CN" dirty="0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219640" y="1143000"/>
            <a:ext cx="1591238" cy="27507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sz="1350" i="1"/>
              <a:t>Time (clock cycles)</a:t>
            </a:r>
            <a:endParaRPr lang="en-US" altLang="zh-CN" sz="1350" i="1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1378483" y="1600200"/>
            <a:ext cx="258887" cy="235256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pPr algn="ctr"/>
            <a:r>
              <a:rPr lang="en-US" altLang="zh-CN" sz="1350" i="1"/>
              <a:t>I</a:t>
            </a:r>
            <a:endParaRPr lang="en-US" altLang="zh-CN" sz="1350" i="1"/>
          </a:p>
          <a:p>
            <a:pPr algn="ctr"/>
            <a:r>
              <a:rPr lang="en-US" altLang="zh-CN" sz="1350" i="1"/>
              <a:t>n</a:t>
            </a:r>
            <a:endParaRPr lang="en-US" altLang="zh-CN" sz="1350" i="1"/>
          </a:p>
          <a:p>
            <a:pPr algn="ctr"/>
            <a:r>
              <a:rPr lang="en-US" altLang="zh-CN" sz="1350" i="1"/>
              <a:t>s</a:t>
            </a:r>
            <a:endParaRPr lang="en-US" altLang="zh-CN" sz="1350" i="1"/>
          </a:p>
          <a:p>
            <a:pPr algn="ctr"/>
            <a:r>
              <a:rPr lang="en-US" altLang="zh-CN" sz="1350" i="1"/>
              <a:t>t</a:t>
            </a:r>
            <a:endParaRPr lang="en-US" altLang="zh-CN" sz="1350" i="1"/>
          </a:p>
          <a:p>
            <a:pPr algn="ctr"/>
            <a:r>
              <a:rPr lang="en-US" altLang="zh-CN" sz="1350" i="1"/>
              <a:t>r.</a:t>
            </a:r>
            <a:endParaRPr lang="en-US" altLang="zh-CN" sz="1350" i="1"/>
          </a:p>
          <a:p>
            <a:pPr algn="ctr"/>
            <a:endParaRPr lang="en-US" altLang="zh-CN" sz="1350" i="1"/>
          </a:p>
          <a:p>
            <a:pPr algn="ctr"/>
            <a:r>
              <a:rPr lang="en-US" altLang="zh-CN" sz="1350" i="1"/>
              <a:t>O</a:t>
            </a:r>
            <a:endParaRPr lang="en-US" altLang="zh-CN" sz="1350" i="1"/>
          </a:p>
          <a:p>
            <a:pPr algn="ctr"/>
            <a:r>
              <a:rPr lang="en-US" altLang="zh-CN" sz="1350" i="1"/>
              <a:t>r</a:t>
            </a:r>
            <a:endParaRPr lang="en-US" altLang="zh-CN" sz="1350" i="1"/>
          </a:p>
          <a:p>
            <a:pPr algn="ctr"/>
            <a:r>
              <a:rPr lang="en-US" altLang="zh-CN" sz="1350" i="1"/>
              <a:t>d</a:t>
            </a:r>
            <a:endParaRPr lang="en-US" altLang="zh-CN" sz="1350" i="1"/>
          </a:p>
          <a:p>
            <a:pPr algn="ctr"/>
            <a:r>
              <a:rPr lang="en-US" altLang="zh-CN" sz="1350" i="1"/>
              <a:t>e</a:t>
            </a:r>
            <a:endParaRPr lang="en-US" altLang="zh-CN" sz="1350" i="1"/>
          </a:p>
          <a:p>
            <a:pPr algn="ctr"/>
            <a:r>
              <a:rPr lang="en-US" altLang="zh-CN" sz="1350" i="1"/>
              <a:t>r</a:t>
            </a:r>
            <a:endParaRPr lang="en-US" altLang="zh-CN" sz="1350" i="1"/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>
            <a:off x="1771650" y="1485900"/>
            <a:ext cx="0" cy="274320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>
            <a:off x="2169319" y="1423988"/>
            <a:ext cx="5295900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1822556" y="1771650"/>
            <a:ext cx="1291221" cy="621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b="1">
                <a:solidFill>
                  <a:srgbClr val="FF3300"/>
                </a:solidFill>
                <a:latin typeface="Arial" panose="020B0604020202090204" pitchFamily="34" charset="0"/>
              </a:rPr>
              <a:t>lw r1, </a:t>
            </a:r>
            <a:r>
              <a:rPr lang="en-US" altLang="zh-CN" b="1">
                <a:latin typeface="Arial" panose="020B0604020202090204" pitchFamily="34" charset="0"/>
              </a:rPr>
              <a:t>0(r2)</a:t>
            </a:r>
            <a:endParaRPr lang="en-US" altLang="zh-CN" b="1">
              <a:solidFill>
                <a:srgbClr val="FF3300"/>
              </a:solidFill>
              <a:latin typeface="Arial" panose="020B0604020202090204" pitchFamily="34" charset="0"/>
            </a:endParaRPr>
          </a:p>
          <a:p>
            <a:pPr latinLnBrk="1"/>
            <a:endParaRPr lang="en-US" altLang="zh-CN" b="1">
              <a:latin typeface="Arial" panose="020B0604020202090204" pitchFamily="34" charset="0"/>
            </a:endParaRPr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1879607" y="2514600"/>
            <a:ext cx="1393813" cy="621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lIns="67866" tIns="33338" rIns="67866" bIns="33338">
            <a:spAutoFit/>
          </a:bodyPr>
          <a:lstStyle/>
          <a:p>
            <a:r>
              <a:rPr lang="en-US" altLang="zh-CN" b="1">
                <a:latin typeface="Arial" panose="020B0604020202090204" pitchFamily="34" charset="0"/>
              </a:rPr>
              <a:t>sub r4,</a:t>
            </a:r>
            <a:r>
              <a:rPr lang="en-US" altLang="zh-CN" b="1">
                <a:solidFill>
                  <a:srgbClr val="FF3300"/>
                </a:solidFill>
                <a:latin typeface="Arial" panose="020B0604020202090204" pitchFamily="34" charset="0"/>
              </a:rPr>
              <a:t>r1</a:t>
            </a:r>
            <a:r>
              <a:rPr lang="en-US" altLang="zh-CN" b="1">
                <a:latin typeface="Arial" panose="020B0604020202090204" pitchFamily="34" charset="0"/>
              </a:rPr>
              <a:t>,r6</a:t>
            </a:r>
            <a:endParaRPr lang="en-US" altLang="zh-CN" b="1">
              <a:latin typeface="Arial" panose="020B0604020202090204" pitchFamily="34" charset="0"/>
            </a:endParaRPr>
          </a:p>
          <a:p>
            <a:pPr latinLnBrk="1"/>
            <a:endParaRPr lang="en-US" altLang="zh-CN" b="1">
              <a:latin typeface="Arial" panose="020B0604020202090204" pitchFamily="34" charset="0"/>
            </a:endParaRPr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1885950" y="3200401"/>
            <a:ext cx="1381125" cy="3443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67866" tIns="33338" rIns="67866" bIns="33338">
            <a:spAutoFit/>
          </a:bodyPr>
          <a:lstStyle/>
          <a:p>
            <a:r>
              <a:rPr lang="en-US" altLang="zh-CN" b="1">
                <a:latin typeface="Arial" panose="020B0604020202090204" pitchFamily="34" charset="0"/>
              </a:rPr>
              <a:t>and r6,</a:t>
            </a:r>
            <a:r>
              <a:rPr lang="en-US" altLang="zh-CN" b="1">
                <a:solidFill>
                  <a:srgbClr val="339966"/>
                </a:solidFill>
                <a:latin typeface="Arial" panose="020B0604020202090204" pitchFamily="34" charset="0"/>
              </a:rPr>
              <a:t>r1</a:t>
            </a:r>
            <a:r>
              <a:rPr lang="en-US" altLang="zh-CN" b="1">
                <a:latin typeface="Arial" panose="020B0604020202090204" pitchFamily="34" charset="0"/>
              </a:rPr>
              <a:t>,r7</a:t>
            </a:r>
            <a:endParaRPr lang="en-US" altLang="zh-CN" b="1">
              <a:latin typeface="Arial" panose="020B0604020202090204" pitchFamily="34" charset="0"/>
            </a:endParaRPr>
          </a:p>
        </p:txBody>
      </p:sp>
      <p:grpSp>
        <p:nvGrpSpPr>
          <p:cNvPr id="43018" name="Group 10"/>
          <p:cNvGrpSpPr/>
          <p:nvPr/>
        </p:nvGrpSpPr>
        <p:grpSpPr bwMode="auto">
          <a:xfrm>
            <a:off x="3126722" y="1687117"/>
            <a:ext cx="4899003" cy="2544365"/>
            <a:chOff x="1727" y="1417"/>
            <a:chExt cx="3886" cy="2137"/>
          </a:xfrm>
        </p:grpSpPr>
        <p:grpSp>
          <p:nvGrpSpPr>
            <p:cNvPr id="43019" name="Group 11"/>
            <p:cNvGrpSpPr/>
            <p:nvPr/>
          </p:nvGrpSpPr>
          <p:grpSpPr bwMode="auto">
            <a:xfrm>
              <a:off x="1727" y="1417"/>
              <a:ext cx="2326" cy="441"/>
              <a:chOff x="1949" y="1200"/>
              <a:chExt cx="1931" cy="441"/>
            </a:xfrm>
          </p:grpSpPr>
          <p:grpSp>
            <p:nvGrpSpPr>
              <p:cNvPr id="43020" name="Group 12"/>
              <p:cNvGrpSpPr>
                <a:grpSpLocks noChangeAspect="1"/>
              </p:cNvGrpSpPr>
              <p:nvPr/>
            </p:nvGrpSpPr>
            <p:grpSpPr bwMode="auto">
              <a:xfrm>
                <a:off x="2417" y="1304"/>
                <a:ext cx="246" cy="233"/>
                <a:chOff x="1350" y="528"/>
                <a:chExt cx="535" cy="432"/>
              </a:xfrm>
            </p:grpSpPr>
            <p:grpSp>
              <p:nvGrpSpPr>
                <p:cNvPr id="43021" name="Group 13"/>
                <p:cNvGrpSpPr>
                  <a:grpSpLocks noChangeAspect="1"/>
                </p:cNvGrpSpPr>
                <p:nvPr/>
              </p:nvGrpSpPr>
              <p:grpSpPr bwMode="auto">
                <a:xfrm>
                  <a:off x="1374" y="528"/>
                  <a:ext cx="480" cy="432"/>
                  <a:chOff x="1392" y="528"/>
                  <a:chExt cx="480" cy="432"/>
                </a:xfrm>
              </p:grpSpPr>
              <p:sp>
                <p:nvSpPr>
                  <p:cNvPr id="43022" name="Rectangle 1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23" name="Rectangle 1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endParaRPr lang="zh-CN" altLang="zh-CN" sz="750" b="1"/>
                  </a:p>
                </p:txBody>
              </p:sp>
            </p:grpSp>
            <p:sp>
              <p:nvSpPr>
                <p:cNvPr id="43024" name="Text Box 16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350" y="556"/>
                  <a:ext cx="535" cy="3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Reg</a:t>
                  </a:r>
                  <a:endParaRPr lang="en-US" altLang="zh-CN" sz="750" b="1"/>
                </a:p>
              </p:txBody>
            </p:sp>
          </p:grpSp>
          <p:sp>
            <p:nvSpPr>
              <p:cNvPr id="43025" name="Line 17"/>
              <p:cNvSpPr>
                <a:spLocks noChangeAspect="1" noChangeShapeType="1"/>
              </p:cNvSpPr>
              <p:nvPr/>
            </p:nvSpPr>
            <p:spPr bwMode="auto">
              <a:xfrm>
                <a:off x="2651" y="1351"/>
                <a:ext cx="2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26" name="Line 18"/>
              <p:cNvSpPr>
                <a:spLocks noChangeAspect="1" noChangeShapeType="1"/>
              </p:cNvSpPr>
              <p:nvPr/>
            </p:nvSpPr>
            <p:spPr bwMode="auto">
              <a:xfrm>
                <a:off x="2651" y="1490"/>
                <a:ext cx="2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027" name="Group 19"/>
              <p:cNvGrpSpPr>
                <a:grpSpLocks noChangeAspect="1"/>
              </p:cNvGrpSpPr>
              <p:nvPr/>
            </p:nvGrpSpPr>
            <p:grpSpPr bwMode="auto">
              <a:xfrm>
                <a:off x="2854" y="1235"/>
                <a:ext cx="201" cy="371"/>
                <a:chOff x="2991" y="411"/>
                <a:chExt cx="362" cy="768"/>
              </a:xfrm>
            </p:grpSpPr>
            <p:sp>
              <p:nvSpPr>
                <p:cNvPr id="43028" name="AutoShape 20"/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2798" y="626"/>
                  <a:ext cx="768" cy="337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vert="eaVert" wrap="none" anchor="ctr"/>
                <a:lstStyle/>
                <a:p>
                  <a:pPr algn="ctr"/>
                  <a:endParaRPr lang="zh-CN" altLang="zh-CN" sz="750" b="1"/>
                </a:p>
              </p:txBody>
            </p:sp>
            <p:sp>
              <p:nvSpPr>
                <p:cNvPr id="43029" name="AutoShape 21"/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957" y="705"/>
                  <a:ext cx="248" cy="18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30" name="Freeform 22"/>
                <p:cNvSpPr>
                  <a:spLocks noChangeAspect="1"/>
                </p:cNvSpPr>
                <p:nvPr/>
              </p:nvSpPr>
              <p:spPr bwMode="auto">
                <a:xfrm rot="5400000">
                  <a:off x="2974" y="725"/>
                  <a:ext cx="218" cy="139"/>
                </a:xfrm>
                <a:custGeom>
                  <a:avLst/>
                  <a:gdLst>
                    <a:gd name="T0" fmla="*/ 0 w 384"/>
                    <a:gd name="T1" fmla="*/ 288 h 288"/>
                    <a:gd name="T2" fmla="*/ 192 w 384"/>
                    <a:gd name="T3" fmla="*/ 0 h 288"/>
                    <a:gd name="T4" fmla="*/ 384 w 384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84" h="288">
                      <a:moveTo>
                        <a:pt x="0" y="288"/>
                      </a:moveTo>
                      <a:lnTo>
                        <a:pt x="192" y="0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31" name="Text Box 23"/>
                <p:cNvSpPr txBox="1">
                  <a:spLocks noChangeAspect="1" noChangeArrowheads="1"/>
                </p:cNvSpPr>
                <p:nvPr/>
              </p:nvSpPr>
              <p:spPr bwMode="auto">
                <a:xfrm rot="16200000">
                  <a:off x="2903" y="621"/>
                  <a:ext cx="653" cy="2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ALU</a:t>
                  </a:r>
                  <a:endParaRPr lang="en-US" altLang="zh-CN" sz="750" b="1"/>
                </a:p>
              </p:txBody>
            </p:sp>
          </p:grpSp>
          <p:sp>
            <p:nvSpPr>
              <p:cNvPr id="43032" name="Line 24"/>
              <p:cNvSpPr>
                <a:spLocks noChangeAspect="1" noChangeShapeType="1"/>
              </p:cNvSpPr>
              <p:nvPr/>
            </p:nvSpPr>
            <p:spPr bwMode="auto">
              <a:xfrm>
                <a:off x="3052" y="1421"/>
                <a:ext cx="2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3" name="Line 25"/>
              <p:cNvSpPr>
                <a:spLocks noChangeAspect="1" noChangeShapeType="1"/>
              </p:cNvSpPr>
              <p:nvPr/>
            </p:nvSpPr>
            <p:spPr bwMode="auto">
              <a:xfrm>
                <a:off x="3475" y="1421"/>
                <a:ext cx="2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034" name="Group 26"/>
              <p:cNvGrpSpPr>
                <a:grpSpLocks noChangeAspect="1"/>
              </p:cNvGrpSpPr>
              <p:nvPr/>
            </p:nvGrpSpPr>
            <p:grpSpPr bwMode="auto">
              <a:xfrm>
                <a:off x="3180" y="1305"/>
                <a:ext cx="324" cy="232"/>
                <a:chOff x="3798" y="576"/>
                <a:chExt cx="701" cy="480"/>
              </a:xfrm>
            </p:grpSpPr>
            <p:sp>
              <p:nvSpPr>
                <p:cNvPr id="43035" name="Rectangle 27"/>
                <p:cNvSpPr>
                  <a:spLocks noChangeAspect="1" noChangeArrowheads="1"/>
                </p:cNvSpPr>
                <p:nvPr/>
              </p:nvSpPr>
              <p:spPr bwMode="auto">
                <a:xfrm>
                  <a:off x="3915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r"/>
                  <a:endParaRPr lang="zh-CN" altLang="zh-CN" sz="750" b="1"/>
                </a:p>
              </p:txBody>
            </p:sp>
            <p:sp>
              <p:nvSpPr>
                <p:cNvPr id="43036" name="Text Box 28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798" y="607"/>
                  <a:ext cx="701" cy="3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DMem</a:t>
                  </a:r>
                  <a:endParaRPr lang="en-US" altLang="zh-CN" sz="750" b="1"/>
                </a:p>
              </p:txBody>
            </p:sp>
          </p:grpSp>
          <p:sp>
            <p:nvSpPr>
              <p:cNvPr id="43037" name="Freeform 29"/>
              <p:cNvSpPr>
                <a:spLocks noChangeAspect="1"/>
              </p:cNvSpPr>
              <p:nvPr/>
            </p:nvSpPr>
            <p:spPr bwMode="auto">
              <a:xfrm>
                <a:off x="3208" y="1421"/>
                <a:ext cx="332" cy="185"/>
              </a:xfrm>
              <a:custGeom>
                <a:avLst/>
                <a:gdLst>
                  <a:gd name="T0" fmla="*/ 0 w 816"/>
                  <a:gd name="T1" fmla="*/ 0 h 384"/>
                  <a:gd name="T2" fmla="*/ 0 w 816"/>
                  <a:gd name="T3" fmla="*/ 384 h 384"/>
                  <a:gd name="T4" fmla="*/ 720 w 816"/>
                  <a:gd name="T5" fmla="*/ 384 h 384"/>
                  <a:gd name="T6" fmla="*/ 720 w 816"/>
                  <a:gd name="T7" fmla="*/ 144 h 384"/>
                  <a:gd name="T8" fmla="*/ 816 w 816"/>
                  <a:gd name="T9" fmla="*/ 14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384">
                    <a:moveTo>
                      <a:pt x="0" y="0"/>
                    </a:moveTo>
                    <a:lnTo>
                      <a:pt x="0" y="384"/>
                    </a:lnTo>
                    <a:lnTo>
                      <a:pt x="720" y="384"/>
                    </a:lnTo>
                    <a:lnTo>
                      <a:pt x="720" y="144"/>
                    </a:lnTo>
                    <a:lnTo>
                      <a:pt x="816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8" name="Line 30"/>
              <p:cNvSpPr>
                <a:spLocks noChangeAspect="1" noChangeShapeType="1"/>
              </p:cNvSpPr>
              <p:nvPr/>
            </p:nvSpPr>
            <p:spPr bwMode="auto">
              <a:xfrm>
                <a:off x="2199" y="1491"/>
                <a:ext cx="2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9" name="Line 31"/>
              <p:cNvSpPr>
                <a:spLocks noChangeAspect="1" noChangeShapeType="1"/>
              </p:cNvSpPr>
              <p:nvPr/>
            </p:nvSpPr>
            <p:spPr bwMode="auto">
              <a:xfrm>
                <a:off x="2169" y="1351"/>
                <a:ext cx="2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040" name="Group 32"/>
              <p:cNvGrpSpPr>
                <a:grpSpLocks noChangeAspect="1"/>
              </p:cNvGrpSpPr>
              <p:nvPr/>
            </p:nvGrpSpPr>
            <p:grpSpPr bwMode="auto">
              <a:xfrm>
                <a:off x="1949" y="1305"/>
                <a:ext cx="315" cy="232"/>
                <a:chOff x="1096" y="576"/>
                <a:chExt cx="680" cy="480"/>
              </a:xfrm>
            </p:grpSpPr>
            <p:sp>
              <p:nvSpPr>
                <p:cNvPr id="43041" name="Rectangle 33"/>
                <p:cNvSpPr>
                  <a:spLocks noChangeAspect="1" noChangeArrowheads="1"/>
                </p:cNvSpPr>
                <p:nvPr/>
              </p:nvSpPr>
              <p:spPr bwMode="auto">
                <a:xfrm>
                  <a:off x="1197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r"/>
                  <a:endParaRPr lang="zh-CN" altLang="zh-CN" sz="750" b="1"/>
                </a:p>
              </p:txBody>
            </p:sp>
            <p:sp>
              <p:nvSpPr>
                <p:cNvPr id="43042" name="Text Box 34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096" y="607"/>
                  <a:ext cx="680" cy="3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Ifetch</a:t>
                  </a:r>
                  <a:endParaRPr lang="en-US" altLang="zh-CN" sz="750" b="1"/>
                </a:p>
              </p:txBody>
            </p:sp>
          </p:grpSp>
          <p:grpSp>
            <p:nvGrpSpPr>
              <p:cNvPr id="43043" name="Group 35"/>
              <p:cNvGrpSpPr/>
              <p:nvPr/>
            </p:nvGrpSpPr>
            <p:grpSpPr bwMode="auto">
              <a:xfrm>
                <a:off x="2288" y="1200"/>
                <a:ext cx="1297" cy="441"/>
                <a:chOff x="2112" y="528"/>
                <a:chExt cx="2088" cy="681"/>
              </a:xfrm>
            </p:grpSpPr>
            <p:sp>
              <p:nvSpPr>
                <p:cNvPr id="43044" name="Rectangle 36"/>
                <p:cNvSpPr>
                  <a:spLocks noChangeAspect="1" noChangeArrowheads="1"/>
                </p:cNvSpPr>
                <p:nvPr/>
              </p:nvSpPr>
              <p:spPr bwMode="auto">
                <a:xfrm>
                  <a:off x="2784" y="528"/>
                  <a:ext cx="72" cy="681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45" name="Rectangle 37"/>
                <p:cNvSpPr>
                  <a:spLocks noChangeAspect="1" noChangeArrowheads="1"/>
                </p:cNvSpPr>
                <p:nvPr/>
              </p:nvSpPr>
              <p:spPr bwMode="auto">
                <a:xfrm>
                  <a:off x="4128" y="528"/>
                  <a:ext cx="72" cy="681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46" name="Rectangle 38"/>
                <p:cNvSpPr>
                  <a:spLocks noChangeAspect="1" noChangeArrowheads="1"/>
                </p:cNvSpPr>
                <p:nvPr/>
              </p:nvSpPr>
              <p:spPr bwMode="auto">
                <a:xfrm>
                  <a:off x="2112" y="528"/>
                  <a:ext cx="72" cy="681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47" name="Rectangle 39"/>
                <p:cNvSpPr>
                  <a:spLocks noChangeAspect="1" noChangeArrowheads="1"/>
                </p:cNvSpPr>
                <p:nvPr/>
              </p:nvSpPr>
              <p:spPr bwMode="auto">
                <a:xfrm>
                  <a:off x="3456" y="532"/>
                  <a:ext cx="71" cy="672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048" name="Group 40"/>
              <p:cNvGrpSpPr>
                <a:grpSpLocks noChangeAspect="1"/>
              </p:cNvGrpSpPr>
              <p:nvPr/>
            </p:nvGrpSpPr>
            <p:grpSpPr bwMode="auto">
              <a:xfrm flipH="1">
                <a:off x="3634" y="1296"/>
                <a:ext cx="246" cy="233"/>
                <a:chOff x="1359" y="528"/>
                <a:chExt cx="530" cy="432"/>
              </a:xfrm>
            </p:grpSpPr>
            <p:grpSp>
              <p:nvGrpSpPr>
                <p:cNvPr id="43049" name="Group 41"/>
                <p:cNvGrpSpPr>
                  <a:grpSpLocks noChangeAspect="1"/>
                </p:cNvGrpSpPr>
                <p:nvPr/>
              </p:nvGrpSpPr>
              <p:grpSpPr bwMode="auto">
                <a:xfrm>
                  <a:off x="1374" y="528"/>
                  <a:ext cx="480" cy="432"/>
                  <a:chOff x="1392" y="528"/>
                  <a:chExt cx="480" cy="432"/>
                </a:xfrm>
              </p:grpSpPr>
              <p:sp>
                <p:nvSpPr>
                  <p:cNvPr id="43050" name="Rectangle 4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51" name="Rectangle 4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endParaRPr lang="zh-CN" altLang="zh-CN" sz="750" b="1"/>
                  </a:p>
                </p:txBody>
              </p:sp>
            </p:grpSp>
            <p:sp>
              <p:nvSpPr>
                <p:cNvPr id="43052" name="Text Box 44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359" y="556"/>
                  <a:ext cx="530" cy="3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Reg</a:t>
                  </a:r>
                  <a:endParaRPr lang="en-US" altLang="zh-CN" sz="750" b="1"/>
                </a:p>
              </p:txBody>
            </p:sp>
          </p:grpSp>
        </p:grpSp>
        <p:grpSp>
          <p:nvGrpSpPr>
            <p:cNvPr id="43053" name="Group 45"/>
            <p:cNvGrpSpPr/>
            <p:nvPr/>
          </p:nvGrpSpPr>
          <p:grpSpPr bwMode="auto">
            <a:xfrm>
              <a:off x="2243" y="2005"/>
              <a:ext cx="2822" cy="442"/>
              <a:chOff x="2389" y="2157"/>
              <a:chExt cx="2822" cy="442"/>
            </a:xfrm>
          </p:grpSpPr>
          <p:grpSp>
            <p:nvGrpSpPr>
              <p:cNvPr id="43054" name="Group 46"/>
              <p:cNvGrpSpPr>
                <a:grpSpLocks noChangeAspect="1"/>
              </p:cNvGrpSpPr>
              <p:nvPr/>
            </p:nvGrpSpPr>
            <p:grpSpPr bwMode="auto">
              <a:xfrm>
                <a:off x="2951" y="2259"/>
                <a:ext cx="296" cy="233"/>
                <a:chOff x="1348" y="528"/>
                <a:chExt cx="535" cy="432"/>
              </a:xfrm>
            </p:grpSpPr>
            <p:grpSp>
              <p:nvGrpSpPr>
                <p:cNvPr id="43055" name="Group 47"/>
                <p:cNvGrpSpPr>
                  <a:grpSpLocks noChangeAspect="1"/>
                </p:cNvGrpSpPr>
                <p:nvPr/>
              </p:nvGrpSpPr>
              <p:grpSpPr bwMode="auto">
                <a:xfrm>
                  <a:off x="1374" y="528"/>
                  <a:ext cx="480" cy="432"/>
                  <a:chOff x="1392" y="528"/>
                  <a:chExt cx="480" cy="432"/>
                </a:xfrm>
              </p:grpSpPr>
              <p:sp>
                <p:nvSpPr>
                  <p:cNvPr id="43056" name="Rectangle 48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57" name="Rectangle 49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endParaRPr lang="zh-CN" altLang="zh-CN" sz="750" b="1"/>
                  </a:p>
                </p:txBody>
              </p:sp>
            </p:grpSp>
            <p:sp>
              <p:nvSpPr>
                <p:cNvPr id="43058" name="Text Box 50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348" y="556"/>
                  <a:ext cx="535" cy="3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Reg</a:t>
                  </a:r>
                  <a:endParaRPr lang="en-US" altLang="zh-CN" sz="750" b="1"/>
                </a:p>
              </p:txBody>
            </p:sp>
          </p:grpSp>
          <p:sp>
            <p:nvSpPr>
              <p:cNvPr id="43059" name="Line 51"/>
              <p:cNvSpPr>
                <a:spLocks noChangeAspect="1" noChangeShapeType="1"/>
              </p:cNvSpPr>
              <p:nvPr/>
            </p:nvSpPr>
            <p:spPr bwMode="auto">
              <a:xfrm>
                <a:off x="3234" y="2306"/>
                <a:ext cx="79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0" name="Line 52"/>
              <p:cNvSpPr>
                <a:spLocks noChangeAspect="1" noChangeShapeType="1"/>
              </p:cNvSpPr>
              <p:nvPr/>
            </p:nvSpPr>
            <p:spPr bwMode="auto">
              <a:xfrm>
                <a:off x="3216" y="2448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1" name="Line 53"/>
              <p:cNvSpPr>
                <a:spLocks noChangeAspect="1" noChangeShapeType="1"/>
              </p:cNvSpPr>
              <p:nvPr/>
            </p:nvSpPr>
            <p:spPr bwMode="auto">
              <a:xfrm>
                <a:off x="2690" y="2446"/>
                <a:ext cx="2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2" name="Line 54"/>
              <p:cNvSpPr>
                <a:spLocks noChangeAspect="1" noChangeShapeType="1"/>
              </p:cNvSpPr>
              <p:nvPr/>
            </p:nvSpPr>
            <p:spPr bwMode="auto">
              <a:xfrm>
                <a:off x="2654" y="2306"/>
                <a:ext cx="3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063" name="Group 55"/>
              <p:cNvGrpSpPr>
                <a:grpSpLocks noChangeAspect="1"/>
              </p:cNvGrpSpPr>
              <p:nvPr/>
            </p:nvGrpSpPr>
            <p:grpSpPr bwMode="auto">
              <a:xfrm>
                <a:off x="2389" y="2260"/>
                <a:ext cx="379" cy="232"/>
                <a:chOff x="1096" y="576"/>
                <a:chExt cx="680" cy="480"/>
              </a:xfrm>
            </p:grpSpPr>
            <p:sp>
              <p:nvSpPr>
                <p:cNvPr id="43064" name="Rectangle 56"/>
                <p:cNvSpPr>
                  <a:spLocks noChangeAspect="1" noChangeArrowheads="1"/>
                </p:cNvSpPr>
                <p:nvPr/>
              </p:nvSpPr>
              <p:spPr bwMode="auto">
                <a:xfrm>
                  <a:off x="1197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r"/>
                  <a:endParaRPr lang="zh-CN" altLang="zh-CN" sz="750" b="1"/>
                </a:p>
              </p:txBody>
            </p:sp>
            <p:sp>
              <p:nvSpPr>
                <p:cNvPr id="43065" name="Text Box 57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096" y="607"/>
                  <a:ext cx="680" cy="3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Ifetch</a:t>
                  </a:r>
                  <a:endParaRPr lang="en-US" altLang="zh-CN" sz="750" b="1"/>
                </a:p>
              </p:txBody>
            </p:sp>
          </p:grpSp>
          <p:sp>
            <p:nvSpPr>
              <p:cNvPr id="43066" name="Rectangle 58"/>
              <p:cNvSpPr>
                <a:spLocks noChangeAspect="1" noChangeArrowheads="1"/>
              </p:cNvSpPr>
              <p:nvPr/>
            </p:nvSpPr>
            <p:spPr bwMode="auto">
              <a:xfrm>
                <a:off x="3300" y="2157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7" name="Rectangle 59"/>
              <p:cNvSpPr>
                <a:spLocks noChangeAspect="1" noChangeArrowheads="1"/>
              </p:cNvSpPr>
              <p:nvPr/>
            </p:nvSpPr>
            <p:spPr bwMode="auto">
              <a:xfrm>
                <a:off x="2797" y="2157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068" name="Group 60"/>
              <p:cNvGrpSpPr/>
              <p:nvPr/>
            </p:nvGrpSpPr>
            <p:grpSpPr bwMode="auto">
              <a:xfrm>
                <a:off x="3972" y="2157"/>
                <a:ext cx="1239" cy="441"/>
                <a:chOff x="3475" y="2155"/>
                <a:chExt cx="1239" cy="441"/>
              </a:xfrm>
            </p:grpSpPr>
            <p:sp>
              <p:nvSpPr>
                <p:cNvPr id="43069" name="AutoShape 61"/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3417" y="2263"/>
                  <a:ext cx="371" cy="225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vert="eaVert" wrap="none" anchor="ctr"/>
                <a:lstStyle/>
                <a:p>
                  <a:pPr algn="ctr"/>
                  <a:endParaRPr lang="zh-CN" altLang="zh-CN" sz="750" b="1"/>
                </a:p>
              </p:txBody>
            </p:sp>
            <p:sp>
              <p:nvSpPr>
                <p:cNvPr id="43070" name="AutoShape 62"/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3475" y="2316"/>
                  <a:ext cx="119" cy="1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1" name="Freeform 63"/>
                <p:cNvSpPr>
                  <a:spLocks noChangeAspect="1"/>
                </p:cNvSpPr>
                <p:nvPr/>
              </p:nvSpPr>
              <p:spPr bwMode="auto">
                <a:xfrm rot="5400000">
                  <a:off x="3484" y="2329"/>
                  <a:ext cx="105" cy="93"/>
                </a:xfrm>
                <a:custGeom>
                  <a:avLst/>
                  <a:gdLst>
                    <a:gd name="T0" fmla="*/ 0 w 384"/>
                    <a:gd name="T1" fmla="*/ 288 h 288"/>
                    <a:gd name="T2" fmla="*/ 192 w 384"/>
                    <a:gd name="T3" fmla="*/ 0 h 288"/>
                    <a:gd name="T4" fmla="*/ 384 w 384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84" h="288">
                      <a:moveTo>
                        <a:pt x="0" y="288"/>
                      </a:moveTo>
                      <a:lnTo>
                        <a:pt x="192" y="0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2" name="Text Box 64"/>
                <p:cNvSpPr txBox="1">
                  <a:spLocks noChangeAspect="1" noChangeArrowheads="1"/>
                </p:cNvSpPr>
                <p:nvPr/>
              </p:nvSpPr>
              <p:spPr bwMode="auto">
                <a:xfrm rot="16200000">
                  <a:off x="3476" y="2269"/>
                  <a:ext cx="315" cy="1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ALU</a:t>
                  </a:r>
                  <a:endParaRPr lang="en-US" altLang="zh-CN" sz="750" b="1"/>
                </a:p>
              </p:txBody>
            </p:sp>
            <p:sp>
              <p:nvSpPr>
                <p:cNvPr id="43073" name="Line 65"/>
                <p:cNvSpPr>
                  <a:spLocks noChangeAspect="1" noChangeShapeType="1"/>
                </p:cNvSpPr>
                <p:nvPr/>
              </p:nvSpPr>
              <p:spPr bwMode="auto">
                <a:xfrm>
                  <a:off x="3717" y="2376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4" name="Line 66"/>
                <p:cNvSpPr>
                  <a:spLocks noChangeAspect="1" noChangeShapeType="1"/>
                </p:cNvSpPr>
                <p:nvPr/>
              </p:nvSpPr>
              <p:spPr bwMode="auto">
                <a:xfrm>
                  <a:off x="4226" y="2376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5" name="Rectangle 67"/>
                <p:cNvSpPr>
                  <a:spLocks noChangeAspect="1" noChangeArrowheads="1"/>
                </p:cNvSpPr>
                <p:nvPr/>
              </p:nvSpPr>
              <p:spPr bwMode="auto">
                <a:xfrm>
                  <a:off x="3940" y="2260"/>
                  <a:ext cx="268" cy="23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r"/>
                  <a:endParaRPr lang="zh-CN" altLang="zh-CN" sz="750" b="1"/>
                </a:p>
              </p:txBody>
            </p:sp>
            <p:sp>
              <p:nvSpPr>
                <p:cNvPr id="43076" name="Text Box 68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876" y="2275"/>
                  <a:ext cx="391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DMem</a:t>
                  </a:r>
                  <a:endParaRPr lang="en-US" altLang="zh-CN" sz="750" b="1"/>
                </a:p>
              </p:txBody>
            </p:sp>
            <p:sp>
              <p:nvSpPr>
                <p:cNvPr id="43077" name="Freeform 69"/>
                <p:cNvSpPr>
                  <a:spLocks noChangeAspect="1"/>
                </p:cNvSpPr>
                <p:nvPr/>
              </p:nvSpPr>
              <p:spPr bwMode="auto">
                <a:xfrm>
                  <a:off x="3905" y="2376"/>
                  <a:ext cx="399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384 h 384"/>
                    <a:gd name="T4" fmla="*/ 720 w 816"/>
                    <a:gd name="T5" fmla="*/ 384 h 384"/>
                    <a:gd name="T6" fmla="*/ 720 w 816"/>
                    <a:gd name="T7" fmla="*/ 144 h 384"/>
                    <a:gd name="T8" fmla="*/ 816 w 816"/>
                    <a:gd name="T9" fmla="*/ 144 h 3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8" name="Rectangle 70"/>
                <p:cNvSpPr>
                  <a:spLocks noChangeAspect="1" noChangeArrowheads="1"/>
                </p:cNvSpPr>
                <p:nvPr/>
              </p:nvSpPr>
              <p:spPr bwMode="auto">
                <a:xfrm>
                  <a:off x="4305" y="2155"/>
                  <a:ext cx="54" cy="441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9" name="Rectangle 71"/>
                <p:cNvSpPr>
                  <a:spLocks noChangeAspect="1" noChangeArrowheads="1"/>
                </p:cNvSpPr>
                <p:nvPr/>
              </p:nvSpPr>
              <p:spPr bwMode="auto">
                <a:xfrm>
                  <a:off x="3802" y="2158"/>
                  <a:ext cx="54" cy="435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43080" name="Group 72"/>
                <p:cNvGrpSpPr>
                  <a:grpSpLocks noChangeAspect="1"/>
                </p:cNvGrpSpPr>
                <p:nvPr/>
              </p:nvGrpSpPr>
              <p:grpSpPr bwMode="auto">
                <a:xfrm flipH="1">
                  <a:off x="4436" y="2251"/>
                  <a:ext cx="268" cy="233"/>
                  <a:chOff x="1392" y="528"/>
                  <a:chExt cx="480" cy="432"/>
                </a:xfrm>
              </p:grpSpPr>
              <p:sp>
                <p:nvSpPr>
                  <p:cNvPr id="43081" name="Rectangle 7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82" name="Rectangle 7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endParaRPr lang="zh-CN" altLang="zh-CN" sz="750" b="1"/>
                  </a:p>
                </p:txBody>
              </p:sp>
            </p:grpSp>
            <p:sp>
              <p:nvSpPr>
                <p:cNvPr id="43083" name="Text Box 75"/>
                <p:cNvSpPr txBox="1">
                  <a:spLocks noChangeAspect="1" noChangeArrowheads="1"/>
                </p:cNvSpPr>
                <p:nvPr/>
              </p:nvSpPr>
              <p:spPr bwMode="auto">
                <a:xfrm flipH="1">
                  <a:off x="4417" y="2266"/>
                  <a:ext cx="297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Reg</a:t>
                  </a:r>
                  <a:endParaRPr lang="en-US" altLang="zh-CN" sz="750" b="1"/>
                </a:p>
              </p:txBody>
            </p:sp>
          </p:grpSp>
          <p:sp>
            <p:nvSpPr>
              <p:cNvPr id="43084" name="Rectangle 76"/>
              <p:cNvSpPr>
                <a:spLocks noChangeAspect="1" noChangeArrowheads="1"/>
              </p:cNvSpPr>
              <p:nvPr/>
            </p:nvSpPr>
            <p:spPr bwMode="auto">
              <a:xfrm>
                <a:off x="3792" y="2158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5" name="AutoShape 77"/>
              <p:cNvSpPr>
                <a:spLocks noChangeArrowheads="1"/>
              </p:cNvSpPr>
              <p:nvPr/>
            </p:nvSpPr>
            <p:spPr bwMode="auto">
              <a:xfrm>
                <a:off x="3380" y="2171"/>
                <a:ext cx="364" cy="422"/>
              </a:xfrm>
              <a:prstGeom prst="cloudCallout">
                <a:avLst>
                  <a:gd name="adj1" fmla="val 39287"/>
                  <a:gd name="adj2" fmla="val 38153"/>
                </a:avLst>
              </a:prstGeom>
              <a:solidFill>
                <a:srgbClr val="0FEFEA"/>
              </a:solidFill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125" b="1" dirty="0"/>
                  <a:t>Bubble</a:t>
                </a:r>
                <a:endParaRPr lang="en-US" altLang="zh-CN" sz="1200" b="1" dirty="0"/>
              </a:p>
            </p:txBody>
          </p:sp>
        </p:grpSp>
        <p:grpSp>
          <p:nvGrpSpPr>
            <p:cNvPr id="43086" name="Group 78"/>
            <p:cNvGrpSpPr/>
            <p:nvPr/>
          </p:nvGrpSpPr>
          <p:grpSpPr bwMode="auto">
            <a:xfrm>
              <a:off x="2744" y="2567"/>
              <a:ext cx="2821" cy="449"/>
              <a:chOff x="2890" y="2719"/>
              <a:chExt cx="2821" cy="449"/>
            </a:xfrm>
          </p:grpSpPr>
          <p:sp>
            <p:nvSpPr>
              <p:cNvPr id="43087" name="Line 79"/>
              <p:cNvSpPr>
                <a:spLocks noChangeAspect="1" noChangeShapeType="1"/>
              </p:cNvSpPr>
              <p:nvPr/>
            </p:nvSpPr>
            <p:spPr bwMode="auto">
              <a:xfrm>
                <a:off x="3734" y="2875"/>
                <a:ext cx="79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8" name="Line 80"/>
              <p:cNvSpPr>
                <a:spLocks noChangeAspect="1" noChangeShapeType="1"/>
              </p:cNvSpPr>
              <p:nvPr/>
            </p:nvSpPr>
            <p:spPr bwMode="auto">
              <a:xfrm>
                <a:off x="3716" y="3017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9" name="Line 81"/>
              <p:cNvSpPr>
                <a:spLocks noChangeAspect="1" noChangeShapeType="1"/>
              </p:cNvSpPr>
              <p:nvPr/>
            </p:nvSpPr>
            <p:spPr bwMode="auto">
              <a:xfrm>
                <a:off x="3190" y="3015"/>
                <a:ext cx="2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0" name="Line 82"/>
              <p:cNvSpPr>
                <a:spLocks noChangeAspect="1" noChangeShapeType="1"/>
              </p:cNvSpPr>
              <p:nvPr/>
            </p:nvSpPr>
            <p:spPr bwMode="auto">
              <a:xfrm>
                <a:off x="3154" y="2875"/>
                <a:ext cx="3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091" name="Group 83"/>
              <p:cNvGrpSpPr>
                <a:grpSpLocks noChangeAspect="1"/>
              </p:cNvGrpSpPr>
              <p:nvPr/>
            </p:nvGrpSpPr>
            <p:grpSpPr bwMode="auto">
              <a:xfrm>
                <a:off x="2890" y="2829"/>
                <a:ext cx="379" cy="232"/>
                <a:chOff x="1097" y="576"/>
                <a:chExt cx="680" cy="480"/>
              </a:xfrm>
            </p:grpSpPr>
            <p:sp>
              <p:nvSpPr>
                <p:cNvPr id="43092" name="Rectangle 84"/>
                <p:cNvSpPr>
                  <a:spLocks noChangeAspect="1" noChangeArrowheads="1"/>
                </p:cNvSpPr>
                <p:nvPr/>
              </p:nvSpPr>
              <p:spPr bwMode="auto">
                <a:xfrm>
                  <a:off x="1197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r"/>
                  <a:endParaRPr lang="zh-CN" altLang="zh-CN" sz="750" b="1"/>
                </a:p>
              </p:txBody>
            </p:sp>
            <p:sp>
              <p:nvSpPr>
                <p:cNvPr id="43093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097" y="607"/>
                  <a:ext cx="680" cy="3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Ifetch</a:t>
                  </a:r>
                  <a:endParaRPr lang="en-US" altLang="zh-CN" sz="750" b="1"/>
                </a:p>
              </p:txBody>
            </p:sp>
          </p:grpSp>
          <p:sp>
            <p:nvSpPr>
              <p:cNvPr id="43094" name="Rectangle 86"/>
              <p:cNvSpPr>
                <a:spLocks noChangeAspect="1" noChangeArrowheads="1"/>
              </p:cNvSpPr>
              <p:nvPr/>
            </p:nvSpPr>
            <p:spPr bwMode="auto">
              <a:xfrm>
                <a:off x="3800" y="2726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5" name="Rectangle 87"/>
              <p:cNvSpPr>
                <a:spLocks noChangeAspect="1" noChangeArrowheads="1"/>
              </p:cNvSpPr>
              <p:nvPr/>
            </p:nvSpPr>
            <p:spPr bwMode="auto">
              <a:xfrm>
                <a:off x="3297" y="2726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096" name="Group 88"/>
              <p:cNvGrpSpPr/>
              <p:nvPr/>
            </p:nvGrpSpPr>
            <p:grpSpPr bwMode="auto">
              <a:xfrm>
                <a:off x="4472" y="2726"/>
                <a:ext cx="1239" cy="441"/>
                <a:chOff x="3475" y="2155"/>
                <a:chExt cx="1239" cy="441"/>
              </a:xfrm>
            </p:grpSpPr>
            <p:sp>
              <p:nvSpPr>
                <p:cNvPr id="43097" name="AutoShape 89"/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3417" y="2263"/>
                  <a:ext cx="371" cy="225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vert="eaVert" wrap="none" anchor="ctr"/>
                <a:lstStyle/>
                <a:p>
                  <a:pPr algn="ctr"/>
                  <a:endParaRPr lang="zh-CN" altLang="zh-CN" sz="750" b="1"/>
                </a:p>
              </p:txBody>
            </p:sp>
            <p:sp>
              <p:nvSpPr>
                <p:cNvPr id="43098" name="AutoShape 90"/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3475" y="2316"/>
                  <a:ext cx="119" cy="1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99" name="Freeform 91"/>
                <p:cNvSpPr>
                  <a:spLocks noChangeAspect="1"/>
                </p:cNvSpPr>
                <p:nvPr/>
              </p:nvSpPr>
              <p:spPr bwMode="auto">
                <a:xfrm rot="5400000">
                  <a:off x="3484" y="2329"/>
                  <a:ext cx="105" cy="93"/>
                </a:xfrm>
                <a:custGeom>
                  <a:avLst/>
                  <a:gdLst>
                    <a:gd name="T0" fmla="*/ 0 w 384"/>
                    <a:gd name="T1" fmla="*/ 288 h 288"/>
                    <a:gd name="T2" fmla="*/ 192 w 384"/>
                    <a:gd name="T3" fmla="*/ 0 h 288"/>
                    <a:gd name="T4" fmla="*/ 384 w 384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84" h="288">
                      <a:moveTo>
                        <a:pt x="0" y="288"/>
                      </a:moveTo>
                      <a:lnTo>
                        <a:pt x="192" y="0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0" name="Text Box 92"/>
                <p:cNvSpPr txBox="1">
                  <a:spLocks noChangeAspect="1" noChangeArrowheads="1"/>
                </p:cNvSpPr>
                <p:nvPr/>
              </p:nvSpPr>
              <p:spPr bwMode="auto">
                <a:xfrm rot="16200000">
                  <a:off x="3475" y="2269"/>
                  <a:ext cx="315" cy="1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ALU</a:t>
                  </a:r>
                  <a:endParaRPr lang="en-US" altLang="zh-CN" sz="750" b="1"/>
                </a:p>
              </p:txBody>
            </p:sp>
            <p:sp>
              <p:nvSpPr>
                <p:cNvPr id="43101" name="Line 93"/>
                <p:cNvSpPr>
                  <a:spLocks noChangeAspect="1" noChangeShapeType="1"/>
                </p:cNvSpPr>
                <p:nvPr/>
              </p:nvSpPr>
              <p:spPr bwMode="auto">
                <a:xfrm>
                  <a:off x="3717" y="2376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2" name="Line 94"/>
                <p:cNvSpPr>
                  <a:spLocks noChangeAspect="1" noChangeShapeType="1"/>
                </p:cNvSpPr>
                <p:nvPr/>
              </p:nvSpPr>
              <p:spPr bwMode="auto">
                <a:xfrm>
                  <a:off x="4226" y="2376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3" name="Rectangle 95"/>
                <p:cNvSpPr>
                  <a:spLocks noChangeAspect="1" noChangeArrowheads="1"/>
                </p:cNvSpPr>
                <p:nvPr/>
              </p:nvSpPr>
              <p:spPr bwMode="auto">
                <a:xfrm>
                  <a:off x="3940" y="2260"/>
                  <a:ext cx="268" cy="23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r"/>
                  <a:endParaRPr lang="zh-CN" altLang="zh-CN" sz="750" b="1"/>
                </a:p>
              </p:txBody>
            </p:sp>
            <p:sp>
              <p:nvSpPr>
                <p:cNvPr id="43104" name="Text Box 96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875" y="2275"/>
                  <a:ext cx="391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DMem</a:t>
                  </a:r>
                  <a:endParaRPr lang="en-US" altLang="zh-CN" sz="750" b="1"/>
                </a:p>
              </p:txBody>
            </p:sp>
            <p:sp>
              <p:nvSpPr>
                <p:cNvPr id="43105" name="Freeform 97"/>
                <p:cNvSpPr>
                  <a:spLocks noChangeAspect="1"/>
                </p:cNvSpPr>
                <p:nvPr/>
              </p:nvSpPr>
              <p:spPr bwMode="auto">
                <a:xfrm>
                  <a:off x="3905" y="2376"/>
                  <a:ext cx="399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384 h 384"/>
                    <a:gd name="T4" fmla="*/ 720 w 816"/>
                    <a:gd name="T5" fmla="*/ 384 h 384"/>
                    <a:gd name="T6" fmla="*/ 720 w 816"/>
                    <a:gd name="T7" fmla="*/ 144 h 384"/>
                    <a:gd name="T8" fmla="*/ 816 w 816"/>
                    <a:gd name="T9" fmla="*/ 144 h 3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6" name="Rectangle 98"/>
                <p:cNvSpPr>
                  <a:spLocks noChangeAspect="1" noChangeArrowheads="1"/>
                </p:cNvSpPr>
                <p:nvPr/>
              </p:nvSpPr>
              <p:spPr bwMode="auto">
                <a:xfrm>
                  <a:off x="4305" y="2155"/>
                  <a:ext cx="54" cy="441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7" name="Rectangle 99"/>
                <p:cNvSpPr>
                  <a:spLocks noChangeAspect="1" noChangeArrowheads="1"/>
                </p:cNvSpPr>
                <p:nvPr/>
              </p:nvSpPr>
              <p:spPr bwMode="auto">
                <a:xfrm>
                  <a:off x="3802" y="2158"/>
                  <a:ext cx="54" cy="435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43108" name="Group 100"/>
                <p:cNvGrpSpPr>
                  <a:grpSpLocks noChangeAspect="1"/>
                </p:cNvGrpSpPr>
                <p:nvPr/>
              </p:nvGrpSpPr>
              <p:grpSpPr bwMode="auto">
                <a:xfrm flipH="1">
                  <a:off x="4436" y="2251"/>
                  <a:ext cx="268" cy="233"/>
                  <a:chOff x="1392" y="528"/>
                  <a:chExt cx="480" cy="432"/>
                </a:xfrm>
              </p:grpSpPr>
              <p:sp>
                <p:nvSpPr>
                  <p:cNvPr id="43109" name="Rectangle 101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10" name="Rectangle 10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endParaRPr lang="zh-CN" altLang="zh-CN" sz="750" b="1"/>
                  </a:p>
                </p:txBody>
              </p:sp>
            </p:grpSp>
            <p:sp>
              <p:nvSpPr>
                <p:cNvPr id="43111" name="Text Box 103"/>
                <p:cNvSpPr txBox="1">
                  <a:spLocks noChangeAspect="1" noChangeArrowheads="1"/>
                </p:cNvSpPr>
                <p:nvPr/>
              </p:nvSpPr>
              <p:spPr bwMode="auto">
                <a:xfrm flipH="1">
                  <a:off x="4417" y="2266"/>
                  <a:ext cx="297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Reg</a:t>
                  </a:r>
                  <a:endParaRPr lang="en-US" altLang="zh-CN" sz="750" b="1"/>
                </a:p>
              </p:txBody>
            </p:sp>
          </p:grpSp>
          <p:sp>
            <p:nvSpPr>
              <p:cNvPr id="43112" name="Rectangle 104"/>
              <p:cNvSpPr>
                <a:spLocks noChangeAspect="1" noChangeArrowheads="1"/>
              </p:cNvSpPr>
              <p:nvPr/>
            </p:nvSpPr>
            <p:spPr bwMode="auto">
              <a:xfrm>
                <a:off x="4292" y="2727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3" name="AutoShape 105"/>
              <p:cNvSpPr>
                <a:spLocks noChangeArrowheads="1"/>
              </p:cNvSpPr>
              <p:nvPr/>
            </p:nvSpPr>
            <p:spPr bwMode="auto">
              <a:xfrm>
                <a:off x="3393" y="2719"/>
                <a:ext cx="364" cy="422"/>
              </a:xfrm>
              <a:prstGeom prst="cloudCallout">
                <a:avLst>
                  <a:gd name="adj1" fmla="val 39287"/>
                  <a:gd name="adj2" fmla="val 38153"/>
                </a:avLst>
              </a:prstGeom>
              <a:solidFill>
                <a:srgbClr val="0FEFEA"/>
              </a:solidFill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125" b="1"/>
                  <a:t>Bubble</a:t>
                </a:r>
                <a:endParaRPr lang="en-US" altLang="zh-CN" sz="1200" b="1"/>
              </a:p>
            </p:txBody>
          </p:sp>
          <p:grpSp>
            <p:nvGrpSpPr>
              <p:cNvPr id="43114" name="Group 106"/>
              <p:cNvGrpSpPr/>
              <p:nvPr/>
            </p:nvGrpSpPr>
            <p:grpSpPr bwMode="auto">
              <a:xfrm>
                <a:off x="3930" y="2826"/>
                <a:ext cx="297" cy="233"/>
                <a:chOff x="3921" y="3120"/>
                <a:chExt cx="297" cy="233"/>
              </a:xfrm>
            </p:grpSpPr>
            <p:sp>
              <p:nvSpPr>
                <p:cNvPr id="43115" name="Rectangle 107"/>
                <p:cNvSpPr>
                  <a:spLocks noChangeArrowheads="1"/>
                </p:cNvSpPr>
                <p:nvPr/>
              </p:nvSpPr>
              <p:spPr bwMode="auto">
                <a:xfrm>
                  <a:off x="3936" y="3120"/>
                  <a:ext cx="270" cy="2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16" name="Rectangle 108"/>
                <p:cNvSpPr>
                  <a:spLocks noChangeAspect="1" noChangeArrowheads="1"/>
                </p:cNvSpPr>
                <p:nvPr/>
              </p:nvSpPr>
              <p:spPr bwMode="auto">
                <a:xfrm>
                  <a:off x="4069" y="3120"/>
                  <a:ext cx="133" cy="23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17" name="Rectangle 109"/>
                <p:cNvSpPr>
                  <a:spLocks noChangeAspect="1" noChangeArrowheads="1"/>
                </p:cNvSpPr>
                <p:nvPr/>
              </p:nvSpPr>
              <p:spPr bwMode="auto">
                <a:xfrm>
                  <a:off x="3936" y="3120"/>
                  <a:ext cx="266" cy="23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endParaRPr lang="zh-CN" altLang="zh-CN" sz="750" b="1"/>
                </a:p>
              </p:txBody>
            </p:sp>
            <p:sp>
              <p:nvSpPr>
                <p:cNvPr id="43118" name="Text Box 110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921" y="3135"/>
                  <a:ext cx="297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750" b="1"/>
                    <a:t>Reg</a:t>
                  </a:r>
                  <a:endParaRPr lang="en-US" altLang="zh-CN" sz="750" b="1"/>
                </a:p>
              </p:txBody>
            </p:sp>
          </p:grpSp>
        </p:grpSp>
        <p:sp>
          <p:nvSpPr>
            <p:cNvPr id="43119" name="Line 111"/>
            <p:cNvSpPr>
              <a:spLocks noChangeAspect="1" noChangeShapeType="1"/>
            </p:cNvSpPr>
            <p:nvPr/>
          </p:nvSpPr>
          <p:spPr bwMode="auto">
            <a:xfrm>
              <a:off x="4083" y="3261"/>
              <a:ext cx="7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0" name="Line 112"/>
            <p:cNvSpPr>
              <a:spLocks noChangeAspect="1" noChangeShapeType="1"/>
            </p:cNvSpPr>
            <p:nvPr/>
          </p:nvSpPr>
          <p:spPr bwMode="auto">
            <a:xfrm>
              <a:off x="4065" y="3403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1" name="Line 113"/>
            <p:cNvSpPr>
              <a:spLocks noChangeAspect="1" noChangeShapeType="1"/>
            </p:cNvSpPr>
            <p:nvPr/>
          </p:nvSpPr>
          <p:spPr bwMode="auto">
            <a:xfrm>
              <a:off x="3539" y="3401"/>
              <a:ext cx="2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2" name="Line 114"/>
            <p:cNvSpPr>
              <a:spLocks noChangeAspect="1" noChangeShapeType="1"/>
            </p:cNvSpPr>
            <p:nvPr/>
          </p:nvSpPr>
          <p:spPr bwMode="auto">
            <a:xfrm>
              <a:off x="3503" y="3261"/>
              <a:ext cx="3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123" name="Group 115"/>
            <p:cNvGrpSpPr>
              <a:grpSpLocks noChangeAspect="1"/>
            </p:cNvGrpSpPr>
            <p:nvPr/>
          </p:nvGrpSpPr>
          <p:grpSpPr bwMode="auto">
            <a:xfrm>
              <a:off x="3744" y="3205"/>
              <a:ext cx="379" cy="232"/>
              <a:chOff x="1097" y="576"/>
              <a:chExt cx="680" cy="480"/>
            </a:xfrm>
          </p:grpSpPr>
          <p:sp>
            <p:nvSpPr>
              <p:cNvPr id="43124" name="Rectangle 116"/>
              <p:cNvSpPr>
                <a:spLocks noChangeAspect="1" noChangeArrowheads="1"/>
              </p:cNvSpPr>
              <p:nvPr/>
            </p:nvSpPr>
            <p:spPr bwMode="auto">
              <a:xfrm>
                <a:off x="1197" y="576"/>
                <a:ext cx="480" cy="4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r"/>
                <a:endParaRPr lang="zh-CN" altLang="zh-CN" sz="750" b="1"/>
              </a:p>
            </p:txBody>
          </p:sp>
          <p:sp>
            <p:nvSpPr>
              <p:cNvPr id="43125" name="Text Box 117"/>
              <p:cNvSpPr txBox="1">
                <a:spLocks noChangeAspect="1" noChangeArrowheads="1"/>
              </p:cNvSpPr>
              <p:nvPr/>
            </p:nvSpPr>
            <p:spPr bwMode="auto">
              <a:xfrm>
                <a:off x="1097" y="607"/>
                <a:ext cx="680" cy="3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750" b="1"/>
                  <a:t>Ifetch</a:t>
                </a:r>
                <a:endParaRPr lang="en-US" altLang="zh-CN" sz="750" b="1"/>
              </a:p>
            </p:txBody>
          </p:sp>
        </p:grpSp>
        <p:sp>
          <p:nvSpPr>
            <p:cNvPr id="43126" name="Rectangle 118"/>
            <p:cNvSpPr>
              <a:spLocks noChangeAspect="1" noChangeArrowheads="1"/>
            </p:cNvSpPr>
            <p:nvPr/>
          </p:nvSpPr>
          <p:spPr bwMode="auto">
            <a:xfrm>
              <a:off x="4149" y="3112"/>
              <a:ext cx="54" cy="441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7" name="Rectangle 119"/>
            <p:cNvSpPr>
              <a:spLocks noChangeAspect="1" noChangeArrowheads="1"/>
            </p:cNvSpPr>
            <p:nvPr/>
          </p:nvSpPr>
          <p:spPr bwMode="auto">
            <a:xfrm>
              <a:off x="3646" y="3112"/>
              <a:ext cx="54" cy="441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8" name="AutoShape 120"/>
            <p:cNvSpPr>
              <a:spLocks noChangeAspect="1" noChangeArrowheads="1"/>
            </p:cNvSpPr>
            <p:nvPr/>
          </p:nvSpPr>
          <p:spPr bwMode="auto">
            <a:xfrm rot="-5400000">
              <a:off x="4763" y="3220"/>
              <a:ext cx="371" cy="225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 algn="ctr"/>
              <a:endParaRPr lang="zh-CN" altLang="zh-CN" sz="750" b="1"/>
            </a:p>
          </p:txBody>
        </p:sp>
        <p:sp>
          <p:nvSpPr>
            <p:cNvPr id="43129" name="AutoShape 121"/>
            <p:cNvSpPr>
              <a:spLocks noChangeAspect="1" noChangeArrowheads="1"/>
            </p:cNvSpPr>
            <p:nvPr/>
          </p:nvSpPr>
          <p:spPr bwMode="auto">
            <a:xfrm rot="5400000">
              <a:off x="4821" y="3273"/>
              <a:ext cx="119" cy="120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0" name="Freeform 122"/>
            <p:cNvSpPr>
              <a:spLocks noChangeAspect="1"/>
            </p:cNvSpPr>
            <p:nvPr/>
          </p:nvSpPr>
          <p:spPr bwMode="auto">
            <a:xfrm rot="5400000">
              <a:off x="4830" y="3286"/>
              <a:ext cx="105" cy="93"/>
            </a:xfrm>
            <a:custGeom>
              <a:avLst/>
              <a:gdLst>
                <a:gd name="T0" fmla="*/ 0 w 384"/>
                <a:gd name="T1" fmla="*/ 288 h 288"/>
                <a:gd name="T2" fmla="*/ 192 w 384"/>
                <a:gd name="T3" fmla="*/ 0 h 288"/>
                <a:gd name="T4" fmla="*/ 384 w 384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1" name="Text Box 123"/>
            <p:cNvSpPr txBox="1">
              <a:spLocks noChangeAspect="1" noChangeArrowheads="1"/>
            </p:cNvSpPr>
            <p:nvPr/>
          </p:nvSpPr>
          <p:spPr bwMode="auto">
            <a:xfrm rot="16200000">
              <a:off x="4822" y="3226"/>
              <a:ext cx="315" cy="1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750" b="1"/>
                <a:t>ALU</a:t>
              </a:r>
              <a:endParaRPr lang="en-US" altLang="zh-CN" sz="750" b="1"/>
            </a:p>
          </p:txBody>
        </p:sp>
        <p:sp>
          <p:nvSpPr>
            <p:cNvPr id="43132" name="Line 124"/>
            <p:cNvSpPr>
              <a:spLocks noChangeAspect="1" noChangeShapeType="1"/>
            </p:cNvSpPr>
            <p:nvPr/>
          </p:nvSpPr>
          <p:spPr bwMode="auto">
            <a:xfrm>
              <a:off x="5063" y="3333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3" name="Line 125"/>
            <p:cNvSpPr>
              <a:spLocks noChangeAspect="1" noChangeShapeType="1"/>
            </p:cNvSpPr>
            <p:nvPr/>
          </p:nvSpPr>
          <p:spPr bwMode="auto">
            <a:xfrm>
              <a:off x="5355" y="3345"/>
              <a:ext cx="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4" name="Rectangle 126"/>
            <p:cNvSpPr>
              <a:spLocks noChangeAspect="1" noChangeArrowheads="1"/>
            </p:cNvSpPr>
            <p:nvPr/>
          </p:nvSpPr>
          <p:spPr bwMode="auto">
            <a:xfrm>
              <a:off x="5286" y="3217"/>
              <a:ext cx="268" cy="2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endParaRPr lang="zh-CN" altLang="zh-CN" sz="750" b="1"/>
            </a:p>
          </p:txBody>
        </p:sp>
        <p:sp>
          <p:nvSpPr>
            <p:cNvPr id="43135" name="Text Box 127"/>
            <p:cNvSpPr txBox="1">
              <a:spLocks noChangeAspect="1" noChangeArrowheads="1"/>
            </p:cNvSpPr>
            <p:nvPr/>
          </p:nvSpPr>
          <p:spPr bwMode="auto">
            <a:xfrm>
              <a:off x="5222" y="3232"/>
              <a:ext cx="391" cy="1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750" b="1"/>
                <a:t>DMem</a:t>
              </a:r>
              <a:endParaRPr lang="en-US" altLang="zh-CN" sz="750" b="1"/>
            </a:p>
          </p:txBody>
        </p:sp>
        <p:sp>
          <p:nvSpPr>
            <p:cNvPr id="43136" name="Rectangle 128"/>
            <p:cNvSpPr>
              <a:spLocks noChangeAspect="1" noChangeArrowheads="1"/>
            </p:cNvSpPr>
            <p:nvPr/>
          </p:nvSpPr>
          <p:spPr bwMode="auto">
            <a:xfrm>
              <a:off x="5148" y="3115"/>
              <a:ext cx="54" cy="43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7" name="Rectangle 129"/>
            <p:cNvSpPr>
              <a:spLocks noChangeAspect="1" noChangeArrowheads="1"/>
            </p:cNvSpPr>
            <p:nvPr/>
          </p:nvSpPr>
          <p:spPr bwMode="auto">
            <a:xfrm>
              <a:off x="4641" y="3113"/>
              <a:ext cx="54" cy="441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8" name="AutoShape 130"/>
            <p:cNvSpPr>
              <a:spLocks noChangeArrowheads="1"/>
            </p:cNvSpPr>
            <p:nvPr/>
          </p:nvSpPr>
          <p:spPr bwMode="auto">
            <a:xfrm>
              <a:off x="3241" y="3112"/>
              <a:ext cx="364" cy="422"/>
            </a:xfrm>
            <a:prstGeom prst="cloudCallout">
              <a:avLst>
                <a:gd name="adj1" fmla="val 39287"/>
                <a:gd name="adj2" fmla="val 38153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25" b="1"/>
                <a:t>Bubble</a:t>
              </a:r>
              <a:endParaRPr lang="en-US" altLang="zh-CN" sz="1200" b="1"/>
            </a:p>
          </p:txBody>
        </p:sp>
        <p:grpSp>
          <p:nvGrpSpPr>
            <p:cNvPr id="43139" name="Group 131"/>
            <p:cNvGrpSpPr/>
            <p:nvPr/>
          </p:nvGrpSpPr>
          <p:grpSpPr bwMode="auto">
            <a:xfrm>
              <a:off x="4280" y="3212"/>
              <a:ext cx="297" cy="233"/>
              <a:chOff x="3922" y="3120"/>
              <a:chExt cx="297" cy="233"/>
            </a:xfrm>
          </p:grpSpPr>
          <p:sp>
            <p:nvSpPr>
              <p:cNvPr id="43140" name="Rectangle 132"/>
              <p:cNvSpPr>
                <a:spLocks noChangeArrowheads="1"/>
              </p:cNvSpPr>
              <p:nvPr/>
            </p:nvSpPr>
            <p:spPr bwMode="auto">
              <a:xfrm>
                <a:off x="3936" y="3120"/>
                <a:ext cx="270" cy="2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1" name="Rectangle 133"/>
              <p:cNvSpPr>
                <a:spLocks noChangeAspect="1" noChangeArrowheads="1"/>
              </p:cNvSpPr>
              <p:nvPr/>
            </p:nvSpPr>
            <p:spPr bwMode="auto">
              <a:xfrm>
                <a:off x="4069" y="3120"/>
                <a:ext cx="133" cy="23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2" name="Rectangle 134"/>
              <p:cNvSpPr>
                <a:spLocks noChangeAspect="1" noChangeArrowheads="1"/>
              </p:cNvSpPr>
              <p:nvPr/>
            </p:nvSpPr>
            <p:spPr bwMode="auto">
              <a:xfrm>
                <a:off x="3936" y="3120"/>
                <a:ext cx="266" cy="23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zh-CN" sz="750" b="1"/>
              </a:p>
            </p:txBody>
          </p:sp>
          <p:sp>
            <p:nvSpPr>
              <p:cNvPr id="43143" name="Text Box 135"/>
              <p:cNvSpPr txBox="1">
                <a:spLocks noChangeAspect="1" noChangeArrowheads="1"/>
              </p:cNvSpPr>
              <p:nvPr/>
            </p:nvSpPr>
            <p:spPr bwMode="auto">
              <a:xfrm>
                <a:off x="3922" y="3135"/>
                <a:ext cx="297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750" b="1"/>
                  <a:t>Reg</a:t>
                </a:r>
                <a:endParaRPr lang="en-US" altLang="zh-CN" sz="750" b="1"/>
              </a:p>
            </p:txBody>
          </p:sp>
        </p:grpSp>
        <p:sp>
          <p:nvSpPr>
            <p:cNvPr id="43144" name="Line 136"/>
            <p:cNvSpPr>
              <a:spLocks noChangeShapeType="1"/>
            </p:cNvSpPr>
            <p:nvPr/>
          </p:nvSpPr>
          <p:spPr bwMode="auto">
            <a:xfrm>
              <a:off x="3694" y="1624"/>
              <a:ext cx="144" cy="528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45" name="Line 137"/>
            <p:cNvSpPr>
              <a:spLocks noChangeShapeType="1"/>
            </p:cNvSpPr>
            <p:nvPr/>
          </p:nvSpPr>
          <p:spPr bwMode="auto">
            <a:xfrm>
              <a:off x="3886" y="1624"/>
              <a:ext cx="48" cy="1152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146" name="Rectangle 138"/>
          <p:cNvSpPr>
            <a:spLocks noChangeArrowheads="1"/>
          </p:cNvSpPr>
          <p:nvPr/>
        </p:nvSpPr>
        <p:spPr bwMode="auto">
          <a:xfrm>
            <a:off x="1943100" y="3771901"/>
            <a:ext cx="1329929" cy="3443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67866" tIns="33338" rIns="67866" bIns="33338">
            <a:spAutoFit/>
          </a:bodyPr>
          <a:lstStyle/>
          <a:p>
            <a:r>
              <a:rPr lang="en-US" altLang="zh-CN" b="1">
                <a:latin typeface="Arial" panose="020B0604020202090204" pitchFamily="34" charset="0"/>
              </a:rPr>
              <a:t>or   r8,</a:t>
            </a:r>
            <a:r>
              <a:rPr lang="en-US" altLang="zh-CN" b="1">
                <a:solidFill>
                  <a:srgbClr val="339966"/>
                </a:solidFill>
                <a:latin typeface="Arial" panose="020B0604020202090204" pitchFamily="34" charset="0"/>
              </a:rPr>
              <a:t>r1</a:t>
            </a:r>
            <a:r>
              <a:rPr lang="en-US" altLang="zh-CN" b="1">
                <a:latin typeface="Arial" panose="020B0604020202090204" pitchFamily="34" charset="0"/>
              </a:rPr>
              <a:t>,r9</a:t>
            </a:r>
            <a:endParaRPr lang="en-US" altLang="zh-CN" b="1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627534"/>
            <a:ext cx="6400800" cy="400050"/>
          </a:xfrm>
        </p:spPr>
        <p:txBody>
          <a:bodyPr/>
          <a:lstStyle/>
          <a:p>
            <a:r>
              <a:rPr lang="en-US" altLang="zh-CN" sz="2100" b="1">
                <a:solidFill>
                  <a:srgbClr val="FF0000"/>
                </a:solidFill>
                <a:latin typeface="Comic Sans MS" panose="030F0902030302020204" pitchFamily="66" charset="0"/>
              </a:rPr>
              <a:t>Detect</a:t>
            </a:r>
            <a:r>
              <a:rPr lang="en-US" altLang="zh-CN" sz="2100">
                <a:latin typeface="Comic Sans MS" panose="030F0902030302020204" pitchFamily="66" charset="0"/>
              </a:rPr>
              <a:t> when should use Load Interlock</a:t>
            </a:r>
            <a:endParaRPr lang="en-US" altLang="zh-CN" sz="2100">
              <a:latin typeface="Comic Sans MS" panose="030F0902030302020204" pitchFamily="66" charset="0"/>
            </a:endParaRP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How to implement Load Interlock</a:t>
            </a:r>
            <a:endParaRPr lang="en-US" altLang="zh-CN"/>
          </a:p>
        </p:txBody>
      </p:sp>
      <p:graphicFrame>
        <p:nvGraphicFramePr>
          <p:cNvPr id="61502" name="Group 62"/>
          <p:cNvGraphicFramePr>
            <a:graphicFrameLocks noGrp="1"/>
          </p:cNvGraphicFramePr>
          <p:nvPr/>
        </p:nvGraphicFramePr>
        <p:xfrm>
          <a:off x="1314450" y="1027584"/>
          <a:ext cx="6515100" cy="3610356"/>
        </p:xfrm>
        <a:graphic>
          <a:graphicData uri="http://schemas.openxmlformats.org/drawingml/2006/table">
            <a:tbl>
              <a:tblPr/>
              <a:tblGrid>
                <a:gridCol w="1428750"/>
                <a:gridCol w="1885950"/>
                <a:gridCol w="3200400"/>
              </a:tblGrid>
              <a:tr h="2514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situation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Example code sequence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Action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No dependence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LD  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R1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, 45(R2)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DADD R5,R6,R7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DSUB R8,R6,R7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OR      R9,R6,R7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No hazard possible because of no dependence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Dependence requiring stall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LD  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R1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, 45(R2)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DADD R5,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R1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DSUB R8,R6,R7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OR      R9,R6,R7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Comparators detect the use of R1 in the DADD and stall the DADD (and DSUB and OR ) before the DADD begins EX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Dependence overcome by forwarding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LD  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R1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, 45(R2)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DADD R5,R6,R7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DSUB R8,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R1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OR      R9,R6,R7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Comparators detect the use of R1 in DSUB and forward result of load to ALU in time for DSUB to begin EX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Dependence with accesses in order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LD  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R1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, 45(R2)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DADD R5,R6,R7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DSUB R8,R6,R7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OR      R9,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R1</a:t>
                      </a: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,R7</a:t>
                      </a:r>
                      <a:endParaRPr kumimoji="1" lang="en-US" altLang="zh-CN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No action required because read of R1 by OR occurs in the second half of the ID phase, while the write of the loaded data occurred in the first half.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logic to detect for Load interlock</a:t>
            </a:r>
            <a:endParaRPr lang="en-US" altLang="zh-CN"/>
          </a:p>
        </p:txBody>
      </p:sp>
      <p:graphicFrame>
        <p:nvGraphicFramePr>
          <p:cNvPr id="59432" name="Group 40"/>
          <p:cNvGraphicFramePr>
            <a:graphicFrameLocks noGrp="1"/>
          </p:cNvGraphicFramePr>
          <p:nvPr/>
        </p:nvGraphicFramePr>
        <p:xfrm>
          <a:off x="1314450" y="1059582"/>
          <a:ext cx="6515100" cy="3048000"/>
        </p:xfrm>
        <a:graphic>
          <a:graphicData uri="http://schemas.openxmlformats.org/drawingml/2006/table">
            <a:tbl>
              <a:tblPr/>
              <a:tblGrid>
                <a:gridCol w="1428750"/>
                <a:gridCol w="1771650"/>
                <a:gridCol w="3314700"/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Opcode field of ID/EX</a:t>
                      </a:r>
                      <a:endParaRPr kumimoji="1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Opcode Field of IF/ID</a:t>
                      </a:r>
                      <a:endParaRPr kumimoji="1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Matching operand fields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Load</a:t>
                      </a:r>
                      <a:endParaRPr kumimoji="1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Reg-Reg ALU</a:t>
                      </a:r>
                      <a:endParaRPr kumimoji="1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ID/EX.IR[rt]==IF/ID.IR[rs]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Load</a:t>
                      </a:r>
                      <a:endParaRPr kumimoji="1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Reg-Reg ALU</a:t>
                      </a:r>
                      <a:endParaRPr kumimoji="1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ID/EX.IR[rt]==IF/ID.IR[rt]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Load</a:t>
                      </a:r>
                      <a:endParaRPr kumimoji="1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Load,store, ALU immediate, branch</a:t>
                      </a:r>
                      <a:endParaRPr kumimoji="1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ID/EX.IR[</a:t>
                      </a:r>
                      <a:r>
                        <a:rPr kumimoji="1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rt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]==IF/ID.IR[</a:t>
                      </a:r>
                      <a:r>
                        <a:rPr kumimoji="1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rs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]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1067573"/>
            <a:ext cx="7391634" cy="3314700"/>
          </a:xfrm>
        </p:spPr>
        <p:txBody>
          <a:bodyPr/>
          <a:lstStyle/>
          <a:p>
            <a:r>
              <a:rPr lang="en-US" altLang="zh-CN" sz="2100" dirty="0">
                <a:solidFill>
                  <a:srgbClr val="000000"/>
                </a:solidFill>
                <a:latin typeface="Comic Sans MS" panose="030F0902030302020204" pitchFamily="66" charset="0"/>
              </a:rPr>
              <a:t>Why forwarding?</a:t>
            </a:r>
            <a:endParaRPr lang="en-US" altLang="zh-CN" sz="2100" dirty="0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mic Sans MS" panose="030F0902030302020204" pitchFamily="66" charset="0"/>
              </a:rPr>
              <a:t>ADD R4,  R5,  R2</a:t>
            </a:r>
            <a:endParaRPr lang="en-US" altLang="zh-CN" sz="1800" dirty="0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mic Sans MS" panose="030F0902030302020204" pitchFamily="66" charset="0"/>
              </a:rPr>
              <a:t>LW   R15, 0(R4)</a:t>
            </a:r>
            <a:endParaRPr lang="en-US" altLang="zh-CN" sz="1800" dirty="0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mic Sans MS" panose="030F0902030302020204" pitchFamily="66" charset="0"/>
              </a:rPr>
              <a:t>SW   R15, 4(R2)</a:t>
            </a:r>
            <a:endParaRPr lang="en-US" altLang="zh-CN" dirty="0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endParaRPr lang="en-US" altLang="zh-CN" sz="2100" dirty="0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r>
              <a:rPr lang="en-US" altLang="zh-CN" sz="2100" dirty="0">
                <a:solidFill>
                  <a:srgbClr val="000000"/>
                </a:solidFill>
                <a:latin typeface="Comic Sans MS" panose="030F0902030302020204" pitchFamily="66" charset="0"/>
              </a:rPr>
              <a:t>Why load delay?</a:t>
            </a:r>
            <a:endParaRPr lang="en-US" altLang="zh-CN" dirty="0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mic Sans MS" panose="030F0902030302020204" pitchFamily="66" charset="0"/>
              </a:rPr>
              <a:t>ADD  R4,  R5,  R2</a:t>
            </a:r>
            <a:endParaRPr lang="en-US" altLang="zh-CN" sz="1800" dirty="0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mic Sans MS" panose="030F0902030302020204" pitchFamily="66" charset="0"/>
              </a:rPr>
              <a:t>LW    R15,  0(R4)</a:t>
            </a:r>
            <a:endParaRPr lang="en-US" altLang="zh-CN" sz="1800" dirty="0">
              <a:solidFill>
                <a:srgbClr val="000000"/>
              </a:solidFill>
              <a:latin typeface="Comic Sans MS" panose="030F0902030302020204" pitchFamily="66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mic Sans MS" panose="030F0902030302020204" pitchFamily="66" charset="0"/>
              </a:rPr>
              <a:t>SW    R15, 4(R2)</a:t>
            </a:r>
            <a:endParaRPr lang="en-US" altLang="zh-CN" dirty="0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Example of Forwarding and Load Delay</a:t>
            </a:r>
            <a:endParaRPr lang="en-US" altLang="zh-CN" b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1840230" y="1485900"/>
            <a:ext cx="400050" cy="342900"/>
          </a:xfrm>
          <a:prstGeom prst="ellipse">
            <a:avLst/>
          </a:prstGeom>
          <a:noFill/>
          <a:ln w="34925">
            <a:solidFill>
              <a:srgbClr val="FF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2583180" y="1943100"/>
            <a:ext cx="400050" cy="342900"/>
          </a:xfrm>
          <a:prstGeom prst="ellipse">
            <a:avLst/>
          </a:prstGeom>
          <a:noFill/>
          <a:ln w="34925">
            <a:solidFill>
              <a:srgbClr val="FF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" name="Line 6"/>
          <p:cNvSpPr>
            <a:spLocks noChangeShapeType="1"/>
          </p:cNvSpPr>
          <p:nvPr/>
        </p:nvSpPr>
        <p:spPr bwMode="auto">
          <a:xfrm>
            <a:off x="2240280" y="1697487"/>
            <a:ext cx="400050" cy="228600"/>
          </a:xfrm>
          <a:prstGeom prst="line">
            <a:avLst/>
          </a:prstGeom>
          <a:noFill/>
          <a:ln w="34925">
            <a:solidFill>
              <a:srgbClr val="FF00FF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1907704" y="3886200"/>
            <a:ext cx="457200" cy="342900"/>
          </a:xfrm>
          <a:prstGeom prst="ellipse">
            <a:avLst/>
          </a:prstGeom>
          <a:noFill/>
          <a:ln w="34925">
            <a:solidFill>
              <a:srgbClr val="00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1964854" y="4286250"/>
            <a:ext cx="457200" cy="342900"/>
          </a:xfrm>
          <a:prstGeom prst="ellipse">
            <a:avLst/>
          </a:prstGeom>
          <a:noFill/>
          <a:ln w="34925">
            <a:solidFill>
              <a:srgbClr val="00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1" name="Freeform 9"/>
          <p:cNvSpPr/>
          <p:nvPr/>
        </p:nvSpPr>
        <p:spPr bwMode="auto">
          <a:xfrm>
            <a:off x="1736254" y="4000500"/>
            <a:ext cx="228600" cy="514350"/>
          </a:xfrm>
          <a:custGeom>
            <a:avLst/>
            <a:gdLst>
              <a:gd name="T0" fmla="*/ 144 w 144"/>
              <a:gd name="T1" fmla="*/ 0 h 384"/>
              <a:gd name="T2" fmla="*/ 0 w 144"/>
              <a:gd name="T3" fmla="*/ 192 h 384"/>
              <a:gd name="T4" fmla="*/ 144 w 144"/>
              <a:gd name="T5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" h="384">
                <a:moveTo>
                  <a:pt x="144" y="0"/>
                </a:moveTo>
                <a:cubicBezTo>
                  <a:pt x="72" y="64"/>
                  <a:pt x="0" y="128"/>
                  <a:pt x="0" y="192"/>
                </a:cubicBezTo>
                <a:cubicBezTo>
                  <a:pt x="0" y="256"/>
                  <a:pt x="120" y="352"/>
                  <a:pt x="144" y="384"/>
                </a:cubicBezTo>
              </a:path>
            </a:pathLst>
          </a:custGeom>
          <a:noFill/>
          <a:ln w="349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Solution (without forwarding)</a:t>
            </a:r>
            <a:endParaRPr lang="en-US" altLang="zh-CN" b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pic>
        <p:nvPicPr>
          <p:cNvPr id="45062" name="Picture 6" descr="datahazar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792956"/>
            <a:ext cx="6150769" cy="3557588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Solution (with forwarding)</a:t>
            </a:r>
            <a:endParaRPr lang="en-US" altLang="zh-CN" b="0"/>
          </a:p>
        </p:txBody>
      </p:sp>
      <p:pic>
        <p:nvPicPr>
          <p:cNvPr id="46084" name="Picture 4" descr="datahazard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843558"/>
            <a:ext cx="6029325" cy="3579019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altLang="zh-CN" dirty="0"/>
          </a:p>
          <a:p>
            <a:pPr lvl="1"/>
            <a:r>
              <a:rPr lang="en-US" altLang="zh-CN" dirty="0"/>
              <a:t>Assume 30% of the instructions are loads. </a:t>
            </a:r>
            <a:endParaRPr lang="en-US" altLang="zh-CN" dirty="0"/>
          </a:p>
          <a:p>
            <a:pPr lvl="1"/>
            <a:r>
              <a:rPr lang="en-US" altLang="zh-CN" dirty="0"/>
              <a:t>Half the time, instruction following a load instruction depends on the result of the load. </a:t>
            </a:r>
            <a:endParaRPr lang="en-US" altLang="zh-CN" dirty="0"/>
          </a:p>
          <a:p>
            <a:pPr lvl="1"/>
            <a:r>
              <a:rPr lang="en-US" altLang="zh-CN" dirty="0"/>
              <a:t>If hazard causes a single cycle delay, how much faster is the ideal pipeline ? </a:t>
            </a:r>
            <a:endParaRPr lang="en-US" altLang="zh-CN" dirty="0"/>
          </a:p>
          <a:p>
            <a:r>
              <a:rPr lang="en-US" altLang="zh-CN" dirty="0"/>
              <a:t>Answer</a:t>
            </a:r>
            <a:endParaRPr lang="en-US" altLang="zh-CN" dirty="0"/>
          </a:p>
          <a:p>
            <a:pPr lvl="1"/>
            <a:r>
              <a:rPr lang="en-US" altLang="zh-CN" dirty="0"/>
              <a:t>CPI = 1+30%</a:t>
            </a:r>
            <a:r>
              <a:rPr lang="en-US" altLang="zh-CN" dirty="0">
                <a:sym typeface="Symbol" pitchFamily="18" charset="2"/>
              </a:rPr>
              <a:t>50% 1=1.15</a:t>
            </a:r>
            <a:endParaRPr lang="en-US" altLang="zh-CN" dirty="0">
              <a:sym typeface="Symbol" pitchFamily="18" charset="2"/>
            </a:endParaRPr>
          </a:p>
          <a:p>
            <a:pPr lvl="1"/>
            <a:r>
              <a:rPr lang="en-US" altLang="zh-CN" dirty="0">
                <a:sym typeface="Symbol" pitchFamily="18" charset="2"/>
              </a:rPr>
              <a:t>The performance decrease about </a:t>
            </a:r>
            <a:r>
              <a:rPr lang="en-US" altLang="zh-CN" b="1" dirty="0">
                <a:sym typeface="Symbol" pitchFamily="18" charset="2"/>
              </a:rPr>
              <a:t>15% </a:t>
            </a:r>
            <a:r>
              <a:rPr lang="en-US" altLang="zh-CN" dirty="0">
                <a:sym typeface="Symbol" pitchFamily="18" charset="2"/>
              </a:rPr>
              <a:t>due to load stall.</a:t>
            </a:r>
            <a:endParaRPr lang="en-US" altLang="zh-CN" dirty="0">
              <a:sym typeface="Symbol" pitchFamily="18" charset="2"/>
            </a:endParaRP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performance influence of load stall 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Fraction of load that cause a stall</a:t>
            </a:r>
            <a:endParaRPr lang="en-US" altLang="zh-CN" dirty="0"/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581150" y="843558"/>
          <a:ext cx="6153150" cy="3695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1005576"/>
            <a:ext cx="7283622" cy="3314700"/>
          </a:xfrm>
        </p:spPr>
        <p:txBody>
          <a:bodyPr/>
          <a:lstStyle/>
          <a:p>
            <a:pPr>
              <a:lnSpc>
                <a:spcPct val="70000"/>
              </a:lnSpc>
              <a:spcBef>
                <a:spcPct val="30000"/>
              </a:spcBef>
            </a:pPr>
            <a:r>
              <a:rPr lang="en-US" altLang="zh-CN" sz="2100" dirty="0">
                <a:latin typeface="Comic Sans MS" panose="030F0902030302020204" pitchFamily="66" charset="0"/>
              </a:rPr>
              <a:t>Try producing fast code for</a:t>
            </a:r>
            <a:endParaRPr lang="en-US" altLang="zh-CN" sz="2100" dirty="0">
              <a:latin typeface="Comic Sans MS" panose="030F0902030302020204" pitchFamily="66" charset="0"/>
            </a:endParaRPr>
          </a:p>
          <a:p>
            <a:pPr>
              <a:lnSpc>
                <a:spcPct val="70000"/>
              </a:lnSpc>
              <a:spcBef>
                <a:spcPct val="30000"/>
              </a:spcBef>
              <a:buFontTx/>
              <a:buNone/>
            </a:pPr>
            <a:r>
              <a:rPr lang="en-US" altLang="zh-CN" sz="2100" dirty="0">
                <a:latin typeface="Comic Sans MS" panose="030F0902030302020204" pitchFamily="66" charset="0"/>
              </a:rPr>
              <a:t>	</a:t>
            </a:r>
            <a:r>
              <a:rPr lang="en-US" altLang="zh-CN" dirty="0">
                <a:latin typeface="Comic Sans MS" panose="030F0902030302020204" pitchFamily="66" charset="0"/>
              </a:rPr>
              <a:t>a = b + c;</a:t>
            </a:r>
            <a:endParaRPr lang="en-US" altLang="zh-CN" dirty="0">
              <a:latin typeface="Comic Sans MS" panose="030F0902030302020204" pitchFamily="66" charset="0"/>
            </a:endParaRPr>
          </a:p>
          <a:p>
            <a:pPr>
              <a:lnSpc>
                <a:spcPct val="70000"/>
              </a:lnSpc>
              <a:spcBef>
                <a:spcPct val="30000"/>
              </a:spcBef>
              <a:buFontTx/>
              <a:buNone/>
            </a:pPr>
            <a:r>
              <a:rPr lang="en-US" altLang="zh-CN" dirty="0">
                <a:latin typeface="Comic Sans MS" panose="030F0902030302020204" pitchFamily="66" charset="0"/>
              </a:rPr>
              <a:t>	d = e – f;</a:t>
            </a:r>
            <a:r>
              <a:rPr lang="en-US" altLang="zh-CN" sz="2100" dirty="0">
                <a:latin typeface="Comic Sans MS" panose="030F0902030302020204" pitchFamily="66" charset="0"/>
              </a:rPr>
              <a:t>  </a:t>
            </a:r>
            <a:endParaRPr lang="en-US" altLang="zh-CN" sz="2100" dirty="0">
              <a:latin typeface="Comic Sans MS" panose="030F0902030302020204" pitchFamily="66" charset="0"/>
            </a:endParaRPr>
          </a:p>
          <a:p>
            <a:pPr>
              <a:lnSpc>
                <a:spcPct val="70000"/>
              </a:lnSpc>
              <a:spcBef>
                <a:spcPct val="30000"/>
              </a:spcBef>
              <a:buFontTx/>
              <a:buNone/>
            </a:pPr>
            <a:r>
              <a:rPr lang="en-US" altLang="zh-CN" sz="2100" dirty="0">
                <a:latin typeface="Comic Sans MS" panose="030F0902030302020204" pitchFamily="66" charset="0"/>
              </a:rPr>
              <a:t>   assuming a, b, c, d ,e, and f in memory.</a:t>
            </a:r>
            <a:r>
              <a:rPr lang="en-US" altLang="zh-CN" sz="2100" b="1" dirty="0">
                <a:latin typeface="Comic Sans MS" panose="030F0902030302020204" pitchFamily="66" charset="0"/>
              </a:rPr>
              <a:t> </a:t>
            </a:r>
            <a:endParaRPr lang="en-US" altLang="zh-CN" sz="1500" b="1" dirty="0">
              <a:latin typeface="Comic Sans MS" panose="030F0902030302020204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US" altLang="zh-CN" b="1" dirty="0">
                <a:latin typeface="Comic Sans MS" panose="030F0902030302020204" pitchFamily="66" charset="0"/>
              </a:rPr>
              <a:t>Slow code:</a:t>
            </a:r>
            <a:endParaRPr lang="en-US" altLang="zh-CN" sz="1500" b="1" dirty="0">
              <a:latin typeface="Comic Sans MS" panose="030F0902030302020204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1500" b="1" dirty="0">
                <a:latin typeface="Comic Sans MS" panose="030F0902030302020204" pitchFamily="66" charset="0"/>
              </a:rPr>
              <a:t>		LW 	</a:t>
            </a:r>
            <a:r>
              <a:rPr lang="en-US" altLang="zh-CN" sz="1500" b="1" dirty="0" err="1">
                <a:latin typeface="Comic Sans MS" panose="030F0902030302020204" pitchFamily="66" charset="0"/>
              </a:rPr>
              <a:t>Rb,b</a:t>
            </a:r>
            <a:endParaRPr lang="en-US" altLang="zh-CN" sz="1500" b="1" dirty="0">
              <a:latin typeface="Comic Sans MS" panose="030F0902030302020204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1500" b="1" dirty="0">
                <a:latin typeface="Comic Sans MS" panose="030F0902030302020204" pitchFamily="66" charset="0"/>
              </a:rPr>
              <a:t>		LW 	</a:t>
            </a:r>
            <a:r>
              <a:rPr lang="en-US" altLang="zh-CN" sz="1500" b="1" dirty="0" err="1">
                <a:solidFill>
                  <a:srgbClr val="FF3300"/>
                </a:solidFill>
                <a:latin typeface="Comic Sans MS" panose="030F0902030302020204" pitchFamily="66" charset="0"/>
              </a:rPr>
              <a:t>Rc</a:t>
            </a:r>
            <a:r>
              <a:rPr lang="en-US" altLang="zh-CN" sz="1500" b="1" dirty="0" err="1">
                <a:latin typeface="Comic Sans MS" panose="030F0902030302020204" pitchFamily="66" charset="0"/>
              </a:rPr>
              <a:t>,c</a:t>
            </a:r>
            <a:endParaRPr lang="en-US" altLang="zh-CN" sz="1500" b="1" dirty="0">
              <a:latin typeface="Comic Sans MS" panose="030F0902030302020204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1500" b="1" dirty="0">
                <a:latin typeface="Comic Sans MS" panose="030F0902030302020204" pitchFamily="66" charset="0"/>
              </a:rPr>
              <a:t>		ADD 	</a:t>
            </a:r>
            <a:r>
              <a:rPr lang="en-US" altLang="zh-CN" sz="1500" b="1" dirty="0" err="1">
                <a:latin typeface="Comic Sans MS" panose="030F0902030302020204" pitchFamily="66" charset="0"/>
              </a:rPr>
              <a:t>Ra,Rb,</a:t>
            </a:r>
            <a:r>
              <a:rPr lang="en-US" altLang="zh-CN" sz="1500" b="1" dirty="0" err="1">
                <a:solidFill>
                  <a:srgbClr val="FF3300"/>
                </a:solidFill>
                <a:latin typeface="Comic Sans MS" panose="030F0902030302020204" pitchFamily="66" charset="0"/>
              </a:rPr>
              <a:t>Rc</a:t>
            </a:r>
            <a:endParaRPr lang="en-US" altLang="zh-CN" sz="1500" b="1" dirty="0">
              <a:latin typeface="Comic Sans MS" panose="030F0902030302020204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1500" b="1" dirty="0">
                <a:latin typeface="Comic Sans MS" panose="030F0902030302020204" pitchFamily="66" charset="0"/>
              </a:rPr>
              <a:t>		SW  	</a:t>
            </a:r>
            <a:r>
              <a:rPr lang="en-US" altLang="zh-CN" sz="1500" b="1" dirty="0" err="1">
                <a:latin typeface="Comic Sans MS" panose="030F0902030302020204" pitchFamily="66" charset="0"/>
              </a:rPr>
              <a:t>a,Ra</a:t>
            </a:r>
            <a:r>
              <a:rPr lang="en-US" altLang="zh-CN" sz="1500" b="1" dirty="0">
                <a:latin typeface="Comic Sans MS" panose="030F0902030302020204" pitchFamily="66" charset="0"/>
              </a:rPr>
              <a:t> </a:t>
            </a:r>
            <a:endParaRPr lang="en-US" altLang="zh-CN" sz="1500" b="1" dirty="0">
              <a:latin typeface="Comic Sans MS" panose="030F0902030302020204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1500" b="1" dirty="0">
                <a:latin typeface="Comic Sans MS" panose="030F0902030302020204" pitchFamily="66" charset="0"/>
              </a:rPr>
              <a:t>		LW 	</a:t>
            </a:r>
            <a:r>
              <a:rPr lang="en-US" altLang="zh-CN" sz="1500" b="1" dirty="0" err="1">
                <a:latin typeface="Comic Sans MS" panose="030F0902030302020204" pitchFamily="66" charset="0"/>
              </a:rPr>
              <a:t>Re,e</a:t>
            </a:r>
            <a:r>
              <a:rPr lang="en-US" altLang="zh-CN" sz="1500" b="1" dirty="0">
                <a:latin typeface="Comic Sans MS" panose="030F0902030302020204" pitchFamily="66" charset="0"/>
              </a:rPr>
              <a:t> </a:t>
            </a:r>
            <a:endParaRPr lang="en-US" altLang="zh-CN" sz="1500" b="1" dirty="0">
              <a:latin typeface="Comic Sans MS" panose="030F0902030302020204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1500" b="1" dirty="0">
                <a:latin typeface="Comic Sans MS" panose="030F0902030302020204" pitchFamily="66" charset="0"/>
              </a:rPr>
              <a:t>		LW 	</a:t>
            </a:r>
            <a:r>
              <a:rPr lang="en-US" altLang="zh-CN" sz="1500" b="1" dirty="0" err="1">
                <a:solidFill>
                  <a:srgbClr val="FF3300"/>
                </a:solidFill>
                <a:latin typeface="Comic Sans MS" panose="030F0902030302020204" pitchFamily="66" charset="0"/>
              </a:rPr>
              <a:t>Rf</a:t>
            </a:r>
            <a:r>
              <a:rPr lang="en-US" altLang="zh-CN" sz="1500" b="1" dirty="0" err="1">
                <a:latin typeface="Comic Sans MS" panose="030F0902030302020204" pitchFamily="66" charset="0"/>
              </a:rPr>
              <a:t>,f</a:t>
            </a:r>
            <a:endParaRPr lang="en-US" altLang="zh-CN" sz="1500" b="1" dirty="0">
              <a:latin typeface="Comic Sans MS" panose="030F0902030302020204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1500" b="1" dirty="0">
                <a:latin typeface="Comic Sans MS" panose="030F0902030302020204" pitchFamily="66" charset="0"/>
              </a:rPr>
              <a:t>		SUB 	</a:t>
            </a:r>
            <a:r>
              <a:rPr lang="en-US" altLang="zh-CN" sz="1500" b="1" dirty="0" err="1">
                <a:latin typeface="Comic Sans MS" panose="030F0902030302020204" pitchFamily="66" charset="0"/>
              </a:rPr>
              <a:t>Rd,Re,</a:t>
            </a:r>
            <a:r>
              <a:rPr lang="en-US" altLang="zh-CN" sz="1500" b="1" dirty="0" err="1">
                <a:solidFill>
                  <a:srgbClr val="FF3300"/>
                </a:solidFill>
                <a:latin typeface="Comic Sans MS" panose="030F0902030302020204" pitchFamily="66" charset="0"/>
              </a:rPr>
              <a:t>Rf</a:t>
            </a:r>
            <a:endParaRPr lang="en-US" altLang="zh-CN" sz="1500" b="1" dirty="0">
              <a:latin typeface="Comic Sans MS" panose="030F0902030302020204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1500" b="1" dirty="0">
                <a:latin typeface="Comic Sans MS" panose="030F0902030302020204" pitchFamily="66" charset="0"/>
              </a:rPr>
              <a:t>		SW	</a:t>
            </a:r>
            <a:r>
              <a:rPr lang="en-US" altLang="zh-CN" sz="1500" b="1" dirty="0" err="1">
                <a:latin typeface="Comic Sans MS" panose="030F0902030302020204" pitchFamily="66" charset="0"/>
              </a:rPr>
              <a:t>d,Rd</a:t>
            </a:r>
            <a:endParaRPr lang="en-US" altLang="zh-CN" dirty="0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dirty="0"/>
              <a:t>Instruction reordering by compiler to avoid load stall</a:t>
            </a:r>
            <a:endParaRPr lang="en-US" altLang="zh-CN" sz="1800" dirty="0"/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4410075" y="2356248"/>
            <a:ext cx="3028950" cy="2268140"/>
          </a:xfrm>
          <a:prstGeom prst="rect">
            <a:avLst/>
          </a:prstGeom>
          <a:noFill/>
          <a:ln>
            <a:noFill/>
          </a:ln>
          <a:effectLst/>
        </p:spPr>
        <p:txBody>
          <a:bodyPr lIns="67866" tIns="33338" rIns="67866" bIns="33338"/>
          <a:lstStyle/>
          <a:p>
            <a:r>
              <a:rPr lang="en-US" altLang="zh-CN" b="1">
                <a:solidFill>
                  <a:srgbClr val="FF3300"/>
                </a:solidFill>
              </a:rPr>
              <a:t>Fast code:</a:t>
            </a:r>
            <a:endParaRPr lang="en-US" altLang="zh-CN" sz="1500" b="1">
              <a:solidFill>
                <a:srgbClr val="FF3300"/>
              </a:solidFill>
            </a:endParaRPr>
          </a:p>
          <a:p>
            <a:r>
              <a:rPr lang="en-US" altLang="zh-CN" sz="1500" b="1"/>
              <a:t>	LW 	Rb,b</a:t>
            </a:r>
            <a:endParaRPr lang="en-US" altLang="zh-CN" sz="1500" b="1"/>
          </a:p>
          <a:p>
            <a:r>
              <a:rPr lang="en-US" altLang="zh-CN" sz="1500" b="1"/>
              <a:t>	LW 	Rc,c</a:t>
            </a:r>
            <a:endParaRPr lang="en-US" altLang="zh-CN" sz="1500" b="1"/>
          </a:p>
          <a:p>
            <a:r>
              <a:rPr lang="en-US" altLang="zh-CN" sz="1500" b="1">
                <a:solidFill>
                  <a:schemeClr val="hlink"/>
                </a:solidFill>
              </a:rPr>
              <a:t>	</a:t>
            </a:r>
            <a:r>
              <a:rPr lang="en-US" altLang="zh-CN" sz="1500" b="1">
                <a:solidFill>
                  <a:srgbClr val="FF3300"/>
                </a:solidFill>
              </a:rPr>
              <a:t>LW 	Re,e </a:t>
            </a:r>
            <a:endParaRPr lang="en-US" altLang="zh-CN" sz="1500" b="1">
              <a:solidFill>
                <a:srgbClr val="FF3300"/>
              </a:solidFill>
            </a:endParaRPr>
          </a:p>
          <a:p>
            <a:r>
              <a:rPr lang="en-US" altLang="zh-CN" sz="1500" b="1"/>
              <a:t>	ADD 	Ra,Rb,Rc</a:t>
            </a:r>
            <a:endParaRPr lang="en-US" altLang="zh-CN" sz="1500" b="1"/>
          </a:p>
          <a:p>
            <a:r>
              <a:rPr lang="en-US" altLang="zh-CN" sz="1500" b="1"/>
              <a:t>	LW 	Rf,f</a:t>
            </a:r>
            <a:endParaRPr lang="en-US" altLang="zh-CN" sz="1500" b="1"/>
          </a:p>
          <a:p>
            <a:r>
              <a:rPr lang="en-US" altLang="zh-CN" sz="1500" b="1">
                <a:solidFill>
                  <a:schemeClr val="hlink"/>
                </a:solidFill>
              </a:rPr>
              <a:t>	</a:t>
            </a:r>
            <a:r>
              <a:rPr lang="en-US" altLang="zh-CN" sz="1500" b="1">
                <a:solidFill>
                  <a:srgbClr val="FF3300"/>
                </a:solidFill>
              </a:rPr>
              <a:t>SW  	a,Ra</a:t>
            </a:r>
            <a:r>
              <a:rPr lang="en-US" altLang="zh-CN" sz="1500" b="1">
                <a:solidFill>
                  <a:schemeClr val="hlink"/>
                </a:solidFill>
              </a:rPr>
              <a:t> </a:t>
            </a:r>
            <a:endParaRPr lang="en-US" altLang="zh-CN" sz="1500" b="1">
              <a:solidFill>
                <a:schemeClr val="hlink"/>
              </a:solidFill>
            </a:endParaRPr>
          </a:p>
          <a:p>
            <a:r>
              <a:rPr lang="en-US" altLang="zh-CN" sz="1500" b="1"/>
              <a:t>	SUB 	Rd,Re,Rf</a:t>
            </a:r>
            <a:endParaRPr lang="en-US" altLang="zh-CN" sz="1500" b="1"/>
          </a:p>
          <a:p>
            <a:r>
              <a:rPr lang="en-US" altLang="zh-CN" sz="1500" b="1"/>
              <a:t>	SW	d,Rd</a:t>
            </a:r>
            <a:endParaRPr lang="en-US" altLang="zh-CN" sz="1500" b="1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V="1">
            <a:off x="3177540" y="3246120"/>
            <a:ext cx="2385060" cy="472440"/>
          </a:xfrm>
          <a:prstGeom prst="line">
            <a:avLst/>
          </a:prstGeom>
          <a:noFill/>
          <a:ln w="34925">
            <a:solidFill>
              <a:srgbClr val="FF00FF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>
            <a:off x="3177540" y="3444240"/>
            <a:ext cx="2369819" cy="441960"/>
          </a:xfrm>
          <a:prstGeom prst="line">
            <a:avLst/>
          </a:prstGeom>
          <a:noFill/>
          <a:ln w="34925">
            <a:solidFill>
              <a:srgbClr val="FF00FF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2" name="Freeform 8"/>
          <p:cNvSpPr/>
          <p:nvPr/>
        </p:nvSpPr>
        <p:spPr bwMode="auto">
          <a:xfrm>
            <a:off x="1206781" y="2902126"/>
            <a:ext cx="400050" cy="285750"/>
          </a:xfrm>
          <a:custGeom>
            <a:avLst/>
            <a:gdLst>
              <a:gd name="T0" fmla="*/ 200 w 248"/>
              <a:gd name="T1" fmla="*/ 0 h 240"/>
              <a:gd name="T2" fmla="*/ 8 w 248"/>
              <a:gd name="T3" fmla="*/ 144 h 240"/>
              <a:gd name="T4" fmla="*/ 248 w 248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8" h="240">
                <a:moveTo>
                  <a:pt x="200" y="0"/>
                </a:moveTo>
                <a:cubicBezTo>
                  <a:pt x="100" y="52"/>
                  <a:pt x="0" y="104"/>
                  <a:pt x="8" y="144"/>
                </a:cubicBezTo>
                <a:cubicBezTo>
                  <a:pt x="16" y="184"/>
                  <a:pt x="216" y="224"/>
                  <a:pt x="248" y="240"/>
                </a:cubicBezTo>
              </a:path>
            </a:pathLst>
          </a:custGeom>
          <a:noFill/>
          <a:ln w="349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3" name="Freeform 9"/>
          <p:cNvSpPr/>
          <p:nvPr/>
        </p:nvSpPr>
        <p:spPr bwMode="auto">
          <a:xfrm>
            <a:off x="1191047" y="3939902"/>
            <a:ext cx="400050" cy="285750"/>
          </a:xfrm>
          <a:custGeom>
            <a:avLst/>
            <a:gdLst>
              <a:gd name="T0" fmla="*/ 240 w 240"/>
              <a:gd name="T1" fmla="*/ 0 h 240"/>
              <a:gd name="T2" fmla="*/ 0 w 240"/>
              <a:gd name="T3" fmla="*/ 144 h 240"/>
              <a:gd name="T4" fmla="*/ 240 w 240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240">
                <a:moveTo>
                  <a:pt x="240" y="0"/>
                </a:moveTo>
                <a:cubicBezTo>
                  <a:pt x="120" y="52"/>
                  <a:pt x="0" y="104"/>
                  <a:pt x="0" y="144"/>
                </a:cubicBezTo>
                <a:cubicBezTo>
                  <a:pt x="0" y="184"/>
                  <a:pt x="200" y="224"/>
                  <a:pt x="240" y="240"/>
                </a:cubicBezTo>
              </a:path>
            </a:pathLst>
          </a:custGeom>
          <a:noFill/>
          <a:ln w="349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Cause</a:t>
            </a:r>
            <a:endParaRPr lang="en-US" altLang="zh-CN" dirty="0"/>
          </a:p>
          <a:p>
            <a:pPr lvl="1"/>
            <a:r>
              <a:rPr lang="en-US" altLang="zh-CN" dirty="0"/>
              <a:t>branch condition and the branch PC are not available in time to fetch an instruction on the next clock</a:t>
            </a:r>
            <a:endParaRPr lang="en-US" altLang="zh-CN" dirty="0"/>
          </a:p>
          <a:p>
            <a:pPr lvl="1"/>
            <a:r>
              <a:rPr lang="en-US" altLang="zh-CN" dirty="0"/>
              <a:t>The next PC takes time to compute</a:t>
            </a:r>
            <a:endParaRPr lang="en-US" altLang="zh-CN" dirty="0"/>
          </a:p>
          <a:p>
            <a:pPr lvl="1"/>
            <a:r>
              <a:rPr lang="en-US" altLang="zh-CN" dirty="0"/>
              <a:t>For conditional branches, the branch direction takes time to compute.</a:t>
            </a:r>
            <a:endParaRPr lang="en-US" altLang="zh-CN" dirty="0"/>
          </a:p>
          <a:p>
            <a:r>
              <a:rPr lang="en-US" altLang="zh-CN" b="1" dirty="0"/>
              <a:t>Control hazards can cause a greater performance loss for MIPS pipeline than do data hazards.</a:t>
            </a:r>
            <a:endParaRPr lang="en-US" altLang="zh-CN" b="1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Control hazard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Recall: solve the hazard by inserting stalls </a:t>
            </a:r>
            <a:endParaRPr lang="en-US" altLang="zh-CN"/>
          </a:p>
        </p:txBody>
      </p:sp>
      <p:grpSp>
        <p:nvGrpSpPr>
          <p:cNvPr id="10248" name="Group 8"/>
          <p:cNvGrpSpPr/>
          <p:nvPr/>
        </p:nvGrpSpPr>
        <p:grpSpPr bwMode="auto">
          <a:xfrm>
            <a:off x="1331640" y="789552"/>
            <a:ext cx="6480720" cy="3784979"/>
            <a:chOff x="0" y="840"/>
            <a:chExt cx="5760" cy="3480"/>
          </a:xfrm>
        </p:grpSpPr>
        <p:grpSp>
          <p:nvGrpSpPr>
            <p:cNvPr id="10246" name="Group 6"/>
            <p:cNvGrpSpPr/>
            <p:nvPr/>
          </p:nvGrpSpPr>
          <p:grpSpPr bwMode="auto">
            <a:xfrm>
              <a:off x="0" y="840"/>
              <a:ext cx="5760" cy="3480"/>
              <a:chOff x="0" y="840"/>
              <a:chExt cx="5760" cy="3480"/>
            </a:xfrm>
          </p:grpSpPr>
          <p:pic>
            <p:nvPicPr>
              <p:cNvPr id="10244" name="Picture 4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840"/>
                <a:ext cx="5760" cy="3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245" name="Text Box 5"/>
              <p:cNvSpPr txBox="1">
                <a:spLocks noChangeArrowheads="1"/>
              </p:cNvSpPr>
              <p:nvPr/>
            </p:nvSpPr>
            <p:spPr bwMode="auto">
              <a:xfrm>
                <a:off x="22" y="3840"/>
                <a:ext cx="1186" cy="3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1350"/>
                  <a:t>48 or 72</a:t>
                </a:r>
                <a:r>
                  <a:rPr lang="en-US" altLang="zh-CN"/>
                  <a:t>       </a:t>
                </a:r>
                <a:endParaRPr lang="en-US" altLang="zh-CN"/>
              </a:p>
            </p:txBody>
          </p:sp>
        </p:grpSp>
        <p:sp>
          <p:nvSpPr>
            <p:cNvPr id="10247" name="Text Box 7"/>
            <p:cNvSpPr txBox="1">
              <a:spLocks noChangeArrowheads="1"/>
            </p:cNvSpPr>
            <p:nvPr/>
          </p:nvSpPr>
          <p:spPr bwMode="auto">
            <a:xfrm>
              <a:off x="672" y="1776"/>
              <a:ext cx="336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257175" indent="-257175"/>
              <a:r>
                <a:rPr lang="en-US" altLang="zh-CN" sz="1200" b="1"/>
                <a:t>24</a:t>
              </a:r>
              <a:endParaRPr lang="en-US" altLang="zh-CN" sz="1200" b="1"/>
            </a:p>
          </p:txBody>
        </p:sp>
      </p:grp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pipeline status </a:t>
            </a:r>
            <a:endParaRPr lang="en-US" altLang="zh-CN"/>
          </a:p>
        </p:txBody>
      </p:sp>
      <p:graphicFrame>
        <p:nvGraphicFramePr>
          <p:cNvPr id="38975" name="Group 2111"/>
          <p:cNvGraphicFramePr>
            <a:graphicFrameLocks noGrp="1"/>
          </p:cNvGraphicFramePr>
          <p:nvPr/>
        </p:nvGraphicFramePr>
        <p:xfrm>
          <a:off x="1371600" y="1314450"/>
          <a:ext cx="6400800" cy="1409700"/>
        </p:xfrm>
        <a:graphic>
          <a:graphicData uri="http://schemas.openxmlformats.org/drawingml/2006/table">
            <a:tbl>
              <a:tblPr/>
              <a:tblGrid>
                <a:gridCol w="2200275"/>
                <a:gridCol w="485775"/>
                <a:gridCol w="514350"/>
                <a:gridCol w="514350"/>
                <a:gridCol w="742950"/>
                <a:gridCol w="685800"/>
                <a:gridCol w="628650"/>
                <a:gridCol w="628650"/>
              </a:tblGrid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Branch instruction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IF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ID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EX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MEM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WB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Branch Successor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IF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stall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stall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idle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idle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Branch successor+1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IF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ID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EX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Branch successor+2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IF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ID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Branch successor+3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IF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Simplest hardware:</a:t>
            </a:r>
            <a:endParaRPr lang="en-US" altLang="zh-CN"/>
          </a:p>
          <a:p>
            <a:pPr lvl="1"/>
            <a:r>
              <a:rPr lang="en-US" altLang="zh-CN"/>
              <a:t>Holding or deleting any instruction after branch until the branch destination is know.</a:t>
            </a:r>
            <a:endParaRPr lang="en-US" altLang="zh-CN"/>
          </a:p>
          <a:p>
            <a:pPr lvl="1"/>
            <a:r>
              <a:rPr lang="en-US" altLang="zh-CN"/>
              <a:t>Penalty is fixed.</a:t>
            </a:r>
            <a:endParaRPr lang="en-US" altLang="zh-CN"/>
          </a:p>
          <a:p>
            <a:pPr lvl="1"/>
            <a:r>
              <a:rPr lang="en-US" altLang="zh-CN"/>
              <a:t>Can not be reduced by software.</a:t>
            </a:r>
            <a:endParaRPr lang="en-US" altLang="zh-CN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Flushing the pipeline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Problem:</a:t>
            </a:r>
            <a:endParaRPr lang="en-US" altLang="zh-CN" dirty="0"/>
          </a:p>
          <a:p>
            <a:pPr lvl="1"/>
            <a:r>
              <a:rPr lang="en-US" altLang="zh-CN" dirty="0"/>
              <a:t>With a 30% branch frequency and an ideal CPI of 1, how much the </a:t>
            </a:r>
            <a:r>
              <a:rPr lang="en-US" altLang="zh-CN" dirty="0" err="1"/>
              <a:t>performace</a:t>
            </a:r>
            <a:r>
              <a:rPr lang="en-US" altLang="zh-CN" dirty="0"/>
              <a:t> is by inserting stalls ?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Answer:</a:t>
            </a:r>
            <a:endParaRPr lang="en-US" altLang="zh-CN" dirty="0"/>
          </a:p>
          <a:p>
            <a:pPr lvl="1"/>
            <a:r>
              <a:rPr lang="en-US" altLang="zh-CN" dirty="0"/>
              <a:t>CPI = 1+30%</a:t>
            </a:r>
            <a:r>
              <a:rPr lang="en-US" altLang="zh-CN" dirty="0">
                <a:sym typeface="Symbol" pitchFamily="18" charset="2"/>
              </a:rPr>
              <a:t></a:t>
            </a:r>
            <a:r>
              <a:rPr lang="zh-CN" altLang="en-US" dirty="0">
                <a:sym typeface="Symbol" pitchFamily="18" charset="2"/>
              </a:rPr>
              <a:t>３＝</a:t>
            </a:r>
            <a:r>
              <a:rPr lang="en-US" altLang="zh-CN" dirty="0"/>
              <a:t>1.9</a:t>
            </a:r>
            <a:endParaRPr lang="en-US" altLang="zh-CN" dirty="0"/>
          </a:p>
          <a:p>
            <a:pPr lvl="1"/>
            <a:r>
              <a:rPr lang="en-US" altLang="zh-CN" dirty="0"/>
              <a:t>this simple solution achieves only about half of the ideal performance.</a:t>
            </a:r>
            <a:endParaRPr lang="en-US" altLang="zh-CN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Stalls greatly hurt the performance 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Move the Branch Computation Forward</a:t>
            </a:r>
            <a:endParaRPr lang="en-US" altLang="zh-CN"/>
          </a:p>
        </p:txBody>
      </p:sp>
      <p:graphicFrame>
        <p:nvGraphicFramePr>
          <p:cNvPr id="20748" name="Object 268"/>
          <p:cNvGraphicFramePr>
            <a:graphicFrameLocks noChangeAspect="1"/>
          </p:cNvGraphicFramePr>
          <p:nvPr/>
        </p:nvGraphicFramePr>
        <p:xfrm>
          <a:off x="1428750" y="897564"/>
          <a:ext cx="6286500" cy="35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Picture" r:id="rId1" imgW="4800600" imgH="3324860" progId="Word.Picture.8">
                  <p:embed/>
                </p:oleObj>
              </mc:Choice>
              <mc:Fallback>
                <p:oleObj name="Picture" r:id="rId1" imgW="4800600" imgH="3324860" progId="Word.Picture.8">
                  <p:embed/>
                  <p:pic>
                    <p:nvPicPr>
                      <p:cNvPr id="0" name="Object 2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897564"/>
                        <a:ext cx="6286500" cy="3543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Move the Branch Computation more Forward</a:t>
            </a:r>
            <a:endParaRPr lang="en-US" altLang="zh-CN"/>
          </a:p>
        </p:txBody>
      </p:sp>
      <p:grpSp>
        <p:nvGrpSpPr>
          <p:cNvPr id="16393" name="Group 9"/>
          <p:cNvGrpSpPr/>
          <p:nvPr/>
        </p:nvGrpSpPr>
        <p:grpSpPr bwMode="auto">
          <a:xfrm>
            <a:off x="1457325" y="1005576"/>
            <a:ext cx="6229350" cy="3569494"/>
            <a:chOff x="240" y="960"/>
            <a:chExt cx="5232" cy="2998"/>
          </a:xfrm>
        </p:grpSpPr>
        <p:pic>
          <p:nvPicPr>
            <p:cNvPr id="16394" name="Picture 10" descr="E:\English_arch\611\chap3_4.files\chap3_4-5new.gi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960"/>
              <a:ext cx="5232" cy="2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395" name="Group 11"/>
            <p:cNvGrpSpPr/>
            <p:nvPr/>
          </p:nvGrpSpPr>
          <p:grpSpPr bwMode="auto">
            <a:xfrm>
              <a:off x="3110" y="3002"/>
              <a:ext cx="2362" cy="956"/>
              <a:chOff x="3110" y="3002"/>
              <a:chExt cx="2362" cy="956"/>
            </a:xfrm>
          </p:grpSpPr>
          <p:sp>
            <p:nvSpPr>
              <p:cNvPr id="16396" name="Text Box 12"/>
              <p:cNvSpPr txBox="1">
                <a:spLocks noChangeArrowheads="1"/>
              </p:cNvSpPr>
              <p:nvPr/>
            </p:nvSpPr>
            <p:spPr bwMode="auto">
              <a:xfrm>
                <a:off x="3110" y="3002"/>
                <a:ext cx="5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lang="en-US" altLang="zh-CN" b="1">
                    <a:solidFill>
                      <a:srgbClr val="339966"/>
                    </a:solidFill>
                    <a:latin typeface="Times New Roman" panose="02020503050405090304" pitchFamily="18" charset="0"/>
                  </a:rPr>
                  <a:t>store</a:t>
                </a:r>
                <a:endParaRPr lang="en-US" altLang="zh-CN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6397" name="Text Box 13"/>
              <p:cNvSpPr txBox="1">
                <a:spLocks noChangeArrowheads="1"/>
              </p:cNvSpPr>
              <p:nvPr/>
            </p:nvSpPr>
            <p:spPr bwMode="auto">
              <a:xfrm>
                <a:off x="4896" y="3648"/>
                <a:ext cx="57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l" eaLnBrk="1" hangingPunct="1"/>
                <a:r>
                  <a:rPr lang="en-US" altLang="zh-CN" b="1" dirty="0">
                    <a:solidFill>
                      <a:srgbClr val="339966"/>
                    </a:solidFill>
                    <a:latin typeface="Times New Roman" panose="02020503050405090304" pitchFamily="18" charset="0"/>
                  </a:rPr>
                  <a:t>load</a:t>
                </a:r>
                <a:endParaRPr lang="en-US" altLang="zh-CN" dirty="0">
                  <a:latin typeface="Times New Roman" panose="02020503050405090304" pitchFamily="18" charset="0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3486150"/>
            <a:ext cx="6400800" cy="1200150"/>
          </a:xfrm>
        </p:spPr>
        <p:txBody>
          <a:bodyPr/>
          <a:lstStyle/>
          <a:p>
            <a:r>
              <a:rPr lang="en-US" altLang="zh-CN">
                <a:latin typeface="Comic Sans MS" panose="030F0902030302020204" pitchFamily="66" charset="0"/>
              </a:rPr>
              <a:t>We have fetched the instruction 48, why we fetch the second time if the branch not taken at last ?</a:t>
            </a:r>
            <a:endParaRPr lang="en-US" altLang="zh-CN">
              <a:latin typeface="Comic Sans MS" panose="030F0902030302020204" pitchFamily="66" charset="0"/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Why “waste” the fetched instruction ?</a:t>
            </a:r>
            <a:endParaRPr lang="en-US" altLang="zh-CN"/>
          </a:p>
        </p:txBody>
      </p:sp>
      <p:grpSp>
        <p:nvGrpSpPr>
          <p:cNvPr id="24680" name="Group 104"/>
          <p:cNvGrpSpPr/>
          <p:nvPr/>
        </p:nvGrpSpPr>
        <p:grpSpPr bwMode="auto">
          <a:xfrm>
            <a:off x="1371601" y="1085850"/>
            <a:ext cx="6422231" cy="2300288"/>
            <a:chOff x="192" y="960"/>
            <a:chExt cx="5394" cy="1932"/>
          </a:xfrm>
        </p:grpSpPr>
        <p:pic>
          <p:nvPicPr>
            <p:cNvPr id="24681" name="Picture 10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960"/>
              <a:ext cx="5394" cy="1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682" name="Picture 10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1776"/>
              <a:ext cx="532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683" name="Text Box 107"/>
            <p:cNvSpPr txBox="1">
              <a:spLocks noChangeArrowheads="1"/>
            </p:cNvSpPr>
            <p:nvPr/>
          </p:nvSpPr>
          <p:spPr bwMode="auto">
            <a:xfrm>
              <a:off x="197" y="2304"/>
              <a:ext cx="1120" cy="3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350"/>
                <a:t>48 or 72</a:t>
              </a:r>
              <a:r>
                <a:rPr lang="en-US" altLang="zh-CN"/>
                <a:t>       </a:t>
              </a:r>
              <a:endParaRPr lang="en-US" altLang="zh-CN"/>
            </a:p>
          </p:txBody>
        </p:sp>
        <p:sp>
          <p:nvSpPr>
            <p:cNvPr id="24684" name="Line 108"/>
            <p:cNvSpPr>
              <a:spLocks noChangeShapeType="1"/>
            </p:cNvSpPr>
            <p:nvPr/>
          </p:nvSpPr>
          <p:spPr bwMode="auto">
            <a:xfrm>
              <a:off x="2064" y="1584"/>
              <a:ext cx="96" cy="8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685" name="Oval 109"/>
          <p:cNvSpPr>
            <a:spLocks noChangeArrowheads="1"/>
          </p:cNvSpPr>
          <p:nvPr/>
        </p:nvSpPr>
        <p:spPr bwMode="auto">
          <a:xfrm>
            <a:off x="3086100" y="2114550"/>
            <a:ext cx="457200" cy="4572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88" name="Line 112"/>
          <p:cNvSpPr>
            <a:spLocks noChangeShapeType="1"/>
          </p:cNvSpPr>
          <p:nvPr/>
        </p:nvSpPr>
        <p:spPr bwMode="auto">
          <a:xfrm flipH="1">
            <a:off x="3086100" y="2514600"/>
            <a:ext cx="171450" cy="9715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Good news</a:t>
            </a:r>
            <a:endParaRPr lang="en-US" altLang="zh-CN" dirty="0"/>
          </a:p>
          <a:p>
            <a:pPr lvl="1"/>
            <a:r>
              <a:rPr lang="en-US" altLang="zh-CN" dirty="0"/>
              <a:t>Just 1 cycle to figure out what the right branch address is</a:t>
            </a:r>
            <a:endParaRPr lang="en-US" altLang="zh-CN" dirty="0"/>
          </a:p>
          <a:p>
            <a:pPr lvl="1"/>
            <a:r>
              <a:rPr lang="en-US" altLang="zh-CN" dirty="0"/>
              <a:t>So, not 2 or 3 cycles of potential NOP or stall</a:t>
            </a:r>
            <a:endParaRPr lang="en-US" altLang="zh-CN" dirty="0"/>
          </a:p>
          <a:p>
            <a:r>
              <a:rPr lang="en-US" altLang="zh-CN" dirty="0"/>
              <a:t>Strange news</a:t>
            </a:r>
            <a:endParaRPr lang="en-US" altLang="zh-CN" dirty="0"/>
          </a:p>
          <a:p>
            <a:pPr lvl="1"/>
            <a:r>
              <a:rPr lang="en-US" altLang="zh-CN" dirty="0"/>
              <a:t>OK, it’s </a:t>
            </a:r>
            <a:r>
              <a:rPr lang="en-US" altLang="zh-CN" b="1" dirty="0"/>
              <a:t>always</a:t>
            </a:r>
            <a:r>
              <a:rPr lang="en-US" altLang="zh-CN" dirty="0"/>
              <a:t> 1 cycle, and we </a:t>
            </a:r>
            <a:r>
              <a:rPr lang="en-US" altLang="zh-CN" b="1" dirty="0"/>
              <a:t>always</a:t>
            </a:r>
            <a:r>
              <a:rPr lang="en-US" altLang="zh-CN" dirty="0"/>
              <a:t> have to wait</a:t>
            </a:r>
            <a:endParaRPr lang="en-US" altLang="zh-CN" dirty="0"/>
          </a:p>
          <a:p>
            <a:pPr lvl="1"/>
            <a:r>
              <a:rPr lang="en-US" altLang="zh-CN" dirty="0"/>
              <a:t>And on MIPS, </a:t>
            </a:r>
            <a:r>
              <a:rPr lang="en-US" altLang="zh-CN" b="1" dirty="0"/>
              <a:t>this instruction always executes, no matter whether the branch taken or not taken. (hardware scheme)</a:t>
            </a:r>
            <a:endParaRPr lang="en-US" altLang="zh-CN" b="1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Delayed branch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606186" y="843558"/>
            <a:ext cx="5943600" cy="3314700"/>
          </a:xfrm>
        </p:spPr>
        <p:txBody>
          <a:bodyPr/>
          <a:lstStyle/>
          <a:p>
            <a:r>
              <a:rPr lang="en-US" altLang="zh-CN" dirty="0"/>
              <a:t>Hence the name: </a:t>
            </a:r>
            <a:r>
              <a:rPr lang="en-US" altLang="zh-CN" b="1" dirty="0"/>
              <a:t>branch delay slot</a:t>
            </a:r>
            <a:endParaRPr lang="en-US" altLang="zh-CN" b="1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3429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The instruction cycle after the branch is used for address calculation , 1 cycle delay necessary</a:t>
            </a:r>
            <a:endParaRPr lang="en-US" altLang="zh-CN" dirty="0"/>
          </a:p>
          <a:p>
            <a:pPr lvl="1"/>
            <a:r>
              <a:rPr lang="en-US" altLang="zh-CN" dirty="0"/>
              <a:t>SO…we regard this as a </a:t>
            </a:r>
            <a:r>
              <a:rPr lang="en-US" altLang="zh-CN" b="1" dirty="0"/>
              <a:t>free instruction cycle</a:t>
            </a:r>
            <a:r>
              <a:rPr lang="en-US" altLang="zh-CN" dirty="0"/>
              <a:t>, and we just DO IT</a:t>
            </a:r>
            <a:endParaRPr lang="en-US" altLang="zh-CN" dirty="0"/>
          </a:p>
          <a:p>
            <a:r>
              <a:rPr lang="en-US" altLang="zh-CN" dirty="0"/>
              <a:t>Consequence</a:t>
            </a:r>
            <a:endParaRPr lang="en-US" altLang="zh-CN" dirty="0"/>
          </a:p>
          <a:p>
            <a:pPr lvl="1"/>
            <a:r>
              <a:rPr lang="en-US" altLang="zh-CN" dirty="0"/>
              <a:t>You (or your compiler) will need to </a:t>
            </a:r>
            <a:r>
              <a:rPr lang="en-US" altLang="zh-CN" b="1" dirty="0"/>
              <a:t>adjust your code </a:t>
            </a:r>
            <a:r>
              <a:rPr lang="en-US" altLang="zh-CN" dirty="0"/>
              <a:t>to put some </a:t>
            </a:r>
            <a:r>
              <a:rPr lang="en-US" altLang="zh-CN" b="1" dirty="0"/>
              <a:t>useful work </a:t>
            </a:r>
            <a:r>
              <a:rPr lang="en-US" altLang="zh-CN" dirty="0"/>
              <a:t>in that “slot”, since just putting in a </a:t>
            </a:r>
            <a:r>
              <a:rPr lang="en-US" altLang="zh-CN" b="1" dirty="0"/>
              <a:t>NOP</a:t>
            </a:r>
            <a:r>
              <a:rPr lang="en-US" altLang="zh-CN" dirty="0"/>
              <a:t> is wasteful (compiler scheme)</a:t>
            </a:r>
            <a:endParaRPr lang="en-US" altLang="zh-CN" dirty="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Branch delay slot</a:t>
            </a:r>
            <a:endParaRPr lang="en-US" altLang="zh-CN"/>
          </a:p>
        </p:txBody>
      </p:sp>
      <p:pic>
        <p:nvPicPr>
          <p:cNvPr id="36868" name="Picture 4" descr="E:\JXH\教学\专业课复习\系统结构课\611\chap3_4.files\chap3_4-6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023" y="1208484"/>
            <a:ext cx="5563791" cy="136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How to adjust the codes?</a:t>
            </a:r>
            <a:endParaRPr lang="en-US" altLang="zh-CN"/>
          </a:p>
        </p:txBody>
      </p:sp>
      <p:graphicFrame>
        <p:nvGraphicFramePr>
          <p:cNvPr id="37904" name="Object 16"/>
          <p:cNvGraphicFramePr>
            <a:graphicFrameLocks noChangeAspect="1"/>
          </p:cNvGraphicFramePr>
          <p:nvPr/>
        </p:nvGraphicFramePr>
        <p:xfrm>
          <a:off x="1428750" y="915566"/>
          <a:ext cx="6286500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Picture" r:id="rId1" imgW="4228465" imgH="2567940" progId="Word.Picture.8">
                  <p:embed/>
                </p:oleObj>
              </mc:Choice>
              <mc:Fallback>
                <p:oleObj name="Picture" r:id="rId1" imgW="4228465" imgH="2567940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915566"/>
                        <a:ext cx="6286500" cy="360045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rgbClr val="660066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rgbClr val="660066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Example: rewrite the code (a)</a:t>
            </a:r>
            <a:endParaRPr lang="en-US" altLang="zh-CN"/>
          </a:p>
        </p:txBody>
      </p:sp>
      <p:pic>
        <p:nvPicPr>
          <p:cNvPr id="39941" name="Picture 5" descr="H:\jxh\Image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181" y="951570"/>
            <a:ext cx="625792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Example: rewrite the code (b-1)</a:t>
            </a:r>
            <a:endParaRPr lang="en-US" altLang="zh-CN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1714500" y="1131590"/>
            <a:ext cx="2686050" cy="3086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57175" indent="-257175" algn="l">
              <a:spcBef>
                <a:spcPct val="20000"/>
              </a:spcBef>
            </a:pP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Loop:  </a:t>
            </a:r>
            <a:r>
              <a:rPr lang="en-US" altLang="zh-CN" sz="2100" i="1">
                <a:solidFill>
                  <a:srgbClr val="0066FF"/>
                </a:solidFill>
                <a:latin typeface="Arial Narrow" panose="020B0606020202030204" pitchFamily="34" charset="0"/>
              </a:rPr>
              <a:t>LW    R2,  0(R1)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ADD  R3,  R2, R4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SW    R3,  0(R1)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……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SUB   R1, R1, #4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BNEZ R1, Loop</a:t>
            </a:r>
            <a:endParaRPr lang="en-US" altLang="zh-CN" sz="2100">
              <a:latin typeface="Arial Narrow" panose="020B0606020202030204" pitchFamily="34" charset="0"/>
            </a:endParaRP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4686300" y="1131590"/>
            <a:ext cx="2800350" cy="3086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" panose="020B0604020202090204" pitchFamily="34" charset="0"/>
              </a:rPr>
              <a:t>          </a:t>
            </a:r>
            <a:r>
              <a:rPr lang="en-US" altLang="zh-CN" sz="2100" u="sng">
                <a:solidFill>
                  <a:srgbClr val="FF0066"/>
                </a:solidFill>
                <a:latin typeface="Arial Narrow" panose="020B0606020202030204" pitchFamily="34" charset="0"/>
              </a:rPr>
              <a:t>LW      R2, 0(R1)</a:t>
            </a:r>
            <a:endParaRPr lang="en-US" altLang="zh-CN" sz="2100">
              <a:solidFill>
                <a:srgbClr val="FF0066"/>
              </a:solidFill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Loop:   ADD    R3, R2, R4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 SW      R3, 0(R1)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 ……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" panose="020B0604020202090204" pitchFamily="34" charset="0"/>
              </a:rPr>
              <a:t>          </a:t>
            </a:r>
            <a:r>
              <a:rPr lang="en-US" altLang="zh-CN" sz="2100">
                <a:latin typeface="Arial Narrow" panose="020B0606020202030204" pitchFamily="34" charset="0"/>
              </a:rPr>
              <a:t>SUB  R1,R1, #4</a:t>
            </a:r>
            <a:endParaRPr lang="en-US" altLang="zh-CN" sz="2100">
              <a:latin typeface="Arial" panose="020B060402020209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" panose="020B0604020202090204" pitchFamily="34" charset="0"/>
              </a:rPr>
              <a:t>          </a:t>
            </a:r>
            <a:r>
              <a:rPr lang="en-US" altLang="zh-CN" sz="2100">
                <a:latin typeface="Arial Narrow" panose="020B0606020202030204" pitchFamily="34" charset="0"/>
              </a:rPr>
              <a:t>BNEZ R1, Loop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 </a:t>
            </a:r>
            <a:r>
              <a:rPr lang="en-US" altLang="zh-CN" sz="2100" b="1">
                <a:solidFill>
                  <a:srgbClr val="0066FF"/>
                </a:solidFill>
                <a:latin typeface="Arial Narrow" panose="020B0606020202030204" pitchFamily="34" charset="0"/>
              </a:rPr>
              <a:t>LW      R2, 0(R1)</a:t>
            </a:r>
            <a:endParaRPr lang="en-US" altLang="zh-CN" sz="2100">
              <a:latin typeface="Arial Narrow" panose="020B0606020202030204" pitchFamily="34" charset="0"/>
            </a:endParaRPr>
          </a:p>
        </p:txBody>
      </p:sp>
      <p:sp>
        <p:nvSpPr>
          <p:cNvPr id="40966" name="AutoShape 6"/>
          <p:cNvSpPr>
            <a:spLocks noChangeArrowheads="1"/>
          </p:cNvSpPr>
          <p:nvPr/>
        </p:nvSpPr>
        <p:spPr bwMode="auto">
          <a:xfrm>
            <a:off x="4343400" y="2274590"/>
            <a:ext cx="457200" cy="3429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7" name="AutoShape 7"/>
          <p:cNvSpPr>
            <a:spLocks noChangeArrowheads="1"/>
          </p:cNvSpPr>
          <p:nvPr/>
        </p:nvSpPr>
        <p:spPr bwMode="auto">
          <a:xfrm rot="5770463" flipV="1">
            <a:off x="1323380" y="2212082"/>
            <a:ext cx="2277666" cy="1273969"/>
          </a:xfrm>
          <a:custGeom>
            <a:avLst/>
            <a:gdLst>
              <a:gd name="G0" fmla="+- -84879 0 0"/>
              <a:gd name="G1" fmla="+- -10783320 0 0"/>
              <a:gd name="G2" fmla="+- -84879 0 -10783320"/>
              <a:gd name="G3" fmla="+- 10800 0 0"/>
              <a:gd name="G4" fmla="+- 0 0 -84879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131 0 0"/>
              <a:gd name="G9" fmla="+- 0 0 -10783320"/>
              <a:gd name="G10" fmla="+- 10131 0 2700"/>
              <a:gd name="G11" fmla="cos G10 -84879"/>
              <a:gd name="G12" fmla="sin G10 -84879"/>
              <a:gd name="G13" fmla="cos 13500 -84879"/>
              <a:gd name="G14" fmla="sin 13500 -84879"/>
              <a:gd name="G15" fmla="+- G11 10800 0"/>
              <a:gd name="G16" fmla="+- G12 10800 0"/>
              <a:gd name="G17" fmla="+- G13 10800 0"/>
              <a:gd name="G18" fmla="+- G14 10800 0"/>
              <a:gd name="G19" fmla="*/ 10131 1 2"/>
              <a:gd name="G20" fmla="+- G19 5400 0"/>
              <a:gd name="G21" fmla="cos G20 -84879"/>
              <a:gd name="G22" fmla="sin G20 -84879"/>
              <a:gd name="G23" fmla="+- G21 10800 0"/>
              <a:gd name="G24" fmla="+- G12 G23 G22"/>
              <a:gd name="G25" fmla="+- G22 G23 G11"/>
              <a:gd name="G26" fmla="cos 10800 -84879"/>
              <a:gd name="G27" fmla="sin 10800 -84879"/>
              <a:gd name="G28" fmla="cos 10131 -84879"/>
              <a:gd name="G29" fmla="sin 10131 -84879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0783320"/>
              <a:gd name="G36" fmla="sin G34 -10783320"/>
              <a:gd name="G37" fmla="+/ -10783320 -84879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131 G39"/>
              <a:gd name="G43" fmla="sin 10131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2131 w 21600"/>
              <a:gd name="T5" fmla="*/ 82 h 21600"/>
              <a:gd name="T6" fmla="*/ 712 w 21600"/>
              <a:gd name="T7" fmla="*/ 8010 h 21600"/>
              <a:gd name="T8" fmla="*/ 12049 w 21600"/>
              <a:gd name="T9" fmla="*/ 746 h 21600"/>
              <a:gd name="T10" fmla="*/ 24296 w 21600"/>
              <a:gd name="T11" fmla="*/ 10494 h 21600"/>
              <a:gd name="T12" fmla="*/ 21332 w 21600"/>
              <a:gd name="T13" fmla="*/ 13597 h 21600"/>
              <a:gd name="T14" fmla="*/ 18229 w 21600"/>
              <a:gd name="T15" fmla="*/ 1063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0928" y="10571"/>
                </a:moveTo>
                <a:cubicBezTo>
                  <a:pt x="20803" y="5066"/>
                  <a:pt x="16305" y="669"/>
                  <a:pt x="10800" y="669"/>
                </a:cubicBezTo>
                <a:cubicBezTo>
                  <a:pt x="6244" y="668"/>
                  <a:pt x="2249" y="3709"/>
                  <a:pt x="1035" y="8099"/>
                </a:cubicBezTo>
                <a:lnTo>
                  <a:pt x="390" y="7921"/>
                </a:lnTo>
                <a:cubicBezTo>
                  <a:pt x="1685" y="3240"/>
                  <a:pt x="5944" y="-1"/>
                  <a:pt x="10800" y="0"/>
                </a:cubicBezTo>
                <a:cubicBezTo>
                  <a:pt x="16669" y="0"/>
                  <a:pt x="21464" y="4687"/>
                  <a:pt x="21597" y="10555"/>
                </a:cubicBezTo>
                <a:lnTo>
                  <a:pt x="24296" y="10494"/>
                </a:lnTo>
                <a:lnTo>
                  <a:pt x="21332" y="13597"/>
                </a:lnTo>
                <a:lnTo>
                  <a:pt x="18229" y="10632"/>
                </a:lnTo>
                <a:lnTo>
                  <a:pt x="20928" y="10571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2400300" y="1531640"/>
            <a:ext cx="17145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 animBg="1"/>
      <p:bldP spid="40966" grpId="0" animBg="1"/>
      <p:bldP spid="4096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Example: rewrite the code (b-2)</a:t>
            </a:r>
            <a:endParaRPr lang="en-US" altLang="zh-CN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1657350" y="1131590"/>
            <a:ext cx="2628900" cy="28789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Loop:  LW    R2,  0(R1)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ADD  R3,  R2, R4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</a:t>
            </a:r>
            <a:r>
              <a:rPr lang="en-US" altLang="zh-CN" sz="2100">
                <a:solidFill>
                  <a:srgbClr val="0066FF"/>
                </a:solidFill>
                <a:latin typeface="Arial Narrow" panose="020B0606020202030204" pitchFamily="34" charset="0"/>
              </a:rPr>
              <a:t>SW    R3,  0(R1)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DIV   …..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……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SUB   R1, R1, #4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BNEZ R1, Loop</a:t>
            </a:r>
            <a:endParaRPr lang="en-US" altLang="zh-CN" sz="2100">
              <a:latin typeface="Arial Narrow" panose="020B0606020202030204" pitchFamily="34" charset="0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4536282" y="1131590"/>
            <a:ext cx="3007519" cy="28789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Loop:  LW    R2,  0(R1)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ADD  R3,  R2, R4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DIV   …...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…...          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SUB   R1, R1, #4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BNEZ R1, Loop</a:t>
            </a:r>
            <a:endParaRPr lang="en-US" altLang="zh-CN" sz="2100">
              <a:latin typeface="Arial Narrow" panose="020B0606020202030204" pitchFamily="34" charset="0"/>
            </a:endParaRPr>
          </a:p>
          <a:p>
            <a:pPr marL="257175" indent="-257175" algn="l">
              <a:spcBef>
                <a:spcPct val="20000"/>
              </a:spcBef>
            </a:pPr>
            <a:r>
              <a:rPr lang="en-US" altLang="zh-CN" sz="2100">
                <a:latin typeface="Arial Narrow" panose="020B0606020202030204" pitchFamily="34" charset="0"/>
              </a:rPr>
              <a:t>           </a:t>
            </a:r>
            <a:r>
              <a:rPr lang="en-US" altLang="zh-CN" sz="2100" b="1">
                <a:solidFill>
                  <a:srgbClr val="0066FF"/>
                </a:solidFill>
                <a:latin typeface="Arial Narrow" panose="020B0606020202030204" pitchFamily="34" charset="0"/>
              </a:rPr>
              <a:t>SW    R3,  </a:t>
            </a:r>
            <a:r>
              <a:rPr lang="en-US" altLang="zh-CN" sz="2100" b="1">
                <a:solidFill>
                  <a:srgbClr val="FF0066"/>
                </a:solidFill>
                <a:latin typeface="Arial Narrow" panose="020B0606020202030204" pitchFamily="34" charset="0"/>
              </a:rPr>
              <a:t>+4</a:t>
            </a:r>
            <a:r>
              <a:rPr lang="en-US" altLang="zh-CN" sz="2100" b="1">
                <a:solidFill>
                  <a:srgbClr val="0066FF"/>
                </a:solidFill>
                <a:latin typeface="Arial Narrow" panose="020B0606020202030204" pitchFamily="34" charset="0"/>
              </a:rPr>
              <a:t>(R1)</a:t>
            </a:r>
            <a:endParaRPr lang="en-US" altLang="zh-CN" sz="2100">
              <a:latin typeface="Arial Narrow" panose="020B0606020202030204" pitchFamily="34" charset="0"/>
            </a:endParaRPr>
          </a:p>
        </p:txBody>
      </p:sp>
      <p:sp>
        <p:nvSpPr>
          <p:cNvPr id="41990" name="AutoShape 6"/>
          <p:cNvSpPr>
            <a:spLocks noChangeArrowheads="1"/>
          </p:cNvSpPr>
          <p:nvPr/>
        </p:nvSpPr>
        <p:spPr bwMode="auto">
          <a:xfrm>
            <a:off x="4229100" y="2353170"/>
            <a:ext cx="457200" cy="3429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2343150" y="1953120"/>
            <a:ext cx="17145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2" name="AutoShape 8"/>
          <p:cNvSpPr>
            <a:spLocks noChangeArrowheads="1"/>
          </p:cNvSpPr>
          <p:nvPr/>
        </p:nvSpPr>
        <p:spPr bwMode="auto">
          <a:xfrm rot="5770463" flipV="1">
            <a:off x="1465064" y="2374006"/>
            <a:ext cx="1887141" cy="1273969"/>
          </a:xfrm>
          <a:custGeom>
            <a:avLst/>
            <a:gdLst>
              <a:gd name="G0" fmla="+- -84879 0 0"/>
              <a:gd name="G1" fmla="+- -10783320 0 0"/>
              <a:gd name="G2" fmla="+- -84879 0 -10783320"/>
              <a:gd name="G3" fmla="+- 10800 0 0"/>
              <a:gd name="G4" fmla="+- 0 0 -84879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131 0 0"/>
              <a:gd name="G9" fmla="+- 0 0 -10783320"/>
              <a:gd name="G10" fmla="+- 10131 0 2700"/>
              <a:gd name="G11" fmla="cos G10 -84879"/>
              <a:gd name="G12" fmla="sin G10 -84879"/>
              <a:gd name="G13" fmla="cos 13500 -84879"/>
              <a:gd name="G14" fmla="sin 13500 -84879"/>
              <a:gd name="G15" fmla="+- G11 10800 0"/>
              <a:gd name="G16" fmla="+- G12 10800 0"/>
              <a:gd name="G17" fmla="+- G13 10800 0"/>
              <a:gd name="G18" fmla="+- G14 10800 0"/>
              <a:gd name="G19" fmla="*/ 10131 1 2"/>
              <a:gd name="G20" fmla="+- G19 5400 0"/>
              <a:gd name="G21" fmla="cos G20 -84879"/>
              <a:gd name="G22" fmla="sin G20 -84879"/>
              <a:gd name="G23" fmla="+- G21 10800 0"/>
              <a:gd name="G24" fmla="+- G12 G23 G22"/>
              <a:gd name="G25" fmla="+- G22 G23 G11"/>
              <a:gd name="G26" fmla="cos 10800 -84879"/>
              <a:gd name="G27" fmla="sin 10800 -84879"/>
              <a:gd name="G28" fmla="cos 10131 -84879"/>
              <a:gd name="G29" fmla="sin 10131 -84879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0783320"/>
              <a:gd name="G36" fmla="sin G34 -10783320"/>
              <a:gd name="G37" fmla="+/ -10783320 -84879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131 G39"/>
              <a:gd name="G43" fmla="sin 10131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2131 w 21600"/>
              <a:gd name="T5" fmla="*/ 82 h 21600"/>
              <a:gd name="T6" fmla="*/ 712 w 21600"/>
              <a:gd name="T7" fmla="*/ 8010 h 21600"/>
              <a:gd name="T8" fmla="*/ 12049 w 21600"/>
              <a:gd name="T9" fmla="*/ 746 h 21600"/>
              <a:gd name="T10" fmla="*/ 24296 w 21600"/>
              <a:gd name="T11" fmla="*/ 10494 h 21600"/>
              <a:gd name="T12" fmla="*/ 21332 w 21600"/>
              <a:gd name="T13" fmla="*/ 13597 h 21600"/>
              <a:gd name="T14" fmla="*/ 18229 w 21600"/>
              <a:gd name="T15" fmla="*/ 1063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0928" y="10571"/>
                </a:moveTo>
                <a:cubicBezTo>
                  <a:pt x="20803" y="5066"/>
                  <a:pt x="16305" y="669"/>
                  <a:pt x="10800" y="669"/>
                </a:cubicBezTo>
                <a:cubicBezTo>
                  <a:pt x="6244" y="668"/>
                  <a:pt x="2249" y="3709"/>
                  <a:pt x="1035" y="8099"/>
                </a:cubicBezTo>
                <a:lnTo>
                  <a:pt x="390" y="7921"/>
                </a:lnTo>
                <a:cubicBezTo>
                  <a:pt x="1685" y="3240"/>
                  <a:pt x="5944" y="-1"/>
                  <a:pt x="10800" y="0"/>
                </a:cubicBezTo>
                <a:cubicBezTo>
                  <a:pt x="16669" y="0"/>
                  <a:pt x="21464" y="4687"/>
                  <a:pt x="21597" y="10555"/>
                </a:cubicBezTo>
                <a:lnTo>
                  <a:pt x="24296" y="10494"/>
                </a:lnTo>
                <a:lnTo>
                  <a:pt x="21332" y="13597"/>
                </a:lnTo>
                <a:lnTo>
                  <a:pt x="18229" y="10632"/>
                </a:lnTo>
                <a:lnTo>
                  <a:pt x="20928" y="10571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animBg="1"/>
      <p:bldP spid="41990" grpId="0" animBg="1"/>
      <p:bldP spid="4199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Alternative resolutions to handle floating-point operations</a:t>
            </a:r>
            <a:endParaRPr lang="en-US" altLang="zh-CN" dirty="0"/>
          </a:p>
          <a:p>
            <a:pPr lvl="1"/>
            <a:r>
              <a:rPr lang="en-US" altLang="zh-CN" dirty="0"/>
              <a:t>Complete operation in 1 or 2 clock cycles,</a:t>
            </a:r>
            <a:endParaRPr lang="en-US" altLang="zh-CN" dirty="0"/>
          </a:p>
          <a:p>
            <a:pPr lvl="2"/>
            <a:r>
              <a:rPr lang="en-US" altLang="zh-CN" dirty="0"/>
              <a:t>Which means using a slow clock, </a:t>
            </a:r>
            <a:endParaRPr lang="en-US" altLang="zh-CN" dirty="0"/>
          </a:p>
          <a:p>
            <a:pPr lvl="2"/>
            <a:r>
              <a:rPr lang="en-US" altLang="zh-CN" dirty="0"/>
              <a:t>or/and  using enormous amounts of logic in FP units.</a:t>
            </a:r>
            <a:endParaRPr lang="en-US" altLang="zh-CN" dirty="0"/>
          </a:p>
          <a:p>
            <a:pPr lvl="1"/>
            <a:r>
              <a:rPr lang="en-US" altLang="zh-CN" b="1" dirty="0"/>
              <a:t>Allow for a longer latency for operations</a:t>
            </a:r>
            <a:endParaRPr lang="en-US" altLang="zh-CN" b="1" dirty="0"/>
          </a:p>
          <a:p>
            <a:pPr lvl="2"/>
            <a:r>
              <a:rPr lang="en-US" altLang="zh-CN" dirty="0"/>
              <a:t>The </a:t>
            </a:r>
            <a:r>
              <a:rPr lang="en-US" altLang="zh-CN" b="1" dirty="0"/>
              <a:t>EX</a:t>
            </a:r>
            <a:r>
              <a:rPr lang="en-US" altLang="zh-CN" dirty="0"/>
              <a:t> cycle may be repeated as many times as needed to complete the operation</a:t>
            </a:r>
            <a:endParaRPr lang="en-US" altLang="zh-CN" dirty="0"/>
          </a:p>
          <a:p>
            <a:pPr lvl="2"/>
            <a:r>
              <a:rPr lang="en-US" altLang="zh-CN" dirty="0"/>
              <a:t>There may be multiple FP units</a:t>
            </a:r>
            <a:endParaRPr lang="en-US" altLang="zh-CN" dirty="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500" dirty="0"/>
              <a:t>Extending the MIPS pipeline to handle </a:t>
            </a:r>
            <a:r>
              <a:rPr lang="en-US" altLang="zh-CN" sz="1500" dirty="0" err="1"/>
              <a:t>MultiCycle</a:t>
            </a:r>
            <a:r>
              <a:rPr lang="en-US" altLang="zh-CN" sz="1500" dirty="0"/>
              <a:t> Operations</a:t>
            </a:r>
            <a:endParaRPr lang="en-US" altLang="zh-CN" sz="1500" dirty="0"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MIPS pipeline with FP units</a:t>
            </a:r>
            <a:endParaRPr lang="en-US" altLang="zh-CN"/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897564"/>
            <a:ext cx="6515100" cy="36004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Two terminologies</a:t>
            </a:r>
            <a:endParaRPr lang="en-US" altLang="zh-CN" dirty="0"/>
          </a:p>
          <a:p>
            <a:pPr lvl="1"/>
            <a:r>
              <a:rPr lang="en-US" altLang="zh-CN" b="1" dirty="0"/>
              <a:t>Latency</a:t>
            </a:r>
            <a:r>
              <a:rPr lang="en-US" altLang="zh-CN" dirty="0"/>
              <a:t>---the number of intervening cycles between an instruction that produces a result and an instruction that uses the result.</a:t>
            </a:r>
            <a:endParaRPr lang="en-US" altLang="zh-CN" dirty="0"/>
          </a:p>
          <a:p>
            <a:pPr lvl="1"/>
            <a:r>
              <a:rPr lang="en-US" altLang="zh-CN" b="1" dirty="0"/>
              <a:t>Initiation interval</a:t>
            </a:r>
            <a:r>
              <a:rPr lang="en-US" altLang="zh-CN" dirty="0"/>
              <a:t>---the number of cycles that must elapse between instructions issue to the same unit. </a:t>
            </a:r>
            <a:endParaRPr lang="en-US" altLang="zh-CN" dirty="0"/>
          </a:p>
          <a:p>
            <a:pPr lvl="2"/>
            <a:r>
              <a:rPr lang="en-US" altLang="zh-CN" dirty="0"/>
              <a:t>For full pipelined units, initiation interval is 1</a:t>
            </a:r>
            <a:endParaRPr lang="en-US" altLang="zh-CN" dirty="0"/>
          </a:p>
          <a:p>
            <a:pPr lvl="2"/>
            <a:r>
              <a:rPr lang="en-US" altLang="zh-CN" dirty="0"/>
              <a:t>For </a:t>
            </a:r>
            <a:r>
              <a:rPr lang="en-US" altLang="zh-CN" dirty="0" err="1"/>
              <a:t>unpipelined</a:t>
            </a:r>
            <a:r>
              <a:rPr lang="en-US" altLang="zh-CN" dirty="0"/>
              <a:t> units, initiation interval is always the latency plus 1.</a:t>
            </a:r>
            <a:endParaRPr lang="en-US" altLang="zh-CN" dirty="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Pipelining some of the FP units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dirty="0"/>
              <a:t>Latencies and initiation intervals for functional units</a:t>
            </a:r>
            <a:endParaRPr lang="en-US" altLang="zh-CN" sz="1800" dirty="0"/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1507331" y="843558"/>
          <a:ext cx="6129338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文档" r:id="rId1" imgW="7255510" imgH="4545965" progId="Word.Document.8">
                  <p:embed/>
                </p:oleObj>
              </mc:Choice>
              <mc:Fallback>
                <p:oleObj name="文档" r:id="rId1" imgW="7255510" imgH="454596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331" y="843558"/>
                        <a:ext cx="6129338" cy="357187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dirty="0"/>
              <a:t>Pipeline supports multiple outstanding FP operations</a:t>
            </a:r>
            <a:endParaRPr lang="en-US" altLang="zh-CN" sz="1800" dirty="0"/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885" y="714375"/>
            <a:ext cx="6422231" cy="37147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005576"/>
            <a:ext cx="5943600" cy="33147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1500" dirty="0"/>
              <a:t>Memory bandwidth:  double words/one cycle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New pipeline latches are required:</a:t>
            </a:r>
            <a:endParaRPr lang="en-US" altLang="zh-CN" sz="1500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M1/M2, M2/M3, M3/M4, M4/M5, M5/M6, M6/M7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A1/A2, A2/A3, A3/A4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New connection registers are required:</a:t>
            </a:r>
            <a:endParaRPr lang="en-US" altLang="zh-CN" sz="1500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ID/EX, ID/M1, ID/A1, ID/DIV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EX/MEM, M7/MEM, A4/MEM, DIV/MEM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Because the divider unit is unpipelined, </a:t>
            </a:r>
            <a:r>
              <a:rPr lang="en-US" altLang="zh-CN" sz="1500" dirty="0">
                <a:solidFill>
                  <a:srgbClr val="0000FF"/>
                </a:solidFill>
              </a:rPr>
              <a:t>structural hazards</a:t>
            </a:r>
            <a:r>
              <a:rPr lang="en-US" altLang="zh-CN" sz="1500" dirty="0"/>
              <a:t> can occur.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Because the instructions have varying running times, the number of register writes required in a cycle can be larger than 1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>
                <a:solidFill>
                  <a:srgbClr val="0000FF"/>
                </a:solidFill>
              </a:rPr>
              <a:t>New data hazards: WAW</a:t>
            </a:r>
            <a:r>
              <a:rPr lang="en-US" altLang="zh-CN" sz="1500" dirty="0"/>
              <a:t> is possible due to disorder WBs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Due to longer latency of operations, </a:t>
            </a:r>
            <a:r>
              <a:rPr lang="en-US" altLang="zh-CN" sz="1500" dirty="0">
                <a:solidFill>
                  <a:srgbClr val="0000FF"/>
                </a:solidFill>
              </a:rPr>
              <a:t>stalls for RAW hazards will be more frequent.</a:t>
            </a:r>
            <a:endParaRPr lang="en-US" altLang="zh-CN" sz="15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500" dirty="0"/>
              <a:t>Problems with </a:t>
            </a:r>
            <a:r>
              <a:rPr lang="en-US" altLang="zh-CN" sz="1500" dirty="0">
                <a:solidFill>
                  <a:srgbClr val="0000FF"/>
                </a:solidFill>
              </a:rPr>
              <a:t>exceptions</a:t>
            </a:r>
            <a:r>
              <a:rPr lang="en-US" altLang="zh-CN" sz="1500" dirty="0"/>
              <a:t> resulting from disorder completion </a:t>
            </a:r>
            <a:endParaRPr lang="en-US" altLang="zh-CN" sz="1500" dirty="0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Specifications  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500" dirty="0"/>
              <a:t>Issuing in order and completion out of order</a:t>
            </a:r>
            <a:endParaRPr lang="en-US" altLang="zh-CN" sz="1500" dirty="0"/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1425179" y="1428750"/>
          <a:ext cx="6212681" cy="2359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文档" r:id="rId1" imgW="8876665" imgH="3380105" progId="Word.Document.8">
                  <p:embed/>
                </p:oleObj>
              </mc:Choice>
              <mc:Fallback>
                <p:oleObj name="文档" r:id="rId1" imgW="8876665" imgH="338010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179" y="1428750"/>
                        <a:ext cx="6212681" cy="2359819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89803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Structural Hazards for the FP register write port</a:t>
            </a:r>
            <a:endParaRPr lang="en-US" altLang="zh-CN"/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1371601" y="1200150"/>
          <a:ext cx="6412706" cy="3255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文档" r:id="rId1" imgW="8496300" imgH="4152900" progId="Word.Document.8">
                  <p:embed/>
                </p:oleObj>
              </mc:Choice>
              <mc:Fallback>
                <p:oleObj name="文档" r:id="rId1" imgW="8496300" imgH="41529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1" y="1200150"/>
                        <a:ext cx="6412706" cy="3255169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3"/>
          <p:cNvSpPr txBox="1">
            <a:spLocks noGrp="1" noChangeArrowheads="1"/>
          </p:cNvSpPr>
          <p:nvPr>
            <p:ph idx="1"/>
          </p:nvPr>
        </p:nvSpPr>
        <p:spPr>
          <a:xfrm>
            <a:off x="661629" y="789552"/>
            <a:ext cx="7820742" cy="3771900"/>
          </a:xfrm>
          <a:noFill/>
        </p:spPr>
        <p:txBody>
          <a:bodyPr/>
          <a:lstStyle/>
          <a:p>
            <a:pPr eaLnBrk="0" hangingPunct="0">
              <a:lnSpc>
                <a:spcPct val="120000"/>
              </a:lnSpc>
              <a:spcBef>
                <a:spcPct val="0"/>
              </a:spcBef>
            </a:pPr>
            <a:r>
              <a:rPr lang="en-US" altLang="zh-CN" sz="1500" dirty="0"/>
              <a:t>Increase the number of write ports</a:t>
            </a:r>
            <a:endParaRPr lang="en-US" altLang="zh-CN" sz="1500" dirty="0"/>
          </a:p>
          <a:p>
            <a:pPr lvl="1" eaLnBrk="0" hangingPunct="0">
              <a:spcBef>
                <a:spcPct val="0"/>
              </a:spcBef>
            </a:pPr>
            <a:r>
              <a:rPr lang="en-US" altLang="zh-CN" dirty="0">
                <a:solidFill>
                  <a:srgbClr val="0000FF"/>
                </a:solidFill>
              </a:rPr>
              <a:t>Unattractive</a:t>
            </a:r>
            <a:r>
              <a:rPr lang="en-US" altLang="zh-CN" dirty="0"/>
              <a:t> at all !</a:t>
            </a:r>
            <a:endParaRPr lang="en-US" altLang="zh-CN" dirty="0"/>
          </a:p>
          <a:p>
            <a:pPr lvl="1" eaLnBrk="0" hangingPunct="0">
              <a:spcBef>
                <a:spcPct val="0"/>
              </a:spcBef>
            </a:pPr>
            <a:r>
              <a:rPr lang="en-US" altLang="zh-CN" dirty="0"/>
              <a:t>No worthy since steady state usage is close to 1. </a:t>
            </a:r>
            <a:endParaRPr lang="en-US" altLang="zh-CN" dirty="0"/>
          </a:p>
          <a:p>
            <a:pPr eaLnBrk="0" hangingPunct="0">
              <a:lnSpc>
                <a:spcPct val="110000"/>
              </a:lnSpc>
              <a:spcBef>
                <a:spcPct val="0"/>
              </a:spcBef>
            </a:pPr>
            <a:r>
              <a:rPr lang="en-US" altLang="zh-CN" sz="1500" dirty="0"/>
              <a:t>Detect and insert stalls by serializing the writes </a:t>
            </a:r>
            <a:endParaRPr lang="en-US" altLang="zh-CN" sz="1500" dirty="0"/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0000FF"/>
                </a:solidFill>
              </a:rPr>
              <a:t>Track the use of the write port in the ID stage and to stall an instruction before it issues</a:t>
            </a:r>
            <a:endParaRPr lang="en-US" altLang="zh-CN" dirty="0">
              <a:solidFill>
                <a:srgbClr val="0000FF"/>
              </a:solidFill>
            </a:endParaRPr>
          </a:p>
          <a:p>
            <a:pPr lvl="2" eaLnBrk="0" hangingPunct="0">
              <a:lnSpc>
                <a:spcPct val="110000"/>
              </a:lnSpc>
              <a:spcBef>
                <a:spcPct val="0"/>
              </a:spcBef>
            </a:pPr>
            <a:r>
              <a:rPr lang="en-US" altLang="zh-CN" sz="1500" dirty="0"/>
              <a:t>Additional Hardware: a shift register+ write conflict logic</a:t>
            </a:r>
            <a:endParaRPr lang="en-US" altLang="zh-CN" sz="1500" dirty="0"/>
          </a:p>
          <a:p>
            <a:pPr lvl="2" eaLnBrk="0" hangingPunct="0">
              <a:lnSpc>
                <a:spcPct val="110000"/>
              </a:lnSpc>
              <a:spcBef>
                <a:spcPct val="0"/>
              </a:spcBef>
            </a:pPr>
            <a:r>
              <a:rPr lang="en-US" altLang="zh-CN" sz="1500" dirty="0"/>
              <a:t>The shift register tracks when already-issued instructions will use the register file, and right shift 1 bit each clock.</a:t>
            </a:r>
            <a:endParaRPr lang="en-US" altLang="zh-CN" sz="1500" dirty="0"/>
          </a:p>
          <a:p>
            <a:pPr lvl="2" eaLnBrk="0" hangingPunct="0">
              <a:lnSpc>
                <a:spcPct val="110000"/>
              </a:lnSpc>
              <a:spcBef>
                <a:spcPct val="0"/>
              </a:spcBef>
            </a:pPr>
            <a:r>
              <a:rPr lang="en-US" altLang="zh-CN" sz="1500" dirty="0"/>
              <a:t>The stalls might </a:t>
            </a:r>
            <a:r>
              <a:rPr lang="en-US" altLang="zh-CN" sz="1500" i="1" dirty="0">
                <a:solidFill>
                  <a:srgbClr val="FF0000"/>
                </a:solidFill>
              </a:rPr>
              <a:t>aggravate</a:t>
            </a:r>
            <a:r>
              <a:rPr lang="en-US" altLang="zh-CN" sz="1500" dirty="0"/>
              <a:t> the data hazards</a:t>
            </a:r>
            <a:endParaRPr lang="en-US" altLang="zh-CN" sz="1500" dirty="0"/>
          </a:p>
          <a:p>
            <a:pPr lvl="2" eaLnBrk="0" hangingPunct="0">
              <a:lnSpc>
                <a:spcPct val="110000"/>
              </a:lnSpc>
              <a:spcBef>
                <a:spcPct val="0"/>
              </a:spcBef>
            </a:pPr>
            <a:r>
              <a:rPr lang="en-US" altLang="zh-CN" sz="1500" dirty="0"/>
              <a:t>All interlock detection and stall insertion occurs in ID stage</a:t>
            </a:r>
            <a:endParaRPr lang="en-US" altLang="zh-CN" sz="1500" dirty="0"/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0000FF"/>
                </a:solidFill>
              </a:rPr>
              <a:t>To stall a conflicting instruction when it tries to enter the MEM or WB stage.</a:t>
            </a:r>
            <a:endParaRPr lang="en-US" altLang="zh-CN" dirty="0">
              <a:solidFill>
                <a:srgbClr val="0000FF"/>
              </a:solidFill>
            </a:endParaRPr>
          </a:p>
          <a:p>
            <a:pPr lvl="2" eaLnBrk="0" hangingPunct="0">
              <a:lnSpc>
                <a:spcPct val="110000"/>
              </a:lnSpc>
              <a:spcBef>
                <a:spcPct val="0"/>
              </a:spcBef>
            </a:pPr>
            <a:r>
              <a:rPr lang="en-US" altLang="zh-CN" sz="1500" dirty="0"/>
              <a:t>Easy to detect the conflict at this point </a:t>
            </a:r>
            <a:endParaRPr lang="en-US" altLang="zh-CN" sz="1500" dirty="0"/>
          </a:p>
          <a:p>
            <a:pPr lvl="2" eaLnBrk="0" hangingPunct="0">
              <a:lnSpc>
                <a:spcPct val="110000"/>
              </a:lnSpc>
              <a:spcBef>
                <a:spcPct val="0"/>
              </a:spcBef>
            </a:pPr>
            <a:r>
              <a:rPr lang="en-US" altLang="zh-CN" sz="1500" dirty="0"/>
              <a:t>Complicates pipeline control since stalls can now occur in two places. </a:t>
            </a:r>
            <a:endParaRPr lang="en-US" altLang="zh-CN" sz="1500" dirty="0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How to solve the write port conflict ?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735546"/>
            <a:ext cx="7820742" cy="3314700"/>
          </a:xfrm>
        </p:spPr>
        <p:txBody>
          <a:bodyPr/>
          <a:lstStyle/>
          <a:p>
            <a:r>
              <a:rPr lang="en-US" altLang="zh-CN" dirty="0"/>
              <a:t>Consider two instructions, A and B. A occurs before B.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RAW( Read after write)  true dependence</a:t>
            </a:r>
            <a:endParaRPr lang="en-US" altLang="zh-CN" b="1" dirty="0"/>
          </a:p>
          <a:p>
            <a:pPr lvl="1"/>
            <a:r>
              <a:rPr lang="en-US" altLang="zh-CN" dirty="0"/>
              <a:t>Instruction A writes Rx</a:t>
            </a:r>
            <a:r>
              <a:rPr lang="zh-CN" altLang="en-US" dirty="0"/>
              <a:t>，</a:t>
            </a:r>
            <a:r>
              <a:rPr lang="en-US" altLang="zh-CN" dirty="0"/>
              <a:t>instruction B reads Rx</a:t>
            </a:r>
            <a:endParaRPr lang="en-US" altLang="zh-CN" dirty="0"/>
          </a:p>
          <a:p>
            <a:r>
              <a:rPr lang="en-US" altLang="zh-CN" b="1" dirty="0"/>
              <a:t>WAW(Write after write) output dependence</a:t>
            </a:r>
            <a:endParaRPr lang="en-US" altLang="zh-CN" b="1" dirty="0"/>
          </a:p>
          <a:p>
            <a:pPr lvl="1"/>
            <a:r>
              <a:rPr lang="en-US" altLang="zh-CN" dirty="0"/>
              <a:t>Instruction A writes Rx</a:t>
            </a:r>
            <a:r>
              <a:rPr lang="zh-CN" altLang="en-US" dirty="0"/>
              <a:t>，</a:t>
            </a:r>
            <a:r>
              <a:rPr lang="en-US" altLang="zh-CN" dirty="0"/>
              <a:t>instruction B writes Rx</a:t>
            </a:r>
            <a:endParaRPr lang="en-US" altLang="zh-CN" dirty="0"/>
          </a:p>
          <a:p>
            <a:r>
              <a:rPr lang="en-US" altLang="zh-CN" b="1" dirty="0"/>
              <a:t>WAR( Write after read) anti-</a:t>
            </a:r>
            <a:r>
              <a:rPr lang="en-US" altLang="zh-CN" b="1" dirty="0" err="1"/>
              <a:t>denpendence</a:t>
            </a:r>
            <a:endParaRPr lang="en-US" altLang="zh-CN" b="1" dirty="0"/>
          </a:p>
          <a:p>
            <a:pPr lvl="1"/>
            <a:r>
              <a:rPr lang="en-US" altLang="zh-CN" dirty="0"/>
              <a:t>Instruction A reads Rx</a:t>
            </a:r>
            <a:r>
              <a:rPr lang="zh-CN" altLang="en-US" dirty="0"/>
              <a:t>，</a:t>
            </a:r>
            <a:r>
              <a:rPr lang="en-US" altLang="zh-CN" dirty="0"/>
              <a:t>instruction B writes  Rx</a:t>
            </a:r>
            <a:endParaRPr lang="en-US" altLang="zh-CN" dirty="0"/>
          </a:p>
          <a:p>
            <a:r>
              <a:rPr lang="en-US" altLang="zh-CN" dirty="0"/>
              <a:t>Hazards are named according to the ordering </a:t>
            </a:r>
            <a:r>
              <a:rPr lang="en-US" altLang="zh-CN" b="1" dirty="0"/>
              <a:t>that </a:t>
            </a:r>
            <a:r>
              <a:rPr lang="en-US" altLang="zh-CN" b="1" dirty="0">
                <a:solidFill>
                  <a:srgbClr val="FF0000"/>
                </a:solidFill>
              </a:rPr>
              <a:t>MUST</a:t>
            </a:r>
            <a:r>
              <a:rPr lang="en-US" altLang="zh-CN" b="1" dirty="0"/>
              <a:t> be preserved by the pipeline</a:t>
            </a:r>
            <a:endParaRPr lang="en-US" altLang="zh-CN" b="1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Types of data hazards </a:t>
            </a:r>
            <a:endParaRPr lang="en-US" altLang="zh-CN"/>
          </a:p>
        </p:txBody>
      </p:sp>
      <p:pic>
        <p:nvPicPr>
          <p:cNvPr id="35844" name="Picture 4" descr="chap3_3-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1158720"/>
            <a:ext cx="5429250" cy="12001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B tries to read a register before A has written it and gets the old value. </a:t>
            </a:r>
            <a:endParaRPr lang="en-US" altLang="zh-CN"/>
          </a:p>
          <a:p>
            <a:r>
              <a:rPr lang="en-US" altLang="zh-CN"/>
              <a:t>This is common, and forwarding helps to solve it. </a:t>
            </a:r>
            <a:endParaRPr lang="en-US" altLang="zh-CN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RAW dependence</a:t>
            </a:r>
            <a:endParaRPr lang="en-US" altLang="zh-CN"/>
          </a:p>
        </p:txBody>
      </p:sp>
      <p:grpSp>
        <p:nvGrpSpPr>
          <p:cNvPr id="36868" name="Group 4"/>
          <p:cNvGrpSpPr/>
          <p:nvPr/>
        </p:nvGrpSpPr>
        <p:grpSpPr bwMode="auto">
          <a:xfrm>
            <a:off x="2000250" y="2286000"/>
            <a:ext cx="4824413" cy="685800"/>
            <a:chOff x="720" y="1920"/>
            <a:chExt cx="4052" cy="576"/>
          </a:xfrm>
        </p:grpSpPr>
        <p:sp>
          <p:nvSpPr>
            <p:cNvPr id="36869" name="Oval 5"/>
            <p:cNvSpPr>
              <a:spLocks noChangeArrowheads="1"/>
            </p:cNvSpPr>
            <p:nvPr/>
          </p:nvSpPr>
          <p:spPr bwMode="auto">
            <a:xfrm>
              <a:off x="912" y="2112"/>
              <a:ext cx="338" cy="384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S(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A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  <p:sp>
          <p:nvSpPr>
            <p:cNvPr id="36870" name="Line 6"/>
            <p:cNvSpPr>
              <a:spLocks noChangeShapeType="1"/>
            </p:cNvSpPr>
            <p:nvPr/>
          </p:nvSpPr>
          <p:spPr bwMode="auto">
            <a:xfrm>
              <a:off x="1281" y="2304"/>
              <a:ext cx="493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1" name="Oval 7"/>
            <p:cNvSpPr>
              <a:spLocks noChangeArrowheads="1"/>
            </p:cNvSpPr>
            <p:nvPr/>
          </p:nvSpPr>
          <p:spPr bwMode="auto">
            <a:xfrm>
              <a:off x="1774" y="2112"/>
              <a:ext cx="338" cy="384"/>
            </a:xfrm>
            <a:prstGeom prst="ellips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D(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A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  <p:sp>
          <p:nvSpPr>
            <p:cNvPr id="36872" name="Oval 8"/>
            <p:cNvSpPr>
              <a:spLocks noChangeArrowheads="1"/>
            </p:cNvSpPr>
            <p:nvPr/>
          </p:nvSpPr>
          <p:spPr bwMode="auto">
            <a:xfrm>
              <a:off x="2352" y="2112"/>
              <a:ext cx="338" cy="384"/>
            </a:xfrm>
            <a:prstGeom prst="ellips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S(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B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  <p:sp>
          <p:nvSpPr>
            <p:cNvPr id="36873" name="Line 9"/>
            <p:cNvSpPr>
              <a:spLocks noChangeShapeType="1"/>
            </p:cNvSpPr>
            <p:nvPr/>
          </p:nvSpPr>
          <p:spPr bwMode="auto">
            <a:xfrm>
              <a:off x="2721" y="2304"/>
              <a:ext cx="493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4" name="Oval 10"/>
            <p:cNvSpPr>
              <a:spLocks noChangeArrowheads="1"/>
            </p:cNvSpPr>
            <p:nvPr/>
          </p:nvSpPr>
          <p:spPr bwMode="auto">
            <a:xfrm>
              <a:off x="3214" y="2112"/>
              <a:ext cx="338" cy="384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D(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B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  <p:sp>
          <p:nvSpPr>
            <p:cNvPr id="36875" name="Line 11"/>
            <p:cNvSpPr>
              <a:spLocks noChangeShapeType="1"/>
            </p:cNvSpPr>
            <p:nvPr/>
          </p:nvSpPr>
          <p:spPr bwMode="auto">
            <a:xfrm>
              <a:off x="720" y="2064"/>
              <a:ext cx="312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Text Box 12"/>
            <p:cNvSpPr txBox="1">
              <a:spLocks noChangeArrowheads="1"/>
            </p:cNvSpPr>
            <p:nvPr/>
          </p:nvSpPr>
          <p:spPr bwMode="auto">
            <a:xfrm>
              <a:off x="3876" y="1920"/>
              <a:ext cx="506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500">
                  <a:solidFill>
                    <a:srgbClr val="0000FF"/>
                  </a:solidFill>
                </a:rPr>
                <a:t>Time</a:t>
              </a:r>
              <a:endParaRPr lang="en-US" altLang="zh-CN" sz="1500">
                <a:solidFill>
                  <a:srgbClr val="0000FF"/>
                </a:solidFill>
              </a:endParaRPr>
            </a:p>
          </p:txBody>
        </p:sp>
        <p:sp>
          <p:nvSpPr>
            <p:cNvPr id="36877" name="Text Box 13"/>
            <p:cNvSpPr txBox="1">
              <a:spLocks noChangeArrowheads="1"/>
            </p:cNvSpPr>
            <p:nvPr/>
          </p:nvSpPr>
          <p:spPr bwMode="auto">
            <a:xfrm>
              <a:off x="3893" y="2160"/>
              <a:ext cx="879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500">
                  <a:solidFill>
                    <a:srgbClr val="0000FF"/>
                  </a:solidFill>
                </a:rPr>
                <a:t>No hazard</a:t>
              </a:r>
              <a:endParaRPr lang="en-US" altLang="zh-CN" sz="1500">
                <a:solidFill>
                  <a:srgbClr val="0000FF"/>
                </a:solidFill>
              </a:endParaRPr>
            </a:p>
          </p:txBody>
        </p:sp>
      </p:grpSp>
      <p:grpSp>
        <p:nvGrpSpPr>
          <p:cNvPr id="36878" name="Group 14"/>
          <p:cNvGrpSpPr/>
          <p:nvPr/>
        </p:nvGrpSpPr>
        <p:grpSpPr bwMode="auto">
          <a:xfrm>
            <a:off x="2228850" y="3371850"/>
            <a:ext cx="1428750" cy="457200"/>
            <a:chOff x="912" y="2832"/>
            <a:chExt cx="1200" cy="384"/>
          </a:xfrm>
        </p:grpSpPr>
        <p:sp>
          <p:nvSpPr>
            <p:cNvPr id="36879" name="Oval 15"/>
            <p:cNvSpPr>
              <a:spLocks noChangeArrowheads="1"/>
            </p:cNvSpPr>
            <p:nvPr/>
          </p:nvSpPr>
          <p:spPr bwMode="auto">
            <a:xfrm>
              <a:off x="912" y="2832"/>
              <a:ext cx="338" cy="384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S(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A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  <p:sp>
          <p:nvSpPr>
            <p:cNvPr id="36880" name="Line 16"/>
            <p:cNvSpPr>
              <a:spLocks noChangeShapeType="1"/>
            </p:cNvSpPr>
            <p:nvPr/>
          </p:nvSpPr>
          <p:spPr bwMode="auto">
            <a:xfrm>
              <a:off x="1281" y="3024"/>
              <a:ext cx="493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1" name="Oval 17"/>
            <p:cNvSpPr>
              <a:spLocks noChangeArrowheads="1"/>
            </p:cNvSpPr>
            <p:nvPr/>
          </p:nvSpPr>
          <p:spPr bwMode="auto">
            <a:xfrm>
              <a:off x="1774" y="2832"/>
              <a:ext cx="338" cy="384"/>
            </a:xfrm>
            <a:prstGeom prst="ellips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D(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A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</p:grpSp>
      <p:grpSp>
        <p:nvGrpSpPr>
          <p:cNvPr id="36882" name="Group 18"/>
          <p:cNvGrpSpPr/>
          <p:nvPr/>
        </p:nvGrpSpPr>
        <p:grpSpPr bwMode="auto">
          <a:xfrm>
            <a:off x="3028950" y="3657600"/>
            <a:ext cx="1428750" cy="457200"/>
            <a:chOff x="1536" y="3216"/>
            <a:chExt cx="1200" cy="384"/>
          </a:xfrm>
        </p:grpSpPr>
        <p:sp>
          <p:nvSpPr>
            <p:cNvPr id="36883" name="Oval 19"/>
            <p:cNvSpPr>
              <a:spLocks noChangeArrowheads="1"/>
            </p:cNvSpPr>
            <p:nvPr/>
          </p:nvSpPr>
          <p:spPr bwMode="auto">
            <a:xfrm>
              <a:off x="1536" y="3216"/>
              <a:ext cx="338" cy="384"/>
            </a:xfrm>
            <a:prstGeom prst="ellipse">
              <a:avLst/>
            </a:prstGeom>
            <a:noFill/>
            <a:ln w="2857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S(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B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  <p:sp>
          <p:nvSpPr>
            <p:cNvPr id="36884" name="Line 20"/>
            <p:cNvSpPr>
              <a:spLocks noChangeShapeType="1"/>
            </p:cNvSpPr>
            <p:nvPr/>
          </p:nvSpPr>
          <p:spPr bwMode="auto">
            <a:xfrm>
              <a:off x="1905" y="3408"/>
              <a:ext cx="493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5" name="Oval 21"/>
            <p:cNvSpPr>
              <a:spLocks noChangeArrowheads="1"/>
            </p:cNvSpPr>
            <p:nvPr/>
          </p:nvSpPr>
          <p:spPr bwMode="auto">
            <a:xfrm>
              <a:off x="2398" y="3216"/>
              <a:ext cx="338" cy="384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D(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B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</p:grpSp>
      <p:sp>
        <p:nvSpPr>
          <p:cNvPr id="36886" name="Text Box 22"/>
          <p:cNvSpPr txBox="1">
            <a:spLocks noChangeArrowheads="1"/>
          </p:cNvSpPr>
          <p:nvPr/>
        </p:nvSpPr>
        <p:spPr bwMode="auto">
          <a:xfrm>
            <a:off x="4906841" y="3486150"/>
            <a:ext cx="2515240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1500">
                <a:solidFill>
                  <a:srgbClr val="FF0000"/>
                </a:solidFill>
              </a:rPr>
              <a:t>If D(A)=S(B), hazard occur.</a:t>
            </a:r>
            <a:endParaRPr lang="en-US" altLang="zh-CN" sz="15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B tries to write an operand before A has written it. </a:t>
            </a:r>
            <a:endParaRPr lang="en-US" altLang="zh-CN"/>
          </a:p>
          <a:p>
            <a:r>
              <a:rPr lang="en-US" altLang="zh-CN"/>
              <a:t>After instruction B has executed, the value of the register should be B's result, but A's result is stored instead. </a:t>
            </a:r>
            <a:endParaRPr lang="en-US" altLang="zh-CN"/>
          </a:p>
          <a:p>
            <a:r>
              <a:rPr lang="en-US" altLang="zh-CN"/>
              <a:t>This can only happen with pipelines that write values in more than one stage, or in variable-length pipelines (i.e. FP pipelines). 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WAW dependence</a:t>
            </a:r>
            <a:endParaRPr lang="en-US" altLang="zh-CN"/>
          </a:p>
        </p:txBody>
      </p:sp>
      <p:grpSp>
        <p:nvGrpSpPr>
          <p:cNvPr id="37892" name="Group 4"/>
          <p:cNvGrpSpPr/>
          <p:nvPr/>
        </p:nvGrpSpPr>
        <p:grpSpPr bwMode="auto">
          <a:xfrm>
            <a:off x="2000250" y="2971800"/>
            <a:ext cx="4824413" cy="685800"/>
            <a:chOff x="720" y="2208"/>
            <a:chExt cx="4052" cy="576"/>
          </a:xfrm>
        </p:grpSpPr>
        <p:grpSp>
          <p:nvGrpSpPr>
            <p:cNvPr id="37893" name="Group 5"/>
            <p:cNvGrpSpPr/>
            <p:nvPr/>
          </p:nvGrpSpPr>
          <p:grpSpPr bwMode="auto">
            <a:xfrm>
              <a:off x="912" y="2400"/>
              <a:ext cx="1200" cy="384"/>
              <a:chOff x="912" y="2400"/>
              <a:chExt cx="1200" cy="384"/>
            </a:xfrm>
          </p:grpSpPr>
          <p:sp>
            <p:nvSpPr>
              <p:cNvPr id="37894" name="Oval 6"/>
              <p:cNvSpPr>
                <a:spLocks noChangeArrowheads="1"/>
              </p:cNvSpPr>
              <p:nvPr/>
            </p:nvSpPr>
            <p:spPr bwMode="auto">
              <a:xfrm>
                <a:off x="912" y="2400"/>
                <a:ext cx="338" cy="384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S(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37895" name="Line 7"/>
              <p:cNvSpPr>
                <a:spLocks noChangeShapeType="1"/>
              </p:cNvSpPr>
              <p:nvPr/>
            </p:nvSpPr>
            <p:spPr bwMode="auto">
              <a:xfrm>
                <a:off x="1281" y="2592"/>
                <a:ext cx="493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896" name="Oval 8"/>
              <p:cNvSpPr>
                <a:spLocks noChangeArrowheads="1"/>
              </p:cNvSpPr>
              <p:nvPr/>
            </p:nvSpPr>
            <p:spPr bwMode="auto">
              <a:xfrm>
                <a:off x="1774" y="2400"/>
                <a:ext cx="338" cy="384"/>
              </a:xfrm>
              <a:prstGeom prst="ellips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D(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</p:grpSp>
        <p:grpSp>
          <p:nvGrpSpPr>
            <p:cNvPr id="37897" name="Group 9"/>
            <p:cNvGrpSpPr/>
            <p:nvPr/>
          </p:nvGrpSpPr>
          <p:grpSpPr bwMode="auto">
            <a:xfrm>
              <a:off x="2352" y="2400"/>
              <a:ext cx="1200" cy="384"/>
              <a:chOff x="2352" y="2400"/>
              <a:chExt cx="1200" cy="384"/>
            </a:xfrm>
          </p:grpSpPr>
          <p:sp>
            <p:nvSpPr>
              <p:cNvPr id="37898" name="Oval 10"/>
              <p:cNvSpPr>
                <a:spLocks noChangeArrowheads="1"/>
              </p:cNvSpPr>
              <p:nvPr/>
            </p:nvSpPr>
            <p:spPr bwMode="auto">
              <a:xfrm>
                <a:off x="2352" y="2400"/>
                <a:ext cx="338" cy="384"/>
              </a:xfrm>
              <a:prstGeom prst="ellipse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S(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B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37899" name="Line 11"/>
              <p:cNvSpPr>
                <a:spLocks noChangeShapeType="1"/>
              </p:cNvSpPr>
              <p:nvPr/>
            </p:nvSpPr>
            <p:spPr bwMode="auto">
              <a:xfrm>
                <a:off x="2721" y="2592"/>
                <a:ext cx="493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00" name="Oval 12"/>
              <p:cNvSpPr>
                <a:spLocks noChangeArrowheads="1"/>
              </p:cNvSpPr>
              <p:nvPr/>
            </p:nvSpPr>
            <p:spPr bwMode="auto">
              <a:xfrm>
                <a:off x="3214" y="2400"/>
                <a:ext cx="338" cy="384"/>
              </a:xfrm>
              <a:prstGeom prst="ellips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D(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B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</p:grpSp>
        <p:sp>
          <p:nvSpPr>
            <p:cNvPr id="37901" name="Line 13"/>
            <p:cNvSpPr>
              <a:spLocks noChangeShapeType="1"/>
            </p:cNvSpPr>
            <p:nvPr/>
          </p:nvSpPr>
          <p:spPr bwMode="auto">
            <a:xfrm>
              <a:off x="720" y="2352"/>
              <a:ext cx="312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2" name="Text Box 14"/>
            <p:cNvSpPr txBox="1">
              <a:spLocks noChangeArrowheads="1"/>
            </p:cNvSpPr>
            <p:nvPr/>
          </p:nvSpPr>
          <p:spPr bwMode="auto">
            <a:xfrm>
              <a:off x="3876" y="2208"/>
              <a:ext cx="506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500">
                  <a:solidFill>
                    <a:srgbClr val="0000FF"/>
                  </a:solidFill>
                </a:rPr>
                <a:t>Time</a:t>
              </a:r>
              <a:endParaRPr lang="en-US" altLang="zh-CN" sz="1500">
                <a:solidFill>
                  <a:srgbClr val="0000FF"/>
                </a:solidFill>
              </a:endParaRPr>
            </a:p>
          </p:txBody>
        </p:sp>
        <p:sp>
          <p:nvSpPr>
            <p:cNvPr id="37903" name="Text Box 15"/>
            <p:cNvSpPr txBox="1">
              <a:spLocks noChangeArrowheads="1"/>
            </p:cNvSpPr>
            <p:nvPr/>
          </p:nvSpPr>
          <p:spPr bwMode="auto">
            <a:xfrm>
              <a:off x="3893" y="2448"/>
              <a:ext cx="879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500">
                  <a:solidFill>
                    <a:srgbClr val="0000FF"/>
                  </a:solidFill>
                </a:rPr>
                <a:t>No hazard</a:t>
              </a:r>
              <a:endParaRPr lang="en-US" altLang="zh-CN" sz="1500">
                <a:solidFill>
                  <a:srgbClr val="0000FF"/>
                </a:solidFill>
              </a:endParaRPr>
            </a:p>
          </p:txBody>
        </p:sp>
      </p:grpSp>
      <p:grpSp>
        <p:nvGrpSpPr>
          <p:cNvPr id="37904" name="Group 16"/>
          <p:cNvGrpSpPr/>
          <p:nvPr/>
        </p:nvGrpSpPr>
        <p:grpSpPr bwMode="auto">
          <a:xfrm>
            <a:off x="2228850" y="3943350"/>
            <a:ext cx="2000250" cy="800100"/>
            <a:chOff x="912" y="3024"/>
            <a:chExt cx="1680" cy="672"/>
          </a:xfrm>
        </p:grpSpPr>
        <p:sp>
          <p:nvSpPr>
            <p:cNvPr id="37905" name="Oval 17"/>
            <p:cNvSpPr>
              <a:spLocks noChangeArrowheads="1"/>
            </p:cNvSpPr>
            <p:nvPr/>
          </p:nvSpPr>
          <p:spPr bwMode="auto">
            <a:xfrm>
              <a:off x="912" y="3024"/>
              <a:ext cx="338" cy="384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S(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A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  <p:sp>
          <p:nvSpPr>
            <p:cNvPr id="37906" name="Line 18"/>
            <p:cNvSpPr>
              <a:spLocks noChangeShapeType="1"/>
            </p:cNvSpPr>
            <p:nvPr/>
          </p:nvSpPr>
          <p:spPr bwMode="auto">
            <a:xfrm>
              <a:off x="1248" y="3216"/>
              <a:ext cx="100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7" name="Oval 19"/>
            <p:cNvSpPr>
              <a:spLocks noChangeArrowheads="1"/>
            </p:cNvSpPr>
            <p:nvPr/>
          </p:nvSpPr>
          <p:spPr bwMode="auto">
            <a:xfrm>
              <a:off x="2254" y="3024"/>
              <a:ext cx="338" cy="384"/>
            </a:xfrm>
            <a:prstGeom prst="ellips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D(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A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  <p:sp>
          <p:nvSpPr>
            <p:cNvPr id="37908" name="Oval 20"/>
            <p:cNvSpPr>
              <a:spLocks noChangeArrowheads="1"/>
            </p:cNvSpPr>
            <p:nvPr/>
          </p:nvSpPr>
          <p:spPr bwMode="auto">
            <a:xfrm>
              <a:off x="1392" y="3312"/>
              <a:ext cx="338" cy="384"/>
            </a:xfrm>
            <a:prstGeom prst="ellipse">
              <a:avLst/>
            </a:prstGeom>
            <a:noFill/>
            <a:ln w="952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S(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B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  <p:sp>
          <p:nvSpPr>
            <p:cNvPr id="37909" name="Line 21"/>
            <p:cNvSpPr>
              <a:spLocks noChangeShapeType="1"/>
            </p:cNvSpPr>
            <p:nvPr/>
          </p:nvSpPr>
          <p:spPr bwMode="auto">
            <a:xfrm>
              <a:off x="1728" y="3504"/>
              <a:ext cx="43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0" name="Oval 22"/>
            <p:cNvSpPr>
              <a:spLocks noChangeArrowheads="1"/>
            </p:cNvSpPr>
            <p:nvPr/>
          </p:nvSpPr>
          <p:spPr bwMode="auto">
            <a:xfrm>
              <a:off x="2158" y="3312"/>
              <a:ext cx="338" cy="384"/>
            </a:xfrm>
            <a:prstGeom prst="ellipse">
              <a:avLst/>
            </a:prstGeom>
            <a:noFill/>
            <a:ln w="2857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en-US" altLang="zh-CN" sz="1650" b="1">
                  <a:latin typeface="Times New Roman" panose="02020503050405090304" pitchFamily="18" charset="0"/>
                </a:rPr>
                <a:t>D(</a:t>
              </a:r>
              <a:r>
                <a:rPr lang="en-US" altLang="zh-CN" sz="1650" b="1">
                  <a:solidFill>
                    <a:srgbClr val="0066FF"/>
                  </a:solidFill>
                  <a:latin typeface="Times New Roman" panose="02020503050405090304" pitchFamily="18" charset="0"/>
                </a:rPr>
                <a:t>B</a:t>
              </a:r>
              <a:r>
                <a:rPr lang="en-US" altLang="zh-CN" sz="1650" b="1">
                  <a:latin typeface="Times New Roman" panose="02020503050405090304" pitchFamily="18" charset="0"/>
                </a:rPr>
                <a:t>)</a:t>
              </a:r>
              <a:endParaRPr lang="en-US" altLang="zh-CN" sz="1650" b="1">
                <a:latin typeface="Times New Roman" panose="02020503050405090304" pitchFamily="18" charset="0"/>
              </a:endParaRPr>
            </a:p>
          </p:txBody>
        </p:sp>
      </p:grpSp>
      <p:sp>
        <p:nvSpPr>
          <p:cNvPr id="37911" name="Text Box 23"/>
          <p:cNvSpPr txBox="1">
            <a:spLocks noChangeArrowheads="1"/>
          </p:cNvSpPr>
          <p:nvPr/>
        </p:nvSpPr>
        <p:spPr bwMode="auto">
          <a:xfrm>
            <a:off x="4840852" y="4229100"/>
            <a:ext cx="2537682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1500">
                <a:solidFill>
                  <a:srgbClr val="FF0000"/>
                </a:solidFill>
              </a:rPr>
              <a:t>If D(A)=D(B), hazard occur.</a:t>
            </a:r>
            <a:endParaRPr lang="en-US" altLang="zh-CN" sz="15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B tries to write a register before A has read it.</a:t>
            </a:r>
            <a:endParaRPr lang="en-US" altLang="zh-CN"/>
          </a:p>
          <a:p>
            <a:r>
              <a:rPr lang="en-US" altLang="zh-CN"/>
              <a:t>In this case, A uses the new (incorrect) value. </a:t>
            </a:r>
            <a:endParaRPr lang="en-US" altLang="zh-CN"/>
          </a:p>
          <a:p>
            <a:r>
              <a:rPr lang="en-US" altLang="zh-CN"/>
              <a:t>This type of hazard is rare because most pipelines read values early and write results late. </a:t>
            </a:r>
            <a:endParaRPr lang="en-US" altLang="zh-CN"/>
          </a:p>
          <a:p>
            <a:r>
              <a:rPr lang="en-US" altLang="zh-CN"/>
              <a:t>However, it might happen for a CPU that had complex addressing modes. i.e. autoincrement.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WAR dependence</a:t>
            </a:r>
            <a:endParaRPr lang="en-US" altLang="zh-CN"/>
          </a:p>
        </p:txBody>
      </p:sp>
      <p:grpSp>
        <p:nvGrpSpPr>
          <p:cNvPr id="38916" name="Group 4"/>
          <p:cNvGrpSpPr/>
          <p:nvPr/>
        </p:nvGrpSpPr>
        <p:grpSpPr bwMode="auto">
          <a:xfrm>
            <a:off x="2000250" y="2971800"/>
            <a:ext cx="4824413" cy="685800"/>
            <a:chOff x="720" y="2496"/>
            <a:chExt cx="4052" cy="576"/>
          </a:xfrm>
        </p:grpSpPr>
        <p:grpSp>
          <p:nvGrpSpPr>
            <p:cNvPr id="38917" name="Group 5"/>
            <p:cNvGrpSpPr/>
            <p:nvPr/>
          </p:nvGrpSpPr>
          <p:grpSpPr bwMode="auto">
            <a:xfrm>
              <a:off x="912" y="2688"/>
              <a:ext cx="1200" cy="384"/>
              <a:chOff x="912" y="2688"/>
              <a:chExt cx="1200" cy="384"/>
            </a:xfrm>
          </p:grpSpPr>
          <p:sp>
            <p:nvSpPr>
              <p:cNvPr id="38918" name="Oval 6"/>
              <p:cNvSpPr>
                <a:spLocks noChangeArrowheads="1"/>
              </p:cNvSpPr>
              <p:nvPr/>
            </p:nvSpPr>
            <p:spPr bwMode="auto">
              <a:xfrm>
                <a:off x="912" y="2688"/>
                <a:ext cx="338" cy="384"/>
              </a:xfrm>
              <a:prstGeom prst="ellips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S(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38919" name="Line 7"/>
              <p:cNvSpPr>
                <a:spLocks noChangeShapeType="1"/>
              </p:cNvSpPr>
              <p:nvPr/>
            </p:nvSpPr>
            <p:spPr bwMode="auto">
              <a:xfrm>
                <a:off x="1281" y="2880"/>
                <a:ext cx="493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20" name="Oval 8"/>
              <p:cNvSpPr>
                <a:spLocks noChangeArrowheads="1"/>
              </p:cNvSpPr>
              <p:nvPr/>
            </p:nvSpPr>
            <p:spPr bwMode="auto">
              <a:xfrm>
                <a:off x="1774" y="2688"/>
                <a:ext cx="338" cy="384"/>
              </a:xfrm>
              <a:prstGeom prst="ellipse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D(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</p:grpSp>
        <p:grpSp>
          <p:nvGrpSpPr>
            <p:cNvPr id="38921" name="Group 9"/>
            <p:cNvGrpSpPr/>
            <p:nvPr/>
          </p:nvGrpSpPr>
          <p:grpSpPr bwMode="auto">
            <a:xfrm>
              <a:off x="2352" y="2688"/>
              <a:ext cx="1200" cy="384"/>
              <a:chOff x="2352" y="2400"/>
              <a:chExt cx="1200" cy="384"/>
            </a:xfrm>
          </p:grpSpPr>
          <p:sp>
            <p:nvSpPr>
              <p:cNvPr id="38922" name="Oval 10"/>
              <p:cNvSpPr>
                <a:spLocks noChangeArrowheads="1"/>
              </p:cNvSpPr>
              <p:nvPr/>
            </p:nvSpPr>
            <p:spPr bwMode="auto">
              <a:xfrm>
                <a:off x="2352" y="2400"/>
                <a:ext cx="338" cy="384"/>
              </a:xfrm>
              <a:prstGeom prst="ellipse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S(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B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38923" name="Line 11"/>
              <p:cNvSpPr>
                <a:spLocks noChangeShapeType="1"/>
              </p:cNvSpPr>
              <p:nvPr/>
            </p:nvSpPr>
            <p:spPr bwMode="auto">
              <a:xfrm>
                <a:off x="2721" y="2592"/>
                <a:ext cx="493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24" name="Oval 12"/>
              <p:cNvSpPr>
                <a:spLocks noChangeArrowheads="1"/>
              </p:cNvSpPr>
              <p:nvPr/>
            </p:nvSpPr>
            <p:spPr bwMode="auto">
              <a:xfrm>
                <a:off x="3214" y="2400"/>
                <a:ext cx="338" cy="384"/>
              </a:xfrm>
              <a:prstGeom prst="ellips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D(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B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</p:grpSp>
        <p:sp>
          <p:nvSpPr>
            <p:cNvPr id="38925" name="Line 13"/>
            <p:cNvSpPr>
              <a:spLocks noChangeShapeType="1"/>
            </p:cNvSpPr>
            <p:nvPr/>
          </p:nvSpPr>
          <p:spPr bwMode="auto">
            <a:xfrm>
              <a:off x="720" y="2640"/>
              <a:ext cx="312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6" name="Text Box 14"/>
            <p:cNvSpPr txBox="1">
              <a:spLocks noChangeArrowheads="1"/>
            </p:cNvSpPr>
            <p:nvPr/>
          </p:nvSpPr>
          <p:spPr bwMode="auto">
            <a:xfrm>
              <a:off x="3876" y="2496"/>
              <a:ext cx="506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500">
                  <a:solidFill>
                    <a:srgbClr val="0000FF"/>
                  </a:solidFill>
                </a:rPr>
                <a:t>Time</a:t>
              </a:r>
              <a:endParaRPr lang="en-US" altLang="zh-CN" sz="1500">
                <a:solidFill>
                  <a:srgbClr val="0000FF"/>
                </a:solidFill>
              </a:endParaRPr>
            </a:p>
          </p:txBody>
        </p:sp>
        <p:sp>
          <p:nvSpPr>
            <p:cNvPr id="38927" name="Text Box 15"/>
            <p:cNvSpPr txBox="1">
              <a:spLocks noChangeArrowheads="1"/>
            </p:cNvSpPr>
            <p:nvPr/>
          </p:nvSpPr>
          <p:spPr bwMode="auto">
            <a:xfrm>
              <a:off x="3893" y="2736"/>
              <a:ext cx="879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500">
                  <a:solidFill>
                    <a:srgbClr val="0000FF"/>
                  </a:solidFill>
                </a:rPr>
                <a:t>No hazard</a:t>
              </a:r>
              <a:endParaRPr lang="en-US" altLang="zh-CN" sz="1500">
                <a:solidFill>
                  <a:srgbClr val="0000FF"/>
                </a:solidFill>
              </a:endParaRPr>
            </a:p>
          </p:txBody>
        </p:sp>
      </p:grpSp>
      <p:grpSp>
        <p:nvGrpSpPr>
          <p:cNvPr id="38928" name="Group 16"/>
          <p:cNvGrpSpPr/>
          <p:nvPr/>
        </p:nvGrpSpPr>
        <p:grpSpPr bwMode="auto">
          <a:xfrm>
            <a:off x="2114551" y="3886200"/>
            <a:ext cx="5253038" cy="800100"/>
            <a:chOff x="816" y="3216"/>
            <a:chExt cx="4412" cy="672"/>
          </a:xfrm>
        </p:grpSpPr>
        <p:grpSp>
          <p:nvGrpSpPr>
            <p:cNvPr id="38929" name="Group 17"/>
            <p:cNvGrpSpPr/>
            <p:nvPr/>
          </p:nvGrpSpPr>
          <p:grpSpPr bwMode="auto">
            <a:xfrm>
              <a:off x="816" y="3504"/>
              <a:ext cx="1104" cy="384"/>
              <a:chOff x="1392" y="3600"/>
              <a:chExt cx="1104" cy="384"/>
            </a:xfrm>
          </p:grpSpPr>
          <p:sp>
            <p:nvSpPr>
              <p:cNvPr id="38930" name="Oval 18"/>
              <p:cNvSpPr>
                <a:spLocks noChangeArrowheads="1"/>
              </p:cNvSpPr>
              <p:nvPr/>
            </p:nvSpPr>
            <p:spPr bwMode="auto">
              <a:xfrm>
                <a:off x="1392" y="3600"/>
                <a:ext cx="338" cy="384"/>
              </a:xfrm>
              <a:prstGeom prst="ellipse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S(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B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38931" name="Line 19"/>
              <p:cNvSpPr>
                <a:spLocks noChangeShapeType="1"/>
              </p:cNvSpPr>
              <p:nvPr/>
            </p:nvSpPr>
            <p:spPr bwMode="auto">
              <a:xfrm>
                <a:off x="1728" y="3792"/>
                <a:ext cx="43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32" name="Oval 20"/>
              <p:cNvSpPr>
                <a:spLocks noChangeArrowheads="1"/>
              </p:cNvSpPr>
              <p:nvPr/>
            </p:nvSpPr>
            <p:spPr bwMode="auto">
              <a:xfrm>
                <a:off x="2158" y="3600"/>
                <a:ext cx="338" cy="384"/>
              </a:xfrm>
              <a:prstGeom prst="ellipse">
                <a:avLst/>
              </a:prstGeom>
              <a:noFill/>
              <a:ln w="28575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D(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B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</p:grpSp>
        <p:sp>
          <p:nvSpPr>
            <p:cNvPr id="38933" name="Text Box 21"/>
            <p:cNvSpPr txBox="1">
              <a:spLocks noChangeArrowheads="1"/>
            </p:cNvSpPr>
            <p:nvPr/>
          </p:nvSpPr>
          <p:spPr bwMode="auto">
            <a:xfrm>
              <a:off x="3115" y="3552"/>
              <a:ext cx="2113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500">
                  <a:solidFill>
                    <a:srgbClr val="FF0000"/>
                  </a:solidFill>
                </a:rPr>
                <a:t>If S(A)=D(B), hazard occur.</a:t>
              </a:r>
              <a:endParaRPr lang="en-US" altLang="zh-CN" sz="1500">
                <a:solidFill>
                  <a:srgbClr val="FF0000"/>
                </a:solidFill>
              </a:endParaRPr>
            </a:p>
          </p:txBody>
        </p:sp>
        <p:grpSp>
          <p:nvGrpSpPr>
            <p:cNvPr id="38934" name="Group 22"/>
            <p:cNvGrpSpPr/>
            <p:nvPr/>
          </p:nvGrpSpPr>
          <p:grpSpPr bwMode="auto">
            <a:xfrm>
              <a:off x="1728" y="3216"/>
              <a:ext cx="1200" cy="384"/>
              <a:chOff x="912" y="2688"/>
              <a:chExt cx="1200" cy="384"/>
            </a:xfrm>
          </p:grpSpPr>
          <p:sp>
            <p:nvSpPr>
              <p:cNvPr id="38935" name="Oval 23"/>
              <p:cNvSpPr>
                <a:spLocks noChangeArrowheads="1"/>
              </p:cNvSpPr>
              <p:nvPr/>
            </p:nvSpPr>
            <p:spPr bwMode="auto">
              <a:xfrm>
                <a:off x="912" y="2688"/>
                <a:ext cx="338" cy="384"/>
              </a:xfrm>
              <a:prstGeom prst="ellips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S(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38936" name="Line 24"/>
              <p:cNvSpPr>
                <a:spLocks noChangeShapeType="1"/>
              </p:cNvSpPr>
              <p:nvPr/>
            </p:nvSpPr>
            <p:spPr bwMode="auto">
              <a:xfrm>
                <a:off x="1281" y="2880"/>
                <a:ext cx="493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37" name="Oval 25"/>
              <p:cNvSpPr>
                <a:spLocks noChangeArrowheads="1"/>
              </p:cNvSpPr>
              <p:nvPr/>
            </p:nvSpPr>
            <p:spPr bwMode="auto">
              <a:xfrm>
                <a:off x="1774" y="2688"/>
                <a:ext cx="338" cy="384"/>
              </a:xfrm>
              <a:prstGeom prst="ellipse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1" hangingPunct="1"/>
                <a:r>
                  <a:rPr lang="en-US" altLang="zh-CN" sz="1650" b="1">
                    <a:latin typeface="Times New Roman" panose="02020503050405090304" pitchFamily="18" charset="0"/>
                  </a:rPr>
                  <a:t>D(</a:t>
                </a:r>
                <a:r>
                  <a:rPr lang="en-US" altLang="zh-CN" sz="1650" b="1">
                    <a:solidFill>
                      <a:srgbClr val="0066FF"/>
                    </a:solidFill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650" b="1">
                    <a:latin typeface="Times New Roman" panose="02020503050405090304" pitchFamily="18" charset="0"/>
                  </a:rPr>
                  <a:t>)</a:t>
                </a:r>
                <a:endParaRPr lang="en-US" altLang="zh-CN" sz="1650" b="1">
                  <a:latin typeface="Times New Roman" panose="02020503050405090304" pitchFamily="18" charset="0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Stalls arising from RAW hazards</a:t>
            </a:r>
            <a:endParaRPr lang="en-US" altLang="zh-CN"/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1371600" y="1428750"/>
          <a:ext cx="6334125" cy="2483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文档" r:id="rId1" imgW="8449310" imgH="3314700" progId="Word.Document.8">
                  <p:embed/>
                </p:oleObj>
              </mc:Choice>
              <mc:Fallback>
                <p:oleObj name="文档" r:id="rId1" imgW="8449310" imgH="33147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28750"/>
                        <a:ext cx="6334125" cy="2483644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WAW hazards</a:t>
            </a:r>
            <a:endParaRPr lang="en-US" altLang="zh-CN"/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1371600" y="1257300"/>
          <a:ext cx="6416279" cy="3187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文档" r:id="rId1" imgW="8562975" imgH="4248150" progId="Word.Document.8">
                  <p:embed/>
                </p:oleObj>
              </mc:Choice>
              <mc:Fallback>
                <p:oleObj name="文档" r:id="rId1" imgW="8562975" imgH="424815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257300"/>
                        <a:ext cx="6416279" cy="3187304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Stall an instruction </a:t>
            </a:r>
            <a:r>
              <a:rPr lang="en-US" altLang="zh-CN" dirty="0"/>
              <a:t>that would "pass" another until after the earlier instruction reaches the MEM phase. </a:t>
            </a:r>
            <a:endParaRPr lang="en-US" altLang="zh-CN" dirty="0"/>
          </a:p>
          <a:p>
            <a:r>
              <a:rPr lang="en-US" altLang="zh-CN" b="1" dirty="0"/>
              <a:t>Cancel the WB phase of the earlier instruction</a:t>
            </a:r>
            <a:endParaRPr lang="en-US" altLang="zh-CN" b="1" dirty="0"/>
          </a:p>
          <a:p>
            <a:r>
              <a:rPr lang="en-US" altLang="zh-CN" dirty="0"/>
              <a:t>Both of these can be done in ID, i.e. when LD is about to issue. </a:t>
            </a:r>
            <a:endParaRPr lang="en-US" altLang="zh-CN" dirty="0"/>
          </a:p>
          <a:p>
            <a:r>
              <a:rPr lang="en-US" altLang="zh-CN" dirty="0"/>
              <a:t>Since pure WAW hazards are not common, either method works. </a:t>
            </a:r>
            <a:endParaRPr lang="en-US" altLang="zh-CN" dirty="0"/>
          </a:p>
          <a:p>
            <a:r>
              <a:rPr lang="en-US" altLang="zh-CN" dirty="0"/>
              <a:t>Pick the one that simplest to implement. </a:t>
            </a:r>
            <a:endParaRPr lang="en-US" altLang="zh-CN" dirty="0"/>
          </a:p>
          <a:p>
            <a:r>
              <a:rPr lang="en-US" altLang="zh-CN" dirty="0"/>
              <a:t>The simplest solution for the MIPS pipeline is to hold the instruction in ID if it writes the same register as an instruction already issued. </a:t>
            </a:r>
            <a:endParaRPr lang="en-US" altLang="zh-CN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Solving the WAW hazard 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Hazards among FP instructions. </a:t>
            </a:r>
            <a:endParaRPr lang="en-US" altLang="zh-CN" dirty="0"/>
          </a:p>
          <a:p>
            <a:r>
              <a:rPr lang="en-US" altLang="zh-CN" dirty="0"/>
              <a:t>Hazards between an FP instruction and an integer instruction. </a:t>
            </a:r>
            <a:endParaRPr lang="en-US" altLang="zh-CN" dirty="0"/>
          </a:p>
          <a:p>
            <a:pPr lvl="1"/>
            <a:r>
              <a:rPr lang="en-US" altLang="zh-CN" dirty="0"/>
              <a:t>Since two register files exist, only FP loads and stores and FP register moves to integer registers involve hazards.</a:t>
            </a:r>
            <a:endParaRPr lang="en-US" altLang="zh-CN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other hazards are possible ? 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Check for </a:t>
            </a:r>
            <a:r>
              <a:rPr lang="en-US" altLang="zh-CN" b="1" dirty="0"/>
              <a:t>structural hazards</a:t>
            </a:r>
            <a:endParaRPr lang="en-US" altLang="zh-CN" b="1" dirty="0"/>
          </a:p>
          <a:p>
            <a:pPr lvl="1"/>
            <a:r>
              <a:rPr lang="en-US" altLang="zh-CN" dirty="0"/>
              <a:t>The divide unit  and Register write port. </a:t>
            </a:r>
            <a:endParaRPr lang="en-US" altLang="zh-CN" dirty="0"/>
          </a:p>
          <a:p>
            <a:r>
              <a:rPr lang="en-US" altLang="zh-CN" dirty="0"/>
              <a:t>Check for </a:t>
            </a:r>
            <a:r>
              <a:rPr lang="en-US" altLang="zh-CN" b="1" dirty="0"/>
              <a:t>RAW hazards </a:t>
            </a:r>
            <a:endParaRPr lang="en-US" altLang="zh-CN" b="1" dirty="0"/>
          </a:p>
          <a:p>
            <a:pPr lvl="1"/>
            <a:r>
              <a:rPr lang="en-US" altLang="zh-CN" dirty="0"/>
              <a:t>The CPU simply stalls the instruction at ID stage until: </a:t>
            </a:r>
            <a:endParaRPr lang="en-US" altLang="zh-CN" dirty="0"/>
          </a:p>
          <a:p>
            <a:pPr lvl="2"/>
            <a:r>
              <a:rPr lang="en-US" altLang="zh-CN" dirty="0"/>
              <a:t>Its </a:t>
            </a:r>
            <a:r>
              <a:rPr lang="en-US" altLang="zh-CN" b="1" dirty="0"/>
              <a:t>source registers are no longer listed as destinations </a:t>
            </a:r>
            <a:r>
              <a:rPr lang="en-US" altLang="zh-CN" dirty="0"/>
              <a:t>in any of the execution pipeline registers (registers between stages of M and A) OR </a:t>
            </a:r>
            <a:endParaRPr lang="en-US" altLang="zh-CN" dirty="0"/>
          </a:p>
          <a:p>
            <a:pPr lvl="2"/>
            <a:r>
              <a:rPr lang="en-US" altLang="zh-CN" dirty="0"/>
              <a:t>Its </a:t>
            </a:r>
            <a:r>
              <a:rPr lang="en-US" altLang="zh-CN" b="1" dirty="0"/>
              <a:t>source registers are no longer listed as the destination of a load</a:t>
            </a:r>
            <a:r>
              <a:rPr lang="en-US" altLang="zh-CN" dirty="0"/>
              <a:t> in the EX/MEM register.</a:t>
            </a:r>
            <a:endParaRPr lang="en-US" altLang="zh-CN" dirty="0"/>
          </a:p>
          <a:p>
            <a:r>
              <a:rPr lang="en-US" altLang="zh-CN" dirty="0"/>
              <a:t>Check for </a:t>
            </a:r>
            <a:r>
              <a:rPr lang="en-US" altLang="zh-CN" b="1" dirty="0"/>
              <a:t>WAW hazards</a:t>
            </a:r>
            <a:endParaRPr lang="en-US" altLang="zh-CN" b="1" dirty="0"/>
          </a:p>
          <a:p>
            <a:pPr lvl="1"/>
            <a:r>
              <a:rPr lang="en-US" altLang="zh-CN" dirty="0"/>
              <a:t>Check instructions in A1, ..., A4, Divide, or M1, ...,M7 for the same destination register (check pipeline registers.) </a:t>
            </a:r>
            <a:endParaRPr lang="en-US" altLang="zh-CN" dirty="0"/>
          </a:p>
          <a:p>
            <a:pPr lvl="1"/>
            <a:r>
              <a:rPr lang="en-US" altLang="zh-CN" dirty="0"/>
              <a:t>Stall instruction in ID if necessary. </a:t>
            </a:r>
            <a:endParaRPr lang="en-US" altLang="zh-CN" dirty="0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Checks are required in ID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371600" y="1408510"/>
          <a:ext cx="6400800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Chart" r:id="rId1" imgW="8326755" imgH="3842385" progId="MSGraph.Chart.8">
                  <p:embed followColorScheme="full"/>
                </p:oleObj>
              </mc:Choice>
              <mc:Fallback>
                <p:oleObj name="Chart" r:id="rId1" imgW="8326755" imgH="3842385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08510"/>
                        <a:ext cx="6400800" cy="2952750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  <a:effectLst>
                        <a:outerShdw dist="63500" dir="2212194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Performance of MIPS FP pipeline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371600" y="1371600"/>
          <a:ext cx="6400800" cy="2987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Chart" r:id="rId1" imgW="8336915" imgH="3891280" progId="MSGraph.Chart.8">
                  <p:embed followColorScheme="full"/>
                </p:oleObj>
              </mc:Choice>
              <mc:Fallback>
                <p:oleObj name="Chart" r:id="rId1" imgW="8336915" imgH="3891280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371600"/>
                        <a:ext cx="6400800" cy="2987279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  <a:effectLst>
                        <a:outerShdw dist="63500" dir="2212194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Performance of MIPS FP pipeline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789552"/>
            <a:ext cx="7776864" cy="33147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00FF"/>
                </a:solidFill>
              </a:rPr>
              <a:t>IF</a:t>
            </a:r>
            <a:r>
              <a:rPr lang="zh-CN" altLang="en-US" dirty="0"/>
              <a:t>－</a:t>
            </a:r>
            <a:r>
              <a:rPr lang="en-US" altLang="zh-CN" sz="1500" dirty="0"/>
              <a:t>First half of instruction fetch. PC selection occurs. Cache access is initiated. 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00FF"/>
                </a:solidFill>
              </a:rPr>
              <a:t>IS</a:t>
            </a:r>
            <a:r>
              <a:rPr lang="zh-CN" altLang="en-US" dirty="0"/>
              <a:t>－</a:t>
            </a:r>
            <a:r>
              <a:rPr lang="en-US" altLang="zh-CN" sz="1500" dirty="0"/>
              <a:t>Second half of instruction fetch. </a:t>
            </a:r>
            <a:endParaRPr lang="en-US" altLang="zh-CN" sz="15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500" dirty="0"/>
              <a:t>          </a:t>
            </a:r>
            <a:r>
              <a:rPr lang="zh-CN" altLang="en-US" sz="1500" dirty="0"/>
              <a:t>－</a:t>
            </a:r>
            <a:r>
              <a:rPr lang="en-US" altLang="zh-CN" sz="1350" dirty="0"/>
              <a:t>This allows the cache access to take two cycles. </a:t>
            </a:r>
            <a:endParaRPr lang="en-US" altLang="zh-CN" sz="1350" dirty="0"/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00FF"/>
                </a:solidFill>
              </a:rPr>
              <a:t>RF</a:t>
            </a:r>
            <a:r>
              <a:rPr lang="zh-CN" altLang="en-US" dirty="0"/>
              <a:t>－</a:t>
            </a:r>
            <a:r>
              <a:rPr lang="en-US" altLang="zh-CN" sz="1500" dirty="0"/>
              <a:t>Decode and register fetch, hazard checking, I-cache hit detection. 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00FF"/>
                </a:solidFill>
              </a:rPr>
              <a:t>EX</a:t>
            </a:r>
            <a:r>
              <a:rPr lang="zh-CN" altLang="en-US" dirty="0"/>
              <a:t>－</a:t>
            </a:r>
            <a:r>
              <a:rPr lang="en-US" altLang="zh-CN" sz="1500" dirty="0"/>
              <a:t>Execution: address calculation, ALU Ops, branch target calculation and condition evaluation. 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00FF"/>
                </a:solidFill>
              </a:rPr>
              <a:t>DF/DS/TC</a:t>
            </a:r>
            <a:r>
              <a:rPr lang="en-US" altLang="zh-CN" dirty="0"/>
              <a:t> </a:t>
            </a:r>
            <a:endParaRPr lang="en-US" altLang="zh-CN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/>
              <a:t>－ </a:t>
            </a:r>
            <a:r>
              <a:rPr lang="en-US" altLang="zh-CN" dirty="0"/>
              <a:t>Data fetched from cache in the first two cycles. </a:t>
            </a:r>
            <a:endParaRPr lang="en-US" altLang="zh-CN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/>
              <a:t>－ </a:t>
            </a:r>
            <a:r>
              <a:rPr lang="en-US" altLang="zh-CN" dirty="0"/>
              <a:t>The third cycle involves checking a tag check to determine if the cache access was a hit. 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00FF"/>
                </a:solidFill>
              </a:rPr>
              <a:t>WB</a:t>
            </a:r>
            <a:r>
              <a:rPr lang="zh-CN" altLang="en-US" dirty="0"/>
              <a:t>－</a:t>
            </a:r>
            <a:r>
              <a:rPr lang="en-US" altLang="zh-CN" sz="1500" dirty="0"/>
              <a:t>Write back result for loads and R-R operations.</a:t>
            </a:r>
            <a:endParaRPr lang="en-US" altLang="zh-CN" sz="1500" dirty="0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MIPS R4000 pipeline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Load delay: two cycles </a:t>
            </a:r>
            <a:endParaRPr lang="en-US" altLang="zh-CN" dirty="0"/>
          </a:p>
          <a:p>
            <a:pPr lvl="1"/>
            <a:r>
              <a:rPr lang="en-US" altLang="zh-CN" dirty="0"/>
              <a:t>The delay might seem to be three cycles, since the tag isn't checked until the end of the TC cycle. </a:t>
            </a:r>
            <a:endParaRPr lang="en-US" altLang="zh-CN" dirty="0"/>
          </a:p>
          <a:p>
            <a:pPr lvl="1"/>
            <a:r>
              <a:rPr lang="en-US" altLang="zh-CN" dirty="0"/>
              <a:t>However, if TC indicates a miss, the data must be fetched from main memory and the pipeline is backed up to get the real value. </a:t>
            </a:r>
            <a:endParaRPr lang="en-US" altLang="zh-CN" dirty="0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Possible stalls and delays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Load stalls</a:t>
            </a:r>
            <a:endParaRPr lang="en-US" altLang="zh-CN"/>
          </a:p>
        </p:txBody>
      </p:sp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490067" y="843558"/>
          <a:ext cx="6163866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图片" r:id="rId1" imgW="4924425" imgH="2876550" progId="Word.Picture.8">
                  <p:embed/>
                </p:oleObj>
              </mc:Choice>
              <mc:Fallback>
                <p:oleObj name="图片" r:id="rId1" imgW="4924425" imgH="2876550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067" y="843558"/>
                        <a:ext cx="6163866" cy="3600450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</a:t>
            </a:r>
            <a:r>
              <a:rPr lang="zh-CN" altLang="en-US"/>
              <a:t>：</a:t>
            </a:r>
            <a:r>
              <a:rPr lang="en-US" altLang="zh-CN"/>
              <a:t>load stalls</a:t>
            </a:r>
            <a:endParaRPr lang="en-US" altLang="zh-CN"/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1600200" y="1200150"/>
          <a:ext cx="6045994" cy="2487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文档" r:id="rId1" imgW="8058150" imgH="3333750" progId="Word.Document.8">
                  <p:embed/>
                </p:oleObj>
              </mc:Choice>
              <mc:Fallback>
                <p:oleObj name="文档" r:id="rId1" imgW="8058150" imgH="333375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200150"/>
                        <a:ext cx="6045994" cy="2487216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Branch delay: three cycles (including one branch delay slot)</a:t>
            </a:r>
            <a:endParaRPr lang="en-US" altLang="zh-CN"/>
          </a:p>
          <a:p>
            <a:pPr lvl="1"/>
            <a:r>
              <a:rPr lang="en-US" altLang="zh-CN"/>
              <a:t>The branch is resolved during EX, giving a 3 cycle delay. </a:t>
            </a:r>
            <a:endParaRPr lang="en-US" altLang="zh-CN"/>
          </a:p>
          <a:p>
            <a:pPr lvl="1"/>
            <a:r>
              <a:rPr lang="en-US" altLang="zh-CN"/>
              <a:t>The first cycle may be a regular branch delay slot (instruction always executed) or a branch-likely slot (instruction cancelled if branch not taken). </a:t>
            </a:r>
            <a:endParaRPr lang="en-US" altLang="zh-CN"/>
          </a:p>
          <a:p>
            <a:pPr lvl="1"/>
            <a:r>
              <a:rPr lang="en-US" altLang="zh-CN"/>
              <a:t>MIPS uses a predict-not-taken method presumably because it requires the least hardware. </a:t>
            </a:r>
            <a:endParaRPr lang="en-US" altLang="zh-CN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Branch delay: three cycles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Branch Delays</a:t>
            </a:r>
            <a:r>
              <a:rPr lang="zh-CN" altLang="en-US"/>
              <a:t>： </a:t>
            </a:r>
            <a:r>
              <a:rPr lang="en-US" altLang="zh-CN"/>
              <a:t>3 stalls</a:t>
            </a:r>
            <a:endParaRPr lang="en-US" altLang="zh-CN"/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1400175" y="789552"/>
          <a:ext cx="634365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图片" r:id="rId1" imgW="4943475" imgH="3171825" progId="Word.Picture.8">
                  <p:embed/>
                </p:oleObj>
              </mc:Choice>
              <mc:Fallback>
                <p:oleObj name="图片" r:id="rId1" imgW="4943475" imgH="3171825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789552"/>
                        <a:ext cx="6343650" cy="3657600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Pipeline status for branch latency</a:t>
            </a:r>
            <a:endParaRPr lang="en-US" altLang="zh-CN"/>
          </a:p>
        </p:txBody>
      </p:sp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1569244" y="843558"/>
          <a:ext cx="6005513" cy="3704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文档" r:id="rId1" imgW="8086725" imgH="4991100" progId="Word.Document.8">
                  <p:embed/>
                </p:oleObj>
              </mc:Choice>
              <mc:Fallback>
                <p:oleObj name="文档" r:id="rId1" imgW="8086725" imgH="4991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244" y="843558"/>
                        <a:ext cx="6005513" cy="370403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43100" y="1046560"/>
          <a:ext cx="5257800" cy="323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文档" r:id="rId1" imgW="7010400" imgH="4314825" progId="Word.Document.8">
                  <p:embed/>
                </p:oleObj>
              </mc:Choice>
              <mc:Fallback>
                <p:oleObj name="文档" r:id="rId1" imgW="7010400" imgH="431482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1046560"/>
                        <a:ext cx="5257800" cy="3233738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FP 8-stage operational pipeline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Latency and initiation intervals</a:t>
            </a:r>
            <a:endParaRPr lang="en-US" altLang="zh-CN"/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1526977" y="1005576"/>
          <a:ext cx="6090047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文档" r:id="rId1" imgW="8477250" imgH="4552950" progId="Word.Document.8">
                  <p:embed/>
                </p:oleObj>
              </mc:Choice>
              <mc:Fallback>
                <p:oleObj name="文档" r:id="rId1" imgW="8477250" imgH="455295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6977" y="1005576"/>
                        <a:ext cx="6090047" cy="3267075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  <a:effectLst>
                        <a:outerShdw dist="99190" dir="2388334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760935" y="1006079"/>
          <a:ext cx="5622131" cy="331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文档" r:id="rId1" imgW="7953375" imgH="4686300" progId="Word.Document.8">
                  <p:embed/>
                </p:oleObj>
              </mc:Choice>
              <mc:Fallback>
                <p:oleObj name="文档" r:id="rId1" imgW="7953375" imgH="46863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935" y="1006079"/>
                        <a:ext cx="5622131" cy="33147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Structural hazards-1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600200" y="1707356"/>
          <a:ext cx="5943600" cy="1910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文档" r:id="rId1" imgW="8020050" imgH="2581275" progId="Word.Document.8">
                  <p:embed/>
                </p:oleObj>
              </mc:Choice>
              <mc:Fallback>
                <p:oleObj name="文档" r:id="rId1" imgW="8020050" imgH="258127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707356"/>
                        <a:ext cx="5943600" cy="1910954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Structural hazards-2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876425" y="1006079"/>
          <a:ext cx="5389960" cy="331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文档" r:id="rId1" imgW="8343900" imgH="5133975" progId="Word.Document.8">
                  <p:embed/>
                </p:oleObj>
              </mc:Choice>
              <mc:Fallback>
                <p:oleObj name="文档" r:id="rId1" imgW="8343900" imgH="513397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1006079"/>
                        <a:ext cx="5389960" cy="33147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Structural hazards-3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372791" y="1428750"/>
          <a:ext cx="6398419" cy="2091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文档" r:id="rId1" imgW="8100060" imgH="2647315" progId="Word.Document.8">
                  <p:embed/>
                </p:oleObj>
              </mc:Choice>
              <mc:Fallback>
                <p:oleObj name="文档" r:id="rId1" imgW="8100060" imgH="264731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791" y="1428750"/>
                        <a:ext cx="6398419" cy="2091929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Structural hazards-4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691287" y="1006079"/>
          <a:ext cx="5761427" cy="331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Chart" r:id="rId1" imgW="8200390" imgH="4718050" progId="MSGraph.Chart.8">
                  <p:embed followColorScheme="full"/>
                </p:oleObj>
              </mc:Choice>
              <mc:Fallback>
                <p:oleObj name="Chart" r:id="rId1" imgW="8200390" imgH="4718050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287" y="1006079"/>
                        <a:ext cx="5761427" cy="3314700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  <a:effectLst>
                        <a:outerShdw dist="71842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Performance loss measurements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23628" y="951570"/>
            <a:ext cx="6777372" cy="356439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500" b="1"/>
              <a:t>THANK YOU </a:t>
            </a:r>
            <a:endParaRPr lang="en-US" altLang="zh-CN" sz="15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545886" y="2070051"/>
            <a:ext cx="2052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4EA2"/>
                </a:solidFill>
              </a:rPr>
              <a:t>THANK YOU</a:t>
            </a:r>
            <a:endParaRPr lang="en-US" altLang="zh-CN" sz="2400" b="1" dirty="0">
              <a:solidFill>
                <a:srgbClr val="004EA2"/>
              </a:solidFill>
            </a:endParaRPr>
          </a:p>
          <a:p>
            <a:endParaRPr lang="en-US" altLang="zh-CN" sz="24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804561"/>
            <a:ext cx="9144000" cy="2205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62" tIns="32132" rIns="64262" bIns="32132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309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4454857" y="2663823"/>
            <a:ext cx="234290" cy="14074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62" tIns="32132" rIns="64262" bIns="32132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185"/>
          </a:p>
        </p:txBody>
      </p:sp>
      <p:sp>
        <p:nvSpPr>
          <p:cNvPr id="9" name="矩形 8"/>
          <p:cNvSpPr/>
          <p:nvPr/>
        </p:nvSpPr>
        <p:spPr>
          <a:xfrm>
            <a:off x="0" y="3101541"/>
            <a:ext cx="9143999" cy="64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62" tIns="32132" rIns="64262" bIns="32132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309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v5_arch11-12-13</Template>
  <TotalTime>0</TotalTime>
  <Words>22916</Words>
  <Application>WPS 文字</Application>
  <PresentationFormat>全屏显示(16:9)</PresentationFormat>
  <Paragraphs>1526</Paragraphs>
  <Slides>105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25</vt:i4>
      </vt:variant>
      <vt:variant>
        <vt:lpstr>幻灯片标题</vt:lpstr>
      </vt:variant>
      <vt:variant>
        <vt:i4>105</vt:i4>
      </vt:variant>
    </vt:vector>
  </HeadingPairs>
  <TitlesOfParts>
    <vt:vector size="157" baseType="lpstr">
      <vt:lpstr>Arial</vt:lpstr>
      <vt:lpstr>宋体</vt:lpstr>
      <vt:lpstr>Wingdings</vt:lpstr>
      <vt:lpstr>Tahoma</vt:lpstr>
      <vt:lpstr>宋体</vt:lpstr>
      <vt:lpstr>汉仪书宋二KW</vt:lpstr>
      <vt:lpstr>微软雅黑</vt:lpstr>
      <vt:lpstr>汉仪旗黑</vt:lpstr>
      <vt:lpstr>Times New Roman</vt:lpstr>
      <vt:lpstr>黑体</vt:lpstr>
      <vt:lpstr>汉仪中黑KW</vt:lpstr>
      <vt:lpstr>Arial</vt:lpstr>
      <vt:lpstr>Comic Sans MS</vt:lpstr>
      <vt:lpstr>宋体</vt:lpstr>
      <vt:lpstr>Arial Unicode MS</vt:lpstr>
      <vt:lpstr>Symbol</vt:lpstr>
      <vt:lpstr>Kingsoft Sign</vt:lpstr>
      <vt:lpstr>楷体_GB2312</vt:lpstr>
      <vt:lpstr>汉仪楷体简</vt:lpstr>
      <vt:lpstr>宋体</vt:lpstr>
      <vt:lpstr>楷体_GB2312</vt:lpstr>
      <vt:lpstr>Arial Narrow</vt:lpstr>
      <vt:lpstr>Symbol</vt:lpstr>
      <vt:lpstr>微软雅黑</vt:lpstr>
      <vt:lpstr>楷体_GB2312</vt:lpstr>
      <vt:lpstr>黑体</vt:lpstr>
      <vt:lpstr>射线</vt:lpstr>
      <vt:lpstr>Word.Picture.8</vt:lpstr>
      <vt:lpstr>Word.Document.8</vt:lpstr>
      <vt:lpstr>Word.Document.8</vt:lpstr>
      <vt:lpstr>Word.Document.8</vt:lpstr>
      <vt:lpstr>MSGraph.Chart.8</vt:lpstr>
      <vt:lpstr>MSGraph.Chart.8</vt:lpstr>
      <vt:lpstr>Word.Picture.8</vt:lpstr>
      <vt:lpstr>Word.Document.8</vt:lpstr>
      <vt:lpstr>Word.Picture.8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MSGraph.Chart.8</vt:lpstr>
      <vt:lpstr>Word.Picture.8</vt:lpstr>
      <vt:lpstr>Word.Picture.8</vt:lpstr>
      <vt:lpstr>Word.Picture.8</vt:lpstr>
      <vt:lpstr>Word.Picture.8</vt:lpstr>
      <vt:lpstr>Word.Picture.8</vt:lpstr>
      <vt:lpstr>Word.Document.8</vt:lpstr>
      <vt:lpstr>Word.Document.8</vt:lpstr>
      <vt:lpstr>Computer Architecture  ----A Quantitative Approach</vt:lpstr>
      <vt:lpstr>What is Pipelining ?</vt:lpstr>
      <vt:lpstr>Why Pipelining: Its Natural</vt:lpstr>
      <vt:lpstr>Sequential Laundry</vt:lpstr>
      <vt:lpstr>   Pipelined Laundry----Start work ASAP</vt:lpstr>
      <vt:lpstr>Why pipelining :  overlapped</vt:lpstr>
      <vt:lpstr>Why pipelining: more faster</vt:lpstr>
      <vt:lpstr>Why pipelining : conclusion</vt:lpstr>
      <vt:lpstr>What is a pipeline ?</vt:lpstr>
      <vt:lpstr>Ideal Performance for Pipelining</vt:lpstr>
      <vt:lpstr>Why not just make a 50-stage pipeline ?</vt:lpstr>
      <vt:lpstr>Why not just make a 50-stage pipeline ?</vt:lpstr>
      <vt:lpstr>How Many Pipeline Stages?</vt:lpstr>
      <vt:lpstr>Single-cycle implementation</vt:lpstr>
      <vt:lpstr>Multi-cycle implementation</vt:lpstr>
      <vt:lpstr>Optimized Multi-cycle implementation</vt:lpstr>
      <vt:lpstr>5-stage Version of MIPS Datapath</vt:lpstr>
      <vt:lpstr>Single-cycle implementation vs. pipelining</vt:lpstr>
      <vt:lpstr>Multi-cycle implementation vs. pipelining</vt:lpstr>
      <vt:lpstr>How simple as this !  Really ? </vt:lpstr>
      <vt:lpstr>Pipeline hazard: the major hurdle</vt:lpstr>
      <vt:lpstr>Hazards can always be resolved by Stall</vt:lpstr>
      <vt:lpstr>Performance of pipeline with stalls</vt:lpstr>
      <vt:lpstr>Case of multi-cycle implementation</vt:lpstr>
      <vt:lpstr>Case of multi-cycle implementation</vt:lpstr>
      <vt:lpstr> Case of single-cycle implementation</vt:lpstr>
      <vt:lpstr>Structural hazard: Pipe Stage Contention</vt:lpstr>
      <vt:lpstr>Problems that pipelining introduces</vt:lpstr>
      <vt:lpstr>Insert Stall</vt:lpstr>
      <vt:lpstr>Separate instruction and data memories</vt:lpstr>
      <vt:lpstr>Sometimes we can redesign the resource</vt:lpstr>
      <vt:lpstr>Not fully pipelined function unit :  may cause structural hazard </vt:lpstr>
      <vt:lpstr>Machine without structural hazards will always have a lower CPI</vt:lpstr>
      <vt:lpstr>Why allow machine with structural hazard ?</vt:lpstr>
      <vt:lpstr>Example: impact of structural hazard to performance</vt:lpstr>
      <vt:lpstr>Answer to the example</vt:lpstr>
      <vt:lpstr>Data hazard </vt:lpstr>
      <vt:lpstr>Coping with data hazards:example</vt:lpstr>
      <vt:lpstr>Data hazard</vt:lpstr>
      <vt:lpstr>Somecases “Double Bump” can do !</vt:lpstr>
      <vt:lpstr>Proposed solution</vt:lpstr>
      <vt:lpstr>Forwarding: reduce data hazard stalls</vt:lpstr>
      <vt:lpstr>Forwarding</vt:lpstr>
      <vt:lpstr>Forwarding: reduce data hazard stalls </vt:lpstr>
      <vt:lpstr>Hardware Change for Forwarding</vt:lpstr>
      <vt:lpstr>Forwarding path to other input entry</vt:lpstr>
      <vt:lpstr>Forwarding Doesn’t Always Work</vt:lpstr>
      <vt:lpstr>So we have to insert stall: Load stall</vt:lpstr>
      <vt:lpstr>How to implement Load Interlock</vt:lpstr>
      <vt:lpstr>The logic to detect for Load interlock</vt:lpstr>
      <vt:lpstr>Example of Forwarding and Load Delay</vt:lpstr>
      <vt:lpstr>Solution (without forwarding)</vt:lpstr>
      <vt:lpstr>Solution (with forwarding)</vt:lpstr>
      <vt:lpstr>The performance influence of load stall </vt:lpstr>
      <vt:lpstr>Fraction of load that cause a stall</vt:lpstr>
      <vt:lpstr>Instruction reordering by compiler to avoid load stall</vt:lpstr>
      <vt:lpstr>The Control hazard</vt:lpstr>
      <vt:lpstr>Recall: solve the hazard by inserting stalls </vt:lpstr>
      <vt:lpstr>The pipeline status </vt:lpstr>
      <vt:lpstr>Flushing the pipeline</vt:lpstr>
      <vt:lpstr>Stalls greatly hurt the performance </vt:lpstr>
      <vt:lpstr>Move the Branch Computation Forward</vt:lpstr>
      <vt:lpstr>Move the Branch Computation more Forward</vt:lpstr>
      <vt:lpstr>Why “waste” the fetched instruction ?</vt:lpstr>
      <vt:lpstr>Delayed branch</vt:lpstr>
      <vt:lpstr>Branch delay slot</vt:lpstr>
      <vt:lpstr>How to adjust the codes?</vt:lpstr>
      <vt:lpstr>Example: rewrite the code (a)</vt:lpstr>
      <vt:lpstr>Example: rewrite the code (b-1)</vt:lpstr>
      <vt:lpstr>Example: rewrite the code (b-2)</vt:lpstr>
      <vt:lpstr>Extending the MIPS pipeline to handle MultiCycle Operations</vt:lpstr>
      <vt:lpstr>MIPS pipeline with FP units</vt:lpstr>
      <vt:lpstr>Pipelining some of the FP units</vt:lpstr>
      <vt:lpstr>Latencies and initiation intervals for functional units</vt:lpstr>
      <vt:lpstr>Pipeline supports multiple outstanding FP operations</vt:lpstr>
      <vt:lpstr>Specifications  </vt:lpstr>
      <vt:lpstr>Issuing in order and completion out of order</vt:lpstr>
      <vt:lpstr>Structural Hazards for the FP register write port</vt:lpstr>
      <vt:lpstr>How to solve the write port conflict ?</vt:lpstr>
      <vt:lpstr>Types of data hazards </vt:lpstr>
      <vt:lpstr>RAW dependence</vt:lpstr>
      <vt:lpstr>WAW dependence</vt:lpstr>
      <vt:lpstr>WAR dependence</vt:lpstr>
      <vt:lpstr>Stalls arising from RAW hazards</vt:lpstr>
      <vt:lpstr>The WAW hazards</vt:lpstr>
      <vt:lpstr>Solving the WAW hazard </vt:lpstr>
      <vt:lpstr>What other hazards are possible ? </vt:lpstr>
      <vt:lpstr>Checks are required in ID</vt:lpstr>
      <vt:lpstr>Performance of MIPS FP pipeline</vt:lpstr>
      <vt:lpstr>Performance of MIPS FP pipeline</vt:lpstr>
      <vt:lpstr>The MIPS R4000 pipeline</vt:lpstr>
      <vt:lpstr>Possible stalls and delays</vt:lpstr>
      <vt:lpstr>Load stalls</vt:lpstr>
      <vt:lpstr>Example：load stalls</vt:lpstr>
      <vt:lpstr>Branch delay: three cycles</vt:lpstr>
      <vt:lpstr>Branch Delays： 3 stalls</vt:lpstr>
      <vt:lpstr>Pipeline status for branch latency</vt:lpstr>
      <vt:lpstr>The FP 8-stage operational pipeline</vt:lpstr>
      <vt:lpstr>Latency and initiation intervals</vt:lpstr>
      <vt:lpstr>Structural hazards-1</vt:lpstr>
      <vt:lpstr>Structural hazards-2</vt:lpstr>
      <vt:lpstr>Structural hazards-3</vt:lpstr>
      <vt:lpstr>Structural hazards-4</vt:lpstr>
      <vt:lpstr>Performance loss measurements</vt:lpstr>
      <vt:lpstr>PowerPoint 演示文稿</vt:lpstr>
    </vt:vector>
  </TitlesOfParts>
  <Company>zhejiang Univ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Pipelining: Basic Concepts</dc:title>
  <dc:creator>wzchen</dc:creator>
  <cp:lastModifiedBy>吴宇宸</cp:lastModifiedBy>
  <cp:revision>109</cp:revision>
  <dcterms:created xsi:type="dcterms:W3CDTF">2026-03-24T05:33:51Z</dcterms:created>
  <dcterms:modified xsi:type="dcterms:W3CDTF">2026-03-24T05:33:51Z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D718F4272FDDF1373E22C269D3908B4B_43</vt:lpwstr>
  </property>
</Properties>
</file>