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1"/>
  </p:notesMasterIdLst>
  <p:handoutMasterIdLst>
    <p:handoutMasterId r:id="rId62"/>
  </p:handoutMasterIdLst>
  <p:sldIdLst>
    <p:sldId id="510" r:id="rId2"/>
    <p:sldId id="522" r:id="rId3"/>
    <p:sldId id="523" r:id="rId4"/>
    <p:sldId id="513" r:id="rId5"/>
    <p:sldId id="514" r:id="rId6"/>
    <p:sldId id="515" r:id="rId7"/>
    <p:sldId id="458" r:id="rId8"/>
    <p:sldId id="428" r:id="rId9"/>
    <p:sldId id="456" r:id="rId10"/>
    <p:sldId id="459" r:id="rId11"/>
    <p:sldId id="437" r:id="rId12"/>
    <p:sldId id="439" r:id="rId13"/>
    <p:sldId id="440" r:id="rId14"/>
    <p:sldId id="495" r:id="rId15"/>
    <p:sldId id="497" r:id="rId16"/>
    <p:sldId id="498" r:id="rId17"/>
    <p:sldId id="500" r:id="rId18"/>
    <p:sldId id="516" r:id="rId19"/>
    <p:sldId id="520" r:id="rId20"/>
    <p:sldId id="524" r:id="rId21"/>
    <p:sldId id="464" r:id="rId22"/>
    <p:sldId id="467" r:id="rId23"/>
    <p:sldId id="468" r:id="rId24"/>
    <p:sldId id="470" r:id="rId25"/>
    <p:sldId id="471" r:id="rId26"/>
    <p:sldId id="472" r:id="rId27"/>
    <p:sldId id="473" r:id="rId28"/>
    <p:sldId id="474" r:id="rId29"/>
    <p:sldId id="475" r:id="rId30"/>
    <p:sldId id="476" r:id="rId31"/>
    <p:sldId id="477" r:id="rId32"/>
    <p:sldId id="478" r:id="rId33"/>
    <p:sldId id="494" r:id="rId34"/>
    <p:sldId id="479" r:id="rId35"/>
    <p:sldId id="485" r:id="rId36"/>
    <p:sldId id="489" r:id="rId37"/>
    <p:sldId id="490" r:id="rId38"/>
    <p:sldId id="491" r:id="rId39"/>
    <p:sldId id="502" r:id="rId40"/>
    <p:sldId id="503" r:id="rId41"/>
    <p:sldId id="501" r:id="rId42"/>
    <p:sldId id="517" r:id="rId43"/>
    <p:sldId id="505" r:id="rId44"/>
    <p:sldId id="506" r:id="rId45"/>
    <p:sldId id="507" r:id="rId46"/>
    <p:sldId id="492" r:id="rId47"/>
    <p:sldId id="480" r:id="rId48"/>
    <p:sldId id="481" r:id="rId49"/>
    <p:sldId id="482" r:id="rId50"/>
    <p:sldId id="525" r:id="rId51"/>
    <p:sldId id="526" r:id="rId52"/>
    <p:sldId id="527" r:id="rId53"/>
    <p:sldId id="528" r:id="rId54"/>
    <p:sldId id="529" r:id="rId55"/>
    <p:sldId id="530" r:id="rId56"/>
    <p:sldId id="531" r:id="rId57"/>
    <p:sldId id="518" r:id="rId58"/>
    <p:sldId id="521" r:id="rId59"/>
    <p:sldId id="512" r:id="rId6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99"/>
    <a:srgbClr val="FFFF66"/>
    <a:srgbClr val="FFCC00"/>
    <a:srgbClr val="FF66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376" autoAdjust="0"/>
  </p:normalViewPr>
  <p:slideViewPr>
    <p:cSldViewPr>
      <p:cViewPr>
        <p:scale>
          <a:sx n="80" d="100"/>
          <a:sy n="80" d="100"/>
        </p:scale>
        <p:origin x="492" y="3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28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DF9E95D-1DF4-4C21-96BF-3DDA93A270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A5F106-8C41-4380-A626-BDD9A33824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280B1-6CF3-440C-9AB8-40A67428BBAF}" type="datetimeFigureOut">
              <a:rPr lang="zh-CN" altLang="en-US" smtClean="0"/>
              <a:pPr/>
              <a:t>2026/3/2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BF5C70-58F2-4665-B73A-0EC539AE1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1E3089-31E1-48B1-9E3F-3F5F09B210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8BE75-46DE-4355-AE7A-7E99FC41EE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6503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18FD9F-9844-4C24-BEE5-5359974F24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0912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逻辑与计算机设计基础，</a:t>
            </a:r>
            <a:r>
              <a:rPr kumimoji="1" lang="en-US" altLang="zh-CN" dirty="0"/>
              <a:t>4.0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3.0-2.</a:t>
            </a:r>
            <a:r>
              <a:rPr kumimoji="1" lang="zh-CN" altLang="en-US" dirty="0"/>
              <a:t>0，</a:t>
            </a:r>
            <a:r>
              <a:rPr kumimoji="1" lang="en-US" altLang="zh-CN" dirty="0"/>
              <a:t> </a:t>
            </a:r>
            <a:r>
              <a:rPr kumimoji="1" lang="zh-CN" altLang="en-US" dirty="0"/>
              <a:t>二秋冬</a:t>
            </a:r>
            <a:endParaRPr kumimoji="1" lang="en-US" altLang="zh-CN" dirty="0"/>
          </a:p>
          <a:p>
            <a:r>
              <a:rPr kumimoji="1" lang="zh-CN" altLang="en-US" dirty="0"/>
              <a:t>计算机组成，</a:t>
            </a:r>
            <a:r>
              <a:rPr kumimoji="1" lang="en-US" altLang="zh-CN" dirty="0"/>
              <a:t>4.5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3.5-2.0</a:t>
            </a:r>
            <a:r>
              <a:rPr kumimoji="1" lang="zh-CN" altLang="en-US" dirty="0"/>
              <a:t>，二春夏</a:t>
            </a:r>
            <a:endParaRPr kumimoji="1" lang="en-US" altLang="zh-CN" dirty="0"/>
          </a:p>
          <a:p>
            <a:r>
              <a:rPr kumimoji="1" lang="zh-CN" altLang="en-US" dirty="0"/>
              <a:t>计算机体系结构，</a:t>
            </a:r>
            <a:r>
              <a:rPr kumimoji="1" lang="en-US" altLang="zh-CN" dirty="0"/>
              <a:t>3.5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2.5-2.0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</a:t>
            </a:r>
            <a:r>
              <a:rPr kumimoji="1" lang="zh-CN" altLang="en-US" dirty="0"/>
              <a:t>三春夏</a:t>
            </a:r>
            <a:endParaRPr kumimoji="1" lang="en-US" altLang="zh-CN" dirty="0"/>
          </a:p>
          <a:p>
            <a:r>
              <a:rPr kumimoji="1" lang="zh-CN" altLang="en-US" dirty="0"/>
              <a:t>汇编与接口</a:t>
            </a:r>
            <a:r>
              <a:rPr kumimoji="1" lang="zh-CN" altLang="zh-CN" dirty="0"/>
              <a:t>，</a:t>
            </a:r>
            <a:r>
              <a:rPr kumimoji="1" lang="en-US" altLang="zh-CN" dirty="0"/>
              <a:t> 3.0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3.0-0.0</a:t>
            </a:r>
            <a:r>
              <a:rPr kumimoji="1" lang="zh-CN" altLang="en-US" dirty="0"/>
              <a:t>，三秋冬</a:t>
            </a:r>
            <a:endParaRPr kumimoji="1" lang="en-US" altLang="zh-CN" dirty="0"/>
          </a:p>
          <a:p>
            <a:r>
              <a:rPr kumimoji="1" lang="zh-CN" altLang="en-US" dirty="0"/>
              <a:t>接口实验，</a:t>
            </a:r>
            <a:r>
              <a:rPr kumimoji="1" lang="en-US" altLang="zh-CN" dirty="0"/>
              <a:t> 1.5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0-3.0</a:t>
            </a:r>
            <a:r>
              <a:rPr kumimoji="1" lang="zh-CN" altLang="en-US" dirty="0"/>
              <a:t>，三秋冬</a:t>
            </a:r>
            <a:endParaRPr kumimoji="1" lang="en-US" altLang="zh-CN" dirty="0"/>
          </a:p>
          <a:p>
            <a:r>
              <a:rPr kumimoji="1" lang="zh-CN" altLang="en-US" dirty="0"/>
              <a:t>编译原理，</a:t>
            </a:r>
            <a:r>
              <a:rPr kumimoji="1" lang="en-US" altLang="zh-CN" dirty="0"/>
              <a:t>2.0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2.0-0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</a:t>
            </a:r>
            <a:r>
              <a:rPr kumimoji="1" lang="zh-CN" altLang="en-US" dirty="0"/>
              <a:t>三春</a:t>
            </a:r>
            <a:endParaRPr kumimoji="1" lang="en-US" altLang="zh-CN" dirty="0"/>
          </a:p>
          <a:p>
            <a:r>
              <a:rPr kumimoji="1" lang="zh-CN" altLang="en-US" dirty="0"/>
              <a:t>编译系统设计，</a:t>
            </a:r>
            <a:r>
              <a:rPr kumimoji="1" lang="en-US" altLang="zh-CN" dirty="0"/>
              <a:t> 2.0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1.0-2.0</a:t>
            </a:r>
            <a:r>
              <a:rPr kumimoji="1" lang="zh-CN" altLang="en-US" dirty="0"/>
              <a:t>，三夏</a:t>
            </a:r>
            <a:endParaRPr kumimoji="1" lang="en-US" altLang="zh-CN" dirty="0"/>
          </a:p>
          <a:p>
            <a:r>
              <a:rPr kumimoji="1" lang="zh-CN" altLang="en-US" dirty="0"/>
              <a:t>操作系统原理，</a:t>
            </a:r>
            <a:r>
              <a:rPr kumimoji="1" lang="en-US" altLang="zh-CN" dirty="0"/>
              <a:t>3.0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3.0-0</a:t>
            </a:r>
            <a:r>
              <a:rPr kumimoji="1" lang="zh-CN" altLang="en-US" dirty="0"/>
              <a:t>，三秋冬</a:t>
            </a:r>
            <a:endParaRPr kumimoji="1" lang="en-US" altLang="zh-CN" dirty="0"/>
          </a:p>
          <a:p>
            <a:r>
              <a:rPr kumimoji="1" lang="zh-CN" altLang="en-US" dirty="0"/>
              <a:t>操作系统实验，</a:t>
            </a:r>
            <a:r>
              <a:rPr kumimoji="1" lang="en-US" altLang="zh-CN" dirty="0"/>
              <a:t> 2.0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1-2.0</a:t>
            </a:r>
            <a:r>
              <a:rPr kumimoji="1" lang="zh-CN" altLang="en-US" dirty="0"/>
              <a:t>，三冬</a:t>
            </a:r>
            <a:endParaRPr kumimoji="1" lang="en-US" altLang="zh-CN" dirty="0"/>
          </a:p>
          <a:p>
            <a:r>
              <a:rPr kumimoji="1" lang="en-US" altLang="zh-CN" dirty="0" err="1"/>
              <a:t>Soc</a:t>
            </a:r>
            <a:r>
              <a:rPr kumimoji="1" lang="zh-CN" altLang="en-US" dirty="0"/>
              <a:t>／计算机系统设计，</a:t>
            </a:r>
            <a:r>
              <a:rPr kumimoji="1" lang="en-US" altLang="zh-CN" dirty="0"/>
              <a:t>3.0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1.0-4.0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 </a:t>
            </a:r>
            <a:r>
              <a:rPr kumimoji="1" lang="zh-CN" altLang="en-US" dirty="0"/>
              <a:t>三夏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D2B3F-E146-462A-A08D-B0A4422B873C}" type="slidenum">
              <a:rPr lang="zh-CN" altLang="en-US" smtClean="0">
                <a:solidFill>
                  <a:prstClr val="black"/>
                </a:solidFill>
                <a:latin typeface="Calibri"/>
                <a:ea typeface="宋体"/>
              </a:rPr>
              <a:pPr/>
              <a:t>4</a:t>
            </a:fld>
            <a:endParaRPr lang="zh-CN" altLang="en-US">
              <a:solidFill>
                <a:prstClr val="black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892443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9672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04985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https://riscv.org/risc-v-cores/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826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https://meltdownattack.com/</a:t>
            </a:r>
          </a:p>
          <a:p>
            <a:endParaRPr lang="en-US" altLang="zh-CN" dirty="0"/>
          </a:p>
          <a:p>
            <a:r>
              <a:rPr lang="en-US" altLang="zh-CN" dirty="0"/>
              <a:t>https://en.wikipedia.org/wiki/Intel_Management_Engine</a:t>
            </a:r>
          </a:p>
          <a:p>
            <a:endParaRPr lang="en-US" altLang="zh-CN" dirty="0"/>
          </a:p>
          <a:p>
            <a:r>
              <a:rPr lang="en-US" altLang="zh-CN" sz="2000" dirty="0"/>
              <a:t>Intel Management Engine</a:t>
            </a:r>
          </a:p>
          <a:p>
            <a:pPr lvl="1"/>
            <a:r>
              <a:rPr lang="en-US" altLang="zh-CN" sz="2000" dirty="0"/>
              <a:t>A ”secret” microprocessor built in all Intel processors since 2008</a:t>
            </a:r>
          </a:p>
          <a:p>
            <a:pPr lvl="1"/>
            <a:r>
              <a:rPr lang="en-US" altLang="zh-CN" sz="2000" dirty="0"/>
              <a:t>Runs proprietary firmware while computer is running, asleep or even turned off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596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0028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79856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99461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6946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03126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31229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93613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7309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856562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24654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63686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61231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8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E62CBE8-D60C-4212-92C0-B125D6E09B3F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F538790-ACE3-48CB-96EA-529859EF9B0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134600" cy="9144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E5D1B57-A61E-4855-8FBB-3B225593969F}" type="datetime1">
              <a:rPr lang="zh-CN" altLang="en-US" smtClean="0"/>
              <a:pPr/>
              <a:t>2026/3/2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CABC06-27E0-40C0-9843-8A1005C3D6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91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E56A38A-6E64-4F24-8618-15E43598BFD8}" type="datetime1">
              <a:rPr lang="zh-CN" altLang="en-US" smtClean="0"/>
              <a:pPr/>
              <a:t>2026/3/2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9018EF4-5EDC-4FF7-B0A6-58F8DB4CF7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51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4" y="228600"/>
            <a:ext cx="10687049" cy="9144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393A129-4920-47CB-8EE6-908D8A150B38}" type="datetime1">
              <a:rPr lang="zh-CN" altLang="en-US" smtClean="0"/>
              <a:pPr/>
              <a:t>2026/3/2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EF059A1-582E-4B29-BE17-FDEA5CC32C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6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A87A524-370E-48A0-97FC-39E0BB3ED967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C278DAD-6598-49C4-8038-E999BF0F42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21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4" y="228600"/>
            <a:ext cx="10687049" cy="9144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BA56CFD-3F19-46F5-9325-376468D0B92D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53FCFD0-43B1-4F2C-8448-5682B58088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137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501C7ED-9D7D-479F-9FF2-EAD47142D06B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DB9B720-4CF3-4D55-8695-5B90F434AE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67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DABDFF-D90D-46B5-B0A3-9D2C5C81C994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1237A9D-5F42-4C0D-9DC0-8ED6B4C97D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74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56609CC-C834-4A99-A459-534C812B260D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E79E4D-185E-4307-B0E2-C091D82422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18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4" y="228600"/>
            <a:ext cx="10687049" cy="9144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70F2CCB-7695-4739-8B7D-8C7C2392B114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981B691-9D7E-4EE6-886B-05305DD2E3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30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21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3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CE3B523-F245-4DA1-A41B-1813659DA872}" type="datetime1">
              <a:rPr lang="zh-CN" altLang="en-US" smtClean="0"/>
              <a:pPr/>
              <a:t>2026/3/2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83EF154-1E73-4300-AFDB-93D5DF791D0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4524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4" y="228600"/>
            <a:ext cx="10687049" cy="9144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E17FCB6-D98D-4466-B033-BB593EE964B8}" type="datetime1">
              <a:rPr lang="zh-CN" altLang="en-US" smtClean="0"/>
              <a:pPr/>
              <a:t>2026/3/2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E58E2E8-C732-4B08-B921-114538228F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39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6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 userDrawn="1"/>
        </p:nvSpPr>
        <p:spPr>
          <a:xfrm>
            <a:off x="623392" y="218812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5909073" y="724156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 userDrawn="1"/>
        </p:nvSpPr>
        <p:spPr>
          <a:xfrm>
            <a:off x="7440149" y="6309325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7440149" y="6741373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86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189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377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566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754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891" indent="-342891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op500.org/system/8968" TargetMode="External"/><Relationship Id="rId3" Type="http://schemas.openxmlformats.org/officeDocument/2006/relationships/hyperlink" Target="http://www.top500.org/system/10377" TargetMode="External"/><Relationship Id="rId7" Type="http://schemas.openxmlformats.org/officeDocument/2006/relationships/hyperlink" Target="http://www.top500.org/system/10187" TargetMode="External"/><Relationship Id="rId2" Type="http://schemas.openxmlformats.org/officeDocument/2006/relationships/hyperlink" Target="http://www.top500.org/system/1018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op500.org/system/10186" TargetMode="External"/><Relationship Id="rId11" Type="http://schemas.openxmlformats.org/officeDocument/2006/relationships/hyperlink" Target="http://www.top500.org/system/10188" TargetMode="External"/><Relationship Id="rId5" Type="http://schemas.openxmlformats.org/officeDocument/2006/relationships/hyperlink" Target="http://www.top500.org/system/9899" TargetMode="External"/><Relationship Id="rId10" Type="http://schemas.openxmlformats.org/officeDocument/2006/relationships/hyperlink" Target="http://www.top500.org/system/9854" TargetMode="External"/><Relationship Id="rId4" Type="http://schemas.openxmlformats.org/officeDocument/2006/relationships/hyperlink" Target="http://www.top500.org/system/10185" TargetMode="External"/><Relationship Id="rId9" Type="http://schemas.openxmlformats.org/officeDocument/2006/relationships/hyperlink" Target="http://www.top500.org/system/9158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op500.org/system/10377" TargetMode="External"/><Relationship Id="rId3" Type="http://schemas.openxmlformats.org/officeDocument/2006/relationships/hyperlink" Target="http://www.top500.org/system/10184" TargetMode="External"/><Relationship Id="rId7" Type="http://schemas.openxmlformats.org/officeDocument/2006/relationships/hyperlink" Target="http://www.top500.org/system/10589" TargetMode="External"/><Relationship Id="rId2" Type="http://schemas.openxmlformats.org/officeDocument/2006/relationships/hyperlink" Target="http://www.top500.org/system/1058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op500.org/system/10612" TargetMode="External"/><Relationship Id="rId11" Type="http://schemas.openxmlformats.org/officeDocument/2006/relationships/hyperlink" Target="http://www.top500.org/system/10613" TargetMode="External"/><Relationship Id="rId5" Type="http://schemas.openxmlformats.org/officeDocument/2006/relationships/hyperlink" Target="http://www.top500.org/system/10588" TargetMode="External"/><Relationship Id="rId10" Type="http://schemas.openxmlformats.org/officeDocument/2006/relationships/hyperlink" Target="http://www.top500.org/system/9899" TargetMode="External"/><Relationship Id="rId4" Type="http://schemas.openxmlformats.org/officeDocument/2006/relationships/hyperlink" Target="http://www.top500.org/system/10484" TargetMode="External"/><Relationship Id="rId9" Type="http://schemas.openxmlformats.org/officeDocument/2006/relationships/hyperlink" Target="http://www.top500.org/system/10185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top500.org/system/177259" TargetMode="External"/><Relationship Id="rId3" Type="http://schemas.openxmlformats.org/officeDocument/2006/relationships/hyperlink" Target="http://top500.org/system/176929" TargetMode="External"/><Relationship Id="rId7" Type="http://schemas.openxmlformats.org/officeDocument/2006/relationships/hyperlink" Target="http://top500.org/system/177170" TargetMode="External"/><Relationship Id="rId2" Type="http://schemas.openxmlformats.org/officeDocument/2006/relationships/hyperlink" Target="http://top500.org/system/17723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op500.org/system/176927" TargetMode="External"/><Relationship Id="rId11" Type="http://schemas.openxmlformats.org/officeDocument/2006/relationships/hyperlink" Target="http://top500.org/system/176027" TargetMode="External"/><Relationship Id="rId5" Type="http://schemas.openxmlformats.org/officeDocument/2006/relationships/hyperlink" Target="http://top500.org/system/176819" TargetMode="External"/><Relationship Id="rId10" Type="http://schemas.openxmlformats.org/officeDocument/2006/relationships/hyperlink" Target="http://top500.org/system/176928" TargetMode="External"/><Relationship Id="rId4" Type="http://schemas.openxmlformats.org/officeDocument/2006/relationships/hyperlink" Target="http://top500.org/system/176544" TargetMode="External"/><Relationship Id="rId9" Type="http://schemas.openxmlformats.org/officeDocument/2006/relationships/hyperlink" Target="http://top500.org/system/176952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top500.org/system/177999" TargetMode="External"/><Relationship Id="rId3" Type="http://schemas.openxmlformats.org/officeDocument/2006/relationships/hyperlink" Target="https://top500.org/system/179397" TargetMode="External"/><Relationship Id="rId7" Type="http://schemas.openxmlformats.org/officeDocument/2006/relationships/hyperlink" Target="https://top500.org/system/179842" TargetMode="External"/><Relationship Id="rId2" Type="http://schemas.openxmlformats.org/officeDocument/2006/relationships/hyperlink" Target="https://top500.org/system/17980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p500.org/system/179972" TargetMode="External"/><Relationship Id="rId11" Type="http://schemas.openxmlformats.org/officeDocument/2006/relationships/hyperlink" Target="https://top500.org/system/179607" TargetMode="External"/><Relationship Id="rId5" Type="http://schemas.openxmlformats.org/officeDocument/2006/relationships/hyperlink" Target="https://top500.org/system/178764" TargetMode="External"/><Relationship Id="rId10" Type="http://schemas.openxmlformats.org/officeDocument/2006/relationships/hyperlink" Target="https://top500.org/system/179856" TargetMode="External"/><Relationship Id="rId4" Type="http://schemas.openxmlformats.org/officeDocument/2006/relationships/hyperlink" Target="https://top500.org/system/179398" TargetMode="External"/><Relationship Id="rId9" Type="http://schemas.openxmlformats.org/officeDocument/2006/relationships/hyperlink" Target="https://top500.org/system/179894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top500.org/system/178764" TargetMode="External"/><Relationship Id="rId3" Type="http://schemas.openxmlformats.org/officeDocument/2006/relationships/hyperlink" Target="https://top500.org/system/179807" TargetMode="External"/><Relationship Id="rId7" Type="http://schemas.openxmlformats.org/officeDocument/2006/relationships/hyperlink" Target="https://top500.org/system/179398" TargetMode="External"/><Relationship Id="rId2" Type="http://schemas.openxmlformats.org/officeDocument/2006/relationships/hyperlink" Target="https://top500.org/system/18004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p500.org/system/179397" TargetMode="External"/><Relationship Id="rId11" Type="http://schemas.openxmlformats.org/officeDocument/2006/relationships/hyperlink" Target="https://top500.org/system/177999" TargetMode="External"/><Relationship Id="rId5" Type="http://schemas.openxmlformats.org/officeDocument/2006/relationships/hyperlink" Target="https://top500.org/system/180128" TargetMode="External"/><Relationship Id="rId10" Type="http://schemas.openxmlformats.org/officeDocument/2006/relationships/hyperlink" Target="https://top500.org/system/179842" TargetMode="External"/><Relationship Id="rId4" Type="http://schemas.openxmlformats.org/officeDocument/2006/relationships/hyperlink" Target="https://top500.org/system/180048" TargetMode="External"/><Relationship Id="rId9" Type="http://schemas.openxmlformats.org/officeDocument/2006/relationships/hyperlink" Target="https://top500.org/system/179972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awards.acm.org/citation.cfm?id=5529742&amp;srt=all&amp;aw=148&amp;ao=ECKMAUCH" TargetMode="External"/><Relationship Id="rId13" Type="http://schemas.openxmlformats.org/officeDocument/2006/relationships/hyperlink" Target="http://awards.acm.org/citation.cfm?id=4008463&amp;srt=all&amp;aw=148&amp;ao=ECKMAUCH" TargetMode="External"/><Relationship Id="rId18" Type="http://schemas.openxmlformats.org/officeDocument/2006/relationships/hyperlink" Target="http://awards.acm.org/citation.cfm?id=2391026&amp;srt=all&amp;aw=148&amp;ao=ECKMAUCH" TargetMode="External"/><Relationship Id="rId26" Type="http://schemas.openxmlformats.org/officeDocument/2006/relationships/hyperlink" Target="http://awards.acm.org/citation.cfm?id=7899762&amp;srt=all&amp;aw=148&amp;ao=ECKMAUCH" TargetMode="External"/><Relationship Id="rId3" Type="http://schemas.openxmlformats.org/officeDocument/2006/relationships/hyperlink" Target="http://awards.acm.org/citation.cfm?id=4251351&amp;srt=all&amp;aw=148&amp;ao=ECKMAUCH" TargetMode="External"/><Relationship Id="rId21" Type="http://schemas.openxmlformats.org/officeDocument/2006/relationships/hyperlink" Target="http://awards.acm.org/citation.cfm?id=4570334&amp;srt=all&amp;aw=148&amp;ao=ECKMAUCH" TargetMode="External"/><Relationship Id="rId7" Type="http://schemas.openxmlformats.org/officeDocument/2006/relationships/hyperlink" Target="http://awards.acm.org/citation.cfm?id=8496153&amp;srt=all&amp;aw=148&amp;ao=ECKMAUCH" TargetMode="External"/><Relationship Id="rId12" Type="http://schemas.openxmlformats.org/officeDocument/2006/relationships/hyperlink" Target="http://awards.acm.org/citation.cfm?id=3848962&amp;srt=all&amp;aw=148&amp;ao=ECKMAUCH" TargetMode="External"/><Relationship Id="rId17" Type="http://schemas.openxmlformats.org/officeDocument/2006/relationships/hyperlink" Target="http://awards.acm.org/citation.cfm?id=1018449&amp;srt=all&amp;aw=148&amp;ao=ECKMAUCH" TargetMode="External"/><Relationship Id="rId25" Type="http://schemas.openxmlformats.org/officeDocument/2006/relationships/hyperlink" Target="http://awards.acm.org/citation.cfm?id=2083115&amp;srt=all&amp;aw=148&amp;ao=ECKMAUCH" TargetMode="External"/><Relationship Id="rId2" Type="http://schemas.openxmlformats.org/officeDocument/2006/relationships/hyperlink" Target="http://awards.acm.org/citation.cfm?id=2601045&amp;srt=year&amp;year=2011&amp;aw=148&amp;ao=ECKMAUCH&amp;yr=2011" TargetMode="External"/><Relationship Id="rId16" Type="http://schemas.openxmlformats.org/officeDocument/2006/relationships/hyperlink" Target="http://awards.acm.org/citation.cfm?id=3499413&amp;srt=all&amp;aw=148&amp;ao=ECKMAUCH" TargetMode="External"/><Relationship Id="rId20" Type="http://schemas.openxmlformats.org/officeDocument/2006/relationships/hyperlink" Target="http://awards.acm.org/citation.cfm?id=9105337&amp;srt=all&amp;aw=148&amp;ao=ECKMAUCH" TargetMode="External"/><Relationship Id="rId29" Type="http://schemas.openxmlformats.org/officeDocument/2006/relationships/hyperlink" Target="http://awards.acm.org/citation.cfm?id=8038939&amp;srt=all&amp;aw=148&amp;ao=ECKMAUCH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awards.acm.org/citation.cfm?id=5029829&amp;srt=all&amp;aw=148&amp;ao=ECKMAUCH" TargetMode="External"/><Relationship Id="rId11" Type="http://schemas.openxmlformats.org/officeDocument/2006/relationships/hyperlink" Target="http://awards.acm.org/citation.cfm?id=6516103&amp;srt=all&amp;aw=148&amp;ao=ECKMAUCH" TargetMode="External"/><Relationship Id="rId24" Type="http://schemas.openxmlformats.org/officeDocument/2006/relationships/hyperlink" Target="http://awards.acm.org/citation.cfm?id=1079995&amp;srt=all&amp;aw=148&amp;ao=ECKMAUCH" TargetMode="External"/><Relationship Id="rId5" Type="http://schemas.openxmlformats.org/officeDocument/2006/relationships/hyperlink" Target="http://awards.acm.org/citation.cfm?id=3297060&amp;srt=all&amp;aw=148&amp;ao=ECKMAUCH" TargetMode="External"/><Relationship Id="rId15" Type="http://schemas.openxmlformats.org/officeDocument/2006/relationships/hyperlink" Target="http://awards.acm.org/citation.cfm?id=0861786&amp;srt=all&amp;aw=148&amp;ao=ECKMAUCH" TargetMode="External"/><Relationship Id="rId23" Type="http://schemas.openxmlformats.org/officeDocument/2006/relationships/hyperlink" Target="http://awards.acm.org/citation.cfm?id=5555573&amp;srt=all&amp;aw=148&amp;ao=ECKMAUCH" TargetMode="External"/><Relationship Id="rId28" Type="http://schemas.openxmlformats.org/officeDocument/2006/relationships/hyperlink" Target="http://awards.acm.org/citation.cfm?id=8306337&amp;srt=all&amp;aw=148&amp;ao=ECKMAUCH" TargetMode="External"/><Relationship Id="rId10" Type="http://schemas.openxmlformats.org/officeDocument/2006/relationships/hyperlink" Target="http://awards.acm.org/citation.cfm?id=0655725&amp;srt=all&amp;aw=148&amp;ao=ECKMAUCH" TargetMode="External"/><Relationship Id="rId19" Type="http://schemas.openxmlformats.org/officeDocument/2006/relationships/hyperlink" Target="http://awards.acm.org/citation.cfm?id=6143316&amp;srt=all&amp;aw=148&amp;ao=ECKMAUCH" TargetMode="External"/><Relationship Id="rId31" Type="http://schemas.openxmlformats.org/officeDocument/2006/relationships/hyperlink" Target="http://awards.acm.org/citation.cfm?id=9762369&amp;srt=all&amp;aw=148&amp;ao=ECKMAUCH" TargetMode="External"/><Relationship Id="rId4" Type="http://schemas.openxmlformats.org/officeDocument/2006/relationships/hyperlink" Target="http://awards.acm.org/citation.cfm?id=0261910&amp;srt=all&amp;aw=148&amp;ao=ECKMAUCH" TargetMode="External"/><Relationship Id="rId9" Type="http://schemas.openxmlformats.org/officeDocument/2006/relationships/hyperlink" Target="http://awards.acm.org/citation.cfm?id=8780372&amp;srt=all&amp;aw=148&amp;ao=ECKMAUCH" TargetMode="External"/><Relationship Id="rId14" Type="http://schemas.openxmlformats.org/officeDocument/2006/relationships/hyperlink" Target="http://awards.acm.org/citation.cfm?id=5688501&amp;srt=all&amp;aw=148&amp;ao=ECKMAUCH" TargetMode="External"/><Relationship Id="rId22" Type="http://schemas.openxmlformats.org/officeDocument/2006/relationships/hyperlink" Target="http://awards.acm.org/citation.cfm?id=8331022&amp;srt=all&amp;aw=148&amp;ao=ECKMAUCH" TargetMode="External"/><Relationship Id="rId27" Type="http://schemas.openxmlformats.org/officeDocument/2006/relationships/hyperlink" Target="http://awards.acm.org/citation.cfm?id=6700778&amp;srt=all&amp;aw=148&amp;ao=ECKMAUCH" TargetMode="External"/><Relationship Id="rId30" Type="http://schemas.openxmlformats.org/officeDocument/2006/relationships/hyperlink" Target="http://awards.acm.org/citation.cfm?id=5637382&amp;srt=all&amp;aw=148&amp;ao=ECKMAUCH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awards.acm.org/homepage.cfm?awd=148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awards.acm.org/citation.cfm?id=4570334&amp;srt=all&amp;aw=148&amp;ao=ECKMAUCH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awards.acm.org/citation.cfm?id=5555573&amp;srt=all&amp;aw=148&amp;ao=ECKMAUC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://www.sun.com/microelectronics/sparc/SPARCfacts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e.cmu.edu/~ece347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iscv/riscv-isa-manual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zju.edu.cn/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classroom.zju.edu.cn/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90269-3DA6-482B-A8EB-BD1B5D75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课程简介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1ED00-2701-4B91-88F4-03E2D4BF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484784"/>
            <a:ext cx="10566400" cy="4419600"/>
          </a:xfrm>
        </p:spPr>
        <p:txBody>
          <a:bodyPr/>
          <a:lstStyle/>
          <a:p>
            <a:r>
              <a:rPr lang="zh-CN" altLang="zh-CN" sz="2400" dirty="0"/>
              <a:t>《计算机体系结构》是计算机专业的一门重要专业课，从计算机系统角度介绍计算机设计原理和设计方法。课程内容包括：</a:t>
            </a:r>
            <a:endParaRPr lang="en-US" altLang="zh-CN" sz="2400" dirty="0"/>
          </a:p>
          <a:p>
            <a:pPr lvl="1"/>
            <a:r>
              <a:rPr lang="en-US" altLang="zh-CN" sz="2000" dirty="0"/>
              <a:t>1</a:t>
            </a:r>
            <a:r>
              <a:rPr lang="zh-CN" altLang="zh-CN" sz="2000" dirty="0"/>
              <a:t>）计算机体系结构基本概念、计算机设计生命周期、量化设计原理和计算机性能评价方法；</a:t>
            </a:r>
            <a:endParaRPr lang="en-US" altLang="zh-CN" sz="2000" dirty="0"/>
          </a:p>
          <a:p>
            <a:pPr lvl="1"/>
            <a:r>
              <a:rPr lang="en-US" altLang="zh-CN" sz="2000" dirty="0"/>
              <a:t>2</a:t>
            </a:r>
            <a:r>
              <a:rPr lang="zh-CN" altLang="zh-CN" sz="2000" dirty="0"/>
              <a:t>）存储体系改进性能的方法，包括</a:t>
            </a:r>
            <a:r>
              <a:rPr lang="en-US" altLang="zh-CN" sz="2000" dirty="0"/>
              <a:t>cache</a:t>
            </a:r>
            <a:r>
              <a:rPr lang="zh-CN" altLang="zh-CN" sz="2000" dirty="0"/>
              <a:t>的提高性能的方法、存储器的性能提升、虚拟存储器和虚拟机；</a:t>
            </a:r>
            <a:endParaRPr lang="en-US" altLang="zh-CN" sz="2000" dirty="0"/>
          </a:p>
          <a:p>
            <a:pPr lvl="1"/>
            <a:r>
              <a:rPr lang="en-US" altLang="zh-CN" sz="2000" dirty="0"/>
              <a:t>3</a:t>
            </a:r>
            <a:r>
              <a:rPr lang="zh-CN" altLang="zh-CN" sz="2000" dirty="0"/>
              <a:t>）开发指令级并行性提高性能：转移预测、动态调度、猜测执行、多发射处理器等；</a:t>
            </a:r>
            <a:endParaRPr lang="en-US" altLang="zh-CN" sz="2000" dirty="0"/>
          </a:p>
          <a:p>
            <a:pPr lvl="1"/>
            <a:r>
              <a:rPr lang="en-US" altLang="zh-CN" sz="2000" dirty="0"/>
              <a:t>4</a:t>
            </a:r>
            <a:r>
              <a:rPr lang="zh-CN" altLang="zh-CN" sz="2000" dirty="0"/>
              <a:t>）利用数据级并行性提高性能：向量处理器、</a:t>
            </a:r>
            <a:r>
              <a:rPr lang="en-US" altLang="zh-CN" sz="2000" dirty="0"/>
              <a:t>SIMD</a:t>
            </a:r>
            <a:r>
              <a:rPr lang="zh-CN" altLang="zh-CN" sz="2000" dirty="0"/>
              <a:t>以及</a:t>
            </a:r>
            <a:r>
              <a:rPr lang="en-US" altLang="zh-CN" sz="2000" dirty="0"/>
              <a:t>GPU</a:t>
            </a:r>
            <a:r>
              <a:rPr lang="zh-CN" altLang="zh-CN" sz="2000" dirty="0"/>
              <a:t>；</a:t>
            </a:r>
            <a:endParaRPr lang="en-US" altLang="zh-CN" sz="2000" dirty="0"/>
          </a:p>
          <a:p>
            <a:pPr lvl="1"/>
            <a:r>
              <a:rPr lang="en-US" altLang="zh-CN" sz="2000" dirty="0"/>
              <a:t>5</a:t>
            </a:r>
            <a:r>
              <a:rPr lang="zh-CN" altLang="zh-CN" sz="2000" dirty="0"/>
              <a:t>）利用线程级并行性提高性能：多处理器结构、</a:t>
            </a:r>
            <a:r>
              <a:rPr lang="en-US" altLang="zh-CN" sz="2000" dirty="0"/>
              <a:t>Cache</a:t>
            </a:r>
            <a:r>
              <a:rPr lang="zh-CN" altLang="zh-CN" sz="2000" dirty="0"/>
              <a:t>一致性以及同步。</a:t>
            </a:r>
            <a:endParaRPr lang="en-US" altLang="zh-CN" sz="20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3905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7C566-B702-4299-9D44-784483FC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课程简介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41F52F-1C28-4E53-AC50-84611BA69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219200"/>
            <a:ext cx="10566400" cy="4419600"/>
          </a:xfrm>
        </p:spPr>
        <p:txBody>
          <a:bodyPr/>
          <a:lstStyle/>
          <a:p>
            <a:r>
              <a:rPr lang="zh-CN" altLang="zh-CN" sz="2400" dirty="0"/>
              <a:t>在学习理论同时，要求在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工具</a:t>
            </a:r>
            <a:r>
              <a:rPr lang="zh-CN" altLang="zh-CN" sz="2400" dirty="0"/>
              <a:t>下，用</a:t>
            </a:r>
            <a:r>
              <a:rPr lang="en-US" altLang="zh-CN" sz="2400" dirty="0"/>
              <a:t>Verilog</a:t>
            </a:r>
            <a:r>
              <a:rPr lang="zh-CN" altLang="zh-CN" sz="2400" dirty="0"/>
              <a:t>语言进行硬件设计实现，并在</a:t>
            </a:r>
            <a:r>
              <a:rPr lang="en-US" altLang="zh-CN" sz="2400" dirty="0"/>
              <a:t>FPGA</a:t>
            </a:r>
            <a:r>
              <a:rPr lang="zh-CN" altLang="zh-CN" sz="2400" dirty="0"/>
              <a:t>板上</a:t>
            </a:r>
            <a:r>
              <a:rPr lang="zh-CN" altLang="en-US" sz="2400" dirty="0"/>
              <a:t>和行为仿真中</a:t>
            </a:r>
            <a:r>
              <a:rPr lang="zh-CN" altLang="zh-CN" sz="2400" dirty="0"/>
              <a:t>验证</a:t>
            </a:r>
            <a:r>
              <a:rPr lang="zh-CN" altLang="en-US" sz="2400" dirty="0"/>
              <a:t>正确性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实验包括：</a:t>
            </a:r>
            <a:endParaRPr lang="en-US" altLang="zh-CN" sz="2400" dirty="0"/>
          </a:p>
          <a:p>
            <a:r>
              <a:rPr lang="zh-CN" altLang="zh-CN" sz="2400" dirty="0"/>
              <a:t>实现支持</a:t>
            </a:r>
            <a:r>
              <a:rPr lang="en-US" altLang="zh-CN" sz="2400" dirty="0"/>
              <a:t>RV32I</a:t>
            </a:r>
            <a:r>
              <a:rPr lang="zh-CN" altLang="en-US" sz="2400" dirty="0"/>
              <a:t>、</a:t>
            </a:r>
            <a:r>
              <a:rPr lang="en-US" altLang="zh-CN" sz="2400" dirty="0"/>
              <a:t>forwarding</a:t>
            </a:r>
            <a:r>
              <a:rPr lang="zh-CN" altLang="zh-CN" sz="2400" dirty="0"/>
              <a:t>和</a:t>
            </a:r>
            <a:r>
              <a:rPr lang="en-US" altLang="zh-CN" sz="2400" dirty="0"/>
              <a:t>predict-not-taken</a:t>
            </a:r>
            <a:r>
              <a:rPr lang="zh-CN" altLang="zh-CN" sz="2400" dirty="0"/>
              <a:t>的</a:t>
            </a:r>
            <a:r>
              <a:rPr lang="zh-CN" altLang="en-US" sz="2400" dirty="0"/>
              <a:t>五级流水线</a:t>
            </a:r>
            <a:r>
              <a:rPr lang="en-US" altLang="zh-CN" sz="2400" dirty="0"/>
              <a:t>CPU</a:t>
            </a:r>
          </a:p>
          <a:p>
            <a:r>
              <a:rPr lang="zh-CN" altLang="en-US" sz="2400" dirty="0"/>
              <a:t>实现</a:t>
            </a:r>
            <a:r>
              <a:rPr lang="zh-CN" altLang="zh-CN" sz="2400" dirty="0"/>
              <a:t>精确中断</a:t>
            </a:r>
            <a:endParaRPr lang="en-US" altLang="zh-CN" sz="2400" dirty="0"/>
          </a:p>
          <a:p>
            <a:r>
              <a:rPr lang="zh-CN" altLang="zh-CN" sz="2400" dirty="0"/>
              <a:t>实现</a:t>
            </a:r>
            <a:r>
              <a:rPr lang="en-US" altLang="zh-CN" sz="2400" dirty="0"/>
              <a:t>2</a:t>
            </a:r>
            <a:r>
              <a:rPr lang="zh-CN" altLang="zh-CN" sz="2400" dirty="0"/>
              <a:t>路组关联</a:t>
            </a:r>
            <a:r>
              <a:rPr lang="en-US" altLang="zh-CN" sz="2400" dirty="0"/>
              <a:t>Cache</a:t>
            </a:r>
            <a:r>
              <a:rPr lang="zh-CN" altLang="zh-CN" sz="2400" dirty="0"/>
              <a:t>并与应用于指令流水线</a:t>
            </a:r>
            <a:endParaRPr lang="en-US" altLang="zh-CN" sz="2400" dirty="0"/>
          </a:p>
          <a:p>
            <a:r>
              <a:rPr lang="zh-CN" altLang="zh-CN" sz="2400" dirty="0"/>
              <a:t>扩展流水线以支持多周期的复杂操作</a:t>
            </a:r>
            <a:endParaRPr lang="en-US" altLang="zh-CN" sz="2400" dirty="0"/>
          </a:p>
          <a:p>
            <a:r>
              <a:rPr lang="zh-CN" altLang="zh-CN" sz="2400" dirty="0"/>
              <a:t>实现</a:t>
            </a:r>
            <a:r>
              <a:rPr lang="zh-CN" altLang="en-US" sz="2400" dirty="0"/>
              <a:t>基于</a:t>
            </a:r>
            <a:r>
              <a:rPr lang="en-US" altLang="zh-CN" sz="2400" dirty="0"/>
              <a:t>scoreboard</a:t>
            </a:r>
            <a:r>
              <a:rPr lang="zh-CN" altLang="en-US" sz="2400" dirty="0"/>
              <a:t>算法的</a:t>
            </a:r>
            <a:r>
              <a:rPr lang="zh-CN" altLang="zh-CN" sz="2400" dirty="0"/>
              <a:t>动态调度流水线</a:t>
            </a:r>
            <a:r>
              <a:rPr lang="en-US" altLang="zh-CN" sz="2400" dirty="0"/>
              <a:t>CPU</a:t>
            </a:r>
            <a:endParaRPr lang="zh-CN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329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6" y="188644"/>
            <a:ext cx="6119813" cy="661987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改革中的课程体系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407" y="850631"/>
            <a:ext cx="6540828" cy="546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2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7" y="188640"/>
            <a:ext cx="8015287" cy="914400"/>
          </a:xfrm>
        </p:spPr>
        <p:txBody>
          <a:bodyPr/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计算机系统能力培养总体思路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89" y="836712"/>
            <a:ext cx="5867383" cy="588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3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2063556" y="181645"/>
            <a:ext cx="6119813" cy="661987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改革中的实验体系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9168" y="1124745"/>
            <a:ext cx="8483296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prstClr val="white"/>
                </a:solidFill>
                <a:latin typeface="Calibri"/>
                <a:ea typeface="宋体"/>
              </a:rPr>
              <a:t>自主研发统一的实验平台，建立实验成果库，构建系列化、递进式的实验体系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847532" y="5059942"/>
            <a:ext cx="8245475" cy="120032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楷体_GB2312"/>
                <a:ea typeface="黑体" pitchFamily="49" charset="-122"/>
              </a:rPr>
              <a:t>数字逻辑→</a:t>
            </a: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计算机组成</a:t>
            </a:r>
            <a:r>
              <a:rPr lang="en-US" altLang="zh-CN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(CPU) →</a:t>
            </a: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体系结构</a:t>
            </a:r>
            <a:r>
              <a:rPr lang="en-US" altLang="zh-CN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流水</a:t>
            </a:r>
            <a:r>
              <a:rPr lang="en-US" altLang="zh-CN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CPU) →</a:t>
            </a: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简易计算机系统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楷体_GB2312"/>
                <a:ea typeface="黑体" pitchFamily="49" charset="-122"/>
              </a:rPr>
              <a:t>高级数字系统设计</a:t>
            </a:r>
            <a:r>
              <a:rPr lang="zh-CN" altLang="en-US" dirty="0">
                <a:solidFill>
                  <a:prstClr val="black"/>
                </a:solidFill>
                <a:latin typeface="楷体_GB2312"/>
                <a:ea typeface="黑体" pitchFamily="49" charset="-122"/>
              </a:rPr>
              <a:t>→</a:t>
            </a:r>
            <a:r>
              <a:rPr lang="en-US" altLang="en-US" dirty="0" err="1">
                <a:solidFill>
                  <a:prstClr val="black"/>
                </a:solidFill>
                <a:latin typeface="楷体_GB2312"/>
                <a:ea typeface="黑体" pitchFamily="49" charset="-122"/>
              </a:rPr>
              <a:t>计算机接口</a:t>
            </a:r>
            <a:r>
              <a:rPr lang="en-US" altLang="en-US" dirty="0">
                <a:solidFill>
                  <a:prstClr val="black"/>
                </a:solidFill>
                <a:latin typeface="楷体_GB2312"/>
                <a:ea typeface="黑体" pitchFamily="49" charset="-122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楷体_GB2312"/>
                <a:ea typeface="黑体" pitchFamily="49" charset="-122"/>
              </a:rPr>
              <a:t>→</a:t>
            </a:r>
            <a:r>
              <a:rPr lang="en-US" altLang="zh-CN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SOC</a:t>
            </a: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设计→计算机系统设计</a:t>
            </a:r>
            <a:r>
              <a:rPr lang="zh-CN" altLang="en-US" dirty="0">
                <a:solidFill>
                  <a:prstClr val="black"/>
                </a:solidFill>
                <a:latin typeface="楷体_GB2312"/>
                <a:ea typeface="黑体" pitchFamily="49" charset="-122"/>
              </a:rPr>
              <a:t>→多核系统设计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楷体_GB2312"/>
                <a:ea typeface="黑体" pitchFamily="49" charset="-122"/>
              </a:rPr>
              <a:t>	                     →</a:t>
            </a: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嵌入式系统设计</a:t>
            </a:r>
            <a:endParaRPr lang="en-US" altLang="zh-CN" dirty="0">
              <a:solidFill>
                <a:srgbClr val="FF0000"/>
              </a:solidFill>
              <a:latin typeface="楷体_GB2312"/>
              <a:ea typeface="黑体" pitchFamily="49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楷体_GB2312"/>
                <a:ea typeface="黑体" pitchFamily="49" charset="-122"/>
              </a:rPr>
              <a:t>                 </a:t>
            </a:r>
            <a:r>
              <a:rPr lang="zh-CN" altLang="en-US" b="1" dirty="0">
                <a:solidFill>
                  <a:srgbClr val="4D0DED"/>
                </a:solidFill>
                <a:latin typeface="楷体_GB2312"/>
                <a:ea typeface="黑体" pitchFamily="49" charset="-122"/>
              </a:rPr>
              <a:t>操作系统 </a:t>
            </a:r>
            <a:r>
              <a:rPr lang="en-US" altLang="zh-CN" b="1" dirty="0">
                <a:solidFill>
                  <a:srgbClr val="4D0DED"/>
                </a:solidFill>
                <a:latin typeface="楷体_GB2312"/>
                <a:ea typeface="黑体" pitchFamily="49" charset="-122"/>
              </a:rPr>
              <a:t>+ </a:t>
            </a:r>
            <a:r>
              <a:rPr lang="zh-CN" altLang="en-US" b="1" dirty="0">
                <a:solidFill>
                  <a:srgbClr val="4D0DED"/>
                </a:solidFill>
                <a:latin typeface="楷体_GB2312"/>
                <a:ea typeface="黑体" pitchFamily="49" charset="-122"/>
              </a:rPr>
              <a:t>编译系统 </a:t>
            </a:r>
            <a:r>
              <a:rPr lang="en-US" altLang="zh-CN" b="1" dirty="0">
                <a:solidFill>
                  <a:srgbClr val="4D0DED"/>
                </a:solidFill>
                <a:latin typeface="楷体_GB2312"/>
                <a:ea typeface="黑体" pitchFamily="49" charset="-122"/>
              </a:rPr>
              <a:t>+ </a:t>
            </a:r>
            <a:r>
              <a:rPr lang="zh-CN" altLang="en-US" b="1" dirty="0">
                <a:solidFill>
                  <a:srgbClr val="4D0DED"/>
                </a:solidFill>
                <a:latin typeface="楷体_GB2312"/>
                <a:ea typeface="黑体" pitchFamily="49" charset="-122"/>
              </a:rPr>
              <a:t>应用软件</a:t>
            </a:r>
          </a:p>
        </p:txBody>
      </p:sp>
      <p:sp>
        <p:nvSpPr>
          <p:cNvPr id="14" name="Rectangle 72"/>
          <p:cNvSpPr>
            <a:spLocks noChangeArrowheads="1"/>
          </p:cNvSpPr>
          <p:nvPr/>
        </p:nvSpPr>
        <p:spPr bwMode="auto">
          <a:xfrm>
            <a:off x="1849117" y="1701382"/>
            <a:ext cx="647700" cy="32400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Calibri"/>
                <a:ea typeface="隶书" pitchFamily="49" charset="-122"/>
              </a:rPr>
              <a:t>渐近的计算机硬件系统</a:t>
            </a: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794823"/>
              </p:ext>
            </p:extLst>
          </p:nvPr>
        </p:nvGraphicFramePr>
        <p:xfrm>
          <a:off x="4144645" y="1628357"/>
          <a:ext cx="5697537" cy="348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298571" imgH="4000770" progId="Visio.Drawing.11">
                  <p:embed/>
                </p:oleObj>
              </mc:Choice>
              <mc:Fallback>
                <p:oleObj name="Visio" r:id="rId2" imgW="6298571" imgH="4000770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645" y="1628357"/>
                        <a:ext cx="5697537" cy="348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矩形 1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21" y="1783929"/>
            <a:ext cx="13684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753995" y="1845840"/>
            <a:ext cx="12287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rgbClr val="FFFFFF"/>
                </a:solidFill>
                <a:latin typeface="Calibri" pitchFamily="34" charset="0"/>
              </a:rPr>
              <a:t>CACHE</a:t>
            </a:r>
          </a:p>
        </p:txBody>
      </p:sp>
      <p:pic>
        <p:nvPicPr>
          <p:cNvPr id="21" name="矩形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721" y="2410994"/>
            <a:ext cx="136842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2771456" y="2504657"/>
            <a:ext cx="12287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rgbClr val="FFFFFF"/>
                </a:solidFill>
                <a:latin typeface="Calibri" pitchFamily="34" charset="0"/>
              </a:rPr>
              <a:t>MMU</a:t>
            </a:r>
          </a:p>
        </p:txBody>
      </p:sp>
      <p:pic>
        <p:nvPicPr>
          <p:cNvPr id="23" name="矩形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721" y="3123782"/>
            <a:ext cx="13684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2768277" y="3195215"/>
            <a:ext cx="122713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FFFFFF"/>
                </a:solidFill>
                <a:latin typeface="Calibri" pitchFamily="34" charset="0"/>
              </a:rPr>
              <a:t>动态流水</a:t>
            </a:r>
          </a:p>
        </p:txBody>
      </p:sp>
      <p:pic>
        <p:nvPicPr>
          <p:cNvPr id="25" name="矩形 6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370" y="3768303"/>
            <a:ext cx="136842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2760344" y="3861965"/>
            <a:ext cx="1228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rgbClr val="FFFFFF"/>
                </a:solidFill>
                <a:latin typeface="Calibri" pitchFamily="34" charset="0"/>
              </a:rPr>
              <a:t>ISA</a:t>
            </a:r>
            <a:r>
              <a:rPr lang="zh-CN" altLang="en-US" sz="2000">
                <a:solidFill>
                  <a:srgbClr val="FFFFFF"/>
                </a:solidFill>
                <a:latin typeface="Calibri" pitchFamily="34" charset="0"/>
              </a:rPr>
              <a:t>扩展</a:t>
            </a:r>
          </a:p>
        </p:txBody>
      </p:sp>
      <p:pic>
        <p:nvPicPr>
          <p:cNvPr id="27" name="矩形 9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21" y="4369970"/>
            <a:ext cx="13684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2755577" y="4436641"/>
            <a:ext cx="1227139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FFFFFF"/>
                </a:solidFill>
                <a:latin typeface="Calibri" pitchFamily="34" charset="0"/>
              </a:rPr>
              <a:t>中断处理</a:t>
            </a:r>
          </a:p>
        </p:txBody>
      </p:sp>
      <p:sp>
        <p:nvSpPr>
          <p:cNvPr id="4" name="椭圆形标注 3"/>
          <p:cNvSpPr/>
          <p:nvPr/>
        </p:nvSpPr>
        <p:spPr>
          <a:xfrm>
            <a:off x="2700021" y="1763067"/>
            <a:ext cx="3942159" cy="1762125"/>
          </a:xfrm>
          <a:prstGeom prst="wedgeEllipseCallout">
            <a:avLst>
              <a:gd name="adj1" fmla="val 59102"/>
              <a:gd name="adj2" fmla="val 3296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prstClr val="white"/>
                </a:solidFill>
                <a:latin typeface="Calibri"/>
                <a:ea typeface="宋体"/>
              </a:rPr>
              <a:t>Simple but Rich</a:t>
            </a:r>
            <a:endParaRPr lang="zh-CN" altLang="en-US" sz="2800" b="1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97472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 Computer Architecture</a:t>
            </a:r>
            <a:endParaRPr lang="en-US" altLang="zh-CN" dirty="0"/>
          </a:p>
        </p:txBody>
      </p:sp>
      <p:pic>
        <p:nvPicPr>
          <p:cNvPr id="251908" name="Picture 4" descr="Img24538143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954631"/>
            <a:ext cx="7848872" cy="525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 Computer Architecture</a:t>
            </a:r>
            <a:endParaRPr lang="en-US" altLang="zh-CN" dirty="0"/>
          </a:p>
        </p:txBody>
      </p:sp>
      <p:sp>
        <p:nvSpPr>
          <p:cNvPr id="5125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</p:txBody>
      </p:sp>
      <p:sp>
        <p:nvSpPr>
          <p:cNvPr id="208900" name="Rectangle 2052"/>
          <p:cNvSpPr>
            <a:spLocks noChangeArrowheads="1"/>
          </p:cNvSpPr>
          <p:nvPr/>
        </p:nvSpPr>
        <p:spPr bwMode="auto">
          <a:xfrm>
            <a:off x="5591175" y="3644901"/>
            <a:ext cx="1295227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I/O system</a:t>
            </a:r>
          </a:p>
        </p:txBody>
      </p:sp>
      <p:sp>
        <p:nvSpPr>
          <p:cNvPr id="208901" name="Rectangle 2053"/>
          <p:cNvSpPr>
            <a:spLocks noChangeArrowheads="1"/>
          </p:cNvSpPr>
          <p:nvPr/>
        </p:nvSpPr>
        <p:spPr bwMode="auto">
          <a:xfrm>
            <a:off x="4168775" y="5054600"/>
            <a:ext cx="254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2" name="Rectangle 2054"/>
          <p:cNvSpPr>
            <a:spLocks noChangeArrowheads="1"/>
          </p:cNvSpPr>
          <p:nvPr/>
        </p:nvSpPr>
        <p:spPr bwMode="auto">
          <a:xfrm>
            <a:off x="3775075" y="3644901"/>
            <a:ext cx="1744132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Instr. Set Proc.</a:t>
            </a:r>
          </a:p>
        </p:txBody>
      </p:sp>
      <p:sp>
        <p:nvSpPr>
          <p:cNvPr id="208903" name="Rectangle 2055"/>
          <p:cNvSpPr>
            <a:spLocks noChangeArrowheads="1"/>
          </p:cNvSpPr>
          <p:nvPr/>
        </p:nvSpPr>
        <p:spPr bwMode="auto">
          <a:xfrm>
            <a:off x="3743326" y="3625851"/>
            <a:ext cx="31115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4" name="Line 2056"/>
          <p:cNvSpPr>
            <a:spLocks noChangeShapeType="1"/>
          </p:cNvSpPr>
          <p:nvPr/>
        </p:nvSpPr>
        <p:spPr bwMode="auto">
          <a:xfrm>
            <a:off x="5565775" y="3619501"/>
            <a:ext cx="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05" name="Rectangle 2057"/>
          <p:cNvSpPr>
            <a:spLocks noChangeArrowheads="1"/>
          </p:cNvSpPr>
          <p:nvPr/>
        </p:nvSpPr>
        <p:spPr bwMode="auto">
          <a:xfrm>
            <a:off x="4181475" y="3086101"/>
            <a:ext cx="1128515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Compiler</a:t>
            </a:r>
          </a:p>
        </p:txBody>
      </p:sp>
      <p:sp>
        <p:nvSpPr>
          <p:cNvPr id="208906" name="Rectangle 2058"/>
          <p:cNvSpPr>
            <a:spLocks noChangeArrowheads="1"/>
          </p:cNvSpPr>
          <p:nvPr/>
        </p:nvSpPr>
        <p:spPr bwMode="auto">
          <a:xfrm>
            <a:off x="4137026" y="3105151"/>
            <a:ext cx="1130300" cy="33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7" name="Rectangle 2059"/>
          <p:cNvSpPr>
            <a:spLocks noChangeArrowheads="1"/>
          </p:cNvSpPr>
          <p:nvPr/>
        </p:nvSpPr>
        <p:spPr bwMode="auto">
          <a:xfrm>
            <a:off x="5286375" y="2400301"/>
            <a:ext cx="1218283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Operating</a:t>
            </a:r>
          </a:p>
        </p:txBody>
      </p:sp>
      <p:sp>
        <p:nvSpPr>
          <p:cNvPr id="208908" name="Rectangle 2060"/>
          <p:cNvSpPr>
            <a:spLocks noChangeArrowheads="1"/>
          </p:cNvSpPr>
          <p:nvPr/>
        </p:nvSpPr>
        <p:spPr bwMode="auto">
          <a:xfrm>
            <a:off x="5565775" y="2654301"/>
            <a:ext cx="948979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System</a:t>
            </a:r>
          </a:p>
        </p:txBody>
      </p:sp>
      <p:sp>
        <p:nvSpPr>
          <p:cNvPr id="208909" name="Line 2061"/>
          <p:cNvSpPr>
            <a:spLocks noChangeShapeType="1"/>
          </p:cNvSpPr>
          <p:nvPr/>
        </p:nvSpPr>
        <p:spPr bwMode="auto">
          <a:xfrm flipV="1">
            <a:off x="4765675" y="24130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0" name="Line 2062"/>
          <p:cNvSpPr>
            <a:spLocks noChangeShapeType="1"/>
          </p:cNvSpPr>
          <p:nvPr/>
        </p:nvSpPr>
        <p:spPr bwMode="auto">
          <a:xfrm>
            <a:off x="4765675" y="24130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1" name="Line 2063"/>
          <p:cNvSpPr>
            <a:spLocks noChangeShapeType="1"/>
          </p:cNvSpPr>
          <p:nvPr/>
        </p:nvSpPr>
        <p:spPr bwMode="auto">
          <a:xfrm>
            <a:off x="6746875" y="24130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2" name="Rectangle 2064"/>
          <p:cNvSpPr>
            <a:spLocks noChangeArrowheads="1"/>
          </p:cNvSpPr>
          <p:nvPr/>
        </p:nvSpPr>
        <p:spPr bwMode="auto">
          <a:xfrm>
            <a:off x="3927477" y="2057401"/>
            <a:ext cx="1384995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Application</a:t>
            </a:r>
          </a:p>
        </p:txBody>
      </p:sp>
      <p:sp>
        <p:nvSpPr>
          <p:cNvPr id="208913" name="Line 2065"/>
          <p:cNvSpPr>
            <a:spLocks noChangeShapeType="1"/>
          </p:cNvSpPr>
          <p:nvPr/>
        </p:nvSpPr>
        <p:spPr bwMode="auto">
          <a:xfrm flipV="1">
            <a:off x="3698875" y="1955800"/>
            <a:ext cx="0" cy="1447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4" name="Line 2066"/>
          <p:cNvSpPr>
            <a:spLocks noChangeShapeType="1"/>
          </p:cNvSpPr>
          <p:nvPr/>
        </p:nvSpPr>
        <p:spPr bwMode="auto">
          <a:xfrm>
            <a:off x="6518275" y="1955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5" name="Rectangle 2067"/>
          <p:cNvSpPr>
            <a:spLocks noChangeArrowheads="1"/>
          </p:cNvSpPr>
          <p:nvPr/>
        </p:nvSpPr>
        <p:spPr bwMode="auto">
          <a:xfrm>
            <a:off x="4448177" y="4533901"/>
            <a:ext cx="1667123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Digital Design</a:t>
            </a:r>
          </a:p>
        </p:txBody>
      </p:sp>
      <p:sp>
        <p:nvSpPr>
          <p:cNvPr id="208916" name="Rectangle 2068"/>
          <p:cNvSpPr>
            <a:spLocks noChangeArrowheads="1"/>
          </p:cNvSpPr>
          <p:nvPr/>
        </p:nvSpPr>
        <p:spPr bwMode="auto">
          <a:xfrm>
            <a:off x="3984626" y="4502151"/>
            <a:ext cx="2654300" cy="34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17" name="Rectangle 2069"/>
          <p:cNvSpPr>
            <a:spLocks noChangeArrowheads="1"/>
          </p:cNvSpPr>
          <p:nvPr/>
        </p:nvSpPr>
        <p:spPr bwMode="auto">
          <a:xfrm>
            <a:off x="4384677" y="4826001"/>
            <a:ext cx="1692771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Circuit Design</a:t>
            </a:r>
          </a:p>
        </p:txBody>
      </p:sp>
      <p:sp>
        <p:nvSpPr>
          <p:cNvPr id="208918" name="Rectangle 2070"/>
          <p:cNvSpPr>
            <a:spLocks noChangeArrowheads="1"/>
          </p:cNvSpPr>
          <p:nvPr/>
        </p:nvSpPr>
        <p:spPr bwMode="auto">
          <a:xfrm>
            <a:off x="4137026" y="4857751"/>
            <a:ext cx="2247900" cy="215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19" name="Rectangle 2071"/>
          <p:cNvSpPr>
            <a:spLocks noChangeArrowheads="1"/>
          </p:cNvSpPr>
          <p:nvPr/>
        </p:nvSpPr>
        <p:spPr bwMode="auto">
          <a:xfrm>
            <a:off x="3476626" y="3460751"/>
            <a:ext cx="3924300" cy="139700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20" name="Rectangle 2072"/>
          <p:cNvSpPr>
            <a:spLocks noChangeArrowheads="1"/>
          </p:cNvSpPr>
          <p:nvPr/>
        </p:nvSpPr>
        <p:spPr bwMode="auto">
          <a:xfrm>
            <a:off x="7445375" y="3302005"/>
            <a:ext cx="1727200" cy="522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85000"/>
              </a:lnSpc>
            </a:pPr>
            <a:r>
              <a:rPr lang="en-US" altLang="zh-CN" b="1">
                <a:latin typeface="Arial" charset="0"/>
              </a:rPr>
              <a:t>Instruction Set</a:t>
            </a:r>
          </a:p>
          <a:p>
            <a:pPr algn="l" eaLnBrk="0" hangingPunct="0">
              <a:lnSpc>
                <a:spcPct val="85000"/>
              </a:lnSpc>
            </a:pPr>
            <a:r>
              <a:rPr lang="en-US" altLang="zh-CN" b="1">
                <a:latin typeface="Arial" charset="0"/>
              </a:rPr>
              <a:t> Architecture</a:t>
            </a:r>
          </a:p>
        </p:txBody>
      </p:sp>
      <p:sp>
        <p:nvSpPr>
          <p:cNvPr id="208921" name="Rectangle 2073"/>
          <p:cNvSpPr>
            <a:spLocks noChangeArrowheads="1"/>
          </p:cNvSpPr>
          <p:nvPr/>
        </p:nvSpPr>
        <p:spPr bwMode="auto">
          <a:xfrm>
            <a:off x="5553075" y="3086101"/>
            <a:ext cx="1154163" cy="31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 eaLnBrk="0" hangingPunct="0">
              <a:lnSpc>
                <a:spcPct val="102000"/>
              </a:lnSpc>
            </a:pPr>
            <a:r>
              <a:rPr lang="en-US" altLang="zh-CN" b="1">
                <a:latin typeface="Arial" charset="0"/>
              </a:rPr>
              <a:t>Firmware</a:t>
            </a:r>
          </a:p>
        </p:txBody>
      </p:sp>
      <p:sp>
        <p:nvSpPr>
          <p:cNvPr id="208922" name="Rectangle 2074"/>
          <p:cNvSpPr>
            <a:spLocks noChangeArrowheads="1"/>
          </p:cNvSpPr>
          <p:nvPr/>
        </p:nvSpPr>
        <p:spPr bwMode="auto">
          <a:xfrm>
            <a:off x="5508626" y="3105151"/>
            <a:ext cx="1130300" cy="33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23" name="Line 2075"/>
          <p:cNvSpPr>
            <a:spLocks noChangeShapeType="1"/>
          </p:cNvSpPr>
          <p:nvPr/>
        </p:nvSpPr>
        <p:spPr bwMode="auto">
          <a:xfrm>
            <a:off x="3698875" y="1955800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4" name="Rectangle 2076"/>
          <p:cNvSpPr>
            <a:spLocks noChangeArrowheads="1"/>
          </p:cNvSpPr>
          <p:nvPr/>
        </p:nvSpPr>
        <p:spPr bwMode="auto">
          <a:xfrm>
            <a:off x="4141792" y="4067178"/>
            <a:ext cx="2350003" cy="36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1" rIns="90488" bIns="44451">
            <a:spAutoFit/>
          </a:bodyPr>
          <a:lstStyle/>
          <a:p>
            <a:pPr algn="l" eaLnBrk="0" hangingPunct="0"/>
            <a:r>
              <a:rPr lang="en-US" altLang="zh-CN" b="1">
                <a:latin typeface="Arial" charset="0"/>
              </a:rPr>
              <a:t>Datapath &amp; Control </a:t>
            </a:r>
          </a:p>
        </p:txBody>
      </p:sp>
      <p:sp>
        <p:nvSpPr>
          <p:cNvPr id="208925" name="Rectangle 2077"/>
          <p:cNvSpPr>
            <a:spLocks noChangeArrowheads="1"/>
          </p:cNvSpPr>
          <p:nvPr/>
        </p:nvSpPr>
        <p:spPr bwMode="auto">
          <a:xfrm>
            <a:off x="3857626" y="4019551"/>
            <a:ext cx="28829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26" name="Rectangle 2078"/>
          <p:cNvSpPr>
            <a:spLocks noChangeArrowheads="1"/>
          </p:cNvSpPr>
          <p:nvPr/>
        </p:nvSpPr>
        <p:spPr bwMode="auto">
          <a:xfrm>
            <a:off x="4827588" y="5080003"/>
            <a:ext cx="854403" cy="33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1" rIns="90488" bIns="44451">
            <a:spAutoFit/>
          </a:bodyPr>
          <a:lstStyle/>
          <a:p>
            <a:pPr algn="l" eaLnBrk="0" hangingPunct="0"/>
            <a:r>
              <a:rPr lang="en-US" altLang="zh-CN" sz="1600" b="1"/>
              <a:t>Layout</a:t>
            </a:r>
          </a:p>
        </p:txBody>
      </p:sp>
      <p:sp>
        <p:nvSpPr>
          <p:cNvPr id="208927" name="Rectangle 2079"/>
          <p:cNvSpPr>
            <a:spLocks noChangeArrowheads="1"/>
          </p:cNvSpPr>
          <p:nvPr/>
        </p:nvSpPr>
        <p:spPr bwMode="auto">
          <a:xfrm>
            <a:off x="4238626" y="5086351"/>
            <a:ext cx="2044700" cy="215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0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0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0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0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0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0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0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0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0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/>
      <p:bldP spid="208901" grpId="0" animBg="1"/>
      <p:bldP spid="208902" grpId="0"/>
      <p:bldP spid="208903" grpId="0" animBg="1"/>
      <p:bldP spid="208904" grpId="0" animBg="1"/>
      <p:bldP spid="208905" grpId="0"/>
      <p:bldP spid="208906" grpId="0" animBg="1"/>
      <p:bldP spid="208907" grpId="0"/>
      <p:bldP spid="208908" grpId="0"/>
      <p:bldP spid="208909" grpId="0" animBg="1"/>
      <p:bldP spid="208910" grpId="0" animBg="1"/>
      <p:bldP spid="208911" grpId="0" animBg="1"/>
      <p:bldP spid="208912" grpId="0"/>
      <p:bldP spid="208913" grpId="0" animBg="1"/>
      <p:bldP spid="208914" grpId="0" animBg="1"/>
      <p:bldP spid="208915" grpId="0"/>
      <p:bldP spid="208916" grpId="0" animBg="1"/>
      <p:bldP spid="208917" grpId="0"/>
      <p:bldP spid="208918" grpId="0" animBg="1"/>
      <p:bldP spid="208919" grpId="0" animBg="1"/>
      <p:bldP spid="208920" grpId="0"/>
      <p:bldP spid="208921" grpId="0"/>
      <p:bldP spid="208922" grpId="0" animBg="1"/>
      <p:bldP spid="208923" grpId="0" animBg="1"/>
      <p:bldP spid="208924" grpId="0"/>
      <p:bldP spid="208925" grpId="0" animBg="1"/>
      <p:bldP spid="208926" grpId="0"/>
      <p:bldP spid="2089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Computer Architecture</a:t>
            </a:r>
          </a:p>
        </p:txBody>
      </p:sp>
      <p:pic>
        <p:nvPicPr>
          <p:cNvPr id="6149" name="Picture 4" descr="计算机系统结构（搞笑）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7520" y="1340768"/>
            <a:ext cx="7976960" cy="43624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 Computer Architecture</a:t>
            </a:r>
            <a:endParaRPr lang="en-US" altLang="zh-CN" dirty="0"/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Difference with Instruction Set</a:t>
            </a:r>
          </a:p>
          <a:p>
            <a:r>
              <a:rPr lang="en-US" altLang="zh-CN"/>
              <a:t>Difference with Computer Organization</a:t>
            </a:r>
          </a:p>
          <a:p>
            <a:r>
              <a:rPr lang="en-US" altLang="zh-CN"/>
              <a:t>Difference with Computer Implementation</a:t>
            </a:r>
          </a:p>
          <a:p>
            <a:r>
              <a:rPr lang="en-US" altLang="zh-CN"/>
              <a:t>Categories of Computer science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are the difficult problems?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Develop the performance of single processor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More transistors, less feature size/</a:t>
            </a:r>
            <a:r>
              <a:rPr lang="en-US" altLang="zh-CN" dirty="0" err="1">
                <a:sym typeface="Symbol" pitchFamily="18" charset="2"/>
              </a:rPr>
              <a:t>onechip</a:t>
            </a:r>
            <a:r>
              <a:rPr lang="en-US" altLang="zh-CN" dirty="0">
                <a:sym typeface="Symbol" pitchFamily="18" charset="2"/>
              </a:rPr>
              <a:t>; 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High frequency 2.0-3.5GHz;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Low voltage 0.9-1.2V </a:t>
            </a:r>
          </a:p>
          <a:p>
            <a:pPr lvl="1"/>
            <a:r>
              <a:rPr lang="en-US" altLang="zh-CN" dirty="0"/>
              <a:t>Embedded Computer System</a:t>
            </a:r>
          </a:p>
          <a:p>
            <a:pPr lvl="1"/>
            <a:r>
              <a:rPr lang="en-US" altLang="zh-CN" dirty="0"/>
              <a:t>Reconfigurable computer Architecture</a:t>
            </a:r>
          </a:p>
          <a:p>
            <a:pPr lvl="1"/>
            <a:r>
              <a:rPr lang="en-US" altLang="zh-CN" dirty="0"/>
              <a:t>Power-aware computer Architecture</a:t>
            </a:r>
          </a:p>
        </p:txBody>
      </p:sp>
      <p:pic>
        <p:nvPicPr>
          <p:cNvPr id="9" name="Picture 7" descr="示意图&#10;&#10;中度可信度描述已自动生成">
            <a:extLst>
              <a:ext uri="{FF2B5EF4-FFF2-40B4-BE49-F238E27FC236}">
                <a16:creationId xmlns:a16="http://schemas.microsoft.com/office/drawing/2014/main" id="{2958535E-79D1-46FB-9A0E-1570C21A81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2852936"/>
            <a:ext cx="3788668" cy="2131126"/>
          </a:xfrm>
          <a:prstGeom prst="rect">
            <a:avLst/>
          </a:prstGeom>
        </p:spPr>
      </p:pic>
      <p:pic>
        <p:nvPicPr>
          <p:cNvPr id="10" name="Picture 2" descr="Google CEO Sundar Pichai presenting about the company’s latest AI chip the TPU V4 (Tensor Processing Unit version 4).">
            <a:extLst>
              <a:ext uri="{FF2B5EF4-FFF2-40B4-BE49-F238E27FC236}">
                <a16:creationId xmlns:a16="http://schemas.microsoft.com/office/drawing/2014/main" id="{6B3C8161-3629-464B-9816-FC6F645DF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5" b="42968"/>
          <a:stretch/>
        </p:blipFill>
        <p:spPr bwMode="auto">
          <a:xfrm>
            <a:off x="7680176" y="2852936"/>
            <a:ext cx="3995412" cy="203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179C2E8-A834-4F5D-B61F-5B73916D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are the difficult problems?</a:t>
            </a:r>
            <a:endParaRPr lang="zh-CN" altLang="en-US" dirty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286059" cy="4419600"/>
          </a:xfrm>
        </p:spPr>
        <p:txBody>
          <a:bodyPr/>
          <a:lstStyle/>
          <a:p>
            <a:r>
              <a:rPr lang="en-US" altLang="zh-CN" sz="2400" dirty="0"/>
              <a:t>Huge hunger for data and new data-intensive applications</a:t>
            </a:r>
          </a:p>
          <a:p>
            <a:r>
              <a:rPr lang="en-US" altLang="zh-CN" sz="2400" dirty="0"/>
              <a:t>Power/energy/thermal constraints </a:t>
            </a:r>
          </a:p>
          <a:p>
            <a:r>
              <a:rPr lang="en-US" altLang="zh-CN" sz="2400" dirty="0"/>
              <a:t>Complexity of design </a:t>
            </a:r>
          </a:p>
          <a:p>
            <a:r>
              <a:rPr lang="en-US" altLang="zh-CN" sz="2400" dirty="0"/>
              <a:t>Difficulties in technology scaling</a:t>
            </a:r>
          </a:p>
          <a:p>
            <a:r>
              <a:rPr lang="en-US" altLang="zh-CN" sz="2400" dirty="0"/>
              <a:t>Memory bottleneck</a:t>
            </a:r>
          </a:p>
          <a:p>
            <a:r>
              <a:rPr lang="en-US" altLang="zh-CN" sz="2400" dirty="0"/>
              <a:t>Reliability problems</a:t>
            </a:r>
          </a:p>
          <a:p>
            <a:r>
              <a:rPr lang="en-US" altLang="zh-CN" sz="2400" dirty="0"/>
              <a:t>Programmability problems</a:t>
            </a:r>
          </a:p>
          <a:p>
            <a:r>
              <a:rPr lang="en-US" altLang="zh-CN" sz="2400" dirty="0"/>
              <a:t>Security and privacy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F96D056-85A4-4540-8BE3-771AD0A6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are the difficult problems?</a:t>
            </a:r>
            <a:endParaRPr lang="zh-CN" altLang="en-US" dirty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New apparatus to make processor</a:t>
            </a:r>
          </a:p>
          <a:p>
            <a:pPr lvl="1"/>
            <a:r>
              <a:rPr lang="en-US" altLang="zh-CN" dirty="0"/>
              <a:t>Light computer</a:t>
            </a:r>
          </a:p>
          <a:p>
            <a:pPr lvl="1"/>
            <a:r>
              <a:rPr lang="en-US" altLang="zh-CN" dirty="0"/>
              <a:t>Molecule computer</a:t>
            </a:r>
          </a:p>
          <a:p>
            <a:pPr lvl="1"/>
            <a:r>
              <a:rPr lang="en-US" altLang="zh-CN" dirty="0"/>
              <a:t>DNA computer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 10, 11/2009</a:t>
            </a:r>
          </a:p>
        </p:txBody>
      </p:sp>
      <p:graphicFrame>
        <p:nvGraphicFramePr>
          <p:cNvPr id="365733" name="Group 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44249"/>
              </p:ext>
            </p:extLst>
          </p:nvPr>
        </p:nvGraphicFramePr>
        <p:xfrm>
          <a:off x="1688207" y="938439"/>
          <a:ext cx="8784530" cy="5690970"/>
        </p:xfrm>
        <a:graphic>
          <a:graphicData uri="http://schemas.openxmlformats.org/drawingml/2006/table">
            <a:tbl>
              <a:tblPr/>
              <a:tblGrid>
                <a:gridCol w="95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2"/>
                        </a:rPr>
                        <a:t>Jaguar - Cray XT5-HE Opteron Six Core 2.6 GHz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5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2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Roadrunner -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BladeCenter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 QS22/LS21 Cluster,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PowerXCell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 8i 3.2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Ghz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 / Opteron DC 1.8 GHz, Voltaire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3"/>
                        </a:rPr>
                        <a:t>Infiniband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3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4"/>
                        </a:rPr>
                        <a:t>Kraken XT5 - Cray XT5-HE Opteron Six Core 2.6 GHz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4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5"/>
                        </a:rPr>
                        <a:t>JUGENE - Blue Gene/P Solution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5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6"/>
                        </a:rPr>
                        <a:t>Tianhe-1 - NUDT TH-1 Cluster, Xeon E5540/E5450, ATI Radeon HD 4870,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6"/>
                        </a:rPr>
                        <a:t>Infiniband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7"/>
                        </a:rPr>
                        <a:t>Pleiades - SGI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7"/>
                        </a:rPr>
                        <a:t>Altix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7"/>
                        </a:rPr>
                        <a:t> ICE 8200EX, Xeon QC 3.0 GHz/Nehalem EP 2.93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7"/>
                        </a:rPr>
                        <a:t>Ghz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8"/>
                        </a:rPr>
                        <a:t>BlueGene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8"/>
                        </a:rPr>
                        <a:t>/L - eServer Blue Gene Solution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9"/>
                        </a:rPr>
                        <a:t>Blue Gene/P Solution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9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9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0"/>
                        </a:rPr>
                        <a:t>Ranger -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0"/>
                        </a:rPr>
                        <a:t>SunBlade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0"/>
                        </a:rPr>
                        <a:t> x6420, Opteron QC 2.3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0"/>
                        </a:rPr>
                        <a:t>Ghz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0"/>
                        </a:rPr>
                        <a:t>,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0"/>
                        </a:rPr>
                        <a:t>Infiniband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10</a:t>
                      </a:r>
                      <a:endParaRPr kumimoji="1" lang="en-US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1"/>
                        </a:rPr>
                        <a:t>Red Sky - Sun Blade x6275, Xeon X55xx 2.93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1"/>
                        </a:rPr>
                        <a:t>Ghz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1"/>
                        </a:rPr>
                        <a:t>, 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  <a:hlinkClick r:id="rId11"/>
                        </a:rPr>
                        <a:t>Infiniband</a:t>
                      </a:r>
                      <a:endParaRPr kumimoji="1" lang="en-US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 10, 11/2010</a:t>
            </a:r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00290"/>
              </p:ext>
            </p:extLst>
          </p:nvPr>
        </p:nvGraphicFramePr>
        <p:xfrm>
          <a:off x="1919540" y="949326"/>
          <a:ext cx="7991476" cy="5184774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162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5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dirty="0">
                          <a:effectLst/>
                        </a:rPr>
                        <a:t>1</a:t>
                      </a:r>
                      <a:endParaRPr lang="en-US" altLang="zh-CN" sz="1500" b="1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>
                          <a:effectLst/>
                          <a:hlinkClick r:id="rId2" action="ppaction://hlinkfile"/>
                        </a:rPr>
                        <a:t>Tianhe-1A - NUDT TH MPP, X5670 2.93Ghz 6C, NVIDIA GPU, FT-1000 8C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>
                    <a:solidFill>
                      <a:srgbClr val="3333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dirty="0">
                          <a:effectLst/>
                        </a:rPr>
                        <a:t>2</a:t>
                      </a:r>
                      <a:endParaRPr lang="en-US" altLang="zh-CN" sz="1500" b="1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>
                          <a:effectLst/>
                          <a:hlinkClick r:id="rId3" action="ppaction://hlinkfile"/>
                        </a:rPr>
                        <a:t>Jaguar - Cray XT5-HE Opteron 6-core 2.6 GHz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5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3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>
                          <a:effectLst/>
                          <a:hlinkClick r:id="rId4" action="ppaction://hlinkfile"/>
                        </a:rPr>
                        <a:t>Nebulae - Dawning TC3600 Blade, Intel X5650, NVidia Tesla C2050 GPU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2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4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>
                          <a:effectLst/>
                          <a:hlinkClick r:id="rId5" action="ppaction://hlinkfile"/>
                        </a:rPr>
                        <a:t>TSUBAME 2.0 - HP ProLiant SL390s G7 Xeon 6C X5670, Nvidia GPU, Linux/Windows</a:t>
                      </a:r>
                      <a:endParaRPr lang="en-US" sz="1500" b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5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>
                          <a:effectLst/>
                          <a:hlinkClick r:id="rId6" action="ppaction://hlinkfile"/>
                        </a:rPr>
                        <a:t>Hopper - Cray XE6 12-core 2.1 GHz</a:t>
                      </a:r>
                      <a:endParaRPr lang="en-US" sz="1500" b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dirty="0">
                          <a:effectLst/>
                        </a:rPr>
                        <a:t>6</a:t>
                      </a:r>
                      <a:endParaRPr lang="en-US" altLang="zh-CN" sz="1500" b="1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>
                          <a:effectLst/>
                          <a:hlinkClick r:id="rId7" action="ppaction://hlinkfile"/>
                        </a:rPr>
                        <a:t>Tera-100 - Bull </a:t>
                      </a:r>
                      <a:r>
                        <a:rPr lang="en-US" sz="1500" b="1" u="none" strike="noStrike" dirty="0" err="1">
                          <a:effectLst/>
                          <a:hlinkClick r:id="rId7" action="ppaction://hlinkfile"/>
                        </a:rPr>
                        <a:t>bullx</a:t>
                      </a:r>
                      <a:r>
                        <a:rPr lang="en-US" sz="1500" b="1" u="none" strike="noStrike" dirty="0">
                          <a:effectLst/>
                          <a:hlinkClick r:id="rId7" action="ppaction://hlinkfile"/>
                        </a:rPr>
                        <a:t> super-node S6010/S6030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7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>
                          <a:effectLst/>
                          <a:hlinkClick r:id="rId8" action="ppaction://hlinkfile"/>
                        </a:rPr>
                        <a:t>Roadrunner - BladeCenter QS22/LS21 Cluster, PowerXCell 8i 3.2 Ghz / Opteron DC 1.8 GHz, Voltaire Infiniband</a:t>
                      </a:r>
                      <a:endParaRPr lang="en-US" sz="1500" b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5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8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>
                          <a:effectLst/>
                          <a:hlinkClick r:id="rId9" action="ppaction://hlinkfile"/>
                        </a:rPr>
                        <a:t>Kraken XT5 - Cray XT5-HE Opteron 6-core 2.6 GHz</a:t>
                      </a:r>
                      <a:endParaRPr lang="en-US" sz="1500" b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3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9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>
                          <a:effectLst/>
                          <a:hlinkClick r:id="rId10" action="ppaction://hlinkfile"/>
                        </a:rPr>
                        <a:t>JUGENE - Blue Gene/P Solution</a:t>
                      </a:r>
                      <a:endParaRPr lang="en-US" sz="1500" b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3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>
                          <a:effectLst/>
                        </a:rPr>
                        <a:t>10</a:t>
                      </a:r>
                      <a:endParaRPr lang="en-US" altLang="zh-CN" sz="1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u="none" strike="noStrike" dirty="0" err="1">
                          <a:effectLst/>
                          <a:hlinkClick r:id="rId11" action="ppaction://hlinkfile"/>
                        </a:rPr>
                        <a:t>Cielo</a:t>
                      </a:r>
                      <a:r>
                        <a:rPr lang="en-US" sz="1500" b="1" u="none" strike="noStrike" dirty="0">
                          <a:effectLst/>
                          <a:hlinkClick r:id="rId11" action="ppaction://hlinkfile"/>
                        </a:rPr>
                        <a:t> - Cray XE6 8-core 2.4 GHz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5340" marR="35340" marT="35347" marB="3534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 10, 11/2011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15638"/>
              </p:ext>
            </p:extLst>
          </p:nvPr>
        </p:nvGraphicFramePr>
        <p:xfrm>
          <a:off x="1981200" y="1052736"/>
          <a:ext cx="7920882" cy="500001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58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2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3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 dirty="0">
                          <a:effectLst/>
                        </a:rPr>
                        <a:t>1</a:t>
                      </a:r>
                      <a:endParaRPr lang="en-US" altLang="zh-CN" sz="1300" b="1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>
                          <a:effectLst/>
                          <a:hlinkClick r:id="rId2" action="ppaction://hlinkfile"/>
                        </a:rPr>
                        <a:t>K computer, SPARC64 VIIIfx 2.0GHz, Tofu interconnect</a:t>
                      </a:r>
                      <a:endParaRPr lang="en-US" sz="1300" b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3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2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3" action="ppaction://hlinkfile"/>
                        </a:rPr>
                        <a:t>NUDT YH MPP, Xeon X5670 6C 2.93 GHz, NVIDIA 2050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>
                    <a:solidFill>
                      <a:srgbClr val="3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3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4" action="ppaction://hlinkfile"/>
                        </a:rPr>
                        <a:t>Cray XT5-HE Opteron 6-core 2.6 GHz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3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4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5" action="ppaction://hlinkfile"/>
                        </a:rPr>
                        <a:t>Dawning TC3600 Blade, Intel X5650, NVidia Tesla C2050 GPU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>
                    <a:solidFill>
                      <a:srgbClr val="3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3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5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6" action="ppaction://hlinkfile"/>
                        </a:rPr>
                        <a:t>HP </a:t>
                      </a:r>
                      <a:r>
                        <a:rPr lang="en-US" sz="1300" b="1" u="none" strike="noStrike" dirty="0" err="1">
                          <a:effectLst/>
                          <a:hlinkClick r:id="rId6" action="ppaction://hlinkfile"/>
                        </a:rPr>
                        <a:t>ProLiant</a:t>
                      </a:r>
                      <a:r>
                        <a:rPr lang="en-US" sz="1300" b="1" u="none" strike="noStrike" dirty="0">
                          <a:effectLst/>
                          <a:hlinkClick r:id="rId6" action="ppaction://hlinkfile"/>
                        </a:rPr>
                        <a:t> SL390s G7 Xeon 6C X5670, </a:t>
                      </a:r>
                      <a:r>
                        <a:rPr lang="en-US" sz="1300" b="1" u="none" strike="noStrike" dirty="0" err="1">
                          <a:effectLst/>
                          <a:hlinkClick r:id="rId6" action="ppaction://hlinkfile"/>
                        </a:rPr>
                        <a:t>Nvidia</a:t>
                      </a:r>
                      <a:r>
                        <a:rPr lang="en-US" sz="1300" b="1" u="none" strike="noStrike" dirty="0">
                          <a:effectLst/>
                          <a:hlinkClick r:id="rId6" action="ppaction://hlinkfile"/>
                        </a:rPr>
                        <a:t> GPU, Linux/Windows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6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7" action="ppaction://hlinkfile"/>
                        </a:rPr>
                        <a:t>Cray XE6, Opteron 6136 8C 2.40GHz, Custom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0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7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8" action="ppaction://hlinkfile"/>
                        </a:rPr>
                        <a:t>SGI </a:t>
                      </a:r>
                      <a:r>
                        <a:rPr lang="en-US" sz="1300" b="1" u="none" strike="noStrike" dirty="0" err="1">
                          <a:effectLst/>
                          <a:hlinkClick r:id="rId8" action="ppaction://hlinkfile"/>
                        </a:rPr>
                        <a:t>Altix</a:t>
                      </a:r>
                      <a:r>
                        <a:rPr lang="en-US" sz="1300" b="1" u="none" strike="noStrike" dirty="0">
                          <a:effectLst/>
                          <a:hlinkClick r:id="rId8" action="ppaction://hlinkfile"/>
                        </a:rPr>
                        <a:t> ICE 8200EX/8400EX, Xeon HT QC 3.0/Xeon 5570/5670 2.93 </a:t>
                      </a:r>
                      <a:r>
                        <a:rPr lang="en-US" sz="1300" b="1" u="none" strike="noStrike" dirty="0" err="1">
                          <a:effectLst/>
                          <a:hlinkClick r:id="rId8" action="ppaction://hlinkfile"/>
                        </a:rPr>
                        <a:t>Ghz</a:t>
                      </a:r>
                      <a:r>
                        <a:rPr lang="en-US" sz="1300" b="1" u="none" strike="noStrike" dirty="0">
                          <a:effectLst/>
                          <a:hlinkClick r:id="rId8" action="ppaction://hlinkfile"/>
                        </a:rPr>
                        <a:t>, </a:t>
                      </a:r>
                      <a:r>
                        <a:rPr lang="en-US" sz="1300" b="1" u="none" strike="noStrike" dirty="0" err="1">
                          <a:effectLst/>
                          <a:hlinkClick r:id="rId8" action="ppaction://hlinkfile"/>
                        </a:rPr>
                        <a:t>Infiniband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3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 dirty="0">
                          <a:effectLst/>
                        </a:rPr>
                        <a:t>8</a:t>
                      </a:r>
                      <a:endParaRPr lang="en-US" altLang="zh-CN" sz="1300" b="1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9" action="ppaction://hlinkfile"/>
                        </a:rPr>
                        <a:t>Cray XE6, Opteron 6172 12C 2.10GHz, Custom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9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>
                          <a:effectLst/>
                          <a:hlinkClick r:id="rId10" action="ppaction://hlinkfile"/>
                        </a:rPr>
                        <a:t>Bull </a:t>
                      </a:r>
                      <a:r>
                        <a:rPr lang="en-US" sz="1300" b="1" u="none" strike="noStrike" dirty="0" err="1">
                          <a:effectLst/>
                          <a:hlinkClick r:id="rId10" action="ppaction://hlinkfile"/>
                        </a:rPr>
                        <a:t>bullx</a:t>
                      </a:r>
                      <a:r>
                        <a:rPr lang="en-US" sz="1300" b="1" u="none" strike="noStrike" dirty="0">
                          <a:effectLst/>
                          <a:hlinkClick r:id="rId10" action="ppaction://hlinkfile"/>
                        </a:rPr>
                        <a:t> super-node S6010/S6030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20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1">
                          <a:effectLst/>
                        </a:rPr>
                        <a:t>10</a:t>
                      </a:r>
                      <a:endParaRPr lang="en-US" altLang="zh-CN" sz="13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u="none" strike="noStrike" dirty="0" err="1">
                          <a:effectLst/>
                          <a:hlinkClick r:id="rId11" action="ppaction://hlinkfile"/>
                        </a:rPr>
                        <a:t>BladeCenter</a:t>
                      </a:r>
                      <a:r>
                        <a:rPr lang="en-US" sz="1300" b="1" u="none" strike="noStrike" dirty="0">
                          <a:effectLst/>
                          <a:hlinkClick r:id="rId11" action="ppaction://hlinkfile"/>
                        </a:rPr>
                        <a:t> QS22/LS21 Cluster, </a:t>
                      </a:r>
                      <a:r>
                        <a:rPr lang="en-US" sz="1300" b="1" u="none" strike="noStrike" dirty="0" err="1">
                          <a:effectLst/>
                          <a:hlinkClick r:id="rId11" action="ppaction://hlinkfile"/>
                        </a:rPr>
                        <a:t>PowerXCell</a:t>
                      </a:r>
                      <a:r>
                        <a:rPr lang="en-US" sz="1300" b="1" u="none" strike="noStrike" dirty="0">
                          <a:effectLst/>
                          <a:hlinkClick r:id="rId11" action="ppaction://hlinkfile"/>
                        </a:rPr>
                        <a:t> 8i 3.2 </a:t>
                      </a:r>
                      <a:r>
                        <a:rPr lang="en-US" sz="1300" b="1" u="none" strike="noStrike" dirty="0" err="1">
                          <a:effectLst/>
                          <a:hlinkClick r:id="rId11" action="ppaction://hlinkfile"/>
                        </a:rPr>
                        <a:t>Ghz</a:t>
                      </a:r>
                      <a:r>
                        <a:rPr lang="en-US" sz="1300" b="1" u="none" strike="noStrike" dirty="0">
                          <a:effectLst/>
                          <a:hlinkClick r:id="rId11" action="ppaction://hlinkfile"/>
                        </a:rPr>
                        <a:t> / Opteron DC 1.8 GHz, Voltaire </a:t>
                      </a:r>
                      <a:r>
                        <a:rPr lang="en-US" sz="1300" b="1" u="none" strike="noStrike" dirty="0" err="1">
                          <a:effectLst/>
                          <a:hlinkClick r:id="rId11" action="ppaction://hlinkfile"/>
                        </a:rPr>
                        <a:t>Infiniband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3840" marR="33840" marT="33840" marB="3384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1">
            <a:hlinkClick r:id="rId11"/>
          </p:cNvPr>
          <p:cNvSpPr>
            <a:spLocks noChangeArrowheads="1"/>
          </p:cNvSpPr>
          <p:nvPr/>
        </p:nvSpPr>
        <p:spPr bwMode="auto">
          <a:xfrm>
            <a:off x="2820991" y="1552542"/>
            <a:ext cx="184731" cy="403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79351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15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85624-35C4-42D4-8F67-C832D288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 10, 11/2017</a:t>
            </a:r>
            <a:endParaRPr lang="zh-CN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ABA198D-9EF2-473E-A938-D6999C9E5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965422"/>
              </p:ext>
            </p:extLst>
          </p:nvPr>
        </p:nvGraphicFramePr>
        <p:xfrm>
          <a:off x="1548036" y="908383"/>
          <a:ext cx="8801992" cy="586982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72487">
                  <a:extLst>
                    <a:ext uri="{9D8B030D-6E8A-4147-A177-3AD203B41FA5}">
                      <a16:colId xmlns:a16="http://schemas.microsoft.com/office/drawing/2014/main" val="599607874"/>
                    </a:ext>
                  </a:extLst>
                </a:gridCol>
                <a:gridCol w="5150499">
                  <a:extLst>
                    <a:ext uri="{9D8B030D-6E8A-4147-A177-3AD203B41FA5}">
                      <a16:colId xmlns:a16="http://schemas.microsoft.com/office/drawing/2014/main" val="229045542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02440616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843544980"/>
                    </a:ext>
                  </a:extLst>
                </a:gridCol>
                <a:gridCol w="850335">
                  <a:extLst>
                    <a:ext uri="{9D8B030D-6E8A-4147-A177-3AD203B41FA5}">
                      <a16:colId xmlns:a16="http://schemas.microsoft.com/office/drawing/2014/main" val="4154037733"/>
                    </a:ext>
                  </a:extLst>
                </a:gridCol>
                <a:gridCol w="572487">
                  <a:extLst>
                    <a:ext uri="{9D8B030D-6E8A-4147-A177-3AD203B41FA5}">
                      <a16:colId xmlns:a16="http://schemas.microsoft.com/office/drawing/2014/main" val="1085488882"/>
                    </a:ext>
                  </a:extLst>
                </a:gridCol>
              </a:tblGrid>
              <a:tr h="6778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Rank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System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Cores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Rmax (TFlop/s)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Rpeak (TFlop/s)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Power (kW)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2613773241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Sunway </a:t>
                      </a:r>
                      <a:r>
                        <a:rPr lang="en-US" sz="1500" u="none" strike="noStrike" dirty="0" err="1">
                          <a:effectLst/>
                        </a:rPr>
                        <a:t>TaihuLight</a:t>
                      </a:r>
                      <a:r>
                        <a:rPr lang="en-US" sz="1500" u="none" strike="noStrike" dirty="0">
                          <a:effectLst/>
                        </a:rPr>
                        <a:t> - Sunway MPP, Sunway SW26010 260C 1.45GHz, Sunway , NRCPC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10,649,600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93,014.6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125,435.9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15,371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595810822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Tianhe-2A - TH-IVB-FEP Cluster, Intel Xeon E5-2692 12C 2.200GHz, TH Express-2, Intel Xeon Phi 31S1P , NUDT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3,120,000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33,862.7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54,902.4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17,808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2657200716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3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</a:rPr>
                        <a:t>Piz </a:t>
                      </a:r>
                      <a:r>
                        <a:rPr lang="en-US" sz="1500" u="none" strike="noStrike" dirty="0" err="1">
                          <a:effectLst/>
                        </a:rPr>
                        <a:t>Daint</a:t>
                      </a:r>
                      <a:r>
                        <a:rPr lang="en-US" sz="1500" u="none" strike="noStrike" dirty="0">
                          <a:effectLst/>
                        </a:rPr>
                        <a:t> - Cray XC50, Xeon E5-2690v3 12C 2.6GHz, Aries interconnect , NVIDIA Tesla P100 , Cray Inc.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361,760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19,590.0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25,326.3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2,272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2756312218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4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 err="1">
                          <a:effectLst/>
                        </a:rPr>
                        <a:t>Gyoukou</a:t>
                      </a:r>
                      <a:r>
                        <a:rPr lang="en-US" sz="1500" u="none" strike="noStrike" dirty="0">
                          <a:effectLst/>
                        </a:rPr>
                        <a:t> - ZettaScaler-2.2 HPC system, Xeon D-1571 16C 1.3GHz, </a:t>
                      </a:r>
                      <a:r>
                        <a:rPr lang="en-US" sz="1500" u="none" strike="noStrike" dirty="0" err="1">
                          <a:effectLst/>
                        </a:rPr>
                        <a:t>Infiniband</a:t>
                      </a:r>
                      <a:r>
                        <a:rPr lang="en-US" sz="1500" u="none" strike="noStrike" dirty="0">
                          <a:effectLst/>
                        </a:rPr>
                        <a:t> EDR, PEZY-SC2 700Mhz , </a:t>
                      </a:r>
                      <a:r>
                        <a:rPr lang="en-US" sz="1500" u="none" strike="noStrike" dirty="0" err="1">
                          <a:effectLst/>
                        </a:rPr>
                        <a:t>ExaScaler</a:t>
                      </a:r>
                      <a:r>
                        <a:rPr lang="en-US" sz="1500" u="none" strike="noStrike" dirty="0">
                          <a:effectLst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19,860,000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19,135.8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28,192.0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1,350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211256557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5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Titan - Cray XK7, Opteron 6274 16C 2.200GHz, Cray Gemini interconnect, NVIDIA K20x , Cray Inc.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560,640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17,590.0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27,112.5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8,209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773251972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6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Sequoia - BlueGene/Q, Power BQC 16C 1.60 GHz, Custom , IBM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1,572,864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17,173.2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20,132.7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7,890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1201579217"/>
                  </a:ext>
                </a:extLst>
              </a:tr>
              <a:tr h="45432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7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Trinity - Cray XC40, Intel Xeon Phi 7250 68C 1.4GHz, Aries interconnect , Cray Inc.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979,968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14,137.3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43,902.6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3,844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1812975419"/>
                  </a:ext>
                </a:extLst>
              </a:tr>
              <a:tr h="45432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8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Cori - Cray XC40, Intel Xeon Phi 7250 68C 1.4GHz, Aries interconnect , Cray Inc.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622,336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14,014.7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27,880.7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3,939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124888471"/>
                  </a:ext>
                </a:extLst>
              </a:tr>
              <a:tr h="5404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9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Oakforest-PACS - PRIMERGY CX1640 M1, Intel Xeon Phi 7250 68C 1.4GHz, Intel Omni-Path , Fujitsu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556,104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13,554.6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24,913.5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2,719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3500969583"/>
                  </a:ext>
                </a:extLst>
              </a:tr>
              <a:tr h="45432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K computer, SPARC64 VIIIfx 2.0GHz, Tofu interconnect , Fujitsu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705,024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10,510.0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11,280.4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12,660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88" marR="7288" marT="7288" marB="0" anchor="ctr"/>
                </a:tc>
                <a:extLst>
                  <a:ext uri="{0D108BD9-81ED-4DB2-BD59-A6C34878D82A}">
                    <a16:rowId xmlns:a16="http://schemas.microsoft.com/office/drawing/2014/main" val="122261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21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B7442-75ED-B641-A839-5D363244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 10, 06/2019</a:t>
            </a:r>
            <a:endParaRPr kumimoji="1" lang="zh-CN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61D6D89B-FCDD-2C49-AD75-283650B78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154392"/>
              </p:ext>
            </p:extLst>
          </p:nvPr>
        </p:nvGraphicFramePr>
        <p:xfrm>
          <a:off x="1524000" y="726119"/>
          <a:ext cx="9144001" cy="629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367">
                  <a:extLst>
                    <a:ext uri="{9D8B030D-6E8A-4147-A177-3AD203B41FA5}">
                      <a16:colId xmlns:a16="http://schemas.microsoft.com/office/drawing/2014/main" val="339511843"/>
                    </a:ext>
                  </a:extLst>
                </a:gridCol>
                <a:gridCol w="5066923">
                  <a:extLst>
                    <a:ext uri="{9D8B030D-6E8A-4147-A177-3AD203B41FA5}">
                      <a16:colId xmlns:a16="http://schemas.microsoft.com/office/drawing/2014/main" val="3818077231"/>
                    </a:ext>
                  </a:extLst>
                </a:gridCol>
                <a:gridCol w="910431">
                  <a:extLst>
                    <a:ext uri="{9D8B030D-6E8A-4147-A177-3AD203B41FA5}">
                      <a16:colId xmlns:a16="http://schemas.microsoft.com/office/drawing/2014/main" val="2217877499"/>
                    </a:ext>
                  </a:extLst>
                </a:gridCol>
                <a:gridCol w="913948">
                  <a:extLst>
                    <a:ext uri="{9D8B030D-6E8A-4147-A177-3AD203B41FA5}">
                      <a16:colId xmlns:a16="http://schemas.microsoft.com/office/drawing/2014/main" val="4026721018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1117280262"/>
                    </a:ext>
                  </a:extLst>
                </a:gridCol>
                <a:gridCol w="669213">
                  <a:extLst>
                    <a:ext uri="{9D8B030D-6E8A-4147-A177-3AD203B41FA5}">
                      <a16:colId xmlns:a16="http://schemas.microsoft.com/office/drawing/2014/main" val="3528986874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Rank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System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Cores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Rmax (TFlop/s)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Rpeak (TFlop/s)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Power (kW)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0041073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Summit - IBM Power System AC922, IBM POWER9 22C 3.07GHz, NVIDIA Volta GV100, Dual-rail Mellanox EDR </a:t>
                      </a:r>
                      <a:r>
                        <a:rPr lang="e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Infiniband</a:t>
                      </a:r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, IBM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2,414,592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148,600.00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200,794.90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10,096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672771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Sierra - IBM Power System S922LC, IBM POWER9 22C 3.1GHz, NVIDIA Volta GV100, Dual-rail Mellanox EDR </a:t>
                      </a:r>
                      <a:r>
                        <a:rPr lang="e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Infiniband</a:t>
                      </a:r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, IBM / NVIDIA / Mellanox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1,572,480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94,640.00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125,712.00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7,438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3638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Sunway </a:t>
                      </a:r>
                      <a:r>
                        <a:rPr lang="e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TaihuLight</a:t>
                      </a:r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 Sunway MPP, Sunway SW26010 260C 1.45GHz, Sunway , NRCPC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10,649,600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93,014.60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125,435.90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15,371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5033703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Tianhe-2A - TH-IVB-FEP Cluster, Intel Xeon E5-2692v2 12C 2.2GHz, TH Express-2, Matrix-2000 , NUDT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4,981,760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61,444.50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100,678.70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18,482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553284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Frontera - Dell C6420, Xeon Platinum 8280 28C 2.7GHz, Mellanox InfiniBand HDR , Dell EMC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448,448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23,516.40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38,745.90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5844008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Piz Daint - Cray XC50, Xeon E5-2690v3 12C 2.6GHz, Aries interconnect , NVIDIA Tesla P100 , Cray Inc.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387,872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21,230.00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27,154.30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2,384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4043127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Trinity - Cray XC40, Xeon E5-2698v3 16C 2.3GHz, Intel Xeon Phi 7250 68C 1.4GHz, Aries interconnect , Cray Inc.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979,072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20,158.70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41,461.20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7,578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3683766"/>
                  </a:ext>
                </a:extLst>
              </a:tr>
              <a:tr h="70099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AI Bridging Cloud Infrastructure (ABCI) - PRIMERGY CX2570 M4, Xeon Gold 6148 20C 2.4GHz, NVIDIA Tesla V100 SXM2, Infiniband EDR , Fujitsu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391,680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19,880.00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32,576.60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1,649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2302463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SuperMUC-NG - ThinkSystem SD650, Xeon Platinum 8174 24C 3.1GHz, Intel Omni-Path , Lenovo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305,856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19,476.60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26,873.90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5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244851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Lassen - IBM Power System S922LC, IBM POWER9 22C 3.1GHz, Dual-rail Mellanox EDR </a:t>
                      </a:r>
                      <a:r>
                        <a:rPr lang="e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Infiniband</a:t>
                      </a:r>
                      <a:r>
                        <a:rPr lang="e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 NVIDIA Tesla V100 , IBM / NVIDIA / Mellanox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288,288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18,200.00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23,047.20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599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731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E8394-845B-4D2A-8E59-590632A6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1" y="257200"/>
            <a:ext cx="7600951" cy="914400"/>
          </a:xfrm>
        </p:spPr>
        <p:txBody>
          <a:bodyPr/>
          <a:lstStyle/>
          <a:p>
            <a:r>
              <a:rPr lang="en-US" altLang="zh-CN" dirty="0"/>
              <a:t>TOP 10, 06/2021</a:t>
            </a:r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6972C851-7514-46A0-ADF2-CC377D68A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796287"/>
              </p:ext>
            </p:extLst>
          </p:nvPr>
        </p:nvGraphicFramePr>
        <p:xfrm>
          <a:off x="1524006" y="836713"/>
          <a:ext cx="914399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59">
                  <a:extLst>
                    <a:ext uri="{9D8B030D-6E8A-4147-A177-3AD203B41FA5}">
                      <a16:colId xmlns:a16="http://schemas.microsoft.com/office/drawing/2014/main" val="2563617579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170664930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910216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67131364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210115472"/>
                    </a:ext>
                  </a:extLst>
                </a:gridCol>
                <a:gridCol w="755576">
                  <a:extLst>
                    <a:ext uri="{9D8B030D-6E8A-4147-A177-3AD203B41FA5}">
                      <a16:colId xmlns:a16="http://schemas.microsoft.com/office/drawing/2014/main" val="217412179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Rank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System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Cores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 err="1">
                          <a:effectLst/>
                        </a:rPr>
                        <a:t>Rmax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TFlop</a:t>
                      </a:r>
                      <a:r>
                        <a:rPr lang="en-US" sz="1200" dirty="0">
                          <a:effectLst/>
                        </a:rPr>
                        <a:t>/s)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 err="1">
                          <a:effectLst/>
                        </a:rPr>
                        <a:t>Rpeak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TFlop</a:t>
                      </a:r>
                      <a:r>
                        <a:rPr lang="en-US" sz="1200" dirty="0">
                          <a:effectLst/>
                        </a:rPr>
                        <a:t>/s)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Power (kW)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499251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2"/>
                        </a:rPr>
                        <a:t>Supercomputer </a:t>
                      </a:r>
                      <a:r>
                        <a:rPr lang="en-US" sz="1200" b="1" u="none" strike="noStrike" dirty="0" err="1">
                          <a:solidFill>
                            <a:srgbClr val="8B8D8E"/>
                          </a:solidFill>
                          <a:effectLst/>
                          <a:hlinkClick r:id="rId2"/>
                        </a:rPr>
                        <a:t>Fugaku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2"/>
                        </a:rPr>
                        <a:t> - Supercomputer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2"/>
                        </a:rPr>
                        <a:t>Fugaku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2"/>
                        </a:rPr>
                        <a:t>, A64FX 48C 2.2GHz, Tofu interconnect D, </a:t>
                      </a:r>
                      <a:r>
                        <a:rPr lang="en-US" sz="1200" dirty="0">
                          <a:effectLst/>
                        </a:rPr>
                        <a:t>Fujitsu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7,630,848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442,010.0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537,212.0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29,899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269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3"/>
                        </a:rPr>
                        <a:t>Summit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3"/>
                        </a:rPr>
                        <a:t> - IBM Power System AC922, IBM POWER9 22C 3.07GHz, NVIDIA Volta GV100, Dual-rail Mellanox EDR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3"/>
                        </a:rPr>
                        <a:t>Infiniband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3"/>
                        </a:rPr>
                        <a:t>, </a:t>
                      </a:r>
                      <a:r>
                        <a:rPr lang="en-US" sz="1200" dirty="0">
                          <a:effectLst/>
                        </a:rPr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2,414,592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148,600.0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200,794.9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10,096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6544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4"/>
                        </a:rPr>
                        <a:t>Sierra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4"/>
                        </a:rPr>
                        <a:t> - IBM Power System AC922, IBM POWER9 22C 3.1GHz, NVIDIA Volta GV100, Dual-rail Mellanox EDR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4"/>
                        </a:rPr>
                        <a:t>Infiniband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4"/>
                        </a:rPr>
                        <a:t>, </a:t>
                      </a:r>
                      <a:r>
                        <a:rPr lang="en-US" sz="1200" dirty="0">
                          <a:effectLst/>
                        </a:rPr>
                        <a:t>IBM / NVIDIA / Mellanox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1,572,480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94,640.0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125,712.0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7,438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611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5"/>
                        </a:rPr>
                        <a:t>Sunway </a:t>
                      </a:r>
                      <a:r>
                        <a:rPr lang="en-US" sz="1200" b="1" u="none" strike="noStrike" dirty="0" err="1">
                          <a:solidFill>
                            <a:srgbClr val="8B8D8E"/>
                          </a:solidFill>
                          <a:effectLst/>
                          <a:hlinkClick r:id="rId5"/>
                        </a:rPr>
                        <a:t>TaihuLight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5"/>
                        </a:rPr>
                        <a:t> - Sunway MPP, Sunway SW26010 260C 1.45GHz, Sunway, </a:t>
                      </a:r>
                      <a:r>
                        <a:rPr lang="en-US" sz="1200" dirty="0">
                          <a:effectLst/>
                        </a:rPr>
                        <a:t>NRCPC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10,649,600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93,014.6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125,435.9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15,371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609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6"/>
                        </a:rPr>
                        <a:t>Perlmutter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6"/>
                        </a:rPr>
                        <a:t> - HPE Cray EX235n, AMD EPYC 7763 64C 2.45GHz, NVIDIA A100 SXM4 40 GB, Slingshot-10, </a:t>
                      </a:r>
                      <a:r>
                        <a:rPr lang="en-US" sz="1200" dirty="0">
                          <a:effectLst/>
                        </a:rP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706,304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64,590.0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89,794.5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2,528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1526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Selene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 - NVIDIA DGX A100, AMD EPYC 7742 64C 2.25GHz, NVIDIA A100, Mellanox HDR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Infiniband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, </a:t>
                      </a:r>
                      <a:r>
                        <a:rPr lang="en-US" sz="1200" dirty="0">
                          <a:effectLst/>
                        </a:rP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555,520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63,460.0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79,215.0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2,646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316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8"/>
                        </a:rPr>
                        <a:t>Tianhe-2A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8"/>
                        </a:rPr>
                        <a:t> - TH-IVB-FEP Cluster, Intel Xeon E5-2692v2 12C 2.2GHz, TH Express-2, Matrix-2000, </a:t>
                      </a:r>
                      <a:r>
                        <a:rPr lang="en-US" sz="1200" dirty="0">
                          <a:effectLst/>
                        </a:rPr>
                        <a:t>NUDT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4,981,760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61,444.5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100,678.7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18,482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446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JUWELS Booster Module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 - Bull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Sequana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 XH2000 , AMD EPYC 7402 24C 2.8GHz, NVIDIA A100, Mellanox HDR InfiniBand/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ParTec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ParaStation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ClusterSuite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, </a:t>
                      </a:r>
                      <a:r>
                        <a:rPr lang="en-US" sz="1200" dirty="0">
                          <a:effectLst/>
                        </a:rPr>
                        <a:t>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449,280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44,120.0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70,980.0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1,764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9541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10"/>
                        </a:rPr>
                        <a:t>HPC5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10"/>
                        </a:rPr>
                        <a:t> - PowerEdge C4140, Xeon Gold 6252 24C 2.1GHz, NVIDIA Tesla V100, Mellanox HDR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10"/>
                        </a:rPr>
                        <a:t>Infiniband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10"/>
                        </a:rPr>
                        <a:t>, </a:t>
                      </a:r>
                      <a:r>
                        <a:rPr lang="en-US" sz="1200" dirty="0">
                          <a:effectLst/>
                        </a:rPr>
                        <a:t>Dell EMC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669,760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35,450.0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51,720.8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2,252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8602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11"/>
                        </a:rPr>
                        <a:t>Frontera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11"/>
                        </a:rPr>
                        <a:t> - Dell C6420, Xeon Platinum 8280 28C 2.7GHz, Mellanox InfiniBand HDR, </a:t>
                      </a:r>
                      <a:r>
                        <a:rPr lang="en-US" sz="1200" dirty="0">
                          <a:effectLst/>
                        </a:rPr>
                        <a:t>Dell EMC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448,448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23,516.4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38,745.9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NA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91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108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E8394-845B-4D2A-8E59-590632A6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1" y="257200"/>
            <a:ext cx="7600951" cy="914400"/>
          </a:xfrm>
        </p:spPr>
        <p:txBody>
          <a:bodyPr/>
          <a:lstStyle/>
          <a:p>
            <a:r>
              <a:rPr lang="en-US" altLang="zh-CN" dirty="0"/>
              <a:t>TOP 10, 06/2023</a:t>
            </a:r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6972C851-7514-46A0-ADF2-CC377D68A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432237"/>
              </p:ext>
            </p:extLst>
          </p:nvPr>
        </p:nvGraphicFramePr>
        <p:xfrm>
          <a:off x="1524006" y="836713"/>
          <a:ext cx="914399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59">
                  <a:extLst>
                    <a:ext uri="{9D8B030D-6E8A-4147-A177-3AD203B41FA5}">
                      <a16:colId xmlns:a16="http://schemas.microsoft.com/office/drawing/2014/main" val="2563617579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170664930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910216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67131364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210115472"/>
                    </a:ext>
                  </a:extLst>
                </a:gridCol>
                <a:gridCol w="755576">
                  <a:extLst>
                    <a:ext uri="{9D8B030D-6E8A-4147-A177-3AD203B41FA5}">
                      <a16:colId xmlns:a16="http://schemas.microsoft.com/office/drawing/2014/main" val="217412179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Rank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System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Cores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 err="1">
                          <a:effectLst/>
                        </a:rPr>
                        <a:t>Rmax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altLang="zh-CN" sz="1200" dirty="0" err="1">
                          <a:effectLst/>
                        </a:rPr>
                        <a:t>P</a:t>
                      </a:r>
                      <a:r>
                        <a:rPr lang="en-US" sz="1200" dirty="0" err="1">
                          <a:effectLst/>
                        </a:rPr>
                        <a:t>Flop</a:t>
                      </a:r>
                      <a:r>
                        <a:rPr lang="en-US" sz="1200" dirty="0">
                          <a:effectLst/>
                        </a:rPr>
                        <a:t>/s)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 err="1">
                          <a:effectLst/>
                        </a:rPr>
                        <a:t>Rpeak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altLang="zh-CN" sz="1200" dirty="0" err="1">
                          <a:effectLst/>
                        </a:rPr>
                        <a:t>P</a:t>
                      </a:r>
                      <a:r>
                        <a:rPr lang="en-US" sz="1200" dirty="0" err="1">
                          <a:effectLst/>
                        </a:rPr>
                        <a:t>Flop</a:t>
                      </a:r>
                      <a:r>
                        <a:rPr lang="en-US" sz="1200" dirty="0">
                          <a:effectLst/>
                        </a:rPr>
                        <a:t>/s)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>
                          <a:effectLst/>
                        </a:rPr>
                        <a:t>Power (kW)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499251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Frontier</a:t>
                      </a:r>
                      <a:r>
                        <a:rPr lang="en-US" altLang="zh-CN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 - HPE Cray EX235a, AMD Optimized 3rd Generation EPYC 64C 2GHz, AMD Instinct MI250X, Slingshot-11, </a:t>
                      </a:r>
                      <a:r>
                        <a:rPr lang="en-US" altLang="zh-CN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HPE</a:t>
                      </a:r>
                      <a:endParaRPr lang="en-US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8,699,904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1,194.00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1,679.82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22,703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269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Supercomputer </a:t>
                      </a:r>
                      <a:r>
                        <a:rPr lang="en-US" altLang="zh-CN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Fugaku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 - Supercomputer </a:t>
                      </a:r>
                      <a:r>
                        <a:rPr lang="en-US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Fugaku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, A64FX 48C 2.2GHz, Tofu interconnect D, 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Fujitsu</a:t>
                      </a:r>
                      <a:endParaRPr lang="en-US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7,630,848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442.01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537.21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29,899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6544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LUMI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 - HPE Cray EX235a, AMD Optimized 3rd Generation EPYC 64C 2GHz, AMD Instinct MI250X, Slingshot-11, 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HPE</a:t>
                      </a:r>
                      <a:endParaRPr lang="en-US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2,220,288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309.10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428.70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6,016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6118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Leonardo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 - </a:t>
                      </a:r>
                      <a:r>
                        <a:rPr lang="en-US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BullSequana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 XH2000, Xeon Platinum 8358 32C 2.6GHz, NVIDIA A100 SXM4 64 GB, Quad-rail NVIDIA HDR100 </a:t>
                      </a:r>
                      <a:r>
                        <a:rPr lang="en-US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Infiniband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, 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Atos</a:t>
                      </a:r>
                      <a:endParaRPr lang="en-US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1,824,768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238.70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304.47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7,404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609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6"/>
                        </a:rPr>
                        <a:t>Summit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6"/>
                        </a:rPr>
                        <a:t> - IBM Power System AC922, IBM POWER9 22C 3.07GHz, NVIDIA Volta GV100, Dual-rail Mellanox EDR </a:t>
                      </a:r>
                      <a:r>
                        <a:rPr lang="en-US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6"/>
                        </a:rPr>
                        <a:t>Infiniband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6"/>
                        </a:rPr>
                        <a:t>, </a:t>
                      </a:r>
                      <a:r>
                        <a:rPr lang="en-US" sz="1200" dirty="0">
                          <a:effectLst/>
                        </a:rPr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2,414,592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148.60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200.79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10,096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152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Sierra</a:t>
                      </a:r>
                      <a:r>
                        <a:rPr lang="en-US" altLang="zh-CN" sz="1200" u="none" strike="noStrike" dirty="0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 - IBM Power System AC922, IBM POWER9 22C 3.1GHz, NVIDIA Volta GV100, Dual-rail Mellanox EDR </a:t>
                      </a:r>
                      <a:r>
                        <a:rPr lang="en-US" altLang="zh-CN" sz="1200" u="none" strike="noStrike" dirty="0" err="1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Infiniband</a:t>
                      </a:r>
                      <a:r>
                        <a:rPr lang="en-US" altLang="zh-CN" sz="1200" u="none" strike="noStrike" dirty="0">
                          <a:solidFill>
                            <a:srgbClr val="8B8D8E"/>
                          </a:solidFill>
                          <a:effectLst/>
                          <a:hlinkClick r:id="rId7"/>
                        </a:rPr>
                        <a:t>, </a:t>
                      </a:r>
                      <a:r>
                        <a:rPr lang="en-US" altLang="zh-CN" sz="1200" dirty="0">
                          <a:effectLst/>
                        </a:rPr>
                        <a:t>IBM / NVIDIA / Mellanox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1,572,480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94.64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125.71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7,438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316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Sunway </a:t>
                      </a:r>
                      <a:r>
                        <a:rPr lang="en-US" altLang="zh-CN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TaihuLight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 - Sunway MPP, Sunway SW26010 260C 1.45GHz, Sunway, 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NRCPC</a:t>
                      </a:r>
                      <a:endParaRPr lang="en-US" altLang="zh-CN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10,649,600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93.01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125.44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15,371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446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Perlmutter</a:t>
                      </a:r>
                      <a:r>
                        <a:rPr lang="en-US" sz="1200" u="none" strike="noStrike" dirty="0">
                          <a:solidFill>
                            <a:srgbClr val="8B8D8E"/>
                          </a:solidFill>
                          <a:effectLst/>
                          <a:hlinkClick r:id="rId9"/>
                        </a:rPr>
                        <a:t> - HPE Cray EX235n, AMD EPYC 7763 64C 2.45GHz, NVIDIA A100 SXM4 40 GB, Slingshot-10, </a:t>
                      </a:r>
                      <a:r>
                        <a:rPr lang="en-US" sz="1200" dirty="0">
                          <a:effectLst/>
                        </a:rP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761,856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 dirty="0">
                          <a:effectLst/>
                        </a:rPr>
                        <a:t>70.87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93.75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2,589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9541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Selene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 - NVIDIA DGX A100, AMD EPYC 7742 64C 2.25GHz, NVIDIA A100, Mellanox HDR </a:t>
                      </a:r>
                      <a:r>
                        <a:rPr lang="en-US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Infiniband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, 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</a:t>
                      </a:r>
                      <a:endParaRPr lang="en-US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555,520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63.46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79.22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2,646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8602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>
                          <a:effectLst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Tianhe-2A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 - TH-IVB-FEP Cluster, Intel Xeon E5-2692v2 12C 2.2GHz, TH Express-2, Matrix-2000, 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NUDT</a:t>
                      </a:r>
                      <a:endParaRPr lang="en-US" sz="12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4,981,760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61.44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zh-CN" sz="1200">
                          <a:effectLst/>
                        </a:rPr>
                        <a:t>100.68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18,482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91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899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Fastest computer in China</a:t>
            </a:r>
            <a:endParaRPr lang="en-US" altLang="zh-CN" dirty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208" y="836713"/>
            <a:ext cx="7924800" cy="4306068"/>
          </a:xfrm>
        </p:spPr>
        <p:txBody>
          <a:bodyPr/>
          <a:lstStyle/>
          <a:p>
            <a:r>
              <a:rPr lang="en-US" altLang="zh-CN" sz="1600" dirty="0"/>
              <a:t>2018:</a:t>
            </a:r>
          </a:p>
          <a:p>
            <a:pPr lvl="1"/>
            <a:r>
              <a:rPr lang="en-US" altLang="zh-CN" sz="1400" dirty="0"/>
              <a:t>Tianhe-2A 61 petaflop/s</a:t>
            </a:r>
          </a:p>
          <a:p>
            <a:r>
              <a:rPr lang="en-US" altLang="zh-CN" sz="1600" dirty="0"/>
              <a:t>2016:</a:t>
            </a:r>
          </a:p>
          <a:p>
            <a:pPr lvl="1"/>
            <a:r>
              <a:rPr lang="en-US" altLang="zh-CN" sz="1400" dirty="0"/>
              <a:t>Sunway </a:t>
            </a:r>
            <a:r>
              <a:rPr lang="en-US" altLang="zh-CN" sz="1400" dirty="0" err="1"/>
              <a:t>TaihuLight</a:t>
            </a:r>
            <a:r>
              <a:rPr lang="en-US" altLang="zh-CN" sz="1400" dirty="0"/>
              <a:t>  93.01 petaflop/s </a:t>
            </a:r>
          </a:p>
          <a:p>
            <a:r>
              <a:rPr lang="en-US" altLang="zh-CN" sz="1600" dirty="0"/>
              <a:t>2013:</a:t>
            </a:r>
          </a:p>
          <a:p>
            <a:pPr lvl="1"/>
            <a:r>
              <a:rPr lang="en-US" altLang="zh-CN" sz="1400" dirty="0"/>
              <a:t>TianHe-2 33.86 petaflop/s </a:t>
            </a:r>
          </a:p>
          <a:p>
            <a:r>
              <a:rPr lang="en-US" altLang="zh-CN" sz="1600" dirty="0"/>
              <a:t>2011:</a:t>
            </a:r>
          </a:p>
          <a:p>
            <a:pPr lvl="1"/>
            <a:r>
              <a:rPr lang="en-US" altLang="zh-CN" sz="1400" dirty="0"/>
              <a:t>TianHe-1A 2.57 petaflop/s </a:t>
            </a:r>
          </a:p>
          <a:p>
            <a:r>
              <a:rPr lang="en-US" altLang="zh-CN" sz="1600" dirty="0"/>
              <a:t>2009</a:t>
            </a:r>
          </a:p>
          <a:p>
            <a:pPr lvl="1"/>
            <a:r>
              <a:rPr lang="en-US" altLang="zh-CN" sz="1400" dirty="0"/>
              <a:t>TianHe-1</a:t>
            </a:r>
          </a:p>
          <a:p>
            <a:r>
              <a:rPr lang="en-US" altLang="zh-CN" sz="1600" dirty="0"/>
              <a:t>2008 ShuGuang5000A</a:t>
            </a:r>
          </a:p>
          <a:p>
            <a:pPr lvl="1"/>
            <a:r>
              <a:rPr lang="en-US" altLang="zh-CN" sz="1400" dirty="0"/>
              <a:t>180.6 </a:t>
            </a:r>
            <a:r>
              <a:rPr lang="en-US" altLang="zh-CN" sz="1400" dirty="0" err="1"/>
              <a:t>TeraFlops</a:t>
            </a:r>
            <a:endParaRPr lang="en-US" altLang="zh-CN" sz="1400" dirty="0"/>
          </a:p>
          <a:p>
            <a:pPr lvl="1"/>
            <a:r>
              <a:rPr lang="en-US" altLang="zh-CN" sz="1400" dirty="0"/>
              <a:t>122.88TB RAM, 30720 computing Cell</a:t>
            </a:r>
          </a:p>
          <a:p>
            <a:r>
              <a:rPr lang="en-US" altLang="zh-CN" sz="1600" dirty="0"/>
              <a:t>2004  ShuGuang4000A</a:t>
            </a:r>
          </a:p>
          <a:p>
            <a:pPr lvl="1"/>
            <a:r>
              <a:rPr lang="en-US" altLang="zh-CN" sz="1400" dirty="0"/>
              <a:t>11 </a:t>
            </a:r>
            <a:r>
              <a:rPr lang="en-US" altLang="zh-CN" sz="1400" dirty="0" err="1"/>
              <a:t>TeraFLOPS</a:t>
            </a:r>
            <a:r>
              <a:rPr lang="en-US" altLang="zh-CN" sz="1400" dirty="0"/>
              <a:t> </a:t>
            </a:r>
          </a:p>
          <a:p>
            <a:pPr lvl="1"/>
            <a:r>
              <a:rPr lang="en-US" altLang="zh-CN" sz="1400" dirty="0"/>
              <a:t>rank 10 in top 500 in  June, 2004</a:t>
            </a:r>
          </a:p>
          <a:p>
            <a:r>
              <a:rPr lang="en-US" altLang="zh-CN" sz="1600" dirty="0"/>
              <a:t>2003  ShenTeng6800</a:t>
            </a:r>
          </a:p>
          <a:p>
            <a:pPr lvl="1"/>
            <a:r>
              <a:rPr lang="en-US" altLang="zh-CN" sz="1400" dirty="0"/>
              <a:t>5.324 </a:t>
            </a:r>
            <a:r>
              <a:rPr lang="en-US" altLang="zh-CN" sz="1400" dirty="0" err="1"/>
              <a:t>TeraFLOPS</a:t>
            </a:r>
            <a:r>
              <a:rPr lang="en-US" altLang="zh-CN" sz="1400" dirty="0"/>
              <a:t> </a:t>
            </a:r>
          </a:p>
          <a:p>
            <a:r>
              <a:rPr lang="en-US" altLang="zh-CN" sz="1600" dirty="0"/>
              <a:t>2002  ShenTeng1800</a:t>
            </a:r>
          </a:p>
          <a:p>
            <a:pPr lvl="1"/>
            <a:r>
              <a:rPr lang="en-US" altLang="zh-CN" sz="1400" dirty="0"/>
              <a:t>2.04 </a:t>
            </a:r>
            <a:r>
              <a:rPr lang="en-US" altLang="zh-CN" sz="1400" dirty="0" err="1"/>
              <a:t>TeraFLOPS</a:t>
            </a:r>
            <a:endParaRPr lang="en-US" altLang="zh-CN" sz="1400" dirty="0"/>
          </a:p>
          <a:p>
            <a:r>
              <a:rPr lang="en-US" altLang="zh-CN" sz="1600" dirty="0"/>
              <a:t>2000   </a:t>
            </a:r>
            <a:r>
              <a:rPr lang="en-US" altLang="zh-CN" sz="1600" dirty="0" err="1"/>
              <a:t>YinHe</a:t>
            </a:r>
            <a:r>
              <a:rPr lang="en-US" altLang="zh-CN" sz="1600" dirty="0"/>
              <a:t> IV </a:t>
            </a:r>
          </a:p>
          <a:p>
            <a:pPr lvl="1"/>
            <a:r>
              <a:rPr lang="en-US" altLang="zh-CN" sz="1400" dirty="0"/>
              <a:t>1024 CPU 1 </a:t>
            </a:r>
            <a:r>
              <a:rPr lang="en-US" altLang="zh-CN" sz="1400" dirty="0" err="1"/>
              <a:t>TeraFLOPS</a:t>
            </a:r>
            <a:r>
              <a:rPr lang="en-US" altLang="zh-CN" sz="1400" dirty="0"/>
              <a:t> </a:t>
            </a:r>
          </a:p>
          <a:p>
            <a:pPr lvl="1"/>
            <a:endParaRPr lang="en-US" altLang="zh-CN" sz="1400" dirty="0"/>
          </a:p>
        </p:txBody>
      </p:sp>
      <p:sp>
        <p:nvSpPr>
          <p:cNvPr id="262149" name="AutoShape 5"/>
          <p:cNvSpPr>
            <a:spLocks noChangeArrowheads="1"/>
          </p:cNvSpPr>
          <p:nvPr/>
        </p:nvSpPr>
        <p:spPr bwMode="auto">
          <a:xfrm>
            <a:off x="6888093" y="2210151"/>
            <a:ext cx="4067175" cy="2087563"/>
          </a:xfrm>
          <a:prstGeom prst="cloudCallout">
            <a:avLst>
              <a:gd name="adj1" fmla="val -74083"/>
              <a:gd name="adj2" fmla="val 7304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……?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Why?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Where there is a will, there is a way.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 conference in CA 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ISCA: The International Symposium on Computer Architecture </a:t>
            </a:r>
          </a:p>
          <a:p>
            <a:r>
              <a:rPr lang="en-US" altLang="zh-CN" dirty="0"/>
              <a:t>MICRO: Intl </a:t>
            </a:r>
            <a:r>
              <a:rPr lang="en-US" altLang="zh-CN" dirty="0" err="1"/>
              <a:t>Symp</a:t>
            </a:r>
            <a:r>
              <a:rPr lang="en-US" altLang="zh-CN" dirty="0"/>
              <a:t> on Microarchitecture </a:t>
            </a:r>
          </a:p>
          <a:p>
            <a:r>
              <a:rPr lang="en-US" altLang="zh-CN" dirty="0"/>
              <a:t>OSDI</a:t>
            </a:r>
            <a:r>
              <a:rPr lang="zh-CN" altLang="en-US" dirty="0"/>
              <a:t>、</a:t>
            </a:r>
            <a:r>
              <a:rPr lang="en-US" altLang="zh-CN" dirty="0"/>
              <a:t>SOAP</a:t>
            </a:r>
            <a:r>
              <a:rPr lang="zh-CN" altLang="en-US" dirty="0"/>
              <a:t>、</a:t>
            </a:r>
            <a:r>
              <a:rPr lang="en-US" altLang="zh-CN" dirty="0"/>
              <a:t>HPCA</a:t>
            </a:r>
            <a:r>
              <a:rPr lang="zh-CN" altLang="en-US" dirty="0"/>
              <a:t>、</a:t>
            </a:r>
            <a:r>
              <a:rPr lang="en-US" altLang="zh-CN" dirty="0"/>
              <a:t>ASPLOS……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3" y="228600"/>
            <a:ext cx="7670999" cy="914400"/>
          </a:xfrm>
        </p:spPr>
        <p:txBody>
          <a:bodyPr/>
          <a:lstStyle/>
          <a:p>
            <a:r>
              <a:rPr lang="en-US" altLang="zh-CN" sz="3600" dirty="0"/>
              <a:t>Eckert-Mauchly Award </a:t>
            </a:r>
          </a:p>
        </p:txBody>
      </p:sp>
      <p:graphicFrame>
        <p:nvGraphicFramePr>
          <p:cNvPr id="268314" name="Group 2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522295896"/>
              </p:ext>
            </p:extLst>
          </p:nvPr>
        </p:nvGraphicFramePr>
        <p:xfrm>
          <a:off x="1895428" y="980728"/>
          <a:ext cx="8569325" cy="518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39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2011 </a:t>
                      </a:r>
                      <a:r>
                        <a:rPr lang="en-US" altLang="zh-CN" sz="2000" dirty="0" err="1">
                          <a:effectLst/>
                          <a:hlinkClick r:id="rId2" action="ppaction://hlinkfile"/>
                        </a:rPr>
                        <a:t>Sohi</a:t>
                      </a:r>
                      <a:r>
                        <a:rPr lang="en-US" altLang="zh-CN" sz="2000" dirty="0">
                          <a:effectLst/>
                          <a:hlinkClick r:id="rId2" action="ppaction://hlinkfile"/>
                        </a:rPr>
                        <a:t>, </a:t>
                      </a:r>
                      <a:r>
                        <a:rPr lang="en-US" altLang="zh-CN" sz="2000" dirty="0" err="1">
                          <a:effectLst/>
                          <a:hlinkClick r:id="rId2" action="ppaction://hlinkfile"/>
                        </a:rPr>
                        <a:t>Gurindar</a:t>
                      </a:r>
                      <a:r>
                        <a:rPr lang="en-US" altLang="zh-CN" sz="2000" dirty="0">
                          <a:effectLst/>
                          <a:hlinkClick r:id="rId2" action="ppaction://hlinkfile"/>
                        </a:rPr>
                        <a:t> S</a:t>
                      </a:r>
                      <a:endParaRPr lang="en-US" altLang="zh-CN" sz="2000" dirty="0">
                        <a:effectLst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2010 </a:t>
                      </a:r>
                      <a:r>
                        <a:rPr kumimoji="1" lang="en-US" altLang="zh-CN" sz="200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Dally, William J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2009 </a:t>
                      </a:r>
                      <a:r>
                        <a:rPr kumimoji="1" lang="en-US" altLang="zh-CN" sz="200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Emer</a:t>
                      </a:r>
                      <a:r>
                        <a:rPr kumimoji="1" lang="en-US" altLang="zh-CN" sz="200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, Joel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2008 </a:t>
                      </a:r>
                      <a:r>
                        <a:rPr kumimoji="1" lang="en-US" altLang="zh-CN" sz="200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Patterson, David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2007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3"/>
                        </a:rPr>
                        <a:t>Valero, Mateo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2006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4"/>
                        </a:rPr>
                        <a:t>Pomerene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4"/>
                        </a:rPr>
                        <a:t>, James H</a:t>
                      </a:r>
                      <a:endParaRPr kumimoji="1" lang="en-US" altLang="zh-CN" sz="20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2005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5"/>
                        </a:rPr>
                        <a:t>Colwell, Robert P.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2004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6"/>
                        </a:rPr>
                        <a:t>Brooks, Frederick P.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2003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7"/>
                        </a:rPr>
                        <a:t>Fisher, Joseph A. (Josh)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2002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8"/>
                        </a:rPr>
                        <a:t>Rau, B. Ramakrishna (Bob)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2001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9"/>
                        </a:rPr>
                        <a:t>Hennessy, John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2000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0"/>
                        </a:rPr>
                        <a:t>Davidson, Edward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1999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1"/>
                        </a:rPr>
                        <a:t>Smith, James E.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2"/>
                        </a:rPr>
                        <a:t>Watanabe, T.</a:t>
                      </a:r>
                      <a:endParaRPr kumimoji="1" lang="en-US" altLang="zh-CN" sz="20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1997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13"/>
                        </a:rPr>
                        <a:t>Tomasulo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3"/>
                        </a:rPr>
                        <a:t>, Robert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1996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14"/>
                        </a:rPr>
                        <a:t>Patt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4"/>
                        </a:rPr>
                        <a:t>, Yale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1995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5"/>
                        </a:rPr>
                        <a:t>Crawford, John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44436" marR="71415" marT="36501" marB="-3650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1994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6"/>
                        </a:rPr>
                        <a:t>Thornton, James E.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1993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17"/>
                        </a:rPr>
                        <a:t>Kuck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7"/>
                        </a:rPr>
                        <a:t>, David J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1992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8"/>
                        </a:rPr>
                        <a:t>Flynn, Michael J.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1991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19"/>
                        </a:rPr>
                        <a:t>Smith, Burton J.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1990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0"/>
                        </a:rPr>
                        <a:t>Batcher, Kenneth E.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1989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1"/>
                        </a:rPr>
                        <a:t>Cray, Seymour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1988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22"/>
                        </a:rPr>
                        <a:t>Siewiorek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2"/>
                        </a:rPr>
                        <a:t>, Daniel P.</a:t>
                      </a:r>
                      <a:endParaRPr kumimoji="1" lang="en-US" altLang="zh-CN" sz="20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1987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3"/>
                        </a:rPr>
                        <a:t>Amdahl, Gene M.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1986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24"/>
                        </a:rPr>
                        <a:t>Cragon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4"/>
                        </a:rPr>
                        <a:t>, Harvey G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1985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hlinkClick r:id="rId25"/>
                        </a:rPr>
                        <a:t>Cocke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5"/>
                        </a:rPr>
                        <a:t>, John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1984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6"/>
                        </a:rPr>
                        <a:t>Dennis, Jack B.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1983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7"/>
                        </a:rPr>
                        <a:t>Kilburn, Tom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1982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8"/>
                        </a:rPr>
                        <a:t>Bell, C. Gordon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1981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29"/>
                        </a:rPr>
                        <a:t>Clark, Wesley A.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1980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30"/>
                        </a:rPr>
                        <a:t>Wilkes, Maurice V.</a:t>
                      </a:r>
                      <a:b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1979 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hlinkClick r:id="rId31"/>
                        </a:rPr>
                        <a:t>Barton, Robert S.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44436" marR="71415" marT="36501" marB="-3650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683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Big Men in Architecture(1)</a:t>
            </a:r>
            <a:endParaRPr lang="en-US" altLang="zh-CN" dirty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1" y="1600200"/>
            <a:ext cx="5859464" cy="4419600"/>
          </a:xfrm>
        </p:spPr>
        <p:txBody>
          <a:bodyPr/>
          <a:lstStyle/>
          <a:p>
            <a:r>
              <a:rPr lang="en-US" altLang="zh-CN" sz="2800" dirty="0"/>
              <a:t>2007 Mateo Valero</a:t>
            </a:r>
          </a:p>
          <a:p>
            <a:pPr lvl="1"/>
            <a:r>
              <a:rPr lang="en-US" altLang="zh-CN" sz="2400" dirty="0"/>
              <a:t>http://personals.ac.upc.edu/mateo/</a:t>
            </a:r>
          </a:p>
          <a:p>
            <a:r>
              <a:rPr lang="en-US" altLang="zh-CN" sz="2800" dirty="0"/>
              <a:t>   For important contributions to instruction level parallelism and superscalar processor design. </a:t>
            </a:r>
          </a:p>
        </p:txBody>
      </p:sp>
      <p:pic>
        <p:nvPicPr>
          <p:cNvPr id="19462" name="Picture 4" descr="inde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7" y="1773239"/>
            <a:ext cx="3641725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Big Men in Architecture(2)</a:t>
            </a:r>
            <a:endParaRPr lang="en-US" altLang="zh-CN" dirty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5478" y="1600200"/>
            <a:ext cx="5622925" cy="4419600"/>
          </a:xfrm>
        </p:spPr>
        <p:txBody>
          <a:bodyPr/>
          <a:lstStyle/>
          <a:p>
            <a:r>
              <a:rPr lang="en-US" altLang="zh-CN" dirty="0"/>
              <a:t>2001 Hennessy, John</a:t>
            </a:r>
          </a:p>
          <a:p>
            <a:r>
              <a:rPr lang="en-US" altLang="zh-CN"/>
              <a:t>For </a:t>
            </a:r>
            <a:r>
              <a:rPr lang="en-US" altLang="zh-CN" dirty="0"/>
              <a:t>being the founder and chief architect of the MIPS Computer Systems and contributing to the development of the landmark MIPS R2000 microprocessor. </a:t>
            </a:r>
          </a:p>
          <a:p>
            <a:endParaRPr lang="en-US" altLang="zh-CN" dirty="0"/>
          </a:p>
        </p:txBody>
      </p:sp>
      <p:pic>
        <p:nvPicPr>
          <p:cNvPr id="20486" name="Picture 5" descr="hennessyphoto2003_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700216"/>
            <a:ext cx="2660651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Big Men in Architecture(3)</a:t>
            </a:r>
            <a:endParaRPr lang="en-US" altLang="zh-CN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7583" y="977563"/>
            <a:ext cx="5287963" cy="4419600"/>
          </a:xfrm>
        </p:spPr>
        <p:txBody>
          <a:bodyPr/>
          <a:lstStyle/>
          <a:p>
            <a:r>
              <a:rPr lang="en-US" altLang="zh-CN" sz="2000" dirty="0"/>
              <a:t>1999 ACM Turing Award</a:t>
            </a:r>
          </a:p>
          <a:p>
            <a:r>
              <a:rPr lang="en-US" altLang="zh-CN" sz="2000" dirty="0"/>
              <a:t>     landmark contributions to computer architecture, operating systems, and software engineering."</a:t>
            </a:r>
          </a:p>
        </p:txBody>
      </p:sp>
      <p:pic>
        <p:nvPicPr>
          <p:cNvPr id="21510" name="Picture 4" descr="Brookspi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165051"/>
            <a:ext cx="2922588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5199066" y="2555689"/>
            <a:ext cx="5148263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4436" tIns="36501" rIns="71415" bIns="-3650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fontAlgn="ctr"/>
            <a:r>
              <a:rPr lang="en-US" altLang="zh-CN" b="1" dirty="0">
                <a:solidFill>
                  <a:srgbClr val="0000FF"/>
                </a:solidFill>
                <a:latin typeface="Arial" charset="0"/>
              </a:rPr>
              <a:t>2004 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hlinkClick r:id="rId3"/>
              </a:rPr>
              <a:t>Eckert-</a:t>
            </a:r>
            <a:r>
              <a:rPr lang="en-US" altLang="zh-CN" b="1" dirty="0" err="1">
                <a:solidFill>
                  <a:srgbClr val="0000FF"/>
                </a:solidFill>
                <a:latin typeface="Arial" charset="0"/>
                <a:hlinkClick r:id="rId3"/>
              </a:rPr>
              <a:t>Mauchly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hlinkClick r:id="rId3"/>
              </a:rPr>
              <a:t> Award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endParaRPr kumimoji="1" lang="en-US" altLang="zh-CN" b="1" dirty="0">
              <a:latin typeface="Times New Roman" pitchFamily="18" charset="0"/>
            </a:endParaRPr>
          </a:p>
          <a:p>
            <a:pPr algn="l" fontAlgn="ctr"/>
            <a:r>
              <a:rPr kumimoji="1" lang="en-US" altLang="zh-CN" dirty="0">
                <a:latin typeface="Times New Roman" pitchFamily="18" charset="0"/>
              </a:rPr>
              <a:t>"For the definition of computer architecture and contributions to the concept of computer families and to the principles of instruction set design; for seminal contributions in instruction sequencing, including interrupt systems and execute instructions; and for contributions to the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</a:rPr>
              <a:t>IBM 360 instruction set architecture</a:t>
            </a:r>
            <a:r>
              <a:rPr kumimoji="1" lang="en-US" altLang="zh-CN" dirty="0">
                <a:latin typeface="Times New Roman" pitchFamily="18" charset="0"/>
              </a:rPr>
              <a:t>."</a:t>
            </a:r>
            <a:br>
              <a:rPr kumimoji="1" lang="en-US" altLang="zh-CN" dirty="0">
                <a:latin typeface="Times New Roman" pitchFamily="18" charset="0"/>
              </a:rPr>
            </a:br>
            <a:endParaRPr kumimoji="1" lang="en-US" altLang="zh-CN" dirty="0">
              <a:latin typeface="Times New Roman" pitchFamily="18" charset="0"/>
            </a:endParaRPr>
          </a:p>
        </p:txBody>
      </p:sp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1774828" y="4333702"/>
            <a:ext cx="35703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36" tIns="36501" rIns="71415" bIns="-3650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ctr"/>
            <a:r>
              <a:rPr kumimoji="1" lang="en-US" altLang="zh-CN" sz="2000" b="1">
                <a:solidFill>
                  <a:srgbClr val="FF3300"/>
                </a:solidFill>
                <a:latin typeface="Times New Roman" pitchFamily="18" charset="0"/>
              </a:rPr>
              <a:t>Frederick</a:t>
            </a:r>
            <a:r>
              <a:rPr kumimoji="1" lang="en-US" altLang="zh-CN" sz="2000" b="1">
                <a:solidFill>
                  <a:srgbClr val="FF3300"/>
                </a:solidFill>
                <a:latin typeface="宋体" pitchFamily="2" charset="-122"/>
              </a:rPr>
              <a:t> </a:t>
            </a:r>
            <a:r>
              <a:rPr kumimoji="1" lang="en-US" altLang="zh-CN" sz="2000" b="1">
                <a:solidFill>
                  <a:srgbClr val="FF3300"/>
                </a:solidFill>
                <a:latin typeface="Times New Roman" pitchFamily="18" charset="0"/>
              </a:rPr>
              <a:t>P.</a:t>
            </a:r>
            <a:r>
              <a:rPr kumimoji="1" lang="en-US" altLang="zh-CN" sz="2000" b="1">
                <a:solidFill>
                  <a:srgbClr val="FF3300"/>
                </a:solidFill>
                <a:latin typeface="宋体" pitchFamily="2" charset="-122"/>
              </a:rPr>
              <a:t> </a:t>
            </a:r>
            <a:r>
              <a:rPr kumimoji="1" lang="en-US" altLang="zh-CN" sz="2000" b="1">
                <a:solidFill>
                  <a:srgbClr val="FF3300"/>
                </a:solidFill>
                <a:latin typeface="Times New Roman" pitchFamily="18" charset="0"/>
              </a:rPr>
              <a:t>Brooks</a:t>
            </a:r>
          </a:p>
          <a:p>
            <a:pPr fontAlgn="ctr"/>
            <a:r>
              <a:rPr kumimoji="1" lang="en-US" altLang="zh-CN" sz="2000" b="1">
                <a:solidFill>
                  <a:srgbClr val="0000FF"/>
                </a:solidFill>
                <a:latin typeface="Times New Roman" pitchFamily="18" charset="0"/>
              </a:rPr>
              <a:t>http://www.cs.unc.edu/~brooks/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Big Men in Architecture(4)</a:t>
            </a:r>
            <a:endParaRPr lang="en-US" altLang="zh-CN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1997 Robert </a:t>
            </a:r>
            <a:r>
              <a:rPr lang="en-US" altLang="zh-CN" dirty="0" err="1"/>
              <a:t>Tomasulo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For the ingenious </a:t>
            </a:r>
            <a:r>
              <a:rPr lang="en-US" altLang="zh-CN" dirty="0" err="1"/>
              <a:t>Tomasulo's</a:t>
            </a:r>
            <a:r>
              <a:rPr lang="en-US" altLang="zh-CN" dirty="0"/>
              <a:t> algorithm, which enabled out-of-order execution processors to be implemented.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Big Men in Architecture(5)</a:t>
            </a:r>
            <a:endParaRPr lang="en-US" altLang="zh-CN" dirty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5" y="1600200"/>
            <a:ext cx="3675063" cy="4419600"/>
          </a:xfrm>
        </p:spPr>
        <p:txBody>
          <a:bodyPr/>
          <a:lstStyle/>
          <a:p>
            <a:r>
              <a:rPr lang="en-US" altLang="zh-CN" dirty="0"/>
              <a:t>1996  Yale </a:t>
            </a:r>
            <a:r>
              <a:rPr lang="en-US" altLang="zh-CN" dirty="0" err="1"/>
              <a:t>Patt</a:t>
            </a:r>
            <a:endParaRPr lang="en-US" altLang="zh-CN" dirty="0"/>
          </a:p>
          <a:p>
            <a:r>
              <a:rPr lang="en-US" altLang="zh-CN" dirty="0"/>
              <a:t>    For important contributions to instruction level parallelism and superscalar processor design. </a:t>
            </a:r>
          </a:p>
        </p:txBody>
      </p:sp>
      <p:pic>
        <p:nvPicPr>
          <p:cNvPr id="273412" name="Picture 4" descr="DSCF3479_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8" y="1700214"/>
            <a:ext cx="4391025" cy="370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Big Men in Architecture(6)</a:t>
            </a:r>
            <a:endParaRPr lang="en-US" altLang="zh-CN" dirty="0"/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5475288" cy="4419600"/>
          </a:xfrm>
        </p:spPr>
        <p:txBody>
          <a:bodyPr/>
          <a:lstStyle/>
          <a:p>
            <a:r>
              <a:rPr lang="en-US" altLang="zh-CN" sz="2400" dirty="0"/>
              <a:t>1992 Michael J. Flynn </a:t>
            </a:r>
          </a:p>
          <a:p>
            <a:r>
              <a:rPr lang="en-US" altLang="zh-CN" sz="2400" dirty="0"/>
              <a:t>     http://www.cpe.calpoly.edu/IAB/flynn.html</a:t>
            </a:r>
          </a:p>
          <a:p>
            <a:r>
              <a:rPr lang="en-US" altLang="zh-CN" sz="2400" dirty="0"/>
              <a:t>For his important and seminal contributions to processor organization and classification, computer arithmetic and performance evaluation. </a:t>
            </a:r>
          </a:p>
        </p:txBody>
      </p:sp>
      <p:pic>
        <p:nvPicPr>
          <p:cNvPr id="24582" name="Picture 4" descr="flynn,micha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2205042"/>
            <a:ext cx="2646363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Big Men in Architecture(7)</a:t>
            </a:r>
            <a:endParaRPr lang="en-US" altLang="zh-CN" dirty="0"/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4394448" cy="4419600"/>
          </a:xfrm>
        </p:spPr>
        <p:txBody>
          <a:bodyPr/>
          <a:lstStyle/>
          <a:p>
            <a:r>
              <a:rPr lang="en-US" altLang="zh-CN" dirty="0"/>
              <a:t>1989 </a:t>
            </a:r>
            <a:r>
              <a:rPr lang="en-US" altLang="zh-CN" dirty="0">
                <a:hlinkClick r:id="rId2"/>
              </a:rPr>
              <a:t>Cray, Seymour</a:t>
            </a:r>
            <a:endParaRPr lang="en-US" altLang="zh-CN" dirty="0"/>
          </a:p>
          <a:p>
            <a:r>
              <a:rPr lang="en-US" altLang="zh-CN" dirty="0"/>
              <a:t>For a career of achievements that have advanced supercomputing design. </a:t>
            </a:r>
          </a:p>
        </p:txBody>
      </p:sp>
      <p:pic>
        <p:nvPicPr>
          <p:cNvPr id="25606" name="Picture 4" descr="PORTRA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1700217"/>
            <a:ext cx="3244851" cy="465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Big Men in Architecture(8)</a:t>
            </a:r>
            <a:endParaRPr lang="en-US" altLang="zh-CN" dirty="0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1987 </a:t>
            </a:r>
            <a:r>
              <a:rPr lang="en-US" altLang="zh-CN">
                <a:hlinkClick r:id="rId2"/>
              </a:rPr>
              <a:t>Amdahl, Gene M.</a:t>
            </a:r>
            <a:br>
              <a:rPr lang="en-US" altLang="zh-CN"/>
            </a:br>
            <a:r>
              <a:rPr lang="en-US" altLang="zh-CN"/>
              <a:t>For outstanding innovations in computer architecture, including pipelining, instruction look-ahead, and cache memory. </a:t>
            </a:r>
            <a:endParaRPr lang="en-US" altLang="zh-CN" dirty="0"/>
          </a:p>
        </p:txBody>
      </p:sp>
      <p:pic>
        <p:nvPicPr>
          <p:cNvPr id="276484" name="Picture 4" descr="Amda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780" y="0"/>
            <a:ext cx="493839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485" name="Picture 5" descr="IBM-compatible_mainfram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25" y="1268414"/>
            <a:ext cx="3403600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Rectangle 6"/>
          <p:cNvSpPr>
            <a:spLocks noChangeArrowheads="1"/>
          </p:cNvSpPr>
          <p:nvPr/>
        </p:nvSpPr>
        <p:spPr bwMode="auto">
          <a:xfrm>
            <a:off x="1524005" y="5940836"/>
            <a:ext cx="11704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36" tIns="36501" rIns="71415" bIns="-36501" anchor="ctr">
            <a:spAutoFit/>
          </a:bodyPr>
          <a:lstStyle/>
          <a:p>
            <a:endParaRPr lang="zh-CN" altLang="en-US"/>
          </a:p>
        </p:txBody>
      </p:sp>
      <p:grpSp>
        <p:nvGrpSpPr>
          <p:cNvPr id="276487" name="Group 7"/>
          <p:cNvGrpSpPr>
            <a:grpSpLocks/>
          </p:cNvGrpSpPr>
          <p:nvPr/>
        </p:nvGrpSpPr>
        <p:grpSpPr bwMode="auto">
          <a:xfrm>
            <a:off x="1524004" y="5213352"/>
            <a:ext cx="4932363" cy="1538288"/>
            <a:chOff x="3107" y="3360"/>
            <a:chExt cx="3152" cy="969"/>
          </a:xfrm>
        </p:grpSpPr>
        <p:sp>
          <p:nvSpPr>
            <p:cNvPr id="26635" name="Rectangle 8"/>
            <p:cNvSpPr>
              <a:spLocks noChangeArrowheads="1"/>
            </p:cNvSpPr>
            <p:nvPr/>
          </p:nvSpPr>
          <p:spPr bwMode="auto">
            <a:xfrm>
              <a:off x="3107" y="3385"/>
              <a:ext cx="3107" cy="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Text Box 9"/>
            <p:cNvSpPr txBox="1">
              <a:spLocks noChangeArrowheads="1"/>
            </p:cNvSpPr>
            <p:nvPr/>
          </p:nvSpPr>
          <p:spPr bwMode="auto">
            <a:xfrm>
              <a:off x="3198" y="3360"/>
              <a:ext cx="3061" cy="9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4436" tIns="36501" rIns="71415" bIns="-3650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fontAlgn="ctr"/>
              <a:r>
                <a:rPr kumimoji="1" lang="en-US" altLang="zh-CN" sz="2000" b="1" dirty="0">
                  <a:solidFill>
                    <a:srgbClr val="FF3300"/>
                  </a:solidFill>
                  <a:latin typeface="Times New Roman" pitchFamily="18" charset="0"/>
                </a:rPr>
                <a:t>In 1975, Dr. Amdahl stands beside the Wisconsin Integrally Synchronized Computer (WISC), which he designed in 1950. It was built in 1952. </a:t>
              </a:r>
              <a:r>
                <a:rPr kumimoji="1" lang="en-US" altLang="zh-CN" sz="2000" b="1" i="1" dirty="0">
                  <a:solidFill>
                    <a:srgbClr val="FF3300"/>
                  </a:solidFill>
                  <a:latin typeface="Times New Roman" pitchFamily="18" charset="0"/>
                </a:rPr>
                <a:t>(Image courtesy of Dr. Gene M. Amdahl.)</a:t>
              </a:r>
            </a:p>
          </p:txBody>
        </p:sp>
      </p:grp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1524004" y="5905117"/>
            <a:ext cx="49323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4436" tIns="36501" rIns="71415" bIns="-36501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2088361" y="288936"/>
            <a:ext cx="8015287" cy="914400"/>
          </a:xfrm>
        </p:spPr>
        <p:txBody>
          <a:bodyPr/>
          <a:lstStyle/>
          <a:p>
            <a:r>
              <a:rPr lang="en-US" altLang="zh-CN" sz="3200" dirty="0"/>
              <a:t>David A. Patterson 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UC Berkeley</a:t>
            </a:r>
            <a:r>
              <a:rPr lang="zh-CN" altLang="en-US" dirty="0"/>
              <a:t>）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600200"/>
            <a:ext cx="4754488" cy="4419600"/>
          </a:xfrm>
        </p:spPr>
        <p:txBody>
          <a:bodyPr/>
          <a:lstStyle/>
          <a:p>
            <a:r>
              <a:rPr lang="en-US" altLang="zh-CN" sz="2400" dirty="0"/>
              <a:t>He led the design and implementation of RISC I (the foundation of the </a:t>
            </a:r>
            <a:r>
              <a:rPr lang="en-US" altLang="zh-CN" sz="2400" dirty="0">
                <a:hlinkClick r:id="rId2"/>
              </a:rPr>
              <a:t>SPARC</a:t>
            </a:r>
            <a:r>
              <a:rPr lang="en-US" altLang="zh-CN" sz="2400" dirty="0"/>
              <a:t> architecture ) </a:t>
            </a:r>
          </a:p>
          <a:p>
            <a:r>
              <a:rPr lang="en-US" altLang="zh-CN" sz="2400" dirty="0"/>
              <a:t>Leader of RAID</a:t>
            </a:r>
          </a:p>
          <a:p>
            <a:r>
              <a:rPr lang="en-US" altLang="zh-CN" sz="2400" dirty="0"/>
              <a:t>involved in the Network of Workstations (NOW) project </a:t>
            </a:r>
          </a:p>
          <a:p>
            <a:r>
              <a:rPr lang="en-US" altLang="zh-CN" sz="2400" dirty="0"/>
              <a:t>Research Accelerator for Multiple Processors (RAMP) </a:t>
            </a:r>
          </a:p>
        </p:txBody>
      </p:sp>
      <p:pic>
        <p:nvPicPr>
          <p:cNvPr id="32775" name="Picture 5" descr="pattersonphoto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572" y="2133601"/>
            <a:ext cx="3744913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 descr="Standford－David办公室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3028331"/>
            <a:ext cx="5076564" cy="3384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How ?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566400" cy="4419600"/>
          </a:xfrm>
        </p:spPr>
        <p:txBody>
          <a:bodyPr/>
          <a:lstStyle/>
          <a:p>
            <a:r>
              <a:rPr lang="en-US" altLang="zh-CN" dirty="0"/>
              <a:t>Possibility:</a:t>
            </a:r>
          </a:p>
          <a:p>
            <a:pPr lvl="1"/>
            <a:r>
              <a:rPr lang="en-US" altLang="zh-CN" dirty="0"/>
              <a:t>standing on the shoulder of giants.</a:t>
            </a:r>
          </a:p>
          <a:p>
            <a:r>
              <a:rPr lang="en-US" altLang="zh-CN" dirty="0"/>
              <a:t>Concepts, Ideas and Principles</a:t>
            </a:r>
          </a:p>
          <a:p>
            <a:r>
              <a:rPr lang="en-US" altLang="zh-CN" dirty="0"/>
              <a:t>Quantitative approaches</a:t>
            </a:r>
          </a:p>
          <a:p>
            <a:r>
              <a:rPr lang="en-US" altLang="zh-CN" dirty="0"/>
              <a:t>Hit the problem and right way to solve problem</a:t>
            </a:r>
          </a:p>
          <a:p>
            <a:endParaRPr lang="en-US" altLang="zh-CN" dirty="0"/>
          </a:p>
          <a:p>
            <a:r>
              <a:rPr lang="en-US" altLang="zh-CN" dirty="0"/>
              <a:t>As a man sows, so he shall reap. 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Text Book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03304" y="1628800"/>
            <a:ext cx="7741368" cy="5069160"/>
          </a:xfrm>
        </p:spPr>
        <p:txBody>
          <a:bodyPr/>
          <a:lstStyle/>
          <a:p>
            <a:r>
              <a:rPr lang="en-US" altLang="zh-CN" dirty="0"/>
              <a:t>Computer Architecture - A quantitative approach</a:t>
            </a:r>
          </a:p>
          <a:p>
            <a:pPr lvl="1"/>
            <a:r>
              <a:rPr lang="en-US" altLang="zh-CN" dirty="0"/>
              <a:t>(6th edition)</a:t>
            </a:r>
          </a:p>
          <a:p>
            <a:pPr lvl="1"/>
            <a:r>
              <a:rPr lang="en-US" altLang="zh-CN" dirty="0"/>
              <a:t>John L. Hennessy</a:t>
            </a:r>
            <a:r>
              <a:rPr lang="zh-CN" altLang="en-US" dirty="0"/>
              <a:t> </a:t>
            </a:r>
            <a:endParaRPr lang="en-US" altLang="zh-CN" dirty="0"/>
          </a:p>
          <a:p>
            <a:pPr marL="457188" lvl="1" indent="0">
              <a:buNone/>
            </a:pPr>
            <a:r>
              <a:rPr lang="en-US" altLang="zh-CN" dirty="0"/>
              <a:t>(Stanford University)</a:t>
            </a:r>
            <a:endParaRPr lang="zh-CN" altLang="en-US" dirty="0"/>
          </a:p>
          <a:p>
            <a:pPr lvl="1"/>
            <a:r>
              <a:rPr lang="en-US" altLang="zh-CN" dirty="0"/>
              <a:t>David A. Patterson</a:t>
            </a:r>
          </a:p>
          <a:p>
            <a:pPr marL="457188" lvl="1" indent="0">
              <a:buNone/>
            </a:pPr>
            <a:r>
              <a:rPr lang="en-US" altLang="zh-CN" dirty="0"/>
              <a:t>(University of California, Berkeley)</a:t>
            </a:r>
            <a:endParaRPr lang="zh-CN" altLang="en-US" dirty="0"/>
          </a:p>
          <a:p>
            <a:pPr lvl="1"/>
            <a:r>
              <a:rPr lang="en-US" altLang="zh-CN" dirty="0"/>
              <a:t>China Machine Press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4C4C75-A744-4274-AB63-EF4E5D7D50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49" y="1775040"/>
            <a:ext cx="2564648" cy="33079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What’s new on this Edition ?</a:t>
            </a:r>
            <a:endParaRPr lang="en-US" altLang="zh-CN" dirty="0"/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Most significant edition:</a:t>
            </a:r>
          </a:p>
          <a:p>
            <a:pPr lvl="1"/>
            <a:r>
              <a:rPr lang="en-US" altLang="zh-CN" sz="2400" dirty="0"/>
              <a:t>1~3 edition focus on ILP(Inst-Level Parallelism)</a:t>
            </a:r>
          </a:p>
          <a:p>
            <a:pPr lvl="1"/>
            <a:r>
              <a:rPr lang="en-US" altLang="zh-CN" sz="2400" dirty="0"/>
              <a:t>=&gt;</a:t>
            </a:r>
            <a:r>
              <a:rPr lang="en-US" altLang="zh-CN" sz="2400" dirty="0">
                <a:sym typeface="Wingdings" pitchFamily="2" charset="2"/>
              </a:rPr>
              <a:t>Focus on TLP(Thread-level parallelism) and DLP(Data-level parallelism)</a:t>
            </a:r>
            <a:r>
              <a:rPr lang="en-US" altLang="zh-CN" sz="2400" dirty="0"/>
              <a:t>.</a:t>
            </a:r>
          </a:p>
          <a:p>
            <a:r>
              <a:rPr lang="en-US" altLang="zh-CN" sz="2800" dirty="0"/>
              <a:t>Chapter adjustment: </a:t>
            </a:r>
          </a:p>
          <a:p>
            <a:pPr lvl="1"/>
            <a:r>
              <a:rPr lang="en-US" altLang="zh-CN" sz="2400" dirty="0"/>
              <a:t>Changing technology</a:t>
            </a:r>
          </a:p>
          <a:p>
            <a:pPr lvl="1"/>
            <a:r>
              <a:rPr lang="en-US" altLang="zh-CN" sz="2400" dirty="0"/>
              <a:t>=&gt;More emphasize on Dependability and topics of Power </a:t>
            </a:r>
          </a:p>
          <a:p>
            <a:r>
              <a:rPr lang="en-US" altLang="zh-CN" sz="2800" dirty="0"/>
              <a:t>Book size limitation:</a:t>
            </a:r>
          </a:p>
          <a:p>
            <a:pPr lvl="1"/>
            <a:r>
              <a:rPr lang="en-US" altLang="zh-CN" sz="2400" dirty="0"/>
              <a:t>More contents move to Appendix and CD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  <a:endParaRPr lang="en-US" altLang="zh-CN" dirty="0"/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/>
              <a:t>Ch1 Fundamentals of computer design</a:t>
            </a:r>
          </a:p>
          <a:p>
            <a:r>
              <a:rPr lang="en-US" altLang="zh-CN" sz="2000" dirty="0"/>
              <a:t>Ch2 ILP and its exploitation</a:t>
            </a:r>
          </a:p>
          <a:p>
            <a:r>
              <a:rPr lang="en-US" altLang="zh-CN" sz="2000" dirty="0"/>
              <a:t>Ch3 Limits of ILP</a:t>
            </a:r>
          </a:p>
          <a:p>
            <a:r>
              <a:rPr lang="en-US" altLang="zh-CN" sz="2000" dirty="0"/>
              <a:t>Ch4 Multiprocessor and TLP</a:t>
            </a:r>
          </a:p>
          <a:p>
            <a:r>
              <a:rPr lang="en-US" altLang="zh-CN" sz="2000" dirty="0"/>
              <a:t>Ch5 Memory Hierarchy Design</a:t>
            </a:r>
          </a:p>
          <a:p>
            <a:r>
              <a:rPr lang="en-US" altLang="zh-CN" sz="2000" dirty="0"/>
              <a:t>Ch6 Storage Systems</a:t>
            </a:r>
          </a:p>
          <a:p>
            <a:r>
              <a:rPr lang="en-US" altLang="zh-CN" sz="2000" dirty="0" err="1"/>
              <a:t>AppA</a:t>
            </a:r>
            <a:r>
              <a:rPr lang="en-US" altLang="zh-CN" sz="2000" dirty="0"/>
              <a:t>  Pipelining: Basic and Intermediate Concepts</a:t>
            </a:r>
          </a:p>
          <a:p>
            <a:r>
              <a:rPr lang="en-US" altLang="zh-CN" sz="2000" dirty="0" err="1"/>
              <a:t>AppB</a:t>
            </a:r>
            <a:r>
              <a:rPr lang="en-US" altLang="zh-CN" sz="2000" dirty="0"/>
              <a:t>  Instruction Set Principles and Examples</a:t>
            </a:r>
          </a:p>
          <a:p>
            <a:r>
              <a:rPr lang="en-US" altLang="zh-CN" sz="2000" dirty="0" err="1"/>
              <a:t>AppC</a:t>
            </a:r>
            <a:r>
              <a:rPr lang="en-US" altLang="zh-CN" sz="2000" dirty="0"/>
              <a:t>  Review of Memory Hierarchy</a:t>
            </a:r>
          </a:p>
          <a:p>
            <a:r>
              <a:rPr lang="en-US" altLang="zh-CN" sz="2000" dirty="0" err="1"/>
              <a:t>AppD</a:t>
            </a:r>
            <a:r>
              <a:rPr lang="en-US" altLang="zh-CN" sz="2000" dirty="0"/>
              <a:t>  Embedded systems</a:t>
            </a:r>
          </a:p>
          <a:p>
            <a:r>
              <a:rPr lang="en-US" altLang="zh-CN" sz="2000" dirty="0" err="1"/>
              <a:t>AppE</a:t>
            </a:r>
            <a:r>
              <a:rPr lang="en-US" altLang="zh-CN" sz="2000" dirty="0"/>
              <a:t>  Interconnection Networks</a:t>
            </a:r>
          </a:p>
          <a:p>
            <a:r>
              <a:rPr lang="en-US" altLang="zh-CN" sz="2000" dirty="0" err="1"/>
              <a:t>AppF</a:t>
            </a:r>
            <a:r>
              <a:rPr lang="en-US" altLang="zh-CN" sz="2000" dirty="0"/>
              <a:t>  Vector Processors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Topics covered in this class</a:t>
            </a:r>
            <a:endParaRPr lang="en-US" altLang="zh-CN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Ch1   Fundamentals of computer design</a:t>
            </a:r>
          </a:p>
          <a:p>
            <a:r>
              <a:rPr lang="en-US" altLang="zh-CN" sz="2800" dirty="0" err="1"/>
              <a:t>AppB</a:t>
            </a:r>
            <a:r>
              <a:rPr lang="en-US" altLang="zh-CN" sz="2800" dirty="0"/>
              <a:t> Instruction Set Principles and Examples</a:t>
            </a:r>
          </a:p>
          <a:p>
            <a:r>
              <a:rPr lang="en-US" altLang="zh-CN" sz="2800" dirty="0" err="1"/>
              <a:t>AppA</a:t>
            </a:r>
            <a:r>
              <a:rPr lang="en-US" altLang="zh-CN" sz="2800" dirty="0"/>
              <a:t> Pipelining: Basic and Intermediate Concepts</a:t>
            </a:r>
          </a:p>
          <a:p>
            <a:r>
              <a:rPr lang="en-US" altLang="zh-CN" sz="2800" dirty="0" err="1"/>
              <a:t>AppC</a:t>
            </a:r>
            <a:r>
              <a:rPr lang="en-US" altLang="zh-CN" sz="2800" dirty="0"/>
              <a:t>  Review of Memory Hierarchy</a:t>
            </a:r>
          </a:p>
          <a:p>
            <a:r>
              <a:rPr lang="en-US" altLang="zh-CN" sz="2800" dirty="0"/>
              <a:t>Ch5 Memory Hierarchy Design</a:t>
            </a:r>
          </a:p>
          <a:p>
            <a:r>
              <a:rPr lang="en-US" altLang="zh-CN" sz="2800" dirty="0"/>
              <a:t>Ch6 Storage Systems</a:t>
            </a:r>
          </a:p>
          <a:p>
            <a:r>
              <a:rPr lang="en-US" altLang="zh-CN" sz="2800" dirty="0"/>
              <a:t>Ch4 Basic concepts of Multiprocessor</a:t>
            </a:r>
          </a:p>
          <a:p>
            <a:r>
              <a:rPr lang="en-US" altLang="zh-CN" sz="2800" dirty="0" err="1"/>
              <a:t>AppF</a:t>
            </a:r>
            <a:r>
              <a:rPr lang="en-US" altLang="zh-CN" sz="2800" dirty="0"/>
              <a:t>  Vector Processors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20D1B-B0EF-47DB-8443-71859ACBB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Outlook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3C1EF1-23AA-44D6-9D01-BDA97999D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Open-source Architecture</a:t>
            </a:r>
          </a:p>
          <a:p>
            <a:pPr lvl="1"/>
            <a:r>
              <a:rPr lang="en-US" altLang="zh-CN" dirty="0"/>
              <a:t>RISC-V</a:t>
            </a:r>
          </a:p>
          <a:p>
            <a:r>
              <a:rPr lang="en-US" altLang="zh-CN" dirty="0"/>
              <a:t>Security Risks</a:t>
            </a:r>
          </a:p>
          <a:p>
            <a:pPr lvl="1"/>
            <a:r>
              <a:rPr lang="en-US" altLang="zh-CN" dirty="0" err="1"/>
              <a:t>Spectre</a:t>
            </a:r>
            <a:r>
              <a:rPr lang="en-US" altLang="zh-CN" dirty="0"/>
              <a:t> and Meltdown</a:t>
            </a:r>
          </a:p>
          <a:p>
            <a:pPr lvl="1"/>
            <a:r>
              <a:rPr lang="en-US" altLang="zh-CN" dirty="0"/>
              <a:t>Intel ME</a:t>
            </a:r>
          </a:p>
          <a:p>
            <a:r>
              <a:rPr lang="en-US" altLang="zh-CN" dirty="0"/>
              <a:t>Security Improvements</a:t>
            </a:r>
          </a:p>
          <a:p>
            <a:r>
              <a:rPr lang="en-US" altLang="zh-CN" dirty="0"/>
              <a:t>Domain Specific Architectures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575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E9863BB-754B-48BC-B0DA-CC9556A938D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76320" y="2305543"/>
            <a:ext cx="2520280" cy="224691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C668A2C-8C50-42C3-A47D-43699DC4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Open Source Architecture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0882A-468B-42F0-99BB-E46C27C94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371600"/>
            <a:ext cx="9666387" cy="4419600"/>
          </a:xfrm>
        </p:spPr>
        <p:txBody>
          <a:bodyPr/>
          <a:lstStyle/>
          <a:p>
            <a:r>
              <a:rPr lang="en-US" altLang="zh-CN" sz="2800" dirty="0"/>
              <a:t>RISC-V</a:t>
            </a:r>
          </a:p>
          <a:p>
            <a:pPr lvl="1"/>
            <a:r>
              <a:rPr lang="en-US" altLang="zh-CN" sz="2400" dirty="0"/>
              <a:t>A completely open ISA based on RISC principles</a:t>
            </a:r>
          </a:p>
          <a:p>
            <a:pPr lvl="2"/>
            <a:r>
              <a:rPr lang="en-US" altLang="zh-CN" sz="2000" dirty="0"/>
              <a:t>Freely available to academia and industry </a:t>
            </a:r>
          </a:p>
          <a:p>
            <a:pPr lvl="1"/>
            <a:r>
              <a:rPr lang="en-US" altLang="zh-CN" sz="2400" dirty="0"/>
              <a:t>Simple and extendable modular design</a:t>
            </a:r>
          </a:p>
          <a:p>
            <a:pPr lvl="2"/>
            <a:r>
              <a:rPr lang="en-US" altLang="zh-CN" sz="2000" dirty="0"/>
              <a:t>A small base integer ISA (RV32I, etc.)</a:t>
            </a:r>
          </a:p>
          <a:p>
            <a:pPr lvl="2"/>
            <a:r>
              <a:rPr lang="en-US" altLang="zh-CN" sz="2000" dirty="0"/>
              <a:t>Optional standard extensions</a:t>
            </a:r>
          </a:p>
          <a:p>
            <a:pPr lvl="1"/>
            <a:r>
              <a:rPr lang="en-US" altLang="zh-CN" sz="2400" dirty="0"/>
              <a:t>Free implementations &amp; commercial implementations </a:t>
            </a:r>
          </a:p>
          <a:p>
            <a:pPr lvl="2"/>
            <a:r>
              <a:rPr lang="en-US" altLang="zh-CN" sz="2000" dirty="0"/>
              <a:t>Free: Rocket, </a:t>
            </a:r>
            <a:r>
              <a:rPr lang="en-US" altLang="zh-CN" sz="2000" dirty="0" err="1"/>
              <a:t>PULPino</a:t>
            </a:r>
            <a:r>
              <a:rPr lang="en-US" altLang="zh-CN" sz="2000" dirty="0"/>
              <a:t>, Hummingbird “</a:t>
            </a:r>
            <a:r>
              <a:rPr lang="zh-CN" altLang="en-US" sz="2000" dirty="0"/>
              <a:t>蜂鸟</a:t>
            </a:r>
            <a:r>
              <a:rPr lang="en-US" altLang="zh-CN" sz="2000" dirty="0"/>
              <a:t>”</a:t>
            </a:r>
          </a:p>
          <a:p>
            <a:pPr lvl="2"/>
            <a:r>
              <a:rPr lang="en-US" altLang="zh-CN" sz="2000" dirty="0"/>
              <a:t>Commercial: </a:t>
            </a:r>
            <a:r>
              <a:rPr lang="en-US" altLang="zh-CN" sz="2000" dirty="0" err="1"/>
              <a:t>SiFive</a:t>
            </a:r>
            <a:endParaRPr lang="en-US" altLang="zh-CN" sz="2000" dirty="0"/>
          </a:p>
          <a:p>
            <a:pPr lvl="1"/>
            <a:endParaRPr lang="en-US" altLang="zh-CN" sz="24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1"/>
            <a:endParaRPr lang="en-US" altLang="zh-CN" sz="2400" dirty="0"/>
          </a:p>
          <a:p>
            <a:pPr lvl="2"/>
            <a:endParaRPr lang="en-US" altLang="zh-CN" sz="2000" dirty="0"/>
          </a:p>
          <a:p>
            <a:pPr lvl="2"/>
            <a:endParaRPr lang="zh-CN" altLang="en-US" sz="2000" dirty="0"/>
          </a:p>
        </p:txBody>
      </p:sp>
      <p:sp>
        <p:nvSpPr>
          <p:cNvPr id="6" name="AutoShape 2" descr="Image result for RISC-V">
            <a:extLst>
              <a:ext uri="{FF2B5EF4-FFF2-40B4-BE49-F238E27FC236}">
                <a16:creationId xmlns:a16="http://schemas.microsoft.com/office/drawing/2014/main" id="{5FADCCC9-6845-4E5C-A971-78C2B325CD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844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2B7AB-24EC-42EF-B1FB-6EB8E691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Security Risks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36373-684D-4395-A97E-02AC8ACAE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928" y="1219200"/>
            <a:ext cx="10764144" cy="4419600"/>
          </a:xfrm>
        </p:spPr>
        <p:txBody>
          <a:bodyPr/>
          <a:lstStyle/>
          <a:p>
            <a:r>
              <a:rPr lang="en-US" altLang="zh-CN" dirty="0" err="1"/>
              <a:t>Spectre</a:t>
            </a:r>
            <a:r>
              <a:rPr lang="en-US" altLang="zh-CN" dirty="0"/>
              <a:t> &amp; Meltdown</a:t>
            </a:r>
          </a:p>
          <a:p>
            <a:pPr lvl="1"/>
            <a:r>
              <a:rPr lang="en-US" altLang="zh-CN" dirty="0"/>
              <a:t>Complicated techniques are widely used on modern processors to improve performance</a:t>
            </a:r>
          </a:p>
          <a:p>
            <a:pPr lvl="2"/>
            <a:r>
              <a:rPr lang="en-US" altLang="zh-CN" dirty="0"/>
              <a:t>However, these widely-used techniques may cause security risks</a:t>
            </a:r>
          </a:p>
          <a:p>
            <a:pPr lvl="1"/>
            <a:r>
              <a:rPr lang="en-US" altLang="zh-CN" dirty="0"/>
              <a:t>Out-of-order execution</a:t>
            </a:r>
          </a:p>
          <a:p>
            <a:pPr lvl="2"/>
            <a:r>
              <a:rPr lang="en-US" altLang="zh-CN" dirty="0"/>
              <a:t>Meltdown</a:t>
            </a:r>
          </a:p>
          <a:p>
            <a:pPr lvl="1"/>
            <a:r>
              <a:rPr lang="en-US" altLang="zh-CN" dirty="0"/>
              <a:t>Branch predication &amp; speculative execution</a:t>
            </a:r>
          </a:p>
          <a:p>
            <a:pPr lvl="2"/>
            <a:r>
              <a:rPr lang="en-US" altLang="zh-CN" dirty="0" err="1"/>
              <a:t>Spectre</a:t>
            </a:r>
            <a:endParaRPr lang="en-US" altLang="zh-CN" dirty="0"/>
          </a:p>
          <a:p>
            <a:r>
              <a:rPr lang="en-US" altLang="zh-CN" dirty="0"/>
              <a:t>Intel Management Engine</a:t>
            </a:r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6005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42435-6D84-8348-9F22-55C5761F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Security Improvements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8E44C-99C4-E740-AB8F-0FB3A067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980728"/>
            <a:ext cx="10945216" cy="4419600"/>
          </a:xfrm>
        </p:spPr>
        <p:txBody>
          <a:bodyPr/>
          <a:lstStyle/>
          <a:p>
            <a:r>
              <a:rPr kumimoji="1" lang="en-US" altLang="zh-CN" sz="2800" dirty="0"/>
              <a:t>Pointer Authentication</a:t>
            </a:r>
          </a:p>
          <a:p>
            <a:pPr lvl="1"/>
            <a:r>
              <a:rPr kumimoji="1" lang="en-US" altLang="zh-CN" sz="2400" dirty="0"/>
              <a:t>The actual address space of a 64-bit architecture is less than 64-bits.</a:t>
            </a:r>
          </a:p>
          <a:p>
            <a:pPr lvl="1"/>
            <a:r>
              <a:rPr kumimoji="1" lang="en-US" altLang="zh-CN" sz="2400" dirty="0"/>
              <a:t>We can place a “signature” of pointer in unused bits, to prove it comes from a valid operation, rather than a software flaw.</a:t>
            </a:r>
          </a:p>
          <a:p>
            <a:pPr lvl="1"/>
            <a:r>
              <a:rPr kumimoji="1" lang="en-US" altLang="zh-CN" sz="2400" dirty="0"/>
              <a:t>New instructions to sign/authenticate pointers.</a:t>
            </a:r>
          </a:p>
          <a:p>
            <a:r>
              <a:rPr kumimoji="1" lang="en-US" altLang="zh-CN" sz="2800" dirty="0"/>
              <a:t>Enclave (Intel SGX)</a:t>
            </a:r>
          </a:p>
          <a:p>
            <a:pPr lvl="1"/>
            <a:r>
              <a:rPr kumimoji="1" lang="en-US" altLang="zh-CN" sz="2400" dirty="0"/>
              <a:t>Keeping trusted environment on a untrusted platform is challenging.</a:t>
            </a:r>
          </a:p>
          <a:p>
            <a:pPr lvl="2"/>
            <a:r>
              <a:rPr kumimoji="1" lang="en-US" altLang="zh-CN" sz="2000" dirty="0"/>
              <a:t>Untrusted OS/Malware/Cloud</a:t>
            </a:r>
          </a:p>
          <a:p>
            <a:pPr lvl="1"/>
            <a:r>
              <a:rPr kumimoji="1" lang="en-US" altLang="zh-CN" sz="2400" dirty="0"/>
              <a:t> Root of trust on the CPU</a:t>
            </a:r>
          </a:p>
          <a:p>
            <a:pPr lvl="2"/>
            <a:r>
              <a:rPr kumimoji="1" lang="en-US" altLang="zh-CN" sz="2000" dirty="0"/>
              <a:t>If you trust CPU’s vendor, you can probably trust its enclave</a:t>
            </a:r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4229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F3D08-B328-4155-854C-8657A5A3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Domain Specific Architectures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82434-8712-49DC-A751-041D4B31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118863"/>
            <a:ext cx="10566400" cy="4419600"/>
          </a:xfrm>
        </p:spPr>
        <p:txBody>
          <a:bodyPr/>
          <a:lstStyle/>
          <a:p>
            <a:r>
              <a:rPr lang="en-US" altLang="zh-CN" sz="2400" dirty="0"/>
              <a:t>General processors are not efficient when solving specific problems</a:t>
            </a:r>
          </a:p>
          <a:p>
            <a:pPr lvl="1"/>
            <a:r>
              <a:rPr lang="en-US" altLang="zh-CN" sz="2000" dirty="0"/>
              <a:t>Performance &amp; Energy</a:t>
            </a:r>
          </a:p>
          <a:p>
            <a:r>
              <a:rPr lang="en-US" altLang="zh-CN" sz="2400" dirty="0"/>
              <a:t>To achieve a higher level of efficiency, we need a drastic change in computer architecture from general-purpose cores to domain-specific architectures (DSAs).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FE55F2-2758-48CB-A3F7-055FCD9273D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7668" y="3198143"/>
            <a:ext cx="6736664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296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01CBF24C-27C6-4577-8AB7-4C7C0420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Domain Specific Architectures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9FE42-E770-4B4A-9047-DE89A5C4A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Domain Specific Architectures</a:t>
            </a:r>
          </a:p>
          <a:p>
            <a:pPr lvl="1"/>
            <a:r>
              <a:rPr lang="en-US" altLang="zh-CN" dirty="0"/>
              <a:t>Google TPU</a:t>
            </a:r>
          </a:p>
          <a:p>
            <a:pPr lvl="2"/>
            <a:r>
              <a:rPr lang="en-US" altLang="zh-CN" dirty="0"/>
              <a:t>Data Center ASIC</a:t>
            </a:r>
          </a:p>
          <a:p>
            <a:pPr lvl="1"/>
            <a:r>
              <a:rPr lang="en-US" altLang="zh-CN" dirty="0"/>
              <a:t>Google Pixel </a:t>
            </a:r>
            <a:r>
              <a:rPr lang="en-US" altLang="zh-CN" dirty="0" err="1"/>
              <a:t>vCore</a:t>
            </a:r>
            <a:endParaRPr lang="en-US" altLang="zh-CN" dirty="0"/>
          </a:p>
          <a:p>
            <a:pPr lvl="2"/>
            <a:r>
              <a:rPr lang="en-US" altLang="zh-CN" dirty="0"/>
              <a:t>Mobile Device ASIC</a:t>
            </a:r>
          </a:p>
          <a:p>
            <a:pPr lvl="1"/>
            <a:r>
              <a:rPr lang="zh-CN" altLang="en-US" sz="3200" dirty="0"/>
              <a:t>寒武纪 </a:t>
            </a:r>
            <a:r>
              <a:rPr lang="en-US" altLang="zh-CN" sz="3200" dirty="0"/>
              <a:t>NPU</a:t>
            </a:r>
          </a:p>
          <a:p>
            <a:pPr lvl="2"/>
            <a:r>
              <a:rPr lang="en-US" altLang="zh-CN" sz="2800" dirty="0"/>
              <a:t>Mobile/Data center IP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5701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BDE2079-7D65-4089-B4A4-8DF5BE8A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Domain Specific Architectures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5F7DA4-5B43-46AA-82D1-6DF951D5545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5445" y="1424385"/>
            <a:ext cx="10081116" cy="400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39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 materials &amp; Readings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WWW Computer Architecture Website:</a:t>
            </a:r>
          </a:p>
          <a:p>
            <a:pPr lvl="1"/>
            <a:r>
              <a:rPr lang="en-US" altLang="zh-CN" dirty="0"/>
              <a:t>http://www.cs.wisc.edu/arch/www/</a:t>
            </a:r>
          </a:p>
          <a:p>
            <a:r>
              <a:rPr lang="en-US" altLang="zh-CN" dirty="0">
                <a:hlinkClick r:id="rId3"/>
              </a:rPr>
              <a:t>http://www.ece.cmu.edu/~ece347/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kumimoji="1" lang="en" altLang="zh-CN" dirty="0"/>
              <a:t>RISCV ISA Manual</a:t>
            </a:r>
            <a:endParaRPr kumimoji="1" lang="en" altLang="zh-CN" dirty="0">
              <a:hlinkClick r:id="rId4"/>
            </a:endParaRPr>
          </a:p>
          <a:p>
            <a:pPr lvl="1"/>
            <a:r>
              <a:rPr kumimoji="1" lang="en" altLang="zh-CN" dirty="0">
                <a:hlinkClick r:id="rId4"/>
              </a:rPr>
              <a:t>https://github.com/riscv/riscv-isa-manual</a:t>
            </a:r>
            <a:endParaRPr kumimoji="1" lang="en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Grading </a:t>
            </a:r>
            <a:endParaRPr lang="en-US" altLang="zh-CN" dirty="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672" y="1219200"/>
            <a:ext cx="10457904" cy="4419600"/>
          </a:xfrm>
        </p:spPr>
        <p:txBody>
          <a:bodyPr/>
          <a:lstStyle/>
          <a:p>
            <a:r>
              <a:rPr lang="en-US" altLang="zh-CN" sz="2400" dirty="0"/>
              <a:t>Final Grade = Performance * 60% + Final exam * 40% </a:t>
            </a:r>
          </a:p>
          <a:p>
            <a:r>
              <a:rPr lang="en-US" altLang="zh-CN" sz="2400" dirty="0"/>
              <a:t>Performance = Labs (80pt) + Class (20~30pt) </a:t>
            </a:r>
          </a:p>
          <a:p>
            <a:pPr lvl="1"/>
            <a:r>
              <a:rPr lang="en-US" altLang="zh-CN" sz="2000" dirty="0"/>
              <a:t>Class: Quiz, question, discussion…</a:t>
            </a:r>
          </a:p>
          <a:p>
            <a:pPr lvl="1"/>
            <a:r>
              <a:rPr lang="en-US" altLang="zh-CN" sz="2000" dirty="0"/>
              <a:t>Total Performance &lt;= 100pt</a:t>
            </a:r>
          </a:p>
          <a:p>
            <a:r>
              <a:rPr lang="en-US" altLang="zh-CN" sz="2400" dirty="0"/>
              <a:t>Labs = Lab1 (3weeks, 15pt)</a:t>
            </a:r>
            <a:br>
              <a:rPr lang="en-US" altLang="zh-CN" sz="2400" dirty="0"/>
            </a:br>
            <a:r>
              <a:rPr lang="en-US" altLang="zh-CN" sz="2400" dirty="0"/>
              <a:t>	  + Lab2 (3weeks, 15pt)  </a:t>
            </a:r>
            <a:br>
              <a:rPr lang="en-US" altLang="zh-CN" sz="2400" dirty="0"/>
            </a:br>
            <a:r>
              <a:rPr lang="en-US" altLang="zh-CN" sz="2400" dirty="0"/>
              <a:t>	  + Lab3 (1weeks, 5pt)</a:t>
            </a:r>
            <a:br>
              <a:rPr lang="en-US" altLang="zh-CN" sz="2400" dirty="0"/>
            </a:br>
            <a:r>
              <a:rPr lang="en-US" altLang="zh-CN" sz="2400" dirty="0"/>
              <a:t>	  + Lab4 (2weeks, 10pt)</a:t>
            </a:r>
            <a:br>
              <a:rPr lang="en-US" altLang="zh-CN" sz="2400" dirty="0"/>
            </a:br>
            <a:r>
              <a:rPr lang="en-US" altLang="zh-CN" sz="2400" dirty="0"/>
              <a:t>	  + Lab5 (2weeks, 10pt)</a:t>
            </a:r>
            <a:br>
              <a:rPr lang="en-US" altLang="zh-CN" sz="2400" dirty="0"/>
            </a:br>
            <a:r>
              <a:rPr lang="en-US" altLang="zh-CN" sz="2400" dirty="0"/>
              <a:t>	  + Lab6 (5weeks, 25pt)</a:t>
            </a:r>
          </a:p>
          <a:p>
            <a:r>
              <a:rPr lang="en-US" altLang="zh-CN" sz="2400" dirty="0"/>
              <a:t>20% delay penalty per day</a:t>
            </a:r>
          </a:p>
          <a:p>
            <a:pPr marL="0" indent="0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Important Note about Grading 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Don’t ask me for a higher score after the final examination no matter what reason you have !  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Assignments and reading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en-US" altLang="zh-CN" dirty="0"/>
              <a:t>Group work in assignments is permitted</a:t>
            </a:r>
          </a:p>
          <a:p>
            <a:r>
              <a:rPr lang="en-US" altLang="zh-CN" dirty="0"/>
              <a:t>Group discussion is strongly encouraged</a:t>
            </a:r>
          </a:p>
          <a:p>
            <a:r>
              <a:rPr lang="en-US" altLang="zh-CN" dirty="0"/>
              <a:t>Members in one group are no more than 2</a:t>
            </a:r>
          </a:p>
          <a:p>
            <a:r>
              <a:rPr lang="en-US" altLang="zh-CN" dirty="0"/>
              <a:t>Reports need to be submitted in time</a:t>
            </a:r>
          </a:p>
          <a:p>
            <a:r>
              <a:rPr lang="en-US" altLang="zh-CN" dirty="0"/>
              <a:t>The more Late the more discount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赋能课程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zh-CN" altLang="en-US" dirty="0"/>
              <a:t>数字人预习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457D2F-EA55-46F4-B01A-FEAC79A2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564" y="1788116"/>
            <a:ext cx="7848872" cy="440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667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赋能课程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助教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FEE610-A5C6-4C19-8008-174A50501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167"/>
          <a:stretch>
            <a:fillRect/>
          </a:stretch>
        </p:blipFill>
        <p:spPr>
          <a:xfrm>
            <a:off x="2924106" y="1889599"/>
            <a:ext cx="6343788" cy="307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21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赋能课程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出题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E59241-4EB4-4917-830F-433724B47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004082"/>
            <a:ext cx="6036672" cy="46095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5350FF1-1656-4E2A-95DF-4792B5D4A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639551"/>
            <a:ext cx="3193266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616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赋能课程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zh-CN" altLang="en-US" dirty="0"/>
              <a:t>未来更多尝试</a:t>
            </a:r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互动教材</a:t>
            </a:r>
            <a:endParaRPr lang="en-US" altLang="zh-CN" dirty="0"/>
          </a:p>
          <a:p>
            <a:pPr lvl="1"/>
            <a:r>
              <a:rPr lang="en-US" altLang="zh-CN" dirty="0"/>
              <a:t>AI</a:t>
            </a:r>
            <a:r>
              <a:rPr lang="zh-CN" altLang="en-US" dirty="0"/>
              <a:t>融入实验课</a:t>
            </a:r>
            <a:endParaRPr lang="en-US" altLang="zh-CN" dirty="0"/>
          </a:p>
          <a:p>
            <a:pPr lvl="1"/>
            <a:r>
              <a:rPr lang="zh-CN" altLang="en-US" dirty="0"/>
              <a:t>翻转课堂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9873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生成式人工智能使用规范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zh-CN" altLang="en-US" sz="2800" dirty="0"/>
              <a:t>本规范中生成式人工智能（</a:t>
            </a:r>
            <a:r>
              <a:rPr lang="en-US" altLang="zh-CN" sz="2800" dirty="0"/>
              <a:t>Generative AI</a:t>
            </a:r>
            <a:r>
              <a:rPr lang="zh-CN" altLang="en-US" sz="2800" dirty="0"/>
              <a:t>）指利用人工智能算法生成文本、图像、音频或视频内容的技术。本规范主要针对文本生成式人工智能工具，例如</a:t>
            </a:r>
            <a:r>
              <a:rPr lang="en-US" altLang="zh-CN" sz="2800" dirty="0" err="1"/>
              <a:t>DeepSeek</a:t>
            </a:r>
            <a:r>
              <a:rPr lang="zh-CN" altLang="en-US" sz="2800" dirty="0"/>
              <a:t>、</a:t>
            </a:r>
            <a:r>
              <a:rPr lang="en-US" altLang="zh-CN" sz="2800" dirty="0"/>
              <a:t>ChatGPT</a:t>
            </a:r>
            <a:r>
              <a:rPr lang="zh-CN" altLang="en-US" sz="2800" dirty="0"/>
              <a:t>、</a:t>
            </a:r>
            <a:r>
              <a:rPr lang="en-US" altLang="zh-CN" sz="2800" dirty="0"/>
              <a:t>Gemini</a:t>
            </a:r>
            <a:r>
              <a:rPr lang="zh-CN" altLang="en-US" sz="2800" dirty="0"/>
              <a:t>、</a:t>
            </a:r>
            <a:r>
              <a:rPr lang="en-US" altLang="zh-CN" sz="2800" dirty="0"/>
              <a:t>Kimi</a:t>
            </a:r>
            <a:r>
              <a:rPr lang="zh-CN" altLang="en-US" sz="2800" dirty="0"/>
              <a:t>、智谱清言、豆包</a:t>
            </a:r>
            <a:r>
              <a:rPr lang="zh-CN" altLang="en-US" sz="2800" b="1" dirty="0">
                <a:solidFill>
                  <a:srgbClr val="FF0000"/>
                </a:solidFill>
              </a:rPr>
              <a:t>等</a:t>
            </a:r>
            <a:r>
              <a:rPr lang="zh-CN" altLang="en-US" sz="2800" dirty="0"/>
              <a:t>，适用于其在课程作业中的使用。</a:t>
            </a:r>
            <a:endParaRPr lang="en-US" altLang="zh-CN" sz="2800" dirty="0"/>
          </a:p>
          <a:p>
            <a:r>
              <a:rPr lang="zh-CN" altLang="en-US" sz="2800" dirty="0"/>
              <a:t>学院鼓励学生在遵守学术诚信的前提下，合理使用生成式人工智能工具，以提高学习效率、激发创新思维。学生需明确标注人工智能的使用情况，并对其生成内容负责。</a:t>
            </a:r>
          </a:p>
        </p:txBody>
      </p:sp>
    </p:spTree>
    <p:extLst>
      <p:ext uri="{BB962C8B-B14F-4D97-AF65-F5344CB8AC3E}">
        <p14:creationId xmlns:p14="http://schemas.microsoft.com/office/powerpoint/2010/main" val="13694212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课程作业使用规范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zh-CN" altLang="en-US" sz="2400" dirty="0"/>
              <a:t>使用范围</a:t>
            </a:r>
          </a:p>
          <a:p>
            <a:pPr lvl="1"/>
            <a:r>
              <a:rPr lang="zh-CN" altLang="en-US" sz="2000" dirty="0"/>
              <a:t>允许使用生成式人工智能的场景：文献检索与整理；领域知识入门参考；减少重复性编程和代码调试；学习辅导和解答疑问。</a:t>
            </a:r>
          </a:p>
          <a:p>
            <a:pPr lvl="1"/>
            <a:r>
              <a:rPr lang="zh-CN" altLang="en-US" sz="2000" dirty="0"/>
              <a:t>禁止使用生成式人工智能的场景：直接生成课程作业、实验报告；生成实验数据、实验方案等；替代个人思考完成创新性任务。</a:t>
            </a:r>
          </a:p>
          <a:p>
            <a:r>
              <a:rPr lang="zh-CN" altLang="en-US" sz="2400" dirty="0"/>
              <a:t>使用规范</a:t>
            </a:r>
          </a:p>
          <a:p>
            <a:pPr lvl="1"/>
            <a:r>
              <a:rPr lang="zh-CN" altLang="en-US" sz="2000" dirty="0"/>
              <a:t>声明义务：学生在提交使用了生成式人工智能的作业时，必须在文件开头或结尾明确声明使用情况，包括使用的工具名称、使用目的和具体内容。</a:t>
            </a:r>
          </a:p>
          <a:p>
            <a:pPr lvl="1"/>
            <a:r>
              <a:rPr lang="zh-CN" altLang="en-US" sz="2000" dirty="0"/>
              <a:t>标注要求：对于生成式人工智能产生的内容，应在相应段落或代码块后以方括号标注，如</a:t>
            </a:r>
            <a:r>
              <a:rPr lang="en-US" altLang="zh-CN" sz="2000" dirty="0"/>
              <a:t>[AI</a:t>
            </a:r>
            <a:r>
              <a:rPr lang="zh-CN" altLang="en-US" sz="2000" dirty="0"/>
              <a:t>生成，工具名称，具体用途</a:t>
            </a:r>
            <a:r>
              <a:rPr lang="en-US" altLang="zh-CN" sz="2000" dirty="0"/>
              <a:t>]</a:t>
            </a:r>
            <a:r>
              <a:rPr lang="zh-CN" altLang="en-US" sz="2000" dirty="0"/>
              <a:t>。</a:t>
            </a:r>
          </a:p>
          <a:p>
            <a:pPr lvl="1"/>
            <a:r>
              <a:rPr lang="zh-CN" altLang="en-US" sz="2000" dirty="0"/>
              <a:t>使用比例：直接使用生成式人工智能生成的内容不得超过整体工作的</a:t>
            </a:r>
            <a:r>
              <a:rPr lang="en-US" altLang="zh-CN" sz="2000" dirty="0"/>
              <a:t>30%</a:t>
            </a:r>
            <a:r>
              <a:rPr lang="zh-CN" altLang="en-US" sz="2000" dirty="0"/>
              <a:t>，且学生需对</a:t>
            </a:r>
            <a:r>
              <a:rPr lang="en-US" altLang="zh-CN" sz="2000" dirty="0"/>
              <a:t>AI</a:t>
            </a:r>
            <a:r>
              <a:rPr lang="zh-CN" altLang="en-US" sz="2000" dirty="0"/>
              <a:t>生成内容进行实质性修改和优化。</a:t>
            </a:r>
          </a:p>
        </p:txBody>
      </p:sp>
    </p:spTree>
    <p:extLst>
      <p:ext uri="{BB962C8B-B14F-4D97-AF65-F5344CB8AC3E}">
        <p14:creationId xmlns:p14="http://schemas.microsoft.com/office/powerpoint/2010/main" val="28246880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评估与监督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219200"/>
            <a:ext cx="10780464" cy="4419600"/>
          </a:xfrm>
        </p:spPr>
        <p:txBody>
          <a:bodyPr/>
          <a:lstStyle/>
          <a:p>
            <a:r>
              <a:rPr lang="zh-CN" altLang="en-US" sz="2800" dirty="0"/>
              <a:t>学院定期对学生作业进行人工智能生成内容检测，或者组织专家组进行人工审核；检测结果将作为学术诚信评估的依据。</a:t>
            </a:r>
          </a:p>
          <a:p>
            <a:r>
              <a:rPr lang="zh-CN" altLang="en-US" sz="2800" dirty="0"/>
              <a:t>对于违反本规范的行为，将依据学校相关规定，视情节轻重给予以下处理：课程作业：警告、降低成绩、取消成绩。</a:t>
            </a:r>
            <a:endParaRPr lang="en-US" altLang="zh-CN" sz="2800" dirty="0"/>
          </a:p>
          <a:p>
            <a:r>
              <a:rPr lang="zh-CN" altLang="en-US" sz="2800" dirty="0"/>
              <a:t>本规范自发布之日起试行，学院将根据实施情况适时调整和完善。欢迎广大师生提出宝贵意见和建议。</a:t>
            </a:r>
          </a:p>
        </p:txBody>
      </p:sp>
    </p:spTree>
    <p:extLst>
      <p:ext uri="{BB962C8B-B14F-4D97-AF65-F5344CB8AC3E}">
        <p14:creationId xmlns:p14="http://schemas.microsoft.com/office/powerpoint/2010/main" val="151719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F7333-5EE7-D44C-9EE3-F395FD06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学在浙大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C478A-F7E3-244E-86F4-38462591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131051"/>
            <a:ext cx="7924800" cy="4419600"/>
          </a:xfrm>
        </p:spPr>
        <p:txBody>
          <a:bodyPr/>
          <a:lstStyle/>
          <a:p>
            <a:r>
              <a:rPr kumimoji="1" lang="en-US" altLang="zh-CN" dirty="0">
                <a:hlinkClick r:id="rId3"/>
              </a:rPr>
              <a:t>https://courses.zju.edu.cn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78C33-58FF-49F4-83E4-9B7F2C708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5" y="1700809"/>
            <a:ext cx="79248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34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F7333-5EE7-D44C-9EE3-F395FD06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智云课堂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C478A-F7E3-244E-86F4-38462591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143000"/>
            <a:ext cx="7924800" cy="4419600"/>
          </a:xfrm>
        </p:spPr>
        <p:txBody>
          <a:bodyPr/>
          <a:lstStyle/>
          <a:p>
            <a:r>
              <a:rPr kumimoji="1" lang="en-US" altLang="zh-CN" dirty="0">
                <a:hlinkClick r:id="rId2"/>
              </a:rPr>
              <a:t>https://classroom.zju.edu.cn</a:t>
            </a:r>
            <a:endParaRPr kumimoji="1"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9B1832-A1C4-4E1B-AA7C-EBE47A663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700809"/>
            <a:ext cx="79248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599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56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adial 1">
    <a:dk1>
      <a:srgbClr val="000000"/>
    </a:dk1>
    <a:lt1>
      <a:srgbClr val="FFFFFF"/>
    </a:lt1>
    <a:dk2>
      <a:srgbClr val="FFFFFF"/>
    </a:dk2>
    <a:lt2>
      <a:srgbClr val="669999"/>
    </a:lt2>
    <a:accent1>
      <a:srgbClr val="99CCFF"/>
    </a:accent1>
    <a:accent2>
      <a:srgbClr val="9999FF"/>
    </a:accent2>
    <a:accent3>
      <a:srgbClr val="FFFFFF"/>
    </a:accent3>
    <a:accent4>
      <a:srgbClr val="000000"/>
    </a:accent4>
    <a:accent5>
      <a:srgbClr val="CAE2FF"/>
    </a:accent5>
    <a:accent6>
      <a:srgbClr val="8A8AE7"/>
    </a:accent6>
    <a:hlink>
      <a:srgbClr val="996666"/>
    </a:hlink>
    <a:folHlink>
      <a:srgbClr val="6666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4108</TotalTime>
  <Words>3918</Words>
  <Application>Microsoft Office PowerPoint</Application>
  <PresentationFormat>宽屏</PresentationFormat>
  <Paragraphs>660</Paragraphs>
  <Slides>59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1" baseType="lpstr">
      <vt:lpstr>等线</vt:lpstr>
      <vt:lpstr>黑体</vt:lpstr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Radial</vt:lpstr>
      <vt:lpstr>Visio</vt:lpstr>
      <vt:lpstr>Computer Architecture  ----A Quantitative Approach</vt:lpstr>
      <vt:lpstr>课程简介</vt:lpstr>
      <vt:lpstr>课程简介</vt:lpstr>
      <vt:lpstr>改革中的课程体系</vt:lpstr>
      <vt:lpstr>计算机系统能力培养总体思路</vt:lpstr>
      <vt:lpstr>改革中的实验体系</vt:lpstr>
      <vt:lpstr>What is Computer Architecture</vt:lpstr>
      <vt:lpstr>What is Computer Architecture</vt:lpstr>
      <vt:lpstr>What is Computer Architecture</vt:lpstr>
      <vt:lpstr>What is Computer Architecture</vt:lpstr>
      <vt:lpstr>What are the difficult problems?</vt:lpstr>
      <vt:lpstr>What are the difficult problems?</vt:lpstr>
      <vt:lpstr>What are the difficult problems?</vt:lpstr>
      <vt:lpstr>TOP 10, 11/2009</vt:lpstr>
      <vt:lpstr>TOP 10, 11/2010</vt:lpstr>
      <vt:lpstr>TOP 10, 11/2011</vt:lpstr>
      <vt:lpstr>TOP 10, 11/2017</vt:lpstr>
      <vt:lpstr>TOP 10, 06/2019</vt:lpstr>
      <vt:lpstr>TOP 10, 06/2021</vt:lpstr>
      <vt:lpstr>TOP 10, 06/2023</vt:lpstr>
      <vt:lpstr>Fastest computer in China</vt:lpstr>
      <vt:lpstr>Why?</vt:lpstr>
      <vt:lpstr>Top conference in CA </vt:lpstr>
      <vt:lpstr>Eckert-Mauchly Award </vt:lpstr>
      <vt:lpstr>Big Men in Architecture(1)</vt:lpstr>
      <vt:lpstr>Big Men in Architecture(2)</vt:lpstr>
      <vt:lpstr>Big Men in Architecture(3)</vt:lpstr>
      <vt:lpstr>Big Men in Architecture(4)</vt:lpstr>
      <vt:lpstr>Big Men in Architecture(5)</vt:lpstr>
      <vt:lpstr> Big Men in Architecture(6)</vt:lpstr>
      <vt:lpstr> Big Men in Architecture(7)</vt:lpstr>
      <vt:lpstr>Big Men in Architecture(8)</vt:lpstr>
      <vt:lpstr>David A. Patterson  （UC Berkeley）</vt:lpstr>
      <vt:lpstr>How ?</vt:lpstr>
      <vt:lpstr>Text Book</vt:lpstr>
      <vt:lpstr>What’s new on this Edition ?</vt:lpstr>
      <vt:lpstr>Contents</vt:lpstr>
      <vt:lpstr> Topics covered in this class</vt:lpstr>
      <vt:lpstr>Outlook</vt:lpstr>
      <vt:lpstr>Open Source Architecture</vt:lpstr>
      <vt:lpstr>Security Risks</vt:lpstr>
      <vt:lpstr>Security Improvements</vt:lpstr>
      <vt:lpstr>Domain Specific Architectures</vt:lpstr>
      <vt:lpstr>Domain Specific Architectures</vt:lpstr>
      <vt:lpstr>Domain Specific Architectures</vt:lpstr>
      <vt:lpstr>Course materials &amp; Readings</vt:lpstr>
      <vt:lpstr>Grading </vt:lpstr>
      <vt:lpstr> Important Note about Grading </vt:lpstr>
      <vt:lpstr>Assignments and reading</vt:lpstr>
      <vt:lpstr>AI赋能课程</vt:lpstr>
      <vt:lpstr>AI赋能课程</vt:lpstr>
      <vt:lpstr>AI赋能课程</vt:lpstr>
      <vt:lpstr>AI赋能课程</vt:lpstr>
      <vt:lpstr>生成式人工智能使用规范</vt:lpstr>
      <vt:lpstr>课程作业使用规范</vt:lpstr>
      <vt:lpstr>评估与监督</vt:lpstr>
      <vt:lpstr>学在浙大</vt:lpstr>
      <vt:lpstr>智云课堂</vt:lpstr>
      <vt:lpstr>PowerPoint 演示文稿</vt:lpstr>
    </vt:vector>
  </TitlesOfParts>
  <Company>computer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高级计算机系统结构1</dc:title>
  <dc:creator>wzchen</dc:creator>
  <cp:lastModifiedBy>Shi Jin</cp:lastModifiedBy>
  <cp:revision>481</cp:revision>
  <dcterms:created xsi:type="dcterms:W3CDTF">2005-03-26T12:18:31Z</dcterms:created>
  <dcterms:modified xsi:type="dcterms:W3CDTF">2026-03-02T03:39:26Z</dcterms:modified>
</cp:coreProperties>
</file>