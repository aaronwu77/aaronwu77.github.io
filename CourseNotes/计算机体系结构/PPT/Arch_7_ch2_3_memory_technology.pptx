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510" r:id="rId2"/>
    <p:sldId id="643" r:id="rId3"/>
    <p:sldId id="584" r:id="rId4"/>
    <p:sldId id="585" r:id="rId5"/>
    <p:sldId id="586" r:id="rId6"/>
    <p:sldId id="587" r:id="rId7"/>
    <p:sldId id="588" r:id="rId8"/>
    <p:sldId id="589" r:id="rId9"/>
    <p:sldId id="591" r:id="rId10"/>
    <p:sldId id="590" r:id="rId11"/>
    <p:sldId id="592" r:id="rId12"/>
    <p:sldId id="593" r:id="rId13"/>
    <p:sldId id="594" r:id="rId14"/>
    <p:sldId id="599" r:id="rId15"/>
    <p:sldId id="598" r:id="rId16"/>
    <p:sldId id="613" r:id="rId17"/>
    <p:sldId id="600" r:id="rId18"/>
    <p:sldId id="642" r:id="rId19"/>
    <p:sldId id="612" r:id="rId20"/>
    <p:sldId id="618" r:id="rId21"/>
    <p:sldId id="630" r:id="rId22"/>
    <p:sldId id="631" r:id="rId23"/>
    <p:sldId id="632" r:id="rId24"/>
    <p:sldId id="633" r:id="rId25"/>
    <p:sldId id="635" r:id="rId26"/>
    <p:sldId id="640" r:id="rId27"/>
    <p:sldId id="641" r:id="rId28"/>
    <p:sldId id="525" r:id="rId29"/>
  </p:sldIdLst>
  <p:sldSz cx="12192000" cy="6858000"/>
  <p:notesSz cx="6858000" cy="9144000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BFFBB"/>
    <a:srgbClr val="C0D2FE"/>
    <a:srgbClr val="CCECFF"/>
    <a:srgbClr val="FFFFCC"/>
    <a:srgbClr val="FFF0E7"/>
    <a:srgbClr val="FEE0CE"/>
    <a:srgbClr val="DCFECE"/>
    <a:srgbClr val="D3F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63" autoAdjust="0"/>
    <p:restoredTop sz="92188"/>
  </p:normalViewPr>
  <p:slideViewPr>
    <p:cSldViewPr>
      <p:cViewPr varScale="1">
        <p:scale>
          <a:sx n="94" d="100"/>
          <a:sy n="94" d="100"/>
        </p:scale>
        <p:origin x="84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0"/>
    </p:cViewPr>
  </p:sorterViewPr>
  <p:notesViewPr>
    <p:cSldViewPr>
      <p:cViewPr varScale="1">
        <p:scale>
          <a:sx n="43" d="100"/>
          <a:sy n="43" d="100"/>
        </p:scale>
        <p:origin x="-1522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520E893-8A06-44C8-A659-B196F34A0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8704263"/>
            <a:ext cx="7524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 lIns="87305" tIns="44446" rIns="87305" bIns="44446">
            <a:spAutoFit/>
          </a:bodyPr>
          <a:lstStyle>
            <a:lvl1pPr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 marL="742950" indent="-28575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 marL="1143000" indent="-22860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 marL="1600200" indent="-22860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 marL="2057400" indent="-22860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 marL="25146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 marL="29718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 marL="34290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 marL="38862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1200" b="0"/>
              <a:t>Page </a:t>
            </a:r>
            <a:fld id="{11FF0238-CBA7-4573-8314-2E473C9340B4}" type="slidenum">
              <a:rPr lang="en-US" altLang="zh-CN" sz="1200" b="0" smtClean="0"/>
              <a:pPr algn="ctr" eaLnBrk="1" hangingPunct="1">
                <a:lnSpc>
                  <a:spcPct val="90000"/>
                </a:lnSpc>
                <a:defRPr/>
              </a:pPr>
              <a:t>‹#›</a:t>
            </a:fld>
            <a:endParaRPr lang="en-US" altLang="zh-CN" sz="1200" b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E176509-A868-474E-8D8B-7444F1DCA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8704263"/>
            <a:ext cx="776288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wrap="none" lIns="87305" tIns="44446" rIns="87305" bIns="44446">
            <a:spAutoFit/>
          </a:bodyPr>
          <a:lstStyle>
            <a:lvl1pPr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1pPr>
            <a:lvl2pPr marL="742950" indent="-28575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2pPr>
            <a:lvl3pPr marL="1143000" indent="-22860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3pPr>
            <a:lvl4pPr marL="1600200" indent="-22860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4pPr>
            <a:lvl5pPr marL="2057400" indent="-228600" defTabSz="868363"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5pPr>
            <a:lvl6pPr marL="25146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6pPr>
            <a:lvl7pPr marL="29718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7pPr>
            <a:lvl8pPr marL="34290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8pPr>
            <a:lvl9pPr marL="3886200" indent="-228600" defTabSz="868363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宋体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altLang="zh-CN" sz="1200" b="0"/>
              <a:t>Page </a:t>
            </a:r>
            <a:fld id="{CF93533A-2972-4215-B0C0-5B322CCA1D4B}" type="slidenum">
              <a:rPr lang="en-US" altLang="zh-CN" sz="1200" b="0" smtClean="0"/>
              <a:pPr algn="ctr" eaLnBrk="1" hangingPunct="1">
                <a:lnSpc>
                  <a:spcPct val="90000"/>
                </a:lnSpc>
                <a:defRPr/>
              </a:pPr>
              <a:t>‹#›</a:t>
            </a:fld>
            <a:endParaRPr lang="en-US" altLang="zh-CN" sz="1200" b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209719-FCED-462E-AF6C-281F598D037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93700" y="692150"/>
            <a:ext cx="6072188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A8933CF-1337-4314-953D-FAD3C24A7B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479" tIns="44446" rIns="90479" bIns="444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Comic Sans MS" pitchFamily="66" charset="0"/>
        <a:ea typeface="宋体" charset="0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Comic Sans MS" pitchFamily="66" charset="0"/>
        <a:ea typeface="宋体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Comic Sans MS" pitchFamily="66" charset="0"/>
        <a:ea typeface="宋体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Comic Sans MS" pitchFamily="66" charset="0"/>
        <a:ea typeface="宋体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Comic Sans MS" pitchFamily="66" charset="0"/>
        <a:ea typeface="宋体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906420DD-76F8-40C0-8F03-23E221B01D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29699" name="备注占位符 2">
            <a:extLst>
              <a:ext uri="{FF2B5EF4-FFF2-40B4-BE49-F238E27FC236}">
                <a16:creationId xmlns:a16="http://schemas.microsoft.com/office/drawing/2014/main" id="{65E382EF-B51C-49C9-A5AC-D9743D1B9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04800" y="1427164"/>
            <a:ext cx="10769600" cy="1609725"/>
          </a:xfrm>
          <a:prstGeom prst="rect">
            <a:avLst/>
          </a:prstGeom>
        </p:spPr>
        <p:txBody>
          <a:bodyPr/>
          <a:lstStyle>
            <a:lvl1pPr>
              <a:defRPr sz="46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422400" y="3441700"/>
            <a:ext cx="8839200" cy="1676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9724410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340768"/>
            <a:ext cx="10566400" cy="441960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039477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714021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28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40D058-6814-4A19-9E20-C86B7F0F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B29F5D-0D91-4C0B-AABB-5892161EC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88ADC3-2938-4E3A-BB47-E6CF24F2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F0275183-BF96-4250-8B7E-41692C61BE1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345296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69D05C-20EC-4A47-90FB-67256F25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3D3345-11C4-4258-A1CC-6CAB6CD4E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918A07-CFB2-41C8-8C1E-036AE43E0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93BA4F2D-744B-4F6F-BD43-63F12DE0FA7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66990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20A9822-4351-489C-91E6-DE9C071E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1859BA-EB22-4273-BC31-E5FAE1F5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B9C817-0424-40BC-A7F9-298367BC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5104A902-036C-406B-8072-0475560CB83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958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BB32AF-0151-437C-B27B-72F9E6DF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3748DA-D33F-469F-83CC-7B881271F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2E558A-D2B7-4326-BAF5-FB71F11E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443DAB5C-2A2A-45ED-9D8E-37A8A4D5072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53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421652-DE74-4307-994D-E0CCF34D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9E2C29-7C2C-4B6F-92F0-2FA387D8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2E20A0-8610-4C0F-8E83-3AD8A34D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F59D63DB-3254-48E1-8D46-9E50C5CF96E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096659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FCF5A4-9DBF-4D57-A42C-9AFDAB6E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AEE890-129C-4FE7-BDD7-CE3590C8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203030-DEF0-4155-A7F2-46758FB8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92433F3E-FD58-4A3D-9489-5894AAA5C3A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699209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6DF5A-A6F7-4E20-83E7-8624F91C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8DEBF4-A58D-459E-819F-D15B2838B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2973FC-5E8F-4C8B-A19F-46BB9800F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25274C3F-D0A1-4484-976A-6C8A106B058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44299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00018" y="228600"/>
            <a:ext cx="2779183" cy="57912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60351" y="228600"/>
            <a:ext cx="8136467" cy="5791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20157-B241-41F7-BE6D-0A4BA84D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EE391D-CD4D-414A-BF85-F0166BD2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0437FE-9ABF-4F78-8E08-015BCEA1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2903EF1C-A12C-41E3-9806-AB91EA7B34B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97328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zh-CN" altLang="en-US" noProof="0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9EBF91-2F1A-47C0-9669-F2F06CF5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AFD80F-6B01-4ED4-BDF7-9D1B0FEA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D485B5-FC38-42FA-9DA2-D8EEAF21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70023752-C75C-4E23-8D69-5EE70F88EF5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7514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808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8"/>
            <a:ext cx="5873751" cy="4575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076951" y="1557339"/>
            <a:ext cx="587586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76951" y="3921125"/>
            <a:ext cx="587586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05C89F96-3816-4BD9-B79F-0CE3AD23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09504C72-B557-4B1F-A660-8AC19FC6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4349A08-2C20-45C7-B6CF-17B42D64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D3AD1E14-89CE-4307-AB96-870036EB65C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5680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EDB8F8-81DC-447D-81C6-6263F696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2DB84C-E96C-42EF-B369-2F0264D8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F4711F-31D6-4CF1-9FA8-1AFAA7C01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BB6A65EF-554C-4E53-ADEF-CF3C9A0B398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992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" y="1557339"/>
            <a:ext cx="11952817" cy="22113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" y="3921125"/>
            <a:ext cx="11952817" cy="22113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110DCB-E2B5-4375-B228-0A4500E2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237288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8F0BDF-9C97-486C-A566-670B9ED68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D8F91D-A10D-4B5F-A48D-ED29C4A6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ea typeface="SimSun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272BB5CA-8A9A-48AE-B666-6F784A2267D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305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228600"/>
            <a:ext cx="10261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588000" cy="4800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3137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梯形 10">
            <a:extLst>
              <a:ext uri="{FF2B5EF4-FFF2-40B4-BE49-F238E27FC236}">
                <a16:creationId xmlns:a16="http://schemas.microsoft.com/office/drawing/2014/main" id="{8051FF73-533C-4411-A610-43530B1DAEED}"/>
              </a:ext>
            </a:extLst>
          </p:cNvPr>
          <p:cNvSpPr/>
          <p:nvPr/>
        </p:nvSpPr>
        <p:spPr>
          <a:xfrm>
            <a:off x="624417" y="219076"/>
            <a:ext cx="4950883" cy="550863"/>
          </a:xfrm>
          <a:prstGeom prst="trapezoid">
            <a:avLst>
              <a:gd name="adj" fmla="val 27273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1027" name="图片 11">
            <a:extLst>
              <a:ext uri="{FF2B5EF4-FFF2-40B4-BE49-F238E27FC236}">
                <a16:creationId xmlns:a16="http://schemas.microsoft.com/office/drawing/2014/main" id="{D9C6CCD9-3A44-474B-B161-164344394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" y="115888"/>
            <a:ext cx="1153584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03DBA2F-E6BB-42C8-9B2B-2045847F1ED2}"/>
              </a:ext>
            </a:extLst>
          </p:cNvPr>
          <p:cNvSpPr/>
          <p:nvPr/>
        </p:nvSpPr>
        <p:spPr>
          <a:xfrm>
            <a:off x="4660900" y="219076"/>
            <a:ext cx="7105651" cy="550863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3A49B0-2F80-4630-8CC6-D48246A70F0C}"/>
              </a:ext>
            </a:extLst>
          </p:cNvPr>
          <p:cNvSpPr/>
          <p:nvPr/>
        </p:nvSpPr>
        <p:spPr>
          <a:xfrm>
            <a:off x="5909734" y="723900"/>
            <a:ext cx="5856817" cy="46038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794D07-3CA4-4043-A71B-27F4F50349E9}"/>
              </a:ext>
            </a:extLst>
          </p:cNvPr>
          <p:cNvSpPr/>
          <p:nvPr/>
        </p:nvSpPr>
        <p:spPr>
          <a:xfrm>
            <a:off x="7440085" y="6308725"/>
            <a:ext cx="4751916" cy="407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浙江大学计算机学院系统结构实验室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39AD0D-A861-40E0-90F8-82DC162B8CA7}"/>
              </a:ext>
            </a:extLst>
          </p:cNvPr>
          <p:cNvSpPr/>
          <p:nvPr/>
        </p:nvSpPr>
        <p:spPr>
          <a:xfrm>
            <a:off x="7440085" y="6742114"/>
            <a:ext cx="4751916" cy="53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2" name="标题占位符 1">
            <a:extLst>
              <a:ext uri="{FF2B5EF4-FFF2-40B4-BE49-F238E27FC236}">
                <a16:creationId xmlns:a16="http://schemas.microsoft.com/office/drawing/2014/main" id="{1B060714-3032-4E0C-A4D7-6CDFD6D25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82651" y="231775"/>
            <a:ext cx="10538883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1" r:id="rId2"/>
    <p:sldLayoutId id="2147483692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693" r:id="rId13"/>
    <p:sldLayoutId id="2147483705" r:id="rId14"/>
    <p:sldLayoutId id="2147483706" r:id="rId15"/>
    <p:sldLayoutId id="2147483707" r:id="rId16"/>
    <p:sldLayoutId id="2147483694" r:id="rId17"/>
  </p:sldLayoutIdLst>
  <p:transition/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40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795249"/>
            <a:ext cx="1158299" cy="103388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2348880"/>
            <a:ext cx="12192000" cy="1656184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1524005" y="2744788"/>
            <a:ext cx="8461375" cy="8636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Computer Architecture </a:t>
            </a:r>
            <a:b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----A Quantitative Approach</a:t>
            </a:r>
            <a:endParaRPr lang="zh-CN" altLang="en-US" sz="20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 rot="10800000">
            <a:off x="5939112" y="4005064"/>
            <a:ext cx="313776" cy="216024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rgbClr val="004EA2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0" y="2227011"/>
            <a:ext cx="12191998" cy="45720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84950" y="4659302"/>
            <a:ext cx="3222105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陈文智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浙江大学计算机学院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chenwz@zju.edu.cn</a:t>
            </a:r>
          </a:p>
        </p:txBody>
      </p:sp>
    </p:spTree>
    <p:extLst>
      <p:ext uri="{BB962C8B-B14F-4D97-AF65-F5344CB8AC3E}">
        <p14:creationId xmlns:p14="http://schemas.microsoft.com/office/powerpoint/2010/main" val="42566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1">
            <a:extLst>
              <a:ext uri="{FF2B5EF4-FFF2-40B4-BE49-F238E27FC236}">
                <a16:creationId xmlns:a16="http://schemas.microsoft.com/office/drawing/2014/main" id="{E312A5AE-47F3-423F-BB3E-F7B2AC1C3F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432" y="1341438"/>
            <a:ext cx="10225136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5.8 </a:t>
            </a:r>
            <a:r>
              <a:rPr lang="en-US" altLang="zh-CN" dirty="0"/>
              <a:t>Main Memory and Organizations for Improving Performance</a:t>
            </a:r>
          </a:p>
          <a:p>
            <a:endParaRPr lang="en-US" altLang="zh-CN" dirty="0"/>
          </a:p>
          <a:p>
            <a:r>
              <a:rPr lang="zh-CN" altLang="en-US" dirty="0"/>
              <a:t>5.9 </a:t>
            </a:r>
            <a:r>
              <a:rPr lang="en-US" altLang="zh-CN" dirty="0"/>
              <a:t>Memory Technology</a:t>
            </a:r>
          </a:p>
          <a:p>
            <a:endParaRPr lang="en-US" altLang="zh-CN" dirty="0"/>
          </a:p>
          <a:p>
            <a:r>
              <a:rPr lang="zh-CN" altLang="en-US" dirty="0"/>
              <a:t>5.10 </a:t>
            </a:r>
            <a:r>
              <a:rPr lang="en-US" altLang="zh-CN" dirty="0"/>
              <a:t>Virtual Memory</a:t>
            </a:r>
            <a:endParaRPr lang="zh-CN" altLang="en-US" dirty="0"/>
          </a:p>
        </p:txBody>
      </p:sp>
      <p:sp>
        <p:nvSpPr>
          <p:cNvPr id="19459" name="标题 2">
            <a:extLst>
              <a:ext uri="{FF2B5EF4-FFF2-40B4-BE49-F238E27FC236}">
                <a16:creationId xmlns:a16="http://schemas.microsoft.com/office/drawing/2014/main" id="{83BA85B4-C8AB-44F7-A34E-B79E59915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TOC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793C9C2-82F4-4DCF-8AD6-1BF0467F5B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341438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/>
              <a:t>Main memory is the next level down in the hierarchy.</a:t>
            </a:r>
          </a:p>
          <a:p>
            <a:pPr lvl="1"/>
            <a:r>
              <a:rPr lang="en-US" altLang="zh-CN" sz="1800" dirty="0"/>
              <a:t>We usually call it inter-memory(EMS memory)</a:t>
            </a:r>
          </a:p>
          <a:p>
            <a:pPr lvl="1"/>
            <a:r>
              <a:rPr lang="en-US" altLang="zh-CN" sz="1800" dirty="0"/>
              <a:t>Main memory is usually made from DRAM while caches use SRAM.</a:t>
            </a:r>
          </a:p>
          <a:p>
            <a:r>
              <a:rPr lang="en-US" altLang="zh-CN" sz="2000" dirty="0"/>
              <a:t>Performance of main memory</a:t>
            </a:r>
          </a:p>
          <a:p>
            <a:pPr lvl="1"/>
            <a:r>
              <a:rPr lang="en-US" altLang="zh-CN" sz="1800" dirty="0"/>
              <a:t>Latency: harder to reduce latency</a:t>
            </a:r>
          </a:p>
          <a:p>
            <a:pPr lvl="2"/>
            <a:r>
              <a:rPr lang="en-US" altLang="zh-CN" sz="1600" dirty="0"/>
              <a:t>Important for caches. </a:t>
            </a:r>
          </a:p>
          <a:p>
            <a:pPr lvl="1"/>
            <a:r>
              <a:rPr lang="en-US" altLang="zh-CN" sz="1800" dirty="0"/>
              <a:t>Bandwidth: easier to improve bandwidth with new organizations</a:t>
            </a:r>
          </a:p>
          <a:p>
            <a:pPr lvl="2"/>
            <a:r>
              <a:rPr lang="en-US" altLang="zh-CN" sz="1600" dirty="0"/>
              <a:t>Important for I/O. </a:t>
            </a:r>
          </a:p>
          <a:p>
            <a:pPr lvl="2"/>
            <a:r>
              <a:rPr lang="en-US" altLang="zh-CN" sz="1600" dirty="0"/>
              <a:t>Also for cache with second-level and larger block sizes. </a:t>
            </a:r>
          </a:p>
          <a:p>
            <a:r>
              <a:rPr lang="en-US" altLang="zh-CN" sz="2000" dirty="0"/>
              <a:t>The previous sections describe cache organization to reduce CPU-DRAM performance gap</a:t>
            </a:r>
          </a:p>
          <a:p>
            <a:endParaRPr lang="en-US" altLang="zh-CN" sz="2000" dirty="0"/>
          </a:p>
          <a:p>
            <a:r>
              <a:rPr lang="en-US" altLang="zh-CN" sz="2000" dirty="0"/>
              <a:t>This section we analyze techniques for organizing memory to improve bandwidth.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48C4B00-500F-47A6-8FF3-C6399D439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/>
              <a:t>5.8 </a:t>
            </a:r>
            <a:r>
              <a:rPr lang="en-US" altLang="zh-CN" sz="2000"/>
              <a:t>Main Memory and Organizations for Improving Performance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EE861D3-5949-43F3-8C13-4849BD094A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1424" y="1066800"/>
            <a:ext cx="10597752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First-level caches are often organized with a physical width of </a:t>
            </a:r>
            <a:r>
              <a:rPr lang="en-US" altLang="zh-CN" dirty="0">
                <a:solidFill>
                  <a:schemeClr val="hlink"/>
                </a:solidFill>
              </a:rPr>
              <a:t>1 word</a:t>
            </a:r>
            <a:r>
              <a:rPr lang="en-US" altLang="zh-CN" dirty="0"/>
              <a:t> because most CPU accesses are that size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Assume</a:t>
            </a:r>
            <a:r>
              <a:rPr lang="en-US" altLang="zh-CN" dirty="0"/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		4  clock cycles to send the address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		56 clock cycles for the access time per word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		4 clock cycles to send a word of data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		Block size is 4 words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		Every word is 8 bytes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The miss penalty: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/>
              <a:t>		4×(4+56+4)＝256 CLKs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dirty="0">
                <a:solidFill>
                  <a:schemeClr val="hlink"/>
                </a:solidFill>
              </a:rPr>
              <a:t>Bandwidth :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6948771-B1AF-45A9-812C-EC370DBD9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424" y="68263"/>
            <a:ext cx="9907389" cy="838200"/>
          </a:xfrm>
        </p:spPr>
        <p:txBody>
          <a:bodyPr/>
          <a:lstStyle/>
          <a:p>
            <a:r>
              <a:rPr lang="en-US" altLang="zh-CN" dirty="0"/>
              <a:t>Performance basic memory organization</a:t>
            </a:r>
          </a:p>
        </p:txBody>
      </p:sp>
      <p:pic>
        <p:nvPicPr>
          <p:cNvPr id="21517" name="Picture 13">
            <a:extLst>
              <a:ext uri="{FF2B5EF4-FFF2-40B4-BE49-F238E27FC236}">
                <a16:creationId xmlns:a16="http://schemas.microsoft.com/office/drawing/2014/main" id="{6B676D39-C5D1-4797-9399-5DEB54EF4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392" y="1484784"/>
            <a:ext cx="94456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09" name="Group 12">
            <a:extLst>
              <a:ext uri="{FF2B5EF4-FFF2-40B4-BE49-F238E27FC236}">
                <a16:creationId xmlns:a16="http://schemas.microsoft.com/office/drawing/2014/main" id="{88D2693D-CEC1-4917-9717-5C2718B3C535}"/>
              </a:ext>
            </a:extLst>
          </p:cNvPr>
          <p:cNvGrpSpPr>
            <a:grpSpLocks/>
          </p:cNvGrpSpPr>
          <p:nvPr/>
        </p:nvGrpSpPr>
        <p:grpSpPr bwMode="auto">
          <a:xfrm>
            <a:off x="4514851" y="4941888"/>
            <a:ext cx="1852613" cy="781050"/>
            <a:chOff x="1967" y="3120"/>
            <a:chExt cx="1167" cy="492"/>
          </a:xfrm>
        </p:grpSpPr>
        <p:sp>
          <p:nvSpPr>
            <p:cNvPr id="16390" name="Rectangle 5">
              <a:extLst>
                <a:ext uri="{FF2B5EF4-FFF2-40B4-BE49-F238E27FC236}">
                  <a16:creationId xmlns:a16="http://schemas.microsoft.com/office/drawing/2014/main" id="{6BA069BE-3EC2-4AAE-A96C-689B73CAA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3120"/>
              <a:ext cx="5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400" dirty="0">
                  <a:latin typeface="+mn-lt"/>
                </a:rPr>
                <a:t>4×8</a:t>
              </a:r>
              <a:endParaRPr lang="zh-CN" altLang="en-US" sz="2400" dirty="0">
                <a:latin typeface="+mn-lt"/>
              </a:endParaRPr>
            </a:p>
          </p:txBody>
        </p:sp>
        <p:sp>
          <p:nvSpPr>
            <p:cNvPr id="16391" name="Rectangle 6">
              <a:extLst>
                <a:ext uri="{FF2B5EF4-FFF2-40B4-BE49-F238E27FC236}">
                  <a16:creationId xmlns:a16="http://schemas.microsoft.com/office/drawing/2014/main" id="{12A1E109-4108-4619-B082-514DE94FC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321"/>
              <a:ext cx="44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400" dirty="0">
                  <a:latin typeface="+mn-lt"/>
                </a:rPr>
                <a:t>256</a:t>
              </a:r>
              <a:endParaRPr lang="zh-CN" altLang="en-US" sz="2400" dirty="0">
                <a:latin typeface="+mn-lt"/>
              </a:endParaRPr>
            </a:p>
          </p:txBody>
        </p:sp>
        <p:sp>
          <p:nvSpPr>
            <p:cNvPr id="21512" name="Line 7">
              <a:extLst>
                <a:ext uri="{FF2B5EF4-FFF2-40B4-BE49-F238E27FC236}">
                  <a16:creationId xmlns:a16="http://schemas.microsoft.com/office/drawing/2014/main" id="{F212F712-A8B7-4D74-8F92-2117A5F01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360"/>
              <a:ext cx="576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13" name="Rectangle 8">
              <a:extLst>
                <a:ext uri="{FF2B5EF4-FFF2-40B4-BE49-F238E27FC236}">
                  <a16:creationId xmlns:a16="http://schemas.microsoft.com/office/drawing/2014/main" id="{18F3F0E3-2C49-475A-A5BE-FF703D1E9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16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＝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16394" name="Rectangle 9">
              <a:extLst>
                <a:ext uri="{FF2B5EF4-FFF2-40B4-BE49-F238E27FC236}">
                  <a16:creationId xmlns:a16="http://schemas.microsoft.com/office/drawing/2014/main" id="{ED03346B-4328-4F1E-AD91-EA85A0BCE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3120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400" dirty="0">
                  <a:latin typeface="+mn-lt"/>
                </a:rPr>
                <a:t>1</a:t>
              </a:r>
              <a:endParaRPr lang="zh-CN" altLang="en-US" sz="2400" dirty="0">
                <a:latin typeface="+mn-lt"/>
              </a:endParaRPr>
            </a:p>
          </p:txBody>
        </p:sp>
        <p:sp>
          <p:nvSpPr>
            <p:cNvPr id="16395" name="Rectangle 10">
              <a:extLst>
                <a:ext uri="{FF2B5EF4-FFF2-40B4-BE49-F238E27FC236}">
                  <a16:creationId xmlns:a16="http://schemas.microsoft.com/office/drawing/2014/main" id="{15CCD287-1904-4759-B4B2-E39CEA219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321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zh-CN" sz="2400" dirty="0">
                  <a:latin typeface="+mn-lt"/>
                </a:rPr>
                <a:t>8</a:t>
              </a:r>
              <a:endParaRPr lang="zh-CN" altLang="en-US" sz="2400" dirty="0">
                <a:latin typeface="+mn-lt"/>
              </a:endParaRPr>
            </a:p>
          </p:txBody>
        </p:sp>
        <p:sp>
          <p:nvSpPr>
            <p:cNvPr id="21516" name="Line 11">
              <a:extLst>
                <a:ext uri="{FF2B5EF4-FFF2-40B4-BE49-F238E27FC236}">
                  <a16:creationId xmlns:a16="http://schemas.microsoft.com/office/drawing/2014/main" id="{EEB0E936-3509-4ACB-8967-241D42F92D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60"/>
              <a:ext cx="249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3BD4697-72F6-45DA-A178-CE5001CA8D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219200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 err="1"/>
              <a:t>Amdahl’law</a:t>
            </a:r>
            <a:r>
              <a:rPr lang="en-US" altLang="zh-CN" sz="2000" dirty="0"/>
              <a:t> suggested that memory capacity should grow linearly with CPU speed. </a:t>
            </a:r>
          </a:p>
          <a:p>
            <a:r>
              <a:rPr lang="en-US" altLang="zh-CN" sz="2000" dirty="0" err="1"/>
              <a:t>Retrospecting</a:t>
            </a:r>
            <a:endParaRPr lang="en-US" altLang="zh-CN" sz="2000" dirty="0"/>
          </a:p>
          <a:p>
            <a:pPr lvl="1"/>
            <a:r>
              <a:rPr lang="en-US" altLang="zh-CN" sz="1800" dirty="0"/>
              <a:t>Memory capacity grows four-fold every three years to supply this demand. </a:t>
            </a:r>
          </a:p>
          <a:p>
            <a:pPr lvl="1"/>
            <a:r>
              <a:rPr lang="en-US" altLang="zh-CN" sz="1800" dirty="0"/>
              <a:t>The CPU-DRAM performance gap is a problem, however, since DRAM performance improvement is only about 7% per year. </a:t>
            </a:r>
          </a:p>
          <a:p>
            <a:pPr lvl="1"/>
            <a:r>
              <a:rPr lang="en-US" altLang="zh-CN" sz="1800" dirty="0"/>
              <a:t>We will now look at innovations in main memory organizations that are more cost effective. </a:t>
            </a:r>
          </a:p>
          <a:p>
            <a:pPr lvl="1"/>
            <a:endParaRPr lang="en-US" altLang="zh-CN" sz="1800" dirty="0"/>
          </a:p>
          <a:p>
            <a:r>
              <a:rPr lang="en-US" altLang="zh-CN" sz="2000" dirty="0"/>
              <a:t>Wider Main Memory</a:t>
            </a:r>
          </a:p>
          <a:p>
            <a:pPr lvl="1"/>
            <a:r>
              <a:rPr lang="en-US" altLang="zh-CN" sz="1800" dirty="0"/>
              <a:t>Doubling or quadrupling the width of the cache and the memory</a:t>
            </a:r>
          </a:p>
          <a:p>
            <a:pPr lvl="1"/>
            <a:r>
              <a:rPr lang="en-US" altLang="zh-CN" sz="1800" dirty="0"/>
              <a:t>It will therefore double or quadruple the memory bandwidth. </a:t>
            </a:r>
          </a:p>
          <a:p>
            <a:pPr lvl="1"/>
            <a:endParaRPr lang="en-US" altLang="zh-CN" sz="1800" dirty="0"/>
          </a:p>
          <a:p>
            <a:endParaRPr lang="en-US" altLang="zh-CN" sz="2000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9CF7C31-3BA3-4CC6-8204-86456C8067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First Technique for Higher Bandwidth: Wider Main Memory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9D690869-175B-4843-BA41-642BE2813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424" y="76200"/>
            <a:ext cx="9756576" cy="838200"/>
          </a:xfrm>
        </p:spPr>
        <p:txBody>
          <a:bodyPr/>
          <a:lstStyle/>
          <a:p>
            <a:r>
              <a:rPr lang="en-US" altLang="zh-CN" sz="3000" dirty="0"/>
              <a:t> Many words in Single bank </a:t>
            </a:r>
          </a:p>
        </p:txBody>
      </p:sp>
      <p:pic>
        <p:nvPicPr>
          <p:cNvPr id="23561" name="Picture 6">
            <a:extLst>
              <a:ext uri="{FF2B5EF4-FFF2-40B4-BE49-F238E27FC236}">
                <a16:creationId xmlns:a16="http://schemas.microsoft.com/office/drawing/2014/main" id="{46ED8F6F-23C5-4174-9AFD-E089B3B91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334" y="1440943"/>
            <a:ext cx="94456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Line 9">
            <a:extLst>
              <a:ext uri="{FF2B5EF4-FFF2-40B4-BE49-F238E27FC236}">
                <a16:creationId xmlns:a16="http://schemas.microsoft.com/office/drawing/2014/main" id="{AED737D1-9E4E-41C4-94F0-63430ED7EF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4576" y="3573016"/>
            <a:ext cx="3672408" cy="8384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3558" name="Text Box 11">
            <a:extLst>
              <a:ext uri="{FF2B5EF4-FFF2-40B4-BE49-F238E27FC236}">
                <a16:creationId xmlns:a16="http://schemas.microsoft.com/office/drawing/2014/main" id="{70BE315E-DCA7-44CE-AE9D-1EEFE3A4D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553" y="2491060"/>
            <a:ext cx="3124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CG Omega" pitchFamily="34" charset="0"/>
              </a:rPr>
              <a:t>Widening memory:</a:t>
            </a:r>
          </a:p>
          <a:p>
            <a:pPr eaLnBrk="1" hangingPunct="1"/>
            <a:r>
              <a:rPr lang="en-US" altLang="zh-CN" b="1" dirty="0">
                <a:latin typeface="CG Omega" pitchFamily="34" charset="0"/>
              </a:rPr>
              <a:t>Doubles /quadruples</a:t>
            </a:r>
          </a:p>
          <a:p>
            <a:pPr eaLnBrk="1" hangingPunct="1"/>
            <a:r>
              <a:rPr lang="en-US" altLang="zh-CN" b="1" dirty="0">
                <a:latin typeface="CG Omega" pitchFamily="34" charset="0"/>
              </a:rPr>
              <a:t>Memory and Bandwidth</a:t>
            </a:r>
          </a:p>
        </p:txBody>
      </p:sp>
      <p:sp>
        <p:nvSpPr>
          <p:cNvPr id="23559" name="Text Box 13">
            <a:extLst>
              <a:ext uri="{FF2B5EF4-FFF2-40B4-BE49-F238E27FC236}">
                <a16:creationId xmlns:a16="http://schemas.microsoft.com/office/drawing/2014/main" id="{85C46592-31CB-4348-821A-08C563ED2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7253" y="3733800"/>
            <a:ext cx="33528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hlink"/>
                </a:solidFill>
                <a:latin typeface="CG Omega" pitchFamily="34" charset="0"/>
              </a:rPr>
              <a:t>Disadvantages:    bus</a:t>
            </a:r>
          </a:p>
          <a:p>
            <a:pPr eaLnBrk="1" hangingPunct="1"/>
            <a:r>
              <a:rPr lang="en-US" altLang="zh-CN" b="1" dirty="0">
                <a:latin typeface="CG Omega" pitchFamily="34" charset="0"/>
              </a:rPr>
              <a:t>MUX required on critical path to allow word access.</a:t>
            </a:r>
          </a:p>
          <a:p>
            <a:pPr eaLnBrk="1" hangingPunct="1"/>
            <a:r>
              <a:rPr lang="en-US" altLang="zh-CN" b="1" dirty="0">
                <a:latin typeface="CG Omega" pitchFamily="34" charset="0"/>
              </a:rPr>
              <a:t>Increase minimum memory increment purchased by customer.</a:t>
            </a:r>
          </a:p>
          <a:p>
            <a:pPr eaLnBrk="1" hangingPunct="1"/>
            <a:r>
              <a:rPr lang="en-US" altLang="zh-CN" b="1" dirty="0">
                <a:latin typeface="CG Omega" pitchFamily="34" charset="0"/>
              </a:rPr>
              <a:t>Complicates error correction  </a:t>
            </a:r>
          </a:p>
        </p:txBody>
      </p:sp>
      <p:graphicFrame>
        <p:nvGraphicFramePr>
          <p:cNvPr id="23560" name="Object 14">
            <a:extLst>
              <a:ext uri="{FF2B5EF4-FFF2-40B4-BE49-F238E27FC236}">
                <a16:creationId xmlns:a16="http://schemas.microsoft.com/office/drawing/2014/main" id="{E8E91523-692D-4893-BEAA-938636073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995707"/>
              </p:ext>
            </p:extLst>
          </p:nvPr>
        </p:nvGraphicFramePr>
        <p:xfrm>
          <a:off x="7392144" y="1597025"/>
          <a:ext cx="3008312" cy="427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1" name="位图图像" r:id="rId4" imgW="2423370" imgH="3330229" progId="Paint.Picture">
                  <p:embed/>
                </p:oleObj>
              </mc:Choice>
              <mc:Fallback>
                <p:oleObj name="位图图像" r:id="rId4" imgW="2423370" imgH="3330229" progId="Paint.Picture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2144" y="1597025"/>
                        <a:ext cx="3008312" cy="427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59773B5-56D4-4921-ABCB-741F020504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2651" y="1341438"/>
            <a:ext cx="10426698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With a main memory width of 2 words</a:t>
            </a:r>
          </a:p>
          <a:p>
            <a:pPr marL="0" indent="0">
              <a:buNone/>
              <a:defRPr/>
            </a:pPr>
            <a:r>
              <a:rPr lang="en-US" altLang="zh-CN" dirty="0"/>
              <a:t>	The miss penalty:	  4words/Block</a:t>
            </a:r>
          </a:p>
          <a:p>
            <a:pPr marL="0" indent="0">
              <a:buNone/>
              <a:defRPr/>
            </a:pPr>
            <a:r>
              <a:rPr lang="en-US" altLang="zh-CN" dirty="0"/>
              <a:t>			2×(4+56+4)＝128 CLKs</a:t>
            </a:r>
          </a:p>
          <a:p>
            <a:pPr>
              <a:defRPr/>
            </a:pPr>
            <a:r>
              <a:rPr lang="en-US" altLang="zh-CN" dirty="0"/>
              <a:t>Bandwidth :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With a main memory width of 4 words</a:t>
            </a:r>
          </a:p>
          <a:p>
            <a:pPr marL="0" indent="0">
              <a:buNone/>
              <a:defRPr/>
            </a:pPr>
            <a:r>
              <a:rPr lang="en-US" altLang="zh-CN" dirty="0"/>
              <a:t>	The miss penalty:	  4words/Block</a:t>
            </a:r>
          </a:p>
          <a:p>
            <a:pPr marL="0" indent="0">
              <a:buNone/>
              <a:defRPr/>
            </a:pPr>
            <a:r>
              <a:rPr lang="en-US" altLang="zh-CN" dirty="0"/>
              <a:t>			1×(4+56+4)＝64 CLKs</a:t>
            </a:r>
          </a:p>
          <a:p>
            <a:pPr>
              <a:defRPr/>
            </a:pPr>
            <a:r>
              <a:rPr lang="en-US" altLang="zh-CN" dirty="0"/>
              <a:t>Bandwidth :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E428550-07B9-4611-8B59-B1C54F900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in the Technique </a:t>
            </a:r>
          </a:p>
        </p:txBody>
      </p:sp>
      <p:grpSp>
        <p:nvGrpSpPr>
          <p:cNvPr id="24580" name="Group 12">
            <a:extLst>
              <a:ext uri="{FF2B5EF4-FFF2-40B4-BE49-F238E27FC236}">
                <a16:creationId xmlns:a16="http://schemas.microsoft.com/office/drawing/2014/main" id="{6E342EFE-F72B-433D-8163-6896BB614F6C}"/>
              </a:ext>
            </a:extLst>
          </p:cNvPr>
          <p:cNvGrpSpPr>
            <a:grpSpLocks/>
          </p:cNvGrpSpPr>
          <p:nvPr/>
        </p:nvGrpSpPr>
        <p:grpSpPr bwMode="auto">
          <a:xfrm>
            <a:off x="3211513" y="2924944"/>
            <a:ext cx="1852613" cy="776288"/>
            <a:chOff x="1967" y="3120"/>
            <a:chExt cx="1167" cy="489"/>
          </a:xfrm>
        </p:grpSpPr>
        <p:sp>
          <p:nvSpPr>
            <p:cNvPr id="24589" name="Rectangle 13">
              <a:extLst>
                <a:ext uri="{FF2B5EF4-FFF2-40B4-BE49-F238E27FC236}">
                  <a16:creationId xmlns:a16="http://schemas.microsoft.com/office/drawing/2014/main" id="{33AB94FA-4217-4211-A1FA-407EA1A0E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3120"/>
              <a:ext cx="5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Comic Sans MS" panose="030F0702030302020204" pitchFamily="66" charset="0"/>
                </a:rPr>
                <a:t>4×8</a:t>
              </a:r>
              <a:endParaRPr lang="zh-CN" altLang="en-US" sz="2400" b="1" dirty="0">
                <a:latin typeface="Comic Sans MS" panose="030F0702030302020204" pitchFamily="66" charset="0"/>
              </a:endParaRPr>
            </a:p>
          </p:txBody>
        </p:sp>
        <p:sp>
          <p:nvSpPr>
            <p:cNvPr id="24590" name="Rectangle 14">
              <a:extLst>
                <a:ext uri="{FF2B5EF4-FFF2-40B4-BE49-F238E27FC236}">
                  <a16:creationId xmlns:a16="http://schemas.microsoft.com/office/drawing/2014/main" id="{AC4AC552-3E28-483F-A29A-3CF128661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321"/>
              <a:ext cx="4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128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91" name="Line 15">
              <a:extLst>
                <a:ext uri="{FF2B5EF4-FFF2-40B4-BE49-F238E27FC236}">
                  <a16:creationId xmlns:a16="http://schemas.microsoft.com/office/drawing/2014/main" id="{17DF0DD6-365D-4E97-A71D-AEF5B65CA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360"/>
              <a:ext cx="576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2" name="Rectangle 16">
              <a:extLst>
                <a:ext uri="{FF2B5EF4-FFF2-40B4-BE49-F238E27FC236}">
                  <a16:creationId xmlns:a16="http://schemas.microsoft.com/office/drawing/2014/main" id="{20302DF7-33C8-4248-A2CD-F7DCF8FCD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16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＝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93" name="Rectangle 17">
              <a:extLst>
                <a:ext uri="{FF2B5EF4-FFF2-40B4-BE49-F238E27FC236}">
                  <a16:creationId xmlns:a16="http://schemas.microsoft.com/office/drawing/2014/main" id="{45CB7585-8944-44A5-BB8F-3A086AB86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3120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1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94" name="Rectangle 18">
              <a:extLst>
                <a:ext uri="{FF2B5EF4-FFF2-40B4-BE49-F238E27FC236}">
                  <a16:creationId xmlns:a16="http://schemas.microsoft.com/office/drawing/2014/main" id="{B4826EA7-A584-400E-9162-E0072ADCA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321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4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95" name="Line 19">
              <a:extLst>
                <a:ext uri="{FF2B5EF4-FFF2-40B4-BE49-F238E27FC236}">
                  <a16:creationId xmlns:a16="http://schemas.microsoft.com/office/drawing/2014/main" id="{BE08445E-6A12-43F8-9EFB-0ACD78A91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60"/>
              <a:ext cx="249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4581" name="Group 20">
            <a:extLst>
              <a:ext uri="{FF2B5EF4-FFF2-40B4-BE49-F238E27FC236}">
                <a16:creationId xmlns:a16="http://schemas.microsoft.com/office/drawing/2014/main" id="{4EBAF274-AB9D-4700-813F-8C7064CB48C8}"/>
              </a:ext>
            </a:extLst>
          </p:cNvPr>
          <p:cNvGrpSpPr>
            <a:grpSpLocks/>
          </p:cNvGrpSpPr>
          <p:nvPr/>
        </p:nvGrpSpPr>
        <p:grpSpPr bwMode="auto">
          <a:xfrm>
            <a:off x="3328552" y="5542280"/>
            <a:ext cx="1852613" cy="776288"/>
            <a:chOff x="1967" y="3120"/>
            <a:chExt cx="1167" cy="489"/>
          </a:xfrm>
        </p:grpSpPr>
        <p:sp>
          <p:nvSpPr>
            <p:cNvPr id="24582" name="Rectangle 21">
              <a:extLst>
                <a:ext uri="{FF2B5EF4-FFF2-40B4-BE49-F238E27FC236}">
                  <a16:creationId xmlns:a16="http://schemas.microsoft.com/office/drawing/2014/main" id="{CD3A228C-7B52-4002-9769-9B687E046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3120"/>
              <a:ext cx="5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4×8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83" name="Rectangle 22">
              <a:extLst>
                <a:ext uri="{FF2B5EF4-FFF2-40B4-BE49-F238E27FC236}">
                  <a16:creationId xmlns:a16="http://schemas.microsoft.com/office/drawing/2014/main" id="{0A6F7E7D-B816-44E4-8D0E-C3D9738EB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5" y="3321"/>
              <a:ext cx="3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64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84" name="Line 23">
              <a:extLst>
                <a:ext uri="{FF2B5EF4-FFF2-40B4-BE49-F238E27FC236}">
                  <a16:creationId xmlns:a16="http://schemas.microsoft.com/office/drawing/2014/main" id="{4F79A452-D68D-4CF1-A503-BDED1BFD6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360"/>
              <a:ext cx="576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85" name="Rectangle 24">
              <a:extLst>
                <a:ext uri="{FF2B5EF4-FFF2-40B4-BE49-F238E27FC236}">
                  <a16:creationId xmlns:a16="http://schemas.microsoft.com/office/drawing/2014/main" id="{685606E0-73D8-41B2-AF1D-C84F3B4E3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216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Comic Sans MS" panose="030F0702030302020204" pitchFamily="66" charset="0"/>
                </a:rPr>
                <a:t>＝</a:t>
              </a:r>
              <a:endParaRPr lang="zh-CN" altLang="en-US" sz="2400" b="1" dirty="0">
                <a:latin typeface="Comic Sans MS" panose="030F0702030302020204" pitchFamily="66" charset="0"/>
              </a:endParaRPr>
            </a:p>
          </p:txBody>
        </p:sp>
        <p:sp>
          <p:nvSpPr>
            <p:cNvPr id="24586" name="Rectangle 25">
              <a:extLst>
                <a:ext uri="{FF2B5EF4-FFF2-40B4-BE49-F238E27FC236}">
                  <a16:creationId xmlns:a16="http://schemas.microsoft.com/office/drawing/2014/main" id="{ACBA8F96-3575-4E59-9201-98658481D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3120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1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87" name="Rectangle 26">
              <a:extLst>
                <a:ext uri="{FF2B5EF4-FFF2-40B4-BE49-F238E27FC236}">
                  <a16:creationId xmlns:a16="http://schemas.microsoft.com/office/drawing/2014/main" id="{D65E6A29-5F06-4CB7-AB7C-D5BB9E20F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" y="3321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2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4588" name="Line 27">
              <a:extLst>
                <a:ext uri="{FF2B5EF4-FFF2-40B4-BE49-F238E27FC236}">
                  <a16:creationId xmlns:a16="http://schemas.microsoft.com/office/drawing/2014/main" id="{133D07DC-961D-4E42-9964-291EC38D7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360"/>
              <a:ext cx="249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7">
            <a:extLst>
              <a:ext uri="{FF2B5EF4-FFF2-40B4-BE49-F238E27FC236}">
                <a16:creationId xmlns:a16="http://schemas.microsoft.com/office/drawing/2014/main" id="{5D4DB7C1-A002-4A3A-9AB1-D3D2AA8AD5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00338" y="844550"/>
            <a:ext cx="4572000" cy="2209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spcBef>
                <a:spcPct val="0"/>
              </a:spcBef>
              <a:buSzTx/>
              <a:buNone/>
            </a:pPr>
            <a:r>
              <a:rPr lang="en-US" altLang="zh-CN" sz="1800">
                <a:solidFill>
                  <a:schemeClr val="hlink"/>
                </a:solidFill>
              </a:rPr>
              <a:t>Advantages:</a:t>
            </a:r>
          </a:p>
          <a:p>
            <a:pPr indent="0">
              <a:spcBef>
                <a:spcPct val="0"/>
              </a:spcBef>
              <a:buSzTx/>
              <a:buNone/>
            </a:pPr>
            <a:r>
              <a:rPr lang="en-US" altLang="zh-CN" sz="1800"/>
              <a:t>Take advantage of the potential parallelism of having many DRAMs in a memory system.</a:t>
            </a:r>
          </a:p>
          <a:p>
            <a:pPr indent="0">
              <a:spcBef>
                <a:spcPct val="0"/>
              </a:spcBef>
              <a:buSzTx/>
              <a:buNone/>
            </a:pPr>
            <a:r>
              <a:rPr lang="en-US" altLang="zh-CN" sz="1800"/>
              <a:t>Such a memory organization is especially important for write through with accessing sequentially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DA876D5-93A5-46AC-9785-23ADE66C59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424" y="76200"/>
            <a:ext cx="9834364" cy="838200"/>
          </a:xfrm>
        </p:spPr>
        <p:txBody>
          <a:bodyPr/>
          <a:lstStyle/>
          <a:p>
            <a:r>
              <a:rPr lang="en-US" altLang="zh-CN" sz="2000" dirty="0"/>
              <a:t>Second Technique for Higher Bandwidth: simple Interleaved Memory</a:t>
            </a:r>
          </a:p>
        </p:txBody>
      </p:sp>
      <p:graphicFrame>
        <p:nvGraphicFramePr>
          <p:cNvPr id="25604" name="Object 20">
            <a:extLst>
              <a:ext uri="{FF2B5EF4-FFF2-40B4-BE49-F238E27FC236}">
                <a16:creationId xmlns:a16="http://schemas.microsoft.com/office/drawing/2014/main" id="{ED469FED-814F-41C7-8848-76DD09A7E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888599"/>
              </p:ext>
            </p:extLst>
          </p:nvPr>
        </p:nvGraphicFramePr>
        <p:xfrm>
          <a:off x="7538311" y="1711325"/>
          <a:ext cx="3371850" cy="404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位图图像" r:id="rId3" imgW="3939881" imgH="4069433" progId="Paint.Picture">
                  <p:embed/>
                </p:oleObj>
              </mc:Choice>
              <mc:Fallback>
                <p:oleObj name="位图图像" r:id="rId3" imgW="3939881" imgH="4069433" progId="Paint.Picture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8311" y="1711325"/>
                        <a:ext cx="3371850" cy="404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8" name="Picture 22">
            <a:extLst>
              <a:ext uri="{FF2B5EF4-FFF2-40B4-BE49-F238E27FC236}">
                <a16:creationId xmlns:a16="http://schemas.microsoft.com/office/drawing/2014/main" id="{DF53DA03-3392-41C5-A545-DDB2BBE2F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535" y="1333500"/>
            <a:ext cx="94456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Line 25">
            <a:extLst>
              <a:ext uri="{FF2B5EF4-FFF2-40B4-BE49-F238E27FC236}">
                <a16:creationId xmlns:a16="http://schemas.microsoft.com/office/drawing/2014/main" id="{BB1B67E2-09FB-4E0E-A30D-C872183E6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89" y="3352800"/>
            <a:ext cx="514721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487" name="Text Box 29">
            <a:extLst>
              <a:ext uri="{FF2B5EF4-FFF2-40B4-BE49-F238E27FC236}">
                <a16:creationId xmlns:a16="http://schemas.microsoft.com/office/drawing/2014/main" id="{483B3E56-9C1C-4D59-9F11-92C91BB29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989" y="3505200"/>
            <a:ext cx="423703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»"/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lnSpc>
                <a:spcPct val="100000"/>
              </a:lnSpc>
              <a:spcBef>
                <a:spcPct val="0"/>
              </a:spcBef>
              <a:buSzTx/>
              <a:buNone/>
              <a:defRPr/>
            </a:pPr>
            <a:r>
              <a:rPr lang="en-US" altLang="zh-CN" sz="1800" b="0" dirty="0">
                <a:latin typeface="+mn-lt"/>
              </a:rPr>
              <a:t>Memory chips can be organized in banks to read or write multiple words at a time</a:t>
            </a:r>
          </a:p>
          <a:p>
            <a:pPr indent="0" eaLnBrk="1" hangingPunct="1">
              <a:lnSpc>
                <a:spcPct val="100000"/>
              </a:lnSpc>
              <a:spcBef>
                <a:spcPct val="0"/>
              </a:spcBef>
              <a:buSzTx/>
              <a:buNone/>
              <a:defRPr/>
            </a:pPr>
            <a:r>
              <a:rPr lang="en-US" altLang="zh-CN" sz="1800" b="0" dirty="0">
                <a:latin typeface="+mn-lt"/>
              </a:rPr>
              <a:t>The banks are often 1 word wide so that width of the bus and cache need not change.</a:t>
            </a:r>
          </a:p>
          <a:p>
            <a:pPr indent="0" eaLnBrk="1" hangingPunct="1">
              <a:lnSpc>
                <a:spcPct val="100000"/>
              </a:lnSpc>
              <a:spcBef>
                <a:spcPct val="0"/>
              </a:spcBef>
              <a:buSzTx/>
              <a:buNone/>
              <a:defRPr/>
            </a:pPr>
            <a:r>
              <a:rPr lang="en-US" altLang="zh-CN" sz="1800" b="0" dirty="0">
                <a:latin typeface="+mn-lt"/>
              </a:rPr>
              <a:t>But sending addresses to several banks permits them all to read simultaneously.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AF8E6ADD-C692-42DB-B147-B580BA3392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2651" y="1004888"/>
            <a:ext cx="10731498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With 4 banks Interleaved Memory</a:t>
            </a:r>
          </a:p>
          <a:p>
            <a:pPr marL="0" indent="0">
              <a:buNone/>
              <a:defRPr/>
            </a:pPr>
            <a:r>
              <a:rPr lang="en-US" altLang="zh-CN" dirty="0"/>
              <a:t>	The miss penalty:	  4words/Block</a:t>
            </a:r>
          </a:p>
          <a:p>
            <a:pPr marL="0" indent="0">
              <a:buNone/>
              <a:defRPr/>
            </a:pPr>
            <a:r>
              <a:rPr lang="en-US" altLang="zh-CN" dirty="0"/>
              <a:t>			4+56 +(4 × 4)＝76</a:t>
            </a:r>
          </a:p>
          <a:p>
            <a:pPr>
              <a:defRPr/>
            </a:pPr>
            <a:r>
              <a:rPr lang="en-US" altLang="zh-CN" dirty="0"/>
              <a:t>Bandwidth :</a:t>
            </a:r>
          </a:p>
          <a:p>
            <a:pPr marL="0" indent="0">
              <a:buNone/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Four-way interleaved memory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D104457-48DE-4D89-87C8-9C74BA3640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in the Technique </a:t>
            </a:r>
          </a:p>
        </p:txBody>
      </p:sp>
      <p:grpSp>
        <p:nvGrpSpPr>
          <p:cNvPr id="26628" name="Group 20">
            <a:extLst>
              <a:ext uri="{FF2B5EF4-FFF2-40B4-BE49-F238E27FC236}">
                <a16:creationId xmlns:a16="http://schemas.microsoft.com/office/drawing/2014/main" id="{15A5B630-6920-43DD-992D-B8DB7169E562}"/>
              </a:ext>
            </a:extLst>
          </p:cNvPr>
          <p:cNvGrpSpPr>
            <a:grpSpLocks/>
          </p:cNvGrpSpPr>
          <p:nvPr/>
        </p:nvGrpSpPr>
        <p:grpSpPr bwMode="auto">
          <a:xfrm>
            <a:off x="3108325" y="2438400"/>
            <a:ext cx="2012950" cy="776288"/>
            <a:chOff x="1872" y="1776"/>
            <a:chExt cx="1268" cy="489"/>
          </a:xfrm>
        </p:grpSpPr>
        <p:sp>
          <p:nvSpPr>
            <p:cNvPr id="26636" name="Rectangle 5">
              <a:extLst>
                <a:ext uri="{FF2B5EF4-FFF2-40B4-BE49-F238E27FC236}">
                  <a16:creationId xmlns:a16="http://schemas.microsoft.com/office/drawing/2014/main" id="{171604CF-34FF-4FFB-A2CF-DC6B49A70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76"/>
              <a:ext cx="5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4×8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6637" name="Rectangle 6">
              <a:extLst>
                <a:ext uri="{FF2B5EF4-FFF2-40B4-BE49-F238E27FC236}">
                  <a16:creationId xmlns:a16="http://schemas.microsoft.com/office/drawing/2014/main" id="{52BB6363-BD00-4649-BF83-1EAD61BEC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0" y="1977"/>
              <a:ext cx="3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76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  <p:sp>
          <p:nvSpPr>
            <p:cNvPr id="26638" name="Line 7">
              <a:extLst>
                <a:ext uri="{FF2B5EF4-FFF2-40B4-BE49-F238E27FC236}">
                  <a16:creationId xmlns:a16="http://schemas.microsoft.com/office/drawing/2014/main" id="{CADC283C-1745-46E4-BAC2-9DB3FE49A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3" y="2016"/>
              <a:ext cx="576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39" name="Rectangle 8">
              <a:extLst>
                <a:ext uri="{FF2B5EF4-FFF2-40B4-BE49-F238E27FC236}">
                  <a16:creationId xmlns:a16="http://schemas.microsoft.com/office/drawing/2014/main" id="{58BBA541-EC25-403A-A89C-3A9DBF8F3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9" y="1872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latin typeface="Comic Sans MS" panose="030F0702030302020204" pitchFamily="66" charset="0"/>
                </a:rPr>
                <a:t>＝</a:t>
              </a:r>
              <a:endParaRPr lang="zh-CN" altLang="en-US" sz="2400" b="1" dirty="0">
                <a:latin typeface="Comic Sans MS" panose="030F0702030302020204" pitchFamily="66" charset="0"/>
              </a:endParaRPr>
            </a:p>
          </p:txBody>
        </p:sp>
        <p:sp>
          <p:nvSpPr>
            <p:cNvPr id="26640" name="Rectangle 10">
              <a:extLst>
                <a:ext uri="{FF2B5EF4-FFF2-40B4-BE49-F238E27FC236}">
                  <a16:creationId xmlns:a16="http://schemas.microsoft.com/office/drawing/2014/main" id="{2FCC30A3-D284-4450-9B08-138FC0AAA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" y="1872"/>
              <a:ext cx="4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Comic Sans MS" panose="030F0702030302020204" pitchFamily="66" charset="0"/>
                </a:rPr>
                <a:t>0.4</a:t>
              </a:r>
              <a:endParaRPr lang="zh-CN" altLang="en-US" sz="2400" b="1">
                <a:latin typeface="Comic Sans MS" panose="030F0702030302020204" pitchFamily="66" charset="0"/>
              </a:endParaRPr>
            </a:p>
          </p:txBody>
        </p:sp>
      </p:grpSp>
      <p:graphicFrame>
        <p:nvGraphicFramePr>
          <p:cNvPr id="26629" name="Object 21">
            <a:extLst>
              <a:ext uri="{FF2B5EF4-FFF2-40B4-BE49-F238E27FC236}">
                <a16:creationId xmlns:a16="http://schemas.microsoft.com/office/drawing/2014/main" id="{72519762-7105-4726-9BAD-C52CFAD9D0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264025"/>
          <a:ext cx="8686800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位图图像" r:id="rId3" imgW="6003810" imgH="1409822" progId="Paint.Picture">
                  <p:embed/>
                </p:oleObj>
              </mc:Choice>
              <mc:Fallback>
                <p:oleObj name="位图图像" r:id="rId3" imgW="6003810" imgH="1409822" progId="Paint.Picture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264025"/>
                        <a:ext cx="8686800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hlink"/>
                            </a:solidFill>
                            <a:miter lim="800000"/>
                            <a:headEnd/>
                            <a:tailEnd type="none" w="sm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22">
            <a:extLst>
              <a:ext uri="{FF2B5EF4-FFF2-40B4-BE49-F238E27FC236}">
                <a16:creationId xmlns:a16="http://schemas.microsoft.com/office/drawing/2014/main" id="{85263921-A97C-4D3F-B27E-2C9CA5D3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580606"/>
            <a:ext cx="259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hlink"/>
                </a:solidFill>
                <a:latin typeface="CG Omega" pitchFamily="34" charset="0"/>
              </a:rPr>
              <a:t>Parallel access</a:t>
            </a:r>
          </a:p>
        </p:txBody>
      </p:sp>
      <p:sp>
        <p:nvSpPr>
          <p:cNvPr id="26631" name="Line 23">
            <a:extLst>
              <a:ext uri="{FF2B5EF4-FFF2-40B4-BE49-F238E27FC236}">
                <a16:creationId xmlns:a16="http://schemas.microsoft.com/office/drawing/2014/main" id="{C149A2FE-8235-4CE6-A3E0-A2EB9CE904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2649" y="3861015"/>
            <a:ext cx="1927226" cy="605049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6632" name="Line 24">
            <a:extLst>
              <a:ext uri="{FF2B5EF4-FFF2-40B4-BE49-F238E27FC236}">
                <a16:creationId xmlns:a16="http://schemas.microsoft.com/office/drawing/2014/main" id="{C89A0208-D215-49E9-BE5E-966B915B4B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0900" y="3780268"/>
            <a:ext cx="2279476" cy="820737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6633" name="Line 25">
            <a:extLst>
              <a:ext uri="{FF2B5EF4-FFF2-40B4-BE49-F238E27FC236}">
                <a16:creationId xmlns:a16="http://schemas.microsoft.com/office/drawing/2014/main" id="{45B3047B-03F0-4C59-AE54-40ED950D27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24500" y="3883025"/>
            <a:ext cx="381000" cy="762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4" name="Line 26">
            <a:extLst>
              <a:ext uri="{FF2B5EF4-FFF2-40B4-BE49-F238E27FC236}">
                <a16:creationId xmlns:a16="http://schemas.microsoft.com/office/drawing/2014/main" id="{33D81609-0D20-407F-BBFA-E16C34BA4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1649" y="3991406"/>
            <a:ext cx="609600" cy="6096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5" name="Text Box 28">
            <a:extLst>
              <a:ext uri="{FF2B5EF4-FFF2-40B4-BE49-F238E27FC236}">
                <a16:creationId xmlns:a16="http://schemas.microsoft.com/office/drawing/2014/main" id="{4FB79DED-0D41-4C7F-B78E-33C02DB9D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6248401"/>
            <a:ext cx="640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hlink"/>
                </a:solidFill>
                <a:latin typeface="CG Omega" pitchFamily="34" charset="0"/>
              </a:rPr>
              <a:t>Optimizes sequential address access patterns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>
            <a:extLst>
              <a:ext uri="{FF2B5EF4-FFF2-40B4-BE49-F238E27FC236}">
                <a16:creationId xmlns:a16="http://schemas.microsoft.com/office/drawing/2014/main" id="{45FDF9F9-AAB7-46A6-AA82-4DDBB8D089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2651" y="1196976"/>
            <a:ext cx="10426698" cy="4752975"/>
          </a:xfrm>
        </p:spPr>
        <p:txBody>
          <a:bodyPr/>
          <a:lstStyle/>
          <a:p>
            <a:pPr>
              <a:defRPr/>
            </a:pPr>
            <a:r>
              <a:rPr lang="en-US" altLang="zh-CN" sz="2000" dirty="0"/>
              <a:t>Assume: </a:t>
            </a:r>
          </a:p>
          <a:p>
            <a:pPr lvl="1">
              <a:defRPr/>
            </a:pPr>
            <a:r>
              <a:rPr lang="en-US" altLang="zh-CN" sz="1800" dirty="0"/>
              <a:t>Block size = 1 word</a:t>
            </a:r>
          </a:p>
          <a:p>
            <a:pPr lvl="1">
              <a:defRPr/>
            </a:pPr>
            <a:r>
              <a:rPr lang="en-US" altLang="zh-CN" sz="1800" dirty="0"/>
              <a:t>Memory bus width = 1 word</a:t>
            </a:r>
          </a:p>
          <a:p>
            <a:pPr lvl="1">
              <a:defRPr/>
            </a:pPr>
            <a:r>
              <a:rPr lang="en-US" altLang="zh-CN" sz="1800" dirty="0"/>
              <a:t>Miss rate = 3%</a:t>
            </a:r>
          </a:p>
          <a:p>
            <a:pPr lvl="1">
              <a:defRPr/>
            </a:pPr>
            <a:r>
              <a:rPr lang="en-US" altLang="zh-CN" sz="1800" dirty="0"/>
              <a:t>Memory accesses per instruction = 1.2</a:t>
            </a:r>
          </a:p>
          <a:p>
            <a:pPr lvl="1">
              <a:defRPr/>
            </a:pPr>
            <a:r>
              <a:rPr lang="en-US" altLang="zh-CN" sz="1800" dirty="0"/>
              <a:t>Cache miss penalty = 64 cycles (as above)</a:t>
            </a:r>
          </a:p>
          <a:p>
            <a:pPr lvl="1">
              <a:defRPr/>
            </a:pPr>
            <a:r>
              <a:rPr lang="en-US" altLang="zh-CN" sz="1800" dirty="0"/>
              <a:t>Average cycles per instruction (ignoring cache misses) = 2</a:t>
            </a:r>
          </a:p>
          <a:p>
            <a:pPr>
              <a:defRPr/>
            </a:pPr>
            <a:r>
              <a:rPr lang="en-US" altLang="zh-CN" sz="2000" dirty="0"/>
              <a:t>What can interleaving and wide memory buy?</a:t>
            </a:r>
            <a:endParaRPr lang="en-US" altLang="zh-CN" sz="1800" dirty="0"/>
          </a:p>
          <a:p>
            <a:pPr>
              <a:defRPr/>
            </a:pPr>
            <a:endParaRPr lang="en-US" altLang="zh-CN" sz="1800" dirty="0"/>
          </a:p>
          <a:p>
            <a:pPr>
              <a:defRPr/>
            </a:pPr>
            <a:r>
              <a:rPr lang="en-US" altLang="zh-CN" sz="2000" b="1" dirty="0"/>
              <a:t>Answer</a:t>
            </a:r>
            <a:r>
              <a:rPr lang="en-US" altLang="zh-CN" sz="2000" dirty="0"/>
              <a:t>: The CPI for the base computer using 1-word blocks: 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		CPI = 2 + (1.2 × 3% × 64) = 4.30</a:t>
            </a:r>
          </a:p>
          <a:p>
            <a:pPr lvl="1">
              <a:defRPr/>
            </a:pPr>
            <a:r>
              <a:rPr lang="en-US" altLang="zh-CN" sz="1600" dirty="0"/>
              <a:t>We can calculate performance improvement by just comparing CPI.</a:t>
            </a:r>
          </a:p>
          <a:p>
            <a:pPr>
              <a:defRPr/>
            </a:pPr>
            <a:endParaRPr lang="en-US" altLang="zh-CN" dirty="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8116C3E-7C2E-4B43-A21F-C26876B93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 14-1 Interleaved Memory 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3">
            <a:extLst>
              <a:ext uri="{FF2B5EF4-FFF2-40B4-BE49-F238E27FC236}">
                <a16:creationId xmlns:a16="http://schemas.microsoft.com/office/drawing/2014/main" id="{F4ECC086-ACFF-4FA4-9DB8-BBA417972F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3432" y="1363663"/>
            <a:ext cx="10526762" cy="46482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altLang="zh-CN" b="1" dirty="0"/>
              <a:t>Answer: 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2000" dirty="0"/>
              <a:t>Increasing the block size to two words gives the following options(miss rate is 2%):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64-bit bus and memory, no interleaving </a:t>
            </a:r>
          </a:p>
          <a:p>
            <a:pPr algn="ctr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CPI＝ 2 + (1.2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2%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Times New Roman" panose="02020603050405020304" pitchFamily="18" charset="0"/>
              </a:rPr>
              <a:t>2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64</a:t>
            </a:r>
            <a:r>
              <a:rPr lang="en-US" altLang="zh-CN" sz="2000" dirty="0">
                <a:latin typeface="Times New Roman" panose="02020603050405020304" pitchFamily="18" charset="0"/>
              </a:rPr>
              <a:t>) = 5.07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64-bit bus and memory, interleaving</a:t>
            </a:r>
          </a:p>
          <a:p>
            <a:pPr algn="ctr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 CPI＝ 2 + (1.2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2%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Times New Roman" panose="02020603050405020304" pitchFamily="18" charset="0"/>
              </a:rPr>
              <a:t>(4 + 56 + 8)) = 3.63</a:t>
            </a: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128-bit bus and memory, no interleaving</a:t>
            </a:r>
          </a:p>
          <a:p>
            <a:pPr algn="ctr">
              <a:lnSpc>
                <a:spcPct val="80000"/>
              </a:lnSpc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</a:rPr>
              <a:t>CPI＝ 2 + (1.2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2%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1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64) = 3.54</a:t>
            </a:r>
          </a:p>
          <a:p>
            <a:pPr algn="ctr">
              <a:lnSpc>
                <a:spcPct val="80000"/>
              </a:lnSpc>
              <a:buFontTx/>
              <a:buNone/>
              <a:defRPr/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  <a:defRPr/>
            </a:pPr>
            <a:r>
              <a:rPr lang="en-US" altLang="zh-CN" sz="2000" dirty="0"/>
              <a:t>Thus, doubling the block size slows down the straightforward implementation　(5.07 versus 4.30), while interleaving or wider memory is 1.19 or 1.22 times faster, respectively.</a:t>
            </a:r>
          </a:p>
          <a:p>
            <a:pPr>
              <a:lnSpc>
                <a:spcPct val="80000"/>
              </a:lnSpc>
              <a:defRPr/>
            </a:pPr>
            <a:endParaRPr lang="en-US" altLang="zh-CN" sz="2000" dirty="0"/>
          </a:p>
          <a:p>
            <a:pPr>
              <a:lnSpc>
                <a:spcPct val="80000"/>
              </a:lnSpc>
              <a:defRPr/>
            </a:pPr>
            <a:r>
              <a:rPr lang="en-US" altLang="zh-CN" sz="2000" b="1" dirty="0"/>
              <a:t>If we increase the block size to four, How about performance?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05E2D6B3-6727-4694-A572-9844521F1D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3432" y="260350"/>
            <a:ext cx="8922568" cy="533400"/>
          </a:xfrm>
        </p:spPr>
        <p:txBody>
          <a:bodyPr/>
          <a:lstStyle/>
          <a:p>
            <a:r>
              <a:rPr lang="en-US" altLang="zh-CN" dirty="0"/>
              <a:t>Example 14-2 </a:t>
            </a:r>
            <a:r>
              <a:rPr lang="en-US" altLang="zh-CN" sz="3000" dirty="0"/>
              <a:t>Interleaved Memory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2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EF3E35C-51E8-4AB5-A177-1248BDBDB5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5440" y="1333500"/>
            <a:ext cx="10201770" cy="419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/>
              <a:t>Answer: </a:t>
            </a:r>
          </a:p>
          <a:p>
            <a:pPr lvl="1"/>
            <a:r>
              <a:rPr lang="en-US" altLang="zh-CN" dirty="0"/>
              <a:t>Assume: miss rate is 1.2%</a:t>
            </a:r>
          </a:p>
          <a:p>
            <a:pPr lvl="1"/>
            <a:r>
              <a:rPr lang="en-US" altLang="zh-CN" sz="1600" dirty="0"/>
              <a:t>Increasing the block size to four words gives the following options: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64-bit bus and memory, no interleaving </a:t>
            </a:r>
          </a:p>
          <a:p>
            <a:pPr algn="ctr"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CPI＝ 2 + (1.2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1.</a:t>
            </a:r>
            <a:r>
              <a:rPr lang="en-US" altLang="zh-CN" sz="2000" dirty="0">
                <a:latin typeface="Times New Roman" panose="02020603050405020304" pitchFamily="18" charset="0"/>
              </a:rPr>
              <a:t>2%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4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64) = 5.69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64-bit bus and memory, interleaving</a:t>
            </a:r>
          </a:p>
          <a:p>
            <a:pPr algn="ctr"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 CPI＝ 2 + (1.2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1.</a:t>
            </a:r>
            <a:r>
              <a:rPr lang="en-US" altLang="zh-CN" sz="2000" dirty="0">
                <a:latin typeface="Times New Roman" panose="02020603050405020304" pitchFamily="18" charset="0"/>
              </a:rPr>
              <a:t>2%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(4 + 56 + 16)) = 3.09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128-bit bus and memory, no interleaving</a:t>
            </a:r>
          </a:p>
          <a:p>
            <a:pPr algn="ctr"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CPI＝ 2 + (1.2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1.</a:t>
            </a:r>
            <a:r>
              <a:rPr lang="en-US" altLang="zh-CN" sz="2000" dirty="0">
                <a:latin typeface="Times New Roman" panose="02020603050405020304" pitchFamily="18" charset="0"/>
              </a:rPr>
              <a:t>2%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2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/>
              <a:t>×</a:t>
            </a:r>
            <a:r>
              <a:rPr lang="en-US" altLang="zh-CN" sz="2000" dirty="0">
                <a:latin typeface="Symbol" panose="05050102010706020507" pitchFamily="18" charset="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64) = 3.84</a:t>
            </a:r>
          </a:p>
          <a:p>
            <a:pPr>
              <a:buFontTx/>
              <a:buNone/>
            </a:pPr>
            <a:r>
              <a:rPr lang="en-US" altLang="zh-CN" sz="2000" dirty="0"/>
              <a:t>Again, the larger block hurts performance for the simple case(5.69 versus 4.30), although the interleaved 64-bit memory is now fastest—1.39 times faster versus 1.12 for the wider memory and bus.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1A553F6-E326-4326-AA58-CA3EBAC6E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5440" y="266700"/>
            <a:ext cx="9120435" cy="533400"/>
          </a:xfrm>
        </p:spPr>
        <p:txBody>
          <a:bodyPr/>
          <a:lstStyle/>
          <a:p>
            <a:r>
              <a:rPr lang="en-US" altLang="zh-CN" dirty="0"/>
              <a:t>Example 14-４ </a:t>
            </a:r>
            <a:r>
              <a:rPr lang="en-US" altLang="zh-CN" sz="3000" dirty="0"/>
              <a:t>Interleaved Memory</a:t>
            </a:r>
            <a:r>
              <a:rPr lang="en-US" altLang="zh-CN" dirty="0"/>
              <a:t> </a:t>
            </a:r>
          </a:p>
        </p:txBody>
      </p:sp>
      <p:sp>
        <p:nvSpPr>
          <p:cNvPr id="954372" name="Rectangle 4">
            <a:extLst>
              <a:ext uri="{FF2B5EF4-FFF2-40B4-BE49-F238E27FC236}">
                <a16:creationId xmlns:a16="http://schemas.microsoft.com/office/drawing/2014/main" id="{7C3D6AB5-0CE2-4F57-A388-E00AC919B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971801"/>
            <a:ext cx="8610600" cy="11588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b="0" dirty="0">
                <a:latin typeface="+mn-lt"/>
              </a:rPr>
              <a:t>How many banks should be included? One metric, used in vector computers, is as follows: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000" b="0" dirty="0">
                <a:latin typeface="+mn-lt"/>
              </a:rPr>
              <a:t>Number of banks ≥ Number of clock cycles to access word in bank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5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4372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9634A88A-8A0D-4116-8CFE-4048198BA1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432" y="1449388"/>
            <a:ext cx="10225136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800" dirty="0"/>
              <a:t>Independent memory banks </a:t>
            </a:r>
          </a:p>
          <a:p>
            <a:pPr lvl="1"/>
            <a:r>
              <a:rPr lang="en-US" altLang="zh-CN" sz="2400" dirty="0"/>
              <a:t>The interleaved memory concept can be extended to remove all restrictions on memory access. </a:t>
            </a:r>
          </a:p>
          <a:p>
            <a:pPr lvl="2"/>
            <a:r>
              <a:rPr lang="en-US" altLang="zh-CN" sz="2000" dirty="0"/>
              <a:t>Independent memory controller was present for every bank.</a:t>
            </a:r>
          </a:p>
          <a:p>
            <a:pPr lvl="2"/>
            <a:r>
              <a:rPr lang="en-US" altLang="zh-CN" sz="2000" dirty="0"/>
              <a:t>Using separate address line and data bus</a:t>
            </a:r>
          </a:p>
          <a:p>
            <a:pPr lvl="2"/>
            <a:r>
              <a:rPr lang="en-US" altLang="zh-CN" sz="2000" dirty="0"/>
              <a:t>This allowed the interleaving of sequential access patterns. </a:t>
            </a: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318409DC-3C00-4BE6-9836-969C626E7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424" y="260351"/>
            <a:ext cx="9181901" cy="506413"/>
          </a:xfrm>
        </p:spPr>
        <p:txBody>
          <a:bodyPr/>
          <a:lstStyle/>
          <a:p>
            <a:r>
              <a:rPr lang="en-US" altLang="zh-CN" sz="2000" dirty="0"/>
              <a:t>Third Technique for Higher Bandwidth: Independent Memory Banks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>
            <a:extLst>
              <a:ext uri="{FF2B5EF4-FFF2-40B4-BE49-F238E27FC236}">
                <a16:creationId xmlns:a16="http://schemas.microsoft.com/office/drawing/2014/main" id="{3890BA85-32E9-4601-971D-9240E042F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432" y="1125538"/>
            <a:ext cx="9691736" cy="1295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altLang="zh-CN" sz="2600" dirty="0"/>
              <a:t>Assume: </a:t>
            </a:r>
            <a:r>
              <a:rPr lang="en-US" altLang="zh-CN" dirty="0"/>
              <a:t>Memory banks 128, interleaved on a word basis, and execute following code:</a:t>
            </a:r>
            <a:endParaRPr lang="en-US" altLang="zh-CN" sz="2600" dirty="0">
              <a:solidFill>
                <a:schemeClr val="hlink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7A437D60-E8F9-4F83-B972-D904466AF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424" y="266700"/>
            <a:ext cx="9146976" cy="533400"/>
          </a:xfrm>
        </p:spPr>
        <p:txBody>
          <a:bodyPr/>
          <a:lstStyle/>
          <a:p>
            <a:r>
              <a:rPr lang="en-US" altLang="zh-CN" dirty="0"/>
              <a:t>Example 15 </a:t>
            </a:r>
            <a:r>
              <a:rPr lang="en-US" altLang="zh-CN" sz="2400" dirty="0"/>
              <a:t>Avoiding Memory Bank Conflicts</a:t>
            </a:r>
            <a:r>
              <a:rPr lang="en-US" altLang="zh-CN" dirty="0"/>
              <a:t> </a:t>
            </a: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6843AFD-C682-49F7-9E59-1052A0D28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4070350"/>
            <a:ext cx="10421986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85750" indent="-28575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sz="2600" b="0" dirty="0">
                <a:latin typeface="+mn-lt"/>
              </a:rPr>
              <a:t>How are Memory Bank Conflicts and does it solve  ? </a:t>
            </a:r>
            <a:endParaRPr lang="en-US" altLang="zh-CN" sz="2400" b="0" dirty="0">
              <a:latin typeface="+mn-lt"/>
            </a:endParaRP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sz="2600" b="0" dirty="0">
                <a:latin typeface="+mn-lt"/>
              </a:rPr>
              <a:t>Answer: </a:t>
            </a:r>
          </a:p>
          <a:p>
            <a:pPr indent="0" eaLnBrk="1" hangingPunct="1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b="0" dirty="0">
                <a:latin typeface="+mn-lt"/>
              </a:rPr>
              <a:t>Conflicts: Since the 512 is an even multiple of 128, all the elements of a column will be in the same memory bank and code will stall on data cache misses no matter how sophisticated a CPU or memory system. 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66D30313-9571-43F5-A2EB-43A869593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2060575"/>
            <a:ext cx="756126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85750" indent="-28575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sz="2400" b="0" i="1" dirty="0">
                <a:latin typeface="+mn-lt"/>
              </a:rPr>
              <a:t>int x[256][512];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sz="2400" b="0" i="1" dirty="0">
                <a:latin typeface="+mn-lt"/>
              </a:rPr>
              <a:t>for (j = 0; j &lt; 512; j = j+1)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sz="2400" b="0" i="1" dirty="0">
                <a:latin typeface="+mn-lt"/>
              </a:rPr>
              <a:t>	for (</a:t>
            </a:r>
            <a:r>
              <a:rPr lang="en-US" altLang="zh-CN" sz="2400" b="0" i="1" dirty="0" err="1">
                <a:latin typeface="+mn-lt"/>
              </a:rPr>
              <a:t>i</a:t>
            </a:r>
            <a:r>
              <a:rPr lang="en-US" altLang="zh-CN" sz="2400" b="0" i="1" dirty="0">
                <a:latin typeface="+mn-lt"/>
              </a:rPr>
              <a:t> = 0; </a:t>
            </a:r>
            <a:r>
              <a:rPr lang="en-US" altLang="zh-CN" sz="2400" b="0" i="1" dirty="0" err="1">
                <a:latin typeface="+mn-lt"/>
              </a:rPr>
              <a:t>i</a:t>
            </a:r>
            <a:r>
              <a:rPr lang="en-US" altLang="zh-CN" sz="2400" b="0" i="1" dirty="0">
                <a:latin typeface="+mn-lt"/>
              </a:rPr>
              <a:t> &lt; 256; </a:t>
            </a:r>
            <a:r>
              <a:rPr lang="en-US" altLang="zh-CN" sz="2400" b="0" i="1" dirty="0" err="1">
                <a:latin typeface="+mn-lt"/>
              </a:rPr>
              <a:t>i</a:t>
            </a:r>
            <a:r>
              <a:rPr lang="en-US" altLang="zh-CN" sz="2400" b="0" i="1" dirty="0">
                <a:latin typeface="+mn-lt"/>
              </a:rPr>
              <a:t> = i+1)</a:t>
            </a:r>
          </a:p>
          <a:p>
            <a:pPr eaLnBrk="1" hangingPunct="1">
              <a:lnSpc>
                <a:spcPct val="90000"/>
              </a:lnSpc>
              <a:spcBef>
                <a:spcPct val="30000"/>
              </a:spcBef>
              <a:buSzPct val="100000"/>
              <a:defRPr/>
            </a:pPr>
            <a:r>
              <a:rPr lang="en-US" altLang="zh-CN" sz="2400" b="0" i="1" dirty="0">
                <a:latin typeface="+mn-lt"/>
              </a:rPr>
              <a:t>		x[</a:t>
            </a:r>
            <a:r>
              <a:rPr lang="en-US" altLang="zh-CN" sz="2400" b="0" i="1" dirty="0" err="1">
                <a:latin typeface="+mn-lt"/>
              </a:rPr>
              <a:t>i</a:t>
            </a:r>
            <a:r>
              <a:rPr lang="en-US" altLang="zh-CN" sz="2400" b="0" i="1" dirty="0">
                <a:latin typeface="+mn-lt"/>
              </a:rPr>
              <a:t>][j] = 2 * x[</a:t>
            </a:r>
            <a:r>
              <a:rPr lang="en-US" altLang="zh-CN" sz="2400" b="0" i="1" dirty="0" err="1">
                <a:latin typeface="+mn-lt"/>
              </a:rPr>
              <a:t>i</a:t>
            </a:r>
            <a:r>
              <a:rPr lang="en-US" altLang="zh-CN" sz="2400" b="0" i="1" dirty="0">
                <a:latin typeface="+mn-lt"/>
              </a:rPr>
              <a:t>][j];</a:t>
            </a:r>
          </a:p>
        </p:txBody>
      </p:sp>
      <p:sp>
        <p:nvSpPr>
          <p:cNvPr id="962566" name="Rectangle 6">
            <a:extLst>
              <a:ext uri="{FF2B5EF4-FFF2-40B4-BE49-F238E27FC236}">
                <a16:creationId xmlns:a16="http://schemas.microsoft.com/office/drawing/2014/main" id="{D893D36A-0EF2-4828-A668-2475882AB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2060575"/>
            <a:ext cx="8458200" cy="3429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85750" indent="-28575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6858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»"/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14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  <a:defRPr/>
            </a:pPr>
            <a:endParaRPr lang="en-US" altLang="zh-CN" sz="1200" b="0" dirty="0">
              <a:solidFill>
                <a:schemeClr val="hlink"/>
              </a:solidFill>
              <a:latin typeface="+mn-lt"/>
            </a:endParaRPr>
          </a:p>
          <a:p>
            <a:pPr eaLnBrk="1" hangingPunct="1">
              <a:buFontTx/>
              <a:buNone/>
              <a:defRPr/>
            </a:pPr>
            <a:r>
              <a:rPr lang="en-US" altLang="zh-CN" dirty="0">
                <a:latin typeface="+mn-lt"/>
              </a:rPr>
              <a:t>Solutions</a:t>
            </a:r>
            <a:r>
              <a:rPr lang="en-US" altLang="zh-CN" b="0" dirty="0">
                <a:solidFill>
                  <a:schemeClr val="hlink"/>
                </a:solidFill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There are both software and hardware solutions 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000" b="0" dirty="0">
                <a:latin typeface="+mn-lt"/>
              </a:rPr>
              <a:t>The compiler : </a:t>
            </a:r>
          </a:p>
          <a:p>
            <a:pPr lvl="1" eaLnBrk="1" hangingPunct="1">
              <a:buFontTx/>
              <a:buChar char="•"/>
              <a:defRPr/>
            </a:pPr>
            <a:r>
              <a:rPr lang="en-US" altLang="zh-CN" sz="2000" b="0" dirty="0">
                <a:latin typeface="+mn-lt"/>
              </a:rPr>
              <a:t>Loop interchange optimization to avoid accessing the same bank. </a:t>
            </a:r>
          </a:p>
          <a:p>
            <a:pPr lvl="1" eaLnBrk="1" hangingPunct="1">
              <a:buFontTx/>
              <a:buChar char="•"/>
              <a:defRPr/>
            </a:pPr>
            <a:r>
              <a:rPr lang="en-US" altLang="zh-CN" sz="2000" b="0" dirty="0">
                <a:latin typeface="+mn-lt"/>
              </a:rPr>
              <a:t>For the programmer or the compiler to expand the size of the array so that it is </a:t>
            </a:r>
            <a:r>
              <a:rPr lang="en-US" altLang="zh-CN" sz="2000" dirty="0">
                <a:latin typeface="+mn-lt"/>
              </a:rPr>
              <a:t>not a power of 2</a:t>
            </a:r>
            <a:r>
              <a:rPr lang="en-US" altLang="zh-CN" sz="2000" b="0" dirty="0">
                <a:latin typeface="+mn-lt"/>
              </a:rPr>
              <a:t>, thereby forcing the addresses above to go to different banks.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000" b="0" dirty="0">
                <a:latin typeface="+mn-lt"/>
              </a:rPr>
              <a:t>The hardware: </a:t>
            </a:r>
            <a:r>
              <a:rPr lang="en-US" altLang="zh-CN" sz="2000" dirty="0">
                <a:latin typeface="+mn-lt"/>
              </a:rPr>
              <a:t>Using a prime number of memory banks </a:t>
            </a:r>
            <a:r>
              <a:rPr lang="zh-CN" altLang="en-US" sz="2000" dirty="0">
                <a:latin typeface="+mn-lt"/>
              </a:rPr>
              <a:t>2</a:t>
            </a:r>
            <a:r>
              <a:rPr lang="en-US" altLang="zh-CN" sz="2000" baseline="30000" dirty="0">
                <a:latin typeface="+mn-lt"/>
              </a:rPr>
              <a:t>n</a:t>
            </a:r>
            <a:r>
              <a:rPr lang="en-US" altLang="zh-CN" sz="2000" dirty="0">
                <a:latin typeface="+mn-lt"/>
              </a:rPr>
              <a:t>-1</a:t>
            </a:r>
          </a:p>
          <a:p>
            <a:pPr algn="ctr" eaLnBrk="1" hangingPunct="1">
              <a:buFontTx/>
              <a:buNone/>
              <a:defRPr/>
            </a:pPr>
            <a:endParaRPr lang="en-US" altLang="zh-CN" sz="2000" b="0" dirty="0">
              <a:solidFill>
                <a:schemeClr val="hlink"/>
              </a:solidFill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66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2D43E951-98C6-451F-992A-D32490E36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432" y="1341438"/>
            <a:ext cx="10225136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This section describes the technology inside the memory chips.</a:t>
            </a:r>
          </a:p>
          <a:p>
            <a:r>
              <a:rPr lang="en-US" altLang="zh-CN" dirty="0"/>
              <a:t>Two measures—access time and cycle time. </a:t>
            </a:r>
          </a:p>
          <a:p>
            <a:pPr lvl="1"/>
            <a:r>
              <a:rPr lang="en-US" altLang="zh-CN" dirty="0"/>
              <a:t>Access time ----- time between when a read is requested and when the desired word arrives,</a:t>
            </a:r>
          </a:p>
          <a:p>
            <a:pPr lvl="1"/>
            <a:r>
              <a:rPr lang="en-US" altLang="zh-CN" dirty="0"/>
              <a:t>Cycle time ----- minimum time between requests to memory. </a:t>
            </a:r>
          </a:p>
          <a:p>
            <a:pPr lvl="1"/>
            <a:r>
              <a:rPr lang="en-US" altLang="zh-CN" dirty="0"/>
              <a:t>One reason that cycle time is greater than access time is that the memory needs the address lines to be stable between accesses.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E41C1A95-487E-4E9A-9941-A464DB052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5.9 </a:t>
            </a:r>
            <a:r>
              <a:rPr lang="en-US" altLang="zh-CN"/>
              <a:t>Memory Technology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>
            <a:extLst>
              <a:ext uri="{FF2B5EF4-FFF2-40B4-BE49-F238E27FC236}">
                <a16:creationId xmlns:a16="http://schemas.microsoft.com/office/drawing/2014/main" id="{976017F4-EA57-427A-A972-C6B58452FB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341438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/>
              <a:t>Random Access Memory (vs. Serial Access Memory)</a:t>
            </a:r>
          </a:p>
          <a:p>
            <a:r>
              <a:rPr lang="en-US" altLang="zh-CN" sz="2000" dirty="0"/>
              <a:t>Different flavors at different levels</a:t>
            </a:r>
          </a:p>
          <a:p>
            <a:pPr lvl="1"/>
            <a:r>
              <a:rPr lang="en-US" altLang="zh-CN" sz="1800" dirty="0"/>
              <a:t>Physical Makeup (CMOS, DRAM)</a:t>
            </a:r>
          </a:p>
          <a:p>
            <a:pPr lvl="1"/>
            <a:r>
              <a:rPr lang="en-US" altLang="zh-CN" sz="1800" dirty="0"/>
              <a:t>Low Level Architectures (FPM,EDO,BEDO,SDRAM)</a:t>
            </a:r>
          </a:p>
          <a:p>
            <a:r>
              <a:rPr lang="en-US" altLang="zh-CN" sz="2000" dirty="0"/>
              <a:t>Cache uses </a:t>
            </a:r>
            <a:r>
              <a:rPr lang="en-US" altLang="zh-CN" sz="2000" b="1" dirty="0"/>
              <a:t>SRAM</a:t>
            </a:r>
            <a:r>
              <a:rPr lang="en-US" altLang="zh-CN" sz="2000" dirty="0"/>
              <a:t>: Static Random Access Memory</a:t>
            </a:r>
          </a:p>
          <a:p>
            <a:pPr lvl="1"/>
            <a:r>
              <a:rPr lang="en-US" altLang="zh-CN" sz="1800" dirty="0"/>
              <a:t>No refresh (6 transistors/bit vs. 1 transistor</a:t>
            </a:r>
            <a:br>
              <a:rPr lang="en-US" altLang="zh-CN" sz="1800" dirty="0"/>
            </a:br>
            <a:r>
              <a:rPr lang="en-US" altLang="zh-CN" sz="1800" dirty="0"/>
              <a:t>Size: DRAM/SRAM ­ 4-8, </a:t>
            </a:r>
            <a:br>
              <a:rPr lang="en-US" altLang="zh-CN" sz="1800" dirty="0"/>
            </a:br>
            <a:r>
              <a:rPr lang="en-US" altLang="zh-CN" sz="1800" dirty="0"/>
              <a:t>Cost/Cycle time: SRAM/DRAM ­ 8-16</a:t>
            </a:r>
          </a:p>
          <a:p>
            <a:r>
              <a:rPr lang="en-US" altLang="zh-CN" sz="2000" dirty="0"/>
              <a:t>Main Memory is </a:t>
            </a:r>
            <a:r>
              <a:rPr lang="en-US" altLang="zh-CN" sz="2000" b="1" dirty="0"/>
              <a:t>DRAM</a:t>
            </a:r>
            <a:r>
              <a:rPr lang="en-US" altLang="zh-CN" sz="2000" dirty="0"/>
              <a:t>: Dynamic Random Access Memory</a:t>
            </a:r>
          </a:p>
          <a:p>
            <a:pPr lvl="1"/>
            <a:r>
              <a:rPr lang="en-US" altLang="zh-CN" sz="1800" dirty="0"/>
              <a:t>Dynamic since needs to be refreshed periodically (8 </a:t>
            </a:r>
            <a:r>
              <a:rPr lang="en-US" altLang="zh-CN" sz="1800" dirty="0" err="1"/>
              <a:t>ms</a:t>
            </a:r>
            <a:r>
              <a:rPr lang="en-US" altLang="zh-CN" sz="1800" dirty="0"/>
              <a:t>, 1% time)</a:t>
            </a:r>
          </a:p>
          <a:p>
            <a:pPr lvl="1"/>
            <a:r>
              <a:rPr lang="en-US" altLang="zh-CN" sz="1800" dirty="0"/>
              <a:t>Addresses divided into 2 halves (Memory as a 2D matrix):</a:t>
            </a:r>
          </a:p>
          <a:p>
            <a:pPr lvl="2"/>
            <a:r>
              <a:rPr lang="en-US" altLang="zh-CN" sz="1600" dirty="0"/>
              <a:t>RAS or Row Access Strobe</a:t>
            </a:r>
          </a:p>
          <a:p>
            <a:pPr lvl="2"/>
            <a:r>
              <a:rPr lang="en-US" altLang="zh-CN" sz="1600" dirty="0"/>
              <a:t>CAS or Column Access Strobe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8500148-3652-4DA1-B7AC-BFD0382B1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Main Memory Background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057AED67-DB93-4D90-88CE-7F0E234C69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219200"/>
            <a:ext cx="1042034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/>
              <a:t>Embedded computers usually have small memories, and most do not have a disk to act as non-volatile storage. </a:t>
            </a:r>
          </a:p>
          <a:p>
            <a:endParaRPr lang="en-US" altLang="zh-CN" sz="2000" dirty="0"/>
          </a:p>
          <a:p>
            <a:r>
              <a:rPr lang="en-US" altLang="zh-CN" sz="2000" dirty="0"/>
              <a:t>Two memory technologies are found in embedded computers to address this problem.</a:t>
            </a:r>
          </a:p>
          <a:p>
            <a:pPr lvl="1"/>
            <a:r>
              <a:rPr lang="en-US" altLang="zh-CN" sz="1800" dirty="0"/>
              <a:t>The first is Read-Only Memory (ROM). </a:t>
            </a:r>
          </a:p>
          <a:p>
            <a:pPr lvl="2"/>
            <a:r>
              <a:rPr lang="en-US" altLang="zh-CN" sz="1600" dirty="0"/>
              <a:t>ROM is programmed at time of manufacture, nothing the computer can do can modify the contents of this memory.</a:t>
            </a:r>
          </a:p>
          <a:p>
            <a:pPr lvl="1"/>
            <a:r>
              <a:rPr lang="en-US" altLang="zh-CN" sz="1800" dirty="0"/>
              <a:t>The second is Flash memory. </a:t>
            </a:r>
          </a:p>
          <a:p>
            <a:pPr lvl="2"/>
            <a:r>
              <a:rPr lang="en-US" altLang="zh-CN" sz="1600" dirty="0"/>
              <a:t>Allows the embedded device to alter nonvolatile memory after the system is manufactured,</a:t>
            </a:r>
          </a:p>
          <a:p>
            <a:pPr lvl="2"/>
            <a:r>
              <a:rPr lang="en-US" altLang="zh-CN" sz="1600" dirty="0"/>
              <a:t>Allows reading at almost DRAM speeds but writing flash is 10 to 100 times slower.</a:t>
            </a:r>
            <a:endParaRPr lang="zh-CN" altLang="en-US" dirty="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3D31A8C-E556-4492-8F8B-87FACC5C4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Embedded Processor Memory Technology: ROM and Flash</a:t>
            </a:r>
            <a:endParaRPr lang="zh-CN" altLang="en-US" sz="20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>
            <a:extLst>
              <a:ext uri="{FF2B5EF4-FFF2-40B4-BE49-F238E27FC236}">
                <a16:creationId xmlns:a16="http://schemas.microsoft.com/office/drawing/2014/main" id="{7AFFB569-016A-4723-B0A8-7F8CB55AA7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432" y="1341438"/>
            <a:ext cx="10225136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ROM (</a:t>
            </a:r>
            <a:r>
              <a:rPr lang="zh-CN" altLang="en-US" dirty="0"/>
              <a:t>掩膜式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PROM (</a:t>
            </a:r>
            <a:r>
              <a:rPr lang="zh-CN" altLang="en-US" dirty="0"/>
              <a:t>熔丝或二极管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EPROM</a:t>
            </a:r>
          </a:p>
          <a:p>
            <a:r>
              <a:rPr lang="en-US" altLang="zh-CN" dirty="0"/>
              <a:t>EEPROM</a:t>
            </a:r>
          </a:p>
          <a:p>
            <a:r>
              <a:rPr lang="en-US" altLang="zh-CN" dirty="0"/>
              <a:t>FLASH MEMORY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45CA61E-E74F-434E-B8E7-5D62D41040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 of memory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E4DA2ACD-7908-4403-93E1-A976795AC4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341438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What is </a:t>
            </a:r>
            <a:r>
              <a:rPr lang="en-US" altLang="zh-CN" b="1" dirty="0"/>
              <a:t>virtual memory</a:t>
            </a:r>
            <a:r>
              <a:rPr lang="en-US" altLang="zh-CN" dirty="0"/>
              <a:t>?</a:t>
            </a:r>
          </a:p>
          <a:p>
            <a:pPr lvl="1"/>
            <a:r>
              <a:rPr lang="en-US" altLang="zh-CN" dirty="0"/>
              <a:t>Technique that allows execution of a program that</a:t>
            </a:r>
          </a:p>
          <a:p>
            <a:pPr lvl="2"/>
            <a:r>
              <a:rPr lang="en-US" altLang="zh-CN" dirty="0"/>
              <a:t>can reside in discontinuous memory locations</a:t>
            </a:r>
          </a:p>
          <a:p>
            <a:pPr lvl="2"/>
            <a:r>
              <a:rPr lang="en-US" altLang="zh-CN" dirty="0"/>
              <a:t>does not have to completely reside in memory</a:t>
            </a:r>
          </a:p>
          <a:p>
            <a:pPr lvl="1"/>
            <a:r>
              <a:rPr lang="en-US" altLang="zh-CN" dirty="0"/>
              <a:t>Allows the computer to “fake” a program into believing that its</a:t>
            </a:r>
          </a:p>
          <a:p>
            <a:pPr lvl="2"/>
            <a:r>
              <a:rPr lang="en-US" altLang="zh-CN" dirty="0"/>
              <a:t>memory is contiguous</a:t>
            </a:r>
          </a:p>
          <a:p>
            <a:pPr lvl="2"/>
            <a:r>
              <a:rPr lang="en-US" altLang="zh-CN" dirty="0"/>
              <a:t>memory space is larger than physical memory, Provides illusion of very large memory</a:t>
            </a:r>
          </a:p>
          <a:p>
            <a:r>
              <a:rPr lang="en-US" altLang="zh-CN" dirty="0"/>
              <a:t>Why is VM important?</a:t>
            </a:r>
          </a:p>
          <a:p>
            <a:pPr lvl="1"/>
            <a:r>
              <a:rPr lang="en-US" altLang="zh-CN" dirty="0"/>
              <a:t>Cheap - no longer have to buy lots of RAM</a:t>
            </a:r>
          </a:p>
          <a:p>
            <a:pPr lvl="1"/>
            <a:r>
              <a:rPr lang="en-US" altLang="zh-CN" dirty="0"/>
              <a:t>Removes burden of memory resource management from the programmer</a:t>
            </a:r>
          </a:p>
          <a:p>
            <a:pPr lvl="1"/>
            <a:r>
              <a:rPr lang="en-US" altLang="zh-CN" dirty="0"/>
              <a:t>Enables multiprogramming, time-sharing, protection</a:t>
            </a:r>
          </a:p>
          <a:p>
            <a:endParaRPr lang="zh-CN" altLang="en-US" dirty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C9BA68A-2672-4B1A-A641-E91CBD46C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5.10  </a:t>
            </a:r>
            <a:r>
              <a:rPr lang="en-US" altLang="zh-CN"/>
              <a:t>Virtual Memory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4">
            <a:extLst>
              <a:ext uri="{FF2B5EF4-FFF2-40B4-BE49-F238E27FC236}">
                <a16:creationId xmlns:a16="http://schemas.microsoft.com/office/drawing/2014/main" id="{2356C71F-3FE6-41BB-A78D-A103D4721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8225" y="2348880"/>
            <a:ext cx="4897438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Rectangle 3">
            <a:extLst>
              <a:ext uri="{FF2B5EF4-FFF2-40B4-BE49-F238E27FC236}">
                <a16:creationId xmlns:a16="http://schemas.microsoft.com/office/drawing/2014/main" id="{AEE95867-5A87-4362-9E50-2173E99AE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1424" y="1219200"/>
            <a:ext cx="8997552" cy="472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>
                <a:solidFill>
                  <a:srgbClr val="000000"/>
                </a:solidFill>
              </a:rPr>
              <a:t>Main memory (physical memory) can act as a </a:t>
            </a:r>
            <a:r>
              <a:rPr lang="en-US" altLang="zh-CN" sz="2000" i="1" dirty="0">
                <a:solidFill>
                  <a:srgbClr val="000000"/>
                </a:solidFill>
              </a:rPr>
              <a:t>cache </a:t>
            </a:r>
            <a:r>
              <a:rPr lang="en-US" altLang="zh-CN" sz="2000" dirty="0">
                <a:solidFill>
                  <a:srgbClr val="000000"/>
                </a:solidFill>
              </a:rPr>
              <a:t>for the secondary storage (disk)</a:t>
            </a:r>
          </a:p>
          <a:p>
            <a:pPr lvl="1"/>
            <a:r>
              <a:rPr lang="en-US" altLang="zh-CN" sz="1600" dirty="0">
                <a:solidFill>
                  <a:srgbClr val="063DE9"/>
                </a:solidFill>
              </a:rPr>
              <a:t>illusion of having more and contiguous physical memory</a:t>
            </a:r>
          </a:p>
          <a:p>
            <a:pPr lvl="1"/>
            <a:r>
              <a:rPr lang="en-US" altLang="zh-CN" sz="1600" dirty="0">
                <a:solidFill>
                  <a:srgbClr val="063DE9"/>
                </a:solidFill>
              </a:rPr>
              <a:t>program relocation by “pages” or “segment”</a:t>
            </a:r>
          </a:p>
          <a:p>
            <a:pPr lvl="1"/>
            <a:r>
              <a:rPr lang="en-US" altLang="zh-CN" sz="1600" dirty="0">
                <a:solidFill>
                  <a:srgbClr val="063DE9"/>
                </a:solidFill>
              </a:rPr>
              <a:t>protection in multiprogramming</a:t>
            </a:r>
          </a:p>
          <a:p>
            <a:endParaRPr lang="en-US" altLang="zh-CN" sz="2000" dirty="0">
              <a:solidFill>
                <a:srgbClr val="063DE9"/>
              </a:solidFill>
            </a:endParaRP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000" i="1" dirty="0"/>
              <a:t>Virtual Address :</a:t>
            </a: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000" dirty="0"/>
              <a:t> address used by the programmer</a:t>
            </a: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endParaRPr kumimoji="1" lang="zh-CN" altLang="en-US" sz="2000" dirty="0"/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000" i="1" dirty="0"/>
              <a:t>Virtual Address Space: </a:t>
            </a: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000" dirty="0"/>
              <a:t>  collection of such addresses</a:t>
            </a: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endParaRPr kumimoji="1" lang="zh-CN" altLang="en-US" sz="2000" dirty="0"/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000" i="1" dirty="0"/>
              <a:t>Memory Address:</a:t>
            </a: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000" dirty="0"/>
              <a:t> address of word in physical memory</a:t>
            </a: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zh-CN" altLang="en-US" sz="2000" dirty="0"/>
              <a:t>      </a:t>
            </a:r>
            <a:r>
              <a:rPr kumimoji="1" lang="en-US" altLang="zh-CN" sz="2000" dirty="0"/>
              <a:t>also known as 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“</a:t>
            </a:r>
            <a:r>
              <a:rPr kumimoji="1" lang="en-US" altLang="zh-CN" sz="2000" dirty="0"/>
              <a:t>physical address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”</a:t>
            </a:r>
            <a:r>
              <a:rPr kumimoji="1" lang="en-US" altLang="zh-CN" sz="2000" dirty="0"/>
              <a:t> </a:t>
            </a:r>
          </a:p>
          <a:p>
            <a:pPr>
              <a:lnSpc>
                <a:spcPct val="8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000" dirty="0"/>
              <a:t>			or 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“</a:t>
            </a:r>
            <a:r>
              <a:rPr kumimoji="1" lang="en-US" altLang="zh-CN" sz="2000" dirty="0"/>
              <a:t>real address</a:t>
            </a:r>
            <a:r>
              <a:rPr kumimoji="1" lang="en-US" altLang="zh-CN" sz="2000" dirty="0">
                <a:latin typeface="Times New Roman" panose="02020603050405020304" pitchFamily="18" charset="0"/>
              </a:rPr>
              <a:t>”</a:t>
            </a:r>
            <a:endParaRPr kumimoji="1" lang="en-US" altLang="zh-CN" sz="2000" dirty="0"/>
          </a:p>
          <a:p>
            <a:endParaRPr lang="en-US" altLang="zh-CN" sz="2000" dirty="0">
              <a:solidFill>
                <a:srgbClr val="000000"/>
              </a:solidFill>
            </a:endParaRPr>
          </a:p>
          <a:p>
            <a:endParaRPr lang="zh-CN" altLang="en-US" sz="2000" dirty="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6794E584-6011-4029-A2B1-37B348EE9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424" y="152400"/>
            <a:ext cx="8559601" cy="784226"/>
          </a:xfrm>
        </p:spPr>
        <p:txBody>
          <a:bodyPr/>
          <a:lstStyle/>
          <a:p>
            <a:r>
              <a:rPr lang="en-US" altLang="zh-CN" dirty="0"/>
              <a:t>Advantages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0D325395-B026-4998-9D7F-12F6025A59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219200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 dirty="0"/>
              <a:t>Two memory “spaces”</a:t>
            </a:r>
          </a:p>
          <a:p>
            <a:pPr lvl="1"/>
            <a:r>
              <a:rPr lang="en-US" altLang="zh-CN" sz="1800" dirty="0"/>
              <a:t>Virtual memory space - what the program “sees”</a:t>
            </a:r>
          </a:p>
          <a:p>
            <a:pPr lvl="1"/>
            <a:r>
              <a:rPr lang="en-US" altLang="zh-CN" sz="1800" dirty="0"/>
              <a:t>Physical memory space - what the program runs in (size of RAM)</a:t>
            </a:r>
          </a:p>
          <a:p>
            <a:r>
              <a:rPr lang="en-US" altLang="zh-CN" sz="2000" dirty="0"/>
              <a:t>On program startup</a:t>
            </a:r>
          </a:p>
          <a:p>
            <a:pPr lvl="1"/>
            <a:r>
              <a:rPr lang="en-US" altLang="zh-CN" sz="1800" dirty="0"/>
              <a:t>OS copies program into RAM</a:t>
            </a:r>
          </a:p>
          <a:p>
            <a:pPr lvl="1"/>
            <a:r>
              <a:rPr lang="en-US" altLang="zh-CN" sz="1800" dirty="0"/>
              <a:t>If there is not enough RAM, OS stops copying program &amp; starts running the program with some portion of the program loaded in RAM</a:t>
            </a:r>
          </a:p>
          <a:p>
            <a:pPr lvl="1"/>
            <a:r>
              <a:rPr lang="en-US" altLang="zh-CN" sz="1800" dirty="0"/>
              <a:t>When the program touches a part of the program not in physical memory, OS copies that part of the program from disk into RAM</a:t>
            </a:r>
          </a:p>
          <a:p>
            <a:pPr lvl="1"/>
            <a:r>
              <a:rPr lang="en-US" altLang="zh-CN" sz="1800" dirty="0"/>
              <a:t>In order to copy some of the program from disk to RAM, OS must evict parts of the program already in RAM</a:t>
            </a:r>
          </a:p>
          <a:p>
            <a:pPr lvl="2"/>
            <a:r>
              <a:rPr lang="en-US" altLang="zh-CN" sz="1600" dirty="0"/>
              <a:t>OS copies the evicted parts of the program back to disk if the pages are dirty (</a:t>
            </a:r>
            <a:r>
              <a:rPr lang="en-US" altLang="zh-CN" sz="1600" dirty="0" err="1"/>
              <a:t>ie</a:t>
            </a:r>
            <a:r>
              <a:rPr lang="en-US" altLang="zh-CN" sz="1600" dirty="0"/>
              <a:t>, if they have been written into, and changed)</a:t>
            </a:r>
            <a:endParaRPr lang="zh-CN" altLang="en-US" sz="1600" dirty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59123E5D-6522-468B-8557-22F009013E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How Does VM Work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内容占位符 2">
            <a:extLst>
              <a:ext uri="{FF2B5EF4-FFF2-40B4-BE49-F238E27FC236}">
                <a16:creationId xmlns:a16="http://schemas.microsoft.com/office/drawing/2014/main" id="{848CD7D8-E98C-4AA9-9C15-C25EB2A76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341438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Terms are different</a:t>
            </a:r>
          </a:p>
          <a:p>
            <a:pPr lvl="1"/>
            <a:r>
              <a:rPr lang="en-US" altLang="zh-CN" dirty="0"/>
              <a:t>Block ----Page or segment</a:t>
            </a:r>
          </a:p>
          <a:p>
            <a:pPr lvl="1"/>
            <a:r>
              <a:rPr lang="en-US" altLang="zh-CN" dirty="0"/>
              <a:t>Miss ---- page fault or address fault</a:t>
            </a:r>
          </a:p>
          <a:p>
            <a:pPr lvl="1"/>
            <a:r>
              <a:rPr lang="en-US" altLang="zh-CN" dirty="0"/>
              <a:t>Memory mapping or address translation ---- With virtual memory, the CPU produces virtual addresses that are translated by a combination of hardware and software to physical addresses, which access main memory. </a:t>
            </a:r>
          </a:p>
          <a:p>
            <a:pPr lvl="1"/>
            <a:endParaRPr lang="en-US" altLang="zh-CN" dirty="0"/>
          </a:p>
          <a:p>
            <a:r>
              <a:rPr lang="en-US" altLang="zh-CN" dirty="0"/>
              <a:t>The two memory-hierarchy levels controlled by virtual memory are DRAMs and magnetic disks.</a:t>
            </a:r>
          </a:p>
          <a:p>
            <a:endParaRPr lang="zh-CN" altLang="en-US" dirty="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699EE29-292C-400F-AE6E-021154435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/>
              <a:t>Memory Hierarchy Parameters for Virtual Memory.</a:t>
            </a:r>
            <a:endParaRPr lang="zh-CN" altLang="en-US" sz="2400"/>
          </a:p>
        </p:txBody>
      </p:sp>
      <p:pic>
        <p:nvPicPr>
          <p:cNvPr id="997380" name="Picture 4">
            <a:extLst>
              <a:ext uri="{FF2B5EF4-FFF2-40B4-BE49-F238E27FC236}">
                <a16:creationId xmlns:a16="http://schemas.microsoft.com/office/drawing/2014/main" id="{9662D8E2-2810-49A2-B023-DDC1FD7D4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581" y="1460079"/>
            <a:ext cx="10129022" cy="393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D755514F-2781-4FFA-AC21-EA87D83140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341438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Virtual memory systems can be categorized into two classes</a:t>
            </a:r>
          </a:p>
          <a:p>
            <a:pPr lvl="1"/>
            <a:r>
              <a:rPr lang="en-US" altLang="zh-CN"/>
              <a:t>Pages---- fixed-size blocks,</a:t>
            </a:r>
          </a:p>
          <a:p>
            <a:pPr lvl="1"/>
            <a:r>
              <a:rPr lang="en-US" altLang="zh-CN"/>
              <a:t>segments---- variable-size blocks</a:t>
            </a:r>
            <a:endParaRPr lang="zh-CN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DE4AF044-459A-4F55-9774-921EA5EEE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Paging versus segmentation</a:t>
            </a:r>
            <a:endParaRPr lang="zh-CN" altLang="en-US"/>
          </a:p>
        </p:txBody>
      </p:sp>
      <p:pic>
        <p:nvPicPr>
          <p:cNvPr id="41988" name="Picture 5">
            <a:extLst>
              <a:ext uri="{FF2B5EF4-FFF2-40B4-BE49-F238E27FC236}">
                <a16:creationId xmlns:a16="http://schemas.microsoft.com/office/drawing/2014/main" id="{459BB1B4-947B-49CA-80A2-BDDC2A461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3086100"/>
            <a:ext cx="6858000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8404" name="Picture 4">
            <a:extLst>
              <a:ext uri="{FF2B5EF4-FFF2-40B4-BE49-F238E27FC236}">
                <a16:creationId xmlns:a16="http://schemas.microsoft.com/office/drawing/2014/main" id="{DAECB717-920E-44F7-B846-25011582A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38" y="1447800"/>
            <a:ext cx="9144001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98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>
            <a:extLst>
              <a:ext uri="{FF2B5EF4-FFF2-40B4-BE49-F238E27FC236}">
                <a16:creationId xmlns:a16="http://schemas.microsoft.com/office/drawing/2014/main" id="{580DD43F-DBFF-4D71-9BEA-6455CE39E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432" y="1341438"/>
            <a:ext cx="10225136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/>
              <a:t>Q1: Where can a block be placed in main memory?</a:t>
            </a:r>
          </a:p>
          <a:p>
            <a:r>
              <a:rPr lang="en-US" altLang="zh-CN" dirty="0"/>
              <a:t>The high miss penalty </a:t>
            </a:r>
          </a:p>
          <a:p>
            <a:pPr lvl="1"/>
            <a:r>
              <a:rPr lang="en-US" altLang="zh-CN" dirty="0"/>
              <a:t>Quite high</a:t>
            </a:r>
          </a:p>
          <a:p>
            <a:pPr lvl="2"/>
            <a:r>
              <a:rPr lang="en-US" altLang="zh-CN" dirty="0"/>
              <a:t>access to a rotating magnetic storage device and</a:t>
            </a:r>
          </a:p>
          <a:p>
            <a:r>
              <a:rPr lang="en-US" altLang="zh-CN" dirty="0"/>
              <a:t>Must be lower miss rates </a:t>
            </a:r>
          </a:p>
          <a:p>
            <a:pPr lvl="1"/>
            <a:r>
              <a:rPr lang="en-US" altLang="zh-CN" dirty="0"/>
              <a:t>choosing a simpler placement algorithm</a:t>
            </a:r>
          </a:p>
          <a:p>
            <a:pPr lvl="1"/>
            <a:r>
              <a:rPr lang="en-US" altLang="zh-CN" dirty="0"/>
              <a:t>operating systems designers normally pick lower miss rates because of the exorbitant miss penalty. </a:t>
            </a:r>
          </a:p>
          <a:p>
            <a:r>
              <a:rPr lang="en-US" altLang="zh-CN" dirty="0"/>
              <a:t>Fully associative strategy.</a:t>
            </a:r>
          </a:p>
          <a:p>
            <a:pPr lvl="1"/>
            <a:r>
              <a:rPr lang="en-US" altLang="zh-CN" dirty="0"/>
              <a:t>Thus, operating systems allow blocks to be placed anywhere in main memory. </a:t>
            </a:r>
          </a:p>
          <a:p>
            <a:pPr lvl="1"/>
            <a:endParaRPr lang="zh-CN" altLang="en-US" dirty="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4F5FA19B-5897-4A42-8F81-B1E991769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Four Memory Hierarchy Questions Revisited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22D9218D-8790-45D7-BF6C-7E2384EDC2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3432" y="1289050"/>
            <a:ext cx="10660112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z="2000"/>
              <a:t>Both paging and segmentation data structure table</a:t>
            </a:r>
          </a:p>
          <a:p>
            <a:pPr lvl="1"/>
            <a:r>
              <a:rPr lang="en-US" altLang="zh-CN" sz="1800"/>
              <a:t> The data structure contains the physical address of the block. </a:t>
            </a:r>
          </a:p>
          <a:p>
            <a:pPr lvl="1"/>
            <a:r>
              <a:rPr lang="en-US" altLang="zh-CN" sz="1800"/>
              <a:t>That is indexed by the page or segment number</a:t>
            </a:r>
          </a:p>
          <a:p>
            <a:r>
              <a:rPr lang="en-US" altLang="zh-CN" sz="2000"/>
              <a:t>For segmentation:</a:t>
            </a:r>
          </a:p>
          <a:p>
            <a:pPr lvl="1"/>
            <a:r>
              <a:rPr lang="en-US" altLang="zh-CN" sz="1800"/>
              <a:t> The offset is added to the segment’s physical address to obtain the final physical address.</a:t>
            </a:r>
          </a:p>
          <a:p>
            <a:r>
              <a:rPr lang="en-US" altLang="zh-CN" sz="2000"/>
              <a:t> For paging:</a:t>
            </a:r>
          </a:p>
          <a:p>
            <a:pPr lvl="1"/>
            <a:r>
              <a:rPr lang="en-US" altLang="zh-CN" sz="1800"/>
              <a:t> the offset is simply concatenated to this physical page address</a:t>
            </a:r>
          </a:p>
          <a:p>
            <a:r>
              <a:rPr lang="en-US" altLang="zh-CN" sz="2000"/>
              <a:t>The size of the table </a:t>
            </a:r>
          </a:p>
          <a:p>
            <a:pPr lvl="1"/>
            <a:r>
              <a:rPr lang="en-US" altLang="zh-CN" sz="1800"/>
              <a:t>The number of pages in the virtual address space.</a:t>
            </a:r>
          </a:p>
          <a:p>
            <a:pPr lvl="1"/>
            <a:r>
              <a:rPr lang="en-US" altLang="zh-CN" sz="1800"/>
              <a:t>Assume: 32-bit virtual address, 4-KB pages, and 4 bytes per page table entry;  the size of the page table:</a:t>
            </a:r>
            <a:endParaRPr lang="zh-CN" altLang="en-US" sz="18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79FCB47-9B4F-41A8-AA20-56D308C7D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Q2: How is a block found if it is in main memory?</a:t>
            </a:r>
            <a:endParaRPr lang="zh-CN" altLang="en-US"/>
          </a:p>
        </p:txBody>
      </p:sp>
      <p:grpSp>
        <p:nvGrpSpPr>
          <p:cNvPr id="44036" name="Group 9">
            <a:extLst>
              <a:ext uri="{FF2B5EF4-FFF2-40B4-BE49-F238E27FC236}">
                <a16:creationId xmlns:a16="http://schemas.microsoft.com/office/drawing/2014/main" id="{CAB261A0-A137-4978-A047-9BF4951B0734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5395914"/>
            <a:ext cx="3683000" cy="898525"/>
            <a:chOff x="1772" y="3600"/>
            <a:chExt cx="2320" cy="566"/>
          </a:xfrm>
        </p:grpSpPr>
        <p:sp>
          <p:nvSpPr>
            <p:cNvPr id="44039" name="Rectangle 4">
              <a:extLst>
                <a:ext uri="{FF2B5EF4-FFF2-40B4-BE49-F238E27FC236}">
                  <a16:creationId xmlns:a16="http://schemas.microsoft.com/office/drawing/2014/main" id="{F5B611EC-3949-44FF-8081-3EDB54960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2" y="3600"/>
              <a:ext cx="41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>
                  <a:latin typeface="Comic Sans MS" panose="030F0702030302020204" pitchFamily="66" charset="0"/>
                </a:rPr>
                <a:t>2</a:t>
              </a:r>
              <a:r>
                <a:rPr lang="en-US" altLang="zh-CN" sz="2600" baseline="30000">
                  <a:latin typeface="Comic Sans MS" panose="030F0702030302020204" pitchFamily="66" charset="0"/>
                </a:rPr>
                <a:t>32</a:t>
              </a:r>
              <a:endParaRPr lang="zh-CN" altLang="en-US" sz="2600" baseline="30000">
                <a:latin typeface="Comic Sans MS" panose="030F0702030302020204" pitchFamily="66" charset="0"/>
              </a:endParaRPr>
            </a:p>
          </p:txBody>
        </p:sp>
        <p:sp>
          <p:nvSpPr>
            <p:cNvPr id="44040" name="Rectangle 5">
              <a:extLst>
                <a:ext uri="{FF2B5EF4-FFF2-40B4-BE49-F238E27FC236}">
                  <a16:creationId xmlns:a16="http://schemas.microsoft.com/office/drawing/2014/main" id="{493AB6EE-7047-4A60-BD02-05B8BF579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3856"/>
              <a:ext cx="39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>
                  <a:latin typeface="Comic Sans MS" panose="030F0702030302020204" pitchFamily="66" charset="0"/>
                </a:rPr>
                <a:t>2</a:t>
              </a:r>
              <a:r>
                <a:rPr lang="en-US" altLang="zh-CN" sz="2600" baseline="30000">
                  <a:latin typeface="Comic Sans MS" panose="030F0702030302020204" pitchFamily="66" charset="0"/>
                </a:rPr>
                <a:t>12</a:t>
              </a:r>
              <a:endParaRPr lang="zh-CN" altLang="en-US" sz="2600" baseline="30000">
                <a:latin typeface="Comic Sans MS" panose="030F0702030302020204" pitchFamily="66" charset="0"/>
              </a:endParaRPr>
            </a:p>
          </p:txBody>
        </p:sp>
        <p:sp>
          <p:nvSpPr>
            <p:cNvPr id="44041" name="Line 6">
              <a:extLst>
                <a:ext uri="{FF2B5EF4-FFF2-40B4-BE49-F238E27FC236}">
                  <a16:creationId xmlns:a16="http://schemas.microsoft.com/office/drawing/2014/main" id="{97D76173-36BF-461E-BB90-F468028CB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9" y="3879"/>
              <a:ext cx="3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042" name="Rectangle 7">
              <a:extLst>
                <a:ext uri="{FF2B5EF4-FFF2-40B4-BE49-F238E27FC236}">
                  <a16:creationId xmlns:a16="http://schemas.microsoft.com/office/drawing/2014/main" id="{6C524501-190A-4339-B901-D4E6A897F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3724"/>
              <a:ext cx="198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600">
                  <a:latin typeface="Comic Sans MS" panose="030F0702030302020204" pitchFamily="66" charset="0"/>
                </a:rPr>
                <a:t>×</a:t>
              </a:r>
              <a:r>
                <a:rPr lang="zh-CN" altLang="en-US" sz="2600">
                  <a:latin typeface="Comic Sans MS" panose="030F0702030302020204" pitchFamily="66" charset="0"/>
                </a:rPr>
                <a:t>2</a:t>
              </a:r>
              <a:r>
                <a:rPr lang="zh-CN" altLang="en-US" sz="2600" baseline="30000">
                  <a:latin typeface="Comic Sans MS" panose="030F0702030302020204" pitchFamily="66" charset="0"/>
                </a:rPr>
                <a:t>2 </a:t>
              </a:r>
              <a:r>
                <a:rPr lang="en-US" altLang="zh-CN" sz="2600">
                  <a:latin typeface="Comic Sans MS" panose="030F0702030302020204" pitchFamily="66" charset="0"/>
                </a:rPr>
                <a:t>＝</a:t>
              </a:r>
              <a:r>
                <a:rPr lang="zh-CN" altLang="en-US" sz="2600">
                  <a:latin typeface="Comic Sans MS" panose="030F0702030302020204" pitchFamily="66" charset="0"/>
                </a:rPr>
                <a:t>2</a:t>
              </a:r>
              <a:r>
                <a:rPr lang="zh-CN" altLang="en-US" sz="2600" baseline="30000">
                  <a:latin typeface="Comic Sans MS" panose="030F0702030302020204" pitchFamily="66" charset="0"/>
                </a:rPr>
                <a:t>22</a:t>
              </a:r>
              <a:r>
                <a:rPr lang="en-US" altLang="zh-CN" sz="2600">
                  <a:latin typeface="Comic Sans MS" panose="030F0702030302020204" pitchFamily="66" charset="0"/>
                </a:rPr>
                <a:t>B＝4 MB</a:t>
              </a:r>
              <a:r>
                <a:rPr lang="zh-CN" altLang="en-US" sz="2600" baseline="30000">
                  <a:latin typeface="Comic Sans MS" panose="030F0702030302020204" pitchFamily="66" charset="0"/>
                </a:rPr>
                <a:t> </a:t>
              </a:r>
            </a:p>
          </p:txBody>
        </p:sp>
      </p:grpSp>
      <p:pic>
        <p:nvPicPr>
          <p:cNvPr id="1001482" name="Picture 10">
            <a:extLst>
              <a:ext uri="{FF2B5EF4-FFF2-40B4-BE49-F238E27FC236}">
                <a16:creationId xmlns:a16="http://schemas.microsoft.com/office/drawing/2014/main" id="{70794546-45FD-4FA8-B1C4-059D4C537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788" y="1074739"/>
            <a:ext cx="7391400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1483" name="Rectangle 11">
            <a:extLst>
              <a:ext uri="{FF2B5EF4-FFF2-40B4-BE49-F238E27FC236}">
                <a16:creationId xmlns:a16="http://schemas.microsoft.com/office/drawing/2014/main" id="{43618E38-47EF-4A8F-8C05-E3A15E3D7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1905000"/>
            <a:ext cx="6629400" cy="31765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r>
              <a:rPr lang="en-US" altLang="zh-CN" sz="2200" dirty="0">
                <a:solidFill>
                  <a:schemeClr val="hlink"/>
                </a:solidFill>
                <a:latin typeface="+mn-lt"/>
              </a:rPr>
              <a:t>To reduce the size table</a:t>
            </a:r>
          </a:p>
          <a:p>
            <a:pPr lvl="1" algn="ctr" eaLnBrk="1" hangingPunct="1">
              <a:spcBef>
                <a:spcPct val="20000"/>
              </a:spcBef>
              <a:defRPr/>
            </a:pPr>
            <a:r>
              <a:rPr lang="en-US" altLang="zh-CN" sz="2000" b="0" dirty="0">
                <a:latin typeface="+mn-lt"/>
              </a:rPr>
              <a:t>-Apply a hashing function to the virtual address. </a:t>
            </a:r>
          </a:p>
          <a:p>
            <a:pPr lvl="1" algn="ctr" eaLnBrk="1" hangingPunct="1">
              <a:spcBef>
                <a:spcPct val="20000"/>
              </a:spcBef>
              <a:defRPr/>
            </a:pPr>
            <a:r>
              <a:rPr lang="en-US" altLang="zh-CN" sz="2000" b="0" dirty="0">
                <a:latin typeface="+mn-lt"/>
              </a:rPr>
              <a:t>-The hash allows the data structure to be the length of the number of </a:t>
            </a:r>
            <a:r>
              <a:rPr lang="en-US" altLang="zh-CN" sz="2000" b="0" i="1" dirty="0">
                <a:solidFill>
                  <a:schemeClr val="hlink"/>
                </a:solidFill>
                <a:latin typeface="+mn-lt"/>
              </a:rPr>
              <a:t>physical </a:t>
            </a:r>
            <a:r>
              <a:rPr lang="en-US" altLang="zh-CN" sz="2000" b="0" dirty="0">
                <a:solidFill>
                  <a:schemeClr val="hlink"/>
                </a:solidFill>
                <a:latin typeface="+mn-lt"/>
              </a:rPr>
              <a:t>pages</a:t>
            </a:r>
            <a:r>
              <a:rPr lang="en-US" altLang="zh-CN" sz="2000" b="0" dirty="0">
                <a:latin typeface="+mn-lt"/>
              </a:rPr>
              <a:t> in main memory. Such a structure is called an </a:t>
            </a:r>
            <a:r>
              <a:rPr lang="en-US" altLang="zh-CN" sz="2000" b="0" i="1" dirty="0">
                <a:latin typeface="+mn-lt"/>
              </a:rPr>
              <a:t>inverted page table</a:t>
            </a:r>
            <a:r>
              <a:rPr lang="en-US" altLang="zh-CN" sz="2000" b="0" dirty="0">
                <a:latin typeface="+mn-lt"/>
              </a:rPr>
              <a:t>.</a:t>
            </a:r>
          </a:p>
          <a:p>
            <a:pPr algn="ctr" eaLnBrk="1" hangingPunct="1">
              <a:spcBef>
                <a:spcPct val="20000"/>
              </a:spcBef>
              <a:defRPr/>
            </a:pPr>
            <a:r>
              <a:rPr lang="en-US" altLang="zh-CN" sz="2200" dirty="0">
                <a:solidFill>
                  <a:schemeClr val="hlink"/>
                </a:solidFill>
                <a:latin typeface="+mn-lt"/>
              </a:rPr>
              <a:t>To reduce address translation time</a:t>
            </a:r>
          </a:p>
          <a:p>
            <a:pPr lvl="1" algn="ctr" eaLnBrk="1" hangingPunct="1">
              <a:spcBef>
                <a:spcPct val="20000"/>
              </a:spcBef>
              <a:defRPr/>
            </a:pPr>
            <a:r>
              <a:rPr lang="en-US" altLang="zh-CN" sz="2000" b="0" dirty="0">
                <a:latin typeface="+mn-lt"/>
              </a:rPr>
              <a:t>-Computers use a cache dedicated to these address translations, called a translation look-aside buffer, or simply translation buffer.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0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483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>
            <a:extLst>
              <a:ext uri="{FF2B5EF4-FFF2-40B4-BE49-F238E27FC236}">
                <a16:creationId xmlns:a16="http://schemas.microsoft.com/office/drawing/2014/main" id="{DD753BD7-9D53-4AA1-AB9E-F9E7C863E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33600" y="1341438"/>
            <a:ext cx="79248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For minimizing page faults</a:t>
            </a:r>
          </a:p>
          <a:p>
            <a:pPr lvl="1"/>
            <a:r>
              <a:rPr lang="en-US" altLang="zh-CN"/>
              <a:t>Almost all operating systems try to replace the least-recently used (LRU) block</a:t>
            </a:r>
          </a:p>
          <a:p>
            <a:pPr lvl="1"/>
            <a:r>
              <a:rPr lang="en-US" altLang="zh-CN"/>
              <a:t>Because if the past predicts the future, that is the one less likely to be needed.</a:t>
            </a:r>
          </a:p>
          <a:p>
            <a:r>
              <a:rPr lang="en-US" altLang="zh-CN"/>
              <a:t>Mechanism</a:t>
            </a:r>
          </a:p>
          <a:p>
            <a:pPr lvl="1"/>
            <a:r>
              <a:rPr lang="en-US" altLang="zh-CN"/>
              <a:t>Many processors provide a use bit or reference bit</a:t>
            </a:r>
          </a:p>
          <a:p>
            <a:pPr lvl="2"/>
            <a:r>
              <a:rPr lang="en-US" altLang="zh-CN"/>
              <a:t> which is logically set whenever a page is accessed.</a:t>
            </a:r>
          </a:p>
          <a:p>
            <a:pPr lvl="2"/>
            <a:r>
              <a:rPr lang="en-US" altLang="zh-CN"/>
              <a:t> The operating system periodically clears the use bits and later records them </a:t>
            </a:r>
          </a:p>
          <a:p>
            <a:pPr lvl="2"/>
            <a:r>
              <a:rPr lang="en-US" altLang="zh-CN"/>
              <a:t>By keeping track in this way, the operating system can select a page that is among the least-recently referenced.</a:t>
            </a: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FB4FE386-44BE-41E2-AD6C-069727A2BD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/>
              <a:t>Q3: Which block should be replaced on a virtual memory miss?</a:t>
            </a:r>
            <a:endParaRPr lang="zh-CN" altLang="en-US" sz="200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0CB2658D-6278-437C-B88F-67F90C8642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2651" y="1341438"/>
            <a:ext cx="10426698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/>
              <a:t>Write strategy</a:t>
            </a:r>
          </a:p>
          <a:p>
            <a:pPr lvl="1"/>
            <a:r>
              <a:rPr lang="en-US" altLang="zh-CN"/>
              <a:t>The level below main memory contains rotating magnetic disks that take millions of clock cycles to access. </a:t>
            </a:r>
          </a:p>
          <a:p>
            <a:pPr lvl="2"/>
            <a:r>
              <a:rPr lang="en-US" altLang="zh-CN"/>
              <a:t>Thus, the write strategy is always write back.</a:t>
            </a:r>
          </a:p>
          <a:p>
            <a:pPr lvl="1"/>
            <a:r>
              <a:rPr lang="en-US" altLang="zh-CN"/>
              <a:t>Dirty bit </a:t>
            </a:r>
          </a:p>
          <a:p>
            <a:pPr lvl="2"/>
            <a:r>
              <a:rPr lang="en-US" altLang="zh-CN"/>
              <a:t>cost of an unnecessary access Disk is so high, it allows blocks to be written to disk only if they have been altered since being read from the disk.</a:t>
            </a: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C788EEE-B332-46E2-B744-AF2816E66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Q4: What happens on a write?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31504" y="1268760"/>
            <a:ext cx="9036496" cy="475252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000" b="1"/>
              <a:t>THANK YOU </a:t>
            </a:r>
            <a:endParaRPr lang="en-US" altLang="zh-CN" sz="2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4727848" y="2760068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4EA2"/>
                </a:solidFill>
              </a:rPr>
              <a:t>THANK YOU</a:t>
            </a:r>
          </a:p>
          <a:p>
            <a:endParaRPr lang="en-US" altLang="zh-CN" sz="3200" b="1" dirty="0">
              <a:solidFill>
                <a:srgbClr val="004EA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3739415"/>
            <a:ext cx="12192000" cy="29402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939809" y="3551764"/>
            <a:ext cx="312387" cy="187653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581"/>
          </a:p>
        </p:txBody>
      </p:sp>
      <p:sp>
        <p:nvSpPr>
          <p:cNvPr id="9" name="矩形 8"/>
          <p:cNvSpPr/>
          <p:nvPr/>
        </p:nvSpPr>
        <p:spPr>
          <a:xfrm>
            <a:off x="0" y="4135388"/>
            <a:ext cx="12191998" cy="857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3" rIns="85683" bIns="4284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endParaRPr lang="en-US" altLang="zh-CN" sz="4123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080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9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 additive="base" accumulate="none">
                                        <p:cTn id="1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20000" y="120000"/>
                                    </p:animScale>
                                    <p:animScale>
                                      <p:cBhvr additive="base" accumulate="none">
                                        <p:cTn id="20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20000" y="12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射线">
  <a:themeElements>
    <a:clrScheme name="Radial 1">
      <a:dk1>
        <a:srgbClr val="000000"/>
      </a:dk1>
      <a:lt1>
        <a:srgbClr val="FFFFFF"/>
      </a:lt1>
      <a:dk2>
        <a:srgbClr val="FFFFFF"/>
      </a:dk2>
      <a:lt2>
        <a:srgbClr val="669999"/>
      </a:lt2>
      <a:accent1>
        <a:srgbClr val="99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8A8AE7"/>
      </a:accent6>
      <a:hlink>
        <a:srgbClr val="996666"/>
      </a:hlink>
      <a:folHlink>
        <a:srgbClr val="6666CC"/>
      </a:folHlink>
    </a:clrScheme>
    <a:fontScheme name="射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Radial 1">
        <a:dk1>
          <a:srgbClr val="000000"/>
        </a:dk1>
        <a:lt1>
          <a:srgbClr val="FFFFFF"/>
        </a:lt1>
        <a:dk2>
          <a:srgbClr val="FFFFFF"/>
        </a:dk2>
        <a:lt2>
          <a:srgbClr val="669999"/>
        </a:lt2>
        <a:accent1>
          <a:srgbClr val="99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8A8AE7"/>
        </a:accent6>
        <a:hlink>
          <a:srgbClr val="996666"/>
        </a:hlink>
        <a:folHlink>
          <a:srgbClr val="66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2">
        <a:dk1>
          <a:srgbClr val="000000"/>
        </a:dk1>
        <a:lt1>
          <a:srgbClr val="FFFFFF"/>
        </a:lt1>
        <a:dk2>
          <a:srgbClr val="FFFFFF"/>
        </a:dk2>
        <a:lt2>
          <a:srgbClr val="817F3F"/>
        </a:lt2>
        <a:accent1>
          <a:srgbClr val="FFCC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8A00"/>
        </a:accent6>
        <a:hlink>
          <a:srgbClr val="996666"/>
        </a:hlink>
        <a:folHlink>
          <a:srgbClr val="C9450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dial 3">
        <a:dk1>
          <a:srgbClr val="CC6600"/>
        </a:dk1>
        <a:lt1>
          <a:srgbClr val="FFFFFF"/>
        </a:lt1>
        <a:dk2>
          <a:srgbClr val="800000"/>
        </a:dk2>
        <a:lt2>
          <a:srgbClr val="FFFFFF"/>
        </a:lt2>
        <a:accent1>
          <a:srgbClr val="FF6600"/>
        </a:accent1>
        <a:accent2>
          <a:srgbClr val="33CCCC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2DB9B9"/>
        </a:accent6>
        <a:hlink>
          <a:srgbClr val="99FF33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4">
        <a:dk1>
          <a:srgbClr val="993300"/>
        </a:dk1>
        <a:lt1>
          <a:srgbClr val="FFFFFF"/>
        </a:lt1>
        <a:dk2>
          <a:srgbClr val="431A01"/>
        </a:dk2>
        <a:lt2>
          <a:srgbClr val="FFFFFF"/>
        </a:lt2>
        <a:accent1>
          <a:srgbClr val="FFCC00"/>
        </a:accent1>
        <a:accent2>
          <a:srgbClr val="FF9966"/>
        </a:accent2>
        <a:accent3>
          <a:srgbClr val="B0ABAA"/>
        </a:accent3>
        <a:accent4>
          <a:srgbClr val="DADADA"/>
        </a:accent4>
        <a:accent5>
          <a:srgbClr val="FFE2AA"/>
        </a:accent5>
        <a:accent6>
          <a:srgbClr val="E78A5C"/>
        </a:accent6>
        <a:hlink>
          <a:srgbClr val="FF66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5">
        <a:dk1>
          <a:srgbClr val="75878B"/>
        </a:dk1>
        <a:lt1>
          <a:srgbClr val="FFFFFF"/>
        </a:lt1>
        <a:dk2>
          <a:srgbClr val="260000"/>
        </a:dk2>
        <a:lt2>
          <a:srgbClr val="FFFFFF"/>
        </a:lt2>
        <a:accent1>
          <a:srgbClr val="0099CC"/>
        </a:accent1>
        <a:accent2>
          <a:srgbClr val="FF3300"/>
        </a:accent2>
        <a:accent3>
          <a:srgbClr val="ACAAAA"/>
        </a:accent3>
        <a:accent4>
          <a:srgbClr val="DADADA"/>
        </a:accent4>
        <a:accent5>
          <a:srgbClr val="AACAE2"/>
        </a:accent5>
        <a:accent6>
          <a:srgbClr val="E72D00"/>
        </a:accent6>
        <a:hlink>
          <a:srgbClr val="FFCC00"/>
        </a:hlink>
        <a:folHlink>
          <a:srgbClr val="CC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6">
        <a:dk1>
          <a:srgbClr val="666699"/>
        </a:dk1>
        <a:lt1>
          <a:srgbClr val="FFFFFF"/>
        </a:lt1>
        <a:dk2>
          <a:srgbClr val="000000"/>
        </a:dk2>
        <a:lt2>
          <a:srgbClr val="FFFFFF"/>
        </a:lt2>
        <a:accent1>
          <a:srgbClr val="9966FF"/>
        </a:accent1>
        <a:accent2>
          <a:srgbClr val="99CCFF"/>
        </a:accent2>
        <a:accent3>
          <a:srgbClr val="AAAAAA"/>
        </a:accent3>
        <a:accent4>
          <a:srgbClr val="DADADA"/>
        </a:accent4>
        <a:accent5>
          <a:srgbClr val="CAB8FF"/>
        </a:accent5>
        <a:accent6>
          <a:srgbClr val="8AB9E7"/>
        </a:accent6>
        <a:hlink>
          <a:srgbClr val="FFFFCC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7">
        <a:dk1>
          <a:srgbClr val="666699"/>
        </a:dk1>
        <a:lt1>
          <a:srgbClr val="FFFFFF"/>
        </a:lt1>
        <a:dk2>
          <a:srgbClr val="2A2A40"/>
        </a:dk2>
        <a:lt2>
          <a:srgbClr val="FFFFFF"/>
        </a:lt2>
        <a:accent1>
          <a:srgbClr val="006699"/>
        </a:accent1>
        <a:accent2>
          <a:srgbClr val="CC9900"/>
        </a:accent2>
        <a:accent3>
          <a:srgbClr val="ACACAF"/>
        </a:accent3>
        <a:accent4>
          <a:srgbClr val="DADADA"/>
        </a:accent4>
        <a:accent5>
          <a:srgbClr val="AAB8CA"/>
        </a:accent5>
        <a:accent6>
          <a:srgbClr val="B98A00"/>
        </a:accent6>
        <a:hlink>
          <a:srgbClr val="CC6600"/>
        </a:hlink>
        <a:folHlink>
          <a:srgbClr val="6C94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8">
        <a:dk1>
          <a:srgbClr val="BECBD8"/>
        </a:dk1>
        <a:lt1>
          <a:srgbClr val="FFFFFF"/>
        </a:lt1>
        <a:dk2>
          <a:srgbClr val="2B335B"/>
        </a:dk2>
        <a:lt2>
          <a:srgbClr val="FFFFFF"/>
        </a:lt2>
        <a:accent1>
          <a:srgbClr val="0099CC"/>
        </a:accent1>
        <a:accent2>
          <a:srgbClr val="B5DBE3"/>
        </a:accent2>
        <a:accent3>
          <a:srgbClr val="ACADB5"/>
        </a:accent3>
        <a:accent4>
          <a:srgbClr val="DADADA"/>
        </a:accent4>
        <a:accent5>
          <a:srgbClr val="AACAE2"/>
        </a:accent5>
        <a:accent6>
          <a:srgbClr val="A4C6CE"/>
        </a:accent6>
        <a:hlink>
          <a:srgbClr val="FFCC00"/>
        </a:hlink>
        <a:folHlink>
          <a:srgbClr val="586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9">
        <a:dk1>
          <a:srgbClr val="3333FF"/>
        </a:dk1>
        <a:lt1>
          <a:srgbClr val="FFFFFF"/>
        </a:lt1>
        <a:dk2>
          <a:srgbClr val="000099"/>
        </a:dk2>
        <a:lt2>
          <a:srgbClr val="FFFFFF"/>
        </a:lt2>
        <a:accent1>
          <a:srgbClr val="339966"/>
        </a:accent1>
        <a:accent2>
          <a:srgbClr val="9999FF"/>
        </a:accent2>
        <a:accent3>
          <a:srgbClr val="AAAACA"/>
        </a:accent3>
        <a:accent4>
          <a:srgbClr val="DADADA"/>
        </a:accent4>
        <a:accent5>
          <a:srgbClr val="ADCAB8"/>
        </a:accent5>
        <a:accent6>
          <a:srgbClr val="8A8AE7"/>
        </a:accent6>
        <a:hlink>
          <a:srgbClr val="FFFF99"/>
        </a:hlink>
        <a:folHlink>
          <a:srgbClr val="17A0D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adial 10">
        <a:dk1>
          <a:srgbClr val="808000"/>
        </a:dk1>
        <a:lt1>
          <a:srgbClr val="FFFFFF"/>
        </a:lt1>
        <a:dk2>
          <a:srgbClr val="354418"/>
        </a:dk2>
        <a:lt2>
          <a:srgbClr val="FFFFFF"/>
        </a:lt2>
        <a:accent1>
          <a:srgbClr val="60897C"/>
        </a:accent1>
        <a:accent2>
          <a:srgbClr val="99CC00"/>
        </a:accent2>
        <a:accent3>
          <a:srgbClr val="AEB0AB"/>
        </a:accent3>
        <a:accent4>
          <a:srgbClr val="DADADA"/>
        </a:accent4>
        <a:accent5>
          <a:srgbClr val="B6C4BF"/>
        </a:accent5>
        <a:accent6>
          <a:srgbClr val="8AB900"/>
        </a:accent6>
        <a:hlink>
          <a:srgbClr val="CCCC00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v5_arch11-12-13</Template>
  <TotalTime>95</TotalTime>
  <Pages>61</Pages>
  <Words>2412</Words>
  <Application>Microsoft Office PowerPoint</Application>
  <PresentationFormat>宽屏</PresentationFormat>
  <Paragraphs>287</Paragraphs>
  <Slides>28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CG Omega</vt:lpstr>
      <vt:lpstr>黑体</vt:lpstr>
      <vt:lpstr>微软雅黑</vt:lpstr>
      <vt:lpstr>Arial</vt:lpstr>
      <vt:lpstr>Comic Sans MS</vt:lpstr>
      <vt:lpstr>Symbol</vt:lpstr>
      <vt:lpstr>Tahoma</vt:lpstr>
      <vt:lpstr>Times New Roman</vt:lpstr>
      <vt:lpstr>Wingdings</vt:lpstr>
      <vt:lpstr>射线</vt:lpstr>
      <vt:lpstr>位图图像</vt:lpstr>
      <vt:lpstr>Computer Architecture  ----A Quantitative Approach</vt:lpstr>
      <vt:lpstr>TOC</vt:lpstr>
      <vt:lpstr>5.8 Main Memory and Organizations for Improving Performance</vt:lpstr>
      <vt:lpstr>Performance basic memory organization</vt:lpstr>
      <vt:lpstr>First Technique for Higher Bandwidth: Wider Main Memory </vt:lpstr>
      <vt:lpstr> Many words in Single bank </vt:lpstr>
      <vt:lpstr>Performance in the Technique </vt:lpstr>
      <vt:lpstr>Second Technique for Higher Bandwidth: simple Interleaved Memory</vt:lpstr>
      <vt:lpstr>Performance in the Technique </vt:lpstr>
      <vt:lpstr>Example 14-1 Interleaved Memory </vt:lpstr>
      <vt:lpstr>Example 14-2 Interleaved Memory </vt:lpstr>
      <vt:lpstr>Example 14-４ Interleaved Memory </vt:lpstr>
      <vt:lpstr>Third Technique for Higher Bandwidth: Independent Memory Banks</vt:lpstr>
      <vt:lpstr>Example 15 Avoiding Memory Bank Conflicts </vt:lpstr>
      <vt:lpstr>5.9 Memory Technology</vt:lpstr>
      <vt:lpstr>Main Memory Background</vt:lpstr>
      <vt:lpstr>Embedded Processor Memory Technology: ROM and Flash</vt:lpstr>
      <vt:lpstr>Type of memory</vt:lpstr>
      <vt:lpstr>5.10  Virtual Memory</vt:lpstr>
      <vt:lpstr>Advantages</vt:lpstr>
      <vt:lpstr>How Does VM Work</vt:lpstr>
      <vt:lpstr>Memory Hierarchy Parameters for Virtual Memory.</vt:lpstr>
      <vt:lpstr>Paging versus segmentation</vt:lpstr>
      <vt:lpstr>Four Memory Hierarchy Questions Revisited</vt:lpstr>
      <vt:lpstr>Q2: How is a block found if it is in main memory?</vt:lpstr>
      <vt:lpstr>Q3: Which block should be replaced on a virtual memory miss?</vt:lpstr>
      <vt:lpstr>Q4: What happens on a write?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5.8 Main Memory and Organizations for Improving Performance</dc:title>
  <dc:subject/>
  <dc:creator>cwz</dc:creator>
  <cp:keywords/>
  <dc:description/>
  <cp:lastModifiedBy>宋 天泽</cp:lastModifiedBy>
  <cp:revision>16</cp:revision>
  <cp:lastPrinted>1999-10-22T19:54:41Z</cp:lastPrinted>
  <dcterms:created xsi:type="dcterms:W3CDTF">2016-06-01T11:34:59Z</dcterms:created>
  <dcterms:modified xsi:type="dcterms:W3CDTF">2024-09-05T12:43:09Z</dcterms:modified>
</cp:coreProperties>
</file>