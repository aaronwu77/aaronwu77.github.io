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notesMasterIdLst>
    <p:notesMasterId r:id="rId40"/>
  </p:notesMasterIdLst>
  <p:handoutMasterIdLst>
    <p:handoutMasterId r:id="rId41"/>
  </p:handoutMasterIdLst>
  <p:sldIdLst>
    <p:sldId id="510" r:id="rId2"/>
    <p:sldId id="555" r:id="rId3"/>
    <p:sldId id="556" r:id="rId4"/>
    <p:sldId id="557" r:id="rId5"/>
    <p:sldId id="558" r:id="rId6"/>
    <p:sldId id="559" r:id="rId7"/>
    <p:sldId id="560" r:id="rId8"/>
    <p:sldId id="561" r:id="rId9"/>
    <p:sldId id="562" r:id="rId10"/>
    <p:sldId id="563" r:id="rId11"/>
    <p:sldId id="564" r:id="rId12"/>
    <p:sldId id="565" r:id="rId13"/>
    <p:sldId id="566" r:id="rId14"/>
    <p:sldId id="567" r:id="rId15"/>
    <p:sldId id="568" r:id="rId16"/>
    <p:sldId id="569" r:id="rId17"/>
    <p:sldId id="570" r:id="rId18"/>
    <p:sldId id="571" r:id="rId19"/>
    <p:sldId id="572" r:id="rId20"/>
    <p:sldId id="573" r:id="rId21"/>
    <p:sldId id="574" r:id="rId22"/>
    <p:sldId id="575" r:id="rId23"/>
    <p:sldId id="576" r:id="rId24"/>
    <p:sldId id="577" r:id="rId25"/>
    <p:sldId id="578" r:id="rId26"/>
    <p:sldId id="579" r:id="rId27"/>
    <p:sldId id="580" r:id="rId28"/>
    <p:sldId id="581" r:id="rId29"/>
    <p:sldId id="582" r:id="rId30"/>
    <p:sldId id="583" r:id="rId31"/>
    <p:sldId id="584" r:id="rId32"/>
    <p:sldId id="585" r:id="rId33"/>
    <p:sldId id="586" r:id="rId34"/>
    <p:sldId id="587" r:id="rId35"/>
    <p:sldId id="588" r:id="rId36"/>
    <p:sldId id="589" r:id="rId37"/>
    <p:sldId id="590" r:id="rId38"/>
    <p:sldId id="525" r:id="rId39"/>
  </p:sldIdLst>
  <p:sldSz cx="12192000" cy="6858000"/>
  <p:notesSz cx="6858000" cy="9144000"/>
  <p:defaultTextStyle>
    <a:defPPr>
      <a:defRPr lang="zh-CN"/>
    </a:defPPr>
    <a:lvl1pPr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4" autoAdjust="0"/>
    <p:restoredTop sz="94607" autoAdjust="0"/>
  </p:normalViewPr>
  <p:slideViewPr>
    <p:cSldViewPr>
      <p:cViewPr varScale="1">
        <p:scale>
          <a:sx n="101" d="100"/>
          <a:sy n="101" d="100"/>
        </p:scale>
        <p:origin x="144" y="13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4" d="100"/>
          <a:sy n="54" d="100"/>
        </p:scale>
        <p:origin x="-1818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Times New Roman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788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Times New Roman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788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</a:defRPr>
            </a:lvl1pPr>
          </a:lstStyle>
          <a:p>
            <a:fld id="{C092644A-D423-4D93-B11A-5B142F9C5DE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383772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Times New Roman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778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</a:extLst>
        </p:spPr>
      </p:sp>
      <p:sp>
        <p:nvSpPr>
          <p:cNvPr id="778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78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Times New Roman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778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</a:defRPr>
            </a:lvl1pPr>
          </a:lstStyle>
          <a:p>
            <a:fld id="{81D8BCED-4794-4F5B-A95B-8007A3359B3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1080054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Rectangle 7"/>
          <p:cNvSpPr>
            <a:spLocks noGrp="1" noChangeArrowheads="1"/>
          </p:cNvSpPr>
          <p:nvPr>
            <p:ph type="ctrTitle"/>
          </p:nvPr>
        </p:nvSpPr>
        <p:spPr>
          <a:xfrm>
            <a:off x="304800" y="1427164"/>
            <a:ext cx="10769600" cy="1609725"/>
          </a:xfrm>
          <a:prstGeom prst="rect">
            <a:avLst/>
          </a:prstGeom>
        </p:spPr>
        <p:txBody>
          <a:bodyPr/>
          <a:lstStyle>
            <a:lvl1pPr>
              <a:defRPr sz="460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128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1422400" y="3441700"/>
            <a:ext cx="8839200" cy="1676400"/>
          </a:xfrm>
          <a:prstGeom prst="rect">
            <a:avLst/>
          </a:prstGeo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5129" name="Rectangle 9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8400"/>
            <a:ext cx="2844800" cy="4714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92688AB1-AEDA-E34E-96DC-8A9CD5498162}" type="datetime1">
              <a:rPr lang="zh-CN" altLang="en-US" smtClean="0"/>
              <a:t>2024/9/5</a:t>
            </a:fld>
            <a:endParaRPr lang="en-US" altLang="zh-CN"/>
          </a:p>
        </p:txBody>
      </p:sp>
      <p:sp>
        <p:nvSpPr>
          <p:cNvPr id="5130" name="Rectangle 10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53163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5131" name="Rectangle 11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8400"/>
            <a:ext cx="2844800" cy="4714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791ABE9B-2127-408B-ADD0-32B6A1ADA513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28205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12800" y="1340768"/>
            <a:ext cx="10566400" cy="441960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72584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DCE1510-4434-FA48-A2F4-2407F720F28A}" type="datetime1">
              <a:rPr lang="zh-CN" altLang="en-US" smtClean="0"/>
              <a:t>2024/9/5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5D0090FA-C1D2-436C-ACD1-E5E3751D06D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7903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12800" y="1600200"/>
            <a:ext cx="5181600" cy="44196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181600" cy="44196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801CEAA-088D-D64A-BCFA-FC28D373C0FD}" type="datetime1">
              <a:rPr lang="zh-CN" altLang="en-US" smtClean="0"/>
              <a:t>2024/9/5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962504F6-CEB9-4D8B-82E8-1B5742F5734A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640162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32B93CF8-7DE4-5D43-9D04-A7CCB4F62741}" type="datetime1">
              <a:rPr lang="zh-CN" altLang="en-US" smtClean="0"/>
              <a:t>2024/9/5</a:t>
            </a:fld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C5D8FD77-704A-4F7A-935C-C77827A4392A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536671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43E70539-074A-6F4C-A92E-37866C6A5AB0}" type="datetime1">
              <a:rPr lang="zh-CN" altLang="en-US" smtClean="0"/>
              <a:t>2024/9/5</a:t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FFE68900-107A-49E7-99A8-268D755A58EC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17652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1AF66EF0-C141-134F-B826-2E830DAEFE4B}" type="datetime1">
              <a:rPr lang="zh-CN" altLang="en-US" smtClean="0"/>
              <a:t>2024/9/5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91F0555C-6464-4DB4-A56C-735E33125A8A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66379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DD66535-F878-BA40-8843-D526E6B294F4}" type="datetime1">
              <a:rPr lang="zh-CN" altLang="en-US" smtClean="0"/>
              <a:t>2024/9/5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5AA5C4EF-5F4C-4FC2-8EC8-5D7149D23993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2279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90FC2A6-327E-9542-8072-8FFB81D67C69}" type="datetime1">
              <a:rPr lang="zh-CN" altLang="en-US" smtClean="0"/>
              <a:t>2024/9/5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058ED758-5F56-4DC8-AE63-6C2C3614B514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6679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12800" y="1600200"/>
            <a:ext cx="10566400" cy="44196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1F1412E1-F607-1B4A-B6AD-5B34F0B50589}" type="datetime1">
              <a:rPr lang="zh-CN" altLang="en-US" smtClean="0"/>
              <a:t>2024/9/5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A250F370-D1E7-4077-8E08-0F8490666976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694424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00018" y="228600"/>
            <a:ext cx="2779183" cy="579120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60351" y="228600"/>
            <a:ext cx="8136467" cy="57912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1D973E15-F0E2-6C49-B457-3941D3CE8BF7}" type="datetime1">
              <a:rPr lang="zh-CN" altLang="en-US" smtClean="0"/>
              <a:t>2024/9/5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79CA0EF3-EE02-422F-9839-1D26B284DB77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10373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812800" y="1600200"/>
            <a:ext cx="10566400" cy="44196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单击图标添加表格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4233431B-1935-E34D-86FA-FE0A9DFE3E7B}" type="datetime1">
              <a:rPr lang="zh-CN" altLang="en-US" smtClean="0"/>
              <a:t>2024/9/5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BC78D7F6-81EB-426B-B783-68932B4FE8AE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4703941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107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" y="1557338"/>
            <a:ext cx="5873751" cy="4575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076951" y="1557339"/>
            <a:ext cx="5875867" cy="22113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76951" y="3921125"/>
            <a:ext cx="5875867" cy="22113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0" y="623728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0CB70B95-BB04-884B-A6E8-34895D47021D}" type="datetime1">
              <a:rPr lang="zh-CN" altLang="en-US" smtClean="0"/>
              <a:t>2024/9/5</a:t>
            </a:fld>
            <a:endParaRPr lang="en-US" altLang="zh-CN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4876800" y="6243638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9389533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BC78D7F6-81EB-426B-B783-68932B4FE8AE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3552992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在文本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" y="1557339"/>
            <a:ext cx="11952817" cy="22113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" y="3921125"/>
            <a:ext cx="11952817" cy="22113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0" y="623728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80A08DA1-F610-AF44-9908-BCC8326D3EB4}" type="datetime1">
              <a:rPr lang="zh-CN" altLang="en-US" smtClean="0"/>
              <a:t>2024/9/5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876800" y="6243638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ZJU_Computer Architecture_pipelining_jxh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9389533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D1DEDDA3-5544-4B59-BA66-7B31A1EC49A8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7765762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4000" y="228600"/>
            <a:ext cx="10261600" cy="990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06400" y="1447800"/>
            <a:ext cx="5588000" cy="48006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447800"/>
            <a:ext cx="5588000" cy="48006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046396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梯形 10"/>
          <p:cNvSpPr/>
          <p:nvPr/>
        </p:nvSpPr>
        <p:spPr>
          <a:xfrm>
            <a:off x="623392" y="218810"/>
            <a:ext cx="4951909" cy="551061"/>
          </a:xfrm>
          <a:prstGeom prst="trapezoid">
            <a:avLst>
              <a:gd name="adj" fmla="val 27273"/>
            </a:avLst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28" y="116632"/>
            <a:ext cx="1152128" cy="65324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4660933" y="218812"/>
            <a:ext cx="7104789" cy="551061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5909072" y="724152"/>
            <a:ext cx="5856651" cy="45721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7440149" y="6309321"/>
            <a:ext cx="4751851" cy="40704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浙江大学计算机学院系统结构实验室</a:t>
            </a:r>
          </a:p>
        </p:txBody>
      </p:sp>
      <p:sp>
        <p:nvSpPr>
          <p:cNvPr id="16" name="矩形 15"/>
          <p:cNvSpPr/>
          <p:nvPr/>
        </p:nvSpPr>
        <p:spPr>
          <a:xfrm>
            <a:off x="7440149" y="6741369"/>
            <a:ext cx="4751851" cy="553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82172" y="232288"/>
            <a:ext cx="10538387" cy="5053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9" name="Text Box 10">
            <a:extLst>
              <a:ext uri="{FF2B5EF4-FFF2-40B4-BE49-F238E27FC236}">
                <a16:creationId xmlns:a16="http://schemas.microsoft.com/office/drawing/2014/main" id="{188EDA1C-7338-4452-914A-ED7756F9A5C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0320868" y="6278564"/>
            <a:ext cx="124883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fld id="{3D3EE55B-0F21-402F-A7C4-FFECA81A60D0}" type="slidenum">
              <a:rPr lang="en-US" altLang="zh-CN" sz="2000"/>
              <a:pPr>
                <a:spcBef>
                  <a:spcPct val="50000"/>
                </a:spcBef>
              </a:pPr>
              <a:t>‹#›</a:t>
            </a:fld>
            <a:endParaRPr lang="en-US" altLang="zh-CN" sz="2000"/>
          </a:p>
        </p:txBody>
      </p:sp>
    </p:spTree>
    <p:extLst>
      <p:ext uri="{BB962C8B-B14F-4D97-AF65-F5344CB8AC3E}">
        <p14:creationId xmlns:p14="http://schemas.microsoft.com/office/powerpoint/2010/main" val="850025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8" r:id="rId15"/>
    <p:sldLayoutId id="2147483679" r:id="rId16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宋体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宋体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宋体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l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6.w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9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0.w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9936" y="795249"/>
            <a:ext cx="1158299" cy="1033889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2348880"/>
            <a:ext cx="12192000" cy="1656184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1524005" y="2744788"/>
            <a:ext cx="8461375" cy="8636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Computer Architecture </a:t>
            </a:r>
            <a:br>
              <a:rPr lang="en-US" altLang="zh-CN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en-US" altLang="zh-CN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----A Quantitative Approach</a:t>
            </a:r>
            <a:endParaRPr lang="zh-CN" altLang="en-US" sz="20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等腰三角形 7"/>
          <p:cNvSpPr/>
          <p:nvPr/>
        </p:nvSpPr>
        <p:spPr>
          <a:xfrm rot="10800000">
            <a:off x="5939112" y="4005064"/>
            <a:ext cx="313776" cy="216024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solidFill>
                <a:srgbClr val="004EA2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 flipV="1">
            <a:off x="0" y="2227011"/>
            <a:ext cx="12191998" cy="45720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484950" y="4659302"/>
            <a:ext cx="3222105" cy="14123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陈文智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浙江大学计算机学院</a:t>
            </a:r>
          </a:p>
          <a:p>
            <a:pPr algn="ctr">
              <a:lnSpc>
                <a:spcPct val="150000"/>
              </a:lnSpc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chenwz@zju.edu.cn</a:t>
            </a:r>
          </a:p>
        </p:txBody>
      </p:sp>
    </p:spTree>
    <p:extLst>
      <p:ext uri="{BB962C8B-B14F-4D97-AF65-F5344CB8AC3E}">
        <p14:creationId xmlns:p14="http://schemas.microsoft.com/office/powerpoint/2010/main" val="425668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7A8288DD-6DFF-43F8-ABB9-425E2B4F05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Application requirements</a:t>
            </a:r>
          </a:p>
          <a:p>
            <a:pPr lvl="1"/>
            <a:r>
              <a:rPr lang="en-US" altLang="zh-CN" dirty="0"/>
              <a:t>Uniprocessor speed improving fast </a:t>
            </a:r>
          </a:p>
          <a:p>
            <a:pPr lvl="1"/>
            <a:r>
              <a:rPr lang="en-US" altLang="zh-CN" dirty="0"/>
              <a:t>But there are things that need </a:t>
            </a:r>
            <a:r>
              <a:rPr lang="en-US" altLang="zh-CN" b="1" dirty="0"/>
              <a:t>even more speed</a:t>
            </a:r>
          </a:p>
          <a:p>
            <a:r>
              <a:rPr lang="en-US" altLang="zh-CN" dirty="0"/>
              <a:t>Microprocessors as the fastest CPUs</a:t>
            </a:r>
          </a:p>
          <a:p>
            <a:pPr lvl="1"/>
            <a:r>
              <a:rPr lang="en-US" altLang="zh-CN" dirty="0"/>
              <a:t>Collecting several much easier than redesigning one</a:t>
            </a:r>
          </a:p>
          <a:p>
            <a:r>
              <a:rPr lang="en-US" altLang="zh-CN" dirty="0"/>
              <a:t>Complexity of current microprocessors</a:t>
            </a:r>
          </a:p>
          <a:p>
            <a:pPr lvl="1"/>
            <a:r>
              <a:rPr lang="en-US" altLang="zh-CN" dirty="0"/>
              <a:t>Do we have enough ideas to sustain 1.5X/year?</a:t>
            </a:r>
          </a:p>
          <a:p>
            <a:pPr lvl="1"/>
            <a:r>
              <a:rPr lang="en-US" altLang="zh-CN" dirty="0"/>
              <a:t>Can we deliver such complexity on schedule?</a:t>
            </a:r>
          </a:p>
          <a:p>
            <a:r>
              <a:rPr lang="en-US" altLang="zh-CN" dirty="0"/>
              <a:t>Slow (but steady) improvement in parallel software    </a:t>
            </a:r>
          </a:p>
          <a:p>
            <a:pPr lvl="1"/>
            <a:r>
              <a:rPr lang="en-US" altLang="zh-CN" dirty="0"/>
              <a:t>(scientific apps, databases, OS)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46C4F0A-CC8E-4721-A972-BD4F488DE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Why Multiprocessors?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7260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5BACB03-6DE6-47A2-B176-A97F4874F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172" y="980728"/>
            <a:ext cx="10427656" cy="5787714"/>
          </a:xfrm>
        </p:spPr>
        <p:txBody>
          <a:bodyPr/>
          <a:lstStyle/>
          <a:p>
            <a:r>
              <a:rPr lang="en-US" altLang="zh-CN" dirty="0"/>
              <a:t>Scientific computing</a:t>
            </a:r>
          </a:p>
          <a:p>
            <a:pPr lvl="1"/>
            <a:r>
              <a:rPr lang="en-US" altLang="zh-CN" sz="1800" b="1" dirty="0"/>
              <a:t>Nearly unlimited demand </a:t>
            </a:r>
            <a:r>
              <a:rPr lang="en-US" altLang="zh-CN" sz="1800" dirty="0"/>
              <a:t>(Grand challenge)</a:t>
            </a:r>
          </a:p>
          <a:p>
            <a:pPr lvl="1"/>
            <a:r>
              <a:rPr lang="en-US" altLang="zh-CN" sz="1800" dirty="0"/>
              <a:t>App                                    Perf(GFLOPS)             Memory (GB)</a:t>
            </a:r>
          </a:p>
          <a:p>
            <a:pPr lvl="1"/>
            <a:r>
              <a:rPr lang="en-US" altLang="zh-CN" sz="1800" dirty="0"/>
              <a:t>72 hour weather                    3                                 1 </a:t>
            </a:r>
          </a:p>
          <a:p>
            <a:pPr lvl="1"/>
            <a:r>
              <a:rPr lang="en-US" altLang="zh-CN" sz="1800" dirty="0"/>
              <a:t>Pharmaceutical design         100                              10</a:t>
            </a:r>
          </a:p>
          <a:p>
            <a:pPr lvl="1"/>
            <a:r>
              <a:rPr lang="en-US" altLang="zh-CN" sz="1800" dirty="0"/>
              <a:t>Global Change, Genome      1000                           1000</a:t>
            </a:r>
          </a:p>
          <a:p>
            <a:r>
              <a:rPr lang="en-US" altLang="zh-CN" dirty="0"/>
              <a:t>Successes in some real industries: </a:t>
            </a:r>
          </a:p>
          <a:p>
            <a:pPr lvl="1"/>
            <a:r>
              <a:rPr lang="en-US" altLang="zh-CN" sz="1800" dirty="0"/>
              <a:t>Petroleum reservoir modeling</a:t>
            </a:r>
          </a:p>
          <a:p>
            <a:pPr lvl="1"/>
            <a:r>
              <a:rPr lang="en-US" altLang="zh-CN" sz="1800" dirty="0"/>
              <a:t>Automotive: crash simulation, drag analysis, engine</a:t>
            </a:r>
          </a:p>
          <a:p>
            <a:pPr lvl="1"/>
            <a:r>
              <a:rPr lang="en-US" altLang="zh-CN" sz="1800" dirty="0"/>
              <a:t>Aeronautics: airflow analysis, engine, structural mechanics</a:t>
            </a:r>
          </a:p>
          <a:p>
            <a:pPr lvl="1"/>
            <a:r>
              <a:rPr lang="en-US" altLang="zh-CN" sz="1800" dirty="0"/>
              <a:t>Pharmaceuticals: molecular modeling</a:t>
            </a:r>
          </a:p>
          <a:p>
            <a:pPr lvl="1"/>
            <a:r>
              <a:rPr lang="en-US" altLang="zh-CN" sz="1800" dirty="0"/>
              <a:t>Entertainment: full length movies (“Toy Story”)</a:t>
            </a:r>
          </a:p>
          <a:p>
            <a:r>
              <a:rPr lang="en-US" altLang="zh-CN" dirty="0"/>
              <a:t>Commercial application</a:t>
            </a:r>
          </a:p>
          <a:p>
            <a:pPr lvl="1"/>
            <a:r>
              <a:rPr lang="en-US" altLang="zh-CN" sz="1800" dirty="0"/>
              <a:t>Transaction processing, file servers, electronic CAD simulation, search engine</a:t>
            </a:r>
          </a:p>
          <a:p>
            <a:pPr lvl="1"/>
            <a:r>
              <a:rPr lang="en-US" altLang="zh-CN" sz="1800" dirty="0"/>
              <a:t>Examples: IBM RS6000, Tandem (Compaq) Himalaya 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314BFDD-C959-49D3-B778-8015C3263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Opportunities for Applications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18745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3226681E-67A9-4DB6-9AFD-0826E47FE3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Multiple processors working cooperatively on problems: not the same as multiprogramming</a:t>
            </a:r>
          </a:p>
          <a:p>
            <a:r>
              <a:rPr lang="en-US" altLang="zh-CN" dirty="0"/>
              <a:t>Goals/Motivation</a:t>
            </a:r>
          </a:p>
          <a:p>
            <a:pPr lvl="1"/>
            <a:r>
              <a:rPr lang="en-US" altLang="zh-CN" b="1" dirty="0"/>
              <a:t>Performance</a:t>
            </a:r>
            <a:r>
              <a:rPr lang="en-US" altLang="zh-CN" dirty="0"/>
              <a:t>: limits of uniprocessors</a:t>
            </a:r>
          </a:p>
          <a:p>
            <a:pPr marL="457200" lvl="1" indent="0">
              <a:buNone/>
            </a:pPr>
            <a:r>
              <a:rPr lang="en-US" altLang="zh-CN" dirty="0"/>
              <a:t>	ILP (branch prediction, RAW dependencies, memory)</a:t>
            </a:r>
          </a:p>
          <a:p>
            <a:pPr lvl="1"/>
            <a:r>
              <a:rPr lang="en-US" altLang="zh-CN" b="1" dirty="0"/>
              <a:t>Cost Efficiency</a:t>
            </a:r>
            <a:r>
              <a:rPr lang="en-US" altLang="zh-CN" dirty="0"/>
              <a:t>: build big systems with </a:t>
            </a:r>
            <a:r>
              <a:rPr lang="en-US" altLang="zh-CN" b="1" dirty="0"/>
              <a:t>commodity</a:t>
            </a:r>
            <a:r>
              <a:rPr lang="en-US" altLang="zh-CN" dirty="0"/>
              <a:t> parts</a:t>
            </a:r>
          </a:p>
          <a:p>
            <a:pPr marL="457200" lvl="1" indent="0">
              <a:buNone/>
            </a:pPr>
            <a:r>
              <a:rPr lang="en-US" altLang="zh-CN" dirty="0"/>
              <a:t>	(uniprocessors)</a:t>
            </a:r>
          </a:p>
          <a:p>
            <a:pPr lvl="1"/>
            <a:r>
              <a:rPr lang="en-US" altLang="zh-CN" b="1" dirty="0"/>
              <a:t>Scalability</a:t>
            </a:r>
            <a:r>
              <a:rPr lang="en-US" altLang="zh-CN" dirty="0"/>
              <a:t>: just add more processors to get more performance</a:t>
            </a:r>
          </a:p>
          <a:p>
            <a:pPr lvl="1"/>
            <a:r>
              <a:rPr lang="en-US" altLang="zh-CN" b="1" dirty="0"/>
              <a:t>Fault tolerance</a:t>
            </a:r>
            <a:r>
              <a:rPr lang="en-US" altLang="zh-CN" dirty="0"/>
              <a:t>: One processor fails you still can continue processing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F7F82E4-07F2-4BFE-AC5C-62D073CCB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Parallel Processing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25054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7F0D1CE0-59BB-4F61-BF57-B706C238BF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Definition</a:t>
            </a:r>
            <a:r>
              <a:rPr lang="en-US" altLang="zh-CN" dirty="0"/>
              <a:t>: “A parallel computer is a collection of processing elements that cooperate and communicate to solve large problems fast.”</a:t>
            </a:r>
          </a:p>
          <a:p>
            <a:pPr marL="457200" lvl="1" indent="0">
              <a:buNone/>
            </a:pPr>
            <a:r>
              <a:rPr lang="en-US" altLang="zh-CN" dirty="0" err="1"/>
              <a:t>Almasi</a:t>
            </a:r>
            <a:r>
              <a:rPr lang="en-US" altLang="zh-CN" dirty="0"/>
              <a:t> and Gottlieb, Highly Parallel Computing ,1989</a:t>
            </a:r>
          </a:p>
          <a:p>
            <a:r>
              <a:rPr lang="en-US" altLang="zh-CN" dirty="0"/>
              <a:t>Questions about parallel computers:</a:t>
            </a:r>
          </a:p>
          <a:p>
            <a:pPr lvl="1"/>
            <a:r>
              <a:rPr lang="en-US" altLang="zh-CN" dirty="0"/>
              <a:t>How large a collection?</a:t>
            </a:r>
          </a:p>
          <a:p>
            <a:pPr lvl="1"/>
            <a:r>
              <a:rPr lang="en-US" altLang="zh-CN" dirty="0"/>
              <a:t>How powerful are processing elements?</a:t>
            </a:r>
          </a:p>
          <a:p>
            <a:pPr lvl="1"/>
            <a:r>
              <a:rPr lang="en-US" altLang="zh-CN" dirty="0"/>
              <a:t>How do they cooperate and communicate?</a:t>
            </a:r>
          </a:p>
          <a:p>
            <a:pPr lvl="1"/>
            <a:r>
              <a:rPr lang="en-US" altLang="zh-CN" dirty="0"/>
              <a:t>How are data transmitted? </a:t>
            </a:r>
          </a:p>
          <a:p>
            <a:pPr lvl="1"/>
            <a:r>
              <a:rPr lang="en-US" altLang="zh-CN" dirty="0"/>
              <a:t>What type of interconnection?</a:t>
            </a:r>
          </a:p>
          <a:p>
            <a:pPr lvl="1"/>
            <a:r>
              <a:rPr lang="en-US" altLang="zh-CN" dirty="0"/>
              <a:t>What are HW and SW primitives for programmer?</a:t>
            </a:r>
          </a:p>
          <a:p>
            <a:pPr lvl="1"/>
            <a:r>
              <a:rPr lang="en-US" altLang="zh-CN" dirty="0"/>
              <a:t>Does it translate into performance?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C582476-7CDA-4606-80A4-38D26B114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Parallel Computers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07671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DB33A438-2962-4424-A178-BDC83A073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172" y="836712"/>
            <a:ext cx="10571672" cy="4419600"/>
          </a:xfrm>
        </p:spPr>
        <p:txBody>
          <a:bodyPr/>
          <a:lstStyle/>
          <a:p>
            <a:r>
              <a:rPr lang="en-US" altLang="zh-CN" dirty="0"/>
              <a:t>Flynn’s Taxonomy of Parallel Machines</a:t>
            </a:r>
          </a:p>
          <a:p>
            <a:pPr lvl="1"/>
            <a:r>
              <a:rPr lang="en-US" altLang="zh-CN" sz="1800" dirty="0"/>
              <a:t>How many Instruction streams?</a:t>
            </a:r>
          </a:p>
          <a:p>
            <a:pPr lvl="1"/>
            <a:r>
              <a:rPr lang="en-US" altLang="zh-CN" sz="1800" dirty="0"/>
              <a:t>How many Data streams?</a:t>
            </a:r>
          </a:p>
          <a:p>
            <a:r>
              <a:rPr lang="en-US" altLang="zh-CN" dirty="0"/>
              <a:t>SISD (Single Instruction Single Data)  ----Uniprocessors</a:t>
            </a:r>
          </a:p>
          <a:p>
            <a:r>
              <a:rPr lang="en-US" altLang="zh-CN" dirty="0"/>
              <a:t>MISD (Multiple Instruction Single Data) ---- Not used much</a:t>
            </a:r>
          </a:p>
          <a:p>
            <a:r>
              <a:rPr lang="en-US" altLang="zh-CN" dirty="0"/>
              <a:t>SIMD (Single Instruction Multiple Data)</a:t>
            </a:r>
          </a:p>
          <a:p>
            <a:pPr lvl="1"/>
            <a:r>
              <a:rPr lang="en-US" altLang="zh-CN" sz="1800" dirty="0"/>
              <a:t>Each “processor” works on its own data, but execute the same instr.</a:t>
            </a:r>
          </a:p>
          <a:p>
            <a:pPr lvl="1"/>
            <a:r>
              <a:rPr lang="en-US" altLang="zh-CN" sz="1800" dirty="0"/>
              <a:t>Examples:  connection machine 2</a:t>
            </a:r>
            <a:r>
              <a:rPr lang="zh-CN" altLang="en-US" sz="1800" dirty="0"/>
              <a:t>：</a:t>
            </a:r>
            <a:r>
              <a:rPr lang="en-US" altLang="zh-CN" sz="1800" dirty="0"/>
              <a:t>65535</a:t>
            </a:r>
            <a:r>
              <a:rPr lang="zh-CN" altLang="en-US" sz="1800" dirty="0"/>
              <a:t> </a:t>
            </a:r>
            <a:r>
              <a:rPr lang="en-US" altLang="zh-CN" sz="1800" dirty="0"/>
              <a:t>1bit processors; </a:t>
            </a:r>
          </a:p>
          <a:p>
            <a:pPr lvl="1"/>
            <a:r>
              <a:rPr lang="en-US" altLang="zh-CN" sz="1800" dirty="0"/>
              <a:t>                  </a:t>
            </a:r>
            <a:r>
              <a:rPr lang="en-US" altLang="zh-CN" sz="1800" dirty="0" err="1"/>
              <a:t>Illiac</a:t>
            </a:r>
            <a:r>
              <a:rPr lang="en-US" altLang="zh-CN" sz="1800" dirty="0"/>
              <a:t> IV</a:t>
            </a:r>
            <a:r>
              <a:rPr lang="zh-CN" altLang="en-US" sz="1800" dirty="0"/>
              <a:t>：  </a:t>
            </a:r>
            <a:r>
              <a:rPr lang="en-US" altLang="zh-CN" sz="1800" dirty="0"/>
              <a:t>64</a:t>
            </a:r>
            <a:r>
              <a:rPr lang="zh-CN" altLang="en-US" sz="1800" dirty="0"/>
              <a:t> </a:t>
            </a:r>
            <a:r>
              <a:rPr lang="en-US" altLang="zh-CN" sz="1800" dirty="0"/>
              <a:t>64bit processors; </a:t>
            </a:r>
          </a:p>
          <a:p>
            <a:pPr lvl="1"/>
            <a:r>
              <a:rPr lang="en-US" altLang="zh-CN" sz="1800" dirty="0"/>
              <a:t>Ad: Simple programming model; Low overhead; Flexibility; </a:t>
            </a:r>
          </a:p>
          <a:p>
            <a:r>
              <a:rPr lang="en-US" altLang="zh-CN" dirty="0"/>
              <a:t>MIMD (Multiple Instruction Multiple Data)</a:t>
            </a:r>
          </a:p>
          <a:p>
            <a:pPr lvl="1"/>
            <a:r>
              <a:rPr lang="en-US" altLang="zh-CN" sz="1800" dirty="0"/>
              <a:t>Each processor executes its own instr. and operates on its own data</a:t>
            </a:r>
          </a:p>
          <a:p>
            <a:pPr lvl="1"/>
            <a:r>
              <a:rPr lang="en-US" altLang="zh-CN" sz="1800" dirty="0"/>
              <a:t>Examples: Sun Enterprise 5000, Cray T3D,  SGI Origin</a:t>
            </a:r>
          </a:p>
          <a:p>
            <a:pPr lvl="1"/>
            <a:r>
              <a:rPr lang="en-US" altLang="zh-CN" sz="1800" dirty="0"/>
              <a:t>Ad:  Flexible; Use off-the-shelf microprocessors; </a:t>
            </a:r>
          </a:p>
          <a:p>
            <a:pPr lvl="1"/>
            <a:r>
              <a:rPr lang="en-US" altLang="zh-CN" sz="1800" dirty="0"/>
              <a:t>Not superscalar,   each node is superscalar, lessons will apply to multi-core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533AC0E-2752-44C4-ACA3-6E30D21A4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Popular Flynn Taxonomy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89053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D351B3-35E8-452C-95F9-F3B0DD0A8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Program execute on SISD</a:t>
            </a:r>
            <a:endParaRPr lang="zh-CN" altLang="en-US" dirty="0"/>
          </a:p>
        </p:txBody>
      </p:sp>
      <p:pic>
        <p:nvPicPr>
          <p:cNvPr id="3" name="Picture 4" descr="SISD">
            <a:extLst>
              <a:ext uri="{FF2B5EF4-FFF2-40B4-BE49-F238E27FC236}">
                <a16:creationId xmlns:a16="http://schemas.microsoft.com/office/drawing/2014/main" id="{B75F08AC-E8C8-415A-8195-42FFD5AA82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8782" y="1268413"/>
            <a:ext cx="3754437" cy="432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15980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77AB18-2A5E-469D-BCF8-3D5C382AF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Program execute on SIMD</a:t>
            </a:r>
            <a:endParaRPr lang="zh-CN" altLang="en-US" dirty="0"/>
          </a:p>
        </p:txBody>
      </p:sp>
      <p:pic>
        <p:nvPicPr>
          <p:cNvPr id="3" name="Picture 4" descr="SIMD">
            <a:extLst>
              <a:ext uri="{FF2B5EF4-FFF2-40B4-BE49-F238E27FC236}">
                <a16:creationId xmlns:a16="http://schemas.microsoft.com/office/drawing/2014/main" id="{9D81A539-4FAA-4DA0-A41B-A23A818918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1269" y="1113632"/>
            <a:ext cx="7129463" cy="4630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54510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904DDA-C339-484E-8DFF-3A85C5917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Program execute on MIMD</a:t>
            </a:r>
            <a:endParaRPr lang="zh-CN" altLang="en-US" dirty="0"/>
          </a:p>
        </p:txBody>
      </p:sp>
      <p:pic>
        <p:nvPicPr>
          <p:cNvPr id="3" name="Picture 4" descr="MIMD">
            <a:extLst>
              <a:ext uri="{FF2B5EF4-FFF2-40B4-BE49-F238E27FC236}">
                <a16:creationId xmlns:a16="http://schemas.microsoft.com/office/drawing/2014/main" id="{9F68DF56-12BB-47C0-BF6A-76ECBD94A3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3913" y="1272382"/>
            <a:ext cx="8004175" cy="431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55721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EAEF0766-D4BA-4F10-85C9-7BC4D6594E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172" y="1052736"/>
            <a:ext cx="10427656" cy="5256584"/>
          </a:xfrm>
        </p:spPr>
        <p:txBody>
          <a:bodyPr/>
          <a:lstStyle/>
          <a:p>
            <a:r>
              <a:rPr lang="en-US" altLang="zh-CN" dirty="0"/>
              <a:t>Center on organization of main memory</a:t>
            </a:r>
          </a:p>
          <a:p>
            <a:pPr lvl="1"/>
            <a:r>
              <a:rPr lang="en-US" altLang="zh-CN" dirty="0"/>
              <a:t>Shared vs. Distributed</a:t>
            </a:r>
          </a:p>
          <a:p>
            <a:r>
              <a:rPr lang="en-US" altLang="zh-CN" dirty="0"/>
              <a:t>Appearance of memory to </a:t>
            </a:r>
            <a:r>
              <a:rPr lang="en-US" altLang="zh-CN" b="1" dirty="0"/>
              <a:t>hardware</a:t>
            </a:r>
          </a:p>
          <a:p>
            <a:pPr lvl="1"/>
            <a:r>
              <a:rPr lang="en-US" altLang="zh-CN" dirty="0"/>
              <a:t>Q1: Memory access latency uniform?</a:t>
            </a:r>
          </a:p>
          <a:p>
            <a:pPr lvl="1"/>
            <a:r>
              <a:rPr lang="en-US" altLang="zh-CN" b="1" dirty="0"/>
              <a:t>Shared</a:t>
            </a:r>
            <a:r>
              <a:rPr lang="en-US" altLang="zh-CN" dirty="0"/>
              <a:t>: yes, doesn’t matter where data goes</a:t>
            </a:r>
          </a:p>
          <a:p>
            <a:pPr lvl="1"/>
            <a:r>
              <a:rPr lang="en-US" altLang="zh-CN" b="1" dirty="0"/>
              <a:t>Distributed</a:t>
            </a:r>
            <a:r>
              <a:rPr lang="en-US" altLang="zh-CN" dirty="0"/>
              <a:t>: no, makes a big difference</a:t>
            </a:r>
          </a:p>
          <a:p>
            <a:r>
              <a:rPr lang="en-US" altLang="zh-CN" dirty="0"/>
              <a:t>Appearance of memory to </a:t>
            </a:r>
            <a:r>
              <a:rPr lang="en-US" altLang="zh-CN" b="1" dirty="0"/>
              <a:t>software</a:t>
            </a:r>
          </a:p>
          <a:p>
            <a:pPr lvl="1"/>
            <a:r>
              <a:rPr lang="en-US" altLang="zh-CN" dirty="0"/>
              <a:t>Q2: Can processors communicate directly via memory?</a:t>
            </a:r>
          </a:p>
          <a:p>
            <a:pPr lvl="1"/>
            <a:r>
              <a:rPr lang="en-US" altLang="zh-CN" dirty="0"/>
              <a:t>Shared (</a:t>
            </a:r>
            <a:r>
              <a:rPr lang="en-US" altLang="zh-CN" b="1" dirty="0"/>
              <a:t>shared memory</a:t>
            </a:r>
            <a:r>
              <a:rPr lang="en-US" altLang="zh-CN" dirty="0"/>
              <a:t>): yes, communicate via load/store</a:t>
            </a:r>
          </a:p>
          <a:p>
            <a:pPr lvl="1"/>
            <a:r>
              <a:rPr lang="en-US" altLang="zh-CN" dirty="0"/>
              <a:t>Distributed (</a:t>
            </a:r>
            <a:r>
              <a:rPr lang="en-US" altLang="zh-CN" b="1" dirty="0"/>
              <a:t>message passing</a:t>
            </a:r>
            <a:r>
              <a:rPr lang="en-US" altLang="zh-CN" dirty="0"/>
              <a:t>): no, communicate via messages</a:t>
            </a:r>
          </a:p>
          <a:p>
            <a:r>
              <a:rPr lang="en-US" altLang="zh-CN" dirty="0"/>
              <a:t>Dimensions are orthogonal</a:t>
            </a:r>
          </a:p>
          <a:p>
            <a:pPr lvl="1"/>
            <a:r>
              <a:rPr lang="en-US" altLang="zh-CN" dirty="0"/>
              <a:t>e.g. </a:t>
            </a:r>
            <a:r>
              <a:rPr lang="en-US" altLang="zh-CN" b="1" dirty="0"/>
              <a:t>DSM</a:t>
            </a:r>
            <a:r>
              <a:rPr lang="en-US" altLang="zh-CN" dirty="0"/>
              <a:t>: (physically) distributed, (logically) shared memory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C36C795-5BED-4EFA-8F4C-E7B97D66A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Catalogue the Parallel (MIMD) processors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09098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68122EC1-929E-49C6-AE46-AC6E4CCBD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Dimensions are orthogonal</a:t>
            </a:r>
            <a:endParaRPr lang="zh-CN" alt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7222430F-4592-4853-8A83-0283F10BE834}"/>
              </a:ext>
            </a:extLst>
          </p:cNvPr>
          <p:cNvSpPr>
            <a:spLocks noGrp="1" noRot="1" noChangeArrowheads="1"/>
          </p:cNvSpPr>
          <p:nvPr>
            <p:ph idx="1"/>
          </p:nvPr>
        </p:nvSpPr>
        <p:spPr>
          <a:xfrm>
            <a:off x="2046288" y="1412876"/>
            <a:ext cx="7794624" cy="15843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     (</a:t>
            </a:r>
            <a:r>
              <a:rPr lang="en-US" altLang="en-US" dirty="0"/>
              <a:t>SMP)</a:t>
            </a:r>
            <a:r>
              <a:rPr lang="en-US" altLang="zh-CN" dirty="0"/>
              <a:t>/UMA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                                               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                                                  (DSM)/ NUMA  </a:t>
            </a:r>
          </a:p>
        </p:txBody>
      </p:sp>
      <p:graphicFrame>
        <p:nvGraphicFramePr>
          <p:cNvPr id="8" name="Object 4">
            <a:extLst>
              <a:ext uri="{FF2B5EF4-FFF2-40B4-BE49-F238E27FC236}">
                <a16:creationId xmlns:a16="http://schemas.microsoft.com/office/drawing/2014/main" id="{27855A4E-59C8-4483-98FA-D766D25DA7D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63750" y="2133601"/>
          <a:ext cx="7913688" cy="340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6" name="图片" r:id="rId3" imgW="3200400" imgH="1590840" progId="Word.Picture.8">
                  <p:embed/>
                </p:oleObj>
              </mc:Choice>
              <mc:Fallback>
                <p:oleObj name="图片" r:id="rId3" imgW="3200400" imgH="1590840" progId="Word.Picture.8">
                  <p:embed/>
                  <p:pic>
                    <p:nvPicPr>
                      <p:cNvPr id="102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0" y="2133601"/>
                        <a:ext cx="7913688" cy="3408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Oval 5">
            <a:extLst>
              <a:ext uri="{FF2B5EF4-FFF2-40B4-BE49-F238E27FC236}">
                <a16:creationId xmlns:a16="http://schemas.microsoft.com/office/drawing/2014/main" id="{E8C09F6B-2A28-480F-BF7C-532E023D6F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1089" y="1664047"/>
            <a:ext cx="3673475" cy="1081980"/>
          </a:xfrm>
          <a:prstGeom prst="ellipse">
            <a:avLst/>
          </a:prstGeom>
          <a:noFill/>
          <a:ln w="222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" name="Oval 6">
            <a:extLst>
              <a:ext uri="{FF2B5EF4-FFF2-40B4-BE49-F238E27FC236}">
                <a16:creationId xmlns:a16="http://schemas.microsoft.com/office/drawing/2014/main" id="{3ED5969E-5295-456F-9992-D5A7E1C57A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5050" y="3861148"/>
            <a:ext cx="2160588" cy="1081980"/>
          </a:xfrm>
          <a:prstGeom prst="ellipse">
            <a:avLst/>
          </a:prstGeom>
          <a:noFill/>
          <a:ln w="222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3603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A69BAB86-A265-47E7-802A-FFB66479FA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440" y="2492896"/>
            <a:ext cx="10077200" cy="2880320"/>
          </a:xfrm>
        </p:spPr>
        <p:txBody>
          <a:bodyPr/>
          <a:lstStyle/>
          <a:p>
            <a:r>
              <a:rPr lang="en-US" altLang="zh-CN" dirty="0"/>
              <a:t>Ideal model:</a:t>
            </a:r>
          </a:p>
          <a:p>
            <a:pPr lvl="1"/>
            <a:r>
              <a:rPr lang="en-US" altLang="zh-CN" dirty="0"/>
              <a:t>Perfect (single-cycle) memory latency</a:t>
            </a:r>
          </a:p>
          <a:p>
            <a:pPr lvl="1"/>
            <a:r>
              <a:rPr lang="en-US" altLang="zh-CN" dirty="0"/>
              <a:t>Perfect (infinite) memory bandwidth</a:t>
            </a:r>
          </a:p>
          <a:p>
            <a:r>
              <a:rPr lang="en-US" altLang="zh-CN" dirty="0"/>
              <a:t>Real systems:</a:t>
            </a:r>
          </a:p>
          <a:p>
            <a:pPr lvl="1"/>
            <a:r>
              <a:rPr lang="en-US" altLang="zh-CN" dirty="0"/>
              <a:t>Latencies are long and grow with system size</a:t>
            </a:r>
          </a:p>
          <a:p>
            <a:pPr lvl="1"/>
            <a:r>
              <a:rPr lang="en-US" altLang="zh-CN" dirty="0"/>
              <a:t>Bandwidth is limited</a:t>
            </a:r>
          </a:p>
          <a:p>
            <a:pPr lvl="1"/>
            <a:r>
              <a:rPr lang="en-US" altLang="zh-CN" dirty="0"/>
              <a:t>Add memory banks, interconnect to hook up (latency goes up)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B2FFC83-9224-4640-96C4-2E753BF08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UMA vs. NUMA: Why it matters</a:t>
            </a:r>
            <a:endParaRPr lang="zh-CN" altLang="en-US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CBE26A4B-41E4-4E24-8493-EBBFAA0ACF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760" y="1124744"/>
            <a:ext cx="46482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424385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318E7C54-1229-4F93-95E4-BE04EFD6D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1944" y="1052736"/>
            <a:ext cx="5472608" cy="4419600"/>
          </a:xfrm>
        </p:spPr>
        <p:txBody>
          <a:bodyPr/>
          <a:lstStyle/>
          <a:p>
            <a:r>
              <a:rPr lang="en-US" altLang="zh-CN" dirty="0"/>
              <a:t>UMA: uniform memory access</a:t>
            </a:r>
          </a:p>
          <a:p>
            <a:pPr lvl="1"/>
            <a:r>
              <a:rPr lang="en-US" altLang="zh-CN" dirty="0"/>
              <a:t>From p0 same latency to m0-m3</a:t>
            </a:r>
          </a:p>
          <a:p>
            <a:pPr lvl="1"/>
            <a:r>
              <a:rPr lang="en-US" altLang="zh-CN" dirty="0"/>
              <a:t>Data placement doesn’t matter</a:t>
            </a:r>
          </a:p>
          <a:p>
            <a:pPr lvl="1"/>
            <a:r>
              <a:rPr lang="en-US" altLang="zh-CN" dirty="0"/>
              <a:t>Latency worse as system scales</a:t>
            </a:r>
          </a:p>
          <a:p>
            <a:pPr lvl="1"/>
            <a:r>
              <a:rPr lang="en-US" altLang="zh-CN" dirty="0"/>
              <a:t>Interconnect contention restricts bandwidth</a:t>
            </a:r>
          </a:p>
          <a:p>
            <a:pPr lvl="1"/>
            <a:r>
              <a:rPr lang="en-US" altLang="zh-CN" dirty="0"/>
              <a:t>Small multiprocessors only</a:t>
            </a:r>
          </a:p>
          <a:p>
            <a:r>
              <a:rPr lang="en-US" altLang="zh-CN" dirty="0"/>
              <a:t>NUMA: non-uniform memory access</a:t>
            </a:r>
          </a:p>
          <a:p>
            <a:pPr lvl="1"/>
            <a:r>
              <a:rPr lang="en-US" altLang="zh-CN" dirty="0"/>
              <a:t>From p0 faster to m0 than m1-m3</a:t>
            </a:r>
          </a:p>
          <a:p>
            <a:pPr lvl="1"/>
            <a:r>
              <a:rPr lang="en-US" altLang="zh-CN" dirty="0"/>
              <a:t>Low latency to local memory helps performance</a:t>
            </a:r>
          </a:p>
          <a:p>
            <a:pPr lvl="1"/>
            <a:r>
              <a:rPr lang="en-US" altLang="zh-CN" dirty="0"/>
              <a:t>Data placement important (software!)</a:t>
            </a:r>
          </a:p>
          <a:p>
            <a:pPr lvl="1"/>
            <a:r>
              <a:rPr lang="en-US" altLang="zh-CN" dirty="0"/>
              <a:t>Less contention =&gt; more scalable</a:t>
            </a:r>
          </a:p>
          <a:p>
            <a:pPr lvl="1"/>
            <a:r>
              <a:rPr lang="en-US" altLang="zh-CN" dirty="0"/>
              <a:t>Large multiprocessor systems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16C9E8E-669E-444B-99BB-ACB7DD0B8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UMA vs. NUMA</a:t>
            </a:r>
            <a:endParaRPr lang="zh-CN" altLang="en-US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3E470168-F6FD-4BB2-9A27-E4E7914884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0" r="749"/>
          <a:stretch/>
        </p:blipFill>
        <p:spPr bwMode="auto">
          <a:xfrm>
            <a:off x="1271464" y="1268760"/>
            <a:ext cx="3637434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733681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6ED4B05-8228-44EE-A002-97BBEA5414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Centralized shared memory</a:t>
            </a:r>
            <a:r>
              <a:rPr lang="en-US" altLang="zh-CN" dirty="0"/>
              <a:t> ("Uniform Memory Access" time or "Shared Memory Processor")</a:t>
            </a:r>
          </a:p>
          <a:p>
            <a:r>
              <a:rPr lang="en-US" altLang="zh-CN" b="1" dirty="0"/>
              <a:t>Decentralized memory </a:t>
            </a:r>
            <a:r>
              <a:rPr lang="en-US" altLang="zh-CN" dirty="0"/>
              <a:t>(memory module with CPU)</a:t>
            </a:r>
          </a:p>
          <a:p>
            <a:pPr lvl="1"/>
            <a:r>
              <a:rPr lang="en-US" altLang="zh-CN" dirty="0"/>
              <a:t>get more memory bandwidth, lower memory latency</a:t>
            </a:r>
          </a:p>
          <a:p>
            <a:pPr lvl="1"/>
            <a:r>
              <a:rPr lang="en-US" altLang="zh-CN" dirty="0"/>
              <a:t>Drawback: Longer communication latency</a:t>
            </a:r>
          </a:p>
          <a:p>
            <a:pPr lvl="1"/>
            <a:r>
              <a:rPr lang="en-US" altLang="zh-CN" dirty="0"/>
              <a:t>Drawback: Software model more complex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70E5E3A-90A4-42B1-97AB-FA92C40D5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Major MIMD Styles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672600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67ED8C0C-0403-45C1-83E6-1153E8B66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Centralized shared-memory multiprocessor</a:t>
            </a:r>
            <a:endParaRPr lang="zh-CN" altLang="en-US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42A27F75-B691-4228-865D-EAD6CC263C97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8856100"/>
              </p:ext>
            </p:extLst>
          </p:nvPr>
        </p:nvGraphicFramePr>
        <p:xfrm>
          <a:off x="2213124" y="1124744"/>
          <a:ext cx="7627292" cy="411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8" name="图片" r:id="rId3" imgW="3000240" imgH="1619280" progId="Word.Picture.8">
                  <p:embed/>
                </p:oleObj>
              </mc:Choice>
              <mc:Fallback>
                <p:oleObj name="图片" r:id="rId3" imgW="3000240" imgH="1619280" progId="Word.Picture.8">
                  <p:embed/>
                  <p:pic>
                    <p:nvPicPr>
                      <p:cNvPr id="205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3124" y="1124744"/>
                        <a:ext cx="7627292" cy="41160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Oval 4">
            <a:extLst>
              <a:ext uri="{FF2B5EF4-FFF2-40B4-BE49-F238E27FC236}">
                <a16:creationId xmlns:a16="http://schemas.microsoft.com/office/drawing/2014/main" id="{0B9FC995-030F-4E5F-A31B-B1AD229B42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3988" y="4435947"/>
            <a:ext cx="259765" cy="1081980"/>
          </a:xfrm>
          <a:prstGeom prst="ellipse">
            <a:avLst/>
          </a:prstGeom>
          <a:noFill/>
          <a:ln w="317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E4B11F04-8BDB-4F1C-8300-FD50ADF854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2752" y="5522132"/>
            <a:ext cx="58880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kumimoji="1" lang="en-US" altLang="zh-CN" sz="2000" dirty="0">
                <a:solidFill>
                  <a:schemeClr val="tx1"/>
                </a:solidFill>
              </a:rPr>
              <a:t>&lt; 100 processor nodes in 2006, normal few dozen</a:t>
            </a:r>
          </a:p>
        </p:txBody>
      </p:sp>
    </p:spTree>
    <p:extLst>
      <p:ext uri="{BB962C8B-B14F-4D97-AF65-F5344CB8AC3E}">
        <p14:creationId xmlns:p14="http://schemas.microsoft.com/office/powerpoint/2010/main" val="36355163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014E7D75-8513-4231-8CE7-B09EE0FDA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Structure of distributed-memory multiprocessor</a:t>
            </a:r>
            <a:endParaRPr lang="zh-CN" altLang="en-US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2740DBAF-1D97-4F20-B923-E20062B3D7EA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0442535"/>
              </p:ext>
            </p:extLst>
          </p:nvPr>
        </p:nvGraphicFramePr>
        <p:xfrm>
          <a:off x="2495601" y="1109637"/>
          <a:ext cx="7200800" cy="46387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图片" r:id="rId3" imgW="2676600" imgH="1724040" progId="Word.Picture.8">
                  <p:embed/>
                </p:oleObj>
              </mc:Choice>
              <mc:Fallback>
                <p:oleObj name="图片" r:id="rId3" imgW="2676600" imgH="1724040" progId="Word.Picture.8">
                  <p:embed/>
                  <p:pic>
                    <p:nvPicPr>
                      <p:cNvPr id="307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601" y="1109637"/>
                        <a:ext cx="7200800" cy="463872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40718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6EC8E6AF-0F21-4B47-B8EC-AB421FC5F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Comparison in graph</a:t>
            </a:r>
            <a:endParaRPr lang="zh-CN" altLang="en-US" dirty="0"/>
          </a:p>
        </p:txBody>
      </p:sp>
      <p:sp>
        <p:nvSpPr>
          <p:cNvPr id="4" name="Rectangle 45">
            <a:extLst>
              <a:ext uri="{FF2B5EF4-FFF2-40B4-BE49-F238E27FC236}">
                <a16:creationId xmlns:a16="http://schemas.microsoft.com/office/drawing/2014/main" id="{58ADBE64-55B9-466E-BB76-7F092A734768}"/>
              </a:ext>
            </a:extLst>
          </p:cNvPr>
          <p:cNvSpPr>
            <a:spLocks noGrp="1" noRot="1" noChangeArrowheads="1"/>
          </p:cNvSpPr>
          <p:nvPr>
            <p:ph sz="half" idx="1"/>
          </p:nvPr>
        </p:nvSpPr>
        <p:spPr>
          <a:xfrm>
            <a:off x="1919536" y="1124745"/>
            <a:ext cx="2878139" cy="4683125"/>
          </a:xfrm>
        </p:spPr>
        <p:txBody>
          <a:bodyPr/>
          <a:lstStyle/>
          <a:p>
            <a:pPr eaLnBrk="1" hangingPunct="1"/>
            <a:r>
              <a:rPr lang="en-US" altLang="zh-CN" sz="2000" dirty="0">
                <a:solidFill>
                  <a:srgbClr val="0000FF"/>
                </a:solidFill>
              </a:rPr>
              <a:t>Uniprocessor</a:t>
            </a:r>
          </a:p>
          <a:p>
            <a:pPr eaLnBrk="1" hangingPunct="1"/>
            <a:endParaRPr lang="en-US" altLang="zh-CN" sz="2000" dirty="0">
              <a:solidFill>
                <a:srgbClr val="0000FF"/>
              </a:solidFill>
            </a:endParaRPr>
          </a:p>
          <a:p>
            <a:pPr eaLnBrk="1" hangingPunct="1"/>
            <a:endParaRPr lang="en-US" altLang="zh-CN" sz="2000" dirty="0">
              <a:solidFill>
                <a:srgbClr val="0000FF"/>
              </a:solidFill>
            </a:endParaRPr>
          </a:p>
          <a:p>
            <a:pPr eaLnBrk="1" hangingPunct="1"/>
            <a:r>
              <a:rPr lang="en-US" altLang="zh-CN" sz="2000" dirty="0">
                <a:solidFill>
                  <a:srgbClr val="0000FF"/>
                </a:solidFill>
              </a:rPr>
              <a:t>Pipelined</a:t>
            </a:r>
          </a:p>
          <a:p>
            <a:pPr eaLnBrk="1" hangingPunct="1"/>
            <a:endParaRPr lang="en-US" altLang="zh-CN" sz="2000" dirty="0">
              <a:solidFill>
                <a:srgbClr val="0000FF"/>
              </a:solidFill>
            </a:endParaRPr>
          </a:p>
          <a:p>
            <a:pPr eaLnBrk="1" hangingPunct="1"/>
            <a:r>
              <a:rPr lang="en-US" altLang="zh-CN" sz="2000" dirty="0">
                <a:solidFill>
                  <a:srgbClr val="0000FF"/>
                </a:solidFill>
              </a:rPr>
              <a:t>                                                 </a:t>
            </a:r>
          </a:p>
          <a:p>
            <a:pPr eaLnBrk="1" hangingPunct="1"/>
            <a:r>
              <a:rPr lang="en-US" altLang="zh-CN" sz="2000" dirty="0">
                <a:solidFill>
                  <a:srgbClr val="0000FF"/>
                </a:solidFill>
              </a:rPr>
              <a:t>Superscalar</a:t>
            </a:r>
          </a:p>
          <a:p>
            <a:pPr eaLnBrk="1" hangingPunct="1"/>
            <a:endParaRPr lang="en-US" altLang="zh-CN" sz="2000" dirty="0">
              <a:solidFill>
                <a:srgbClr val="0000FF"/>
              </a:solidFill>
            </a:endParaRPr>
          </a:p>
          <a:p>
            <a:pPr eaLnBrk="1" hangingPunct="1"/>
            <a:endParaRPr lang="en-US" altLang="zh-CN" sz="2000" dirty="0">
              <a:solidFill>
                <a:srgbClr val="0000FF"/>
              </a:solidFill>
            </a:endParaRPr>
          </a:p>
          <a:p>
            <a:pPr eaLnBrk="1" hangingPunct="1"/>
            <a:endParaRPr lang="en-US" altLang="zh-CN" sz="2000" dirty="0">
              <a:solidFill>
                <a:srgbClr val="0000FF"/>
              </a:solidFill>
            </a:endParaRPr>
          </a:p>
          <a:p>
            <a:pPr eaLnBrk="1" hangingPunct="1"/>
            <a:r>
              <a:rPr lang="en-US" altLang="zh-CN" sz="2000" dirty="0">
                <a:solidFill>
                  <a:srgbClr val="0000FF"/>
                </a:solidFill>
              </a:rPr>
              <a:t>VLIW</a:t>
            </a:r>
          </a:p>
          <a:p>
            <a:pPr eaLnBrk="1" hangingPunct="1"/>
            <a:endParaRPr lang="en-US" altLang="zh-CN" sz="2000" dirty="0">
              <a:solidFill>
                <a:srgbClr val="0000FF"/>
              </a:solidFill>
            </a:endParaRPr>
          </a:p>
        </p:txBody>
      </p:sp>
      <p:sp>
        <p:nvSpPr>
          <p:cNvPr id="5" name="Rectangle 48">
            <a:extLst>
              <a:ext uri="{FF2B5EF4-FFF2-40B4-BE49-F238E27FC236}">
                <a16:creationId xmlns:a16="http://schemas.microsoft.com/office/drawing/2014/main" id="{7D29C3F7-12AE-4601-A380-B43327FD0AE5}"/>
              </a:ext>
            </a:extLst>
          </p:cNvPr>
          <p:cNvSpPr txBox="1">
            <a:spLocks noRot="1" noChangeArrowheads="1"/>
          </p:cNvSpPr>
          <p:nvPr/>
        </p:nvSpPr>
        <p:spPr>
          <a:xfrm>
            <a:off x="6217990" y="1124745"/>
            <a:ext cx="4054475" cy="4683125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itchFamily="2" charset="2"/>
              <a:buChar char="l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l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l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4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000" kern="0">
                <a:solidFill>
                  <a:srgbClr val="0000FF"/>
                </a:solidFill>
              </a:rPr>
              <a:t>SMP(Symmetric)</a:t>
            </a:r>
          </a:p>
          <a:p>
            <a:pPr>
              <a:buFont typeface="Wingdings" pitchFamily="2" charset="2"/>
              <a:buNone/>
            </a:pPr>
            <a:r>
              <a:rPr lang="en-US" altLang="zh-CN" sz="2000" kern="0">
                <a:solidFill>
                  <a:srgbClr val="0000FF"/>
                </a:solidFill>
              </a:rPr>
              <a:t>     or CSM(Centralized)</a:t>
            </a:r>
          </a:p>
          <a:p>
            <a:endParaRPr lang="en-US" altLang="zh-CN" sz="2000" kern="0">
              <a:solidFill>
                <a:srgbClr val="0000FF"/>
              </a:solidFill>
            </a:endParaRPr>
          </a:p>
          <a:p>
            <a:endParaRPr lang="en-US" altLang="zh-CN" sz="2000" kern="0">
              <a:solidFill>
                <a:srgbClr val="0000FF"/>
              </a:solidFill>
            </a:endParaRPr>
          </a:p>
          <a:p>
            <a:endParaRPr lang="en-US" altLang="zh-CN" sz="2000" kern="0">
              <a:solidFill>
                <a:srgbClr val="0000FF"/>
              </a:solidFill>
            </a:endParaRPr>
          </a:p>
          <a:p>
            <a:endParaRPr lang="en-US" altLang="zh-CN" sz="2000" kern="0">
              <a:solidFill>
                <a:srgbClr val="0000FF"/>
              </a:solidFill>
            </a:endParaRPr>
          </a:p>
          <a:p>
            <a:endParaRPr lang="en-US" altLang="zh-CN" sz="2000" kern="0">
              <a:solidFill>
                <a:srgbClr val="0000FF"/>
              </a:solidFill>
            </a:endParaRPr>
          </a:p>
          <a:p>
            <a:r>
              <a:rPr lang="en-US" altLang="zh-CN" sz="2000" kern="0">
                <a:solidFill>
                  <a:srgbClr val="0000FF"/>
                </a:solidFill>
              </a:rPr>
              <a:t>Distributed</a:t>
            </a:r>
            <a:endParaRPr lang="en-US" altLang="zh-CN" sz="2000" kern="0" dirty="0">
              <a:solidFill>
                <a:srgbClr val="0000FF"/>
              </a:solidFill>
            </a:endParaRP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BB8416FA-4D93-40A8-B3DC-38F497737B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8673" y="1629570"/>
            <a:ext cx="576263" cy="479425"/>
          </a:xfrm>
          <a:prstGeom prst="rect">
            <a:avLst/>
          </a:prstGeom>
          <a:noFill/>
          <a:ln w="222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kumimoji="1" lang="en-US" altLang="zh-CN" sz="2400" b="1">
                <a:solidFill>
                  <a:srgbClr val="FF3300"/>
                </a:solidFill>
              </a:rPr>
              <a:t> </a:t>
            </a:r>
            <a:r>
              <a:rPr kumimoji="1" lang="en-US" altLang="zh-CN" sz="2400" b="1">
                <a:solidFill>
                  <a:schemeClr val="tx1"/>
                </a:solidFill>
              </a:rPr>
              <a:t>P</a:t>
            </a: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7E113C9B-7F57-4242-ADF4-A0A3CB24CA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2635" y="1629570"/>
            <a:ext cx="576262" cy="479425"/>
          </a:xfrm>
          <a:prstGeom prst="rect">
            <a:avLst/>
          </a:prstGeom>
          <a:noFill/>
          <a:ln w="222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kumimoji="1" lang="en-US" altLang="zh-CN" sz="2400" b="1">
                <a:solidFill>
                  <a:srgbClr val="FF3300"/>
                </a:solidFill>
              </a:rPr>
              <a:t> </a:t>
            </a:r>
            <a:r>
              <a:rPr kumimoji="1" lang="en-US" altLang="zh-CN" sz="2400" b="1">
                <a:solidFill>
                  <a:schemeClr val="tx1"/>
                </a:solidFill>
              </a:rPr>
              <a:t>M</a:t>
            </a: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30B93CC5-2957-403A-AB18-8735A657E4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4248" y="2684140"/>
            <a:ext cx="576263" cy="479425"/>
          </a:xfrm>
          <a:prstGeom prst="rect">
            <a:avLst/>
          </a:prstGeom>
          <a:noFill/>
          <a:ln w="222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kumimoji="1" lang="en-US" altLang="zh-CN" sz="2400" b="1" dirty="0">
                <a:solidFill>
                  <a:srgbClr val="FF3300"/>
                </a:solidFill>
              </a:rPr>
              <a:t> </a:t>
            </a:r>
            <a:r>
              <a:rPr kumimoji="1" lang="en-US" altLang="zh-CN" sz="2400" b="1" dirty="0">
                <a:solidFill>
                  <a:schemeClr val="tx1"/>
                </a:solidFill>
              </a:rPr>
              <a:t>M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F727CD07-8926-4670-9906-105C0EFF39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2797" y="2587551"/>
            <a:ext cx="865188" cy="769441"/>
          </a:xfrm>
          <a:prstGeom prst="rect">
            <a:avLst/>
          </a:prstGeom>
          <a:noFill/>
          <a:ln w="222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" name="Line 8">
            <a:extLst>
              <a:ext uri="{FF2B5EF4-FFF2-40B4-BE49-F238E27FC236}">
                <a16:creationId xmlns:a16="http://schemas.microsoft.com/office/drawing/2014/main" id="{9BD9C0D8-E7E6-432F-8B60-602848DBDA1E}"/>
              </a:ext>
            </a:extLst>
          </p:cNvPr>
          <p:cNvSpPr>
            <a:spLocks noChangeShapeType="1"/>
          </p:cNvSpPr>
          <p:nvPr/>
        </p:nvSpPr>
        <p:spPr bwMode="auto">
          <a:xfrm>
            <a:off x="2840285" y="2684139"/>
            <a:ext cx="0" cy="576262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1" name="Line 9">
            <a:extLst>
              <a:ext uri="{FF2B5EF4-FFF2-40B4-BE49-F238E27FC236}">
                <a16:creationId xmlns:a16="http://schemas.microsoft.com/office/drawing/2014/main" id="{33DA94F7-6F33-4BF2-A284-3AD2F0001B0E}"/>
              </a:ext>
            </a:extLst>
          </p:cNvPr>
          <p:cNvSpPr>
            <a:spLocks noChangeShapeType="1"/>
          </p:cNvSpPr>
          <p:nvPr/>
        </p:nvSpPr>
        <p:spPr bwMode="auto">
          <a:xfrm>
            <a:off x="3056185" y="2684139"/>
            <a:ext cx="0" cy="576262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2" name="Line 10">
            <a:extLst>
              <a:ext uri="{FF2B5EF4-FFF2-40B4-BE49-F238E27FC236}">
                <a16:creationId xmlns:a16="http://schemas.microsoft.com/office/drawing/2014/main" id="{5DFAFE79-065E-491D-B08D-C7A1B6CCA96D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2085" y="2684139"/>
            <a:ext cx="0" cy="576262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" name="Line 16">
            <a:extLst>
              <a:ext uri="{FF2B5EF4-FFF2-40B4-BE49-F238E27FC236}">
                <a16:creationId xmlns:a16="http://schemas.microsoft.com/office/drawing/2014/main" id="{4AF229C8-CA1A-4A0C-9B78-109C85DCBFCA}"/>
              </a:ext>
            </a:extLst>
          </p:cNvPr>
          <p:cNvSpPr>
            <a:spLocks noChangeShapeType="1"/>
          </p:cNvSpPr>
          <p:nvPr/>
        </p:nvSpPr>
        <p:spPr bwMode="auto">
          <a:xfrm>
            <a:off x="3214935" y="1845469"/>
            <a:ext cx="647700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14" name="Line 17">
            <a:extLst>
              <a:ext uri="{FF2B5EF4-FFF2-40B4-BE49-F238E27FC236}">
                <a16:creationId xmlns:a16="http://schemas.microsoft.com/office/drawing/2014/main" id="{6393C83D-7C61-4D0A-B7C1-17909BC5DC18}"/>
              </a:ext>
            </a:extLst>
          </p:cNvPr>
          <p:cNvSpPr>
            <a:spLocks noChangeShapeType="1"/>
          </p:cNvSpPr>
          <p:nvPr/>
        </p:nvSpPr>
        <p:spPr bwMode="auto">
          <a:xfrm>
            <a:off x="3487985" y="2971476"/>
            <a:ext cx="576262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pSp>
        <p:nvGrpSpPr>
          <p:cNvPr id="15" name="Group 49">
            <a:extLst>
              <a:ext uri="{FF2B5EF4-FFF2-40B4-BE49-F238E27FC236}">
                <a16:creationId xmlns:a16="http://schemas.microsoft.com/office/drawing/2014/main" id="{D2751B28-6C84-4A4D-8DB4-E1649180B6EF}"/>
              </a:ext>
            </a:extLst>
          </p:cNvPr>
          <p:cNvGrpSpPr>
            <a:grpSpLocks/>
          </p:cNvGrpSpPr>
          <p:nvPr/>
        </p:nvGrpSpPr>
        <p:grpSpPr bwMode="auto">
          <a:xfrm>
            <a:off x="2711698" y="3734596"/>
            <a:ext cx="2016125" cy="1125537"/>
            <a:chOff x="938" y="2576"/>
            <a:chExt cx="1270" cy="709"/>
          </a:xfrm>
        </p:grpSpPr>
        <p:sp>
          <p:nvSpPr>
            <p:cNvPr id="16" name="Rectangle 11">
              <a:extLst>
                <a:ext uri="{FF2B5EF4-FFF2-40B4-BE49-F238E27FC236}">
                  <a16:creationId xmlns:a16="http://schemas.microsoft.com/office/drawing/2014/main" id="{6E10DB65-D273-4E18-916B-0499367052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" y="2686"/>
              <a:ext cx="116" cy="485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7" name="Rectangle 12">
              <a:extLst>
                <a:ext uri="{FF2B5EF4-FFF2-40B4-BE49-F238E27FC236}">
                  <a16:creationId xmlns:a16="http://schemas.microsoft.com/office/drawing/2014/main" id="{4D0A1447-0B4C-41BE-B5F9-BAB9BBD964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6" y="2576"/>
              <a:ext cx="227" cy="485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8" name="Rectangle 13">
              <a:extLst>
                <a:ext uri="{FF2B5EF4-FFF2-40B4-BE49-F238E27FC236}">
                  <a16:creationId xmlns:a16="http://schemas.microsoft.com/office/drawing/2014/main" id="{5D41F20E-4364-4485-A0B9-E3526505AC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5" y="2800"/>
              <a:ext cx="227" cy="485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9" name="Oval 14">
              <a:extLst>
                <a:ext uri="{FF2B5EF4-FFF2-40B4-BE49-F238E27FC236}">
                  <a16:creationId xmlns:a16="http://schemas.microsoft.com/office/drawing/2014/main" id="{6E341591-B4AD-46C7-854A-227D0E572A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8" y="2597"/>
              <a:ext cx="136" cy="682"/>
            </a:xfrm>
            <a:prstGeom prst="ellipse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0" name="Text Box 15">
              <a:extLst>
                <a:ext uri="{FF2B5EF4-FFF2-40B4-BE49-F238E27FC236}">
                  <a16:creationId xmlns:a16="http://schemas.microsoft.com/office/drawing/2014/main" id="{FF2FC36F-A90E-45B3-9C38-C1844B6160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5" y="2747"/>
              <a:ext cx="363" cy="302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None/>
              </a:pPr>
              <a:r>
                <a:rPr kumimoji="1" lang="en-US" altLang="zh-CN" sz="2400" b="1">
                  <a:solidFill>
                    <a:srgbClr val="FF3300"/>
                  </a:solidFill>
                </a:rPr>
                <a:t> </a:t>
              </a:r>
              <a:r>
                <a:rPr kumimoji="1" lang="en-US" altLang="zh-CN" sz="2400" b="1">
                  <a:solidFill>
                    <a:schemeClr val="tx1"/>
                  </a:solidFill>
                </a:rPr>
                <a:t>M</a:t>
              </a:r>
            </a:p>
          </p:txBody>
        </p:sp>
        <p:sp>
          <p:nvSpPr>
            <p:cNvPr id="21" name="Line 18">
              <a:extLst>
                <a:ext uri="{FF2B5EF4-FFF2-40B4-BE49-F238E27FC236}">
                  <a16:creationId xmlns:a16="http://schemas.microsoft.com/office/drawing/2014/main" id="{128B82FB-6B12-4008-A225-D46851F73B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82" y="2929"/>
              <a:ext cx="363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2" name="Group 50">
            <a:extLst>
              <a:ext uri="{FF2B5EF4-FFF2-40B4-BE49-F238E27FC236}">
                <a16:creationId xmlns:a16="http://schemas.microsoft.com/office/drawing/2014/main" id="{893E0769-0FA1-41DE-9C98-E33B90B3D73D}"/>
              </a:ext>
            </a:extLst>
          </p:cNvPr>
          <p:cNvGrpSpPr>
            <a:grpSpLocks/>
          </p:cNvGrpSpPr>
          <p:nvPr/>
        </p:nvGrpSpPr>
        <p:grpSpPr bwMode="auto">
          <a:xfrm>
            <a:off x="2911724" y="5179221"/>
            <a:ext cx="1871663" cy="1130301"/>
            <a:chOff x="1056" y="3398"/>
            <a:chExt cx="1179" cy="712"/>
          </a:xfrm>
        </p:grpSpPr>
        <p:sp>
          <p:nvSpPr>
            <p:cNvPr id="23" name="Rectangle 19">
              <a:extLst>
                <a:ext uri="{FF2B5EF4-FFF2-40B4-BE49-F238E27FC236}">
                  <a16:creationId xmlns:a16="http://schemas.microsoft.com/office/drawing/2014/main" id="{52488F84-F5FB-45F9-93DC-BED3F1363F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6" y="3511"/>
              <a:ext cx="116" cy="485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4" name="Rectangle 20">
              <a:extLst>
                <a:ext uri="{FF2B5EF4-FFF2-40B4-BE49-F238E27FC236}">
                  <a16:creationId xmlns:a16="http://schemas.microsoft.com/office/drawing/2014/main" id="{84136CD5-042C-4554-9109-2C0FB9D316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3398"/>
              <a:ext cx="363" cy="485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5" name="Rectangle 21">
              <a:extLst>
                <a:ext uri="{FF2B5EF4-FFF2-40B4-BE49-F238E27FC236}">
                  <a16:creationId xmlns:a16="http://schemas.microsoft.com/office/drawing/2014/main" id="{51F7F6B7-F004-4B51-84E6-7B793C2EEE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3625"/>
              <a:ext cx="363" cy="485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6" name="Text Box 23">
              <a:extLst>
                <a:ext uri="{FF2B5EF4-FFF2-40B4-BE49-F238E27FC236}">
                  <a16:creationId xmlns:a16="http://schemas.microsoft.com/office/drawing/2014/main" id="{8ABD2783-CB26-4832-9835-7D2CC3517A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3572"/>
              <a:ext cx="363" cy="302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None/>
              </a:pPr>
              <a:r>
                <a:rPr kumimoji="1" lang="en-US" altLang="zh-CN" sz="2400" b="1">
                  <a:solidFill>
                    <a:srgbClr val="FF3300"/>
                  </a:solidFill>
                </a:rPr>
                <a:t> </a:t>
              </a:r>
              <a:r>
                <a:rPr kumimoji="1" lang="en-US" altLang="zh-CN" sz="2400" b="1">
                  <a:solidFill>
                    <a:schemeClr val="tx1"/>
                  </a:solidFill>
                </a:rPr>
                <a:t>M</a:t>
              </a:r>
            </a:p>
          </p:txBody>
        </p:sp>
        <p:sp>
          <p:nvSpPr>
            <p:cNvPr id="27" name="Line 24">
              <a:extLst>
                <a:ext uri="{FF2B5EF4-FFF2-40B4-BE49-F238E27FC236}">
                  <a16:creationId xmlns:a16="http://schemas.microsoft.com/office/drawing/2014/main" id="{BB132EF5-9BC3-483F-BF22-3EE7A92A4D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09" y="3754"/>
              <a:ext cx="363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8" name="Group 46">
            <a:extLst>
              <a:ext uri="{FF2B5EF4-FFF2-40B4-BE49-F238E27FC236}">
                <a16:creationId xmlns:a16="http://schemas.microsoft.com/office/drawing/2014/main" id="{5F7F6A8B-5EC3-48E0-99DE-60909F193005}"/>
              </a:ext>
            </a:extLst>
          </p:cNvPr>
          <p:cNvGrpSpPr>
            <a:grpSpLocks/>
          </p:cNvGrpSpPr>
          <p:nvPr/>
        </p:nvGrpSpPr>
        <p:grpSpPr bwMode="auto">
          <a:xfrm>
            <a:off x="7154615" y="1989932"/>
            <a:ext cx="2232025" cy="1414463"/>
            <a:chOff x="3606" y="981"/>
            <a:chExt cx="1406" cy="891"/>
          </a:xfrm>
        </p:grpSpPr>
        <p:sp>
          <p:nvSpPr>
            <p:cNvPr id="29" name="Text Box 25">
              <a:extLst>
                <a:ext uri="{FF2B5EF4-FFF2-40B4-BE49-F238E27FC236}">
                  <a16:creationId xmlns:a16="http://schemas.microsoft.com/office/drawing/2014/main" id="{3F5FB160-EA95-4807-9681-CE649BDA91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1" y="1570"/>
              <a:ext cx="363" cy="302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None/>
              </a:pPr>
              <a:r>
                <a:rPr kumimoji="1" lang="en-US" altLang="zh-CN" sz="2400" b="1">
                  <a:solidFill>
                    <a:srgbClr val="FF3300"/>
                  </a:solidFill>
                </a:rPr>
                <a:t> </a:t>
              </a:r>
              <a:r>
                <a:rPr kumimoji="1" lang="en-US" altLang="zh-CN" sz="2400" b="1">
                  <a:solidFill>
                    <a:schemeClr val="tx1"/>
                  </a:solidFill>
                </a:rPr>
                <a:t>P</a:t>
              </a:r>
            </a:p>
          </p:txBody>
        </p:sp>
        <p:sp>
          <p:nvSpPr>
            <p:cNvPr id="30" name="Text Box 26">
              <a:extLst>
                <a:ext uri="{FF2B5EF4-FFF2-40B4-BE49-F238E27FC236}">
                  <a16:creationId xmlns:a16="http://schemas.microsoft.com/office/drawing/2014/main" id="{C394488D-F7DB-4B5C-AE31-7A1D316389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9" y="1298"/>
              <a:ext cx="363" cy="302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None/>
              </a:pPr>
              <a:r>
                <a:rPr kumimoji="1" lang="en-US" altLang="zh-CN" sz="2400" b="1">
                  <a:solidFill>
                    <a:srgbClr val="FF3300"/>
                  </a:solidFill>
                </a:rPr>
                <a:t> </a:t>
              </a:r>
              <a:r>
                <a:rPr kumimoji="1" lang="en-US" altLang="zh-CN" sz="2400" b="1">
                  <a:solidFill>
                    <a:schemeClr val="tx1"/>
                  </a:solidFill>
                </a:rPr>
                <a:t>M</a:t>
              </a:r>
            </a:p>
          </p:txBody>
        </p:sp>
        <p:sp>
          <p:nvSpPr>
            <p:cNvPr id="31" name="Line 27">
              <a:extLst>
                <a:ext uri="{FF2B5EF4-FFF2-40B4-BE49-F238E27FC236}">
                  <a16:creationId xmlns:a16="http://schemas.microsoft.com/office/drawing/2014/main" id="{88186571-45EA-437F-9A7B-1B980311CC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6" y="1434"/>
              <a:ext cx="363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2" name="Text Box 28">
              <a:extLst>
                <a:ext uri="{FF2B5EF4-FFF2-40B4-BE49-F238E27FC236}">
                  <a16:creationId xmlns:a16="http://schemas.microsoft.com/office/drawing/2014/main" id="{0713DD8A-801A-406D-AD08-0C6EE4A80E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6" y="981"/>
              <a:ext cx="363" cy="302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None/>
              </a:pPr>
              <a:r>
                <a:rPr kumimoji="1" lang="en-US" altLang="zh-CN" sz="2400" b="1">
                  <a:solidFill>
                    <a:srgbClr val="FF3300"/>
                  </a:solidFill>
                </a:rPr>
                <a:t> </a:t>
              </a:r>
              <a:r>
                <a:rPr kumimoji="1" lang="en-US" altLang="zh-CN" sz="2400" b="1">
                  <a:solidFill>
                    <a:schemeClr val="tx1"/>
                  </a:solidFill>
                </a:rPr>
                <a:t>P</a:t>
              </a:r>
            </a:p>
          </p:txBody>
        </p:sp>
        <p:sp>
          <p:nvSpPr>
            <p:cNvPr id="33" name="Line 29">
              <a:extLst>
                <a:ext uri="{FF2B5EF4-FFF2-40B4-BE49-F238E27FC236}">
                  <a16:creationId xmlns:a16="http://schemas.microsoft.com/office/drawing/2014/main" id="{9A1B247D-B8A7-46B0-9B73-1F71A0D5F9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9" y="1117"/>
              <a:ext cx="317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34" name="Line 30">
              <a:extLst>
                <a:ext uri="{FF2B5EF4-FFF2-40B4-BE49-F238E27FC236}">
                  <a16:creationId xmlns:a16="http://schemas.microsoft.com/office/drawing/2014/main" id="{3654AA02-DC10-45E4-AF9C-3147E048EC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6" y="1117"/>
              <a:ext cx="0" cy="589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5" name="Line 31">
              <a:extLst>
                <a:ext uri="{FF2B5EF4-FFF2-40B4-BE49-F238E27FC236}">
                  <a16:creationId xmlns:a16="http://schemas.microsoft.com/office/drawing/2014/main" id="{3C4388A4-5D77-4DD7-9AD1-4FAE6D7978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4" y="1706"/>
              <a:ext cx="272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6" name="Group 47">
            <a:extLst>
              <a:ext uri="{FF2B5EF4-FFF2-40B4-BE49-F238E27FC236}">
                <a16:creationId xmlns:a16="http://schemas.microsoft.com/office/drawing/2014/main" id="{E4C5E9F5-BC81-4C26-A950-74D6AA55BEC2}"/>
              </a:ext>
            </a:extLst>
          </p:cNvPr>
          <p:cNvGrpSpPr>
            <a:grpSpLocks/>
          </p:cNvGrpSpPr>
          <p:nvPr/>
        </p:nvGrpSpPr>
        <p:grpSpPr bwMode="auto">
          <a:xfrm>
            <a:off x="7154614" y="4148931"/>
            <a:ext cx="2436812" cy="1584325"/>
            <a:chOff x="3606" y="2341"/>
            <a:chExt cx="1535" cy="998"/>
          </a:xfrm>
        </p:grpSpPr>
        <p:sp>
          <p:nvSpPr>
            <p:cNvPr id="37" name="Text Box 32">
              <a:extLst>
                <a:ext uri="{FF2B5EF4-FFF2-40B4-BE49-F238E27FC236}">
                  <a16:creationId xmlns:a16="http://schemas.microsoft.com/office/drawing/2014/main" id="{6866E911-96CB-4006-9633-D9014EE472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6" y="2341"/>
              <a:ext cx="363" cy="302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None/>
              </a:pPr>
              <a:r>
                <a:rPr kumimoji="1" lang="en-US" altLang="zh-CN" sz="2400" b="1">
                  <a:solidFill>
                    <a:srgbClr val="FF3300"/>
                  </a:solidFill>
                </a:rPr>
                <a:t> </a:t>
              </a:r>
              <a:r>
                <a:rPr kumimoji="1" lang="en-US" altLang="zh-CN" sz="2400" b="1">
                  <a:solidFill>
                    <a:schemeClr val="tx1"/>
                  </a:solidFill>
                </a:rPr>
                <a:t>P</a:t>
              </a:r>
            </a:p>
          </p:txBody>
        </p:sp>
        <p:sp>
          <p:nvSpPr>
            <p:cNvPr id="38" name="Text Box 33">
              <a:extLst>
                <a:ext uri="{FF2B5EF4-FFF2-40B4-BE49-F238E27FC236}">
                  <a16:creationId xmlns:a16="http://schemas.microsoft.com/office/drawing/2014/main" id="{89F23C9B-177E-4B2D-A513-FB4540A8C5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7" y="2341"/>
              <a:ext cx="363" cy="302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None/>
              </a:pPr>
              <a:r>
                <a:rPr kumimoji="1" lang="en-US" altLang="zh-CN" sz="2400" b="1">
                  <a:solidFill>
                    <a:srgbClr val="FF3300"/>
                  </a:solidFill>
                </a:rPr>
                <a:t> </a:t>
              </a:r>
              <a:r>
                <a:rPr kumimoji="1" lang="en-US" altLang="zh-CN" sz="2400" b="1">
                  <a:solidFill>
                    <a:schemeClr val="tx1"/>
                  </a:solidFill>
                </a:rPr>
                <a:t>M</a:t>
              </a:r>
            </a:p>
          </p:txBody>
        </p:sp>
        <p:sp>
          <p:nvSpPr>
            <p:cNvPr id="39" name="Line 34">
              <a:extLst>
                <a:ext uri="{FF2B5EF4-FFF2-40B4-BE49-F238E27FC236}">
                  <a16:creationId xmlns:a16="http://schemas.microsoft.com/office/drawing/2014/main" id="{7B1FEF37-6DBD-4B96-A519-5AC6FAC867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9" y="2477"/>
              <a:ext cx="408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40" name="Text Box 35">
              <a:extLst>
                <a:ext uri="{FF2B5EF4-FFF2-40B4-BE49-F238E27FC236}">
                  <a16:creationId xmlns:a16="http://schemas.microsoft.com/office/drawing/2014/main" id="{63F54C82-05A5-4B6A-BF10-D649D0C547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6" y="2886"/>
              <a:ext cx="363" cy="302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None/>
              </a:pPr>
              <a:r>
                <a:rPr kumimoji="1" lang="en-US" altLang="zh-CN" sz="2400" b="1">
                  <a:solidFill>
                    <a:srgbClr val="FF3300"/>
                  </a:solidFill>
                </a:rPr>
                <a:t> </a:t>
              </a:r>
              <a:r>
                <a:rPr kumimoji="1" lang="en-US" altLang="zh-CN" sz="2400" b="1">
                  <a:solidFill>
                    <a:schemeClr val="tx1"/>
                  </a:solidFill>
                </a:rPr>
                <a:t>P</a:t>
              </a:r>
            </a:p>
          </p:txBody>
        </p:sp>
        <p:sp>
          <p:nvSpPr>
            <p:cNvPr id="41" name="Text Box 36">
              <a:extLst>
                <a:ext uri="{FF2B5EF4-FFF2-40B4-BE49-F238E27FC236}">
                  <a16:creationId xmlns:a16="http://schemas.microsoft.com/office/drawing/2014/main" id="{D7257100-FDBC-4007-9646-BD3F5CD356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7" y="2886"/>
              <a:ext cx="363" cy="302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None/>
              </a:pPr>
              <a:r>
                <a:rPr kumimoji="1" lang="en-US" altLang="zh-CN" sz="2400" b="1">
                  <a:solidFill>
                    <a:srgbClr val="FF3300"/>
                  </a:solidFill>
                </a:rPr>
                <a:t> </a:t>
              </a:r>
              <a:r>
                <a:rPr kumimoji="1" lang="en-US" altLang="zh-CN" sz="2400" b="1">
                  <a:solidFill>
                    <a:schemeClr val="tx1"/>
                  </a:solidFill>
                </a:rPr>
                <a:t>M</a:t>
              </a:r>
            </a:p>
          </p:txBody>
        </p:sp>
        <p:sp>
          <p:nvSpPr>
            <p:cNvPr id="42" name="Line 37">
              <a:extLst>
                <a:ext uri="{FF2B5EF4-FFF2-40B4-BE49-F238E27FC236}">
                  <a16:creationId xmlns:a16="http://schemas.microsoft.com/office/drawing/2014/main" id="{C6872B4F-633A-4370-B271-F38143DCCB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9" y="3022"/>
              <a:ext cx="408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43" name="Line 38">
              <a:extLst>
                <a:ext uri="{FF2B5EF4-FFF2-40B4-BE49-F238E27FC236}">
                  <a16:creationId xmlns:a16="http://schemas.microsoft.com/office/drawing/2014/main" id="{927409CB-B0EF-47EB-B4D2-D1E23CA290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0" y="2478"/>
              <a:ext cx="0" cy="317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44" name="Line 39">
              <a:extLst>
                <a:ext uri="{FF2B5EF4-FFF2-40B4-BE49-F238E27FC236}">
                  <a16:creationId xmlns:a16="http://schemas.microsoft.com/office/drawing/2014/main" id="{31EB0C78-ECF9-4236-B83F-683AEE763D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0" y="2795"/>
              <a:ext cx="771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5" name="Line 41">
              <a:extLst>
                <a:ext uri="{FF2B5EF4-FFF2-40B4-BE49-F238E27FC236}">
                  <a16:creationId xmlns:a16="http://schemas.microsoft.com/office/drawing/2014/main" id="{2C98858D-19FC-4527-B8D2-A03AF9E949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0" y="3022"/>
              <a:ext cx="0" cy="317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46" name="Line 42">
              <a:extLst>
                <a:ext uri="{FF2B5EF4-FFF2-40B4-BE49-F238E27FC236}">
                  <a16:creationId xmlns:a16="http://schemas.microsoft.com/office/drawing/2014/main" id="{D66AB6AD-463E-4E64-AD67-54C446FA81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0" y="3339"/>
              <a:ext cx="817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7" name="Oval 43">
              <a:extLst>
                <a:ext uri="{FF2B5EF4-FFF2-40B4-BE49-F238E27FC236}">
                  <a16:creationId xmlns:a16="http://schemas.microsoft.com/office/drawing/2014/main" id="{097DE7C5-C1C9-4A73-AF74-159188F6C7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5" y="2613"/>
              <a:ext cx="164" cy="682"/>
            </a:xfrm>
            <a:prstGeom prst="ellipse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8" name="Text Box 44">
              <a:extLst>
                <a:ext uri="{FF2B5EF4-FFF2-40B4-BE49-F238E27FC236}">
                  <a16:creationId xmlns:a16="http://schemas.microsoft.com/office/drawing/2014/main" id="{D3428E6E-5BBC-449F-86E0-B9E1BED8B8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08" y="2565"/>
              <a:ext cx="233" cy="7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None/>
              </a:pPr>
              <a:r>
                <a:rPr kumimoji="1" lang="en-US" altLang="zh-CN" sz="2000" b="1" dirty="0">
                  <a:solidFill>
                    <a:schemeClr val="tx1"/>
                  </a:solidFill>
                </a:rPr>
                <a:t>N</a:t>
              </a:r>
            </a:p>
            <a:p>
              <a:pPr eaLnBrk="1" hangingPunct="1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None/>
              </a:pPr>
              <a:r>
                <a:rPr kumimoji="1" lang="en-US" altLang="zh-CN" sz="2000" b="1" dirty="0">
                  <a:solidFill>
                    <a:schemeClr val="tx1"/>
                  </a:solidFill>
                </a:rPr>
                <a:t>E</a:t>
              </a:r>
            </a:p>
            <a:p>
              <a:pPr eaLnBrk="1" hangingPunct="1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None/>
              </a:pPr>
              <a:r>
                <a:rPr kumimoji="1" lang="en-US" altLang="zh-CN" sz="2000" b="1" dirty="0">
                  <a:solidFill>
                    <a:schemeClr val="tx1"/>
                  </a:solidFill>
                </a:rPr>
                <a:t>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847882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11B554B-2BFA-42B5-9AB7-E5E75525A6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Distributed shared memory</a:t>
            </a:r>
            <a:r>
              <a:rPr lang="zh-CN" altLang="en-US" dirty="0"/>
              <a:t> </a:t>
            </a:r>
            <a:r>
              <a:rPr lang="en-US" altLang="zh-CN" dirty="0"/>
              <a:t>(DSM or scalable shared memory)</a:t>
            </a:r>
          </a:p>
          <a:p>
            <a:pPr lvl="1"/>
            <a:r>
              <a:rPr lang="en-US" altLang="zh-CN" b="1" dirty="0"/>
              <a:t>logical uniform address space </a:t>
            </a:r>
            <a:r>
              <a:rPr lang="en-US" altLang="zh-CN" dirty="0"/>
              <a:t>but </a:t>
            </a:r>
            <a:r>
              <a:rPr lang="en-US" altLang="zh-CN" b="1" dirty="0"/>
              <a:t>physical distributed </a:t>
            </a:r>
            <a:r>
              <a:rPr lang="en-US" altLang="zh-CN" dirty="0"/>
              <a:t>memory, so any one of the processors can access any one of the memories.</a:t>
            </a:r>
          </a:p>
          <a:p>
            <a:pPr lvl="1"/>
            <a:r>
              <a:rPr lang="en-US" altLang="zh-CN" dirty="0"/>
              <a:t>Shared memory means </a:t>
            </a:r>
            <a:r>
              <a:rPr lang="en-US" altLang="zh-CN" b="1" dirty="0"/>
              <a:t>sharing the address space</a:t>
            </a:r>
            <a:r>
              <a:rPr lang="en-US" altLang="zh-CN" dirty="0"/>
              <a:t>, which is different from centralized shared memory.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5C1AED9-6F9C-45F6-8F41-2D886074A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Distributed-memory multiprocessor (1)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409701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A73ED819-0D3D-47C0-BE5B-A1AE1BAEA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multiple computers </a:t>
            </a:r>
          </a:p>
          <a:p>
            <a:pPr lvl="1"/>
            <a:r>
              <a:rPr lang="en-US" altLang="zh-CN" dirty="0"/>
              <a:t>Address space consists of </a:t>
            </a:r>
            <a:r>
              <a:rPr lang="en-US" altLang="zh-CN" b="1" dirty="0"/>
              <a:t>multiple private (separate) address spaces</a:t>
            </a:r>
            <a:r>
              <a:rPr lang="en-US" altLang="zh-CN" dirty="0"/>
              <a:t>.</a:t>
            </a:r>
            <a:r>
              <a:rPr lang="zh-CN" altLang="en-US" dirty="0"/>
              <a:t> </a:t>
            </a:r>
            <a:r>
              <a:rPr lang="en-US" altLang="zh-CN" dirty="0"/>
              <a:t>A processor can </a:t>
            </a:r>
            <a:r>
              <a:rPr lang="en-US" altLang="zh-CN" b="1" dirty="0"/>
              <a:t>NOT</a:t>
            </a:r>
            <a:r>
              <a:rPr lang="en-US" altLang="zh-CN" dirty="0"/>
              <a:t> access the remote memory node directly.</a:t>
            </a:r>
          </a:p>
          <a:p>
            <a:pPr lvl="1"/>
            <a:r>
              <a:rPr lang="en-US" altLang="zh-CN" dirty="0"/>
              <a:t>Every node (processor-memory pair)</a:t>
            </a:r>
            <a:r>
              <a:rPr lang="zh-CN" altLang="en-US" dirty="0"/>
              <a:t> </a:t>
            </a:r>
            <a:r>
              <a:rPr lang="en-US" altLang="zh-CN" dirty="0"/>
              <a:t>is a independent computer.</a:t>
            </a:r>
          </a:p>
          <a:p>
            <a:pPr lvl="1"/>
            <a:r>
              <a:rPr lang="en-US" altLang="zh-CN" dirty="0"/>
              <a:t>NOW (Network of Workstation) is consisted of multiple node (PC or workstation) connected by LAN</a:t>
            </a:r>
          </a:p>
          <a:p>
            <a:pPr lvl="1"/>
            <a:r>
              <a:rPr lang="en-US" altLang="zh-CN" dirty="0"/>
              <a:t>PC cluster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657A3D5-3DA4-4EAE-9515-35723C15E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Distributed-memory multiprocessor (2)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207236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7EB1C645-CC70-4A22-8441-C742B346D7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Parallel Architecture extends traditional computer architecture with a </a:t>
            </a:r>
            <a:r>
              <a:rPr lang="en-US" altLang="zh-CN" b="1" dirty="0"/>
              <a:t>communication architecture</a:t>
            </a:r>
          </a:p>
          <a:p>
            <a:pPr lvl="1"/>
            <a:r>
              <a:rPr lang="en-US" altLang="zh-CN" b="1" dirty="0"/>
              <a:t>abstractions (HW/SW interface)</a:t>
            </a:r>
          </a:p>
          <a:p>
            <a:pPr lvl="1"/>
            <a:r>
              <a:rPr lang="en-US" altLang="zh-CN" dirty="0"/>
              <a:t>organizational structure to realize abstraction efficiently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9A333F5-2DE8-49AB-9C74-2CDE6A855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Parallel Architecture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620018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0F0F68B-FA57-4F27-8C5A-B43E02B46F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Programming Model:</a:t>
            </a:r>
          </a:p>
          <a:p>
            <a:pPr lvl="1"/>
            <a:r>
              <a:rPr lang="en-US" altLang="zh-CN" b="1" dirty="0"/>
              <a:t>Multiprogramming</a:t>
            </a:r>
            <a:r>
              <a:rPr lang="en-US" altLang="zh-CN" dirty="0"/>
              <a:t>: lots of jobs, no communication</a:t>
            </a:r>
          </a:p>
          <a:p>
            <a:pPr lvl="1"/>
            <a:r>
              <a:rPr lang="en-US" altLang="zh-CN" b="1" dirty="0"/>
              <a:t>Shared address space</a:t>
            </a:r>
            <a:r>
              <a:rPr lang="en-US" altLang="zh-CN" dirty="0"/>
              <a:t>: communicate via memory</a:t>
            </a:r>
          </a:p>
          <a:p>
            <a:pPr lvl="1"/>
            <a:r>
              <a:rPr lang="en-US" altLang="zh-CN" b="1" dirty="0"/>
              <a:t>Message passing</a:t>
            </a:r>
            <a:r>
              <a:rPr lang="en-US" altLang="zh-CN" dirty="0"/>
              <a:t>: send and receive messages</a:t>
            </a:r>
          </a:p>
          <a:p>
            <a:pPr lvl="1"/>
            <a:r>
              <a:rPr lang="en-US" altLang="zh-CN" b="1" dirty="0"/>
              <a:t>Data Parallel</a:t>
            </a:r>
            <a:r>
              <a:rPr lang="en-US" altLang="zh-CN" dirty="0"/>
              <a:t>: several agents operate on several data sets simultaneously and then exchange information globally and simultaneously (shared or message passing)</a:t>
            </a:r>
          </a:p>
          <a:p>
            <a:r>
              <a:rPr lang="en-US" altLang="zh-CN" dirty="0"/>
              <a:t>Communication Abstraction:</a:t>
            </a:r>
          </a:p>
          <a:p>
            <a:pPr lvl="1"/>
            <a:r>
              <a:rPr lang="en-US" altLang="zh-CN" b="1" dirty="0"/>
              <a:t>Shared address space</a:t>
            </a:r>
            <a:r>
              <a:rPr lang="en-US" altLang="zh-CN" dirty="0"/>
              <a:t>: e.g., load, store, atomic swap</a:t>
            </a:r>
          </a:p>
          <a:p>
            <a:pPr lvl="1"/>
            <a:r>
              <a:rPr lang="en-US" altLang="zh-CN" b="1" dirty="0"/>
              <a:t>Message passing</a:t>
            </a:r>
            <a:r>
              <a:rPr lang="en-US" altLang="zh-CN" dirty="0"/>
              <a:t>: e.g., send, receive library calls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3160EBA-F9E8-4CCC-B87B-9AAEEB969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Parallel Framework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568477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AC7FDF27-A368-4982-BBB4-87D0B5185D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172" y="1124744"/>
            <a:ext cx="10427656" cy="4419600"/>
          </a:xfrm>
        </p:spPr>
        <p:txBody>
          <a:bodyPr/>
          <a:lstStyle/>
          <a:p>
            <a:r>
              <a:rPr lang="en-US" altLang="zh-CN" dirty="0"/>
              <a:t>Each </a:t>
            </a:r>
            <a:r>
              <a:rPr lang="en-US" altLang="zh-CN" b="1" dirty="0"/>
              <a:t>processor</a:t>
            </a:r>
            <a:r>
              <a:rPr lang="en-US" altLang="zh-CN" dirty="0"/>
              <a:t> can name every </a:t>
            </a:r>
            <a:r>
              <a:rPr lang="en-US" altLang="zh-CN" b="1" dirty="0"/>
              <a:t>physical location</a:t>
            </a:r>
            <a:r>
              <a:rPr lang="en-US" altLang="zh-CN" dirty="0"/>
              <a:t> in the machine</a:t>
            </a:r>
          </a:p>
          <a:p>
            <a:r>
              <a:rPr lang="en-US" altLang="zh-CN" dirty="0"/>
              <a:t>Each </a:t>
            </a:r>
            <a:r>
              <a:rPr lang="en-US" altLang="zh-CN" b="1" dirty="0"/>
              <a:t>process</a:t>
            </a:r>
            <a:r>
              <a:rPr lang="en-US" altLang="zh-CN" dirty="0"/>
              <a:t> can name all data that  shares with other processes</a:t>
            </a:r>
          </a:p>
          <a:p>
            <a:r>
              <a:rPr lang="en-US" altLang="zh-CN" dirty="0"/>
              <a:t>Data transfer via </a:t>
            </a:r>
            <a:r>
              <a:rPr lang="en-US" altLang="zh-CN" b="1" dirty="0"/>
              <a:t>load and store</a:t>
            </a:r>
          </a:p>
          <a:p>
            <a:r>
              <a:rPr lang="en-US" altLang="zh-CN" dirty="0"/>
              <a:t>Data size: byte, word, ... or cache blocks</a:t>
            </a:r>
          </a:p>
          <a:p>
            <a:r>
              <a:rPr lang="en-US" altLang="zh-CN" dirty="0"/>
              <a:t>Uses virtual memory to map virtual space to local or remote physical space</a:t>
            </a:r>
          </a:p>
          <a:p>
            <a:r>
              <a:rPr lang="en-US" altLang="zh-CN" dirty="0"/>
              <a:t>Memory hierarchy model applies: now communication moves data to local processor cache (as load moves data from memory to cache)</a:t>
            </a:r>
          </a:p>
          <a:p>
            <a:pPr lvl="1"/>
            <a:r>
              <a:rPr lang="en-US" altLang="zh-CN" dirty="0"/>
              <a:t>Latency, Bandwidth, scalability when communicate?</a:t>
            </a:r>
          </a:p>
          <a:p>
            <a:r>
              <a:rPr lang="en-US" altLang="zh-CN" dirty="0"/>
              <a:t>For distributed memory architecture, a layer (software or hardware) is generally added to allow transparent address mapping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39B14E1-0EC5-456F-BF6C-2F72529EF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Shared Address Model-1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10638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D75D987-E86E-48E7-AE4C-DF2684A6B7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172" y="1052736"/>
            <a:ext cx="10427656" cy="4419600"/>
          </a:xfrm>
        </p:spPr>
        <p:txBody>
          <a:bodyPr/>
          <a:lstStyle/>
          <a:p>
            <a:r>
              <a:rPr lang="en-US" altLang="zh-CN" dirty="0"/>
              <a:t>Significant research has been conducted to make the translation transparent and scalable for many node</a:t>
            </a:r>
            <a:endParaRPr lang="zh-CN" altLang="en-US" dirty="0"/>
          </a:p>
          <a:p>
            <a:r>
              <a:rPr lang="en-US" altLang="zh-CN" b="1" dirty="0"/>
              <a:t>Handling data consistency and protection is typically a challenge</a:t>
            </a:r>
          </a:p>
          <a:p>
            <a:r>
              <a:rPr lang="en-US" altLang="zh-CN" dirty="0"/>
              <a:t>For multi-computer systems, address mapping has to be performed by software modules, typically added as part of the operating system</a:t>
            </a:r>
            <a:endParaRPr lang="zh-CN" altLang="en-US" dirty="0"/>
          </a:p>
          <a:p>
            <a:r>
              <a:rPr lang="en-US" altLang="zh-CN" dirty="0"/>
              <a:t>Latency depends on the underlined hardware architecture (bus bandwidth, memory access time and support for address translation)</a:t>
            </a:r>
            <a:endParaRPr lang="zh-CN" altLang="en-US" dirty="0"/>
          </a:p>
          <a:p>
            <a:r>
              <a:rPr lang="en-US" altLang="zh-CN" b="1" dirty="0"/>
              <a:t>Scalability is limited</a:t>
            </a:r>
            <a:r>
              <a:rPr lang="en-US" altLang="zh-CN" dirty="0"/>
              <a:t> given that the communication model is so tightly coupled with process address space*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0A93423-BDB4-432B-B2F5-6602067CE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Shared Address Model-2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07530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E0D3570E-E4A4-4946-8DB6-0CD15CFEA6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172" y="836712"/>
            <a:ext cx="10427656" cy="4419600"/>
          </a:xfrm>
        </p:spPr>
        <p:txBody>
          <a:bodyPr/>
          <a:lstStyle/>
          <a:p>
            <a:r>
              <a:rPr lang="en-US" altLang="zh-CN" dirty="0"/>
              <a:t>Whole computers (CPU, memory, I/O devices) communicate as </a:t>
            </a:r>
            <a:r>
              <a:rPr lang="en-US" altLang="zh-CN" b="1" dirty="0"/>
              <a:t>explicit I/O operations</a:t>
            </a:r>
          </a:p>
          <a:p>
            <a:pPr lvl="1"/>
            <a:r>
              <a:rPr lang="en-US" altLang="zh-CN" dirty="0"/>
              <a:t>Essentially NUMA but integrated at I/O devices vs. memory system</a:t>
            </a:r>
          </a:p>
          <a:p>
            <a:r>
              <a:rPr lang="en-US" altLang="zh-CN" b="1" dirty="0"/>
              <a:t>Send</a:t>
            </a:r>
            <a:r>
              <a:rPr lang="en-US" altLang="zh-CN" dirty="0"/>
              <a:t> specifies local buffer + receiving process on remote computer</a:t>
            </a:r>
          </a:p>
          <a:p>
            <a:r>
              <a:rPr lang="en-US" altLang="zh-CN" b="1" dirty="0"/>
              <a:t>Receive</a:t>
            </a:r>
            <a:r>
              <a:rPr lang="en-US" altLang="zh-CN" dirty="0"/>
              <a:t> specifies sending process on remote computer + local buffer to place data</a:t>
            </a:r>
          </a:p>
          <a:p>
            <a:pPr lvl="1"/>
            <a:r>
              <a:rPr lang="en-US" altLang="zh-CN" dirty="0"/>
              <a:t>Usually send includes process tag </a:t>
            </a:r>
            <a:br>
              <a:rPr lang="en-US" altLang="zh-CN" dirty="0"/>
            </a:br>
            <a:r>
              <a:rPr lang="en-US" altLang="zh-CN" dirty="0"/>
              <a:t>and receive has rule on tag: match 1, match any</a:t>
            </a:r>
          </a:p>
          <a:p>
            <a:pPr lvl="1"/>
            <a:r>
              <a:rPr lang="en-US" altLang="zh-CN" b="1" dirty="0"/>
              <a:t>Synch</a:t>
            </a:r>
            <a:r>
              <a:rPr lang="en-US" altLang="zh-CN" dirty="0"/>
              <a:t>: when send completes, when buffer free, when request accepted, receive wait for send</a:t>
            </a:r>
          </a:p>
          <a:p>
            <a:r>
              <a:rPr lang="en-US" altLang="zh-CN" dirty="0"/>
              <a:t>Send + receive =&gt; memory-memory copy, where each supplies local address, AND does pairwise synchronization!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1360031-09FD-4931-B1D8-CAA521D81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Message Passing Model-1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043327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E586D0CC-92D5-4D72-83E7-7B590EAE05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172" y="1052736"/>
            <a:ext cx="10427656" cy="5040560"/>
          </a:xfrm>
        </p:spPr>
        <p:txBody>
          <a:bodyPr/>
          <a:lstStyle/>
          <a:p>
            <a:r>
              <a:rPr lang="en-US" altLang="zh-CN" dirty="0"/>
              <a:t>History of message passing:</a:t>
            </a:r>
          </a:p>
          <a:p>
            <a:pPr lvl="1"/>
            <a:r>
              <a:rPr lang="en-US" altLang="zh-CN" dirty="0"/>
              <a:t>Network topology important because could only send to immediate neighbor</a:t>
            </a:r>
          </a:p>
          <a:p>
            <a:pPr lvl="1"/>
            <a:r>
              <a:rPr lang="en-US" altLang="zh-CN" dirty="0"/>
              <a:t>Typically synchronous, blocking send &amp; receive</a:t>
            </a:r>
          </a:p>
          <a:p>
            <a:pPr lvl="1"/>
            <a:r>
              <a:rPr lang="en-US" altLang="zh-CN" dirty="0"/>
              <a:t>Later DMA with non-blocking sends, DMA for receive into buffer until processor does receive, and then data is transferred to local memory</a:t>
            </a:r>
          </a:p>
          <a:p>
            <a:pPr lvl="1"/>
            <a:r>
              <a:rPr lang="en-US" altLang="zh-CN" dirty="0"/>
              <a:t>Later SW libraries to allow arbitrary communication</a:t>
            </a:r>
          </a:p>
          <a:p>
            <a:r>
              <a:rPr lang="en-US" altLang="zh-CN" dirty="0"/>
              <a:t>Example: </a:t>
            </a:r>
          </a:p>
          <a:p>
            <a:pPr lvl="1"/>
            <a:r>
              <a:rPr lang="en-US" altLang="zh-CN" dirty="0"/>
              <a:t>IBM SP-2, RS6000 workstations in racks</a:t>
            </a:r>
          </a:p>
          <a:p>
            <a:pPr lvl="1"/>
            <a:r>
              <a:rPr lang="en-US" altLang="zh-CN" dirty="0"/>
              <a:t>Network Interface Card has Intel 960</a:t>
            </a:r>
          </a:p>
          <a:p>
            <a:pPr lvl="1"/>
            <a:r>
              <a:rPr lang="en-US" altLang="zh-CN" dirty="0"/>
              <a:t>8X8 Crossbar switch as communication building block</a:t>
            </a:r>
          </a:p>
          <a:p>
            <a:pPr lvl="1"/>
            <a:r>
              <a:rPr lang="en-US" altLang="zh-CN" dirty="0"/>
              <a:t>40 MB/sec per link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29CE62C-174F-488A-8A74-AE5E26A15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Message Passing Model-2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779782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3F126F2-A944-4609-BC65-E3CE6AF999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Shared Memory (multiprocessors)</a:t>
            </a:r>
          </a:p>
          <a:p>
            <a:pPr lvl="1"/>
            <a:r>
              <a:rPr lang="en-US" altLang="zh-CN" dirty="0"/>
              <a:t>One shared address space</a:t>
            </a:r>
          </a:p>
          <a:p>
            <a:pPr lvl="1"/>
            <a:r>
              <a:rPr lang="en-US" altLang="zh-CN" dirty="0"/>
              <a:t>Processors </a:t>
            </a:r>
            <a:r>
              <a:rPr lang="en-US" altLang="zh-CN" b="1" dirty="0"/>
              <a:t>use conventional load/stores to access shared data</a:t>
            </a:r>
          </a:p>
          <a:p>
            <a:pPr lvl="1"/>
            <a:r>
              <a:rPr lang="en-US" altLang="zh-CN" dirty="0"/>
              <a:t>Communication can be complex/dynamic</a:t>
            </a:r>
          </a:p>
          <a:p>
            <a:pPr lvl="1"/>
            <a:r>
              <a:rPr lang="en-US" altLang="zh-CN" b="1" dirty="0"/>
              <a:t>Simpler programming model</a:t>
            </a:r>
            <a:r>
              <a:rPr lang="en-US" altLang="zh-CN" dirty="0"/>
              <a:t> (compatible with uniprocessors)</a:t>
            </a:r>
          </a:p>
          <a:p>
            <a:pPr lvl="1"/>
            <a:r>
              <a:rPr lang="en-US" altLang="zh-CN" dirty="0"/>
              <a:t>Hardware controlled caching is useful to reduce latency contention</a:t>
            </a:r>
          </a:p>
          <a:p>
            <a:pPr lvl="1"/>
            <a:r>
              <a:rPr lang="en-US" altLang="zh-CN" dirty="0"/>
              <a:t>Has </a:t>
            </a:r>
            <a:r>
              <a:rPr lang="en-US" altLang="zh-CN" b="1" dirty="0"/>
              <a:t>drawbacks</a:t>
            </a:r>
          </a:p>
          <a:p>
            <a:pPr lvl="2"/>
            <a:r>
              <a:rPr lang="en-US" altLang="zh-CN" b="1" dirty="0"/>
              <a:t>Synchronization</a:t>
            </a:r>
            <a:r>
              <a:rPr lang="en-US" altLang="zh-CN" dirty="0"/>
              <a:t> (discussed later)</a:t>
            </a:r>
          </a:p>
          <a:p>
            <a:pPr lvl="2"/>
            <a:r>
              <a:rPr lang="en-US" altLang="zh-CN" b="1" dirty="0"/>
              <a:t>More complex hardware </a:t>
            </a:r>
            <a:r>
              <a:rPr lang="en-US" altLang="zh-CN" dirty="0"/>
              <a:t>needed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7DC4091-C570-4301-863F-0B3AD3900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Shared Memory vs. Message Passing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842002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80179DB0-7D51-458F-B28B-74E45327FD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MIMD (appearance of memory to software)</a:t>
            </a:r>
          </a:p>
          <a:p>
            <a:r>
              <a:rPr lang="en-US" altLang="zh-CN" dirty="0"/>
              <a:t>Message Passing (</a:t>
            </a:r>
            <a:r>
              <a:rPr lang="en-US" altLang="zh-CN" dirty="0" err="1"/>
              <a:t>multicomputers</a:t>
            </a:r>
            <a:r>
              <a:rPr lang="en-US" altLang="zh-CN" dirty="0"/>
              <a:t>)</a:t>
            </a:r>
          </a:p>
          <a:p>
            <a:pPr lvl="1"/>
            <a:r>
              <a:rPr lang="en-US" altLang="zh-CN" dirty="0"/>
              <a:t>Each processor has its own address space</a:t>
            </a:r>
          </a:p>
          <a:p>
            <a:pPr lvl="1"/>
            <a:r>
              <a:rPr lang="en-US" altLang="zh-CN" dirty="0"/>
              <a:t>Processors send and receive messages to and from each</a:t>
            </a:r>
          </a:p>
          <a:p>
            <a:pPr lvl="1"/>
            <a:r>
              <a:rPr lang="en-US" altLang="zh-CN" dirty="0"/>
              <a:t>other</a:t>
            </a:r>
          </a:p>
          <a:p>
            <a:pPr lvl="1"/>
            <a:r>
              <a:rPr lang="en-US" altLang="zh-CN" b="1" dirty="0"/>
              <a:t>Communication patterns explicit and precise</a:t>
            </a:r>
          </a:p>
          <a:p>
            <a:pPr lvl="1"/>
            <a:r>
              <a:rPr lang="en-US" altLang="zh-CN" dirty="0"/>
              <a:t>Explicit messaging forces programmer to optimize this</a:t>
            </a:r>
          </a:p>
          <a:p>
            <a:pPr lvl="1"/>
            <a:r>
              <a:rPr lang="en-US" altLang="zh-CN" dirty="0"/>
              <a:t>Used for scientific codes (explicit communication)</a:t>
            </a:r>
          </a:p>
          <a:p>
            <a:pPr lvl="1"/>
            <a:r>
              <a:rPr lang="en-US" altLang="zh-CN" dirty="0"/>
              <a:t>Message passing systems: PVM, MPI, OpenMP</a:t>
            </a:r>
          </a:p>
          <a:p>
            <a:pPr lvl="1"/>
            <a:r>
              <a:rPr lang="en-US" altLang="zh-CN" b="1" dirty="0"/>
              <a:t>Simple Hardware</a:t>
            </a:r>
          </a:p>
          <a:p>
            <a:pPr lvl="1"/>
            <a:r>
              <a:rPr lang="en-US" altLang="zh-CN" b="1" dirty="0"/>
              <a:t>Difficult programming Model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6ABDB42-CB6D-4CBF-B077-4D5CF4855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Shared Memory vs. Message Passing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535909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59EF78D-91DB-4AE2-9C25-FB164428E0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172" y="836712"/>
            <a:ext cx="10427656" cy="5616624"/>
          </a:xfrm>
        </p:spPr>
        <p:txBody>
          <a:bodyPr/>
          <a:lstStyle/>
          <a:p>
            <a:r>
              <a:rPr lang="en-US" altLang="zh-CN" dirty="0"/>
              <a:t>Shared Memory</a:t>
            </a:r>
          </a:p>
          <a:p>
            <a:pPr lvl="1"/>
            <a:r>
              <a:rPr lang="en-US" altLang="zh-CN" dirty="0"/>
              <a:t>Processors communicate with shared address space</a:t>
            </a:r>
          </a:p>
          <a:p>
            <a:pPr lvl="1"/>
            <a:r>
              <a:rPr lang="en-US" altLang="zh-CN" dirty="0"/>
              <a:t>Easy on small-scale machines</a:t>
            </a:r>
          </a:p>
          <a:p>
            <a:pPr lvl="1"/>
            <a:r>
              <a:rPr lang="en-US" altLang="zh-CN" dirty="0"/>
              <a:t>Advantages:</a:t>
            </a:r>
          </a:p>
          <a:p>
            <a:pPr lvl="2"/>
            <a:r>
              <a:rPr lang="en-US" altLang="zh-CN" dirty="0"/>
              <a:t>Model of choice for uniprocessors, small-scale MPs</a:t>
            </a:r>
          </a:p>
          <a:p>
            <a:pPr lvl="2"/>
            <a:r>
              <a:rPr lang="en-US" altLang="zh-CN" dirty="0"/>
              <a:t>Ease of programming</a:t>
            </a:r>
          </a:p>
          <a:p>
            <a:pPr lvl="2"/>
            <a:r>
              <a:rPr lang="en-US" altLang="zh-CN" dirty="0"/>
              <a:t>Lower latency</a:t>
            </a:r>
          </a:p>
          <a:p>
            <a:pPr lvl="2"/>
            <a:r>
              <a:rPr lang="en-US" altLang="zh-CN" dirty="0"/>
              <a:t>Easier to use hardware controlled caching</a:t>
            </a:r>
          </a:p>
          <a:p>
            <a:r>
              <a:rPr lang="en-US" altLang="zh-CN" dirty="0"/>
              <a:t>Message passing</a:t>
            </a:r>
          </a:p>
          <a:p>
            <a:pPr lvl="1"/>
            <a:r>
              <a:rPr lang="en-US" altLang="zh-CN" dirty="0"/>
              <a:t>Processors have private memories, communicate via messages</a:t>
            </a:r>
          </a:p>
          <a:p>
            <a:pPr lvl="1"/>
            <a:r>
              <a:rPr lang="en-US" altLang="zh-CN" dirty="0"/>
              <a:t>Advantages:</a:t>
            </a:r>
          </a:p>
          <a:p>
            <a:pPr lvl="2"/>
            <a:r>
              <a:rPr lang="en-US" altLang="zh-CN" dirty="0"/>
              <a:t>Less hardware, easier to design</a:t>
            </a:r>
          </a:p>
          <a:p>
            <a:pPr lvl="2"/>
            <a:r>
              <a:rPr lang="en-US" altLang="zh-CN" dirty="0"/>
              <a:t>Focuses attention on costly </a:t>
            </a:r>
            <a:r>
              <a:rPr lang="en-US" altLang="zh-CN" b="1" dirty="0"/>
              <a:t>non-local</a:t>
            </a:r>
            <a:r>
              <a:rPr lang="en-US" altLang="zh-CN" dirty="0"/>
              <a:t> operations</a:t>
            </a:r>
          </a:p>
          <a:p>
            <a:r>
              <a:rPr lang="en-US" altLang="zh-CN" b="1" dirty="0"/>
              <a:t>Can support either SW model on either HW base</a:t>
            </a:r>
            <a:endParaRPr lang="zh-CN" altLang="en-US" b="1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4A23D88-AC90-41FA-969C-8D519F83A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Communication Models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772070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775F7A-5742-4999-BF41-886ECCBB5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Parallel Systems (80s and 90s)</a:t>
            </a:r>
            <a:endParaRPr lang="zh-CN" altLang="en-US" dirty="0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AC47B7BA-4A2C-4A9C-9DB8-4F4FFA5FE2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865" y="1268760"/>
            <a:ext cx="10400270" cy="4509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7939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D49F4A12-BB8C-4171-B18B-127E281E05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Shared Memory</a:t>
            </a:r>
          </a:p>
          <a:p>
            <a:pPr lvl="1"/>
            <a:r>
              <a:rPr lang="en-US" altLang="zh-CN" dirty="0"/>
              <a:t>Easier, more dynamic programming model</a:t>
            </a:r>
          </a:p>
          <a:p>
            <a:pPr lvl="1"/>
            <a:r>
              <a:rPr lang="en-US" altLang="zh-CN" dirty="0"/>
              <a:t>Can do more to optimize the hardware</a:t>
            </a:r>
          </a:p>
          <a:p>
            <a:r>
              <a:rPr lang="en-US" altLang="zh-CN" b="1" dirty="0"/>
              <a:t>Small-to-medium size UMA </a:t>
            </a:r>
            <a:r>
              <a:rPr lang="en-US" altLang="zh-CN" dirty="0"/>
              <a:t>systems (2-8 processors)</a:t>
            </a:r>
          </a:p>
          <a:p>
            <a:pPr lvl="1"/>
            <a:r>
              <a:rPr lang="en-US" altLang="zh-CN" dirty="0"/>
              <a:t>Processor + memory + switch on single board (4x Pentium)</a:t>
            </a:r>
          </a:p>
          <a:p>
            <a:pPr lvl="1"/>
            <a:r>
              <a:rPr lang="en-US" altLang="zh-CN" dirty="0"/>
              <a:t>Single-chip multiprocessors (POWER4)</a:t>
            </a:r>
          </a:p>
          <a:p>
            <a:pPr lvl="1"/>
            <a:r>
              <a:rPr lang="en-US" altLang="zh-CN" dirty="0"/>
              <a:t>Commodity parts soon – </a:t>
            </a:r>
            <a:r>
              <a:rPr lang="en-US" altLang="zh-CN" dirty="0" err="1"/>
              <a:t>glueless</a:t>
            </a:r>
            <a:r>
              <a:rPr lang="en-US" altLang="zh-CN" dirty="0"/>
              <a:t> MP systems</a:t>
            </a:r>
          </a:p>
          <a:p>
            <a:r>
              <a:rPr lang="en-US" altLang="zh-CN" b="1" dirty="0"/>
              <a:t>Larger NUMAs </a:t>
            </a:r>
            <a:r>
              <a:rPr lang="en-US" altLang="zh-CN" dirty="0"/>
              <a:t>built from smaller UMAs</a:t>
            </a:r>
          </a:p>
          <a:p>
            <a:pPr lvl="1"/>
            <a:r>
              <a:rPr lang="en-US" altLang="zh-CN" dirty="0"/>
              <a:t>Use commodity small UMAs with commodity interconnects (ethernet, </a:t>
            </a:r>
            <a:r>
              <a:rPr lang="en-US" altLang="zh-CN" dirty="0" err="1"/>
              <a:t>myrinet</a:t>
            </a:r>
            <a:r>
              <a:rPr lang="en-US" altLang="zh-CN" dirty="0"/>
              <a:t>)</a:t>
            </a:r>
          </a:p>
          <a:p>
            <a:pPr lvl="1"/>
            <a:r>
              <a:rPr lang="en-US" altLang="zh-CN" dirty="0"/>
              <a:t>NUMA clusters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D5B64FD-9E38-47FE-BBFA-33032AEA1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Multiprocessor Trends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460164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B52F328-C0C5-442B-92A6-6ABC588001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441" y="1196752"/>
            <a:ext cx="10649118" cy="4968552"/>
          </a:xfrm>
        </p:spPr>
        <p:txBody>
          <a:bodyPr/>
          <a:lstStyle/>
          <a:p>
            <a:r>
              <a:rPr lang="en-US" altLang="zh-CN" b="1" dirty="0"/>
              <a:t>Naming</a:t>
            </a:r>
            <a:r>
              <a:rPr lang="en-US" altLang="zh-CN" dirty="0"/>
              <a:t>: how to solve large problem fast</a:t>
            </a:r>
          </a:p>
          <a:p>
            <a:pPr lvl="1"/>
            <a:r>
              <a:rPr lang="en-US" altLang="zh-CN" b="1" dirty="0"/>
              <a:t>what data is shared</a:t>
            </a:r>
          </a:p>
          <a:p>
            <a:pPr lvl="1"/>
            <a:r>
              <a:rPr lang="en-US" altLang="zh-CN" b="1" dirty="0"/>
              <a:t>how it is addressed</a:t>
            </a:r>
          </a:p>
          <a:p>
            <a:pPr lvl="1"/>
            <a:r>
              <a:rPr lang="en-US" altLang="zh-CN" b="1" dirty="0"/>
              <a:t>what operations can access data</a:t>
            </a:r>
          </a:p>
          <a:p>
            <a:pPr lvl="1"/>
            <a:r>
              <a:rPr lang="en-US" altLang="zh-CN" b="1" dirty="0"/>
              <a:t>how processes refer to each other</a:t>
            </a:r>
          </a:p>
          <a:p>
            <a:r>
              <a:rPr lang="en-US" altLang="zh-CN" dirty="0"/>
              <a:t>Choice of naming affects </a:t>
            </a:r>
            <a:r>
              <a:rPr lang="en-US" altLang="zh-CN" b="1" dirty="0"/>
              <a:t>code</a:t>
            </a:r>
            <a:r>
              <a:rPr lang="en-US" altLang="zh-CN" dirty="0"/>
              <a:t> produced by a compiler; via load where just remember address or keep track of processor number and local virtual address for message passing</a:t>
            </a:r>
          </a:p>
          <a:p>
            <a:r>
              <a:rPr lang="en-US" altLang="zh-CN" dirty="0"/>
              <a:t>Choice of naming affects </a:t>
            </a:r>
            <a:r>
              <a:rPr lang="en-US" altLang="zh-CN" b="1" dirty="0"/>
              <a:t>replication of data</a:t>
            </a:r>
            <a:r>
              <a:rPr lang="en-US" altLang="zh-CN" dirty="0"/>
              <a:t>; via load in cache memory hierarchy or via SW replication and consistency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6022EBD-F368-49F1-B31E-002976831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Fundamental Issues_1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77484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8094C03B-A825-49C9-9FE3-D6B2594C04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Global physical address space</a:t>
            </a:r>
            <a:r>
              <a:rPr lang="en-US" altLang="zh-CN" dirty="0"/>
              <a:t>: any processor can generate, address and access it in a single operation</a:t>
            </a:r>
          </a:p>
          <a:p>
            <a:r>
              <a:rPr lang="en-US" altLang="zh-CN" b="1" dirty="0"/>
              <a:t>Global virtual address space</a:t>
            </a:r>
            <a:r>
              <a:rPr lang="en-US" altLang="zh-CN" dirty="0"/>
              <a:t>: if the address space of each process can be configured to contain all shared data of the parallel program</a:t>
            </a:r>
          </a:p>
          <a:p>
            <a:r>
              <a:rPr lang="en-US" altLang="zh-CN" dirty="0"/>
              <a:t>memory can be anywhere: virtual address translation handles it</a:t>
            </a:r>
          </a:p>
          <a:p>
            <a:r>
              <a:rPr lang="en-US" altLang="zh-CN" b="1" dirty="0"/>
              <a:t>Segmented shared address space</a:t>
            </a:r>
            <a:r>
              <a:rPr lang="en-US" altLang="zh-CN" dirty="0"/>
              <a:t>: locations are named &lt;process number, address&gt;</a:t>
            </a:r>
          </a:p>
          <a:p>
            <a:r>
              <a:rPr lang="en-US" altLang="zh-CN" dirty="0"/>
              <a:t>uniformly for all processes of the parallel program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ED0A89A-F398-43B0-B668-49578B77F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Fundamental Issues_2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779315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1510D39-401E-4C8A-AA3C-5E26437DAA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Synchronization</a:t>
            </a:r>
            <a:r>
              <a:rPr lang="en-US" altLang="zh-CN" dirty="0"/>
              <a:t>: </a:t>
            </a:r>
          </a:p>
          <a:p>
            <a:r>
              <a:rPr lang="en-US" altLang="zh-CN" dirty="0"/>
              <a:t>To cooperate, processes must coordinate</a:t>
            </a:r>
          </a:p>
          <a:p>
            <a:r>
              <a:rPr lang="en-US" altLang="zh-CN" dirty="0"/>
              <a:t>Message passing is implicit coordination with transmission or arrival of data</a:t>
            </a:r>
          </a:p>
          <a:p>
            <a:r>
              <a:rPr lang="en-US" altLang="zh-CN" dirty="0"/>
              <a:t>Shared address =&gt; additional operations to explicitly coordinate: e.g., write a flag, awaken a thread, interrupt a processor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A74420E-8596-4860-A835-57D4B0E90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Fundamental Issues_3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790879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2D5A27E-472B-4320-82BA-B12F5B0541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172" y="836712"/>
            <a:ext cx="10427656" cy="5616624"/>
          </a:xfrm>
        </p:spPr>
        <p:txBody>
          <a:bodyPr/>
          <a:lstStyle/>
          <a:p>
            <a:r>
              <a:rPr lang="en-US" altLang="zh-CN" dirty="0"/>
              <a:t>Bandwidth</a:t>
            </a:r>
          </a:p>
          <a:p>
            <a:pPr lvl="1"/>
            <a:r>
              <a:rPr lang="en-US" altLang="zh-CN" dirty="0"/>
              <a:t>Need high bandwidth in communication</a:t>
            </a:r>
          </a:p>
          <a:p>
            <a:pPr lvl="1"/>
            <a:r>
              <a:rPr lang="en-US" altLang="zh-CN" dirty="0"/>
              <a:t>Match limits in network, memory, and processor</a:t>
            </a:r>
          </a:p>
          <a:p>
            <a:pPr lvl="1"/>
            <a:r>
              <a:rPr lang="en-US" altLang="zh-CN" dirty="0"/>
              <a:t>Challenge is link speed of network interface vs. bisection bandwidth of network</a:t>
            </a:r>
          </a:p>
          <a:p>
            <a:r>
              <a:rPr lang="en-US" altLang="zh-CN" dirty="0"/>
              <a:t>Latency</a:t>
            </a:r>
          </a:p>
          <a:p>
            <a:pPr lvl="1"/>
            <a:r>
              <a:rPr lang="en-US" altLang="zh-CN" dirty="0"/>
              <a:t>Affects performance, since processor may have to wait</a:t>
            </a:r>
          </a:p>
          <a:p>
            <a:pPr lvl="1"/>
            <a:r>
              <a:rPr lang="en-US" altLang="zh-CN" dirty="0"/>
              <a:t>Affects ease of programming, since requires more thought to overlap communication and computation</a:t>
            </a:r>
          </a:p>
          <a:p>
            <a:pPr lvl="1"/>
            <a:r>
              <a:rPr lang="en-US" altLang="zh-CN" dirty="0"/>
              <a:t>Overhead to communicate is a problem in many machines</a:t>
            </a:r>
          </a:p>
          <a:p>
            <a:r>
              <a:rPr lang="en-US" altLang="zh-CN" dirty="0"/>
              <a:t>Latency Hiding</a:t>
            </a:r>
          </a:p>
          <a:p>
            <a:pPr lvl="1"/>
            <a:r>
              <a:rPr lang="en-US" altLang="zh-CN" dirty="0"/>
              <a:t>How can a mechanism help hide latency?</a:t>
            </a:r>
          </a:p>
          <a:p>
            <a:pPr lvl="1"/>
            <a:r>
              <a:rPr lang="en-US" altLang="zh-CN" dirty="0"/>
              <a:t>Increases programming system burden</a:t>
            </a:r>
          </a:p>
          <a:p>
            <a:pPr lvl="1"/>
            <a:r>
              <a:rPr lang="en-US" altLang="zh-CN" dirty="0"/>
              <a:t>Examples: overlap message send with computation, prefetch data, switch to other tasks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51603BC3-1A92-4E95-9C20-4C5F34EE9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Fundamental Issues_4: Latency and Bandwidth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096791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7955157A-BCA0-4E19-BF77-BC4F534D56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172" y="2708921"/>
            <a:ext cx="10427656" cy="1947733"/>
          </a:xfrm>
        </p:spPr>
        <p:txBody>
          <a:bodyPr/>
          <a:lstStyle/>
          <a:p>
            <a:r>
              <a:rPr lang="en-US" altLang="zh-CN" dirty="0"/>
              <a:t>Example: Achieve speedup of 80 x using 100 processors</a:t>
            </a:r>
          </a:p>
          <a:p>
            <a:pPr lvl="1"/>
            <a:r>
              <a:rPr lang="en-US" altLang="zh-CN" dirty="0"/>
              <a:t>80 = 1/[</a:t>
            </a:r>
            <a:r>
              <a:rPr lang="en-US" altLang="zh-CN" dirty="0" err="1"/>
              <a:t>Fracparallel</a:t>
            </a:r>
            <a:r>
              <a:rPr lang="en-US" altLang="zh-CN" dirty="0"/>
              <a:t>/100+1-Fracparallel]</a:t>
            </a:r>
          </a:p>
          <a:p>
            <a:pPr lvl="1"/>
            <a:r>
              <a:rPr lang="en-US" altLang="zh-CN" dirty="0"/>
              <a:t>Frac parallel = 0.9975 </a:t>
            </a:r>
          </a:p>
          <a:p>
            <a:pPr marL="457200" lvl="1" indent="0">
              <a:buNone/>
            </a:pPr>
            <a:r>
              <a:rPr lang="en-US" altLang="zh-CN" dirty="0"/>
              <a:t>    ==&gt; only 0.25% of the work can be serial!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8BA302B3-BBB4-433B-B03A-5B2DC8B3F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Challenge: limited program parallelism</a:t>
            </a:r>
            <a:endParaRPr lang="zh-CN" altLang="en-US" dirty="0"/>
          </a:p>
        </p:txBody>
      </p:sp>
      <p:sp>
        <p:nvSpPr>
          <p:cNvPr id="4" name="Text Box 7">
            <a:extLst>
              <a:ext uri="{FF2B5EF4-FFF2-40B4-BE49-F238E27FC236}">
                <a16:creationId xmlns:a16="http://schemas.microsoft.com/office/drawing/2014/main" id="{5BD68BC2-7293-4D0A-B447-1D76BE5588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6" y="4984029"/>
            <a:ext cx="9096375" cy="396875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222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kumimoji="1" lang="en-US" altLang="zh-CN" sz="2000" b="1" dirty="0">
                <a:solidFill>
                  <a:srgbClr val="FF3300"/>
                </a:solidFill>
              </a:rPr>
              <a:t>Can </a:t>
            </a:r>
            <a:r>
              <a:rPr kumimoji="1" lang="en-US" altLang="zh-CN" sz="2000" b="1" dirty="0" err="1">
                <a:solidFill>
                  <a:srgbClr val="FF3300"/>
                </a:solidFill>
              </a:rPr>
              <a:t>parallized</a:t>
            </a:r>
            <a:r>
              <a:rPr kumimoji="1" lang="en-US" altLang="zh-CN" sz="2000" b="1" dirty="0">
                <a:solidFill>
                  <a:srgbClr val="FF3300"/>
                </a:solidFill>
              </a:rPr>
              <a:t> part be </a:t>
            </a:r>
            <a:r>
              <a:rPr kumimoji="1" lang="en-US" altLang="zh-CN" sz="2000" b="1" dirty="0" err="1">
                <a:solidFill>
                  <a:srgbClr val="FF3300"/>
                </a:solidFill>
              </a:rPr>
              <a:t>imporved</a:t>
            </a:r>
            <a:r>
              <a:rPr kumimoji="1" lang="en-US" altLang="zh-CN" sz="2000" b="1" dirty="0">
                <a:solidFill>
                  <a:srgbClr val="FF3300"/>
                </a:solidFill>
              </a:rPr>
              <a:t> to 100 times considering the overheads ?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ADD9ECA-2C69-45F7-9027-66338E12DBF0}"/>
              </a:ext>
            </a:extLst>
          </p:cNvPr>
          <p:cNvSpPr>
            <a:spLocks noChangeArrowheads="1"/>
          </p:cNvSpPr>
          <p:nvPr/>
        </p:nvSpPr>
        <p:spPr bwMode="auto">
          <a:xfrm rot="6539204">
            <a:off x="3962891" y="3133898"/>
            <a:ext cx="428522" cy="408111"/>
          </a:xfrm>
          <a:prstGeom prst="ellipse">
            <a:avLst/>
          </a:prstGeom>
          <a:noFill/>
          <a:ln w="222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" name="Line 6">
            <a:extLst>
              <a:ext uri="{FF2B5EF4-FFF2-40B4-BE49-F238E27FC236}">
                <a16:creationId xmlns:a16="http://schemas.microsoft.com/office/drawing/2014/main" id="{9EAA3227-066B-49D7-B636-74D0FC87FB82}"/>
              </a:ext>
            </a:extLst>
          </p:cNvPr>
          <p:cNvSpPr>
            <a:spLocks noChangeShapeType="1"/>
          </p:cNvSpPr>
          <p:nvPr/>
        </p:nvSpPr>
        <p:spPr bwMode="auto">
          <a:xfrm rot="10093158" flipH="1" flipV="1">
            <a:off x="4576483" y="3472466"/>
            <a:ext cx="1166825" cy="1459167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1F118B60-6B9F-49F3-BAE6-11EF3D64A9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101653"/>
            <a:ext cx="8382000" cy="154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65814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EB45B6C0-AA03-45B1-A8DD-39B676AF7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172" y="737592"/>
            <a:ext cx="10427656" cy="4419600"/>
          </a:xfrm>
        </p:spPr>
        <p:txBody>
          <a:bodyPr/>
          <a:lstStyle/>
          <a:p>
            <a:r>
              <a:rPr lang="en-US" altLang="zh-CN" dirty="0"/>
              <a:t>Given</a:t>
            </a:r>
            <a:r>
              <a:rPr lang="zh-CN" altLang="en-US" dirty="0"/>
              <a:t>： </a:t>
            </a:r>
            <a:r>
              <a:rPr lang="en-US" altLang="zh-CN" dirty="0"/>
              <a:t>(P203)</a:t>
            </a:r>
          </a:p>
          <a:p>
            <a:pPr lvl="1"/>
            <a:r>
              <a:rPr lang="en-US" altLang="zh-CN" dirty="0"/>
              <a:t>32-processor machine, with each processor cycle time=0.5ns (2GHz ); </a:t>
            </a:r>
          </a:p>
          <a:p>
            <a:pPr lvl="1"/>
            <a:r>
              <a:rPr lang="en-US" altLang="zh-CN" dirty="0"/>
              <a:t>remote reference  time= 200ns; </a:t>
            </a:r>
          </a:p>
          <a:p>
            <a:pPr lvl="1"/>
            <a:r>
              <a:rPr lang="en-US" altLang="zh-CN" dirty="0"/>
              <a:t>all references except those involving communication hit in local memory; </a:t>
            </a:r>
          </a:p>
          <a:p>
            <a:pPr lvl="1"/>
            <a:r>
              <a:rPr lang="en-US" altLang="zh-CN" dirty="0"/>
              <a:t>base CPI=0.5 (all reference hit in the cache); </a:t>
            </a:r>
          </a:p>
          <a:p>
            <a:pPr lvl="1"/>
            <a:r>
              <a:rPr lang="en-US" altLang="zh-CN" dirty="0"/>
              <a:t>Processors are stalled on  a remote request.</a:t>
            </a:r>
          </a:p>
          <a:p>
            <a:pPr lvl="1"/>
            <a:r>
              <a:rPr lang="en-US" altLang="zh-CN" dirty="0"/>
              <a:t>0.2% of the instructions involve a remote reference.</a:t>
            </a:r>
          </a:p>
          <a:p>
            <a:pPr lvl="1"/>
            <a:endParaRPr lang="en-US" altLang="zh-CN" dirty="0"/>
          </a:p>
          <a:p>
            <a:pPr lvl="1"/>
            <a:r>
              <a:rPr lang="en-US" altLang="zh-CN" dirty="0"/>
              <a:t>Answer: </a:t>
            </a:r>
          </a:p>
          <a:p>
            <a:pPr lvl="1"/>
            <a:r>
              <a:rPr lang="en-US" altLang="zh-CN" dirty="0"/>
              <a:t>CPI = Base CPI + Remote request rate * Remote request cost 		      =0.5 + 0.2% * Remote request cost</a:t>
            </a:r>
          </a:p>
          <a:p>
            <a:pPr lvl="1"/>
            <a:r>
              <a:rPr lang="en-US" altLang="zh-CN" dirty="0"/>
              <a:t>The remote request cost is:</a:t>
            </a:r>
          </a:p>
          <a:p>
            <a:pPr lvl="1"/>
            <a:r>
              <a:rPr lang="en-US" altLang="zh-CN" dirty="0"/>
              <a:t>CPI=0.5 + 0.8 = 1.3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C9C5F92-A3DC-42AC-9D61-F75F0291C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Challenge : long communication latency</a:t>
            </a:r>
            <a:endParaRPr lang="zh-CN" altLang="en-US" dirty="0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4A1DAA87-6C6A-48B8-A36B-DF1C03CBEF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7647" y="3429000"/>
            <a:ext cx="8868069" cy="400752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000" b="1" dirty="0">
                <a:solidFill>
                  <a:schemeClr val="tx1"/>
                </a:solidFill>
              </a:rPr>
              <a:t>The multiprocessor with all local references is 1.3/0.5 = 2.6 times faster.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60337E5-B9AA-4E7C-AE72-5797E0397247}"/>
              </a:ext>
            </a:extLst>
          </p:cNvPr>
          <p:cNvGrpSpPr>
            <a:grpSpLocks/>
          </p:cNvGrpSpPr>
          <p:nvPr/>
        </p:nvGrpSpPr>
        <p:grpSpPr bwMode="auto">
          <a:xfrm>
            <a:off x="5015880" y="4943011"/>
            <a:ext cx="5006636" cy="688975"/>
            <a:chOff x="1192" y="3652"/>
            <a:chExt cx="3703" cy="43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7DD4FF2-2F98-4B96-8C96-11EC4AE214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2" y="3652"/>
              <a:ext cx="193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000" b="1">
                  <a:solidFill>
                    <a:schemeClr val="tx1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Remote access cost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A6A76EF-D0D3-414B-BA07-3430AFF382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5" y="3834"/>
              <a:ext cx="109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000" b="1">
                  <a:solidFill>
                    <a:schemeClr val="tx1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Cycle time</a:t>
              </a:r>
            </a:p>
          </p:txBody>
        </p:sp>
        <p:sp>
          <p:nvSpPr>
            <p:cNvPr id="8" name="Line 7">
              <a:extLst>
                <a:ext uri="{FF2B5EF4-FFF2-40B4-BE49-F238E27FC236}">
                  <a16:creationId xmlns:a16="http://schemas.microsoft.com/office/drawing/2014/main" id="{1220F268-28C6-4A6D-82E9-E4C9465428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3879"/>
              <a:ext cx="15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E13FFD7-D35D-4BF4-834E-511CFCA5AC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3" y="3652"/>
              <a:ext cx="67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000" b="1">
                  <a:solidFill>
                    <a:schemeClr val="tx1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400ns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179F44F-C45D-4BE2-991F-A9796694F8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5" y="3834"/>
              <a:ext cx="44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000" b="1">
                  <a:solidFill>
                    <a:schemeClr val="tx1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1ns</a:t>
              </a:r>
            </a:p>
          </p:txBody>
        </p:sp>
        <p:sp>
          <p:nvSpPr>
            <p:cNvPr id="11" name="Line 10">
              <a:extLst>
                <a:ext uri="{FF2B5EF4-FFF2-40B4-BE49-F238E27FC236}">
                  <a16:creationId xmlns:a16="http://schemas.microsoft.com/office/drawing/2014/main" id="{C90DC6A0-07A3-431F-8159-2CB9BE014B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879"/>
              <a:ext cx="432" cy="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471989D-241B-467C-ADAB-660481EE96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8" y="3744"/>
              <a:ext cx="24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000" b="1">
                  <a:solidFill>
                    <a:schemeClr val="tx1"/>
                  </a:solidFill>
                  <a:sym typeface="Symbol" panose="05050102010706020507" pitchFamily="18" charset="2"/>
                </a:rPr>
                <a:t>=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C3658BB-E724-4368-BE14-744E1EE821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0" y="3700"/>
              <a:ext cx="114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000" b="1">
                  <a:solidFill>
                    <a:schemeClr val="tx1"/>
                  </a:solidFill>
                  <a:sym typeface="Symbol" panose="05050102010706020507" pitchFamily="18" charset="2"/>
                </a:rPr>
                <a:t>=</a:t>
              </a:r>
              <a:r>
                <a:rPr kumimoji="1" lang="en-US" altLang="zh-CN" sz="2000" b="1">
                  <a:solidFill>
                    <a:schemeClr val="tx1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400cycles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36288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 autoUpdateAnimBg="0"/>
      <p:bldP spid="4" grpId="1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80A32D5-9BF6-4A19-8F4A-71496FF97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172" y="1340768"/>
            <a:ext cx="10427656" cy="3816424"/>
          </a:xfrm>
        </p:spPr>
        <p:txBody>
          <a:bodyPr/>
          <a:lstStyle/>
          <a:p>
            <a:r>
              <a:rPr lang="en-US" altLang="zh-CN" dirty="0"/>
              <a:t>Limited program parallelism</a:t>
            </a:r>
          </a:p>
          <a:p>
            <a:pPr lvl="1"/>
            <a:r>
              <a:rPr lang="en-US" altLang="zh-CN" dirty="0"/>
              <a:t>New algorithm</a:t>
            </a:r>
          </a:p>
          <a:p>
            <a:r>
              <a:rPr lang="en-US" altLang="zh-CN" dirty="0"/>
              <a:t>Long communication latency</a:t>
            </a:r>
          </a:p>
          <a:p>
            <a:pPr lvl="1"/>
            <a:r>
              <a:rPr lang="en-US" altLang="zh-CN" b="1" dirty="0"/>
              <a:t>HW</a:t>
            </a:r>
            <a:r>
              <a:rPr lang="en-US" altLang="zh-CN" dirty="0"/>
              <a:t>: caching shared data to lower the remote access frequency</a:t>
            </a:r>
          </a:p>
          <a:p>
            <a:pPr lvl="2"/>
            <a:r>
              <a:rPr lang="en-US" altLang="zh-CN" dirty="0"/>
              <a:t>Problem: </a:t>
            </a:r>
            <a:r>
              <a:rPr lang="en-US" altLang="zh-CN" b="1" dirty="0"/>
              <a:t>cache coherence, cache consistence</a:t>
            </a:r>
          </a:p>
          <a:p>
            <a:pPr lvl="1"/>
            <a:r>
              <a:rPr lang="en-US" altLang="zh-CN" b="1" dirty="0"/>
              <a:t>SW</a:t>
            </a:r>
            <a:r>
              <a:rPr lang="en-US" altLang="zh-CN" dirty="0"/>
              <a:t>:</a:t>
            </a:r>
          </a:p>
          <a:p>
            <a:pPr lvl="2"/>
            <a:r>
              <a:rPr lang="en-US" altLang="zh-CN" dirty="0"/>
              <a:t>restructuring the data to make more accesses local</a:t>
            </a:r>
          </a:p>
          <a:p>
            <a:pPr lvl="2"/>
            <a:r>
              <a:rPr lang="en-US" altLang="zh-CN" b="1" dirty="0"/>
              <a:t>Synchronization</a:t>
            </a:r>
          </a:p>
          <a:p>
            <a:pPr lvl="2"/>
            <a:r>
              <a:rPr lang="en-US" altLang="zh-CN" dirty="0"/>
              <a:t>latency hiding techniques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7AF11FA-1C5C-4D2E-93C0-9210E39DE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What can we do?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586892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631504" y="1268760"/>
            <a:ext cx="9036496" cy="4752528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2000" b="1"/>
              <a:t>THANK YOU </a:t>
            </a:r>
            <a:endParaRPr lang="en-US" altLang="zh-CN" sz="20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4727848" y="2760068"/>
            <a:ext cx="27363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004EA2"/>
                </a:solidFill>
              </a:rPr>
              <a:t>THANK YOU</a:t>
            </a:r>
          </a:p>
          <a:p>
            <a:endParaRPr lang="en-US" altLang="zh-CN" sz="3200" b="1" dirty="0">
              <a:solidFill>
                <a:srgbClr val="004EA2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3739415"/>
            <a:ext cx="12192000" cy="29402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5683" tIns="42843" rIns="85683" bIns="4284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endParaRPr lang="en-US" altLang="zh-CN" sz="4123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等腰三角形 7"/>
          <p:cNvSpPr/>
          <p:nvPr/>
        </p:nvSpPr>
        <p:spPr>
          <a:xfrm>
            <a:off x="5939809" y="3551764"/>
            <a:ext cx="312387" cy="187653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5683" tIns="42843" rIns="85683" bIns="4284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581"/>
          </a:p>
        </p:txBody>
      </p:sp>
      <p:sp>
        <p:nvSpPr>
          <p:cNvPr id="9" name="矩形 8"/>
          <p:cNvSpPr/>
          <p:nvPr/>
        </p:nvSpPr>
        <p:spPr>
          <a:xfrm>
            <a:off x="0" y="4135388"/>
            <a:ext cx="12191998" cy="857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5683" tIns="42843" rIns="85683" bIns="4284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endParaRPr lang="en-US" altLang="zh-CN" sz="4123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36080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 additive="base" accumulate="none">
                                        <p:cTn id="8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500000" y="500000"/>
                                      <p:to x="120000" y="120000"/>
                                    </p:animScale>
                                    <p:animScale>
                                      <p:cBhvr additive="base" accumulate="none">
                                        <p:cTn id="9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20000" y="12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 additive="base" accumulate="none">
                                        <p:cTn id="19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500000" y="500000"/>
                                      <p:to x="120000" y="120000"/>
                                    </p:animScale>
                                    <p:animScale>
                                      <p:cBhvr additive="base" accumulate="none">
                                        <p:cTn id="20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20000" y="12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theme/theme1.xml><?xml version="1.0" encoding="utf-8"?>
<a:theme xmlns:a="http://schemas.openxmlformats.org/drawingml/2006/main" name="射线">
  <a:themeElements>
    <a:clrScheme name="Radial 1">
      <a:dk1>
        <a:srgbClr val="000000"/>
      </a:dk1>
      <a:lt1>
        <a:srgbClr val="FFFFFF"/>
      </a:lt1>
      <a:dk2>
        <a:srgbClr val="FFFFFF"/>
      </a:dk2>
      <a:lt2>
        <a:srgbClr val="669999"/>
      </a:lt2>
      <a:accent1>
        <a:srgbClr val="99CCFF"/>
      </a:accent1>
      <a:accent2>
        <a:srgbClr val="9999FF"/>
      </a:accent2>
      <a:accent3>
        <a:srgbClr val="FFFFFF"/>
      </a:accent3>
      <a:accent4>
        <a:srgbClr val="000000"/>
      </a:accent4>
      <a:accent5>
        <a:srgbClr val="CAE2FF"/>
      </a:accent5>
      <a:accent6>
        <a:srgbClr val="8A8AE7"/>
      </a:accent6>
      <a:hlink>
        <a:srgbClr val="996666"/>
      </a:hlink>
      <a:folHlink>
        <a:srgbClr val="6666CC"/>
      </a:folHlink>
    </a:clrScheme>
    <a:fontScheme name="射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Radial 1">
        <a:dk1>
          <a:srgbClr val="000000"/>
        </a:dk1>
        <a:lt1>
          <a:srgbClr val="FFFFFF"/>
        </a:lt1>
        <a:dk2>
          <a:srgbClr val="FFFFFF"/>
        </a:dk2>
        <a:lt2>
          <a:srgbClr val="669999"/>
        </a:lt2>
        <a:accent1>
          <a:srgbClr val="99CC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8A8AE7"/>
        </a:accent6>
        <a:hlink>
          <a:srgbClr val="996666"/>
        </a:hlink>
        <a:folHlink>
          <a:srgbClr val="66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adial 2">
        <a:dk1>
          <a:srgbClr val="000000"/>
        </a:dk1>
        <a:lt1>
          <a:srgbClr val="FFFFFF"/>
        </a:lt1>
        <a:dk2>
          <a:srgbClr val="FFFFFF"/>
        </a:dk2>
        <a:lt2>
          <a:srgbClr val="817F3F"/>
        </a:lt2>
        <a:accent1>
          <a:srgbClr val="FFCC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8A00"/>
        </a:accent6>
        <a:hlink>
          <a:srgbClr val="996666"/>
        </a:hlink>
        <a:folHlink>
          <a:srgbClr val="C9450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adial 3">
        <a:dk1>
          <a:srgbClr val="CC6600"/>
        </a:dk1>
        <a:lt1>
          <a:srgbClr val="FFFFFF"/>
        </a:lt1>
        <a:dk2>
          <a:srgbClr val="800000"/>
        </a:dk2>
        <a:lt2>
          <a:srgbClr val="FFFFFF"/>
        </a:lt2>
        <a:accent1>
          <a:srgbClr val="FF6600"/>
        </a:accent1>
        <a:accent2>
          <a:srgbClr val="33CCCC"/>
        </a:accent2>
        <a:accent3>
          <a:srgbClr val="C0AAAA"/>
        </a:accent3>
        <a:accent4>
          <a:srgbClr val="DADADA"/>
        </a:accent4>
        <a:accent5>
          <a:srgbClr val="FFB8AA"/>
        </a:accent5>
        <a:accent6>
          <a:srgbClr val="2DB9B9"/>
        </a:accent6>
        <a:hlink>
          <a:srgbClr val="99FF33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4">
        <a:dk1>
          <a:srgbClr val="993300"/>
        </a:dk1>
        <a:lt1>
          <a:srgbClr val="FFFFFF"/>
        </a:lt1>
        <a:dk2>
          <a:srgbClr val="431A01"/>
        </a:dk2>
        <a:lt2>
          <a:srgbClr val="FFFFFF"/>
        </a:lt2>
        <a:accent1>
          <a:srgbClr val="FFCC00"/>
        </a:accent1>
        <a:accent2>
          <a:srgbClr val="FF9966"/>
        </a:accent2>
        <a:accent3>
          <a:srgbClr val="B0ABAA"/>
        </a:accent3>
        <a:accent4>
          <a:srgbClr val="DADADA"/>
        </a:accent4>
        <a:accent5>
          <a:srgbClr val="FFE2AA"/>
        </a:accent5>
        <a:accent6>
          <a:srgbClr val="E78A5C"/>
        </a:accent6>
        <a:hlink>
          <a:srgbClr val="FF6600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5">
        <a:dk1>
          <a:srgbClr val="75878B"/>
        </a:dk1>
        <a:lt1>
          <a:srgbClr val="FFFFFF"/>
        </a:lt1>
        <a:dk2>
          <a:srgbClr val="260000"/>
        </a:dk2>
        <a:lt2>
          <a:srgbClr val="FFFFFF"/>
        </a:lt2>
        <a:accent1>
          <a:srgbClr val="0099CC"/>
        </a:accent1>
        <a:accent2>
          <a:srgbClr val="FF3300"/>
        </a:accent2>
        <a:accent3>
          <a:srgbClr val="ACAAAA"/>
        </a:accent3>
        <a:accent4>
          <a:srgbClr val="DADADA"/>
        </a:accent4>
        <a:accent5>
          <a:srgbClr val="AACAE2"/>
        </a:accent5>
        <a:accent6>
          <a:srgbClr val="E72D00"/>
        </a:accent6>
        <a:hlink>
          <a:srgbClr val="FFCC00"/>
        </a:hlink>
        <a:folHlink>
          <a:srgbClr val="CC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6">
        <a:dk1>
          <a:srgbClr val="666699"/>
        </a:dk1>
        <a:lt1>
          <a:srgbClr val="FFFFFF"/>
        </a:lt1>
        <a:dk2>
          <a:srgbClr val="000000"/>
        </a:dk2>
        <a:lt2>
          <a:srgbClr val="FFFFFF"/>
        </a:lt2>
        <a:accent1>
          <a:srgbClr val="9966FF"/>
        </a:accent1>
        <a:accent2>
          <a:srgbClr val="99CCFF"/>
        </a:accent2>
        <a:accent3>
          <a:srgbClr val="AAAAAA"/>
        </a:accent3>
        <a:accent4>
          <a:srgbClr val="DADADA"/>
        </a:accent4>
        <a:accent5>
          <a:srgbClr val="CAB8FF"/>
        </a:accent5>
        <a:accent6>
          <a:srgbClr val="8AB9E7"/>
        </a:accent6>
        <a:hlink>
          <a:srgbClr val="FFFFCC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7">
        <a:dk1>
          <a:srgbClr val="666699"/>
        </a:dk1>
        <a:lt1>
          <a:srgbClr val="FFFFFF"/>
        </a:lt1>
        <a:dk2>
          <a:srgbClr val="2A2A40"/>
        </a:dk2>
        <a:lt2>
          <a:srgbClr val="FFFFFF"/>
        </a:lt2>
        <a:accent1>
          <a:srgbClr val="006699"/>
        </a:accent1>
        <a:accent2>
          <a:srgbClr val="CC9900"/>
        </a:accent2>
        <a:accent3>
          <a:srgbClr val="ACACAF"/>
        </a:accent3>
        <a:accent4>
          <a:srgbClr val="DADADA"/>
        </a:accent4>
        <a:accent5>
          <a:srgbClr val="AAB8CA"/>
        </a:accent5>
        <a:accent6>
          <a:srgbClr val="B98A00"/>
        </a:accent6>
        <a:hlink>
          <a:srgbClr val="CC6600"/>
        </a:hlink>
        <a:folHlink>
          <a:srgbClr val="6C94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8">
        <a:dk1>
          <a:srgbClr val="BECBD8"/>
        </a:dk1>
        <a:lt1>
          <a:srgbClr val="FFFFFF"/>
        </a:lt1>
        <a:dk2>
          <a:srgbClr val="2B335B"/>
        </a:dk2>
        <a:lt2>
          <a:srgbClr val="FFFFFF"/>
        </a:lt2>
        <a:accent1>
          <a:srgbClr val="0099CC"/>
        </a:accent1>
        <a:accent2>
          <a:srgbClr val="B5DBE3"/>
        </a:accent2>
        <a:accent3>
          <a:srgbClr val="ACADB5"/>
        </a:accent3>
        <a:accent4>
          <a:srgbClr val="DADADA"/>
        </a:accent4>
        <a:accent5>
          <a:srgbClr val="AACAE2"/>
        </a:accent5>
        <a:accent6>
          <a:srgbClr val="A4C6CE"/>
        </a:accent6>
        <a:hlink>
          <a:srgbClr val="FFCC00"/>
        </a:hlink>
        <a:folHlink>
          <a:srgbClr val="5864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9">
        <a:dk1>
          <a:srgbClr val="3333FF"/>
        </a:dk1>
        <a:lt1>
          <a:srgbClr val="FFFFFF"/>
        </a:lt1>
        <a:dk2>
          <a:srgbClr val="000099"/>
        </a:dk2>
        <a:lt2>
          <a:srgbClr val="FFFFFF"/>
        </a:lt2>
        <a:accent1>
          <a:srgbClr val="339966"/>
        </a:accent1>
        <a:accent2>
          <a:srgbClr val="9999FF"/>
        </a:accent2>
        <a:accent3>
          <a:srgbClr val="AAAACA"/>
        </a:accent3>
        <a:accent4>
          <a:srgbClr val="DADADA"/>
        </a:accent4>
        <a:accent5>
          <a:srgbClr val="ADCAB8"/>
        </a:accent5>
        <a:accent6>
          <a:srgbClr val="8A8AE7"/>
        </a:accent6>
        <a:hlink>
          <a:srgbClr val="FFFF99"/>
        </a:hlink>
        <a:folHlink>
          <a:srgbClr val="17A0D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10">
        <a:dk1>
          <a:srgbClr val="808000"/>
        </a:dk1>
        <a:lt1>
          <a:srgbClr val="FFFFFF"/>
        </a:lt1>
        <a:dk2>
          <a:srgbClr val="354418"/>
        </a:dk2>
        <a:lt2>
          <a:srgbClr val="FFFFFF"/>
        </a:lt2>
        <a:accent1>
          <a:srgbClr val="60897C"/>
        </a:accent1>
        <a:accent2>
          <a:srgbClr val="99CC00"/>
        </a:accent2>
        <a:accent3>
          <a:srgbClr val="AEB0AB"/>
        </a:accent3>
        <a:accent4>
          <a:srgbClr val="DADADA"/>
        </a:accent4>
        <a:accent5>
          <a:srgbClr val="B6C4BF"/>
        </a:accent5>
        <a:accent6>
          <a:srgbClr val="8AB900"/>
        </a:accent6>
        <a:hlink>
          <a:srgbClr val="CCCC00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v5_arch_8</Template>
  <TotalTime>1726</TotalTime>
  <Words>2246</Words>
  <Application>Microsoft Office PowerPoint</Application>
  <PresentationFormat>宽屏</PresentationFormat>
  <Paragraphs>330</Paragraphs>
  <Slides>38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47" baseType="lpstr">
      <vt:lpstr>黑体</vt:lpstr>
      <vt:lpstr>微软雅黑</vt:lpstr>
      <vt:lpstr>Arial</vt:lpstr>
      <vt:lpstr>Comic Sans MS</vt:lpstr>
      <vt:lpstr>Tahoma</vt:lpstr>
      <vt:lpstr>Times New Roman</vt:lpstr>
      <vt:lpstr>Wingdings</vt:lpstr>
      <vt:lpstr>射线</vt:lpstr>
      <vt:lpstr>图片</vt:lpstr>
      <vt:lpstr>Computer Architecture  ----A Quantitative Approach</vt:lpstr>
      <vt:lpstr>Why Multiprocessors?</vt:lpstr>
      <vt:lpstr>Opportunities for Applications</vt:lpstr>
      <vt:lpstr>Parallel Processing</vt:lpstr>
      <vt:lpstr>Parallel Computers</vt:lpstr>
      <vt:lpstr> Popular Flynn Taxonomy</vt:lpstr>
      <vt:lpstr>Program execute on SISD</vt:lpstr>
      <vt:lpstr>Program execute on SIMD</vt:lpstr>
      <vt:lpstr>Program execute on MIMD</vt:lpstr>
      <vt:lpstr>Catalogue the Parallel (MIMD) processors</vt:lpstr>
      <vt:lpstr>Dimensions are orthogonal</vt:lpstr>
      <vt:lpstr>UMA vs. NUMA: Why it matters</vt:lpstr>
      <vt:lpstr>UMA vs. NUMA</vt:lpstr>
      <vt:lpstr>Major MIMD Styles</vt:lpstr>
      <vt:lpstr>Centralized shared-memory multiprocessor</vt:lpstr>
      <vt:lpstr>Structure of distributed-memory multiprocessor</vt:lpstr>
      <vt:lpstr>Comparison in graph</vt:lpstr>
      <vt:lpstr>Distributed-memory multiprocessor (1)</vt:lpstr>
      <vt:lpstr>Distributed-memory multiprocessor (2)</vt:lpstr>
      <vt:lpstr> Parallel Architecture</vt:lpstr>
      <vt:lpstr>Parallel Framework</vt:lpstr>
      <vt:lpstr>Shared Address Model-1</vt:lpstr>
      <vt:lpstr>Shared Address Model-2</vt:lpstr>
      <vt:lpstr>Message Passing Model-1</vt:lpstr>
      <vt:lpstr>Message Passing Model-2</vt:lpstr>
      <vt:lpstr>Shared Memory vs. Message Passing</vt:lpstr>
      <vt:lpstr>Shared Memory vs. Message Passing</vt:lpstr>
      <vt:lpstr>Communication Models</vt:lpstr>
      <vt:lpstr>Parallel Systems (80s and 90s)</vt:lpstr>
      <vt:lpstr>Multiprocessor Trends</vt:lpstr>
      <vt:lpstr>Fundamental Issues_1</vt:lpstr>
      <vt:lpstr>Fundamental Issues_2</vt:lpstr>
      <vt:lpstr>Fundamental Issues_3</vt:lpstr>
      <vt:lpstr>Fundamental Issues_4: Latency and Bandwidth</vt:lpstr>
      <vt:lpstr>Challenge: limited program parallelism</vt:lpstr>
      <vt:lpstr>Challenge : long communication latency</vt:lpstr>
      <vt:lpstr>What can we do?</vt:lpstr>
      <vt:lpstr>PowerPoint 演示文稿</vt:lpstr>
    </vt:vector>
  </TitlesOfParts>
  <Company>CADCG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4 for pipelining</dc:title>
  <dc:creator>wzchen</dc:creator>
  <cp:lastModifiedBy>宋 天泽</cp:lastModifiedBy>
  <cp:revision>376</cp:revision>
  <dcterms:created xsi:type="dcterms:W3CDTF">2003-04-16T06:14:29Z</dcterms:created>
  <dcterms:modified xsi:type="dcterms:W3CDTF">2024-09-05T13:58:26Z</dcterms:modified>
</cp:coreProperties>
</file>