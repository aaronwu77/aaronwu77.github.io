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388" r:id="rId3"/>
    <p:sldId id="428" r:id="rId5"/>
    <p:sldId id="430" r:id="rId6"/>
    <p:sldId id="468" r:id="rId7"/>
    <p:sldId id="432" r:id="rId8"/>
    <p:sldId id="403" r:id="rId9"/>
    <p:sldId id="469" r:id="rId10"/>
    <p:sldId id="470" r:id="rId11"/>
    <p:sldId id="471" r:id="rId12"/>
    <p:sldId id="473" r:id="rId13"/>
    <p:sldId id="479" r:id="rId14"/>
    <p:sldId id="480" r:id="rId15"/>
    <p:sldId id="437" r:id="rId16"/>
    <p:sldId id="482" r:id="rId17"/>
    <p:sldId id="477" r:id="rId18"/>
    <p:sldId id="474" r:id="rId19"/>
    <p:sldId id="475" r:id="rId20"/>
    <p:sldId id="476" r:id="rId21"/>
    <p:sldId id="433" r:id="rId22"/>
    <p:sldId id="419" r:id="rId23"/>
    <p:sldId id="441" r:id="rId24"/>
    <p:sldId id="414" r:id="rId25"/>
    <p:sldId id="420" r:id="rId26"/>
    <p:sldId id="421" r:id="rId27"/>
    <p:sldId id="422" r:id="rId28"/>
    <p:sldId id="423" r:id="rId29"/>
    <p:sldId id="424" r:id="rId30"/>
    <p:sldId id="425" r:id="rId31"/>
    <p:sldId id="426" r:id="rId32"/>
    <p:sldId id="427" r:id="rId33"/>
    <p:sldId id="434" r:id="rId34"/>
    <p:sldId id="413" r:id="rId35"/>
    <p:sldId id="440" r:id="rId36"/>
    <p:sldId id="435" r:id="rId37"/>
    <p:sldId id="409" r:id="rId38"/>
    <p:sldId id="412" r:id="rId39"/>
    <p:sldId id="436" r:id="rId40"/>
    <p:sldId id="418" r:id="rId41"/>
    <p:sldId id="416" r:id="rId42"/>
    <p:sldId id="415" r:id="rId4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A38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69890" autoAdjust="0"/>
  </p:normalViewPr>
  <p:slideViewPr>
    <p:cSldViewPr snapToGrid="0">
      <p:cViewPr varScale="1">
        <p:scale>
          <a:sx n="86" d="100"/>
          <a:sy n="86" d="100"/>
        </p:scale>
        <p:origin x="90" y="6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EAC723-B2A9-114F-A20E-1F90573A26DA}"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CFE2EE-87C6-E344-924A-16E7FEF05303}"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zhida.zhihu.com/search?content_id=253264090&amp;content_type=Article&amp;match_order=1&amp;q=%E8%8B%B1%E4%BC%9F%E8%BE%BE+H800+GPU&amp;zhida_source=entity" TargetMode="External"/><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s://zhida.zhihu.com/search?content_id=253264090&amp;content_type=Article&amp;match_order=1&amp;q=HAI-LLM+%E6%A1%86%E6%9E%B6&amp;zhida_source=entity" TargetMode="External"/><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endParaRPr lang="zh-CN" altLang="zh-CN" sz="1800" kern="100" dirty="0">
              <a:effectLst/>
              <a:latin typeface="DengXian" panose="02010600030101010101" pitchFamily="2" charset="-122"/>
              <a:ea typeface="DengXian" panose="02010600030101010101" pitchFamily="2"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fld id="{39D531BE-3B4D-0547-8739-67D02DA1D288}" type="slidenum">
              <a:rPr kumimoji="1" lang="zh-CN" altLang="en-US" smtClean="0"/>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D531BE-3B4D-0547-8739-67D02DA1D288}"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D531BE-3B4D-0547-8739-67D02DA1D288}"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D531BE-3B4D-0547-8739-67D02DA1D288}"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D531BE-3B4D-0547-8739-67D02DA1D288}"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D531BE-3B4D-0547-8739-67D02DA1D288}"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D531BE-3B4D-0547-8739-67D02DA1D288}"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D531BE-3B4D-0547-8739-67D02DA1D288}"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D531BE-3B4D-0547-8739-67D02DA1D288}"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D531BE-3B4D-0547-8739-67D02DA1D288}"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D531BE-3B4D-0547-8739-67D02DA1D288}"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D531BE-3B4D-0547-8739-67D02DA1D288}"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D531BE-3B4D-0547-8739-67D02DA1D288}"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D531BE-3B4D-0547-8739-67D02DA1D288}"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D531BE-3B4D-0547-8739-67D02DA1D288}"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D531BE-3B4D-0547-8739-67D02DA1D288}"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D531BE-3B4D-0547-8739-67D02DA1D288}"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D531BE-3B4D-0547-8739-67D02DA1D288}"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D531BE-3B4D-0547-8739-67D02DA1D288}"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D531BE-3B4D-0547-8739-67D02DA1D288}"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D531BE-3B4D-0547-8739-67D02DA1D288}"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D531BE-3B4D-0547-8739-67D02DA1D288}"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D531BE-3B4D-0547-8739-67D02DA1D288}"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D531BE-3B4D-0547-8739-67D02DA1D288}"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D531BE-3B4D-0547-8739-67D02DA1D288}"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D531BE-3B4D-0547-8739-67D02DA1D288}"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D531BE-3B4D-0547-8739-67D02DA1D288}"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D531BE-3B4D-0547-8739-67D02DA1D288}"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D531BE-3B4D-0547-8739-67D02DA1D288}"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D531BE-3B4D-0547-8739-67D02DA1D288}"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D531BE-3B4D-0547-8739-67D02DA1D288}"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r>
              <a:rPr lang="zh-CN" altLang="en-US" dirty="0">
                <a:effectLst/>
              </a:rPr>
              <a:t>训练大模型就像造一辆超级跑车，不仅需要强大的引擎（算力），还得尽量减轻重量（内存占用）。</a:t>
            </a:r>
            <a:r>
              <a:rPr lang="en-GB" altLang="zh-CN" dirty="0" err="1">
                <a:effectLst/>
              </a:rPr>
              <a:t>DeepSeek</a:t>
            </a:r>
            <a:r>
              <a:rPr lang="en-GB" altLang="zh-CN" dirty="0">
                <a:effectLst/>
              </a:rPr>
              <a:t> </a:t>
            </a:r>
            <a:r>
              <a:rPr lang="zh-CN" altLang="en-US" dirty="0">
                <a:effectLst/>
              </a:rPr>
              <a:t>用了几个巧妙的“减重”方法，来优化</a:t>
            </a:r>
            <a:r>
              <a:rPr lang="en-GB" altLang="zh-CN" dirty="0">
                <a:effectLst/>
              </a:rPr>
              <a:t>GPU</a:t>
            </a:r>
            <a:r>
              <a:rPr lang="zh-CN" altLang="en-US" dirty="0">
                <a:effectLst/>
              </a:rPr>
              <a:t>内存的使用。</a:t>
            </a:r>
            <a:endParaRPr lang="zh-CN" altLang="en-US" dirty="0">
              <a:effectLst/>
            </a:endParaRPr>
          </a:p>
          <a:p>
            <a:pPr marL="0" marR="0"/>
            <a:r>
              <a:rPr lang="en-US" altLang="zh-CN" b="1" dirty="0">
                <a:effectLst/>
              </a:rPr>
              <a:t>1. </a:t>
            </a:r>
            <a:r>
              <a:rPr lang="zh-CN" altLang="en-US" b="1" dirty="0">
                <a:effectLst/>
              </a:rPr>
              <a:t>重新计算，不囤货</a:t>
            </a:r>
            <a:r>
              <a:rPr lang="en-US" altLang="zh-CN" b="1" dirty="0">
                <a:effectLst/>
              </a:rPr>
              <a:t>——</a:t>
            </a:r>
            <a:r>
              <a:rPr lang="zh-CN" altLang="en-US" b="1" dirty="0">
                <a:effectLst/>
              </a:rPr>
              <a:t>重新计算技术</a:t>
            </a:r>
            <a:endParaRPr lang="zh-CN" altLang="en-US" dirty="0">
              <a:effectLst/>
            </a:endParaRPr>
          </a:p>
          <a:p>
            <a:pPr marL="0" marR="0"/>
            <a:r>
              <a:rPr lang="zh-CN" altLang="en-US" dirty="0">
                <a:effectLst/>
              </a:rPr>
              <a:t>想象你要烘焙一个</a:t>
            </a:r>
            <a:r>
              <a:rPr lang="en-US" altLang="zh-CN" dirty="0">
                <a:effectLst/>
              </a:rPr>
              <a:t>10</a:t>
            </a:r>
            <a:r>
              <a:rPr lang="zh-CN" altLang="en-US" dirty="0">
                <a:effectLst/>
              </a:rPr>
              <a:t>层蛋糕（训练模型），每一层神经网络都会生成临时数据（比如第</a:t>
            </a:r>
            <a:r>
              <a:rPr lang="en-US" altLang="zh-CN" dirty="0">
                <a:effectLst/>
              </a:rPr>
              <a:t>3</a:t>
            </a:r>
            <a:r>
              <a:rPr lang="zh-CN" altLang="en-US" dirty="0">
                <a:effectLst/>
              </a:rPr>
              <a:t>层搅拌好的面糊），传统做法是把做好每一层的半成品都保存下来，导致厨房（内存）塞爆。</a:t>
            </a:r>
            <a:endParaRPr lang="zh-CN" altLang="en-US" dirty="0">
              <a:effectLst/>
            </a:endParaRPr>
          </a:p>
          <a:p>
            <a:pPr marL="0" marR="0"/>
            <a:r>
              <a:rPr lang="en-GB" altLang="zh-CN" dirty="0" err="1">
                <a:effectLst/>
              </a:rPr>
              <a:t>DeepSeek</a:t>
            </a:r>
            <a:r>
              <a:rPr lang="zh-CN" altLang="en-US" dirty="0">
                <a:effectLst/>
              </a:rPr>
              <a:t>的做法：只保留最关键的数据，其他临时结果用完了就丢掉。等到需要时（比如反向传播计算梯度），会再次重新算一遍这些数据。</a:t>
            </a:r>
            <a:endParaRPr lang="zh-CN" altLang="en-US" dirty="0">
              <a:effectLst/>
            </a:endParaRPr>
          </a:p>
          <a:p>
            <a:pPr marL="0" marR="0"/>
            <a:r>
              <a:rPr lang="zh-CN" altLang="en-US" dirty="0">
                <a:effectLst/>
              </a:rPr>
              <a:t>效果：内存占用减少</a:t>
            </a:r>
            <a:r>
              <a:rPr lang="en-US" altLang="zh-CN" dirty="0">
                <a:effectLst/>
              </a:rPr>
              <a:t>30%-50%</a:t>
            </a:r>
            <a:r>
              <a:rPr lang="zh-CN" altLang="en-US" dirty="0">
                <a:effectLst/>
              </a:rPr>
              <a:t>，虽然多花了点时间重新计算，但换来的是能训练更大的模型。</a:t>
            </a:r>
            <a:endParaRPr lang="zh-CN" altLang="en-US" dirty="0">
              <a:effectLst/>
            </a:endParaRPr>
          </a:p>
          <a:p>
            <a:pPr marL="0" marR="0"/>
            <a:r>
              <a:rPr lang="en-US" altLang="zh-CN" b="1" dirty="0">
                <a:effectLst/>
              </a:rPr>
              <a:t>2. </a:t>
            </a:r>
            <a:r>
              <a:rPr lang="zh-CN" altLang="en-US" b="1" dirty="0">
                <a:effectLst/>
              </a:rPr>
              <a:t>借用“外援仓库”</a:t>
            </a:r>
            <a:r>
              <a:rPr lang="en-US" altLang="zh-CN" b="1" dirty="0">
                <a:effectLst/>
              </a:rPr>
              <a:t>——</a:t>
            </a:r>
            <a:r>
              <a:rPr lang="en-GB" altLang="zh-CN" b="1" dirty="0">
                <a:effectLst/>
              </a:rPr>
              <a:t>CPU</a:t>
            </a:r>
            <a:r>
              <a:rPr lang="zh-CN" altLang="en-US" b="1" dirty="0">
                <a:effectLst/>
              </a:rPr>
              <a:t>内存扩展</a:t>
            </a:r>
            <a:endParaRPr lang="zh-CN" altLang="en-US" dirty="0">
              <a:effectLst/>
            </a:endParaRPr>
          </a:p>
          <a:p>
            <a:pPr marL="0" marR="0"/>
            <a:r>
              <a:rPr lang="zh-CN" altLang="en-US" dirty="0">
                <a:effectLst/>
              </a:rPr>
              <a:t>你的背包（</a:t>
            </a:r>
            <a:r>
              <a:rPr lang="en-GB" altLang="zh-CN" dirty="0">
                <a:effectLst/>
              </a:rPr>
              <a:t>GPU</a:t>
            </a:r>
            <a:r>
              <a:rPr lang="zh-CN" altLang="en-US" dirty="0">
                <a:effectLst/>
              </a:rPr>
              <a:t>内存）只能装</a:t>
            </a:r>
            <a:r>
              <a:rPr lang="en-US" altLang="zh-CN" dirty="0">
                <a:effectLst/>
              </a:rPr>
              <a:t>5</a:t>
            </a:r>
            <a:r>
              <a:rPr lang="zh-CN" altLang="en-US" dirty="0">
                <a:effectLst/>
              </a:rPr>
              <a:t>本书，但旁边有个大柜子（</a:t>
            </a:r>
            <a:r>
              <a:rPr lang="en-GB" altLang="zh-CN" dirty="0">
                <a:effectLst/>
              </a:rPr>
              <a:t>CPU</a:t>
            </a:r>
            <a:r>
              <a:rPr lang="zh-CN" altLang="en-US" dirty="0">
                <a:effectLst/>
              </a:rPr>
              <a:t>内存）能装</a:t>
            </a:r>
            <a:r>
              <a:rPr lang="en-US" altLang="zh-CN" dirty="0">
                <a:effectLst/>
              </a:rPr>
              <a:t>100</a:t>
            </a:r>
            <a:r>
              <a:rPr lang="zh-CN" altLang="en-US" dirty="0">
                <a:effectLst/>
              </a:rPr>
              <a:t>本。</a:t>
            </a:r>
            <a:endParaRPr lang="zh-CN" altLang="en-US" dirty="0">
              <a:effectLst/>
            </a:endParaRPr>
          </a:p>
          <a:p>
            <a:pPr marL="0" marR="0"/>
            <a:r>
              <a:rPr lang="en-GB" altLang="zh-CN" dirty="0" err="1">
                <a:effectLst/>
              </a:rPr>
              <a:t>DeepSeek</a:t>
            </a:r>
            <a:r>
              <a:rPr lang="zh-CN" altLang="en-US" dirty="0">
                <a:effectLst/>
              </a:rPr>
              <a:t>的做法：把暂时用不到的数据（比如指数移动平均）先存到</a:t>
            </a:r>
            <a:r>
              <a:rPr lang="en-GB" altLang="zh-CN" dirty="0">
                <a:effectLst/>
              </a:rPr>
              <a:t>CPU</a:t>
            </a:r>
            <a:r>
              <a:rPr lang="zh-CN" altLang="en-US" dirty="0">
                <a:effectLst/>
              </a:rPr>
              <a:t>的“大柜子”里，等</a:t>
            </a:r>
            <a:r>
              <a:rPr lang="en-GB" altLang="zh-CN" dirty="0">
                <a:effectLst/>
              </a:rPr>
              <a:t>GPU</a:t>
            </a:r>
            <a:r>
              <a:rPr lang="zh-CN" altLang="en-US" dirty="0">
                <a:effectLst/>
              </a:rPr>
              <a:t>需要时再搬回来。</a:t>
            </a:r>
            <a:endParaRPr lang="zh-CN" altLang="en-US" dirty="0">
              <a:effectLst/>
            </a:endParaRPr>
          </a:p>
          <a:p>
            <a:pPr marL="0" marR="0"/>
            <a:r>
              <a:rPr lang="zh-CN" altLang="en-US" dirty="0">
                <a:effectLst/>
              </a:rPr>
              <a:t>效果：相当于给</a:t>
            </a:r>
            <a:r>
              <a:rPr lang="en-GB" altLang="zh-CN" dirty="0">
                <a:effectLst/>
              </a:rPr>
              <a:t>GPU</a:t>
            </a:r>
            <a:r>
              <a:rPr lang="zh-CN" altLang="en-US" dirty="0">
                <a:effectLst/>
              </a:rPr>
              <a:t>内存扩容，让模型规模不再受限于显卡内存。</a:t>
            </a:r>
            <a:endParaRPr lang="zh-CN" altLang="en-US" dirty="0">
              <a:effectLst/>
            </a:endParaRPr>
          </a:p>
          <a:p>
            <a:pPr marL="0" marR="0"/>
            <a:r>
              <a:rPr lang="en-US" altLang="zh-CN" b="1" dirty="0">
                <a:effectLst/>
              </a:rPr>
              <a:t>3. </a:t>
            </a:r>
            <a:r>
              <a:rPr lang="zh-CN" altLang="en-US" b="1" dirty="0">
                <a:effectLst/>
              </a:rPr>
              <a:t>一物多用，参数共享</a:t>
            </a:r>
            <a:r>
              <a:rPr lang="en-US" altLang="zh-CN" b="1" dirty="0">
                <a:effectLst/>
              </a:rPr>
              <a:t>——</a:t>
            </a:r>
            <a:r>
              <a:rPr lang="zh-CN" altLang="en-US" b="1" dirty="0">
                <a:effectLst/>
              </a:rPr>
              <a:t>参数共享</a:t>
            </a:r>
            <a:endParaRPr lang="zh-CN" altLang="en-US" dirty="0">
              <a:effectLst/>
            </a:endParaRPr>
          </a:p>
          <a:p>
            <a:pPr marL="0" marR="0"/>
            <a:r>
              <a:rPr lang="zh-CN" altLang="en-US" dirty="0">
                <a:effectLst/>
              </a:rPr>
              <a:t>就像一支笔既用来写字又用来画画，避免买两套工具。</a:t>
            </a:r>
            <a:endParaRPr lang="zh-CN" altLang="en-US" dirty="0">
              <a:effectLst/>
            </a:endParaRPr>
          </a:p>
          <a:p>
            <a:pPr marL="0" marR="0"/>
            <a:r>
              <a:rPr lang="zh-CN" altLang="en-US" dirty="0">
                <a:effectLst/>
              </a:rPr>
              <a:t>原理：传统模型中不同模块有独立参数，导致大量重复。</a:t>
            </a:r>
            <a:endParaRPr lang="zh-CN" altLang="en-US" dirty="0">
              <a:effectLst/>
            </a:endParaRPr>
          </a:p>
          <a:p>
            <a:pPr marL="0" marR="0"/>
            <a:r>
              <a:rPr lang="en-GB" altLang="zh-CN" dirty="0" err="1">
                <a:effectLst/>
              </a:rPr>
              <a:t>DeepSeek</a:t>
            </a:r>
            <a:r>
              <a:rPr lang="zh-CN" altLang="en-US" dirty="0">
                <a:effectLst/>
              </a:rPr>
              <a:t>的做法：让多个模块共用同一组参数。例如让</a:t>
            </a:r>
            <a:r>
              <a:rPr lang="zh-CN" altLang="en-US" dirty="0">
                <a:solidFill>
                  <a:srgbClr val="000000"/>
                </a:solidFill>
                <a:effectLst/>
              </a:rPr>
              <a:t>主模型和</a:t>
            </a:r>
            <a:r>
              <a:rPr lang="en-GB" altLang="zh-CN" dirty="0">
                <a:solidFill>
                  <a:srgbClr val="000000"/>
                </a:solidFill>
                <a:effectLst/>
              </a:rPr>
              <a:t>MTP</a:t>
            </a:r>
            <a:r>
              <a:rPr lang="zh-CN" altLang="en-US" dirty="0">
                <a:solidFill>
                  <a:srgbClr val="000000"/>
                </a:solidFill>
                <a:effectLst/>
              </a:rPr>
              <a:t>模块共享参数、梯度、嵌入和输出头</a:t>
            </a:r>
            <a:endParaRPr lang="zh-CN" altLang="en-US" dirty="0">
              <a:effectLst/>
            </a:endParaRPr>
          </a:p>
          <a:p>
            <a:pPr marL="0" marR="0"/>
            <a:r>
              <a:rPr lang="zh-CN" altLang="en-US" dirty="0">
                <a:effectLst/>
              </a:rPr>
              <a:t>效果：参数总量减少</a:t>
            </a:r>
            <a:r>
              <a:rPr lang="en-US" altLang="zh-CN" dirty="0">
                <a:effectLst/>
              </a:rPr>
              <a:t>20%</a:t>
            </a:r>
            <a:r>
              <a:rPr lang="zh-CN" altLang="en-US" dirty="0">
                <a:effectLst/>
              </a:rPr>
              <a:t>以上。</a:t>
            </a:r>
            <a:endParaRPr lang="zh-CN" altLang="en-US" dirty="0">
              <a:effectLst/>
            </a:endParaRPr>
          </a:p>
          <a:p>
            <a:pPr marL="0" marR="0"/>
            <a:r>
              <a:rPr lang="zh-CN" altLang="en-US" dirty="0">
                <a:effectLst/>
              </a:rPr>
              <a:t>这些技术合起来有什么用？</a:t>
            </a:r>
            <a:endParaRPr lang="zh-CN" altLang="en-US" dirty="0">
              <a:effectLst/>
            </a:endParaRPr>
          </a:p>
          <a:p>
            <a:pPr marL="0" marR="0"/>
            <a:r>
              <a:rPr lang="zh-CN" altLang="en-US" dirty="0">
                <a:effectLst/>
              </a:rPr>
              <a:t>训练更大的模型：原本要在</a:t>
            </a:r>
            <a:r>
              <a:rPr lang="en-US" altLang="zh-CN" dirty="0">
                <a:effectLst/>
              </a:rPr>
              <a:t>8</a:t>
            </a:r>
            <a:r>
              <a:rPr lang="zh-CN" altLang="en-US" dirty="0">
                <a:effectLst/>
              </a:rPr>
              <a:t>张显卡上跑的模型，现在</a:t>
            </a:r>
            <a:r>
              <a:rPr lang="en-US" altLang="zh-CN" dirty="0">
                <a:effectLst/>
              </a:rPr>
              <a:t>4</a:t>
            </a:r>
            <a:r>
              <a:rPr lang="zh-CN" altLang="en-US" dirty="0">
                <a:effectLst/>
              </a:rPr>
              <a:t>张就能搞定。减少硬件需求，电费和碳排放都降低。</a:t>
            </a:r>
            <a:endParaRPr lang="zh-CN" altLang="en-US" dirty="0">
              <a:effectLst/>
            </a:endParaRPr>
          </a:p>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D531BE-3B4D-0547-8739-67D02DA1D288}"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r>
              <a:rPr lang="zh-CN" altLang="en-US" dirty="0">
                <a:effectLst/>
              </a:rPr>
              <a:t>训练大模型就像造一辆超级跑车，不仅需要强大的引擎（算力），还得尽量减轻重量（内存占用）。</a:t>
            </a:r>
            <a:r>
              <a:rPr lang="en-GB" altLang="zh-CN" dirty="0" err="1">
                <a:effectLst/>
              </a:rPr>
              <a:t>DeepSeek</a:t>
            </a:r>
            <a:r>
              <a:rPr lang="en-GB" altLang="zh-CN" dirty="0">
                <a:effectLst/>
              </a:rPr>
              <a:t> </a:t>
            </a:r>
            <a:r>
              <a:rPr lang="zh-CN" altLang="en-US" dirty="0">
                <a:effectLst/>
              </a:rPr>
              <a:t>用了几个巧妙的“减重”方法，来优化</a:t>
            </a:r>
            <a:r>
              <a:rPr lang="en-GB" altLang="zh-CN" dirty="0">
                <a:effectLst/>
              </a:rPr>
              <a:t>GPU</a:t>
            </a:r>
            <a:r>
              <a:rPr lang="zh-CN" altLang="en-US" dirty="0">
                <a:effectLst/>
              </a:rPr>
              <a:t>内存的使用。</a:t>
            </a:r>
            <a:endParaRPr lang="zh-CN" altLang="en-US" dirty="0">
              <a:effectLst/>
            </a:endParaRPr>
          </a:p>
          <a:p>
            <a:pPr marL="0" marR="0"/>
            <a:r>
              <a:rPr lang="en-US" altLang="zh-CN" b="1" dirty="0">
                <a:effectLst/>
              </a:rPr>
              <a:t>1. </a:t>
            </a:r>
            <a:r>
              <a:rPr lang="zh-CN" altLang="en-US" b="1" dirty="0">
                <a:effectLst/>
              </a:rPr>
              <a:t>重新计算，不囤货</a:t>
            </a:r>
            <a:r>
              <a:rPr lang="en-US" altLang="zh-CN" b="1" dirty="0">
                <a:effectLst/>
              </a:rPr>
              <a:t>——</a:t>
            </a:r>
            <a:r>
              <a:rPr lang="zh-CN" altLang="en-US" b="1" dirty="0">
                <a:effectLst/>
              </a:rPr>
              <a:t>重新计算技术</a:t>
            </a:r>
            <a:endParaRPr lang="zh-CN" altLang="en-US" dirty="0">
              <a:effectLst/>
            </a:endParaRPr>
          </a:p>
          <a:p>
            <a:pPr marL="0" marR="0"/>
            <a:r>
              <a:rPr lang="zh-CN" altLang="en-US" dirty="0">
                <a:effectLst/>
              </a:rPr>
              <a:t>想象你要烘焙一个</a:t>
            </a:r>
            <a:r>
              <a:rPr lang="en-US" altLang="zh-CN" dirty="0">
                <a:effectLst/>
              </a:rPr>
              <a:t>10</a:t>
            </a:r>
            <a:r>
              <a:rPr lang="zh-CN" altLang="en-US" dirty="0">
                <a:effectLst/>
              </a:rPr>
              <a:t>层蛋糕（训练模型），每一层神经网络都会生成临时数据（比如第</a:t>
            </a:r>
            <a:r>
              <a:rPr lang="en-US" altLang="zh-CN" dirty="0">
                <a:effectLst/>
              </a:rPr>
              <a:t>3</a:t>
            </a:r>
            <a:r>
              <a:rPr lang="zh-CN" altLang="en-US" dirty="0">
                <a:effectLst/>
              </a:rPr>
              <a:t>层搅拌好的面糊），传统做法是把做好每一层的半成品都保存下来，导致厨房（内存）塞爆。</a:t>
            </a:r>
            <a:endParaRPr lang="zh-CN" altLang="en-US" dirty="0">
              <a:effectLst/>
            </a:endParaRPr>
          </a:p>
          <a:p>
            <a:pPr marL="0" marR="0"/>
            <a:r>
              <a:rPr lang="en-GB" altLang="zh-CN" dirty="0" err="1">
                <a:effectLst/>
              </a:rPr>
              <a:t>DeepSeek</a:t>
            </a:r>
            <a:r>
              <a:rPr lang="zh-CN" altLang="en-US" dirty="0">
                <a:effectLst/>
              </a:rPr>
              <a:t>的做法：只保留最关键的数据，其他临时结果用完了就丢掉。等到需要时（比如反向传播计算梯度），会再次重新算一遍这些数据。</a:t>
            </a:r>
            <a:endParaRPr lang="zh-CN" altLang="en-US" dirty="0">
              <a:effectLst/>
            </a:endParaRPr>
          </a:p>
          <a:p>
            <a:pPr marL="0" marR="0"/>
            <a:r>
              <a:rPr lang="zh-CN" altLang="en-US" dirty="0">
                <a:effectLst/>
              </a:rPr>
              <a:t>效果：内存占用减少</a:t>
            </a:r>
            <a:r>
              <a:rPr lang="en-US" altLang="zh-CN" dirty="0">
                <a:effectLst/>
              </a:rPr>
              <a:t>30%-50%</a:t>
            </a:r>
            <a:r>
              <a:rPr lang="zh-CN" altLang="en-US" dirty="0">
                <a:effectLst/>
              </a:rPr>
              <a:t>，虽然多花了点时间重新计算，但换来的是能训练更大的模型。</a:t>
            </a:r>
            <a:endParaRPr lang="zh-CN" altLang="en-US" dirty="0">
              <a:effectLst/>
            </a:endParaRPr>
          </a:p>
          <a:p>
            <a:pPr marL="0" marR="0"/>
            <a:r>
              <a:rPr lang="en-US" altLang="zh-CN" b="1" dirty="0">
                <a:effectLst/>
              </a:rPr>
              <a:t>2. </a:t>
            </a:r>
            <a:r>
              <a:rPr lang="zh-CN" altLang="en-US" b="1" dirty="0">
                <a:effectLst/>
              </a:rPr>
              <a:t>借用“外援仓库”</a:t>
            </a:r>
            <a:r>
              <a:rPr lang="en-US" altLang="zh-CN" b="1" dirty="0">
                <a:effectLst/>
              </a:rPr>
              <a:t>——</a:t>
            </a:r>
            <a:r>
              <a:rPr lang="en-GB" altLang="zh-CN" b="1" dirty="0">
                <a:effectLst/>
              </a:rPr>
              <a:t>CPU</a:t>
            </a:r>
            <a:r>
              <a:rPr lang="zh-CN" altLang="en-US" b="1" dirty="0">
                <a:effectLst/>
              </a:rPr>
              <a:t>内存扩展</a:t>
            </a:r>
            <a:endParaRPr lang="zh-CN" altLang="en-US" dirty="0">
              <a:effectLst/>
            </a:endParaRPr>
          </a:p>
          <a:p>
            <a:pPr marL="0" marR="0"/>
            <a:r>
              <a:rPr lang="zh-CN" altLang="en-US" dirty="0">
                <a:effectLst/>
              </a:rPr>
              <a:t>你的背包（</a:t>
            </a:r>
            <a:r>
              <a:rPr lang="en-GB" altLang="zh-CN" dirty="0">
                <a:effectLst/>
              </a:rPr>
              <a:t>GPU</a:t>
            </a:r>
            <a:r>
              <a:rPr lang="zh-CN" altLang="en-US" dirty="0">
                <a:effectLst/>
              </a:rPr>
              <a:t>内存）只能装</a:t>
            </a:r>
            <a:r>
              <a:rPr lang="en-US" altLang="zh-CN" dirty="0">
                <a:effectLst/>
              </a:rPr>
              <a:t>5</a:t>
            </a:r>
            <a:r>
              <a:rPr lang="zh-CN" altLang="en-US" dirty="0">
                <a:effectLst/>
              </a:rPr>
              <a:t>本书，但旁边有个大柜子（</a:t>
            </a:r>
            <a:r>
              <a:rPr lang="en-GB" altLang="zh-CN" dirty="0">
                <a:effectLst/>
              </a:rPr>
              <a:t>CPU</a:t>
            </a:r>
            <a:r>
              <a:rPr lang="zh-CN" altLang="en-US" dirty="0">
                <a:effectLst/>
              </a:rPr>
              <a:t>内存）能装</a:t>
            </a:r>
            <a:r>
              <a:rPr lang="en-US" altLang="zh-CN" dirty="0">
                <a:effectLst/>
              </a:rPr>
              <a:t>100</a:t>
            </a:r>
            <a:r>
              <a:rPr lang="zh-CN" altLang="en-US" dirty="0">
                <a:effectLst/>
              </a:rPr>
              <a:t>本。</a:t>
            </a:r>
            <a:endParaRPr lang="zh-CN" altLang="en-US" dirty="0">
              <a:effectLst/>
            </a:endParaRPr>
          </a:p>
          <a:p>
            <a:pPr marL="0" marR="0"/>
            <a:r>
              <a:rPr lang="en-GB" altLang="zh-CN" dirty="0" err="1">
                <a:effectLst/>
              </a:rPr>
              <a:t>DeepSeek</a:t>
            </a:r>
            <a:r>
              <a:rPr lang="zh-CN" altLang="en-US" dirty="0">
                <a:effectLst/>
              </a:rPr>
              <a:t>的做法：把暂时用不到的数据（比如指数移动平均）先存到</a:t>
            </a:r>
            <a:r>
              <a:rPr lang="en-GB" altLang="zh-CN" dirty="0">
                <a:effectLst/>
              </a:rPr>
              <a:t>CPU</a:t>
            </a:r>
            <a:r>
              <a:rPr lang="zh-CN" altLang="en-US" dirty="0">
                <a:effectLst/>
              </a:rPr>
              <a:t>的“大柜子”里，等</a:t>
            </a:r>
            <a:r>
              <a:rPr lang="en-GB" altLang="zh-CN" dirty="0">
                <a:effectLst/>
              </a:rPr>
              <a:t>GPU</a:t>
            </a:r>
            <a:r>
              <a:rPr lang="zh-CN" altLang="en-US" dirty="0">
                <a:effectLst/>
              </a:rPr>
              <a:t>需要时再搬回来。</a:t>
            </a:r>
            <a:endParaRPr lang="zh-CN" altLang="en-US" dirty="0">
              <a:effectLst/>
            </a:endParaRPr>
          </a:p>
          <a:p>
            <a:pPr marL="0" marR="0"/>
            <a:r>
              <a:rPr lang="zh-CN" altLang="en-US" dirty="0">
                <a:effectLst/>
              </a:rPr>
              <a:t>效果：相当于给</a:t>
            </a:r>
            <a:r>
              <a:rPr lang="en-GB" altLang="zh-CN" dirty="0">
                <a:effectLst/>
              </a:rPr>
              <a:t>GPU</a:t>
            </a:r>
            <a:r>
              <a:rPr lang="zh-CN" altLang="en-US" dirty="0">
                <a:effectLst/>
              </a:rPr>
              <a:t>内存扩容，让模型规模不再受限于显卡内存。</a:t>
            </a:r>
            <a:endParaRPr lang="zh-CN" altLang="en-US" dirty="0">
              <a:effectLst/>
            </a:endParaRPr>
          </a:p>
          <a:p>
            <a:pPr marL="0" marR="0"/>
            <a:r>
              <a:rPr lang="en-US" altLang="zh-CN" b="1" dirty="0">
                <a:effectLst/>
              </a:rPr>
              <a:t>3. </a:t>
            </a:r>
            <a:r>
              <a:rPr lang="zh-CN" altLang="en-US" b="1" dirty="0">
                <a:effectLst/>
              </a:rPr>
              <a:t>一物多用，参数共享</a:t>
            </a:r>
            <a:r>
              <a:rPr lang="en-US" altLang="zh-CN" b="1" dirty="0">
                <a:effectLst/>
              </a:rPr>
              <a:t>——</a:t>
            </a:r>
            <a:r>
              <a:rPr lang="zh-CN" altLang="en-US" b="1" dirty="0">
                <a:effectLst/>
              </a:rPr>
              <a:t>参数共享</a:t>
            </a:r>
            <a:endParaRPr lang="zh-CN" altLang="en-US" dirty="0">
              <a:effectLst/>
            </a:endParaRPr>
          </a:p>
          <a:p>
            <a:pPr marL="0" marR="0"/>
            <a:r>
              <a:rPr lang="zh-CN" altLang="en-US" dirty="0">
                <a:effectLst/>
              </a:rPr>
              <a:t>就像一支笔既用来写字又用来画画，避免买两套工具。</a:t>
            </a:r>
            <a:endParaRPr lang="zh-CN" altLang="en-US" dirty="0">
              <a:effectLst/>
            </a:endParaRPr>
          </a:p>
          <a:p>
            <a:pPr marL="0" marR="0"/>
            <a:r>
              <a:rPr lang="zh-CN" altLang="en-US" dirty="0">
                <a:effectLst/>
              </a:rPr>
              <a:t>原理：传统模型中不同模块有独立参数，导致大量重复。</a:t>
            </a:r>
            <a:endParaRPr lang="zh-CN" altLang="en-US" dirty="0">
              <a:effectLst/>
            </a:endParaRPr>
          </a:p>
          <a:p>
            <a:pPr marL="0" marR="0"/>
            <a:r>
              <a:rPr lang="en-GB" altLang="zh-CN" dirty="0" err="1">
                <a:effectLst/>
              </a:rPr>
              <a:t>DeepSeek</a:t>
            </a:r>
            <a:r>
              <a:rPr lang="zh-CN" altLang="en-US" dirty="0">
                <a:effectLst/>
              </a:rPr>
              <a:t>的做法：让多个模块共用同一组参数。例如让</a:t>
            </a:r>
            <a:r>
              <a:rPr lang="zh-CN" altLang="en-US" dirty="0">
                <a:solidFill>
                  <a:srgbClr val="000000"/>
                </a:solidFill>
                <a:effectLst/>
              </a:rPr>
              <a:t>主模型和</a:t>
            </a:r>
            <a:r>
              <a:rPr lang="en-GB" altLang="zh-CN" dirty="0">
                <a:solidFill>
                  <a:srgbClr val="000000"/>
                </a:solidFill>
                <a:effectLst/>
              </a:rPr>
              <a:t>MTP</a:t>
            </a:r>
            <a:r>
              <a:rPr lang="zh-CN" altLang="en-US" dirty="0">
                <a:solidFill>
                  <a:srgbClr val="000000"/>
                </a:solidFill>
                <a:effectLst/>
              </a:rPr>
              <a:t>模块共享参数、梯度、嵌入和输出头</a:t>
            </a:r>
            <a:endParaRPr lang="zh-CN" altLang="en-US" dirty="0">
              <a:effectLst/>
            </a:endParaRPr>
          </a:p>
          <a:p>
            <a:pPr marL="0" marR="0"/>
            <a:r>
              <a:rPr lang="zh-CN" altLang="en-US" dirty="0">
                <a:effectLst/>
              </a:rPr>
              <a:t>效果：参数总量减少</a:t>
            </a:r>
            <a:r>
              <a:rPr lang="en-US" altLang="zh-CN" dirty="0">
                <a:effectLst/>
              </a:rPr>
              <a:t>20%</a:t>
            </a:r>
            <a:r>
              <a:rPr lang="zh-CN" altLang="en-US" dirty="0">
                <a:effectLst/>
              </a:rPr>
              <a:t>以上。</a:t>
            </a:r>
            <a:endParaRPr lang="zh-CN" altLang="en-US" dirty="0">
              <a:effectLst/>
            </a:endParaRPr>
          </a:p>
          <a:p>
            <a:pPr marL="0" marR="0"/>
            <a:r>
              <a:rPr lang="zh-CN" altLang="en-US" dirty="0">
                <a:effectLst/>
              </a:rPr>
              <a:t>这些技术合起来有什么用？</a:t>
            </a:r>
            <a:endParaRPr lang="zh-CN" altLang="en-US" dirty="0">
              <a:effectLst/>
            </a:endParaRPr>
          </a:p>
          <a:p>
            <a:pPr marL="0" marR="0"/>
            <a:r>
              <a:rPr lang="zh-CN" altLang="en-US" dirty="0">
                <a:effectLst/>
              </a:rPr>
              <a:t>训练更大的模型：原本要在</a:t>
            </a:r>
            <a:r>
              <a:rPr lang="en-US" altLang="zh-CN" dirty="0">
                <a:effectLst/>
              </a:rPr>
              <a:t>8</a:t>
            </a:r>
            <a:r>
              <a:rPr lang="zh-CN" altLang="en-US" dirty="0">
                <a:effectLst/>
              </a:rPr>
              <a:t>张显卡上跑的模型，现在</a:t>
            </a:r>
            <a:r>
              <a:rPr lang="en-US" altLang="zh-CN" dirty="0">
                <a:effectLst/>
              </a:rPr>
              <a:t>4</a:t>
            </a:r>
            <a:r>
              <a:rPr lang="zh-CN" altLang="en-US" dirty="0">
                <a:effectLst/>
              </a:rPr>
              <a:t>张就能搞定。减少硬件需求，电费和碳排放都降低。</a:t>
            </a:r>
            <a:endParaRPr lang="zh-CN" altLang="en-US" dirty="0">
              <a:effectLst/>
            </a:endParaRPr>
          </a:p>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D531BE-3B4D-0547-8739-67D02DA1D288}"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D531BE-3B4D-0547-8739-67D02DA1D288}"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r>
              <a:rPr lang="zh-CN" altLang="en-US" dirty="0">
                <a:solidFill>
                  <a:srgbClr val="191B1F"/>
                </a:solidFill>
                <a:effectLst/>
              </a:rPr>
              <a:t>通常的大模型训练会采用</a:t>
            </a:r>
            <a:r>
              <a:rPr lang="en-US" altLang="zh-CN" dirty="0">
                <a:solidFill>
                  <a:srgbClr val="191B1F"/>
                </a:solidFill>
                <a:effectLst/>
              </a:rPr>
              <a:t>16</a:t>
            </a:r>
            <a:r>
              <a:rPr lang="zh-CN" altLang="en-US" dirty="0">
                <a:solidFill>
                  <a:srgbClr val="191B1F"/>
                </a:solidFill>
                <a:effectLst/>
              </a:rPr>
              <a:t>位浮点或</a:t>
            </a:r>
            <a:r>
              <a:rPr lang="en-US" altLang="zh-CN" dirty="0">
                <a:solidFill>
                  <a:srgbClr val="191B1F"/>
                </a:solidFill>
                <a:effectLst/>
              </a:rPr>
              <a:t>32</a:t>
            </a:r>
            <a:r>
              <a:rPr lang="zh-CN" altLang="en-US" dirty="0">
                <a:solidFill>
                  <a:srgbClr val="191B1F"/>
                </a:solidFill>
                <a:effectLst/>
              </a:rPr>
              <a:t>位浮点精度作为数据计算和存储的格式，来确保较高的训练精度。好比用「精密电子秤」称重</a:t>
            </a:r>
            <a:r>
              <a:rPr lang="en-US" altLang="zh-CN" dirty="0">
                <a:solidFill>
                  <a:srgbClr val="191B1F"/>
                </a:solidFill>
                <a:effectLst/>
              </a:rPr>
              <a:t>——</a:t>
            </a:r>
            <a:r>
              <a:rPr lang="zh-CN" altLang="en-US" dirty="0">
                <a:solidFill>
                  <a:srgbClr val="191B1F"/>
                </a:solidFill>
                <a:effectLst/>
              </a:rPr>
              <a:t>结果准确，但速度慢、耗电高。</a:t>
            </a:r>
            <a:endParaRPr lang="zh-CN" altLang="en-US" dirty="0">
              <a:effectLst/>
            </a:endParaRPr>
          </a:p>
          <a:p>
            <a:pPr marL="0" marR="0"/>
            <a:r>
              <a:rPr lang="zh-CN" altLang="en-US" dirty="0">
                <a:solidFill>
                  <a:srgbClr val="191B1F"/>
                </a:solidFill>
                <a:effectLst/>
              </a:rPr>
              <a:t>如右图所示，相比之下，</a:t>
            </a:r>
            <a:r>
              <a:rPr lang="en-GB" altLang="zh-CN" dirty="0">
                <a:solidFill>
                  <a:srgbClr val="191B1F"/>
                </a:solidFill>
                <a:effectLst/>
              </a:rPr>
              <a:t>FP8</a:t>
            </a:r>
            <a:r>
              <a:rPr lang="zh-CN" altLang="en-US" dirty="0">
                <a:solidFill>
                  <a:srgbClr val="191B1F"/>
                </a:solidFill>
                <a:effectLst/>
              </a:rPr>
              <a:t>占用的数据位宽仅为</a:t>
            </a:r>
            <a:r>
              <a:rPr lang="en-GB" altLang="zh-CN" dirty="0">
                <a:solidFill>
                  <a:srgbClr val="191B1F"/>
                </a:solidFill>
                <a:effectLst/>
              </a:rPr>
              <a:t>FP32</a:t>
            </a:r>
            <a:r>
              <a:rPr lang="zh-CN" altLang="en-US" dirty="0">
                <a:solidFill>
                  <a:srgbClr val="191B1F"/>
                </a:solidFill>
                <a:effectLst/>
              </a:rPr>
              <a:t>的</a:t>
            </a:r>
            <a:r>
              <a:rPr lang="en-US" altLang="zh-CN" dirty="0">
                <a:solidFill>
                  <a:srgbClr val="191B1F"/>
                </a:solidFill>
                <a:effectLst/>
              </a:rPr>
              <a:t>1/4</a:t>
            </a:r>
            <a:r>
              <a:rPr lang="zh-CN" altLang="en-US" dirty="0">
                <a:solidFill>
                  <a:srgbClr val="191B1F"/>
                </a:solidFill>
                <a:effectLst/>
              </a:rPr>
              <a:t>，可以有力的提升计算速度，降低对存储的消耗。当然，</a:t>
            </a:r>
            <a:r>
              <a:rPr lang="en-GB" altLang="zh-CN" dirty="0">
                <a:solidFill>
                  <a:srgbClr val="191B1F"/>
                </a:solidFill>
                <a:effectLst/>
              </a:rPr>
              <a:t>FP8</a:t>
            </a:r>
            <a:r>
              <a:rPr lang="zh-CN" altLang="en-US" dirty="0">
                <a:solidFill>
                  <a:srgbClr val="191B1F"/>
                </a:solidFill>
                <a:effectLst/>
              </a:rPr>
              <a:t>也存在精度不高，容易导致训练失败的潜在问题。如同「便携弹簧秤」</a:t>
            </a:r>
            <a:r>
              <a:rPr lang="en-US" altLang="zh-CN" dirty="0">
                <a:solidFill>
                  <a:srgbClr val="191B1F"/>
                </a:solidFill>
                <a:effectLst/>
              </a:rPr>
              <a:t>——</a:t>
            </a:r>
            <a:r>
              <a:rPr lang="zh-CN" altLang="en-US" dirty="0">
                <a:solidFill>
                  <a:srgbClr val="191B1F"/>
                </a:solidFill>
                <a:effectLst/>
              </a:rPr>
              <a:t>速度快、省内存（仅为</a:t>
            </a:r>
            <a:r>
              <a:rPr lang="en-GB" altLang="zh-CN" dirty="0">
                <a:solidFill>
                  <a:srgbClr val="191B1F"/>
                </a:solidFill>
                <a:effectLst/>
              </a:rPr>
              <a:t>FP32</a:t>
            </a:r>
            <a:r>
              <a:rPr lang="zh-CN" altLang="en-US" dirty="0">
                <a:solidFill>
                  <a:srgbClr val="191B1F"/>
                </a:solidFill>
                <a:effectLst/>
              </a:rPr>
              <a:t>的</a:t>
            </a:r>
            <a:r>
              <a:rPr lang="en-US" altLang="zh-CN" dirty="0">
                <a:solidFill>
                  <a:srgbClr val="191B1F"/>
                </a:solidFill>
                <a:effectLst/>
              </a:rPr>
              <a:t>1/4</a:t>
            </a:r>
            <a:r>
              <a:rPr lang="zh-CN" altLang="en-US" dirty="0">
                <a:solidFill>
                  <a:srgbClr val="191B1F"/>
                </a:solidFill>
                <a:effectLst/>
              </a:rPr>
              <a:t>），但精度低，容易因误差积累导致训练失败。</a:t>
            </a:r>
            <a:endParaRPr lang="zh-CN" altLang="en-US" dirty="0">
              <a:effectLst/>
            </a:endParaRPr>
          </a:p>
          <a:p>
            <a:pPr marL="0" marR="0"/>
            <a:r>
              <a:rPr lang="en-GB" altLang="zh-CN" dirty="0" err="1">
                <a:effectLst/>
              </a:rPr>
              <a:t>DeepSeek</a:t>
            </a:r>
            <a:r>
              <a:rPr lang="zh-CN" altLang="en-US" dirty="0">
                <a:effectLst/>
              </a:rPr>
              <a:t>的破局思路：</a:t>
            </a:r>
            <a:r>
              <a:rPr lang="zh-CN" altLang="en-US" dirty="0">
                <a:solidFill>
                  <a:srgbClr val="191B1F"/>
                </a:solidFill>
                <a:effectLst/>
              </a:rPr>
              <a:t>在关键环节用</a:t>
            </a:r>
            <a:r>
              <a:rPr lang="en-GB" altLang="zh-CN" dirty="0">
                <a:solidFill>
                  <a:srgbClr val="191B1F"/>
                </a:solidFill>
                <a:effectLst/>
              </a:rPr>
              <a:t>FP8</a:t>
            </a:r>
            <a:r>
              <a:rPr lang="zh-CN" altLang="en-US" dirty="0">
                <a:solidFill>
                  <a:srgbClr val="191B1F"/>
                </a:solidFill>
                <a:effectLst/>
              </a:rPr>
              <a:t>提速，在易出错环节保留高精度，形成「混合精度框架」，实现速度翻倍的同时规避风险。</a:t>
            </a:r>
            <a:r>
              <a:rPr lang="zh-CN" altLang="en-US" dirty="0">
                <a:solidFill>
                  <a:srgbClr val="262626"/>
                </a:solidFill>
                <a:effectLst/>
              </a:rPr>
              <a:t>在训练过程中，大部分核心计算内核均采用</a:t>
            </a:r>
            <a:r>
              <a:rPr lang="en-GB" altLang="zh-CN" dirty="0">
                <a:solidFill>
                  <a:srgbClr val="262626"/>
                </a:solidFill>
                <a:effectLst/>
              </a:rPr>
              <a:t>FP8</a:t>
            </a:r>
            <a:r>
              <a:rPr lang="zh-CN" altLang="en-US" dirty="0">
                <a:solidFill>
                  <a:srgbClr val="262626"/>
                </a:solidFill>
                <a:effectLst/>
              </a:rPr>
              <a:t>精度实现。例如，在前向传播、激活反向传播和权重反向传播中，输入数据均使用</a:t>
            </a:r>
            <a:r>
              <a:rPr lang="en-GB" altLang="zh-CN" dirty="0">
                <a:solidFill>
                  <a:srgbClr val="262626"/>
                </a:solidFill>
                <a:effectLst/>
              </a:rPr>
              <a:t>FP8</a:t>
            </a:r>
            <a:r>
              <a:rPr lang="zh-CN" altLang="en-US" dirty="0">
                <a:solidFill>
                  <a:srgbClr val="262626"/>
                </a:solidFill>
                <a:effectLst/>
              </a:rPr>
              <a:t>格式。在输出结果处，则使用</a:t>
            </a:r>
            <a:r>
              <a:rPr lang="en-GB" altLang="zh-CN" dirty="0">
                <a:solidFill>
                  <a:srgbClr val="262626"/>
                </a:solidFill>
                <a:effectLst/>
              </a:rPr>
              <a:t>BF16</a:t>
            </a:r>
            <a:r>
              <a:rPr lang="zh-CN" altLang="en-US" dirty="0">
                <a:solidFill>
                  <a:srgbClr val="262626"/>
                </a:solidFill>
                <a:effectLst/>
              </a:rPr>
              <a:t>或</a:t>
            </a:r>
            <a:r>
              <a:rPr lang="en-GB" altLang="zh-CN" dirty="0">
                <a:solidFill>
                  <a:srgbClr val="262626"/>
                </a:solidFill>
                <a:effectLst/>
              </a:rPr>
              <a:t>FP32</a:t>
            </a:r>
            <a:r>
              <a:rPr lang="zh-CN" altLang="en-US" dirty="0">
                <a:solidFill>
                  <a:srgbClr val="262626"/>
                </a:solidFill>
                <a:effectLst/>
              </a:rPr>
              <a:t>格式。这种设计使得计算速度相较于原始</a:t>
            </a:r>
            <a:r>
              <a:rPr lang="en-GB" altLang="zh-CN" dirty="0">
                <a:solidFill>
                  <a:srgbClr val="262626"/>
                </a:solidFill>
                <a:effectLst/>
              </a:rPr>
              <a:t>BF16</a:t>
            </a:r>
            <a:r>
              <a:rPr lang="zh-CN" altLang="en-US" dirty="0">
                <a:solidFill>
                  <a:srgbClr val="262626"/>
                </a:solidFill>
                <a:effectLst/>
              </a:rPr>
              <a:t>方法提升一倍。</a:t>
            </a:r>
            <a:endParaRPr lang="zh-CN" altLang="en-US" dirty="0">
              <a:effectLst/>
            </a:endParaRPr>
          </a:p>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D531BE-3B4D-0547-8739-67D02DA1D288}"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r>
              <a:rPr lang="zh-CN" altLang="en-US" dirty="0">
                <a:solidFill>
                  <a:srgbClr val="191B1F"/>
                </a:solidFill>
                <a:effectLst/>
              </a:rPr>
              <a:t>使用</a:t>
            </a:r>
            <a:r>
              <a:rPr lang="en-GB" altLang="zh-CN" dirty="0">
                <a:solidFill>
                  <a:srgbClr val="191B1F"/>
                </a:solidFill>
                <a:effectLst/>
              </a:rPr>
              <a:t>FP8</a:t>
            </a:r>
            <a:r>
              <a:rPr lang="zh-CN" altLang="en-US" dirty="0">
                <a:solidFill>
                  <a:srgbClr val="191B1F"/>
                </a:solidFill>
                <a:effectLst/>
              </a:rPr>
              <a:t>框架进行训练的主要挑战在于精度与误差的处理。</a:t>
            </a:r>
            <a:r>
              <a:rPr lang="en-GB" altLang="zh-CN" dirty="0" err="1">
                <a:solidFill>
                  <a:srgbClr val="191B1F"/>
                </a:solidFill>
                <a:effectLst/>
              </a:rPr>
              <a:t>DeepSeek</a:t>
            </a:r>
            <a:r>
              <a:rPr lang="zh-CN" altLang="en-US" dirty="0">
                <a:solidFill>
                  <a:srgbClr val="191B1F"/>
                </a:solidFill>
                <a:effectLst/>
              </a:rPr>
              <a:t>为其</a:t>
            </a:r>
            <a:r>
              <a:rPr lang="en-GB" altLang="zh-CN" dirty="0">
                <a:solidFill>
                  <a:srgbClr val="191B1F"/>
                </a:solidFill>
                <a:effectLst/>
              </a:rPr>
              <a:t>FP8</a:t>
            </a:r>
            <a:r>
              <a:rPr lang="zh-CN" altLang="en-US" dirty="0">
                <a:solidFill>
                  <a:srgbClr val="191B1F"/>
                </a:solidFill>
                <a:effectLst/>
              </a:rPr>
              <a:t>低比特训练框架做了以下优化：</a:t>
            </a:r>
            <a:endParaRPr lang="zh-CN" altLang="en-US" dirty="0">
              <a:effectLst/>
            </a:endParaRPr>
          </a:p>
          <a:p>
            <a:pPr marL="0" marR="0"/>
            <a:r>
              <a:rPr lang="en-US" altLang="zh-CN" b="1" dirty="0">
                <a:effectLst/>
              </a:rPr>
              <a:t>1. </a:t>
            </a:r>
            <a:r>
              <a:rPr lang="zh-CN" altLang="en-US" b="1" dirty="0">
                <a:effectLst/>
              </a:rPr>
              <a:t>细粒度量化</a:t>
            </a:r>
            <a:r>
              <a:rPr lang="zh-CN" altLang="en-US" dirty="0">
                <a:effectLst/>
              </a:rPr>
              <a:t>：分块定制压缩方案</a:t>
            </a:r>
            <a:endParaRPr lang="zh-CN" altLang="en-US" dirty="0">
              <a:effectLst/>
            </a:endParaRPr>
          </a:p>
          <a:p>
            <a:pPr marL="0" marR="0"/>
            <a:r>
              <a:rPr lang="zh-CN" altLang="en-US" dirty="0">
                <a:effectLst/>
              </a:rPr>
              <a:t>问题：直接压缩整个模型像「用同一力度压扁所有快递箱」</a:t>
            </a:r>
            <a:r>
              <a:rPr lang="en-US" altLang="zh-CN" dirty="0">
                <a:effectLst/>
              </a:rPr>
              <a:t>——</a:t>
            </a:r>
            <a:r>
              <a:rPr lang="zh-CN" altLang="en-US" dirty="0">
                <a:effectLst/>
              </a:rPr>
              <a:t>部分易碎品会损坏。</a:t>
            </a:r>
            <a:endParaRPr lang="zh-CN" altLang="en-US" dirty="0">
              <a:effectLst/>
            </a:endParaRPr>
          </a:p>
          <a:p>
            <a:pPr marL="0" marR="0"/>
            <a:r>
              <a:rPr lang="zh-CN" altLang="en-US" dirty="0">
                <a:effectLst/>
              </a:rPr>
              <a:t>解决方案：</a:t>
            </a:r>
            <a:r>
              <a:rPr lang="zh-CN" altLang="en-US" dirty="0">
                <a:solidFill>
                  <a:srgbClr val="191B1F"/>
                </a:solidFill>
                <a:effectLst/>
              </a:rPr>
              <a:t>将数据分解成更小的组，每个组都使用特定乘数进行调整以保持高精度。</a:t>
            </a:r>
            <a:endParaRPr lang="zh-CN" altLang="en-US" dirty="0">
              <a:effectLst/>
            </a:endParaRPr>
          </a:p>
          <a:p>
            <a:pPr marL="0" marR="0"/>
            <a:r>
              <a:rPr lang="zh-CN" altLang="en-US" dirty="0">
                <a:effectLst/>
              </a:rPr>
              <a:t>激活值：每</a:t>
            </a:r>
            <a:r>
              <a:rPr lang="en-US" altLang="zh-CN" dirty="0">
                <a:effectLst/>
              </a:rPr>
              <a:t>1</a:t>
            </a:r>
            <a:r>
              <a:rPr lang="en-GB" altLang="zh-CN" dirty="0">
                <a:effectLst/>
              </a:rPr>
              <a:t>x128</a:t>
            </a:r>
            <a:r>
              <a:rPr lang="zh-CN" altLang="en-US" dirty="0">
                <a:effectLst/>
              </a:rPr>
              <a:t>数据块单独计算压缩比例（类似按包裹大小选不同纸箱）</a:t>
            </a:r>
            <a:endParaRPr lang="zh-CN" altLang="en-US" dirty="0">
              <a:effectLst/>
            </a:endParaRPr>
          </a:p>
          <a:p>
            <a:pPr marL="0" marR="0"/>
            <a:r>
              <a:rPr lang="zh-CN" altLang="en-US" dirty="0">
                <a:effectLst/>
              </a:rPr>
              <a:t>权重值：每</a:t>
            </a:r>
            <a:r>
              <a:rPr lang="en-US" altLang="zh-CN" dirty="0">
                <a:effectLst/>
              </a:rPr>
              <a:t>128</a:t>
            </a:r>
            <a:r>
              <a:rPr lang="en-GB" altLang="zh-CN" dirty="0">
                <a:effectLst/>
              </a:rPr>
              <a:t>x128</a:t>
            </a:r>
            <a:r>
              <a:rPr lang="zh-CN" altLang="en-US" dirty="0">
                <a:effectLst/>
              </a:rPr>
              <a:t>数据块独立调整（类似为不同货物定制泡沫填充）</a:t>
            </a:r>
            <a:endParaRPr lang="zh-CN" altLang="en-US" dirty="0">
              <a:effectLst/>
            </a:endParaRPr>
          </a:p>
          <a:p>
            <a:pPr marL="0" marR="0"/>
            <a:r>
              <a:rPr lang="zh-CN" altLang="en-US" dirty="0">
                <a:effectLst/>
              </a:rPr>
              <a:t>→ 最大限度保留关键信息，降低异常值影响。</a:t>
            </a:r>
            <a:endParaRPr lang="zh-CN" altLang="en-US" dirty="0">
              <a:effectLst/>
            </a:endParaRPr>
          </a:p>
          <a:p>
            <a:pPr marL="0" marR="0"/>
            <a:r>
              <a:rPr lang="en-US" altLang="zh-CN" b="1" dirty="0">
                <a:effectLst/>
              </a:rPr>
              <a:t>2. </a:t>
            </a:r>
            <a:r>
              <a:rPr lang="zh-CN" altLang="en-US" b="1" dirty="0">
                <a:effectLst/>
              </a:rPr>
              <a:t>在线量化</a:t>
            </a:r>
            <a:r>
              <a:rPr lang="zh-CN" altLang="en-US" dirty="0">
                <a:effectLst/>
              </a:rPr>
              <a:t>：实时动态校准</a:t>
            </a:r>
            <a:endParaRPr lang="zh-CN" altLang="en-US" dirty="0">
              <a:effectLst/>
            </a:endParaRPr>
          </a:p>
          <a:p>
            <a:pPr marL="0" marR="0"/>
            <a:r>
              <a:rPr lang="zh-CN" altLang="en-US" dirty="0">
                <a:effectLst/>
              </a:rPr>
              <a:t>传统方法：基于历史数据静态压缩数据块</a:t>
            </a:r>
            <a:endParaRPr lang="zh-CN" altLang="en-US" dirty="0">
              <a:effectLst/>
            </a:endParaRPr>
          </a:p>
          <a:p>
            <a:pPr marL="0" marR="0"/>
            <a:r>
              <a:rPr lang="en-GB" altLang="zh-CN" dirty="0" err="1">
                <a:effectLst/>
              </a:rPr>
              <a:t>DeepSeek</a:t>
            </a:r>
            <a:r>
              <a:rPr lang="zh-CN" altLang="en-US" dirty="0">
                <a:effectLst/>
              </a:rPr>
              <a:t>优化：</a:t>
            </a:r>
            <a:endParaRPr lang="zh-CN" altLang="en-US" dirty="0">
              <a:effectLst/>
            </a:endParaRPr>
          </a:p>
          <a:p>
            <a:pPr marL="0" marR="0"/>
            <a:r>
              <a:rPr lang="zh-CN" altLang="en-US" dirty="0">
                <a:effectLst/>
              </a:rPr>
              <a:t>实时监测每个数据块的最大绝对值，动态调整压缩比例</a:t>
            </a:r>
            <a:endParaRPr lang="zh-CN" altLang="en-US" dirty="0">
              <a:effectLst/>
            </a:endParaRPr>
          </a:p>
          <a:p>
            <a:pPr marL="0" marR="0"/>
            <a:r>
              <a:rPr lang="zh-CN" altLang="en-US" dirty="0">
                <a:effectLst/>
              </a:rPr>
              <a:t>→ 误差减少</a:t>
            </a:r>
            <a:r>
              <a:rPr lang="en-US" altLang="zh-CN" dirty="0">
                <a:effectLst/>
              </a:rPr>
              <a:t>30%</a:t>
            </a:r>
            <a:r>
              <a:rPr lang="zh-CN" altLang="en-US" dirty="0">
                <a:effectLst/>
              </a:rPr>
              <a:t>以上，避免「误差滚雪球」。</a:t>
            </a:r>
            <a:endParaRPr lang="zh-CN" altLang="en-US" dirty="0">
              <a:effectLst/>
            </a:endParaRPr>
          </a:p>
          <a:p>
            <a:pPr marL="0" marR="0"/>
            <a:r>
              <a:rPr lang="en-US" altLang="zh-CN" b="1" dirty="0">
                <a:effectLst/>
              </a:rPr>
              <a:t>3. </a:t>
            </a:r>
            <a:r>
              <a:rPr lang="zh-CN" altLang="en-US" b="1" dirty="0">
                <a:effectLst/>
              </a:rPr>
              <a:t>高精度累加</a:t>
            </a:r>
            <a:r>
              <a:rPr lang="zh-CN" altLang="en-US" dirty="0">
                <a:effectLst/>
              </a:rPr>
              <a:t>：关键环节用「电子秤」把关</a:t>
            </a:r>
            <a:endParaRPr lang="zh-CN" altLang="en-US" dirty="0">
              <a:effectLst/>
            </a:endParaRPr>
          </a:p>
          <a:p>
            <a:pPr marL="0" marR="0"/>
            <a:r>
              <a:rPr lang="en-GB" altLang="zh-CN" dirty="0">
                <a:solidFill>
                  <a:srgbClr val="191B1F"/>
                </a:solidFill>
                <a:effectLst/>
              </a:rPr>
              <a:t>FP8</a:t>
            </a:r>
            <a:r>
              <a:rPr lang="zh-CN" altLang="en-US" dirty="0">
                <a:solidFill>
                  <a:srgbClr val="191B1F"/>
                </a:solidFill>
                <a:effectLst/>
              </a:rPr>
              <a:t>的短板：</a:t>
            </a:r>
            <a:r>
              <a:rPr lang="en-GB" altLang="zh-CN" dirty="0">
                <a:solidFill>
                  <a:srgbClr val="191B1F"/>
                </a:solidFill>
                <a:effectLst/>
              </a:rPr>
              <a:t>FP8</a:t>
            </a:r>
            <a:r>
              <a:rPr lang="zh-CN" altLang="en-US" dirty="0">
                <a:solidFill>
                  <a:srgbClr val="191B1F"/>
                </a:solidFill>
                <a:effectLst/>
              </a:rPr>
              <a:t>在大量累加时会累积出现随机误差。例如</a:t>
            </a:r>
            <a:r>
              <a:rPr lang="en-GB" altLang="zh-CN" dirty="0">
                <a:solidFill>
                  <a:srgbClr val="191B1F"/>
                </a:solidFill>
                <a:effectLst/>
              </a:rPr>
              <a:t>FP8 GEMM</a:t>
            </a:r>
            <a:r>
              <a:rPr lang="zh-CN" altLang="en-US" dirty="0">
                <a:solidFill>
                  <a:srgbClr val="191B1F"/>
                </a:solidFill>
                <a:effectLst/>
              </a:rPr>
              <a:t>在</a:t>
            </a:r>
            <a:r>
              <a:rPr lang="zh-CN" altLang="en-US" dirty="0">
                <a:solidFill>
                  <a:srgbClr val="09408E"/>
                </a:solidFill>
                <a:effectLst/>
                <a:hlinkClick r:id="rId3"/>
              </a:rPr>
              <a:t>英伟达 </a:t>
            </a:r>
            <a:r>
              <a:rPr lang="en-GB" altLang="zh-CN" dirty="0">
                <a:solidFill>
                  <a:srgbClr val="09408E"/>
                </a:solidFill>
                <a:effectLst/>
                <a:hlinkClick r:id="rId3"/>
              </a:rPr>
              <a:t>H800 GPU</a:t>
            </a:r>
            <a:r>
              <a:rPr lang="en-GB" altLang="zh-CN" dirty="0">
                <a:solidFill>
                  <a:srgbClr val="191B1F"/>
                </a:solidFill>
                <a:effectLst/>
              </a:rPr>
              <a:t> </a:t>
            </a:r>
            <a:r>
              <a:rPr lang="zh-CN" altLang="en-US" dirty="0">
                <a:solidFill>
                  <a:srgbClr val="191B1F"/>
                </a:solidFill>
                <a:effectLst/>
              </a:rPr>
              <a:t>上的累加精度保留 </a:t>
            </a:r>
            <a:r>
              <a:rPr lang="en-US" altLang="zh-CN" dirty="0">
                <a:solidFill>
                  <a:srgbClr val="191B1F"/>
                </a:solidFill>
                <a:effectLst/>
              </a:rPr>
              <a:t>14 </a:t>
            </a:r>
            <a:r>
              <a:rPr lang="zh-CN" altLang="en-US" dirty="0">
                <a:solidFill>
                  <a:srgbClr val="191B1F"/>
                </a:solidFill>
                <a:effectLst/>
              </a:rPr>
              <a:t>位左右，明显低于 </a:t>
            </a:r>
            <a:r>
              <a:rPr lang="en-GB" altLang="zh-CN" dirty="0">
                <a:solidFill>
                  <a:srgbClr val="191B1F"/>
                </a:solidFill>
                <a:effectLst/>
              </a:rPr>
              <a:t>FP32 </a:t>
            </a:r>
            <a:r>
              <a:rPr lang="zh-CN" altLang="en-US" dirty="0">
                <a:solidFill>
                  <a:srgbClr val="191B1F"/>
                </a:solidFill>
                <a:effectLst/>
              </a:rPr>
              <a:t>累加精度。以 </a:t>
            </a:r>
            <a:r>
              <a:rPr lang="en-GB" altLang="zh-CN" dirty="0">
                <a:solidFill>
                  <a:srgbClr val="191B1F"/>
                </a:solidFill>
                <a:effectLst/>
              </a:rPr>
              <a:t>K = 4096 </a:t>
            </a:r>
            <a:r>
              <a:rPr lang="zh-CN" altLang="en-US" dirty="0">
                <a:solidFill>
                  <a:srgbClr val="191B1F"/>
                </a:solidFill>
                <a:effectLst/>
              </a:rPr>
              <a:t>的两个随机矩阵的 </a:t>
            </a:r>
            <a:r>
              <a:rPr lang="en-GB" altLang="zh-CN" dirty="0">
                <a:solidFill>
                  <a:srgbClr val="191B1F"/>
                </a:solidFill>
                <a:effectLst/>
              </a:rPr>
              <a:t>GEMM </a:t>
            </a:r>
            <a:r>
              <a:rPr lang="zh-CN" altLang="en-US" dirty="0">
                <a:solidFill>
                  <a:srgbClr val="191B1F"/>
                </a:solidFill>
                <a:effectLst/>
              </a:rPr>
              <a:t>运算为例，</a:t>
            </a:r>
            <a:r>
              <a:rPr lang="en-GB" altLang="zh-CN" dirty="0">
                <a:solidFill>
                  <a:srgbClr val="191B1F"/>
                </a:solidFill>
                <a:effectLst/>
              </a:rPr>
              <a:t>Tensor Core </a:t>
            </a:r>
            <a:r>
              <a:rPr lang="zh-CN" altLang="en-US" dirty="0">
                <a:solidFill>
                  <a:srgbClr val="191B1F"/>
                </a:solidFill>
                <a:effectLst/>
              </a:rPr>
              <a:t>中的有限累加精度可导致最大相对误差接近 </a:t>
            </a:r>
            <a:r>
              <a:rPr lang="en-US" altLang="zh-CN" dirty="0">
                <a:solidFill>
                  <a:srgbClr val="191B1F"/>
                </a:solidFill>
                <a:effectLst/>
              </a:rPr>
              <a:t>2%</a:t>
            </a:r>
            <a:r>
              <a:rPr lang="zh-CN" altLang="en-US" dirty="0">
                <a:solidFill>
                  <a:srgbClr val="191B1F"/>
                </a:solidFill>
                <a:effectLst/>
              </a:rPr>
              <a:t>。（好比用弹簧秤称</a:t>
            </a:r>
            <a:r>
              <a:rPr lang="en-US" altLang="zh-CN" dirty="0">
                <a:solidFill>
                  <a:srgbClr val="191B1F"/>
                </a:solidFill>
                <a:effectLst/>
              </a:rPr>
              <a:t>100</a:t>
            </a:r>
            <a:r>
              <a:rPr lang="zh-CN" altLang="en-US" dirty="0">
                <a:solidFill>
                  <a:srgbClr val="191B1F"/>
                </a:solidFill>
                <a:effectLst/>
              </a:rPr>
              <a:t>次大米，总重量偏差明显）</a:t>
            </a:r>
            <a:endParaRPr lang="zh-CN" altLang="en-US" dirty="0">
              <a:effectLst/>
            </a:endParaRPr>
          </a:p>
          <a:p>
            <a:pPr marL="0" marR="0"/>
            <a:r>
              <a:rPr lang="en-GB" altLang="zh-CN" dirty="0" err="1">
                <a:effectLst/>
              </a:rPr>
              <a:t>DeepSeek</a:t>
            </a:r>
            <a:r>
              <a:rPr lang="zh-CN" altLang="en-US" dirty="0">
                <a:effectLst/>
              </a:rPr>
              <a:t>的改进：</a:t>
            </a:r>
            <a:endParaRPr lang="zh-CN" altLang="en-US" dirty="0">
              <a:effectLst/>
            </a:endParaRPr>
          </a:p>
          <a:p>
            <a:pPr marL="0" marR="0"/>
            <a:r>
              <a:rPr lang="zh-CN" altLang="en-US" dirty="0">
                <a:effectLst/>
              </a:rPr>
              <a:t>在累加环节切换为</a:t>
            </a:r>
            <a:r>
              <a:rPr lang="en-GB" altLang="zh-CN" dirty="0">
                <a:effectLst/>
              </a:rPr>
              <a:t>FP32</a:t>
            </a:r>
            <a:r>
              <a:rPr lang="zh-CN" altLang="en-US" dirty="0">
                <a:effectLst/>
              </a:rPr>
              <a:t>精度计算（关键步骤换用电子秤），结果再转回</a:t>
            </a:r>
            <a:r>
              <a:rPr lang="en-GB" altLang="zh-CN" dirty="0">
                <a:effectLst/>
              </a:rPr>
              <a:t>FP8</a:t>
            </a:r>
            <a:endParaRPr lang="en-GB" altLang="zh-CN" dirty="0">
              <a:effectLst/>
            </a:endParaRPr>
          </a:p>
          <a:p>
            <a:pPr marL="0" marR="0"/>
            <a:r>
              <a:rPr lang="en-GB" altLang="zh-CN" dirty="0">
                <a:effectLst/>
              </a:rPr>
              <a:t>→ </a:t>
            </a:r>
            <a:r>
              <a:rPr lang="zh-CN" altLang="en-US" dirty="0">
                <a:effectLst/>
              </a:rPr>
              <a:t>累计误差降低</a:t>
            </a:r>
            <a:r>
              <a:rPr lang="en-US" altLang="zh-CN" dirty="0">
                <a:effectLst/>
              </a:rPr>
              <a:t>10</a:t>
            </a:r>
            <a:r>
              <a:rPr lang="zh-CN" altLang="en-US" dirty="0">
                <a:effectLst/>
              </a:rPr>
              <a:t>倍，避免「失之毫厘，谬以千里」。</a:t>
            </a:r>
            <a:endParaRPr lang="zh-CN" altLang="en-US" dirty="0">
              <a:effectLst/>
            </a:endParaRPr>
          </a:p>
          <a:p>
            <a:pPr marL="0" marR="0"/>
            <a:r>
              <a:rPr lang="en-US" altLang="zh-CN" b="1" dirty="0">
                <a:effectLst/>
              </a:rPr>
              <a:t>4. </a:t>
            </a:r>
            <a:r>
              <a:rPr lang="zh-CN" altLang="en-US" b="1" dirty="0">
                <a:effectLst/>
              </a:rPr>
              <a:t>混合存储策略</a:t>
            </a:r>
            <a:r>
              <a:rPr lang="zh-CN" altLang="en-US" dirty="0">
                <a:effectLst/>
              </a:rPr>
              <a:t>：精打细算省内存</a:t>
            </a:r>
            <a:endParaRPr lang="zh-CN" altLang="en-US" dirty="0">
              <a:effectLst/>
            </a:endParaRPr>
          </a:p>
          <a:p>
            <a:pPr marL="0" marR="0"/>
            <a:r>
              <a:rPr lang="zh-CN" altLang="en-US" dirty="0">
                <a:effectLst/>
              </a:rPr>
              <a:t>存储优化：</a:t>
            </a:r>
            <a:endParaRPr lang="zh-CN" altLang="en-US" dirty="0">
              <a:effectLst/>
            </a:endParaRPr>
          </a:p>
          <a:p>
            <a:pPr marL="0" marR="0"/>
            <a:r>
              <a:rPr lang="zh-CN" altLang="en-US" dirty="0">
                <a:effectLst/>
              </a:rPr>
              <a:t>激活值和临时数据用</a:t>
            </a:r>
            <a:r>
              <a:rPr lang="en-GB" altLang="zh-CN" dirty="0">
                <a:effectLst/>
              </a:rPr>
              <a:t>FP8</a:t>
            </a:r>
            <a:r>
              <a:rPr lang="zh-CN" altLang="en-US" dirty="0">
                <a:effectLst/>
              </a:rPr>
              <a:t>存储（小仓库存杂物）</a:t>
            </a:r>
            <a:endParaRPr lang="zh-CN" altLang="en-US" dirty="0">
              <a:effectLst/>
            </a:endParaRPr>
          </a:p>
          <a:p>
            <a:pPr marL="0" marR="0"/>
            <a:r>
              <a:rPr lang="zh-CN" altLang="en-US" dirty="0">
                <a:effectLst/>
              </a:rPr>
              <a:t>权重梯度和优化器状态用</a:t>
            </a:r>
            <a:r>
              <a:rPr lang="en-GB" altLang="zh-CN" dirty="0">
                <a:effectLst/>
              </a:rPr>
              <a:t>BF16/FP32</a:t>
            </a:r>
            <a:r>
              <a:rPr lang="zh-CN" altLang="en-US" dirty="0">
                <a:effectLst/>
              </a:rPr>
              <a:t>存储（保险箱存珠宝）</a:t>
            </a:r>
            <a:endParaRPr lang="zh-CN" altLang="en-US" dirty="0">
              <a:effectLst/>
            </a:endParaRPr>
          </a:p>
          <a:p>
            <a:pPr marL="0" marR="0"/>
            <a:r>
              <a:rPr lang="zh-CN" altLang="en-US" b="1" dirty="0">
                <a:effectLst/>
              </a:rPr>
              <a:t>效果：</a:t>
            </a:r>
            <a:r>
              <a:rPr lang="zh-CN" altLang="en-US" dirty="0">
                <a:solidFill>
                  <a:srgbClr val="262626"/>
                </a:solidFill>
                <a:effectLst/>
              </a:rPr>
              <a:t>通过混合精度框架，</a:t>
            </a:r>
            <a:r>
              <a:rPr lang="en-GB" altLang="zh-CN" dirty="0">
                <a:solidFill>
                  <a:srgbClr val="262626"/>
                </a:solidFill>
                <a:effectLst/>
              </a:rPr>
              <a:t>DeepSeek-V3</a:t>
            </a:r>
            <a:r>
              <a:rPr lang="zh-CN" altLang="en-US" dirty="0">
                <a:solidFill>
                  <a:srgbClr val="262626"/>
                </a:solidFill>
                <a:effectLst/>
              </a:rPr>
              <a:t>实现：</a:t>
            </a:r>
            <a:endParaRPr lang="zh-CN" altLang="en-US" dirty="0">
              <a:effectLst/>
            </a:endParaRPr>
          </a:p>
          <a:p>
            <a:pPr marL="0" marR="0"/>
            <a:r>
              <a:rPr lang="zh-CN" altLang="en-US" dirty="0">
                <a:effectLst/>
              </a:rPr>
              <a:t>✅</a:t>
            </a:r>
            <a:r>
              <a:rPr lang="zh-CN" altLang="en-US" dirty="0">
                <a:solidFill>
                  <a:srgbClr val="262626"/>
                </a:solidFill>
                <a:effectLst/>
              </a:rPr>
              <a:t> 训练速度翻倍：</a:t>
            </a:r>
            <a:r>
              <a:rPr lang="en-GB" altLang="zh-CN" dirty="0">
                <a:solidFill>
                  <a:srgbClr val="262626"/>
                </a:solidFill>
                <a:effectLst/>
              </a:rPr>
              <a:t>FP8</a:t>
            </a:r>
            <a:r>
              <a:rPr lang="zh-CN" altLang="en-US" dirty="0">
                <a:solidFill>
                  <a:srgbClr val="262626"/>
                </a:solidFill>
                <a:effectLst/>
              </a:rPr>
              <a:t>计算效率提升</a:t>
            </a:r>
            <a:r>
              <a:rPr lang="en-US" altLang="zh-CN" dirty="0">
                <a:solidFill>
                  <a:srgbClr val="262626"/>
                </a:solidFill>
                <a:effectLst/>
              </a:rPr>
              <a:t>2</a:t>
            </a:r>
            <a:r>
              <a:rPr lang="zh-CN" altLang="en-US" dirty="0">
                <a:solidFill>
                  <a:srgbClr val="262626"/>
                </a:solidFill>
                <a:effectLst/>
              </a:rPr>
              <a:t>倍</a:t>
            </a:r>
            <a:endParaRPr lang="zh-CN" altLang="en-US" dirty="0">
              <a:effectLst/>
            </a:endParaRPr>
          </a:p>
          <a:p>
            <a:pPr marL="0" marR="0"/>
            <a:r>
              <a:rPr lang="zh-CN" altLang="en-US" dirty="0">
                <a:effectLst/>
              </a:rPr>
              <a:t>✅</a:t>
            </a:r>
            <a:r>
              <a:rPr lang="zh-CN" altLang="en-US" dirty="0">
                <a:solidFill>
                  <a:srgbClr val="262626"/>
                </a:solidFill>
                <a:effectLst/>
              </a:rPr>
              <a:t> 显存消耗降低</a:t>
            </a:r>
            <a:r>
              <a:rPr lang="en-US" altLang="zh-CN" dirty="0">
                <a:solidFill>
                  <a:srgbClr val="262626"/>
                </a:solidFill>
                <a:effectLst/>
              </a:rPr>
              <a:t>40%</a:t>
            </a:r>
            <a:r>
              <a:rPr lang="zh-CN" altLang="en-US" dirty="0">
                <a:solidFill>
                  <a:srgbClr val="262626"/>
                </a:solidFill>
                <a:effectLst/>
              </a:rPr>
              <a:t>：小数据格式节省内存</a:t>
            </a:r>
            <a:endParaRPr lang="zh-CN" altLang="en-US" dirty="0">
              <a:effectLst/>
            </a:endParaRPr>
          </a:p>
          <a:p>
            <a:pPr marL="0" marR="0"/>
            <a:r>
              <a:rPr lang="zh-CN" altLang="en-US" dirty="0">
                <a:effectLst/>
              </a:rPr>
              <a:t>✅</a:t>
            </a:r>
            <a:r>
              <a:rPr lang="zh-CN" altLang="en-US" dirty="0">
                <a:solidFill>
                  <a:srgbClr val="262626"/>
                </a:solidFill>
                <a:effectLst/>
              </a:rPr>
              <a:t> 误差可控：混合精度设计让模型收敛稳定性媲美</a:t>
            </a:r>
            <a:r>
              <a:rPr lang="en-GB" altLang="zh-CN" dirty="0">
                <a:solidFill>
                  <a:srgbClr val="262626"/>
                </a:solidFill>
                <a:effectLst/>
              </a:rPr>
              <a:t>BF16</a:t>
            </a:r>
            <a:r>
              <a:rPr lang="zh-CN" altLang="en-US" dirty="0">
                <a:solidFill>
                  <a:srgbClr val="262626"/>
                </a:solidFill>
                <a:effectLst/>
              </a:rPr>
              <a:t>训练</a:t>
            </a:r>
            <a:endParaRPr lang="zh-CN" altLang="en-US" dirty="0">
              <a:effectLst/>
            </a:endParaRPr>
          </a:p>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D531BE-3B4D-0547-8739-67D02DA1D288}"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D531BE-3B4D-0547-8739-67D02DA1D288}"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r>
              <a:rPr lang="zh-CN" altLang="en-US" b="1" dirty="0">
                <a:solidFill>
                  <a:srgbClr val="191B1F"/>
                </a:solidFill>
                <a:effectLst/>
              </a:rPr>
              <a:t>并行训练框架：</a:t>
            </a:r>
            <a:endParaRPr lang="zh-CN" altLang="en-US" dirty="0">
              <a:effectLst/>
            </a:endParaRPr>
          </a:p>
          <a:p>
            <a:pPr marL="0" marR="0"/>
            <a:r>
              <a:rPr lang="en-GB" altLang="zh-CN" dirty="0">
                <a:solidFill>
                  <a:srgbClr val="191B1F"/>
                </a:solidFill>
                <a:effectLst/>
              </a:rPr>
              <a:t>V3 </a:t>
            </a:r>
            <a:r>
              <a:rPr lang="zh-CN" altLang="en-US" dirty="0">
                <a:solidFill>
                  <a:srgbClr val="191B1F"/>
                </a:solidFill>
                <a:effectLst/>
              </a:rPr>
              <a:t>的训练基于</a:t>
            </a:r>
            <a:r>
              <a:rPr lang="en-GB" altLang="zh-CN" dirty="0" err="1">
                <a:solidFill>
                  <a:srgbClr val="191B1F"/>
                </a:solidFill>
                <a:effectLst/>
              </a:rPr>
              <a:t>DeepSeek</a:t>
            </a:r>
            <a:r>
              <a:rPr lang="zh-CN" altLang="en-US" dirty="0">
                <a:solidFill>
                  <a:srgbClr val="191B1F"/>
                </a:solidFill>
                <a:effectLst/>
              </a:rPr>
              <a:t>自研的</a:t>
            </a:r>
            <a:r>
              <a:rPr lang="en-GB" altLang="zh-CN" dirty="0">
                <a:solidFill>
                  <a:srgbClr val="09408E"/>
                </a:solidFill>
                <a:effectLst/>
                <a:hlinkClick r:id="rId3"/>
              </a:rPr>
              <a:t>HAI-LLM </a:t>
            </a:r>
            <a:r>
              <a:rPr lang="zh-CN" altLang="en-US" dirty="0">
                <a:solidFill>
                  <a:srgbClr val="09408E"/>
                </a:solidFill>
                <a:effectLst/>
                <a:hlinkClick r:id="rId3"/>
              </a:rPr>
              <a:t>框架</a:t>
            </a:r>
            <a:r>
              <a:rPr lang="zh-CN" altLang="en-US" dirty="0">
                <a:solidFill>
                  <a:srgbClr val="191B1F"/>
                </a:solidFill>
                <a:effectLst/>
              </a:rPr>
              <a:t>。</a:t>
            </a:r>
            <a:r>
              <a:rPr lang="en-GB" altLang="zh-CN" dirty="0">
                <a:solidFill>
                  <a:srgbClr val="191B1F"/>
                </a:solidFill>
                <a:effectLst/>
              </a:rPr>
              <a:t>HAI-LLM</a:t>
            </a:r>
            <a:r>
              <a:rPr lang="zh-CN" altLang="en-US" dirty="0">
                <a:solidFill>
                  <a:srgbClr val="191B1F"/>
                </a:solidFill>
                <a:effectLst/>
              </a:rPr>
              <a:t>是一个高效、轻量级的训练框架。它的设计充分考虑了多种并行策略。根据</a:t>
            </a:r>
            <a:r>
              <a:rPr lang="en-GB" altLang="zh-CN" dirty="0" err="1">
                <a:solidFill>
                  <a:srgbClr val="191B1F"/>
                </a:solidFill>
                <a:effectLst/>
              </a:rPr>
              <a:t>DeepSeek</a:t>
            </a:r>
            <a:r>
              <a:rPr lang="zh-CN" altLang="en-US" dirty="0">
                <a:solidFill>
                  <a:srgbClr val="191B1F"/>
                </a:solidFill>
                <a:effectLst/>
              </a:rPr>
              <a:t>的论文，</a:t>
            </a:r>
            <a:r>
              <a:rPr lang="en-GB" altLang="zh-CN" dirty="0">
                <a:solidFill>
                  <a:srgbClr val="191B1F"/>
                </a:solidFill>
                <a:effectLst/>
              </a:rPr>
              <a:t>V3 </a:t>
            </a:r>
            <a:r>
              <a:rPr lang="zh-CN" altLang="en-US" dirty="0">
                <a:solidFill>
                  <a:srgbClr val="191B1F"/>
                </a:solidFill>
                <a:effectLst/>
              </a:rPr>
              <a:t>应用了 </a:t>
            </a:r>
            <a:r>
              <a:rPr lang="en-US" altLang="zh-CN" dirty="0">
                <a:solidFill>
                  <a:srgbClr val="191B1F"/>
                </a:solidFill>
                <a:effectLst/>
              </a:rPr>
              <a:t>16 </a:t>
            </a:r>
            <a:r>
              <a:rPr lang="zh-CN" altLang="en-US" dirty="0">
                <a:solidFill>
                  <a:srgbClr val="191B1F"/>
                </a:solidFill>
                <a:effectLst/>
              </a:rPr>
              <a:t>路流水线并行 （</a:t>
            </a:r>
            <a:r>
              <a:rPr lang="en-GB" altLang="zh-CN" dirty="0">
                <a:solidFill>
                  <a:srgbClr val="191B1F"/>
                </a:solidFill>
                <a:effectLst/>
              </a:rPr>
              <a:t>PP</a:t>
            </a:r>
            <a:r>
              <a:rPr lang="zh-CN" altLang="en-GB" dirty="0">
                <a:solidFill>
                  <a:srgbClr val="191B1F"/>
                </a:solidFill>
                <a:effectLst/>
              </a:rPr>
              <a:t>）、</a:t>
            </a:r>
            <a:r>
              <a:rPr lang="zh-CN" altLang="en-US" dirty="0">
                <a:solidFill>
                  <a:srgbClr val="191B1F"/>
                </a:solidFill>
                <a:effectLst/>
              </a:rPr>
              <a:t>跨越 </a:t>
            </a:r>
            <a:r>
              <a:rPr lang="en-US" altLang="zh-CN" dirty="0">
                <a:solidFill>
                  <a:srgbClr val="191B1F"/>
                </a:solidFill>
                <a:effectLst/>
              </a:rPr>
              <a:t>8 </a:t>
            </a:r>
            <a:r>
              <a:rPr lang="zh-CN" altLang="en-US" dirty="0">
                <a:solidFill>
                  <a:srgbClr val="191B1F"/>
                </a:solidFill>
                <a:effectLst/>
              </a:rPr>
              <a:t>个（服务器）节点的 </a:t>
            </a:r>
            <a:r>
              <a:rPr lang="en-US" altLang="zh-CN" dirty="0">
                <a:solidFill>
                  <a:srgbClr val="191B1F"/>
                </a:solidFill>
                <a:effectLst/>
              </a:rPr>
              <a:t>64 </a:t>
            </a:r>
            <a:r>
              <a:rPr lang="zh-CN" altLang="en-US" dirty="0">
                <a:solidFill>
                  <a:srgbClr val="191B1F"/>
                </a:solidFill>
                <a:effectLst/>
              </a:rPr>
              <a:t>路专家并行 （</a:t>
            </a:r>
            <a:r>
              <a:rPr lang="en-GB" altLang="zh-CN" dirty="0">
                <a:solidFill>
                  <a:srgbClr val="191B1F"/>
                </a:solidFill>
                <a:effectLst/>
              </a:rPr>
              <a:t>EP</a:t>
            </a:r>
            <a:r>
              <a:rPr lang="zh-CN" altLang="en-GB" dirty="0">
                <a:solidFill>
                  <a:srgbClr val="191B1F"/>
                </a:solidFill>
                <a:effectLst/>
              </a:rPr>
              <a:t>）</a:t>
            </a:r>
            <a:r>
              <a:rPr lang="zh-CN" altLang="en-US" dirty="0">
                <a:solidFill>
                  <a:srgbClr val="191B1F"/>
                </a:solidFill>
                <a:effectLst/>
              </a:rPr>
              <a:t>和 </a:t>
            </a:r>
            <a:r>
              <a:rPr lang="en-GB" altLang="zh-CN" dirty="0">
                <a:solidFill>
                  <a:srgbClr val="191B1F"/>
                </a:solidFill>
                <a:effectLst/>
              </a:rPr>
              <a:t>ZeRO-1 </a:t>
            </a:r>
            <a:r>
              <a:rPr lang="zh-CN" altLang="en-US" dirty="0">
                <a:solidFill>
                  <a:srgbClr val="191B1F"/>
                </a:solidFill>
                <a:effectLst/>
              </a:rPr>
              <a:t>数据并行 （</a:t>
            </a:r>
            <a:r>
              <a:rPr lang="en-GB" altLang="zh-CN" dirty="0">
                <a:solidFill>
                  <a:srgbClr val="191B1F"/>
                </a:solidFill>
                <a:effectLst/>
              </a:rPr>
              <a:t>DP</a:t>
            </a:r>
            <a:r>
              <a:rPr lang="zh-CN" altLang="en-GB" dirty="0">
                <a:solidFill>
                  <a:srgbClr val="191B1F"/>
                </a:solidFill>
                <a:effectLst/>
              </a:rPr>
              <a:t>）。</a:t>
            </a:r>
            <a:r>
              <a:rPr lang="zh-CN" altLang="en-US" dirty="0">
                <a:solidFill>
                  <a:srgbClr val="191B1F"/>
                </a:solidFill>
                <a:effectLst/>
              </a:rPr>
              <a:t>值得注意的是，它没有采用张量并行，因为张量并行通常会引入比较高的通信开销。</a:t>
            </a:r>
            <a:endParaRPr lang="zh-CN" altLang="en-US" dirty="0">
              <a:effectLst/>
            </a:endParaRPr>
          </a:p>
          <a:p>
            <a:pPr marL="0" marR="0"/>
            <a:r>
              <a:rPr lang="zh-CN" altLang="en-US" dirty="0">
                <a:solidFill>
                  <a:srgbClr val="262626"/>
                </a:solidFill>
                <a:effectLst/>
              </a:rPr>
              <a:t>从它公开的一些数据来看，它是一个通过</a:t>
            </a:r>
            <a:r>
              <a:rPr lang="en-GB" altLang="zh-CN" dirty="0">
                <a:solidFill>
                  <a:srgbClr val="262626"/>
                </a:solidFill>
                <a:effectLst/>
              </a:rPr>
              <a:t>InfiniBand</a:t>
            </a:r>
            <a:r>
              <a:rPr lang="zh-CN" altLang="en-US" dirty="0">
                <a:solidFill>
                  <a:srgbClr val="262626"/>
                </a:solidFill>
                <a:effectLst/>
              </a:rPr>
              <a:t>连接起来的</a:t>
            </a:r>
            <a:r>
              <a:rPr lang="en-GB" altLang="zh-CN" dirty="0">
                <a:solidFill>
                  <a:srgbClr val="262626"/>
                </a:solidFill>
                <a:effectLst/>
              </a:rPr>
              <a:t>GPU</a:t>
            </a:r>
            <a:r>
              <a:rPr lang="zh-CN" altLang="en-US" dirty="0">
                <a:solidFill>
                  <a:srgbClr val="262626"/>
                </a:solidFill>
                <a:effectLst/>
              </a:rPr>
              <a:t>集群，然后在每个节点内通过</a:t>
            </a:r>
            <a:r>
              <a:rPr lang="en-GB" altLang="zh-CN" dirty="0" err="1">
                <a:solidFill>
                  <a:srgbClr val="262626"/>
                </a:solidFill>
                <a:effectLst/>
              </a:rPr>
              <a:t>NVLink</a:t>
            </a:r>
            <a:r>
              <a:rPr lang="zh-CN" altLang="en-US" dirty="0">
                <a:solidFill>
                  <a:srgbClr val="262626"/>
                </a:solidFill>
                <a:effectLst/>
              </a:rPr>
              <a:t>连接起</a:t>
            </a:r>
            <a:r>
              <a:rPr lang="en-GB" altLang="zh-CN" dirty="0">
                <a:solidFill>
                  <a:srgbClr val="262626"/>
                </a:solidFill>
                <a:effectLst/>
              </a:rPr>
              <a:t>GPU</a:t>
            </a:r>
            <a:r>
              <a:rPr lang="zh-CN" altLang="en-GB" dirty="0">
                <a:solidFill>
                  <a:srgbClr val="262626"/>
                </a:solidFill>
                <a:effectLst/>
              </a:rPr>
              <a:t>。</a:t>
            </a:r>
            <a:r>
              <a:rPr lang="en-GB" altLang="zh-CN" dirty="0">
                <a:solidFill>
                  <a:srgbClr val="262626"/>
                </a:solidFill>
                <a:effectLst/>
              </a:rPr>
              <a:t>GPU</a:t>
            </a:r>
            <a:r>
              <a:rPr lang="zh-CN" altLang="en-US" dirty="0">
                <a:solidFill>
                  <a:srgbClr val="262626"/>
                </a:solidFill>
                <a:effectLst/>
              </a:rPr>
              <a:t>之间的带宽是</a:t>
            </a:r>
            <a:r>
              <a:rPr lang="en-US" altLang="zh-CN" dirty="0">
                <a:solidFill>
                  <a:srgbClr val="262626"/>
                </a:solidFill>
                <a:effectLst/>
              </a:rPr>
              <a:t>160</a:t>
            </a:r>
            <a:r>
              <a:rPr lang="en-GB" altLang="zh-CN" dirty="0">
                <a:solidFill>
                  <a:srgbClr val="262626"/>
                </a:solidFill>
                <a:effectLst/>
              </a:rPr>
              <a:t>GB</a:t>
            </a:r>
            <a:r>
              <a:rPr lang="zh-CN" altLang="en-GB" dirty="0">
                <a:solidFill>
                  <a:srgbClr val="262626"/>
                </a:solidFill>
                <a:effectLst/>
              </a:rPr>
              <a:t>，</a:t>
            </a:r>
            <a:r>
              <a:rPr lang="zh-CN" altLang="en-US" dirty="0">
                <a:solidFill>
                  <a:srgbClr val="262626"/>
                </a:solidFill>
                <a:effectLst/>
              </a:rPr>
              <a:t>节点之间的带宽是</a:t>
            </a:r>
            <a:r>
              <a:rPr lang="en-US" altLang="zh-CN" dirty="0">
                <a:solidFill>
                  <a:srgbClr val="262626"/>
                </a:solidFill>
                <a:effectLst/>
              </a:rPr>
              <a:t>50</a:t>
            </a:r>
            <a:r>
              <a:rPr lang="en-GB" altLang="zh-CN" dirty="0">
                <a:solidFill>
                  <a:srgbClr val="262626"/>
                </a:solidFill>
                <a:effectLst/>
              </a:rPr>
              <a:t>GB</a:t>
            </a:r>
            <a:r>
              <a:rPr lang="zh-CN" altLang="en-GB" dirty="0">
                <a:solidFill>
                  <a:srgbClr val="262626"/>
                </a:solidFill>
                <a:effectLst/>
              </a:rPr>
              <a:t>。</a:t>
            </a:r>
            <a:r>
              <a:rPr lang="zh-CN" altLang="en-US" dirty="0">
                <a:solidFill>
                  <a:srgbClr val="262626"/>
                </a:solidFill>
                <a:effectLst/>
              </a:rPr>
              <a:t>右边的图是一个网络拓扑情况的示意图。</a:t>
            </a:r>
            <a:endParaRPr lang="zh-CN" altLang="en-US" dirty="0">
              <a:effectLst/>
            </a:endParaRPr>
          </a:p>
          <a:p>
            <a:pPr marL="0" marR="0"/>
            <a:r>
              <a:rPr lang="zh-CN" altLang="en-US" dirty="0">
                <a:solidFill>
                  <a:srgbClr val="262626"/>
                </a:solidFill>
                <a:effectLst/>
              </a:rPr>
              <a:t>刚刚给大家介绍了</a:t>
            </a:r>
            <a:r>
              <a:rPr lang="en-GB" altLang="zh-CN" dirty="0" err="1">
                <a:solidFill>
                  <a:srgbClr val="262626"/>
                </a:solidFill>
                <a:effectLst/>
              </a:rPr>
              <a:t>DeepSeek</a:t>
            </a:r>
            <a:r>
              <a:rPr lang="zh-CN" altLang="en-US" dirty="0">
                <a:solidFill>
                  <a:srgbClr val="262626"/>
                </a:solidFill>
                <a:effectLst/>
              </a:rPr>
              <a:t>整体架构上的一些情况。那么</a:t>
            </a:r>
            <a:r>
              <a:rPr lang="en-GB" altLang="zh-CN" dirty="0" err="1">
                <a:solidFill>
                  <a:srgbClr val="262626"/>
                </a:solidFill>
                <a:effectLst/>
              </a:rPr>
              <a:t>DeepSeek</a:t>
            </a:r>
            <a:r>
              <a:rPr lang="zh-CN" altLang="en-US" dirty="0">
                <a:solidFill>
                  <a:srgbClr val="262626"/>
                </a:solidFill>
                <a:effectLst/>
              </a:rPr>
              <a:t>究竟是如何提升训练效率，实现“花小钱办大事”的呢？接下来我将从系统的角度给大家讲解一下</a:t>
            </a:r>
            <a:r>
              <a:rPr lang="en-GB" altLang="zh-CN" dirty="0" err="1">
                <a:solidFill>
                  <a:srgbClr val="262626"/>
                </a:solidFill>
                <a:effectLst/>
              </a:rPr>
              <a:t>DeepSeek</a:t>
            </a:r>
            <a:r>
              <a:rPr lang="zh-CN" altLang="en-US" dirty="0">
                <a:solidFill>
                  <a:srgbClr val="262626"/>
                </a:solidFill>
                <a:effectLst/>
              </a:rPr>
              <a:t>做的</a:t>
            </a:r>
            <a:r>
              <a:rPr lang="en-US" altLang="zh-CN" dirty="0">
                <a:solidFill>
                  <a:srgbClr val="262626"/>
                </a:solidFill>
                <a:effectLst/>
              </a:rPr>
              <a:t>4</a:t>
            </a:r>
            <a:r>
              <a:rPr lang="zh-CN" altLang="en-US" dirty="0">
                <a:solidFill>
                  <a:srgbClr val="262626"/>
                </a:solidFill>
                <a:effectLst/>
              </a:rPr>
              <a:t>个方面的优化。</a:t>
            </a:r>
            <a:endParaRPr lang="zh-CN" altLang="en-US" dirty="0">
              <a:effectLst/>
            </a:endParaRPr>
          </a:p>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D531BE-3B4D-0547-8739-67D02DA1D288}"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r>
              <a:rPr lang="zh-CN" altLang="en-US" dirty="0">
                <a:effectLst/>
              </a:rPr>
              <a:t>第一个方面是负载均衡的优化。要理解负载均衡优化，首先就要从</a:t>
            </a:r>
            <a:r>
              <a:rPr lang="en-GB" altLang="zh-CN" dirty="0" err="1">
                <a:effectLst/>
              </a:rPr>
              <a:t>DeepSeek</a:t>
            </a:r>
            <a:r>
              <a:rPr lang="zh-CN" altLang="en-US" dirty="0">
                <a:effectLst/>
              </a:rPr>
              <a:t>所采用的混合专家模型说起。</a:t>
            </a:r>
            <a:endParaRPr lang="zh-CN" altLang="en-US" dirty="0">
              <a:effectLst/>
            </a:endParaRPr>
          </a:p>
          <a:p>
            <a:pPr marL="0" marR="0"/>
            <a:r>
              <a:rPr lang="zh-CN" altLang="en-US" dirty="0">
                <a:effectLst/>
              </a:rPr>
              <a:t>传统的</a:t>
            </a:r>
            <a:r>
              <a:rPr lang="en-GB" altLang="zh-CN" dirty="0">
                <a:effectLst/>
              </a:rPr>
              <a:t>Dense</a:t>
            </a:r>
            <a:r>
              <a:rPr lang="zh-CN" altLang="en-US" dirty="0">
                <a:effectLst/>
              </a:rPr>
              <a:t>模型是一种全部神经元都参与计算的网络结构。而</a:t>
            </a:r>
            <a:r>
              <a:rPr lang="en-GB" altLang="zh-CN" dirty="0" err="1">
                <a:effectLst/>
              </a:rPr>
              <a:t>MoE</a:t>
            </a:r>
            <a:r>
              <a:rPr lang="zh-CN" altLang="en-US" dirty="0">
                <a:effectLst/>
              </a:rPr>
              <a:t>模型，也就是所谓的混合专家模型。它的原理其实就是把大模型拆成多个“小专家”（比如翻译专家、数学专家），然后通过专家</a:t>
            </a:r>
            <a:r>
              <a:rPr lang="zh-CN" altLang="en-US" dirty="0">
                <a:solidFill>
                  <a:srgbClr val="191B1F"/>
                </a:solidFill>
                <a:effectLst/>
              </a:rPr>
              <a:t>路由，将数据流引向不同的专家模块。</a:t>
            </a:r>
            <a:r>
              <a:rPr lang="zh-CN" altLang="en-US" dirty="0">
                <a:effectLst/>
              </a:rPr>
              <a:t>每次遇到问题，只让相关的几个专家干活。想象医院有</a:t>
            </a:r>
            <a:r>
              <a:rPr lang="en-US" altLang="zh-CN" dirty="0">
                <a:effectLst/>
              </a:rPr>
              <a:t>100</a:t>
            </a:r>
            <a:r>
              <a:rPr lang="zh-CN" altLang="en-US" dirty="0">
                <a:effectLst/>
              </a:rPr>
              <a:t>个专科医生：有人擅长儿科，有人精通心脏手术。这样拆开的好处是，比让所有医生同时看一个感冒更省资源，速度更快。</a:t>
            </a:r>
            <a:endParaRPr lang="zh-CN" altLang="en-US" dirty="0">
              <a:effectLst/>
            </a:endParaRPr>
          </a:p>
          <a:p>
            <a:pPr marL="0" marR="0"/>
            <a:r>
              <a:rPr lang="zh-CN" altLang="en-US" dirty="0">
                <a:solidFill>
                  <a:srgbClr val="191B1F"/>
                </a:solidFill>
                <a:effectLst/>
              </a:rPr>
              <a:t>但是这种架构面临一个痛点，就是模型</a:t>
            </a:r>
            <a:r>
              <a:rPr lang="zh-CN" altLang="en-US" dirty="0">
                <a:solidFill>
                  <a:srgbClr val="262626"/>
                </a:solidFill>
                <a:effectLst/>
              </a:rPr>
              <a:t>容易陷入到每次都路由到少数几个专家，而其余大量专家处于闲置的这样一种窘境。也就是</a:t>
            </a:r>
            <a:r>
              <a:rPr lang="zh-CN" altLang="en-US" dirty="0">
                <a:effectLst/>
              </a:rPr>
              <a:t>专家忙闲不均。想象一下如果</a:t>
            </a:r>
            <a:r>
              <a:rPr lang="en-US" altLang="zh-CN" dirty="0">
                <a:effectLst/>
              </a:rPr>
              <a:t>90%</a:t>
            </a:r>
            <a:r>
              <a:rPr lang="zh-CN" altLang="en-US" dirty="0">
                <a:effectLst/>
              </a:rPr>
              <a:t>的患者都挂儿科号，儿科医生累到崩溃，而心脏科医生却在喝茶。</a:t>
            </a:r>
            <a:endParaRPr lang="zh-CN" altLang="en-US" dirty="0">
              <a:effectLst/>
            </a:endParaRPr>
          </a:p>
          <a:p>
            <a:pPr marL="0" marR="0"/>
            <a:r>
              <a:rPr lang="zh-CN" altLang="en-US" dirty="0">
                <a:solidFill>
                  <a:srgbClr val="191B1F"/>
                </a:solidFill>
                <a:effectLst/>
              </a:rPr>
              <a:t>传统的解决这个问题的方法是强制“平衡路由”，即通过训练策略让每个专家在足够大的训练批次中被激活的次数大致相等。这一策略也就是“辅助损失”。好比医院规定：不管患者什么病，每个医生每天必须接诊</a:t>
            </a:r>
            <a:r>
              <a:rPr lang="en-US" altLang="zh-CN" dirty="0">
                <a:solidFill>
                  <a:srgbClr val="191B1F"/>
                </a:solidFill>
                <a:effectLst/>
              </a:rPr>
              <a:t>20</a:t>
            </a:r>
            <a:r>
              <a:rPr lang="zh-CN" altLang="en-US" dirty="0">
                <a:solidFill>
                  <a:srgbClr val="191B1F"/>
                </a:solidFill>
                <a:effectLst/>
              </a:rPr>
              <a:t>人。</a:t>
            </a:r>
            <a:endParaRPr lang="zh-CN" altLang="en-US" dirty="0">
              <a:effectLst/>
            </a:endParaRPr>
          </a:p>
          <a:p>
            <a:pPr marL="0" marR="0"/>
            <a:r>
              <a:rPr lang="zh-CN" altLang="en-US" dirty="0">
                <a:solidFill>
                  <a:srgbClr val="191B1F"/>
                </a:solidFill>
                <a:effectLst/>
              </a:rPr>
              <a:t>但这种强制性的辅助损失会导致新的问题。由于训练数据的结构不均衡特征，导致同领域的专家能力分散到不同的专家模块之中，极度损害</a:t>
            </a:r>
            <a:r>
              <a:rPr lang="en-GB" altLang="zh-CN" dirty="0" err="1">
                <a:solidFill>
                  <a:srgbClr val="191B1F"/>
                </a:solidFill>
                <a:effectLst/>
              </a:rPr>
              <a:t>MoE</a:t>
            </a:r>
            <a:r>
              <a:rPr lang="zh-CN" altLang="en-US" dirty="0">
                <a:solidFill>
                  <a:srgbClr val="191B1F"/>
                </a:solidFill>
                <a:effectLst/>
              </a:rPr>
              <a:t>模型的性能。理想的 </a:t>
            </a:r>
            <a:r>
              <a:rPr lang="en-GB" altLang="zh-CN" dirty="0" err="1">
                <a:solidFill>
                  <a:srgbClr val="191B1F"/>
                </a:solidFill>
                <a:effectLst/>
              </a:rPr>
              <a:t>MoE</a:t>
            </a:r>
            <a:r>
              <a:rPr lang="en-GB" altLang="zh-CN" dirty="0">
                <a:solidFill>
                  <a:srgbClr val="191B1F"/>
                </a:solidFill>
                <a:effectLst/>
              </a:rPr>
              <a:t> </a:t>
            </a:r>
            <a:r>
              <a:rPr lang="zh-CN" altLang="en-US" dirty="0">
                <a:solidFill>
                  <a:srgbClr val="191B1F"/>
                </a:solidFill>
                <a:effectLst/>
              </a:rPr>
              <a:t>应该有一些经常访问的高频通用信息，并具备其他访问较少的专业领域专家。如果强制平衡路由，将失去实现此类路由设置的能力，并且必须在不同的专家之间冗余地复制信息。</a:t>
            </a:r>
            <a:endParaRPr lang="zh-CN" altLang="en-US" dirty="0">
              <a:effectLst/>
            </a:endParaRPr>
          </a:p>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D531BE-3B4D-0547-8739-67D02DA1D288}"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r>
              <a:rPr lang="en-GB" altLang="zh-CN" dirty="0" err="1">
                <a:solidFill>
                  <a:srgbClr val="191B1F"/>
                </a:solidFill>
                <a:effectLst/>
              </a:rPr>
              <a:t>DeekSeek</a:t>
            </a:r>
            <a:r>
              <a:rPr lang="zh-CN" altLang="en-US" dirty="0">
                <a:solidFill>
                  <a:srgbClr val="191B1F"/>
                </a:solidFill>
                <a:effectLst/>
              </a:rPr>
              <a:t>采用了“增加共享专家</a:t>
            </a:r>
            <a:r>
              <a:rPr lang="en-US" altLang="zh-CN" dirty="0">
                <a:solidFill>
                  <a:srgbClr val="191B1F"/>
                </a:solidFill>
                <a:effectLst/>
              </a:rPr>
              <a:t>+</a:t>
            </a:r>
            <a:r>
              <a:rPr lang="zh-CN" altLang="en-US" dirty="0">
                <a:solidFill>
                  <a:srgbClr val="191B1F"/>
                </a:solidFill>
                <a:effectLst/>
              </a:rPr>
              <a:t>无辅助损耗负载平衡”的方法解决这一问题。</a:t>
            </a:r>
            <a:r>
              <a:rPr lang="en-GB" altLang="zh-CN" dirty="0" err="1">
                <a:solidFill>
                  <a:srgbClr val="191B1F"/>
                </a:solidFill>
                <a:effectLst/>
              </a:rPr>
              <a:t>DeepSeek</a:t>
            </a:r>
            <a:r>
              <a:rPr lang="zh-CN" altLang="en-US" dirty="0">
                <a:solidFill>
                  <a:srgbClr val="191B1F"/>
                </a:solidFill>
                <a:effectLst/>
              </a:rPr>
              <a:t>将专家分为两类：共享专家和路由专家。共享专家始终会被路由，在训练中重点确保路由专家的路由均衡。</a:t>
            </a:r>
            <a:endParaRPr lang="zh-CN" altLang="en-US" dirty="0">
              <a:effectLst/>
            </a:endParaRPr>
          </a:p>
          <a:p>
            <a:pPr marL="0" marR="0"/>
            <a:r>
              <a:rPr lang="zh-CN" altLang="en-US" dirty="0">
                <a:solidFill>
                  <a:srgbClr val="191B1F"/>
                </a:solidFill>
                <a:effectLst/>
              </a:rPr>
              <a:t>无辅助损耗负载均衡（</a:t>
            </a:r>
            <a:r>
              <a:rPr lang="en-GB" altLang="zh-CN" dirty="0">
                <a:solidFill>
                  <a:srgbClr val="191B1F"/>
                </a:solidFill>
                <a:effectLst/>
              </a:rPr>
              <a:t>Auxiliary-Loss-Free Load Balancing</a:t>
            </a:r>
            <a:r>
              <a:rPr lang="zh-CN" altLang="en-GB" dirty="0">
                <a:solidFill>
                  <a:srgbClr val="191B1F"/>
                </a:solidFill>
                <a:effectLst/>
              </a:rPr>
              <a:t>）</a:t>
            </a:r>
            <a:r>
              <a:rPr lang="zh-CN" altLang="en-US" dirty="0">
                <a:solidFill>
                  <a:srgbClr val="191B1F"/>
                </a:solidFill>
                <a:effectLst/>
              </a:rPr>
              <a:t>方法是将特定于专家的</a:t>
            </a:r>
            <a:r>
              <a:rPr lang="en-GB" altLang="zh-CN" dirty="0">
                <a:solidFill>
                  <a:srgbClr val="191B1F"/>
                </a:solidFill>
                <a:effectLst/>
              </a:rPr>
              <a:t>Bias</a:t>
            </a:r>
            <a:r>
              <a:rPr lang="zh-CN" altLang="en-US" dirty="0">
                <a:solidFill>
                  <a:srgbClr val="191B1F"/>
                </a:solidFill>
                <a:effectLst/>
              </a:rPr>
              <a:t>添加到路由机制和专家亲和力中。这个</a:t>
            </a:r>
            <a:r>
              <a:rPr lang="en-GB" altLang="zh-CN" dirty="0">
                <a:solidFill>
                  <a:srgbClr val="191B1F"/>
                </a:solidFill>
                <a:effectLst/>
              </a:rPr>
              <a:t>Bias</a:t>
            </a:r>
            <a:r>
              <a:rPr lang="zh-CN" altLang="en-US" dirty="0">
                <a:solidFill>
                  <a:srgbClr val="191B1F"/>
                </a:solidFill>
                <a:effectLst/>
              </a:rPr>
              <a:t>不会通过梯度下降进行更新，而是在整个训练过程中持续监控并进行调整以确保负载平衡。</a:t>
            </a:r>
            <a:r>
              <a:rPr lang="zh-CN" altLang="en-US" dirty="0">
                <a:solidFill>
                  <a:srgbClr val="262626"/>
                </a:solidFill>
                <a:effectLst/>
              </a:rPr>
              <a:t>如果发现某个专家是</a:t>
            </a:r>
            <a:r>
              <a:rPr lang="en-GB" altLang="zh-CN" dirty="0">
                <a:solidFill>
                  <a:srgbClr val="262626"/>
                </a:solidFill>
                <a:effectLst/>
              </a:rPr>
              <a:t>overloaded</a:t>
            </a:r>
            <a:r>
              <a:rPr lang="zh-CN" altLang="en-GB" dirty="0">
                <a:solidFill>
                  <a:srgbClr val="262626"/>
                </a:solidFill>
                <a:effectLst/>
              </a:rPr>
              <a:t>，</a:t>
            </a:r>
            <a:r>
              <a:rPr lang="zh-CN" altLang="en-US" dirty="0">
                <a:solidFill>
                  <a:srgbClr val="262626"/>
                </a:solidFill>
                <a:effectLst/>
              </a:rPr>
              <a:t>就会降低这个</a:t>
            </a:r>
            <a:r>
              <a:rPr lang="en-GB" altLang="zh-CN" dirty="0">
                <a:solidFill>
                  <a:srgbClr val="262626"/>
                </a:solidFill>
                <a:effectLst/>
              </a:rPr>
              <a:t>Bias</a:t>
            </a:r>
            <a:r>
              <a:rPr lang="zh-CN" altLang="en-GB" dirty="0">
                <a:solidFill>
                  <a:srgbClr val="262626"/>
                </a:solidFill>
                <a:effectLst/>
              </a:rPr>
              <a:t>；</a:t>
            </a:r>
            <a:r>
              <a:rPr lang="zh-CN" altLang="en-US" dirty="0">
                <a:solidFill>
                  <a:srgbClr val="262626"/>
                </a:solidFill>
                <a:effectLst/>
              </a:rPr>
              <a:t>如果发现某个专家给他的负载不够，它就会增大</a:t>
            </a:r>
            <a:r>
              <a:rPr lang="en-GB" altLang="zh-CN" dirty="0">
                <a:solidFill>
                  <a:srgbClr val="262626"/>
                </a:solidFill>
                <a:effectLst/>
              </a:rPr>
              <a:t>Bias</a:t>
            </a:r>
            <a:r>
              <a:rPr lang="zh-CN" altLang="en-GB" dirty="0">
                <a:solidFill>
                  <a:srgbClr val="262626"/>
                </a:solidFill>
                <a:effectLst/>
              </a:rPr>
              <a:t>。</a:t>
            </a:r>
            <a:r>
              <a:rPr lang="zh-CN" altLang="en-US" dirty="0">
                <a:solidFill>
                  <a:srgbClr val="262626"/>
                </a:solidFill>
                <a:effectLst/>
              </a:rPr>
              <a:t>核心是要控制，让这些专家能够均衡。如果控制不好专家负载均衡，那它在一个大规模集群训练时，利用率很难提升上去。</a:t>
            </a:r>
            <a:r>
              <a:rPr lang="zh-CN" altLang="en-US" dirty="0">
                <a:solidFill>
                  <a:srgbClr val="191B1F"/>
                </a:solidFill>
                <a:effectLst/>
              </a:rPr>
              <a:t>通过动态调整，</a:t>
            </a:r>
            <a:r>
              <a:rPr lang="en-GB" altLang="zh-CN" dirty="0">
                <a:solidFill>
                  <a:srgbClr val="191B1F"/>
                </a:solidFill>
                <a:effectLst/>
              </a:rPr>
              <a:t>DeepSeek-V3 </a:t>
            </a:r>
            <a:r>
              <a:rPr lang="zh-CN" altLang="en-US" dirty="0">
                <a:solidFill>
                  <a:srgbClr val="191B1F"/>
                </a:solidFill>
                <a:effectLst/>
              </a:rPr>
              <a:t>在训练过程中获得了比有辅助损失均衡模型更好的性能。</a:t>
            </a:r>
            <a:endParaRPr lang="zh-CN" altLang="en-US" dirty="0">
              <a:effectLst/>
            </a:endParaRPr>
          </a:p>
          <a:p>
            <a:pPr marL="0" marR="0"/>
            <a:r>
              <a:rPr lang="zh-CN" altLang="en-US" dirty="0">
                <a:effectLst/>
              </a:rPr>
              <a:t>这个做法相当于给医院装了一个智能分诊系统，实时显示各科室排队人数，还会根据患者病史推荐科室，甚至动态调整医生排班。</a:t>
            </a:r>
            <a:endParaRPr lang="zh-CN" altLang="en-US" dirty="0">
              <a:effectLst/>
            </a:endParaRPr>
          </a:p>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D531BE-3B4D-0547-8739-67D02DA1D288}"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4" Type="http://schemas.microsoft.com/office/2007/relationships/hdphoto" Target="../media/image3.wdp"/><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5" Type="http://schemas.openxmlformats.org/officeDocument/2006/relationships/image" Target="../media/image4.png"/><Relationship Id="rId4" Type="http://schemas.microsoft.com/office/2007/relationships/hdphoto" Target="../media/image3.wdp"/><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a:stretch>
            <a:fillRect/>
          </a:stretch>
        </p:blipFill>
        <p:spPr>
          <a:xfrm>
            <a:off x="0" y="6395298"/>
            <a:ext cx="12192000" cy="484133"/>
          </a:xfrm>
          <a:prstGeom prst="rect">
            <a:avLst/>
          </a:prstGeom>
        </p:spPr>
      </p:pic>
      <p:pic>
        <p:nvPicPr>
          <p:cNvPr id="11" name="Picture 4" descr="查看源图像"/>
          <p:cNvPicPr>
            <a:picLocks noChangeAspect="1" noChangeArrowheads="1"/>
          </p:cNvPicPr>
          <p:nvPr userDrawn="1"/>
        </p:nvPicPr>
        <p:blipFill>
          <a:blip r:embed="rId3">
            <a:biLevel thresh="25000"/>
            <a:extLst>
              <a:ext uri="{BEBA8EAE-BF5A-486C-A8C5-ECC9F3942E4B}">
                <a14:imgProps xmlns:a14="http://schemas.microsoft.com/office/drawing/2010/main">
                  <a14:imgLayer r:embed="rId4">
                    <a14:imgEffect>
                      <a14:colorTemperature colorTemp="1500"/>
                    </a14:imgEffect>
                  </a14:imgLayer>
                </a14:imgProps>
              </a:ext>
              <a:ext uri="{28A0092B-C50C-407E-A947-70E740481C1C}">
                <a14:useLocalDpi xmlns:a14="http://schemas.microsoft.com/office/drawing/2010/main" val="0"/>
              </a:ext>
            </a:extLst>
          </a:blip>
          <a:srcRect/>
          <a:stretch>
            <a:fillRect/>
          </a:stretch>
        </p:blipFill>
        <p:spPr bwMode="auto">
          <a:xfrm>
            <a:off x="10632328" y="100198"/>
            <a:ext cx="1324327" cy="48413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772478"/>
            <a:ext cx="10515600" cy="807246"/>
          </a:xfrm>
        </p:spPr>
        <p:txBody>
          <a:bodyPr/>
          <a:lstStyle>
            <a:lvl1pPr>
              <a:defRPr>
                <a:solidFill>
                  <a:srgbClr val="002060"/>
                </a:solidFill>
                <a:latin typeface="Gill Sans MT" panose="020B0502020104020203" pitchFamily="34" charset="0"/>
              </a:defRPr>
            </a:lvl1pPr>
          </a:lstStyle>
          <a:p>
            <a:r>
              <a:rPr kumimoji="1" lang="en-US" altLang="zh-CN" dirty="0"/>
              <a:t>sample</a:t>
            </a:r>
            <a:endParaRPr kumimoji="1" lang="zh-CN" altLang="en-US" dirty="0"/>
          </a:p>
        </p:txBody>
      </p:sp>
      <p:sp>
        <p:nvSpPr>
          <p:cNvPr id="3" name="内容占位符 2"/>
          <p:cNvSpPr>
            <a:spLocks noGrp="1"/>
          </p:cNvSpPr>
          <p:nvPr>
            <p:ph idx="1"/>
          </p:nvPr>
        </p:nvSpPr>
        <p:spPr/>
        <p:txBody>
          <a:bodyPr/>
          <a:lstStyle/>
          <a:p>
            <a:pPr lvl="0"/>
            <a:r>
              <a:rPr kumimoji="1" lang="zh-CN" altLang="en-US" dirty="0"/>
              <a:t>单击此处编辑母版文本样式</a:t>
            </a:r>
            <a:endParaRPr kumimoji="1" lang="zh-CN" altLang="en-US" dirty="0"/>
          </a:p>
          <a:p>
            <a:pPr lvl="1"/>
            <a:r>
              <a:rPr kumimoji="1" lang="zh-CN" altLang="en-US" dirty="0"/>
              <a:t>二级</a:t>
            </a:r>
            <a:endParaRPr kumimoji="1" lang="zh-CN" altLang="en-US" dirty="0"/>
          </a:p>
          <a:p>
            <a:pPr lvl="2"/>
            <a:r>
              <a:rPr kumimoji="1" lang="zh-CN" altLang="en-US" dirty="0"/>
              <a:t>三级</a:t>
            </a:r>
            <a:endParaRPr kumimoji="1" lang="zh-CN" altLang="en-US" dirty="0"/>
          </a:p>
          <a:p>
            <a:pPr lvl="3"/>
            <a:r>
              <a:rPr kumimoji="1" lang="zh-CN" altLang="en-US" dirty="0"/>
              <a:t>四级</a:t>
            </a:r>
            <a:endParaRPr kumimoji="1" lang="zh-CN" altLang="en-US" dirty="0"/>
          </a:p>
          <a:p>
            <a:pPr lvl="4"/>
            <a:r>
              <a:rPr kumimoji="1" lang="zh-CN" altLang="en-US" dirty="0"/>
              <a:t>五级</a:t>
            </a:r>
            <a:endParaRPr kumimoji="1" lang="zh-CN" altLang="en-US" dirty="0"/>
          </a:p>
        </p:txBody>
      </p:sp>
      <p:pic>
        <p:nvPicPr>
          <p:cNvPr id="9" name="图片 8"/>
          <p:cNvPicPr>
            <a:picLocks noChangeAspect="1"/>
          </p:cNvPicPr>
          <p:nvPr userDrawn="1"/>
        </p:nvPicPr>
        <p:blipFill>
          <a:blip r:embed="rId2"/>
          <a:stretch>
            <a:fillRect/>
          </a:stretch>
        </p:blipFill>
        <p:spPr>
          <a:xfrm>
            <a:off x="-2109" y="1747"/>
            <a:ext cx="12215879" cy="681037"/>
          </a:xfrm>
          <a:prstGeom prst="rect">
            <a:avLst/>
          </a:prstGeom>
        </p:spPr>
      </p:pic>
      <p:pic>
        <p:nvPicPr>
          <p:cNvPr id="10" name="图片 9"/>
          <p:cNvPicPr>
            <a:picLocks noChangeAspect="1"/>
          </p:cNvPicPr>
          <p:nvPr userDrawn="1"/>
        </p:nvPicPr>
        <p:blipFill>
          <a:blip r:embed="rId2"/>
          <a:stretch>
            <a:fillRect/>
          </a:stretch>
        </p:blipFill>
        <p:spPr>
          <a:xfrm>
            <a:off x="0" y="6356351"/>
            <a:ext cx="12192000" cy="523080"/>
          </a:xfrm>
          <a:prstGeom prst="rect">
            <a:avLst/>
          </a:prstGeom>
        </p:spPr>
      </p:pic>
      <p:pic>
        <p:nvPicPr>
          <p:cNvPr id="11" name="Picture 4" descr="查看源图像"/>
          <p:cNvPicPr>
            <a:picLocks noChangeAspect="1" noChangeArrowheads="1"/>
          </p:cNvPicPr>
          <p:nvPr userDrawn="1"/>
        </p:nvPicPr>
        <p:blipFill>
          <a:blip r:embed="rId3">
            <a:biLevel thresh="25000"/>
            <a:extLst>
              <a:ext uri="{BEBA8EAE-BF5A-486C-A8C5-ECC9F3942E4B}">
                <a14:imgProps xmlns:a14="http://schemas.microsoft.com/office/drawing/2010/main">
                  <a14:imgLayer r:embed="rId4">
                    <a14:imgEffect>
                      <a14:colorTemperature colorTemp="1500"/>
                    </a14:imgEffect>
                  </a14:imgLayer>
                </a14:imgProps>
              </a:ext>
              <a:ext uri="{28A0092B-C50C-407E-A947-70E740481C1C}">
                <a14:useLocalDpi xmlns:a14="http://schemas.microsoft.com/office/drawing/2010/main" val="0"/>
              </a:ext>
            </a:extLst>
          </a:blip>
          <a:srcRect/>
          <a:stretch>
            <a:fillRect/>
          </a:stretch>
        </p:blipFill>
        <p:spPr bwMode="auto">
          <a:xfrm>
            <a:off x="9190221" y="100198"/>
            <a:ext cx="1324327" cy="484133"/>
          </a:xfrm>
          <a:prstGeom prst="rect">
            <a:avLst/>
          </a:prstGeom>
          <a:noFill/>
          <a:extLst>
            <a:ext uri="{909E8E84-426E-40DD-AFC4-6F175D3DCCD1}">
              <a14:hiddenFill xmlns:a14="http://schemas.microsoft.com/office/drawing/2010/main">
                <a:solidFill>
                  <a:srgbClr val="FFFFFF"/>
                </a:solidFill>
              </a14:hiddenFill>
            </a:ext>
          </a:extLst>
        </p:spPr>
      </p:pic>
      <p:pic>
        <p:nvPicPr>
          <p:cNvPr id="20" name="图片 19"/>
          <p:cNvPicPr>
            <a:picLocks noChangeAspect="1"/>
          </p:cNvPicPr>
          <p:nvPr userDrawn="1"/>
        </p:nvPicPr>
        <p:blipFill>
          <a:blip r:embed="rId5"/>
          <a:stretch>
            <a:fillRect/>
          </a:stretch>
        </p:blipFill>
        <p:spPr>
          <a:xfrm>
            <a:off x="10756674" y="-216000"/>
            <a:ext cx="1214970" cy="121497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microsoft.com/office/2007/relationships/hdphoto" Target="../media/image3.wdp"/><Relationship Id="rId5" Type="http://schemas.openxmlformats.org/officeDocument/2006/relationships/image" Target="../media/image2.png"/><Relationship Id="rId4" Type="http://schemas.openxmlformats.org/officeDocument/2006/relationships/image" Target="../media/image1.emf"/><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4"/>
          <a:stretch>
            <a:fillRect/>
          </a:stretch>
        </p:blipFill>
        <p:spPr>
          <a:xfrm>
            <a:off x="0" y="0"/>
            <a:ext cx="12194109" cy="681037"/>
          </a:xfrm>
          <a:prstGeom prst="rect">
            <a:avLst/>
          </a:prstGeom>
        </p:spPr>
      </p:pic>
      <p:pic>
        <p:nvPicPr>
          <p:cNvPr id="9" name="图片 8"/>
          <p:cNvPicPr>
            <a:picLocks noChangeAspect="1"/>
          </p:cNvPicPr>
          <p:nvPr userDrawn="1"/>
        </p:nvPicPr>
        <p:blipFill>
          <a:blip r:embed="rId4"/>
          <a:stretch>
            <a:fillRect/>
          </a:stretch>
        </p:blipFill>
        <p:spPr>
          <a:xfrm>
            <a:off x="0" y="6518787"/>
            <a:ext cx="12192000" cy="360644"/>
          </a:xfrm>
          <a:prstGeom prst="rect">
            <a:avLst/>
          </a:prstGeom>
        </p:spPr>
      </p:pic>
      <p:pic>
        <p:nvPicPr>
          <p:cNvPr id="10" name="Picture 4" descr="查看源图像"/>
          <p:cNvPicPr>
            <a:picLocks noChangeAspect="1" noChangeArrowheads="1"/>
          </p:cNvPicPr>
          <p:nvPr userDrawn="1"/>
        </p:nvPicPr>
        <p:blipFill>
          <a:blip r:embed="rId5">
            <a:biLevel thresh="25000"/>
            <a:extLst>
              <a:ext uri="{BEBA8EAE-BF5A-486C-A8C5-ECC9F3942E4B}">
                <a14:imgProps xmlns:a14="http://schemas.microsoft.com/office/drawing/2010/main">
                  <a14:imgLayer r:embed="rId6">
                    <a14:imgEffect>
                      <a14:colorTemperature colorTemp="1500"/>
                    </a14:imgEffect>
                  </a14:imgLayer>
                </a14:imgProps>
              </a:ext>
              <a:ext uri="{28A0092B-C50C-407E-A947-70E740481C1C}">
                <a14:useLocalDpi xmlns:a14="http://schemas.microsoft.com/office/drawing/2010/main" val="0"/>
              </a:ext>
            </a:extLst>
          </a:blip>
          <a:srcRect/>
          <a:stretch>
            <a:fillRect/>
          </a:stretch>
        </p:blipFill>
        <p:spPr bwMode="auto">
          <a:xfrm>
            <a:off x="10632328" y="100198"/>
            <a:ext cx="1324327" cy="484133"/>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3.xml"/><Relationship Id="rId6" Type="http://schemas.openxmlformats.org/officeDocument/2006/relationships/tags" Target="../tags/tag2.xml"/><Relationship Id="rId5" Type="http://schemas.openxmlformats.org/officeDocument/2006/relationships/tags" Target="../tags/tag1.xml"/><Relationship Id="rId4" Type="http://schemas.openxmlformats.org/officeDocument/2006/relationships/image" Target="../media/image7.png"/><Relationship Id="rId3" Type="http://schemas.microsoft.com/office/2007/relationships/hdphoto" Target="../media/image6.wdp"/><Relationship Id="rId2" Type="http://schemas.openxmlformats.org/officeDocument/2006/relationships/image" Target="../media/image2.png"/><Relationship Id="rId1" Type="http://schemas.openxmlformats.org/officeDocument/2006/relationships/image" Target="../media/image5.e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1.xml"/><Relationship Id="rId5" Type="http://schemas.microsoft.com/office/2007/relationships/hdphoto" Target="../media/image14.wdp"/><Relationship Id="rId4" Type="http://schemas.openxmlformats.org/officeDocument/2006/relationships/image" Target="../media/image13.png"/><Relationship Id="rId3" Type="http://schemas.openxmlformats.org/officeDocument/2006/relationships/tags" Target="../tags/tag5.xml"/><Relationship Id="rId2" Type="http://schemas.openxmlformats.org/officeDocument/2006/relationships/image" Target="../media/image12.png"/><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15.png"/><Relationship Id="rId1" Type="http://schemas.openxmlformats.org/officeDocument/2006/relationships/tags" Target="../tags/tag6.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16.png"/><Relationship Id="rId1" Type="http://schemas.openxmlformats.org/officeDocument/2006/relationships/tags" Target="../tags/tag7.xml"/></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xml"/><Relationship Id="rId4" Type="http://schemas.openxmlformats.org/officeDocument/2006/relationships/image" Target="../media/image18.png"/><Relationship Id="rId3" Type="http://schemas.openxmlformats.org/officeDocument/2006/relationships/tags" Target="../tags/tag9.xml"/><Relationship Id="rId2" Type="http://schemas.openxmlformats.org/officeDocument/2006/relationships/image" Target="../media/image17.png"/><Relationship Id="rId1" Type="http://schemas.openxmlformats.org/officeDocument/2006/relationships/tags" Target="../tags/tag8.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19.png"/><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image" Target="../media/image20.png"/><Relationship Id="rId1" Type="http://schemas.openxmlformats.org/officeDocument/2006/relationships/tags" Target="../tags/tag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1.xml"/><Relationship Id="rId3" Type="http://schemas.openxmlformats.org/officeDocument/2006/relationships/image" Target="../media/image22.png"/><Relationship Id="rId2" Type="http://schemas.microsoft.com/office/2007/relationships/hdphoto" Target="../media/image14.wdp"/><Relationship Id="rId1" Type="http://schemas.openxmlformats.org/officeDocument/2006/relationships/image" Target="../media/image13.pn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1.xml"/><Relationship Id="rId3" Type="http://schemas.openxmlformats.org/officeDocument/2006/relationships/image" Target="../media/image22.png"/><Relationship Id="rId2" Type="http://schemas.microsoft.com/office/2007/relationships/hdphoto" Target="../media/image14.wdp"/><Relationship Id="rId1" Type="http://schemas.openxmlformats.org/officeDocument/2006/relationships/image" Target="../media/image1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23.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image" Target="../media/image24.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xml"/><Relationship Id="rId1" Type="http://schemas.openxmlformats.org/officeDocument/2006/relationships/image" Target="../media/image25.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1.xml"/><Relationship Id="rId2" Type="http://schemas.openxmlformats.org/officeDocument/2006/relationships/image" Target="../media/image27.png"/><Relationship Id="rId1" Type="http://schemas.openxmlformats.org/officeDocument/2006/relationships/image" Target="../media/image26.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xml"/><Relationship Id="rId1" Type="http://schemas.openxmlformats.org/officeDocument/2006/relationships/image" Target="../media/image28.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1.xml"/><Relationship Id="rId2" Type="http://schemas.openxmlformats.org/officeDocument/2006/relationships/image" Target="../media/image30.png"/><Relationship Id="rId1" Type="http://schemas.openxmlformats.org/officeDocument/2006/relationships/image" Target="../media/image29.png"/></Relationships>
</file>

<file path=ppt/slides/_rels/slide39.xml.rels><?xml version="1.0" encoding="UTF-8" standalone="yes"?>
<Relationships xmlns="http://schemas.openxmlformats.org/package/2006/relationships"><Relationship Id="rId5" Type="http://schemas.openxmlformats.org/officeDocument/2006/relationships/notesSlide" Target="../notesSlides/notesSlide39.xml"/><Relationship Id="rId4" Type="http://schemas.openxmlformats.org/officeDocument/2006/relationships/slideLayout" Target="../slideLayouts/slideLayout1.xml"/><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1.xml"/><Relationship Id="rId2" Type="http://schemas.openxmlformats.org/officeDocument/2006/relationships/image" Target="../media/image35.png"/><Relationship Id="rId1"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1"/>
          <a:srcRect l="23116"/>
          <a:stretch>
            <a:fillRect/>
          </a:stretch>
        </p:blipFill>
        <p:spPr>
          <a:xfrm>
            <a:off x="0" y="0"/>
            <a:ext cx="12192000" cy="1206500"/>
          </a:xfrm>
          <a:prstGeom prst="rect">
            <a:avLst/>
          </a:prstGeom>
        </p:spPr>
      </p:pic>
      <p:grpSp>
        <p:nvGrpSpPr>
          <p:cNvPr id="11" name="组合 10"/>
          <p:cNvGrpSpPr/>
          <p:nvPr/>
        </p:nvGrpSpPr>
        <p:grpSpPr>
          <a:xfrm>
            <a:off x="2498582" y="104568"/>
            <a:ext cx="6988991" cy="963109"/>
            <a:chOff x="4127589" y="195923"/>
            <a:chExt cx="5074678" cy="699309"/>
          </a:xfrm>
        </p:grpSpPr>
        <p:pic>
          <p:nvPicPr>
            <p:cNvPr id="4" name="Picture 4" descr="查看源图像"/>
            <p:cNvPicPr>
              <a:picLocks noChangeAspect="1" noChangeArrowheads="1"/>
            </p:cNvPicPr>
            <p:nvPr/>
          </p:nvPicPr>
          <p:blipFill>
            <a:blip r:embed="rId2">
              <a:biLevel thresh="25000"/>
              <a:extLst>
                <a:ext uri="{BEBA8EAE-BF5A-486C-A8C5-ECC9F3942E4B}">
                  <a14:imgProps xmlns:a14="http://schemas.microsoft.com/office/drawing/2010/main">
                    <a14:imgLayer r:embed="rId3">
                      <a14:imgEffect>
                        <a14:colorTemperature colorTemp="1500"/>
                      </a14:imgEffect>
                    </a14:imgLayer>
                  </a14:imgProps>
                </a:ext>
                <a:ext uri="{28A0092B-C50C-407E-A947-70E740481C1C}">
                  <a14:useLocalDpi xmlns:a14="http://schemas.microsoft.com/office/drawing/2010/main" val="0"/>
                </a:ext>
              </a:extLst>
            </a:blip>
            <a:srcRect/>
            <a:stretch>
              <a:fillRect/>
            </a:stretch>
          </p:blipFill>
          <p:spPr bwMode="auto">
            <a:xfrm>
              <a:off x="4127589" y="195923"/>
              <a:ext cx="1912931" cy="699309"/>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p:cNvPicPr>
              <a:picLocks noChangeAspect="1"/>
            </p:cNvPicPr>
            <p:nvPr/>
          </p:nvPicPr>
          <p:blipFill rotWithShape="1">
            <a:blip r:embed="rId4"/>
            <a:srcRect l="59344" t="28824" b="47273"/>
            <a:stretch>
              <a:fillRect/>
            </a:stretch>
          </p:blipFill>
          <p:spPr>
            <a:xfrm>
              <a:off x="7438800" y="211181"/>
              <a:ext cx="1763467" cy="564002"/>
            </a:xfrm>
            <a:prstGeom prst="rect">
              <a:avLst/>
            </a:prstGeom>
          </p:spPr>
        </p:pic>
      </p:grpSp>
      <p:sp>
        <p:nvSpPr>
          <p:cNvPr id="5" name="文本框 4"/>
          <p:cNvSpPr txBox="1"/>
          <p:nvPr>
            <p:custDataLst>
              <p:tags r:id="rId5"/>
            </p:custDataLst>
          </p:nvPr>
        </p:nvSpPr>
        <p:spPr>
          <a:xfrm>
            <a:off x="2903464" y="1792229"/>
            <a:ext cx="6385082" cy="830997"/>
          </a:xfrm>
          <a:prstGeom prst="rect">
            <a:avLst/>
          </a:prstGeom>
          <a:noFill/>
        </p:spPr>
        <p:txBody>
          <a:bodyPr wrap="none" rtlCol="0">
            <a:spAutoFit/>
          </a:bodyPr>
          <a:lstStyle>
            <a:defPPr>
              <a:defRPr lang="zh-CN"/>
            </a:defPPr>
            <a:lvl1pPr>
              <a:spcAft>
                <a:spcPts val="2400"/>
              </a:spcAft>
              <a:defRPr sz="5400" b="1">
                <a:latin typeface="微软雅黑" panose="020B0503020204020204" pitchFamily="34" charset="-122"/>
                <a:ea typeface="微软雅黑" panose="020B0503020204020204" pitchFamily="34" charset="-122"/>
              </a:defRPr>
            </a:lvl1pPr>
          </a:lstStyle>
          <a:p>
            <a:pPr algn="ctr"/>
            <a:r>
              <a:rPr lang="en-US" altLang="zh-CN" sz="4800" dirty="0"/>
              <a:t>Chatting or Acting ?</a:t>
            </a:r>
            <a:endParaRPr lang="en-US" altLang="zh-CN" sz="4800" dirty="0"/>
          </a:p>
        </p:txBody>
      </p:sp>
      <p:sp>
        <p:nvSpPr>
          <p:cNvPr id="6" name="文本框 5"/>
          <p:cNvSpPr txBox="1"/>
          <p:nvPr>
            <p:custDataLst>
              <p:tags r:id="rId6"/>
            </p:custDataLst>
          </p:nvPr>
        </p:nvSpPr>
        <p:spPr>
          <a:xfrm>
            <a:off x="507332" y="3256076"/>
            <a:ext cx="11177336" cy="906851"/>
          </a:xfrm>
          <a:prstGeom prst="rect">
            <a:avLst/>
          </a:prstGeom>
          <a:noFill/>
        </p:spPr>
        <p:txBody>
          <a:bodyPr wrap="square" rtlCol="0">
            <a:spAutoFit/>
          </a:bodyPr>
          <a:lstStyle>
            <a:defPPr>
              <a:defRPr lang="zh-CN"/>
            </a:defPPr>
            <a:lvl1pPr>
              <a:spcAft>
                <a:spcPts val="2400"/>
              </a:spcAft>
              <a:defRPr sz="5400" b="1">
                <a:latin typeface="微软雅黑" panose="020B0503020204020204" pitchFamily="34" charset="-122"/>
                <a:ea typeface="微软雅黑" panose="020B0503020204020204" pitchFamily="34" charset="-122"/>
              </a:defRPr>
            </a:lvl1pPr>
          </a:lstStyle>
          <a:p>
            <a:pPr algn="ctr">
              <a:lnSpc>
                <a:spcPct val="150000"/>
              </a:lnSpc>
              <a:spcAft>
                <a:spcPts val="0"/>
              </a:spcAft>
            </a:pPr>
            <a:r>
              <a:rPr lang="en-US" altLang="zh-CN" sz="4000" dirty="0" err="1"/>
              <a:t>DeepSeek</a:t>
            </a:r>
            <a:r>
              <a:rPr lang="zh-CN" altLang="en-US" sz="4000" dirty="0"/>
              <a:t>的突破边界</a:t>
            </a:r>
            <a:r>
              <a:rPr lang="en-US" altLang="zh-CN" sz="4000" dirty="0"/>
              <a:t> &amp; </a:t>
            </a:r>
            <a:r>
              <a:rPr lang="zh-CN" altLang="en-US" sz="4000" dirty="0"/>
              <a:t>智能体开发的未来图景</a:t>
            </a:r>
            <a:endParaRPr lang="en-US" altLang="zh-CN"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154159" y="2136338"/>
            <a:ext cx="1685151" cy="2062103"/>
          </a:xfrm>
          <a:prstGeom prst="rect">
            <a:avLst/>
          </a:prstGeom>
          <a:noFill/>
        </p:spPr>
        <p:txBody>
          <a:bodyPr wrap="square" rtlCol="0">
            <a:spAutoFit/>
          </a:bodyPr>
          <a:lstStyle/>
          <a:p>
            <a:pPr>
              <a:spcAft>
                <a:spcPts val="2400"/>
              </a:spcAft>
            </a:pPr>
            <a:r>
              <a:rPr lang="zh-CN" altLang="en-US" sz="5400" b="1" dirty="0">
                <a:latin typeface="微软雅黑" panose="020B0503020204020204" pitchFamily="34" charset="-122"/>
                <a:ea typeface="微软雅黑" panose="020B0503020204020204" pitchFamily="34" charset="-122"/>
              </a:rPr>
              <a:t>目</a:t>
            </a:r>
            <a:endParaRPr lang="en-US" altLang="zh-CN" sz="5400" b="1" dirty="0">
              <a:latin typeface="微软雅黑" panose="020B0503020204020204" pitchFamily="34" charset="-122"/>
              <a:ea typeface="微软雅黑" panose="020B0503020204020204" pitchFamily="34" charset="-122"/>
            </a:endParaRPr>
          </a:p>
          <a:p>
            <a:r>
              <a:rPr lang="zh-CN" altLang="en-US" sz="5400" b="1" dirty="0">
                <a:latin typeface="微软雅黑" panose="020B0503020204020204" pitchFamily="34" charset="-122"/>
                <a:ea typeface="微软雅黑" panose="020B0503020204020204" pitchFamily="34" charset="-122"/>
              </a:rPr>
              <a:t>录</a:t>
            </a:r>
            <a:endParaRPr lang="zh-CN" altLang="en-US" sz="5400" b="1"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352690" y="1389562"/>
            <a:ext cx="3727450" cy="4354195"/>
          </a:xfrm>
          <a:prstGeom prst="rect">
            <a:avLst/>
          </a:prstGeom>
          <a:noFill/>
        </p:spPr>
        <p:txBody>
          <a:bodyPr wrap="none" rtlCol="0">
            <a:spAutoFit/>
          </a:bodyPr>
          <a:lstStyle/>
          <a:p>
            <a:pPr>
              <a:lnSpc>
                <a:spcPct val="150000"/>
              </a:lnSpc>
              <a:spcAft>
                <a:spcPts val="600"/>
              </a:spcAft>
            </a:pPr>
            <a:r>
              <a:rPr lang="en-US" altLang="zh-CN" sz="2800" b="1" dirty="0">
                <a:latin typeface="微软雅黑" panose="020B0503020204020204" pitchFamily="34" charset="-122"/>
                <a:ea typeface="微软雅黑" panose="020B0503020204020204" pitchFamily="34" charset="-122"/>
              </a:rPr>
              <a:t>1 </a:t>
            </a:r>
            <a:r>
              <a:rPr lang="zh-CN" altLang="en-US" sz="2800" b="1" dirty="0">
                <a:latin typeface="微软雅黑" panose="020B0503020204020204" pitchFamily="34" charset="-122"/>
                <a:ea typeface="微软雅黑" panose="020B0503020204020204" pitchFamily="34" charset="-122"/>
              </a:rPr>
              <a:t>模型概况</a:t>
            </a:r>
            <a:endParaRPr lang="en-US" altLang="zh-CN" sz="2800" b="1" dirty="0">
              <a:latin typeface="微软雅黑" panose="020B0503020204020204" pitchFamily="34" charset="-122"/>
              <a:ea typeface="微软雅黑" panose="020B0503020204020204" pitchFamily="34" charset="-122"/>
            </a:endParaRPr>
          </a:p>
          <a:p>
            <a:pPr>
              <a:lnSpc>
                <a:spcPct val="150000"/>
              </a:lnSpc>
              <a:spcAft>
                <a:spcPts val="600"/>
              </a:spcAft>
            </a:pPr>
            <a:r>
              <a:rPr lang="en-US" altLang="zh-CN" sz="2800" b="1" dirty="0">
                <a:latin typeface="微软雅黑" panose="020B0503020204020204" pitchFamily="34" charset="-122"/>
                <a:ea typeface="微软雅黑" panose="020B0503020204020204" pitchFamily="34" charset="-122"/>
              </a:rPr>
              <a:t>2 </a:t>
            </a:r>
            <a:r>
              <a:rPr lang="zh-CN" altLang="en-US" sz="2800" b="1" dirty="0">
                <a:latin typeface="微软雅黑" panose="020B0503020204020204" pitchFamily="34" charset="-122"/>
                <a:ea typeface="微软雅黑" panose="020B0503020204020204" pitchFamily="34" charset="-122"/>
              </a:rPr>
              <a:t>架构创新与工程优化</a:t>
            </a:r>
            <a:endParaRPr lang="en-US" altLang="zh-CN" sz="2800" b="1" dirty="0">
              <a:latin typeface="微软雅黑" panose="020B0503020204020204" pitchFamily="34" charset="-122"/>
              <a:ea typeface="微软雅黑" panose="020B0503020204020204" pitchFamily="34" charset="-122"/>
            </a:endParaRPr>
          </a:p>
          <a:p>
            <a:pPr>
              <a:lnSpc>
                <a:spcPct val="150000"/>
              </a:lnSpc>
              <a:spcAft>
                <a:spcPts val="600"/>
              </a:spcAft>
            </a:pPr>
            <a:r>
              <a:rPr lang="en-US" altLang="zh-CN" sz="2800" b="1" dirty="0">
                <a:latin typeface="微软雅黑" panose="020B0503020204020204" pitchFamily="34" charset="-122"/>
                <a:ea typeface="微软雅黑" panose="020B0503020204020204" pitchFamily="34" charset="-122"/>
              </a:rPr>
              <a:t>3 </a:t>
            </a:r>
            <a:r>
              <a:rPr lang="zh-CN" altLang="en-US" sz="2800" b="1">
                <a:latin typeface="微软雅黑" panose="020B0503020204020204" pitchFamily="34" charset="-122"/>
                <a:ea typeface="微软雅黑" panose="020B0503020204020204" pitchFamily="34" charset="-122"/>
              </a:rPr>
              <a:t>训练方法创新与优化</a:t>
            </a:r>
            <a:endParaRPr lang="en-US" altLang="zh-CN" sz="2800" b="1" dirty="0">
              <a:latin typeface="微软雅黑" panose="020B0503020204020204" pitchFamily="34" charset="-122"/>
              <a:ea typeface="微软雅黑" panose="020B0503020204020204" pitchFamily="34" charset="-122"/>
            </a:endParaRPr>
          </a:p>
          <a:p>
            <a:pPr>
              <a:lnSpc>
                <a:spcPct val="150000"/>
              </a:lnSpc>
              <a:spcAft>
                <a:spcPts val="600"/>
              </a:spcAft>
            </a:pPr>
            <a:r>
              <a:rPr lang="en-US" altLang="zh-CN" sz="2800" b="1" dirty="0">
                <a:latin typeface="微软雅黑" panose="020B0503020204020204" pitchFamily="34" charset="-122"/>
                <a:ea typeface="微软雅黑" panose="020B0503020204020204" pitchFamily="34" charset="-122"/>
              </a:rPr>
              <a:t>4 </a:t>
            </a:r>
            <a:r>
              <a:rPr lang="zh-CN" altLang="en-US" sz="2800" b="1" dirty="0">
                <a:latin typeface="微软雅黑" panose="020B0503020204020204" pitchFamily="34" charset="-122"/>
                <a:ea typeface="微软雅黑" panose="020B0503020204020204" pitchFamily="34" charset="-122"/>
              </a:rPr>
              <a:t>通信创新与优化</a:t>
            </a:r>
            <a:endParaRPr lang="en-US" altLang="zh-CN" sz="2800" b="1" dirty="0">
              <a:latin typeface="微软雅黑" panose="020B0503020204020204" pitchFamily="34" charset="-122"/>
              <a:ea typeface="微软雅黑" panose="020B0503020204020204" pitchFamily="34" charset="-122"/>
            </a:endParaRPr>
          </a:p>
          <a:p>
            <a:pPr>
              <a:lnSpc>
                <a:spcPct val="150000"/>
              </a:lnSpc>
              <a:spcAft>
                <a:spcPts val="600"/>
              </a:spcAft>
            </a:pPr>
            <a:r>
              <a:rPr lang="en-US" altLang="zh-CN" sz="2800" b="1" dirty="0">
                <a:latin typeface="微软雅黑" panose="020B0503020204020204" pitchFamily="34" charset="-122"/>
                <a:ea typeface="微软雅黑" panose="020B0503020204020204" pitchFamily="34" charset="-122"/>
              </a:rPr>
              <a:t>5 </a:t>
            </a:r>
            <a:r>
              <a:rPr lang="zh-CN" altLang="en-US" sz="2800" b="1" dirty="0">
                <a:latin typeface="微软雅黑" panose="020B0503020204020204" pitchFamily="34" charset="-122"/>
                <a:ea typeface="微软雅黑" panose="020B0503020204020204" pitchFamily="34" charset="-122"/>
              </a:rPr>
              <a:t>内存创新与优化</a:t>
            </a:r>
            <a:endParaRPr lang="en-US" altLang="zh-CN" sz="2800" b="1" dirty="0">
              <a:latin typeface="微软雅黑" panose="020B0503020204020204" pitchFamily="34" charset="-122"/>
              <a:ea typeface="微软雅黑" panose="020B0503020204020204" pitchFamily="34" charset="-122"/>
            </a:endParaRPr>
          </a:p>
          <a:p>
            <a:pPr>
              <a:lnSpc>
                <a:spcPct val="150000"/>
              </a:lnSpc>
              <a:spcAft>
                <a:spcPts val="600"/>
              </a:spcAft>
            </a:pPr>
            <a:r>
              <a:rPr lang="en-US" altLang="zh-CN" sz="2800" b="1" dirty="0">
                <a:latin typeface="微软雅黑" panose="020B0503020204020204" pitchFamily="34" charset="-122"/>
                <a:ea typeface="微软雅黑" panose="020B0503020204020204" pitchFamily="34" charset="-122"/>
              </a:rPr>
              <a:t>6 </a:t>
            </a:r>
            <a:r>
              <a:rPr lang="zh-CN" altLang="en-US" sz="2800" b="1" dirty="0">
                <a:latin typeface="微软雅黑" panose="020B0503020204020204" pitchFamily="34" charset="-122"/>
                <a:ea typeface="微软雅黑" panose="020B0503020204020204" pitchFamily="34" charset="-122"/>
              </a:rPr>
              <a:t>计算创新</a:t>
            </a:r>
            <a:r>
              <a:rPr lang="zh-CN" altLang="en-US" sz="2800" b="1" dirty="0">
                <a:latin typeface="微软雅黑" panose="020B0503020204020204" pitchFamily="34" charset="-122"/>
                <a:ea typeface="微软雅黑" panose="020B0503020204020204" pitchFamily="34" charset="-122"/>
              </a:rPr>
              <a:t>与优化</a:t>
            </a:r>
            <a:endParaRPr lang="zh-CN" altLang="en-US" sz="28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325831" y="3113111"/>
            <a:ext cx="3540760" cy="1106805"/>
          </a:xfrm>
          <a:prstGeom prst="rect">
            <a:avLst/>
          </a:prstGeom>
          <a:noFill/>
        </p:spPr>
        <p:txBody>
          <a:bodyPr wrap="none" rtlCol="0">
            <a:spAutoFit/>
          </a:bodyPr>
          <a:lstStyle>
            <a:defPPr>
              <a:defRPr lang="zh-CN"/>
            </a:defPPr>
            <a:lvl1pPr>
              <a:spcAft>
                <a:spcPts val="2400"/>
              </a:spcAft>
              <a:defRPr sz="5400" b="1">
                <a:latin typeface="微软雅黑" panose="020B0503020204020204" pitchFamily="34" charset="-122"/>
                <a:ea typeface="微软雅黑" panose="020B0503020204020204" pitchFamily="34" charset="-122"/>
              </a:defRPr>
            </a:lvl1pPr>
          </a:lstStyle>
          <a:p>
            <a:r>
              <a:rPr lang="zh-CN" altLang="en-US" sz="6600" dirty="0"/>
              <a:t>模型</a:t>
            </a:r>
            <a:r>
              <a:rPr lang="zh-CN" altLang="en-US" sz="6600" dirty="0"/>
              <a:t>概况</a:t>
            </a:r>
            <a:endParaRPr lang="zh-CN" altLang="en-US" sz="6600" dirty="0"/>
          </a:p>
        </p:txBody>
      </p:sp>
      <p:pic>
        <p:nvPicPr>
          <p:cNvPr id="3" name="图片 2"/>
          <p:cNvPicPr>
            <a:picLocks noChangeAspect="1"/>
          </p:cNvPicPr>
          <p:nvPr/>
        </p:nvPicPr>
        <p:blipFill rotWithShape="1">
          <a:blip r:embed="rId1"/>
          <a:srcRect l="59344" t="28824" b="47273"/>
          <a:stretch>
            <a:fillRect/>
          </a:stretch>
        </p:blipFill>
        <p:spPr>
          <a:xfrm>
            <a:off x="4204116" y="1426747"/>
            <a:ext cx="3783767" cy="121014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文本框 28"/>
          <p:cNvSpPr txBox="1"/>
          <p:nvPr/>
        </p:nvSpPr>
        <p:spPr>
          <a:xfrm>
            <a:off x="619492" y="51758"/>
            <a:ext cx="9958738"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DeepSeek</a:t>
            </a:r>
            <a:r>
              <a:rPr kumimoji="1" lang="zh-CN" alt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系列模型</a:t>
            </a:r>
            <a:r>
              <a:rPr kumimoji="1" lang="zh-CN" alt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概况</a:t>
            </a:r>
            <a:endParaRPr kumimoji="1" lang="zh-CN" alt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915035" y="949960"/>
            <a:ext cx="9958705" cy="1534795"/>
          </a:xfrm>
          <a:prstGeom prst="rect">
            <a:avLst/>
          </a:prstGeom>
        </p:spPr>
      </p:pic>
      <p:pic>
        <p:nvPicPr>
          <p:cNvPr id="4" name="图片 3"/>
          <p:cNvPicPr/>
          <p:nvPr/>
        </p:nvPicPr>
        <p:blipFill>
          <a:blip r:embed="rId2"/>
          <a:stretch>
            <a:fillRect/>
          </a:stretch>
        </p:blipFill>
        <p:spPr>
          <a:xfrm>
            <a:off x="915035" y="2769235"/>
            <a:ext cx="4777740" cy="3655695"/>
          </a:xfrm>
          <a:prstGeom prst="rect">
            <a:avLst/>
          </a:prstGeom>
        </p:spPr>
      </p:pic>
      <p:pic>
        <p:nvPicPr>
          <p:cNvPr id="5" name="图片 4"/>
          <p:cNvPicPr/>
          <p:nvPr/>
        </p:nvPicPr>
        <p:blipFill>
          <a:blip r:embed="rId3"/>
          <a:stretch>
            <a:fillRect/>
          </a:stretch>
        </p:blipFill>
        <p:spPr>
          <a:xfrm>
            <a:off x="6021705" y="2769235"/>
            <a:ext cx="5736590" cy="365569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226946" y="3113111"/>
            <a:ext cx="7738110" cy="1106805"/>
          </a:xfrm>
          <a:prstGeom prst="rect">
            <a:avLst/>
          </a:prstGeom>
          <a:noFill/>
        </p:spPr>
        <p:txBody>
          <a:bodyPr wrap="none" rtlCol="0">
            <a:spAutoFit/>
          </a:bodyPr>
          <a:lstStyle>
            <a:defPPr>
              <a:defRPr lang="zh-CN"/>
            </a:defPPr>
            <a:lvl1pPr>
              <a:spcAft>
                <a:spcPts val="2400"/>
              </a:spcAft>
              <a:defRPr sz="5400" b="1">
                <a:latin typeface="微软雅黑" panose="020B0503020204020204" pitchFamily="34" charset="-122"/>
                <a:ea typeface="微软雅黑" panose="020B0503020204020204" pitchFamily="34" charset="-122"/>
              </a:defRPr>
            </a:lvl1pPr>
          </a:lstStyle>
          <a:p>
            <a:pPr algn="ctr"/>
            <a:r>
              <a:rPr lang="zh-CN" altLang="en-US" sz="6600" dirty="0"/>
              <a:t>架构创新</a:t>
            </a:r>
            <a:r>
              <a:rPr lang="zh-CN" altLang="en-US" sz="6600" dirty="0"/>
              <a:t>与工程</a:t>
            </a:r>
            <a:r>
              <a:rPr lang="zh-CN" altLang="en-US" sz="6600" dirty="0"/>
              <a:t>优化</a:t>
            </a:r>
            <a:endParaRPr lang="zh-CN" altLang="en-US" sz="6600" dirty="0"/>
          </a:p>
        </p:txBody>
      </p:sp>
      <p:pic>
        <p:nvPicPr>
          <p:cNvPr id="3" name="图片 2"/>
          <p:cNvPicPr>
            <a:picLocks noChangeAspect="1"/>
          </p:cNvPicPr>
          <p:nvPr/>
        </p:nvPicPr>
        <p:blipFill rotWithShape="1">
          <a:blip r:embed="rId1"/>
          <a:srcRect l="59344" t="28824" b="47273"/>
          <a:stretch>
            <a:fillRect/>
          </a:stretch>
        </p:blipFill>
        <p:spPr>
          <a:xfrm>
            <a:off x="4204116" y="1426747"/>
            <a:ext cx="3783767" cy="121014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19760" y="790575"/>
            <a:ext cx="5937885" cy="47999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800100" lvl="1" indent="-342900" algn="ctr">
              <a:lnSpc>
                <a:spcPct val="150000"/>
              </a:lnSpc>
              <a:buFont typeface="Arial" panose="020B0604020202090204" pitchFamily="34" charset="0"/>
              <a:buChar char="•"/>
              <a:defRPr sz="2400" b="1"/>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150000"/>
              </a:lnSpc>
              <a:spcBef>
                <a:spcPts val="0"/>
              </a:spcBef>
              <a:spcAft>
                <a:spcPts val="0"/>
              </a:spcAft>
              <a:buClrTx/>
              <a:buSzTx/>
              <a:defRPr/>
            </a:pPr>
            <a:r>
              <a:rPr kumimoji="0" sz="24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rPr>
              <a:t>模型架构创新</a:t>
            </a:r>
            <a:endParaRPr kumimoji="0" sz="24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多头潜在注意力（MLA）：通过低秩压缩Key-Value向量，减少KV缓存显存占用，提升长文本推理效率（KV压缩维度512，Query维度1536）</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混合专家</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MoE）：每个MoE层包含1个共享专家+256个路由专家，每个Token激活8个专家，最多路由至4个节点，实现稀疏激活与高效扩展</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无损耗负载均衡策略：动态调整可学习偏置项优化专家分配，避免传统辅助损失对性能的负面影响，提升模型稳定性</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9" name="文本框 28"/>
          <p:cNvSpPr txBox="1"/>
          <p:nvPr/>
        </p:nvSpPr>
        <p:spPr>
          <a:xfrm>
            <a:off x="619492" y="51758"/>
            <a:ext cx="9958738"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DeepSeek V3—</a:t>
            </a:r>
            <a:r>
              <a:rPr kumimoji="1" lang="zh-CN" alt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超低成本训练与性能突破</a:t>
            </a:r>
            <a:endParaRPr kumimoji="1" lang="zh-CN" alt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pic>
        <p:nvPicPr>
          <p:cNvPr id="4" name="图片 3"/>
          <p:cNvPicPr>
            <a:picLocks noChangeAspect="1"/>
          </p:cNvPicPr>
          <p:nvPr>
            <p:custDataLst>
              <p:tags r:id="rId1"/>
            </p:custDataLst>
          </p:nvPr>
        </p:nvPicPr>
        <p:blipFill>
          <a:blip r:embed="rId2"/>
          <a:stretch>
            <a:fillRect/>
          </a:stretch>
        </p:blipFill>
        <p:spPr>
          <a:xfrm>
            <a:off x="6508059" y="1210654"/>
            <a:ext cx="5611100" cy="450971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19760" y="790575"/>
            <a:ext cx="11126470" cy="341503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800100" lvl="1" indent="-342900" algn="ctr">
              <a:lnSpc>
                <a:spcPct val="150000"/>
              </a:lnSpc>
              <a:buFont typeface="Arial" panose="020B0604020202090204" pitchFamily="34" charset="0"/>
              <a:buChar char="•"/>
              <a:defRPr sz="2400" b="1"/>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150000"/>
              </a:lnSpc>
              <a:spcBef>
                <a:spcPts val="0"/>
              </a:spcBef>
              <a:spcAft>
                <a:spcPts val="0"/>
              </a:spcAft>
              <a:buClrTx/>
              <a:buSzTx/>
              <a:defRPr/>
            </a:pPr>
            <a:r>
              <a:rPr kumimoji="0" lang="zh-CN" sz="24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rPr>
              <a:t>工程优化</a:t>
            </a:r>
            <a:endParaRPr kumimoji="0" sz="24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DualPipe流水线并行：双向流水线设计（同时从两端馈送micro-batch），显著减少流水线气泡，GPU利用率提升30%+</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通信优化：节点限制路由（每个Token最多跨4节点）、定制化All-to-All通信内核，结合Warp专业化调度，降低跨节点通信开销</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内存管理优化</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：重计算策略（反向传播时重新生成中间结果）、CPU存储EMA参数，显存占用减少20%</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9" name="文本框 28"/>
          <p:cNvSpPr txBox="1"/>
          <p:nvPr/>
        </p:nvSpPr>
        <p:spPr>
          <a:xfrm>
            <a:off x="619492" y="51758"/>
            <a:ext cx="9958738"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DeepSeek V3—</a:t>
            </a:r>
            <a:r>
              <a:rPr kumimoji="1" lang="zh-CN" alt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超低成本训练与性能突破</a:t>
            </a:r>
            <a:endParaRPr kumimoji="1" lang="zh-CN" alt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pic>
        <p:nvPicPr>
          <p:cNvPr id="1026" name="Picture 2"/>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2290445" y="3863975"/>
            <a:ext cx="8503285" cy="890270"/>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p:cNvPicPr>
            <a:picLocks noChangeAspect="1"/>
          </p:cNvPicPr>
          <p:nvPr>
            <p:custDataLst>
              <p:tags r:id="rId3"/>
            </p:custDataLst>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528316" y="4763516"/>
            <a:ext cx="11249667" cy="185411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19760" y="790575"/>
            <a:ext cx="11237595" cy="203009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800100" lvl="1" indent="-342900" algn="ctr">
              <a:lnSpc>
                <a:spcPct val="150000"/>
              </a:lnSpc>
              <a:buFont typeface="Arial" panose="020B0604020202090204" pitchFamily="34" charset="0"/>
              <a:buChar char="•"/>
              <a:defRPr sz="2400" b="1"/>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150000"/>
              </a:lnSpc>
              <a:spcBef>
                <a:spcPts val="0"/>
              </a:spcBef>
              <a:spcAft>
                <a:spcPts val="0"/>
              </a:spcAft>
              <a:buClrTx/>
              <a:buSzTx/>
              <a:defRPr/>
            </a:pPr>
            <a:r>
              <a:rPr kumimoji="0" lang="zh-CN" sz="24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rPr>
              <a:t>预训练数据与策略</a:t>
            </a:r>
            <a:endParaRPr kumimoji="0" lang="zh-CN" sz="24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数据构建：14.8万亿Token多样化语料，数学与编程数据比例提升，支持多语言任务</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通多Token预测（MTP）：同时预测多个未来Token，训练效率提升1.8倍，推理加速显著</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长上下文扩展：两阶段扩展训练（4K→32K→128K），结合YaRN方法，支持128K上下文窗口</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9" name="文本框 28"/>
          <p:cNvSpPr txBox="1"/>
          <p:nvPr/>
        </p:nvSpPr>
        <p:spPr>
          <a:xfrm>
            <a:off x="619492" y="51758"/>
            <a:ext cx="9958738"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DeepSeek V3—</a:t>
            </a:r>
            <a:r>
              <a:rPr kumimoji="1" lang="zh-CN" alt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超低成本训练与性能突破</a:t>
            </a:r>
            <a:endParaRPr kumimoji="1" lang="zh-CN" alt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pic>
        <p:nvPicPr>
          <p:cNvPr id="3" name="图片 2"/>
          <p:cNvPicPr/>
          <p:nvPr>
            <p:custDataLst>
              <p:tags r:id="rId1"/>
            </p:custDataLst>
          </p:nvPr>
        </p:nvPicPr>
        <p:blipFill>
          <a:blip r:embed="rId2"/>
          <a:stretch>
            <a:fillRect/>
          </a:stretch>
        </p:blipFill>
        <p:spPr>
          <a:xfrm>
            <a:off x="2005330" y="2868295"/>
            <a:ext cx="8466455" cy="373761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19760" y="790575"/>
            <a:ext cx="10983595" cy="341503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800100" lvl="1" indent="-342900" algn="ctr">
              <a:lnSpc>
                <a:spcPct val="150000"/>
              </a:lnSpc>
              <a:buFont typeface="Arial" panose="020B0604020202090204" pitchFamily="34" charset="0"/>
              <a:buChar char="•"/>
              <a:defRPr sz="2400" b="1"/>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150000"/>
              </a:lnSpc>
              <a:spcBef>
                <a:spcPts val="0"/>
              </a:spcBef>
              <a:spcAft>
                <a:spcPts val="0"/>
              </a:spcAft>
              <a:buClrTx/>
              <a:buSzTx/>
              <a:defRPr/>
            </a:pPr>
            <a:r>
              <a:rPr kumimoji="0" lang="zh-CN" sz="24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rPr>
              <a:t>低精度训练与成本控制</a:t>
            </a:r>
            <a:endParaRPr kumimoji="0" lang="zh-CN" sz="24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FP8混合精度训练：对激活值和权重细粒度量化（1x128 Tile-Wise），中间累加保留FP32精度，显存占用减少40%</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lang="en-US" altLang="zh-CN" sz="20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选择性高精度组件</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：关键模块（如Embedding、Attention）保留BF16/FP32计算，平衡效率与精度</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训练成本：总成本550万美元（2.788M H800 GPU小时），预训练效率达每万亿Token仅180K GPU小时</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9" name="文本框 28"/>
          <p:cNvSpPr txBox="1"/>
          <p:nvPr/>
        </p:nvSpPr>
        <p:spPr>
          <a:xfrm>
            <a:off x="619492" y="51758"/>
            <a:ext cx="9958738"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DeepSeek V3—</a:t>
            </a:r>
            <a:r>
              <a:rPr kumimoji="1" lang="zh-CN" alt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超低成本训练与性能突破</a:t>
            </a:r>
            <a:endParaRPr kumimoji="1" lang="zh-CN" alt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pic>
        <p:nvPicPr>
          <p:cNvPr id="2" name="图片 1"/>
          <p:cNvPicPr/>
          <p:nvPr>
            <p:custDataLst>
              <p:tags r:id="rId1"/>
            </p:custDataLst>
          </p:nvPr>
        </p:nvPicPr>
        <p:blipFill>
          <a:blip r:embed="rId2"/>
          <a:stretch>
            <a:fillRect/>
          </a:stretch>
        </p:blipFill>
        <p:spPr>
          <a:xfrm>
            <a:off x="1621790" y="4205605"/>
            <a:ext cx="8934450" cy="250380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19760" y="790575"/>
            <a:ext cx="11100435" cy="341503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800100" lvl="1" indent="-342900" algn="ctr">
              <a:lnSpc>
                <a:spcPct val="150000"/>
              </a:lnSpc>
              <a:buFont typeface="Arial" panose="020B0604020202090204" pitchFamily="34" charset="0"/>
              <a:buChar char="•"/>
              <a:defRPr sz="2400" b="1"/>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150000"/>
              </a:lnSpc>
              <a:spcBef>
                <a:spcPts val="0"/>
              </a:spcBef>
              <a:spcAft>
                <a:spcPts val="0"/>
              </a:spcAft>
              <a:buClrTx/>
              <a:buSzTx/>
              <a:defRPr/>
            </a:pPr>
            <a:r>
              <a:rPr kumimoji="0" lang="zh-CN" sz="24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rPr>
              <a:t>R1-Zero的创新——纯强化学习训练</a:t>
            </a:r>
            <a:endParaRPr kumimoji="0" lang="zh-CN" sz="24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lang="en-US" altLang="zh-CN" sz="20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无监督训练范式：完全摒弃传统监督微调（SFT），直接在DeepSeek-V3-Base模型上应用强化学习（RL），开创纯RL训练先例</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lang="en-US" altLang="zh-CN" sz="20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GRPO算法革新：提出Group Relative Policy Optimization（GRPO），通过组内样本对比估计优势函数，替代传统Critic网络，降低50%计算开销</a:t>
            </a:r>
            <a:endParaRPr lang="en-US" altLang="zh-CN" sz="200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lang="en-US" altLang="zh-CN" sz="20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自发性“顿悟”现象：模型在训练中自发产生元认知能力，如主动反思推理步骤（例：数学题中重新评估错误路径），显著提升解题准确率（AIME pass@1从15.6%→71.0%）</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9" name="文本框 28"/>
          <p:cNvSpPr txBox="1"/>
          <p:nvPr/>
        </p:nvSpPr>
        <p:spPr>
          <a:xfrm>
            <a:off x="619492" y="51758"/>
            <a:ext cx="9958738" cy="107632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3200" b="1" noProof="0" dirty="0">
                <a:ln>
                  <a:noFill/>
                </a:ln>
                <a:solidFill>
                  <a:prstClr val="white"/>
                </a:solidFill>
                <a:effectLst/>
                <a:uLnTx/>
                <a:uFillTx/>
                <a:latin typeface="微软雅黑" panose="020B0503020204020204" pitchFamily="34" charset="-122"/>
                <a:ea typeface="微软雅黑" panose="020B0503020204020204" pitchFamily="34" charset="-122"/>
                <a:sym typeface="+mn-ea"/>
              </a:rPr>
              <a:t>DeepSeek R1-Zero</a:t>
            </a:r>
            <a:r>
              <a:rPr kumimoji="1" lang="zh-CN" altLang="en-US" sz="3200" b="1" noProof="0" dirty="0">
                <a:ln>
                  <a:noFill/>
                </a:ln>
                <a:solidFill>
                  <a:prstClr val="white"/>
                </a:solidFill>
                <a:effectLst/>
                <a:uLnTx/>
                <a:uFillTx/>
                <a:latin typeface="微软雅黑" panose="020B0503020204020204" pitchFamily="34" charset="-122"/>
                <a:ea typeface="微软雅黑" panose="020B0503020204020204" pitchFamily="34" charset="-122"/>
                <a:sym typeface="+mn-ea"/>
              </a:rPr>
              <a:t>与</a:t>
            </a:r>
            <a:r>
              <a:rPr kumimoji="1" lang="en-US" altLang="zh-CN" sz="3200" b="1" noProof="0" dirty="0">
                <a:ln>
                  <a:noFill/>
                </a:ln>
                <a:solidFill>
                  <a:prstClr val="white"/>
                </a:solidFill>
                <a:effectLst/>
                <a:uLnTx/>
                <a:uFillTx/>
                <a:latin typeface="微软雅黑" panose="020B0503020204020204" pitchFamily="34" charset="-122"/>
                <a:ea typeface="微软雅黑" panose="020B0503020204020204" pitchFamily="34" charset="-122"/>
                <a:sym typeface="+mn-ea"/>
              </a:rPr>
              <a:t>R1——</a:t>
            </a:r>
            <a:r>
              <a:rPr kumimoji="1" lang="zh-CN" altLang="en-US" sz="3200" b="1" noProof="0" dirty="0">
                <a:ln>
                  <a:noFill/>
                </a:ln>
                <a:solidFill>
                  <a:prstClr val="white"/>
                </a:solidFill>
                <a:effectLst/>
                <a:uLnTx/>
                <a:uFillTx/>
                <a:latin typeface="微软雅黑" panose="020B0503020204020204" pitchFamily="34" charset="-122"/>
                <a:ea typeface="微软雅黑" panose="020B0503020204020204" pitchFamily="34" charset="-122"/>
                <a:sym typeface="+mn-ea"/>
              </a:rPr>
              <a:t>模型训练范式颠覆</a:t>
            </a:r>
            <a:endParaRPr kumimoji="1" lang="zh-CN" alt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zh-CN"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pic>
        <p:nvPicPr>
          <p:cNvPr id="3" name="图片 2"/>
          <p:cNvPicPr/>
          <p:nvPr>
            <p:custDataLst>
              <p:tags r:id="rId1"/>
            </p:custDataLst>
          </p:nvPr>
        </p:nvPicPr>
        <p:blipFill>
          <a:blip r:embed="rId2"/>
          <a:stretch>
            <a:fillRect/>
          </a:stretch>
        </p:blipFill>
        <p:spPr>
          <a:xfrm>
            <a:off x="6781165" y="4205605"/>
            <a:ext cx="4157980" cy="2532380"/>
          </a:xfrm>
          <a:prstGeom prst="rect">
            <a:avLst/>
          </a:prstGeom>
        </p:spPr>
      </p:pic>
      <p:pic>
        <p:nvPicPr>
          <p:cNvPr id="4" name="图片 3"/>
          <p:cNvPicPr>
            <a:picLocks noChangeAspect="1"/>
          </p:cNvPicPr>
          <p:nvPr>
            <p:custDataLst>
              <p:tags r:id="rId3"/>
            </p:custDataLst>
          </p:nvPr>
        </p:nvPicPr>
        <p:blipFill>
          <a:blip r:embed="rId4"/>
          <a:stretch>
            <a:fillRect/>
          </a:stretch>
        </p:blipFill>
        <p:spPr>
          <a:xfrm>
            <a:off x="619760" y="4249420"/>
            <a:ext cx="5805170" cy="253301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19760" y="790575"/>
            <a:ext cx="11102975" cy="341503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800100" lvl="1" indent="-342900" algn="ctr">
              <a:lnSpc>
                <a:spcPct val="150000"/>
              </a:lnSpc>
              <a:buFont typeface="Arial" panose="020B0604020202090204" pitchFamily="34" charset="0"/>
              <a:buChar char="•"/>
              <a:defRPr sz="2400" b="1"/>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150000"/>
              </a:lnSpc>
              <a:spcBef>
                <a:spcPts val="0"/>
              </a:spcBef>
              <a:spcAft>
                <a:spcPts val="0"/>
              </a:spcAft>
              <a:buClrTx/>
              <a:buSzTx/>
              <a:defRPr/>
            </a:pPr>
            <a:r>
              <a:rPr kumimoji="0" lang="zh-CN" sz="24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rPr>
              <a:t>R1的训练升级——冷启动与多阶段优化</a:t>
            </a:r>
            <a:endParaRPr kumimoji="0" lang="zh-CN" sz="24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lang="en-US" altLang="zh-CN" sz="20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冷启动数据构建：引入数千条高质量人工标注数据（含Few-shot提示、R1-Zero优质输出），通过微调建立初始推理框架，解决纯RL初期低效问题</a:t>
            </a:r>
            <a:endParaRPr lang="en-US" altLang="zh-CN" sz="2000"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lang="en-US" altLang="zh-CN" sz="20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多阶段强化学习设计</a:t>
            </a:r>
            <a:endParaRPr lang="en-US" altLang="zh-CN" sz="2000"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阶段1：推理任务专项优化，新增语言一致性奖励（解决多语言混杂问题）</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阶段2：拒绝采样生成高质量SFT数据（仅保留答案正确且推理清晰的样本）</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阶段3：全场景RL，融合规则奖励（数学/编程）与模型评估奖励（开放问答）</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9" name="文本框 28"/>
          <p:cNvSpPr txBox="1"/>
          <p:nvPr/>
        </p:nvSpPr>
        <p:spPr>
          <a:xfrm>
            <a:off x="619492" y="51758"/>
            <a:ext cx="9958738" cy="107632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3200" b="1" noProof="0" dirty="0">
                <a:ln>
                  <a:noFill/>
                </a:ln>
                <a:solidFill>
                  <a:prstClr val="white"/>
                </a:solidFill>
                <a:effectLst/>
                <a:uLnTx/>
                <a:uFillTx/>
                <a:latin typeface="微软雅黑" panose="020B0503020204020204" pitchFamily="34" charset="-122"/>
                <a:ea typeface="微软雅黑" panose="020B0503020204020204" pitchFamily="34" charset="-122"/>
                <a:sym typeface="+mn-ea"/>
              </a:rPr>
              <a:t>DeepSeek R1-Zero</a:t>
            </a:r>
            <a:r>
              <a:rPr kumimoji="1" lang="zh-CN" altLang="en-US" sz="3200" b="1" noProof="0" dirty="0">
                <a:ln>
                  <a:noFill/>
                </a:ln>
                <a:solidFill>
                  <a:prstClr val="white"/>
                </a:solidFill>
                <a:effectLst/>
                <a:uLnTx/>
                <a:uFillTx/>
                <a:latin typeface="微软雅黑" panose="020B0503020204020204" pitchFamily="34" charset="-122"/>
                <a:ea typeface="微软雅黑" panose="020B0503020204020204" pitchFamily="34" charset="-122"/>
                <a:sym typeface="+mn-ea"/>
              </a:rPr>
              <a:t>与</a:t>
            </a:r>
            <a:r>
              <a:rPr kumimoji="1" lang="en-US" altLang="zh-CN" sz="3200" b="1" noProof="0" dirty="0">
                <a:ln>
                  <a:noFill/>
                </a:ln>
                <a:solidFill>
                  <a:prstClr val="white"/>
                </a:solidFill>
                <a:effectLst/>
                <a:uLnTx/>
                <a:uFillTx/>
                <a:latin typeface="微软雅黑" panose="020B0503020204020204" pitchFamily="34" charset="-122"/>
                <a:ea typeface="微软雅黑" panose="020B0503020204020204" pitchFamily="34" charset="-122"/>
                <a:sym typeface="+mn-ea"/>
              </a:rPr>
              <a:t>R1——</a:t>
            </a:r>
            <a:r>
              <a:rPr kumimoji="1" lang="zh-CN" altLang="en-US" sz="3200" b="1" noProof="0" dirty="0">
                <a:ln>
                  <a:noFill/>
                </a:ln>
                <a:solidFill>
                  <a:prstClr val="white"/>
                </a:solidFill>
                <a:effectLst/>
                <a:uLnTx/>
                <a:uFillTx/>
                <a:latin typeface="微软雅黑" panose="020B0503020204020204" pitchFamily="34" charset="-122"/>
                <a:ea typeface="微软雅黑" panose="020B0503020204020204" pitchFamily="34" charset="-122"/>
                <a:sym typeface="+mn-ea"/>
              </a:rPr>
              <a:t>模型训练范式颠覆</a:t>
            </a:r>
            <a:endParaRPr kumimoji="1" lang="zh-CN" alt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zh-CN"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pic>
        <p:nvPicPr>
          <p:cNvPr id="5" name="图片 4"/>
          <p:cNvPicPr>
            <a:picLocks noChangeAspect="1"/>
          </p:cNvPicPr>
          <p:nvPr>
            <p:custDataLst>
              <p:tags r:id="rId1"/>
            </p:custDataLst>
          </p:nvPr>
        </p:nvPicPr>
        <p:blipFill>
          <a:blip r:embed="rId2"/>
          <a:stretch>
            <a:fillRect/>
          </a:stretch>
        </p:blipFill>
        <p:spPr>
          <a:xfrm>
            <a:off x="2776220" y="4205605"/>
            <a:ext cx="6261100" cy="2413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19760" y="790575"/>
            <a:ext cx="11100435" cy="43383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800100" lvl="1" indent="-342900" algn="ctr">
              <a:lnSpc>
                <a:spcPct val="150000"/>
              </a:lnSpc>
              <a:buFont typeface="Arial" panose="020B0604020202090204" pitchFamily="34" charset="0"/>
              <a:buChar char="•"/>
              <a:defRPr sz="2400" b="1"/>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150000"/>
              </a:lnSpc>
              <a:spcBef>
                <a:spcPts val="0"/>
              </a:spcBef>
              <a:spcAft>
                <a:spcPts val="0"/>
              </a:spcAft>
              <a:buClrTx/>
              <a:buSzTx/>
              <a:defRPr/>
            </a:pPr>
            <a:r>
              <a:rPr kumimoji="0" lang="zh-CN" sz="24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rPr>
              <a:t>推理能力蒸馏与开源生态</a:t>
            </a:r>
            <a:endParaRPr kumimoji="0" lang="zh-CN" sz="24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lang="en-US" altLang="zh-CN" sz="20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跨模型知识迁移：使用R1生成的80万条数据对Qwen/Llama系列蒸馏，Qwen-7B在AIME准确率提升至55.5%，超越同类模型2倍</a:t>
            </a:r>
            <a:endParaRPr lang="en-US" altLang="zh-CN" sz="2000"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lang="en-US" altLang="zh-CN" sz="20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低成本推理生态：开源6个蒸馏模型（1.5B-70B），API定价仅为OpenAI的3%，实现推理性能与成本的极致平衡</a:t>
            </a:r>
            <a:endParaRPr lang="en-US" altLang="zh-CN" sz="2000"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lang="en-US" altLang="zh-CN" sz="20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国产算力适配：华为昇腾 (Ascend)、沐曦 (MetaX)、天数智芯 (Iluvatar)、摩尔线程 (MThreads)、壁仞科技 (Biren)、芯瞳半导体 (Sietium)</a:t>
            </a:r>
            <a:r>
              <a:rPr lang="zh-CN" altLang="en-US" sz="20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等</a:t>
            </a:r>
            <a:endParaRPr lang="en-US" altLang="zh-CN" sz="2000"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国内云平台支持</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：阿里云、腾讯云、腾讯云、百度智能云、天翼云（中国电信）、移动云（中国移动）、联通云（中国联通）、火山引擎（字节跳动）、京东云、青云科技、云轴科技</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等</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9" name="文本框 28"/>
          <p:cNvSpPr txBox="1"/>
          <p:nvPr/>
        </p:nvSpPr>
        <p:spPr>
          <a:xfrm>
            <a:off x="619492" y="51758"/>
            <a:ext cx="9958738"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3200" b="1" noProof="0" dirty="0">
                <a:ln>
                  <a:noFill/>
                </a:ln>
                <a:solidFill>
                  <a:prstClr val="white"/>
                </a:solidFill>
                <a:effectLst/>
                <a:uLnTx/>
                <a:uFillTx/>
                <a:latin typeface="微软雅黑" panose="020B0503020204020204" pitchFamily="34" charset="-122"/>
                <a:ea typeface="微软雅黑" panose="020B0503020204020204" pitchFamily="34" charset="-122"/>
                <a:sym typeface="+mn-ea"/>
              </a:rPr>
              <a:t>DeepSeek R1-Zero</a:t>
            </a:r>
            <a:r>
              <a:rPr kumimoji="1" lang="zh-CN" altLang="en-US" sz="3200" b="1" noProof="0" dirty="0">
                <a:ln>
                  <a:noFill/>
                </a:ln>
                <a:solidFill>
                  <a:prstClr val="white"/>
                </a:solidFill>
                <a:effectLst/>
                <a:uLnTx/>
                <a:uFillTx/>
                <a:latin typeface="微软雅黑" panose="020B0503020204020204" pitchFamily="34" charset="-122"/>
                <a:ea typeface="微软雅黑" panose="020B0503020204020204" pitchFamily="34" charset="-122"/>
                <a:sym typeface="+mn-ea"/>
              </a:rPr>
              <a:t>与</a:t>
            </a:r>
            <a:r>
              <a:rPr kumimoji="1" lang="en-US" altLang="zh-CN" sz="3200" b="1" noProof="0" dirty="0">
                <a:ln>
                  <a:noFill/>
                </a:ln>
                <a:solidFill>
                  <a:prstClr val="white"/>
                </a:solidFill>
                <a:effectLst/>
                <a:uLnTx/>
                <a:uFillTx/>
                <a:latin typeface="微软雅黑" panose="020B0503020204020204" pitchFamily="34" charset="-122"/>
                <a:ea typeface="微软雅黑" panose="020B0503020204020204" pitchFamily="34" charset="-122"/>
                <a:sym typeface="+mn-ea"/>
              </a:rPr>
              <a:t>R1——</a:t>
            </a:r>
            <a:r>
              <a:rPr kumimoji="1" lang="zh-CN" altLang="en-US" sz="3200" b="1" noProof="0" dirty="0">
                <a:ln>
                  <a:noFill/>
                </a:ln>
                <a:solidFill>
                  <a:prstClr val="white"/>
                </a:solidFill>
                <a:effectLst/>
                <a:uLnTx/>
                <a:uFillTx/>
                <a:latin typeface="微软雅黑" panose="020B0503020204020204" pitchFamily="34" charset="-122"/>
                <a:ea typeface="微软雅黑" panose="020B0503020204020204" pitchFamily="34" charset="-122"/>
                <a:sym typeface="+mn-ea"/>
              </a:rPr>
              <a:t>模型训练范式颠覆</a:t>
            </a:r>
            <a:endParaRPr kumimoji="1" lang="en-US" altLang="zh-CN"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srcRect l="59344" t="28824" b="47273"/>
          <a:stretch>
            <a:fillRect/>
          </a:stretch>
        </p:blipFill>
        <p:spPr>
          <a:xfrm>
            <a:off x="4204116" y="1426747"/>
            <a:ext cx="3783767" cy="1210147"/>
          </a:xfrm>
          <a:prstGeom prst="rect">
            <a:avLst/>
          </a:prstGeom>
        </p:spPr>
      </p:pic>
      <p:sp>
        <p:nvSpPr>
          <p:cNvPr id="2" name="文本框 1"/>
          <p:cNvSpPr txBox="1"/>
          <p:nvPr/>
        </p:nvSpPr>
        <p:spPr>
          <a:xfrm>
            <a:off x="2226949" y="3113111"/>
            <a:ext cx="7738110" cy="1106805"/>
          </a:xfrm>
          <a:prstGeom prst="rect">
            <a:avLst/>
          </a:prstGeom>
          <a:noFill/>
        </p:spPr>
        <p:txBody>
          <a:bodyPr wrap="none" rtlCol="0">
            <a:spAutoFit/>
          </a:bodyPr>
          <a:lstStyle>
            <a:defPPr>
              <a:defRPr lang="zh-CN"/>
            </a:defPPr>
            <a:lvl1pPr>
              <a:spcAft>
                <a:spcPts val="2400"/>
              </a:spcAft>
              <a:defRPr sz="5400" b="1">
                <a:latin typeface="微软雅黑" panose="020B0503020204020204" pitchFamily="34" charset="-122"/>
                <a:ea typeface="微软雅黑" panose="020B0503020204020204" pitchFamily="34" charset="-122"/>
              </a:defRPr>
            </a:lvl1pPr>
          </a:lstStyle>
          <a:p>
            <a:pPr algn="ctr"/>
            <a:r>
              <a:rPr lang="zh-CN" altLang="en-US" sz="6600" dirty="0"/>
              <a:t>训练方法创新</a:t>
            </a:r>
            <a:r>
              <a:rPr lang="zh-CN" altLang="en-US" sz="6600" dirty="0"/>
              <a:t>与优化</a:t>
            </a:r>
            <a:endParaRPr lang="zh-CN" altLang="en-US" sz="6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文本框 28"/>
          <p:cNvSpPr txBox="1"/>
          <p:nvPr/>
        </p:nvSpPr>
        <p:spPr>
          <a:xfrm>
            <a:off x="619492" y="51758"/>
            <a:ext cx="9958738"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R1</a:t>
            </a:r>
            <a:r>
              <a:rPr kumimoji="1" lang="zh-CN" alt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系列模型</a:t>
            </a:r>
            <a:r>
              <a:rPr kumimoji="1"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训练</a:t>
            </a:r>
            <a:r>
              <a:rPr kumimoji="1" lang="zh-CN"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流程</a:t>
            </a:r>
            <a:endParaRPr kumimoji="1" lang="zh-CN"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pic>
        <p:nvPicPr>
          <p:cNvPr id="2" name="图片 1"/>
          <p:cNvPicPr>
            <a:picLocks noChangeAspect="1"/>
          </p:cNvPicPr>
          <p:nvPr>
            <p:custDataLst>
              <p:tags r:id="rId1"/>
            </p:custDataLst>
          </p:nvPr>
        </p:nvPicPr>
        <p:blipFill>
          <a:blip r:embed="rId2"/>
          <a:stretch>
            <a:fillRect/>
          </a:stretch>
        </p:blipFill>
        <p:spPr>
          <a:xfrm>
            <a:off x="1454785" y="761365"/>
            <a:ext cx="9123680" cy="545211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19760" y="790575"/>
            <a:ext cx="11100435" cy="341503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800100" lvl="1" indent="-342900" algn="ctr">
              <a:lnSpc>
                <a:spcPct val="150000"/>
              </a:lnSpc>
              <a:buFont typeface="Arial" panose="020B0604020202090204" pitchFamily="34" charset="0"/>
              <a:buChar char="•"/>
              <a:defRPr sz="2400" b="1"/>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150000"/>
              </a:lnSpc>
              <a:spcBef>
                <a:spcPts val="0"/>
              </a:spcBef>
              <a:spcAft>
                <a:spcPts val="0"/>
              </a:spcAft>
              <a:buClrTx/>
              <a:buSzTx/>
              <a:defRPr/>
            </a:pPr>
            <a:endParaRPr kumimoji="0" lang="zh-CN" sz="24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lang="en-US" altLang="zh-CN" sz="20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R1-Zero的突破性起点</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lang="en-US" altLang="zh-CN" sz="20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无监督自进化：完全依赖强化学习（RL）驱动，训练中响应长度动态增长（3.8倍）</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lang="en-US" altLang="zh-CN" sz="20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冷启动验证：在数学/编程等可验证领域，无需SFT即可达到71% AIME准确率</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lang="en-US" altLang="zh-CN" sz="20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R1的扩展创新</a:t>
            </a:r>
            <a:endParaRPr lang="en-US" altLang="zh-CN" sz="200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lang="en-US" altLang="zh-CN" sz="20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多阶段训练：在R1-Zero基础上引入冷启动数据+二次RL优化，解决语言混合问题</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lang="en-US" altLang="zh-CN" sz="20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知识蒸馏：将671B模型能力迁移至Qwen/Llama小模型，实现低资源部署</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9" name="文本框 28"/>
          <p:cNvSpPr txBox="1"/>
          <p:nvPr/>
        </p:nvSpPr>
        <p:spPr>
          <a:xfrm>
            <a:off x="619492" y="51758"/>
            <a:ext cx="9958738"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sz="3200" b="1" noProof="0" dirty="0">
                <a:ln>
                  <a:noFill/>
                </a:ln>
                <a:solidFill>
                  <a:prstClr val="white"/>
                </a:solidFill>
                <a:effectLst/>
                <a:uLnTx/>
                <a:uFillTx/>
                <a:latin typeface="微软雅黑" panose="020B0503020204020204" pitchFamily="34" charset="-122"/>
                <a:ea typeface="微软雅黑" panose="020B0503020204020204" pitchFamily="34" charset="-122"/>
                <a:sym typeface="+mn-ea"/>
              </a:rPr>
              <a:t>训练范式革新——从纯RL到多阶段优化</a:t>
            </a:r>
            <a:endParaRPr kumimoji="1" sz="3200" b="1" noProof="0" dirty="0">
              <a:ln>
                <a:noFill/>
              </a:ln>
              <a:solidFill>
                <a:prstClr val="white"/>
              </a:solidFill>
              <a:effectLst/>
              <a:uLnTx/>
              <a:uFillTx/>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19760" y="790575"/>
            <a:ext cx="11100435" cy="341503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800100" lvl="1" indent="-342900" algn="ctr">
              <a:lnSpc>
                <a:spcPct val="150000"/>
              </a:lnSpc>
              <a:buFont typeface="Arial" panose="020B0604020202090204" pitchFamily="34" charset="0"/>
              <a:buChar char="•"/>
              <a:defRPr sz="2400" b="1"/>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150000"/>
              </a:lnSpc>
              <a:spcBef>
                <a:spcPts val="0"/>
              </a:spcBef>
              <a:spcAft>
                <a:spcPts val="0"/>
              </a:spcAft>
              <a:buClrTx/>
              <a:buSzTx/>
              <a:defRPr/>
            </a:pPr>
            <a:endParaRPr kumimoji="0" lang="zh-CN" sz="24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群体相对策略优化（GRPO）</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群体对比替代价值模型：通过组内输出对比计算优势值，降低40%计算开销</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动态KL约束：系数0.001平衡策略更新稳定性与探索性（R1-Zero核心配置）</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lang="en-US" altLang="zh-CN" sz="2000" noProof="0" dirty="0">
                <a:ln>
                  <a:noFill/>
                </a:ln>
                <a:solidFill>
                  <a:prstClr val="black"/>
                </a:solidFill>
                <a:effectLst/>
                <a:uLnTx/>
                <a:uFillTx/>
                <a:latin typeface="微软雅黑" panose="020B0503020204020204" pitchFamily="34" charset="-122"/>
                <a:ea typeface="微软雅黑" panose="020B0503020204020204" pitchFamily="34" charset="-122"/>
              </a:rPr>
              <a:t>R1的算法增强</a:t>
            </a:r>
            <a:endParaRPr lang="en-US" altLang="zh-CN" sz="200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混合奖励机制：规则奖励（答案正确性） + 人工偏好奖励（可读性）</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拒绝采样优化：生成高质量合成数据用于二次训练</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9" name="文本框 28"/>
          <p:cNvSpPr txBox="1"/>
          <p:nvPr/>
        </p:nvSpPr>
        <p:spPr>
          <a:xfrm>
            <a:off x="619492" y="51758"/>
            <a:ext cx="9958738"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算法创新——GRPO与动态KL控制</a:t>
            </a:r>
            <a:endParaRPr kumimoji="1"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19760" y="790575"/>
            <a:ext cx="11100435" cy="341503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800100" lvl="1" indent="-342900" algn="ctr">
              <a:lnSpc>
                <a:spcPct val="150000"/>
              </a:lnSpc>
              <a:buFont typeface="Arial" panose="020B0604020202090204" pitchFamily="34" charset="0"/>
              <a:buChar char="•"/>
              <a:defRPr sz="2400" b="1"/>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150000"/>
              </a:lnSpc>
              <a:spcBef>
                <a:spcPts val="0"/>
              </a:spcBef>
              <a:spcAft>
                <a:spcPts val="0"/>
              </a:spcAft>
              <a:buClrTx/>
              <a:buSzTx/>
              <a:defRPr/>
            </a:pPr>
            <a:r>
              <a:rPr kumimoji="0" lang="zh-CN" sz="24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rPr>
              <a:t>奖励设计创新——双重驱动机制</a:t>
            </a:r>
            <a:endParaRPr kumimoji="0" lang="zh-CN" sz="24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R1-Zero的规则驱动</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硬性准确性奖励：数学答案验证（如数字游戏数据集） + 代码执行测试</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结构化格式奖励：强制&lt;thought&gt;/&lt;answer&gt;标签，消除87%语言混杂</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lang="en-US" altLang="zh-CN" sz="2000" noProof="0" dirty="0">
                <a:ln>
                  <a:noFill/>
                </a:ln>
                <a:solidFill>
                  <a:prstClr val="black"/>
                </a:solidFill>
                <a:effectLst/>
                <a:uLnTx/>
                <a:uFillTx/>
                <a:latin typeface="微软雅黑" panose="020B0503020204020204" pitchFamily="34" charset="-122"/>
                <a:ea typeface="微软雅黑" panose="020B0503020204020204" pitchFamily="34" charset="-122"/>
              </a:rPr>
              <a:t>R1的奖励升级</a:t>
            </a:r>
            <a:endParaRPr lang="en-US" altLang="zh-CN" sz="200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过程奖励引入：对中间推理步骤评分（如思维链完整性）</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人类偏好对齐：通过SFT数据注入改善自然语言流畅度</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9" name="文本框 28"/>
          <p:cNvSpPr txBox="1"/>
          <p:nvPr/>
        </p:nvSpPr>
        <p:spPr>
          <a:xfrm>
            <a:off x="619492" y="51758"/>
            <a:ext cx="9958738"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奖励设计创新——双重驱动机制</a:t>
            </a:r>
            <a:endParaRPr kumimoji="1"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19760" y="790575"/>
            <a:ext cx="11100435" cy="341503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800100" lvl="1" indent="-342900" algn="ctr">
              <a:lnSpc>
                <a:spcPct val="150000"/>
              </a:lnSpc>
              <a:buFont typeface="Arial" panose="020B0604020202090204" pitchFamily="34" charset="0"/>
              <a:buChar char="•"/>
              <a:defRPr sz="2400" b="1"/>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150000"/>
              </a:lnSpc>
              <a:spcBef>
                <a:spcPts val="0"/>
              </a:spcBef>
              <a:spcAft>
                <a:spcPts val="0"/>
              </a:spcAft>
              <a:buClrTx/>
              <a:buSzTx/>
              <a:defRPr/>
            </a:pPr>
            <a:endParaRPr kumimoji="0" lang="zh-CN" sz="24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R1-Zero的数据处理</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数字游戏数据集：490k条结构化问题，通过规则生成答案路径</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提示工程优化：针对Qwen等模型设计差异化模板（如&lt;|im_start|&gt;格式）</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lang="en-US" altLang="zh-CN" sz="2000" noProof="0" dirty="0">
                <a:ln>
                  <a:noFill/>
                </a:ln>
                <a:solidFill>
                  <a:prstClr val="black"/>
                </a:solidFill>
                <a:effectLst/>
                <a:uLnTx/>
                <a:uFillTx/>
                <a:latin typeface="微软雅黑" panose="020B0503020204020204" pitchFamily="34" charset="-122"/>
                <a:ea typeface="微软雅黑" panose="020B0503020204020204" pitchFamily="34" charset="-122"/>
              </a:rPr>
              <a:t>R1的流程扩展</a:t>
            </a:r>
            <a:endParaRPr lang="en-US" altLang="zh-CN" sz="200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四阶段训练：SFT基础优化 → RL强化推理 → 拒绝采样生成 → GRPO最终调优</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边缘计算适配：通过Ollama实现227GB大模型在消费级硬件运行</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9" name="文本框 28"/>
          <p:cNvSpPr txBox="1"/>
          <p:nvPr/>
        </p:nvSpPr>
        <p:spPr>
          <a:xfrm>
            <a:off x="619492" y="51758"/>
            <a:ext cx="9958738"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训练流程创新——从数据到部署</a:t>
            </a:r>
            <a:endParaRPr kumimoji="1"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066416" y="3113111"/>
            <a:ext cx="6059170" cy="1106805"/>
          </a:xfrm>
          <a:prstGeom prst="rect">
            <a:avLst/>
          </a:prstGeom>
          <a:noFill/>
        </p:spPr>
        <p:txBody>
          <a:bodyPr wrap="none" rtlCol="0">
            <a:spAutoFit/>
          </a:bodyPr>
          <a:lstStyle>
            <a:defPPr>
              <a:defRPr lang="zh-CN"/>
            </a:defPPr>
            <a:lvl1pPr>
              <a:spcAft>
                <a:spcPts val="2400"/>
              </a:spcAft>
              <a:defRPr sz="5400" b="1">
                <a:latin typeface="微软雅黑" panose="020B0503020204020204" pitchFamily="34" charset="-122"/>
                <a:ea typeface="微软雅黑" panose="020B0503020204020204" pitchFamily="34" charset="-122"/>
              </a:defRPr>
            </a:lvl1pPr>
          </a:lstStyle>
          <a:p>
            <a:pPr algn="ctr"/>
            <a:r>
              <a:rPr lang="zh-CN" altLang="en-US" sz="6600" dirty="0"/>
              <a:t>通讯创新</a:t>
            </a:r>
            <a:r>
              <a:rPr lang="zh-CN" altLang="en-US" sz="6600" dirty="0"/>
              <a:t>与优化</a:t>
            </a:r>
            <a:endParaRPr lang="zh-CN" altLang="en-US" sz="6600" dirty="0"/>
          </a:p>
        </p:txBody>
      </p:sp>
      <p:pic>
        <p:nvPicPr>
          <p:cNvPr id="3" name="图片 2"/>
          <p:cNvPicPr>
            <a:picLocks noChangeAspect="1"/>
          </p:cNvPicPr>
          <p:nvPr/>
        </p:nvPicPr>
        <p:blipFill rotWithShape="1">
          <a:blip r:embed="rId1"/>
          <a:srcRect l="59344" t="28824" b="47273"/>
          <a:stretch>
            <a:fillRect/>
          </a:stretch>
        </p:blipFill>
        <p:spPr>
          <a:xfrm>
            <a:off x="4204116" y="1426747"/>
            <a:ext cx="3783767" cy="121014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文本框 28"/>
          <p:cNvSpPr txBox="1"/>
          <p:nvPr/>
        </p:nvSpPr>
        <p:spPr>
          <a:xfrm>
            <a:off x="619492" y="51758"/>
            <a:ext cx="9958738"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3200" b="1" dirty="0">
                <a:solidFill>
                  <a:prstClr val="white"/>
                </a:solidFill>
                <a:latin typeface="微软雅黑" panose="020B0503020204020204" pitchFamily="34" charset="-122"/>
                <a:ea typeface="微软雅黑" panose="020B0503020204020204" pitchFamily="34" charset="-122"/>
              </a:rPr>
              <a:t>DualPipe </a:t>
            </a:r>
            <a:r>
              <a:rPr kumimoji="1" lang="zh-CN" altLang="en-US" sz="3200" b="1" dirty="0">
                <a:solidFill>
                  <a:prstClr val="white"/>
                </a:solidFill>
                <a:latin typeface="微软雅黑" panose="020B0503020204020204" pitchFamily="34" charset="-122"/>
                <a:ea typeface="微软雅黑" panose="020B0503020204020204" pitchFamily="34" charset="-122"/>
              </a:rPr>
              <a:t>创新流水线并行策略</a:t>
            </a:r>
            <a:endParaRPr kumimoji="1" lang="zh-CN" alt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7" name="文本框 6"/>
          <p:cNvSpPr txBox="1"/>
          <p:nvPr/>
        </p:nvSpPr>
        <p:spPr>
          <a:xfrm>
            <a:off x="623204" y="931059"/>
            <a:ext cx="10945591" cy="5237139"/>
          </a:xfrm>
          <a:prstGeom prst="rect">
            <a:avLst/>
          </a:prstGeom>
          <a:noFill/>
        </p:spPr>
        <p:txBody>
          <a:bodyPr wrap="square">
            <a:spAutoFit/>
          </a:bodyPr>
          <a:lstStyle/>
          <a:p>
            <a:pPr algn="l">
              <a:lnSpc>
                <a:spcPct val="150000"/>
              </a:lnSpc>
              <a:spcAft>
                <a:spcPts val="600"/>
              </a:spcAft>
            </a:pPr>
            <a:r>
              <a:rPr lang="zh-CN" altLang="en-US" sz="2400" b="1" i="0" dirty="0">
                <a:effectLst/>
                <a:latin typeface="微软雅黑" panose="020B0503020204020204" pitchFamily="34" charset="-122"/>
                <a:ea typeface="微软雅黑" panose="020B0503020204020204" pitchFamily="34" charset="-122"/>
              </a:rPr>
              <a:t>核心设计突破</a:t>
            </a:r>
            <a:endParaRPr lang="zh-CN" altLang="en-US" sz="2400" b="1" i="0" dirty="0">
              <a:effectLst/>
              <a:latin typeface="微软雅黑" panose="020B0503020204020204" pitchFamily="34" charset="-122"/>
              <a:ea typeface="微软雅黑" panose="020B0503020204020204" pitchFamily="34" charset="-122"/>
            </a:endParaRPr>
          </a:p>
          <a:p>
            <a:pPr algn="l">
              <a:lnSpc>
                <a:spcPct val="150000"/>
              </a:lnSpc>
              <a:buFont typeface="Arial" panose="020B0604020202090204" pitchFamily="34" charset="0"/>
              <a:buChar char="•"/>
            </a:pPr>
            <a:r>
              <a:rPr lang="zh-CN" altLang="en-US" b="1" i="0" dirty="0">
                <a:effectLst/>
                <a:latin typeface="微软雅黑" panose="020B0503020204020204" pitchFamily="34" charset="-122"/>
                <a:ea typeface="微软雅黑" panose="020B0503020204020204" pitchFamily="34" charset="-122"/>
              </a:rPr>
              <a:t>双向流水线架构</a:t>
            </a:r>
            <a:br>
              <a:rPr lang="zh-CN" altLang="en-US" b="0" i="0" dirty="0">
                <a:effectLst/>
                <a:latin typeface="微软雅黑" panose="020B0503020204020204" pitchFamily="34" charset="-122"/>
                <a:ea typeface="微软雅黑" panose="020B0503020204020204" pitchFamily="34" charset="-122"/>
              </a:rPr>
            </a:br>
            <a:r>
              <a:rPr lang="en-US" altLang="zh-CN" b="0" i="0" dirty="0">
                <a:effectLst/>
                <a:latin typeface="微软雅黑" panose="020B0503020204020204" pitchFamily="34" charset="-122"/>
                <a:ea typeface="微软雅黑" panose="020B0503020204020204" pitchFamily="34" charset="-122"/>
              </a:rPr>
              <a:t>	</a:t>
            </a:r>
            <a:r>
              <a:rPr lang="zh-CN" altLang="en-US" b="0" i="0" dirty="0">
                <a:effectLst/>
                <a:latin typeface="微软雅黑" panose="020B0503020204020204" pitchFamily="34" charset="-122"/>
                <a:ea typeface="微软雅黑" panose="020B0503020204020204" pitchFamily="34" charset="-122"/>
              </a:rPr>
              <a:t>▸ 突破传统单向流水线（如</a:t>
            </a:r>
            <a:r>
              <a:rPr lang="en-US" altLang="zh-CN" b="0" i="0" dirty="0">
                <a:effectLst/>
                <a:latin typeface="微软雅黑" panose="020B0503020204020204" pitchFamily="34" charset="-122"/>
                <a:ea typeface="微软雅黑" panose="020B0503020204020204" pitchFamily="34" charset="-122"/>
              </a:rPr>
              <a:t>1F1B</a:t>
            </a:r>
            <a:r>
              <a:rPr lang="zh-CN" altLang="en-US" b="0" i="0" dirty="0">
                <a:effectLst/>
                <a:latin typeface="微软雅黑" panose="020B0503020204020204" pitchFamily="34" charset="-122"/>
                <a:ea typeface="微软雅黑" panose="020B0503020204020204" pitchFamily="34" charset="-122"/>
              </a:rPr>
              <a:t>）限制</a:t>
            </a:r>
            <a:br>
              <a:rPr lang="zh-CN" altLang="en-US" b="0" i="0" dirty="0">
                <a:effectLst/>
                <a:latin typeface="微软雅黑" panose="020B0503020204020204" pitchFamily="34" charset="-122"/>
                <a:ea typeface="微软雅黑" panose="020B0503020204020204" pitchFamily="34" charset="-122"/>
              </a:rPr>
            </a:br>
            <a:r>
              <a:rPr lang="en-US" altLang="zh-CN" b="0" i="0" dirty="0">
                <a:effectLst/>
                <a:latin typeface="微软雅黑" panose="020B0503020204020204" pitchFamily="34" charset="-122"/>
                <a:ea typeface="微软雅黑" panose="020B0503020204020204" pitchFamily="34" charset="-122"/>
              </a:rPr>
              <a:t>	</a:t>
            </a:r>
            <a:r>
              <a:rPr lang="zh-CN" altLang="en-US" b="0" i="0" dirty="0">
                <a:effectLst/>
                <a:latin typeface="微软雅黑" panose="020B0503020204020204" pitchFamily="34" charset="-122"/>
                <a:ea typeface="微软雅黑" panose="020B0503020204020204" pitchFamily="34" charset="-122"/>
              </a:rPr>
              <a:t>▸ 同时从流水线两端馈送</a:t>
            </a:r>
            <a:r>
              <a:rPr lang="en-US" altLang="zh-CN" b="0" i="0" dirty="0">
                <a:effectLst/>
                <a:latin typeface="微软雅黑" panose="020B0503020204020204" pitchFamily="34" charset="-122"/>
                <a:ea typeface="微软雅黑" panose="020B0503020204020204" pitchFamily="34" charset="-122"/>
              </a:rPr>
              <a:t>micro-batch</a:t>
            </a:r>
            <a:br>
              <a:rPr lang="en-US" altLang="zh-CN" b="0" i="0" dirty="0">
                <a:effectLst/>
                <a:latin typeface="微软雅黑" panose="020B0503020204020204" pitchFamily="34" charset="-122"/>
                <a:ea typeface="微软雅黑" panose="020B0503020204020204" pitchFamily="34" charset="-122"/>
              </a:rPr>
            </a:br>
            <a:r>
              <a:rPr lang="en-US" altLang="zh-CN" b="0" i="0" dirty="0">
                <a:effectLst/>
                <a:latin typeface="微软雅黑" panose="020B0503020204020204" pitchFamily="34" charset="-122"/>
                <a:ea typeface="微软雅黑" panose="020B0503020204020204" pitchFamily="34" charset="-122"/>
              </a:rPr>
              <a:t>	▸ </a:t>
            </a:r>
            <a:r>
              <a:rPr lang="zh-CN" altLang="en-US" b="1" i="0" dirty="0">
                <a:effectLst/>
                <a:latin typeface="微软雅黑" panose="020B0503020204020204" pitchFamily="34" charset="-122"/>
                <a:ea typeface="微软雅黑" panose="020B0503020204020204" pitchFamily="34" charset="-122"/>
              </a:rPr>
              <a:t>关键效果</a:t>
            </a:r>
            <a:r>
              <a:rPr lang="zh-CN" altLang="en-US" b="0" i="0" dirty="0">
                <a:effectLst/>
                <a:latin typeface="微软雅黑" panose="020B0503020204020204" pitchFamily="34" charset="-122"/>
                <a:ea typeface="微软雅黑" panose="020B0503020204020204" pitchFamily="34" charset="-122"/>
              </a:rPr>
              <a:t>：流水线气泡减少</a:t>
            </a:r>
            <a:r>
              <a:rPr lang="en-US" altLang="zh-CN" b="0" i="0" dirty="0">
                <a:effectLst/>
                <a:latin typeface="微软雅黑" panose="020B0503020204020204" pitchFamily="34" charset="-122"/>
                <a:ea typeface="微软雅黑" panose="020B0503020204020204" pitchFamily="34" charset="-122"/>
              </a:rPr>
              <a:t>40-50%</a:t>
            </a:r>
            <a:r>
              <a:rPr lang="zh-CN" altLang="en-US" b="0" i="0" dirty="0">
                <a:effectLst/>
                <a:latin typeface="微软雅黑" panose="020B0503020204020204" pitchFamily="34" charset="-122"/>
                <a:ea typeface="微软雅黑" panose="020B0503020204020204" pitchFamily="34" charset="-122"/>
              </a:rPr>
              <a:t>；</a:t>
            </a:r>
            <a:r>
              <a:rPr lang="en-US" altLang="zh-CN" b="0" i="0" dirty="0">
                <a:effectLst/>
                <a:latin typeface="微软雅黑" panose="020B0503020204020204" pitchFamily="34" charset="-122"/>
                <a:ea typeface="微软雅黑" panose="020B0503020204020204" pitchFamily="34" charset="-122"/>
              </a:rPr>
              <a:t>GPU</a:t>
            </a:r>
            <a:r>
              <a:rPr lang="zh-CN" altLang="en-US" b="0" i="0" dirty="0">
                <a:effectLst/>
                <a:latin typeface="微软雅黑" panose="020B0503020204020204" pitchFamily="34" charset="-122"/>
                <a:ea typeface="微软雅黑" panose="020B0503020204020204" pitchFamily="34" charset="-122"/>
              </a:rPr>
              <a:t>利用率提升</a:t>
            </a:r>
            <a:r>
              <a:rPr lang="en-US" altLang="zh-CN" b="0" i="0" dirty="0">
                <a:effectLst/>
                <a:latin typeface="微软雅黑" panose="020B0503020204020204" pitchFamily="34" charset="-122"/>
                <a:ea typeface="微软雅黑" panose="020B0503020204020204" pitchFamily="34" charset="-122"/>
              </a:rPr>
              <a:t>30%+</a:t>
            </a:r>
            <a:endParaRPr lang="en-US" altLang="zh-CN" b="0" i="0" dirty="0">
              <a:effectLst/>
              <a:latin typeface="微软雅黑" panose="020B0503020204020204" pitchFamily="34" charset="-122"/>
              <a:ea typeface="微软雅黑" panose="020B0503020204020204" pitchFamily="34" charset="-122"/>
            </a:endParaRPr>
          </a:p>
          <a:p>
            <a:pPr>
              <a:lnSpc>
                <a:spcPct val="150000"/>
              </a:lnSpc>
              <a:spcAft>
                <a:spcPts val="600"/>
              </a:spcAft>
            </a:pPr>
            <a:r>
              <a:rPr lang="zh-CN" altLang="en-US" sz="2400" b="1" dirty="0">
                <a:latin typeface="微软雅黑" panose="020B0503020204020204" pitchFamily="34" charset="-122"/>
                <a:ea typeface="微软雅黑" panose="020B0503020204020204" pitchFamily="34" charset="-122"/>
              </a:rPr>
              <a:t>精细化调度机制</a:t>
            </a:r>
            <a:endParaRPr lang="zh-CN" altLang="en-US" sz="2400" b="1" dirty="0">
              <a:latin typeface="微软雅黑" panose="020B0503020204020204" pitchFamily="34" charset="-122"/>
              <a:ea typeface="微软雅黑" panose="020B0503020204020204" pitchFamily="34" charset="-122"/>
            </a:endParaRPr>
          </a:p>
          <a:p>
            <a:pPr algn="l">
              <a:lnSpc>
                <a:spcPct val="150000"/>
              </a:lnSpc>
              <a:spcAft>
                <a:spcPts val="300"/>
              </a:spcAft>
            </a:pPr>
            <a:r>
              <a:rPr lang="en-US" altLang="zh-CN" b="1" i="0" dirty="0">
                <a:effectLst/>
                <a:latin typeface="微软雅黑" panose="020B0503020204020204" pitchFamily="34" charset="-122"/>
                <a:ea typeface="微软雅黑" panose="020B0503020204020204" pitchFamily="34" charset="-122"/>
              </a:rPr>
              <a:t>Chunk</a:t>
            </a:r>
            <a:r>
              <a:rPr lang="zh-CN" altLang="en-US" b="1" i="0" dirty="0">
                <a:effectLst/>
                <a:latin typeface="微软雅黑" panose="020B0503020204020204" pitchFamily="34" charset="-122"/>
                <a:ea typeface="微软雅黑" panose="020B0503020204020204" pitchFamily="34" charset="-122"/>
              </a:rPr>
              <a:t>级分解</a:t>
            </a:r>
            <a:endParaRPr lang="zh-CN" altLang="en-US" b="0" i="0" dirty="0">
              <a:effectLst/>
              <a:latin typeface="微软雅黑" panose="020B0503020204020204" pitchFamily="34" charset="-122"/>
              <a:ea typeface="微软雅黑" panose="020B0503020204020204" pitchFamily="34" charset="-122"/>
            </a:endParaRPr>
          </a:p>
          <a:p>
            <a:pPr lvl="1" algn="l">
              <a:lnSpc>
                <a:spcPct val="150000"/>
              </a:lnSpc>
              <a:spcBef>
                <a:spcPts val="300"/>
              </a:spcBef>
            </a:pPr>
            <a:r>
              <a:rPr lang="zh-CN" altLang="en-US" b="0" i="0" dirty="0">
                <a:effectLst/>
                <a:latin typeface="微软雅黑" panose="020B0503020204020204" pitchFamily="34" charset="-122"/>
                <a:ea typeface="微软雅黑" panose="020B0503020204020204" pitchFamily="34" charset="-122"/>
              </a:rPr>
              <a:t>将</a:t>
            </a:r>
            <a:r>
              <a:rPr lang="en-US" altLang="zh-CN" b="0" i="0" dirty="0">
                <a:effectLst/>
                <a:latin typeface="微软雅黑" panose="020B0503020204020204" pitchFamily="34" charset="-122"/>
                <a:ea typeface="微软雅黑" panose="020B0503020204020204" pitchFamily="34" charset="-122"/>
              </a:rPr>
              <a:t>micro-batch</a:t>
            </a:r>
            <a:r>
              <a:rPr lang="zh-CN" altLang="en-US" b="0" i="0" dirty="0">
                <a:effectLst/>
                <a:latin typeface="微软雅黑" panose="020B0503020204020204" pitchFamily="34" charset="-122"/>
                <a:ea typeface="微软雅黑" panose="020B0503020204020204" pitchFamily="34" charset="-122"/>
              </a:rPr>
              <a:t>细分为更小的</a:t>
            </a:r>
            <a:r>
              <a:rPr lang="en-US" altLang="zh-CN" b="0" i="0" dirty="0">
                <a:effectLst/>
                <a:latin typeface="微软雅黑" panose="020B0503020204020204" pitchFamily="34" charset="-122"/>
                <a:ea typeface="微软雅黑" panose="020B0503020204020204" pitchFamily="34" charset="-122"/>
              </a:rPr>
              <a:t>chunk</a:t>
            </a:r>
            <a:r>
              <a:rPr lang="zh-CN" altLang="en-US" b="0" i="0" dirty="0">
                <a:effectLst/>
                <a:latin typeface="微软雅黑" panose="020B0503020204020204" pitchFamily="34" charset="-122"/>
                <a:ea typeface="微软雅黑" panose="020B0503020204020204" pitchFamily="34" charset="-122"/>
              </a:rPr>
              <a:t>单元</a:t>
            </a:r>
            <a:endParaRPr lang="zh-CN" altLang="en-US" b="0" i="0" dirty="0">
              <a:effectLst/>
              <a:latin typeface="微软雅黑" panose="020B0503020204020204" pitchFamily="34" charset="-122"/>
              <a:ea typeface="微软雅黑" panose="020B0503020204020204" pitchFamily="34" charset="-122"/>
            </a:endParaRPr>
          </a:p>
          <a:p>
            <a:pPr lvl="1" algn="l">
              <a:lnSpc>
                <a:spcPct val="150000"/>
              </a:lnSpc>
              <a:spcBef>
                <a:spcPts val="300"/>
              </a:spcBef>
            </a:pPr>
            <a:r>
              <a:rPr lang="zh-CN" altLang="en-US" b="0" i="0" dirty="0">
                <a:effectLst/>
                <a:latin typeface="微软雅黑" panose="020B0503020204020204" pitchFamily="34" charset="-122"/>
                <a:ea typeface="微软雅黑" panose="020B0503020204020204" pitchFamily="34" charset="-122"/>
              </a:rPr>
              <a:t>每个</a:t>
            </a:r>
            <a:r>
              <a:rPr lang="en-US" altLang="zh-CN" b="0" i="0" dirty="0">
                <a:effectLst/>
                <a:latin typeface="微软雅黑" panose="020B0503020204020204" pitchFamily="34" charset="-122"/>
                <a:ea typeface="微软雅黑" panose="020B0503020204020204" pitchFamily="34" charset="-122"/>
              </a:rPr>
              <a:t>chunk</a:t>
            </a:r>
            <a:r>
              <a:rPr lang="zh-CN" altLang="en-US" b="0" i="0" dirty="0">
                <a:effectLst/>
                <a:latin typeface="微软雅黑" panose="020B0503020204020204" pitchFamily="34" charset="-122"/>
                <a:ea typeface="微软雅黑" panose="020B0503020204020204" pitchFamily="34" charset="-122"/>
              </a:rPr>
              <a:t>拆解为四大组件：</a:t>
            </a:r>
            <a:r>
              <a:rPr lang="en-US" altLang="zh-CN" b="0" i="0" dirty="0">
                <a:effectLst/>
                <a:latin typeface="微软雅黑" panose="020B0503020204020204" pitchFamily="34" charset="-122"/>
                <a:ea typeface="微软雅黑" panose="020B0503020204020204" pitchFamily="34" charset="-122"/>
              </a:rPr>
              <a:t>Attention</a:t>
            </a:r>
            <a:r>
              <a:rPr lang="zh-CN" altLang="en-US" b="0" i="0" dirty="0">
                <a:effectLst/>
                <a:latin typeface="微软雅黑" panose="020B0503020204020204" pitchFamily="34" charset="-122"/>
                <a:ea typeface="微软雅黑" panose="020B0503020204020204" pitchFamily="34" charset="-122"/>
              </a:rPr>
              <a:t>计算；</a:t>
            </a:r>
            <a:r>
              <a:rPr lang="en-US" altLang="zh-CN" b="0" i="0" dirty="0">
                <a:effectLst/>
                <a:latin typeface="微软雅黑" panose="020B0503020204020204" pitchFamily="34" charset="-122"/>
                <a:ea typeface="微软雅黑" panose="020B0503020204020204" pitchFamily="34" charset="-122"/>
              </a:rPr>
              <a:t>All-to-All</a:t>
            </a:r>
            <a:r>
              <a:rPr lang="zh-CN" altLang="en-US" b="0" i="0" dirty="0">
                <a:effectLst/>
                <a:latin typeface="微软雅黑" panose="020B0503020204020204" pitchFamily="34" charset="-122"/>
                <a:ea typeface="微软雅黑" panose="020B0503020204020204" pitchFamily="34" charset="-122"/>
              </a:rPr>
              <a:t>分发通信；</a:t>
            </a:r>
            <a:r>
              <a:rPr lang="en-US" altLang="zh-CN" b="0" i="0" dirty="0">
                <a:effectLst/>
                <a:latin typeface="微软雅黑" panose="020B0503020204020204" pitchFamily="34" charset="-122"/>
                <a:ea typeface="微软雅黑" panose="020B0503020204020204" pitchFamily="34" charset="-122"/>
              </a:rPr>
              <a:t>MLP</a:t>
            </a:r>
            <a:r>
              <a:rPr lang="zh-CN" altLang="en-US" b="0" i="0" dirty="0">
                <a:effectLst/>
                <a:latin typeface="微软雅黑" panose="020B0503020204020204" pitchFamily="34" charset="-122"/>
                <a:ea typeface="微软雅黑" panose="020B0503020204020204" pitchFamily="34" charset="-122"/>
              </a:rPr>
              <a:t>计算；</a:t>
            </a:r>
            <a:r>
              <a:rPr lang="en-US" altLang="zh-CN" b="0" i="0" dirty="0">
                <a:effectLst/>
                <a:latin typeface="微软雅黑" panose="020B0503020204020204" pitchFamily="34" charset="-122"/>
                <a:ea typeface="微软雅黑" panose="020B0503020204020204" pitchFamily="34" charset="-122"/>
              </a:rPr>
              <a:t>All-to-All</a:t>
            </a:r>
            <a:r>
              <a:rPr lang="zh-CN" altLang="en-US" b="0" i="0" dirty="0">
                <a:effectLst/>
                <a:latin typeface="微软雅黑" panose="020B0503020204020204" pitchFamily="34" charset="-122"/>
                <a:ea typeface="微软雅黑" panose="020B0503020204020204" pitchFamily="34" charset="-122"/>
              </a:rPr>
              <a:t>聚合通信</a:t>
            </a:r>
            <a:endParaRPr lang="en-US" altLang="zh-CN" b="1" dirty="0">
              <a:latin typeface="微软雅黑" panose="020B0503020204020204" pitchFamily="34" charset="-122"/>
              <a:ea typeface="微软雅黑" panose="020B0503020204020204" pitchFamily="34" charset="-122"/>
            </a:endParaRPr>
          </a:p>
          <a:p>
            <a:pPr marL="0" lvl="1" algn="l">
              <a:lnSpc>
                <a:spcPct val="150000"/>
              </a:lnSpc>
              <a:spcBef>
                <a:spcPts val="300"/>
              </a:spcBef>
            </a:pPr>
            <a:r>
              <a:rPr lang="zh-CN" altLang="en-US" b="1" dirty="0">
                <a:latin typeface="微软雅黑" panose="020B0503020204020204" pitchFamily="34" charset="-122"/>
                <a:ea typeface="微软雅黑" panose="020B0503020204020204" pitchFamily="34" charset="-122"/>
              </a:rPr>
              <a:t>时空重叠优化</a:t>
            </a:r>
            <a:endParaRPr lang="en-US" altLang="zh-CN" b="1" dirty="0">
              <a:latin typeface="微软雅黑" panose="020B0503020204020204" pitchFamily="34" charset="-122"/>
              <a:ea typeface="微软雅黑" panose="020B0503020204020204" pitchFamily="34" charset="-122"/>
            </a:endParaRPr>
          </a:p>
          <a:p>
            <a:pPr lvl="1">
              <a:lnSpc>
                <a:spcPct val="150000"/>
              </a:lnSpc>
              <a:spcBef>
                <a:spcPts val="300"/>
              </a:spcBef>
            </a:pPr>
            <a:r>
              <a:rPr lang="zh-CN" altLang="en-US" b="1" dirty="0">
                <a:latin typeface="微软雅黑" panose="020B0503020204020204" pitchFamily="34" charset="-122"/>
                <a:ea typeface="微软雅黑" panose="020B0503020204020204" pitchFamily="34" charset="-122"/>
              </a:rPr>
              <a:t>实测指标</a:t>
            </a:r>
            <a:r>
              <a:rPr lang="zh-CN" altLang="en-US" dirty="0">
                <a:latin typeface="微软雅黑" panose="020B0503020204020204" pitchFamily="34" charset="-122"/>
                <a:ea typeface="微软雅黑" panose="020B0503020204020204" pitchFamily="34" charset="-122"/>
              </a:rPr>
              <a:t>：计算</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通信重叠率达</a:t>
            </a:r>
            <a:r>
              <a:rPr lang="en-US" altLang="zh-CN" dirty="0">
                <a:latin typeface="微软雅黑" panose="020B0503020204020204" pitchFamily="34" charset="-122"/>
                <a:ea typeface="微软雅黑" panose="020B0503020204020204" pitchFamily="34" charset="-122"/>
              </a:rPr>
              <a:t>85%</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文本框 28"/>
          <p:cNvSpPr txBox="1"/>
          <p:nvPr/>
        </p:nvSpPr>
        <p:spPr>
          <a:xfrm>
            <a:off x="619492" y="51758"/>
            <a:ext cx="9958738"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3200" b="1" dirty="0">
                <a:solidFill>
                  <a:prstClr val="white"/>
                </a:solidFill>
                <a:latin typeface="微软雅黑" panose="020B0503020204020204" pitchFamily="34" charset="-122"/>
                <a:ea typeface="微软雅黑" panose="020B0503020204020204" pitchFamily="34" charset="-122"/>
              </a:rPr>
              <a:t>DualPipe </a:t>
            </a:r>
            <a:r>
              <a:rPr kumimoji="1" lang="zh-CN" altLang="en-US" sz="3200" b="1" dirty="0">
                <a:solidFill>
                  <a:prstClr val="white"/>
                </a:solidFill>
                <a:latin typeface="微软雅黑" panose="020B0503020204020204" pitchFamily="34" charset="-122"/>
                <a:ea typeface="微软雅黑" panose="020B0503020204020204" pitchFamily="34" charset="-122"/>
              </a:rPr>
              <a:t>创新流水线并行策略</a:t>
            </a:r>
            <a:endParaRPr kumimoji="1" lang="zh-CN" alt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7" name="文本框 6"/>
          <p:cNvSpPr txBox="1"/>
          <p:nvPr/>
        </p:nvSpPr>
        <p:spPr>
          <a:xfrm>
            <a:off x="623204" y="931059"/>
            <a:ext cx="10945591" cy="581057"/>
          </a:xfrm>
          <a:prstGeom prst="rect">
            <a:avLst/>
          </a:prstGeom>
          <a:noFill/>
        </p:spPr>
        <p:txBody>
          <a:bodyPr wrap="square">
            <a:spAutoFit/>
          </a:bodyPr>
          <a:lstStyle/>
          <a:p>
            <a:pPr algn="l">
              <a:lnSpc>
                <a:spcPct val="150000"/>
              </a:lnSpc>
              <a:spcAft>
                <a:spcPts val="600"/>
              </a:spcAft>
            </a:pPr>
            <a:r>
              <a:rPr lang="zh-CN" altLang="en-US" sz="2400" b="1" i="0" dirty="0">
                <a:effectLst/>
                <a:latin typeface="微软雅黑" panose="020B0503020204020204" pitchFamily="34" charset="-122"/>
                <a:ea typeface="微软雅黑" panose="020B0503020204020204" pitchFamily="34" charset="-122"/>
              </a:rPr>
              <a:t>技术优势对比</a:t>
            </a:r>
            <a:endParaRPr lang="zh-CN" altLang="en-US" sz="2400" b="1" i="0" dirty="0">
              <a:effectLst/>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619492" y="1806642"/>
            <a:ext cx="5081113" cy="3140644"/>
          </a:xfrm>
          <a:prstGeom prst="rect">
            <a:avLst/>
          </a:prstGeom>
        </p:spPr>
      </p:pic>
      <p:sp>
        <p:nvSpPr>
          <p:cNvPr id="5" name="文本框 4"/>
          <p:cNvSpPr txBox="1"/>
          <p:nvPr/>
        </p:nvSpPr>
        <p:spPr>
          <a:xfrm>
            <a:off x="6096000" y="929154"/>
            <a:ext cx="6099858" cy="5329472"/>
          </a:xfrm>
          <a:prstGeom prst="rect">
            <a:avLst/>
          </a:prstGeom>
          <a:noFill/>
        </p:spPr>
        <p:txBody>
          <a:bodyPr wrap="square">
            <a:spAutoFit/>
          </a:bodyPr>
          <a:lstStyle/>
          <a:p>
            <a:pPr>
              <a:lnSpc>
                <a:spcPct val="150000"/>
              </a:lnSpc>
              <a:spcAft>
                <a:spcPts val="600"/>
              </a:spcAft>
            </a:pPr>
            <a:r>
              <a:rPr lang="zh-CN" altLang="en-US" sz="2400" b="1" dirty="0">
                <a:latin typeface="微软雅黑" panose="020B0503020204020204" pitchFamily="34" charset="-122"/>
                <a:ea typeface="微软雅黑" panose="020B0503020204020204" pitchFamily="34" charset="-122"/>
              </a:rPr>
              <a:t>三大核心优势</a:t>
            </a:r>
            <a:endParaRPr lang="en-US" altLang="zh-CN" sz="2400" b="1" dirty="0">
              <a:latin typeface="微软雅黑" panose="020B0503020204020204" pitchFamily="34" charset="-122"/>
              <a:ea typeface="微软雅黑" panose="020B0503020204020204" pitchFamily="34" charset="-122"/>
            </a:endParaRPr>
          </a:p>
          <a:p>
            <a:pPr>
              <a:lnSpc>
                <a:spcPct val="150000"/>
              </a:lnSpc>
              <a:spcAft>
                <a:spcPts val="600"/>
              </a:spcAft>
            </a:pPr>
            <a:r>
              <a:rPr lang="zh-CN" altLang="en-US" b="1" i="0" dirty="0">
                <a:effectLst/>
                <a:latin typeface="微软雅黑" panose="020B0503020204020204" pitchFamily="34" charset="-122"/>
                <a:ea typeface="微软雅黑" panose="020B0503020204020204" pitchFamily="34" charset="-122"/>
              </a:rPr>
              <a:t>效率革命</a:t>
            </a:r>
            <a:endParaRPr lang="zh-CN" altLang="en-US" b="0" i="0" dirty="0">
              <a:effectLst/>
              <a:latin typeface="微软雅黑" panose="020B0503020204020204" pitchFamily="34" charset="-122"/>
              <a:ea typeface="微软雅黑" panose="020B0503020204020204" pitchFamily="34" charset="-122"/>
            </a:endParaRPr>
          </a:p>
          <a:p>
            <a:pPr lvl="1" algn="l">
              <a:lnSpc>
                <a:spcPct val="150000"/>
              </a:lnSpc>
              <a:spcBef>
                <a:spcPts val="300"/>
              </a:spcBef>
            </a:pPr>
            <a:r>
              <a:rPr lang="zh-CN" altLang="en-US" b="0" i="0" dirty="0">
                <a:effectLst/>
                <a:latin typeface="微软雅黑" panose="020B0503020204020204" pitchFamily="34" charset="-122"/>
                <a:ea typeface="微软雅黑" panose="020B0503020204020204" pitchFamily="34" charset="-122"/>
              </a:rPr>
              <a:t>通过双向数据流设计，消除传统流水线空泡</a:t>
            </a:r>
            <a:endParaRPr lang="zh-CN" altLang="en-US" b="0" i="0" dirty="0">
              <a:effectLst/>
              <a:latin typeface="微软雅黑" panose="020B0503020204020204" pitchFamily="34" charset="-122"/>
              <a:ea typeface="微软雅黑" panose="020B0503020204020204" pitchFamily="34" charset="-122"/>
            </a:endParaRPr>
          </a:p>
          <a:p>
            <a:pPr lvl="1" algn="l">
              <a:lnSpc>
                <a:spcPct val="150000"/>
              </a:lnSpc>
              <a:spcBef>
                <a:spcPts val="300"/>
              </a:spcBef>
            </a:pPr>
            <a:r>
              <a:rPr lang="zh-CN" altLang="en-US" b="1" i="0" dirty="0">
                <a:effectLst/>
                <a:latin typeface="微软雅黑" panose="020B0503020204020204" pitchFamily="34" charset="-122"/>
                <a:ea typeface="微软雅黑" panose="020B0503020204020204" pitchFamily="34" charset="-122"/>
              </a:rPr>
              <a:t>典型场景</a:t>
            </a:r>
            <a:r>
              <a:rPr lang="zh-CN" altLang="en-US" b="0" i="0" dirty="0">
                <a:effectLst/>
                <a:latin typeface="微软雅黑" panose="020B0503020204020204" pitchFamily="34" charset="-122"/>
                <a:ea typeface="微软雅黑" panose="020B0503020204020204" pitchFamily="34" charset="-122"/>
              </a:rPr>
              <a:t>：</a:t>
            </a:r>
            <a:r>
              <a:rPr lang="en-US" altLang="zh-CN" b="0" i="0" dirty="0">
                <a:effectLst/>
                <a:latin typeface="微软雅黑" panose="020B0503020204020204" pitchFamily="34" charset="-122"/>
                <a:ea typeface="微软雅黑" panose="020B0503020204020204" pitchFamily="34" charset="-122"/>
              </a:rPr>
              <a:t>8</a:t>
            </a:r>
            <a:r>
              <a:rPr lang="zh-CN" altLang="en-US" b="0" i="0" dirty="0">
                <a:effectLst/>
                <a:latin typeface="微软雅黑" panose="020B0503020204020204" pitchFamily="34" charset="-122"/>
                <a:ea typeface="微软雅黑" panose="020B0503020204020204" pitchFamily="34" charset="-122"/>
              </a:rPr>
              <a:t>节点集群下训练吞吐提升</a:t>
            </a:r>
            <a:r>
              <a:rPr lang="en-US" altLang="zh-CN" b="0" i="0" dirty="0">
                <a:effectLst/>
                <a:latin typeface="微软雅黑" panose="020B0503020204020204" pitchFamily="34" charset="-122"/>
                <a:ea typeface="微软雅黑" panose="020B0503020204020204" pitchFamily="34" charset="-122"/>
              </a:rPr>
              <a:t>2.3</a:t>
            </a:r>
            <a:r>
              <a:rPr lang="zh-CN" altLang="en-US" b="0" i="0" dirty="0">
                <a:effectLst/>
                <a:latin typeface="微软雅黑" panose="020B0503020204020204" pitchFamily="34" charset="-122"/>
                <a:ea typeface="微软雅黑" panose="020B0503020204020204" pitchFamily="34" charset="-122"/>
              </a:rPr>
              <a:t>倍</a:t>
            </a:r>
            <a:endParaRPr lang="zh-CN" altLang="en-US" b="0" i="0" dirty="0">
              <a:effectLst/>
              <a:latin typeface="微软雅黑" panose="020B0503020204020204" pitchFamily="34" charset="-122"/>
              <a:ea typeface="微软雅黑" panose="020B0503020204020204" pitchFamily="34" charset="-122"/>
            </a:endParaRPr>
          </a:p>
          <a:p>
            <a:pPr algn="l">
              <a:lnSpc>
                <a:spcPct val="150000"/>
              </a:lnSpc>
              <a:spcBef>
                <a:spcPts val="300"/>
              </a:spcBef>
              <a:spcAft>
                <a:spcPts val="300"/>
              </a:spcAft>
            </a:pPr>
            <a:r>
              <a:rPr lang="zh-CN" altLang="en-US" b="1" i="0" dirty="0">
                <a:effectLst/>
                <a:latin typeface="微软雅黑" panose="020B0503020204020204" pitchFamily="34" charset="-122"/>
                <a:ea typeface="微软雅黑" panose="020B0503020204020204" pitchFamily="34" charset="-122"/>
              </a:rPr>
              <a:t>通信优化</a:t>
            </a:r>
            <a:endParaRPr lang="zh-CN" altLang="en-US" b="0" i="0" dirty="0">
              <a:effectLst/>
              <a:latin typeface="微软雅黑" panose="020B0503020204020204" pitchFamily="34" charset="-122"/>
              <a:ea typeface="微软雅黑" panose="020B0503020204020204" pitchFamily="34" charset="-122"/>
            </a:endParaRPr>
          </a:p>
          <a:p>
            <a:pPr lvl="1" algn="l">
              <a:lnSpc>
                <a:spcPct val="150000"/>
              </a:lnSpc>
              <a:spcBef>
                <a:spcPts val="300"/>
              </a:spcBef>
            </a:pPr>
            <a:r>
              <a:rPr lang="zh-CN" altLang="en-US" b="0" i="0" dirty="0">
                <a:effectLst/>
                <a:latin typeface="微软雅黑" panose="020B0503020204020204" pitchFamily="34" charset="-122"/>
                <a:ea typeface="微软雅黑" panose="020B0503020204020204" pitchFamily="34" charset="-122"/>
              </a:rPr>
              <a:t>前向</a:t>
            </a:r>
            <a:r>
              <a:rPr lang="en-US" altLang="zh-CN" b="0" i="0" dirty="0">
                <a:effectLst/>
                <a:latin typeface="微软雅黑" panose="020B0503020204020204" pitchFamily="34" charset="-122"/>
                <a:ea typeface="微软雅黑" panose="020B0503020204020204" pitchFamily="34" charset="-122"/>
              </a:rPr>
              <a:t>/</a:t>
            </a:r>
            <a:r>
              <a:rPr lang="zh-CN" altLang="en-US" b="0" i="0" dirty="0">
                <a:effectLst/>
                <a:latin typeface="微软雅黑" panose="020B0503020204020204" pitchFamily="34" charset="-122"/>
                <a:ea typeface="微软雅黑" panose="020B0503020204020204" pitchFamily="34" charset="-122"/>
              </a:rPr>
              <a:t>反向传播中实现计算</a:t>
            </a:r>
            <a:r>
              <a:rPr lang="en-US" altLang="zh-CN" b="0" i="0" dirty="0">
                <a:effectLst/>
                <a:latin typeface="微软雅黑" panose="020B0503020204020204" pitchFamily="34" charset="-122"/>
                <a:ea typeface="微软雅黑" panose="020B0503020204020204" pitchFamily="34" charset="-122"/>
              </a:rPr>
              <a:t>-</a:t>
            </a:r>
            <a:r>
              <a:rPr lang="zh-CN" altLang="en-US" b="0" i="0" dirty="0">
                <a:effectLst/>
                <a:latin typeface="微软雅黑" panose="020B0503020204020204" pitchFamily="34" charset="-122"/>
                <a:ea typeface="微软雅黑" panose="020B0503020204020204" pitchFamily="34" charset="-122"/>
              </a:rPr>
              <a:t>通信全重叠</a:t>
            </a:r>
            <a:endParaRPr lang="zh-CN" altLang="en-US" b="0" i="0" dirty="0">
              <a:effectLst/>
              <a:latin typeface="微软雅黑" panose="020B0503020204020204" pitchFamily="34" charset="-122"/>
              <a:ea typeface="微软雅黑" panose="020B0503020204020204" pitchFamily="34" charset="-122"/>
            </a:endParaRPr>
          </a:p>
          <a:p>
            <a:pPr lvl="1" algn="l">
              <a:lnSpc>
                <a:spcPct val="150000"/>
              </a:lnSpc>
              <a:spcBef>
                <a:spcPts val="300"/>
              </a:spcBef>
            </a:pPr>
            <a:r>
              <a:rPr lang="zh-CN" altLang="en-US" b="1" i="0" dirty="0">
                <a:effectLst/>
                <a:latin typeface="微软雅黑" panose="020B0503020204020204" pitchFamily="34" charset="-122"/>
                <a:ea typeface="微软雅黑" panose="020B0503020204020204" pitchFamily="34" charset="-122"/>
              </a:rPr>
              <a:t>关键突破</a:t>
            </a:r>
            <a:r>
              <a:rPr lang="zh-CN" altLang="en-US" b="0" i="0" dirty="0">
                <a:effectLst/>
                <a:latin typeface="微软雅黑" panose="020B0503020204020204" pitchFamily="34" charset="-122"/>
                <a:ea typeface="微软雅黑" panose="020B0503020204020204" pitchFamily="34" charset="-122"/>
              </a:rPr>
              <a:t>：解决跨节点专家并行的通信瓶颈</a:t>
            </a:r>
            <a:endParaRPr lang="zh-CN" altLang="en-US" b="0" i="0" dirty="0">
              <a:effectLst/>
              <a:latin typeface="微软雅黑" panose="020B0503020204020204" pitchFamily="34" charset="-122"/>
              <a:ea typeface="微软雅黑" panose="020B0503020204020204" pitchFamily="34" charset="-122"/>
            </a:endParaRPr>
          </a:p>
          <a:p>
            <a:pPr algn="l">
              <a:lnSpc>
                <a:spcPct val="150000"/>
              </a:lnSpc>
              <a:spcBef>
                <a:spcPts val="300"/>
              </a:spcBef>
              <a:spcAft>
                <a:spcPts val="300"/>
              </a:spcAft>
            </a:pPr>
            <a:r>
              <a:rPr lang="zh-CN" altLang="en-US" b="1" i="0" dirty="0">
                <a:effectLst/>
                <a:latin typeface="微软雅黑" panose="020B0503020204020204" pitchFamily="34" charset="-122"/>
                <a:ea typeface="微软雅黑" panose="020B0503020204020204" pitchFamily="34" charset="-122"/>
              </a:rPr>
              <a:t>弹性扩展</a:t>
            </a:r>
            <a:endParaRPr lang="zh-CN" altLang="en-US" b="0" i="0" dirty="0">
              <a:effectLst/>
              <a:latin typeface="微软雅黑" panose="020B0503020204020204" pitchFamily="34" charset="-122"/>
              <a:ea typeface="微软雅黑" panose="020B0503020204020204" pitchFamily="34" charset="-122"/>
            </a:endParaRPr>
          </a:p>
          <a:p>
            <a:pPr lvl="1" algn="l">
              <a:lnSpc>
                <a:spcPct val="150000"/>
              </a:lnSpc>
              <a:spcBef>
                <a:spcPts val="300"/>
              </a:spcBef>
            </a:pPr>
            <a:r>
              <a:rPr lang="zh-CN" altLang="en-US" b="0" i="0" dirty="0">
                <a:effectLst/>
                <a:latin typeface="微软雅黑" panose="020B0503020204020204" pitchFamily="34" charset="-122"/>
                <a:ea typeface="微软雅黑" panose="020B0503020204020204" pitchFamily="34" charset="-122"/>
              </a:rPr>
              <a:t>恒定计算</a:t>
            </a:r>
            <a:r>
              <a:rPr lang="en-US" altLang="zh-CN" b="0" i="0" dirty="0">
                <a:effectLst/>
                <a:latin typeface="微软雅黑" panose="020B0503020204020204" pitchFamily="34" charset="-122"/>
                <a:ea typeface="微软雅黑" panose="020B0503020204020204" pitchFamily="34" charset="-122"/>
              </a:rPr>
              <a:t>/</a:t>
            </a:r>
            <a:r>
              <a:rPr lang="zh-CN" altLang="en-US" b="0" i="0" dirty="0">
                <a:effectLst/>
                <a:latin typeface="微软雅黑" panose="020B0503020204020204" pitchFamily="34" charset="-122"/>
                <a:ea typeface="微软雅黑" panose="020B0503020204020204" pitchFamily="34" charset="-122"/>
              </a:rPr>
              <a:t>通信比例设计</a:t>
            </a:r>
            <a:endParaRPr lang="zh-CN" altLang="en-US" b="0" i="0" dirty="0">
              <a:effectLst/>
              <a:latin typeface="微软雅黑" panose="020B0503020204020204" pitchFamily="34" charset="-122"/>
              <a:ea typeface="微软雅黑" panose="020B0503020204020204" pitchFamily="34" charset="-122"/>
            </a:endParaRPr>
          </a:p>
          <a:p>
            <a:pPr lvl="1" algn="l">
              <a:lnSpc>
                <a:spcPct val="150000"/>
              </a:lnSpc>
              <a:spcBef>
                <a:spcPts val="300"/>
              </a:spcBef>
            </a:pPr>
            <a:r>
              <a:rPr lang="zh-CN" altLang="en-US" b="0" i="0" dirty="0">
                <a:effectLst/>
                <a:latin typeface="微软雅黑" panose="020B0503020204020204" pitchFamily="34" charset="-122"/>
                <a:ea typeface="微软雅黑" panose="020B0503020204020204" pitchFamily="34" charset="-122"/>
              </a:rPr>
              <a:t>支持千卡级集群无缝扩展</a:t>
            </a:r>
            <a:endParaRPr lang="zh-CN" altLang="en-US" b="0" i="0" dirty="0">
              <a:effectLst/>
              <a:latin typeface="微软雅黑" panose="020B0503020204020204" pitchFamily="34" charset="-122"/>
              <a:ea typeface="微软雅黑" panose="020B0503020204020204" pitchFamily="34" charset="-122"/>
            </a:endParaRPr>
          </a:p>
          <a:p>
            <a:pPr lvl="1" algn="l">
              <a:lnSpc>
                <a:spcPct val="150000"/>
              </a:lnSpc>
              <a:spcBef>
                <a:spcPts val="300"/>
              </a:spcBef>
            </a:pPr>
            <a:r>
              <a:rPr lang="zh-CN" altLang="en-US" b="1" i="0" dirty="0">
                <a:effectLst/>
                <a:latin typeface="微软雅黑" panose="020B0503020204020204" pitchFamily="34" charset="-122"/>
                <a:ea typeface="微软雅黑" panose="020B0503020204020204" pitchFamily="34" charset="-122"/>
              </a:rPr>
              <a:t>验证案例</a:t>
            </a:r>
            <a:r>
              <a:rPr lang="zh-CN" altLang="en-US" b="0" i="0" dirty="0">
                <a:effectLst/>
                <a:latin typeface="微软雅黑" panose="020B0503020204020204" pitchFamily="34" charset="-122"/>
                <a:ea typeface="微软雅黑" panose="020B0503020204020204" pitchFamily="34" charset="-122"/>
              </a:rPr>
              <a:t>：在</a:t>
            </a:r>
            <a:r>
              <a:rPr lang="en-US" altLang="zh-CN" b="0" i="0" dirty="0">
                <a:effectLst/>
                <a:latin typeface="微软雅黑" panose="020B0503020204020204" pitchFamily="34" charset="-122"/>
                <a:ea typeface="微软雅黑" panose="020B0503020204020204" pitchFamily="34" charset="-122"/>
              </a:rPr>
              <a:t>32</a:t>
            </a:r>
            <a:r>
              <a:rPr lang="zh-CN" altLang="en-US" b="0" i="0" dirty="0">
                <a:effectLst/>
                <a:latin typeface="微软雅黑" panose="020B0503020204020204" pitchFamily="34" charset="-122"/>
                <a:ea typeface="微软雅黑" panose="020B0503020204020204" pitchFamily="34" charset="-122"/>
              </a:rPr>
              <a:t>节点规模下保持</a:t>
            </a:r>
            <a:r>
              <a:rPr lang="en-US" altLang="zh-CN" b="0" i="0" dirty="0">
                <a:effectLst/>
                <a:latin typeface="微软雅黑" panose="020B0503020204020204" pitchFamily="34" charset="-122"/>
                <a:ea typeface="微软雅黑" panose="020B0503020204020204" pitchFamily="34" charset="-122"/>
              </a:rPr>
              <a:t>93%</a:t>
            </a:r>
            <a:r>
              <a:rPr lang="zh-CN" altLang="en-US" b="0" i="0" dirty="0">
                <a:effectLst/>
                <a:latin typeface="微软雅黑" panose="020B0503020204020204" pitchFamily="34" charset="-122"/>
                <a:ea typeface="微软雅黑" panose="020B0503020204020204" pitchFamily="34" charset="-122"/>
              </a:rPr>
              <a:t>强扩展效率</a:t>
            </a:r>
            <a:endParaRPr lang="zh-CN" altLang="en-US" b="0" i="0" dirty="0">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文本框 28"/>
          <p:cNvSpPr txBox="1"/>
          <p:nvPr/>
        </p:nvSpPr>
        <p:spPr>
          <a:xfrm>
            <a:off x="619492" y="51758"/>
            <a:ext cx="9958738"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3200" b="1" dirty="0">
                <a:solidFill>
                  <a:prstClr val="white"/>
                </a:solidFill>
                <a:latin typeface="微软雅黑" panose="020B0503020204020204" pitchFamily="34" charset="-122"/>
                <a:ea typeface="微软雅黑" panose="020B0503020204020204" pitchFamily="34" charset="-122"/>
              </a:rPr>
              <a:t>DualPipe </a:t>
            </a:r>
            <a:r>
              <a:rPr kumimoji="1" lang="zh-CN" altLang="en-US" sz="3200" b="1" dirty="0">
                <a:solidFill>
                  <a:prstClr val="white"/>
                </a:solidFill>
                <a:latin typeface="微软雅黑" panose="020B0503020204020204" pitchFamily="34" charset="-122"/>
                <a:ea typeface="微软雅黑" panose="020B0503020204020204" pitchFamily="34" charset="-122"/>
              </a:rPr>
              <a:t>创新流水线并行策略</a:t>
            </a:r>
            <a:endParaRPr kumimoji="1" lang="zh-CN" altLang="en-US" sz="3200" b="1" dirty="0">
              <a:solidFill>
                <a:prstClr val="white"/>
              </a:solidFill>
              <a:latin typeface="微软雅黑" panose="020B0503020204020204" pitchFamily="34" charset="-122"/>
              <a:ea typeface="微软雅黑" panose="020B0503020204020204" pitchFamily="34" charset="-122"/>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18542" y="4781284"/>
            <a:ext cx="11354915" cy="1189137"/>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p:cNvSpPr txBox="1"/>
          <p:nvPr/>
        </p:nvSpPr>
        <p:spPr>
          <a:xfrm>
            <a:off x="623205" y="1266462"/>
            <a:ext cx="10945590" cy="2884892"/>
          </a:xfrm>
          <a:prstGeom prst="rect">
            <a:avLst/>
          </a:prstGeom>
          <a:noFill/>
        </p:spPr>
        <p:txBody>
          <a:bodyPr wrap="square">
            <a:spAutoFit/>
          </a:bodyPr>
          <a:lstStyle/>
          <a:p>
            <a:pPr indent="457200" algn="just">
              <a:lnSpc>
                <a:spcPct val="150000"/>
              </a:lnSpc>
              <a:spcAft>
                <a:spcPts val="600"/>
              </a:spcAf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V3/R1</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的训练框架中引入</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DualPipe</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算法以实现高效的流水线并行性。</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DualPipe</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算法将每个数据块分为四个部分：</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attention</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ATTN</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all-to-all dispatch</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DISPATCH</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MLP </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和 </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all-to-all combine</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COMBINE</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R="0" lvl="0" indent="457200" algn="just" defTabSz="914400" rtl="0" eaLnBrk="1" fontAlgn="auto" latinLnBrk="0" hangingPunct="1">
              <a:lnSpc>
                <a:spcPct val="150000"/>
              </a:lnSpc>
              <a:spcAft>
                <a:spcPts val="600"/>
              </a:spcAft>
              <a:buClrTx/>
              <a:buSzTx/>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对于后向块，</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attention</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和 </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MLP </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都进一步分为后向输入、后向权重。对于一对前向和后向块，针对通信和计算的过程和瓶颈进行优化。</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DualPipe</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采用双向流水线调度，同时从流水线发送前向和后向数据，尽可能提高使用率。</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文本框 28"/>
          <p:cNvSpPr txBox="1"/>
          <p:nvPr/>
        </p:nvSpPr>
        <p:spPr>
          <a:xfrm>
            <a:off x="619492" y="51758"/>
            <a:ext cx="9958738"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3200" b="1" dirty="0">
                <a:solidFill>
                  <a:prstClr val="white"/>
                </a:solidFill>
                <a:latin typeface="微软雅黑" panose="020B0503020204020204" pitchFamily="34" charset="-122"/>
                <a:ea typeface="微软雅黑" panose="020B0503020204020204" pitchFamily="34" charset="-122"/>
              </a:rPr>
              <a:t>双向流水线机制</a:t>
            </a:r>
            <a:endParaRPr kumimoji="1" lang="zh-CN" altLang="en-US" sz="3200" b="1" dirty="0">
              <a:solidFill>
                <a:prstClr val="white"/>
              </a:solidFill>
              <a:latin typeface="微软雅黑" panose="020B0503020204020204" pitchFamily="34" charset="-122"/>
              <a:ea typeface="微软雅黑" panose="020B0503020204020204" pitchFamily="34" charset="-122"/>
            </a:endParaRPr>
          </a:p>
        </p:txBody>
      </p:sp>
      <p:sp>
        <p:nvSpPr>
          <p:cNvPr id="4" name="AutoShape 4"/>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4" name="文本框 13"/>
          <p:cNvSpPr txBox="1"/>
          <p:nvPr/>
        </p:nvSpPr>
        <p:spPr>
          <a:xfrm>
            <a:off x="618009" y="965341"/>
            <a:ext cx="10955981" cy="2500172"/>
          </a:xfrm>
          <a:prstGeom prst="rect">
            <a:avLst/>
          </a:prstGeom>
          <a:noFill/>
        </p:spPr>
        <p:txBody>
          <a:bodyPr wrap="square">
            <a:spAutoFit/>
          </a:bodyPr>
          <a:lstStyle>
            <a:defPPr>
              <a:defRPr lang="zh-CN"/>
            </a:defPPr>
            <a:lvl1pPr indent="457200" algn="just">
              <a:lnSpc>
                <a:spcPct val="150000"/>
              </a:lnSpc>
              <a:spcAft>
                <a:spcPts val="600"/>
              </a:spcAft>
              <a:defRPr kumimoji="0" b="0"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stStyle>
          <a:p>
            <a:pPr indent="0" algn="l"/>
            <a:r>
              <a:rPr lang="en-US" altLang="zh-CN" sz="2000" dirty="0"/>
              <a:t>All-to-All</a:t>
            </a:r>
            <a:r>
              <a:rPr lang="zh-CN" altLang="en-US" sz="2000" dirty="0"/>
              <a:t>包含两个阶段：</a:t>
            </a:r>
            <a:r>
              <a:rPr lang="en-US" altLang="zh-CN" sz="2000" dirty="0"/>
              <a:t>Token</a:t>
            </a:r>
            <a:r>
              <a:rPr lang="zh-CN" altLang="en-US" sz="2000" dirty="0"/>
              <a:t>分发阶段和结果聚合阶段（</a:t>
            </a:r>
            <a:r>
              <a:rPr lang="en-US" altLang="zh-CN" sz="2000" dirty="0"/>
              <a:t>Combine</a:t>
            </a:r>
            <a:r>
              <a:rPr lang="zh-CN" altLang="en-US" sz="2000" dirty="0"/>
              <a:t>）。关键特性包括：</a:t>
            </a:r>
            <a:endParaRPr lang="en-US" altLang="zh-CN" sz="2000" dirty="0"/>
          </a:p>
          <a:p>
            <a:pPr algn="l">
              <a:spcAft>
                <a:spcPts val="0"/>
              </a:spcAft>
            </a:pPr>
            <a:r>
              <a:rPr lang="en-US" altLang="zh-CN" sz="2000" dirty="0"/>
              <a:t>• </a:t>
            </a:r>
            <a:r>
              <a:rPr lang="zh-CN" altLang="en-US" sz="2000" dirty="0"/>
              <a:t>前向传播和反向传播均涉及计算与通信</a:t>
            </a:r>
            <a:endParaRPr lang="en-US" altLang="zh-CN" sz="2000" dirty="0"/>
          </a:p>
          <a:p>
            <a:pPr algn="l">
              <a:spcAft>
                <a:spcPts val="0"/>
              </a:spcAft>
            </a:pPr>
            <a:r>
              <a:rPr lang="en-US" altLang="zh-CN" sz="2000" dirty="0"/>
              <a:t>• </a:t>
            </a:r>
            <a:r>
              <a:rPr lang="zh-CN" altLang="en-US" sz="2000" dirty="0"/>
              <a:t>通过精确控制</a:t>
            </a:r>
            <a:r>
              <a:rPr lang="en-US" altLang="zh-CN" sz="2000" dirty="0"/>
              <a:t>GPU SM</a:t>
            </a:r>
            <a:r>
              <a:rPr lang="zh-CN" altLang="en-US" sz="2000" dirty="0"/>
              <a:t>数量</a:t>
            </a:r>
            <a:endParaRPr lang="en-US" altLang="zh-CN" sz="2000" dirty="0"/>
          </a:p>
          <a:p>
            <a:pPr algn="l">
              <a:spcAft>
                <a:spcPts val="0"/>
              </a:spcAft>
            </a:pPr>
            <a:r>
              <a:rPr lang="en-US" altLang="zh-CN" sz="2000" dirty="0"/>
              <a:t>• </a:t>
            </a:r>
            <a:r>
              <a:rPr lang="zh-CN" altLang="en-US" sz="2000" dirty="0"/>
              <a:t>实现计算与通信的完全重叠</a:t>
            </a:r>
            <a:endParaRPr lang="zh-CN" altLang="en-US" sz="2000" dirty="0"/>
          </a:p>
          <a:p>
            <a:pPr indent="0" algn="l">
              <a:spcBef>
                <a:spcPts val="600"/>
              </a:spcBef>
            </a:pPr>
            <a:r>
              <a:rPr lang="zh-CN" altLang="en-US" sz="2000" dirty="0"/>
              <a:t>重叠机制：采用</a:t>
            </a:r>
            <a:r>
              <a:rPr lang="zh-CN" altLang="en-US" sz="2000" b="1" dirty="0"/>
              <a:t>双向流水线</a:t>
            </a:r>
            <a:r>
              <a:rPr lang="zh-CN" altLang="en-US" sz="2000" dirty="0"/>
              <a:t>技术实现计算与通信的并行处理</a:t>
            </a:r>
            <a:endParaRPr lang="en-US" altLang="zh-CN" sz="2000" dirty="0"/>
          </a:p>
        </p:txBody>
      </p:sp>
      <p:pic>
        <p:nvPicPr>
          <p:cNvPr id="2" name="图片 1"/>
          <p:cNvPicPr>
            <a:picLocks noChangeAspect="1"/>
          </p:cNvPicPr>
          <p:nvPr/>
        </p:nvPicPr>
        <p:blipFill>
          <a:blip r:embed="rId1">
            <a:extLst>
              <a:ext uri="{BEBA8EAE-BF5A-486C-A8C5-ECC9F3942E4B}">
                <a14:imgProps xmlns:a14="http://schemas.microsoft.com/office/drawing/2010/main">
                  <a14:imgLayer r:embed="rId2">
                    <a14:imgEffect>
                      <a14:sharpenSoften amount="25000"/>
                    </a14:imgEffect>
                  </a14:imgLayer>
                </a14:imgProps>
              </a:ext>
            </a:extLst>
          </a:blip>
          <a:stretch>
            <a:fillRect/>
          </a:stretch>
        </p:blipFill>
        <p:spPr>
          <a:xfrm>
            <a:off x="471166" y="4172331"/>
            <a:ext cx="11249667" cy="1854112"/>
          </a:xfrm>
          <a:prstGeom prst="rect">
            <a:avLst/>
          </a:prstGeom>
        </p:spPr>
      </p:pic>
      <p:grpSp>
        <p:nvGrpSpPr>
          <p:cNvPr id="3" name="组合 2"/>
          <p:cNvGrpSpPr/>
          <p:nvPr/>
        </p:nvGrpSpPr>
        <p:grpSpPr>
          <a:xfrm>
            <a:off x="701793" y="3560523"/>
            <a:ext cx="3564953" cy="467595"/>
            <a:chOff x="736517" y="1714641"/>
            <a:chExt cx="3564953" cy="467595"/>
          </a:xfrm>
        </p:grpSpPr>
        <p:grpSp>
          <p:nvGrpSpPr>
            <p:cNvPr id="6" name="组合 5"/>
            <p:cNvGrpSpPr/>
            <p:nvPr/>
          </p:nvGrpSpPr>
          <p:grpSpPr>
            <a:xfrm>
              <a:off x="736517" y="1827875"/>
              <a:ext cx="960203" cy="354361"/>
              <a:chOff x="5135797" y="3074639"/>
              <a:chExt cx="1920406" cy="708721"/>
            </a:xfrm>
          </p:grpSpPr>
          <p:sp>
            <p:nvSpPr>
              <p:cNvPr id="8" name="AutoShape 4"/>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9" name="图片 8"/>
              <p:cNvPicPr>
                <a:picLocks noChangeAspect="1"/>
              </p:cNvPicPr>
              <p:nvPr/>
            </p:nvPicPr>
            <p:blipFill>
              <a:blip r:embed="rId3"/>
              <a:stretch>
                <a:fillRect/>
              </a:stretch>
            </p:blipFill>
            <p:spPr>
              <a:xfrm>
                <a:off x="5135797" y="3074639"/>
                <a:ext cx="1920406" cy="708721"/>
              </a:xfrm>
              <a:prstGeom prst="rect">
                <a:avLst/>
              </a:prstGeom>
            </p:spPr>
          </p:pic>
          <p:sp>
            <p:nvSpPr>
              <p:cNvPr id="10" name="矩形 9"/>
              <p:cNvSpPr/>
              <p:nvPr/>
            </p:nvSpPr>
            <p:spPr>
              <a:xfrm>
                <a:off x="6167120" y="3276600"/>
                <a:ext cx="508000" cy="431800"/>
              </a:xfrm>
              <a:prstGeom prst="rect">
                <a:avLst/>
              </a:prstGeom>
              <a:solidFill>
                <a:srgbClr val="5EDB3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6"/>
            <p:cNvSpPr txBox="1"/>
            <p:nvPr/>
          </p:nvSpPr>
          <p:spPr>
            <a:xfrm>
              <a:off x="1808480" y="1714641"/>
              <a:ext cx="2492990" cy="458908"/>
            </a:xfrm>
            <a:prstGeom prst="rect">
              <a:avLst/>
            </a:prstGeom>
            <a:noFill/>
          </p:spPr>
          <p:txBody>
            <a:bodyPr wrap="square">
              <a:spAutoFit/>
            </a:bodyPr>
            <a:lstStyle>
              <a:defPPr>
                <a:defRPr lang="zh-CN"/>
              </a:defPPr>
              <a:lvl1pPr indent="0">
                <a:lnSpc>
                  <a:spcPct val="150000"/>
                </a:lnSpc>
                <a:spcAft>
                  <a:spcPts val="600"/>
                </a:spcAft>
                <a:defRPr kumimoji="0" b="0"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stStyle>
            <a:p>
              <a:pPr>
                <a:spcAft>
                  <a:spcPts val="0"/>
                </a:spcAft>
              </a:pPr>
              <a:r>
                <a:rPr lang="zh-CN" altLang="en-US" dirty="0"/>
                <a:t>前向和反向重叠的阶段</a:t>
              </a:r>
              <a:endParaRPr lang="zh-CN" altLang="en-US" dirty="0"/>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文本框 28"/>
          <p:cNvSpPr txBox="1"/>
          <p:nvPr/>
        </p:nvSpPr>
        <p:spPr>
          <a:xfrm>
            <a:off x="619492" y="51758"/>
            <a:ext cx="9958738"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3200" b="1" dirty="0">
                <a:solidFill>
                  <a:prstClr val="white"/>
                </a:solidFill>
                <a:latin typeface="微软雅黑" panose="020B0503020204020204" pitchFamily="34" charset="-122"/>
                <a:ea typeface="微软雅黑" panose="020B0503020204020204" pitchFamily="34" charset="-122"/>
              </a:rPr>
              <a:t>双向流水线机制</a:t>
            </a:r>
            <a:endParaRPr kumimoji="1" lang="zh-CN" altLang="en-US" sz="3200" b="1" dirty="0">
              <a:solidFill>
                <a:prstClr val="white"/>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619492" y="1225499"/>
            <a:ext cx="11026453" cy="1859292"/>
          </a:xfrm>
          <a:prstGeom prst="rect">
            <a:avLst/>
          </a:prstGeom>
          <a:noFill/>
        </p:spPr>
        <p:txBody>
          <a:bodyPr wrap="square">
            <a:spAutoFit/>
          </a:bodyPr>
          <a:lstStyle>
            <a:defPPr>
              <a:defRPr lang="zh-CN"/>
            </a:defPPr>
            <a:lvl1pPr indent="0">
              <a:lnSpc>
                <a:spcPct val="150000"/>
              </a:lnSpc>
              <a:spcAft>
                <a:spcPts val="0"/>
              </a:spcAft>
              <a:defRPr kumimoji="0" b="0"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stStyle>
          <a:p>
            <a:pPr>
              <a:spcAft>
                <a:spcPts val="1200"/>
              </a:spcAft>
            </a:pPr>
            <a:r>
              <a:rPr lang="zh-CN" altLang="en-US" dirty="0"/>
              <a:t>双向流水线导致两份模型参数存储 → 更大的</a:t>
            </a:r>
            <a:r>
              <a:rPr lang="zh-CN" altLang="en-US" dirty="0">
                <a:solidFill>
                  <a:srgbClr val="FF0000"/>
                </a:solidFill>
              </a:rPr>
              <a:t>专家并行</a:t>
            </a:r>
            <a:endParaRPr lang="en-US" altLang="zh-CN" dirty="0">
              <a:solidFill>
                <a:srgbClr val="FF0000"/>
              </a:solidFill>
            </a:endParaRPr>
          </a:p>
          <a:p>
            <a:r>
              <a:rPr lang="zh-CN" altLang="en-US" dirty="0"/>
              <a:t>在实现双向流水线时，需要注意</a:t>
            </a:r>
            <a:r>
              <a:rPr lang="en-US" altLang="zh-CN" dirty="0"/>
              <a:t>GPU</a:t>
            </a:r>
            <a:r>
              <a:rPr lang="zh-CN" altLang="en-US" dirty="0"/>
              <a:t>显存中需要存储两份模型参数，这对大模型训练的内存使用提出了重要挑战。为了解决这一问题，系统采用了</a:t>
            </a:r>
            <a:r>
              <a:rPr lang="en-US" altLang="zh-CN" dirty="0"/>
              <a:t>64</a:t>
            </a:r>
            <a:r>
              <a:rPr lang="zh-CN" altLang="en-US" dirty="0"/>
              <a:t>路专家并行的设计方案，该方案不仅有效缓解了显存压力，还能显著降低流水线中的</a:t>
            </a:r>
            <a:r>
              <a:rPr lang="en-US" altLang="zh-CN" dirty="0"/>
              <a:t>bubble</a:t>
            </a:r>
            <a:r>
              <a:rPr lang="zh-CN" altLang="en-US" dirty="0"/>
              <a:t>，从而实现高效的双流水线执行，最终达到优化大模型训练效率的目标。</a:t>
            </a:r>
            <a:endParaRPr lang="zh-CN" altLang="en-US" dirty="0"/>
          </a:p>
        </p:txBody>
      </p:sp>
      <p:pic>
        <p:nvPicPr>
          <p:cNvPr id="2" name="图片 1"/>
          <p:cNvPicPr>
            <a:picLocks noChangeAspect="1"/>
          </p:cNvPicPr>
          <p:nvPr/>
        </p:nvPicPr>
        <p:blipFill>
          <a:blip r:embed="rId1">
            <a:extLst>
              <a:ext uri="{BEBA8EAE-BF5A-486C-A8C5-ECC9F3942E4B}">
                <a14:imgProps xmlns:a14="http://schemas.microsoft.com/office/drawing/2010/main">
                  <a14:imgLayer r:embed="rId2">
                    <a14:imgEffect>
                      <a14:sharpenSoften amount="25000"/>
                    </a14:imgEffect>
                  </a14:imgLayer>
                </a14:imgProps>
              </a:ext>
            </a:extLst>
          </a:blip>
          <a:stretch>
            <a:fillRect/>
          </a:stretch>
        </p:blipFill>
        <p:spPr>
          <a:xfrm>
            <a:off x="471166" y="4172331"/>
            <a:ext cx="11249667" cy="1854112"/>
          </a:xfrm>
          <a:prstGeom prst="rect">
            <a:avLst/>
          </a:prstGeom>
        </p:spPr>
      </p:pic>
      <p:grpSp>
        <p:nvGrpSpPr>
          <p:cNvPr id="12" name="组合 11"/>
          <p:cNvGrpSpPr/>
          <p:nvPr/>
        </p:nvGrpSpPr>
        <p:grpSpPr>
          <a:xfrm>
            <a:off x="701793" y="3560523"/>
            <a:ext cx="3564953" cy="467595"/>
            <a:chOff x="736517" y="1714641"/>
            <a:chExt cx="3564953" cy="467595"/>
          </a:xfrm>
        </p:grpSpPr>
        <p:grpSp>
          <p:nvGrpSpPr>
            <p:cNvPr id="13" name="组合 12"/>
            <p:cNvGrpSpPr/>
            <p:nvPr/>
          </p:nvGrpSpPr>
          <p:grpSpPr>
            <a:xfrm>
              <a:off x="736517" y="1827875"/>
              <a:ext cx="960203" cy="354361"/>
              <a:chOff x="5135797" y="3074639"/>
              <a:chExt cx="1920406" cy="708721"/>
            </a:xfrm>
          </p:grpSpPr>
          <p:sp>
            <p:nvSpPr>
              <p:cNvPr id="15" name="AutoShape 4"/>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16" name="图片 15"/>
              <p:cNvPicPr>
                <a:picLocks noChangeAspect="1"/>
              </p:cNvPicPr>
              <p:nvPr/>
            </p:nvPicPr>
            <p:blipFill>
              <a:blip r:embed="rId3"/>
              <a:stretch>
                <a:fillRect/>
              </a:stretch>
            </p:blipFill>
            <p:spPr>
              <a:xfrm>
                <a:off x="5135797" y="3074639"/>
                <a:ext cx="1920406" cy="708721"/>
              </a:xfrm>
              <a:prstGeom prst="rect">
                <a:avLst/>
              </a:prstGeom>
            </p:spPr>
          </p:pic>
          <p:sp>
            <p:nvSpPr>
              <p:cNvPr id="17" name="矩形 16"/>
              <p:cNvSpPr/>
              <p:nvPr/>
            </p:nvSpPr>
            <p:spPr>
              <a:xfrm>
                <a:off x="6167120" y="3276600"/>
                <a:ext cx="508000" cy="431800"/>
              </a:xfrm>
              <a:prstGeom prst="rect">
                <a:avLst/>
              </a:prstGeom>
              <a:solidFill>
                <a:srgbClr val="5EDB3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1808480" y="1714641"/>
              <a:ext cx="2492990" cy="458908"/>
            </a:xfrm>
            <a:prstGeom prst="rect">
              <a:avLst/>
            </a:prstGeom>
            <a:noFill/>
          </p:spPr>
          <p:txBody>
            <a:bodyPr wrap="square">
              <a:spAutoFit/>
            </a:bodyPr>
            <a:lstStyle>
              <a:defPPr>
                <a:defRPr lang="zh-CN"/>
              </a:defPPr>
              <a:lvl1pPr indent="0">
                <a:lnSpc>
                  <a:spcPct val="150000"/>
                </a:lnSpc>
                <a:spcAft>
                  <a:spcPts val="600"/>
                </a:spcAft>
                <a:defRPr kumimoji="0" b="0"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stStyle>
            <a:p>
              <a:pPr>
                <a:spcAft>
                  <a:spcPts val="0"/>
                </a:spcAft>
              </a:pPr>
              <a:r>
                <a:rPr lang="zh-CN" altLang="en-US" dirty="0"/>
                <a:t>前向和反向重叠的阶段</a:t>
              </a:r>
              <a:endParaRPr lang="zh-CN" altLang="en-US" dirty="0"/>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文本框 28"/>
          <p:cNvSpPr txBox="1"/>
          <p:nvPr/>
        </p:nvSpPr>
        <p:spPr>
          <a:xfrm>
            <a:off x="619492" y="51758"/>
            <a:ext cx="9958738"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3200" b="1" dirty="0">
                <a:solidFill>
                  <a:prstClr val="white"/>
                </a:solidFill>
                <a:latin typeface="微软雅黑" panose="020B0503020204020204" pitchFamily="34" charset="-122"/>
                <a:ea typeface="微软雅黑" panose="020B0503020204020204" pitchFamily="34" charset="-122"/>
              </a:rPr>
              <a:t>节点间通信</a:t>
            </a:r>
            <a:endParaRPr kumimoji="1" lang="zh-CN" altLang="en-US" sz="3200" b="1" dirty="0">
              <a:solidFill>
                <a:prstClr val="white"/>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619492" y="831554"/>
            <a:ext cx="11026453" cy="5414111"/>
          </a:xfrm>
          <a:prstGeom prst="rect">
            <a:avLst/>
          </a:prstGeom>
          <a:noFill/>
        </p:spPr>
        <p:txBody>
          <a:bodyPr wrap="square">
            <a:spAutoFit/>
          </a:bodyPr>
          <a:lstStyle>
            <a:defPPr>
              <a:defRPr lang="zh-CN"/>
            </a:defPPr>
            <a:lvl1pPr indent="0">
              <a:lnSpc>
                <a:spcPct val="150000"/>
              </a:lnSpc>
              <a:spcAft>
                <a:spcPts val="0"/>
              </a:spcAft>
              <a:defRPr kumimoji="0" b="0"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stStyle>
          <a:p>
            <a:pPr indent="457200" algn="just">
              <a:spcAft>
                <a:spcPts val="600"/>
              </a:spcAft>
            </a:pPr>
            <a:r>
              <a:rPr lang="zh-CN" altLang="en-US" sz="2400" b="1" dirty="0"/>
              <a:t>框架设计目标</a:t>
            </a:r>
            <a:endParaRPr lang="en-US" altLang="zh-CN" sz="2400" b="1" dirty="0"/>
          </a:p>
          <a:p>
            <a:pPr indent="457200" algn="just"/>
            <a:r>
              <a:rPr lang="en-US" altLang="zh-CN" dirty="0"/>
              <a:t>V3/R1</a:t>
            </a:r>
            <a:r>
              <a:rPr lang="zh-CN" altLang="en-US" dirty="0"/>
              <a:t>训练框架通过定制高效的跨节点</a:t>
            </a:r>
            <a:r>
              <a:rPr lang="en-US" altLang="zh-CN" dirty="0"/>
              <a:t>All-to-All</a:t>
            </a:r>
            <a:r>
              <a:rPr lang="zh-CN" altLang="en-US" dirty="0"/>
              <a:t>通信内核，充分利用</a:t>
            </a:r>
            <a:r>
              <a:rPr lang="en-US" altLang="zh-CN" dirty="0"/>
              <a:t>IB</a:t>
            </a:r>
            <a:r>
              <a:rPr lang="zh-CN" altLang="en-US" dirty="0"/>
              <a:t>和</a:t>
            </a:r>
            <a:r>
              <a:rPr lang="en-US" altLang="zh-CN" dirty="0" err="1"/>
              <a:t>NVLink</a:t>
            </a:r>
            <a:r>
              <a:rPr lang="zh-CN" altLang="en-US" dirty="0"/>
              <a:t>带宽，并优化流式多处理器（</a:t>
            </a:r>
            <a:r>
              <a:rPr lang="en-US" altLang="zh-CN" dirty="0"/>
              <a:t>SM</a:t>
            </a:r>
            <a:r>
              <a:rPr lang="zh-CN" altLang="en-US" dirty="0"/>
              <a:t>）的使用。同时，</a:t>
            </a:r>
            <a:r>
              <a:rPr lang="en-US" altLang="zh-CN" dirty="0"/>
              <a:t>DeepSeek</a:t>
            </a:r>
            <a:r>
              <a:rPr lang="zh-CN" altLang="en-US" dirty="0"/>
              <a:t>优化了显存分配，以减少对张量并行（</a:t>
            </a:r>
            <a:r>
              <a:rPr lang="en-US" altLang="zh-CN" dirty="0"/>
              <a:t>TP</a:t>
            </a:r>
            <a:r>
              <a:rPr lang="zh-CN" altLang="en-US" dirty="0"/>
              <a:t>）的依赖，</a:t>
            </a:r>
            <a:r>
              <a:rPr lang="zh-CN" altLang="en-US" dirty="0">
                <a:latin typeface="微软雅黑" panose="020B0503020204020204" pitchFamily="34" charset="-122"/>
                <a:ea typeface="微软雅黑" panose="020B0503020204020204" pitchFamily="34" charset="-122"/>
              </a:rPr>
              <a:t>从而在不使用或少使用</a:t>
            </a:r>
            <a:r>
              <a:rPr lang="en-US" altLang="zh-CN" dirty="0">
                <a:latin typeface="微软雅黑" panose="020B0503020204020204" pitchFamily="34" charset="-122"/>
                <a:ea typeface="微软雅黑" panose="020B0503020204020204" pitchFamily="34" charset="-122"/>
              </a:rPr>
              <a:t>TP</a:t>
            </a:r>
            <a:r>
              <a:rPr lang="zh-CN" altLang="en-US" dirty="0">
                <a:latin typeface="微软雅黑" panose="020B0503020204020204" pitchFamily="34" charset="-122"/>
                <a:ea typeface="微软雅黑" panose="020B0503020204020204" pitchFamily="34" charset="-122"/>
              </a:rPr>
              <a:t>的情况下高效训练</a:t>
            </a:r>
            <a:r>
              <a:rPr lang="en-US" altLang="zh-CN" dirty="0">
                <a:latin typeface="微软雅黑" panose="020B0503020204020204" pitchFamily="34" charset="-122"/>
                <a:ea typeface="微软雅黑" panose="020B0503020204020204" pitchFamily="34" charset="-122"/>
              </a:rPr>
              <a:t>V3/R1</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indent="457200" algn="just">
              <a:spcBef>
                <a:spcPts val="600"/>
              </a:spcBef>
              <a:spcAft>
                <a:spcPts val="600"/>
              </a:spcAft>
            </a:pPr>
            <a:r>
              <a:rPr lang="zh-CN" altLang="en-US" sz="2400" b="1" i="0" dirty="0">
                <a:solidFill>
                  <a:schemeClr val="tx1"/>
                </a:solidFill>
                <a:effectLst/>
                <a:latin typeface="微软雅黑" panose="020B0503020204020204" pitchFamily="34" charset="-122"/>
                <a:ea typeface="微软雅黑" panose="020B0503020204020204" pitchFamily="34" charset="-122"/>
              </a:rPr>
              <a:t>通信内核定制</a:t>
            </a:r>
            <a:endParaRPr lang="en-US" altLang="zh-CN" sz="2400" b="1" i="0" dirty="0">
              <a:solidFill>
                <a:schemeClr val="tx1"/>
              </a:solidFill>
              <a:effectLst/>
              <a:latin typeface="微软雅黑" panose="020B0503020204020204" pitchFamily="34" charset="-122"/>
              <a:ea typeface="微软雅黑" panose="020B0503020204020204" pitchFamily="34" charset="-122"/>
            </a:endParaRPr>
          </a:p>
          <a:p>
            <a:pPr indent="457200" algn="just"/>
            <a:r>
              <a:rPr lang="zh-CN" altLang="en-US" b="0" i="0" dirty="0">
                <a:solidFill>
                  <a:schemeClr val="tx1"/>
                </a:solidFill>
                <a:effectLst/>
                <a:latin typeface="微软雅黑" panose="020B0503020204020204" pitchFamily="34" charset="-122"/>
                <a:ea typeface="微软雅黑" panose="020B0503020204020204" pitchFamily="34" charset="-122"/>
              </a:rPr>
              <a:t>为了确保</a:t>
            </a:r>
            <a:r>
              <a:rPr lang="en-US" altLang="zh-CN" b="0" i="0" dirty="0">
                <a:solidFill>
                  <a:schemeClr val="tx1"/>
                </a:solidFill>
                <a:effectLst/>
                <a:latin typeface="微软雅黑" panose="020B0503020204020204" pitchFamily="34" charset="-122"/>
                <a:ea typeface="微软雅黑" panose="020B0503020204020204" pitchFamily="34" charset="-122"/>
              </a:rPr>
              <a:t>DualPipe</a:t>
            </a:r>
            <a:r>
              <a:rPr lang="zh-CN" altLang="en-US" b="0" i="0" dirty="0">
                <a:solidFill>
                  <a:schemeClr val="tx1"/>
                </a:solidFill>
                <a:effectLst/>
                <a:latin typeface="微软雅黑" panose="020B0503020204020204" pitchFamily="34" charset="-122"/>
                <a:ea typeface="微软雅黑" panose="020B0503020204020204" pitchFamily="34" charset="-122"/>
              </a:rPr>
              <a:t>的计算性能不受通信影响，</a:t>
            </a:r>
            <a:r>
              <a:rPr lang="en-US" altLang="zh-CN" b="0" i="0" dirty="0">
                <a:solidFill>
                  <a:schemeClr val="tx1"/>
                </a:solidFill>
                <a:effectLst/>
                <a:latin typeface="微软雅黑" panose="020B0503020204020204" pitchFamily="34" charset="-122"/>
                <a:ea typeface="微软雅黑" panose="020B0503020204020204" pitchFamily="34" charset="-122"/>
              </a:rPr>
              <a:t>DeepSeek</a:t>
            </a:r>
            <a:r>
              <a:rPr lang="zh-CN" altLang="en-US" b="0" i="0" dirty="0">
                <a:solidFill>
                  <a:schemeClr val="tx1"/>
                </a:solidFill>
                <a:effectLst/>
                <a:latin typeface="微软雅黑" panose="020B0503020204020204" pitchFamily="34" charset="-122"/>
                <a:ea typeface="微软雅黑" panose="020B0503020204020204" pitchFamily="34" charset="-122"/>
              </a:rPr>
              <a:t>定制了高效的跨节点</a:t>
            </a:r>
            <a:r>
              <a:rPr lang="en-US" altLang="zh-CN" b="0" i="0" dirty="0">
                <a:solidFill>
                  <a:schemeClr val="tx1"/>
                </a:solidFill>
                <a:effectLst/>
                <a:latin typeface="微软雅黑" panose="020B0503020204020204" pitchFamily="34" charset="-122"/>
                <a:ea typeface="微软雅黑" panose="020B0503020204020204" pitchFamily="34" charset="-122"/>
              </a:rPr>
              <a:t>All-to-All</a:t>
            </a:r>
            <a:r>
              <a:rPr lang="zh-CN" altLang="en-US" b="0" i="0" dirty="0">
                <a:solidFill>
                  <a:schemeClr val="tx1"/>
                </a:solidFill>
                <a:effectLst/>
                <a:latin typeface="微软雅黑" panose="020B0503020204020204" pitchFamily="34" charset="-122"/>
                <a:ea typeface="微软雅黑" panose="020B0503020204020204" pitchFamily="34" charset="-122"/>
              </a:rPr>
              <a:t>通信内核，包括</a:t>
            </a:r>
            <a:r>
              <a:rPr lang="en-US" altLang="zh-CN" b="0" i="0" dirty="0">
                <a:solidFill>
                  <a:schemeClr val="tx1"/>
                </a:solidFill>
                <a:effectLst/>
                <a:latin typeface="微软雅黑" panose="020B0503020204020204" pitchFamily="34" charset="-122"/>
                <a:ea typeface="微软雅黑" panose="020B0503020204020204" pitchFamily="34" charset="-122"/>
              </a:rPr>
              <a:t>dispatching</a:t>
            </a:r>
            <a:r>
              <a:rPr lang="zh-CN" altLang="en-US" b="0" i="0" dirty="0">
                <a:solidFill>
                  <a:schemeClr val="tx1"/>
                </a:solidFill>
                <a:effectLst/>
                <a:latin typeface="微软雅黑" panose="020B0503020204020204" pitchFamily="34" charset="-122"/>
                <a:ea typeface="微软雅黑" panose="020B0503020204020204" pitchFamily="34" charset="-122"/>
              </a:rPr>
              <a:t>（分发）和</a:t>
            </a:r>
            <a:r>
              <a:rPr lang="en-US" altLang="zh-CN" b="0" i="0" dirty="0">
                <a:solidFill>
                  <a:schemeClr val="tx1"/>
                </a:solidFill>
                <a:effectLst/>
                <a:latin typeface="微软雅黑" panose="020B0503020204020204" pitchFamily="34" charset="-122"/>
                <a:ea typeface="微软雅黑" panose="020B0503020204020204" pitchFamily="34" charset="-122"/>
              </a:rPr>
              <a:t>combining</a:t>
            </a:r>
            <a:r>
              <a:rPr lang="zh-CN" altLang="en-US" b="0" i="0" dirty="0">
                <a:solidFill>
                  <a:schemeClr val="tx1"/>
                </a:solidFill>
                <a:effectLst/>
                <a:latin typeface="微软雅黑" panose="020B0503020204020204" pitchFamily="34" charset="-122"/>
                <a:ea typeface="微软雅黑" panose="020B0503020204020204" pitchFamily="34" charset="-122"/>
              </a:rPr>
              <a:t>（聚合）两部分，以减少专用于通信的</a:t>
            </a:r>
            <a:r>
              <a:rPr lang="en-US" altLang="zh-CN" b="0" i="0" dirty="0">
                <a:solidFill>
                  <a:schemeClr val="tx1"/>
                </a:solidFill>
                <a:effectLst/>
                <a:latin typeface="微软雅黑" panose="020B0503020204020204" pitchFamily="34" charset="-122"/>
                <a:ea typeface="微软雅黑" panose="020B0503020204020204" pitchFamily="34" charset="-122"/>
              </a:rPr>
              <a:t>SM</a:t>
            </a:r>
            <a:r>
              <a:rPr lang="zh-CN" altLang="en-US" b="0" i="0" dirty="0">
                <a:solidFill>
                  <a:schemeClr val="tx1"/>
                </a:solidFill>
                <a:effectLst/>
                <a:latin typeface="微软雅黑" panose="020B0503020204020204" pitchFamily="34" charset="-122"/>
                <a:ea typeface="微软雅黑" panose="020B0503020204020204" pitchFamily="34" charset="-122"/>
              </a:rPr>
              <a:t>数量。</a:t>
            </a:r>
            <a:endParaRPr lang="en-US" altLang="zh-CN" b="0" i="0" dirty="0">
              <a:solidFill>
                <a:schemeClr val="tx1"/>
              </a:solidFill>
              <a:effectLst/>
              <a:latin typeface="微软雅黑" panose="020B0503020204020204" pitchFamily="34" charset="-122"/>
              <a:ea typeface="微软雅黑" panose="020B0503020204020204" pitchFamily="34" charset="-122"/>
            </a:endParaRPr>
          </a:p>
          <a:p>
            <a:pPr indent="457200" algn="l">
              <a:spcBef>
                <a:spcPts val="600"/>
              </a:spcBef>
              <a:spcAft>
                <a:spcPts val="600"/>
              </a:spcAft>
            </a:pPr>
            <a:r>
              <a:rPr lang="zh-CN" altLang="en-US" sz="2400" b="1" i="0" dirty="0">
                <a:solidFill>
                  <a:schemeClr val="tx1"/>
                </a:solidFill>
                <a:effectLst/>
                <a:latin typeface="微软雅黑" panose="020B0503020204020204" pitchFamily="34" charset="-122"/>
                <a:ea typeface="微软雅黑" panose="020B0503020204020204" pitchFamily="34" charset="-122"/>
              </a:rPr>
              <a:t>软硬件协同设计</a:t>
            </a:r>
            <a:br>
              <a:rPr lang="zh-CN" altLang="en-US" b="0" i="0" dirty="0">
                <a:solidFill>
                  <a:schemeClr val="tx1"/>
                </a:solidFill>
                <a:effectLst/>
                <a:latin typeface="微软雅黑" panose="020B0503020204020204" pitchFamily="34" charset="-122"/>
                <a:ea typeface="微软雅黑" panose="020B0503020204020204" pitchFamily="34" charset="-122"/>
              </a:rPr>
            </a:br>
            <a:r>
              <a:rPr lang="zh-CN" altLang="en-US" b="0" i="0" dirty="0">
                <a:solidFill>
                  <a:schemeClr val="tx1"/>
                </a:solidFill>
                <a:effectLst/>
                <a:latin typeface="微软雅黑" panose="020B0503020204020204" pitchFamily="34" charset="-122"/>
                <a:ea typeface="微软雅黑" panose="020B0503020204020204" pitchFamily="34" charset="-122"/>
              </a:rPr>
              <a:t>通信内核（通信</a:t>
            </a:r>
            <a:r>
              <a:rPr lang="en-US" altLang="zh-CN" b="0" i="0" dirty="0">
                <a:solidFill>
                  <a:schemeClr val="tx1"/>
                </a:solidFill>
                <a:effectLst/>
                <a:latin typeface="微软雅黑" panose="020B0503020204020204" pitchFamily="34" charset="-122"/>
                <a:ea typeface="微软雅黑" panose="020B0503020204020204" pitchFamily="34" charset="-122"/>
              </a:rPr>
              <a:t>SM</a:t>
            </a:r>
            <a:r>
              <a:rPr lang="zh-CN" altLang="en-US" b="0" i="0" dirty="0">
                <a:solidFill>
                  <a:schemeClr val="tx1"/>
                </a:solidFill>
                <a:effectLst/>
                <a:latin typeface="微软雅黑" panose="020B0503020204020204" pitchFamily="34" charset="-122"/>
                <a:ea typeface="微软雅黑" panose="020B0503020204020204" pitchFamily="34" charset="-122"/>
              </a:rPr>
              <a:t>控制代码）的实现与</a:t>
            </a:r>
            <a:r>
              <a:rPr lang="en-US" altLang="zh-CN" b="0" i="0" dirty="0" err="1">
                <a:solidFill>
                  <a:schemeClr val="tx1"/>
                </a:solidFill>
                <a:effectLst/>
                <a:latin typeface="微软雅黑" panose="020B0503020204020204" pitchFamily="34" charset="-122"/>
                <a:ea typeface="微软雅黑" panose="020B0503020204020204" pitchFamily="34" charset="-122"/>
              </a:rPr>
              <a:t>MoE</a:t>
            </a:r>
            <a:r>
              <a:rPr lang="zh-CN" altLang="en-US" b="0" i="0" dirty="0">
                <a:solidFill>
                  <a:schemeClr val="tx1"/>
                </a:solidFill>
                <a:effectLst/>
                <a:latin typeface="微软雅黑" panose="020B0503020204020204" pitchFamily="34" charset="-122"/>
                <a:ea typeface="微软雅黑" panose="020B0503020204020204" pitchFamily="34" charset="-122"/>
              </a:rPr>
              <a:t>门控算法、集群网络拓扑采用软硬件协同设计：</a:t>
            </a:r>
            <a:endParaRPr lang="zh-CN" altLang="en-US" b="0" i="0" dirty="0">
              <a:solidFill>
                <a:schemeClr val="tx1"/>
              </a:solidFill>
              <a:effectLst/>
              <a:latin typeface="微软雅黑" panose="020B0503020204020204" pitchFamily="34" charset="-122"/>
              <a:ea typeface="微软雅黑" panose="020B0503020204020204" pitchFamily="34" charset="-122"/>
            </a:endParaRPr>
          </a:p>
          <a:p>
            <a:pPr lvl="1">
              <a:lnSpc>
                <a:spcPct val="150000"/>
              </a:lnSpc>
              <a:buFont typeface="Arial" panose="020B0604020202090204" pitchFamily="34" charset="0"/>
              <a:buChar char="•"/>
            </a:pPr>
            <a:r>
              <a:rPr lang="zh-CN" altLang="en-US" b="1" i="0" dirty="0">
                <a:solidFill>
                  <a:schemeClr val="tx1"/>
                </a:solidFill>
                <a:effectLst/>
                <a:latin typeface="微软雅黑" panose="020B0503020204020204" pitchFamily="34" charset="-122"/>
                <a:ea typeface="微软雅黑" panose="020B0503020204020204" pitchFamily="34" charset="-122"/>
              </a:rPr>
              <a:t> 跨节点通信</a:t>
            </a:r>
            <a:r>
              <a:rPr lang="zh-CN" altLang="en-US" b="0" i="0" dirty="0">
                <a:solidFill>
                  <a:schemeClr val="tx1"/>
                </a:solidFill>
                <a:effectLst/>
                <a:latin typeface="微软雅黑" panose="020B0503020204020204" pitchFamily="34" charset="-122"/>
                <a:ea typeface="微软雅黑" panose="020B0503020204020204" pitchFamily="34" charset="-122"/>
              </a:rPr>
              <a:t>：通过</a:t>
            </a:r>
            <a:r>
              <a:rPr lang="en-US" altLang="zh-CN" b="0" i="0" dirty="0">
                <a:solidFill>
                  <a:schemeClr val="tx1"/>
                </a:solidFill>
                <a:effectLst/>
                <a:latin typeface="微软雅黑" panose="020B0503020204020204" pitchFamily="34" charset="-122"/>
                <a:ea typeface="微软雅黑" panose="020B0503020204020204" pitchFamily="34" charset="-122"/>
              </a:rPr>
              <a:t>IB</a:t>
            </a:r>
            <a:r>
              <a:rPr lang="zh-CN" altLang="en-US" b="0" i="0" dirty="0">
                <a:solidFill>
                  <a:schemeClr val="tx1"/>
                </a:solidFill>
                <a:effectLst/>
                <a:latin typeface="微软雅黑" panose="020B0503020204020204" pitchFamily="34" charset="-122"/>
                <a:ea typeface="微软雅黑" panose="020B0503020204020204" pitchFamily="34" charset="-122"/>
              </a:rPr>
              <a:t>（</a:t>
            </a:r>
            <a:r>
              <a:rPr lang="en-US" altLang="zh-CN" b="0" i="0" dirty="0">
                <a:solidFill>
                  <a:schemeClr val="tx1"/>
                </a:solidFill>
                <a:effectLst/>
                <a:latin typeface="微软雅黑" panose="020B0503020204020204" pitchFamily="34" charset="-122"/>
                <a:ea typeface="微软雅黑" panose="020B0503020204020204" pitchFamily="34" charset="-122"/>
              </a:rPr>
              <a:t>InfiniBand</a:t>
            </a:r>
            <a:r>
              <a:rPr lang="zh-CN" altLang="en-US" b="0" i="0" dirty="0">
                <a:solidFill>
                  <a:schemeClr val="tx1"/>
                </a:solidFill>
                <a:effectLst/>
                <a:latin typeface="微软雅黑" panose="020B0503020204020204" pitchFamily="34" charset="-122"/>
                <a:ea typeface="微软雅黑" panose="020B0503020204020204" pitchFamily="34" charset="-122"/>
              </a:rPr>
              <a:t>）完全互连</a:t>
            </a:r>
            <a:endParaRPr lang="zh-CN" altLang="en-US" b="0" i="0" dirty="0">
              <a:solidFill>
                <a:schemeClr val="tx1"/>
              </a:solidFill>
              <a:effectLst/>
              <a:latin typeface="微软雅黑" panose="020B0503020204020204" pitchFamily="34" charset="-122"/>
              <a:ea typeface="微软雅黑" panose="020B0503020204020204" pitchFamily="34" charset="-122"/>
            </a:endParaRPr>
          </a:p>
          <a:p>
            <a:pPr lvl="1">
              <a:lnSpc>
                <a:spcPct val="150000"/>
              </a:lnSpc>
              <a:buFont typeface="Arial" panose="020B0604020202090204" pitchFamily="34" charset="0"/>
              <a:buChar char="•"/>
            </a:pPr>
            <a:r>
              <a:rPr lang="zh-CN" altLang="en-US" b="1" i="0" dirty="0">
                <a:solidFill>
                  <a:schemeClr val="tx1"/>
                </a:solidFill>
                <a:effectLst/>
                <a:latin typeface="微软雅黑" panose="020B0503020204020204" pitchFamily="34" charset="-122"/>
                <a:ea typeface="微软雅黑" panose="020B0503020204020204" pitchFamily="34" charset="-122"/>
              </a:rPr>
              <a:t> 节点内通信</a:t>
            </a:r>
            <a:r>
              <a:rPr lang="zh-CN" altLang="en-US" b="0" i="0" dirty="0">
                <a:solidFill>
                  <a:schemeClr val="tx1"/>
                </a:solidFill>
                <a:effectLst/>
                <a:latin typeface="微软雅黑" panose="020B0503020204020204" pitchFamily="34" charset="-122"/>
                <a:ea typeface="微软雅黑" panose="020B0503020204020204" pitchFamily="34" charset="-122"/>
              </a:rPr>
              <a:t>：通过</a:t>
            </a:r>
            <a:r>
              <a:rPr lang="en-US" altLang="zh-CN" b="0" i="0" dirty="0" err="1">
                <a:solidFill>
                  <a:schemeClr val="tx1"/>
                </a:solidFill>
                <a:effectLst/>
                <a:latin typeface="微软雅黑" panose="020B0503020204020204" pitchFamily="34" charset="-122"/>
                <a:ea typeface="微软雅黑" panose="020B0503020204020204" pitchFamily="34" charset="-122"/>
              </a:rPr>
              <a:t>NVLink</a:t>
            </a:r>
            <a:r>
              <a:rPr lang="zh-CN" altLang="en-US" b="0" i="0" dirty="0">
                <a:solidFill>
                  <a:schemeClr val="tx1"/>
                </a:solidFill>
                <a:effectLst/>
                <a:latin typeface="微软雅黑" panose="020B0503020204020204" pitchFamily="34" charset="-122"/>
                <a:ea typeface="微软雅黑" panose="020B0503020204020204" pitchFamily="34" charset="-122"/>
              </a:rPr>
              <a:t>完成，提供</a:t>
            </a:r>
            <a:r>
              <a:rPr lang="en-US" altLang="zh-CN" b="0" i="0" dirty="0">
                <a:solidFill>
                  <a:schemeClr val="tx1"/>
                </a:solidFill>
                <a:effectLst/>
                <a:latin typeface="微软雅黑" panose="020B0503020204020204" pitchFamily="34" charset="-122"/>
                <a:ea typeface="微软雅黑" panose="020B0503020204020204" pitchFamily="34" charset="-122"/>
              </a:rPr>
              <a:t>160 GB/s</a:t>
            </a:r>
            <a:r>
              <a:rPr lang="zh-CN" altLang="en-US" b="0" i="0" dirty="0">
                <a:solidFill>
                  <a:schemeClr val="tx1"/>
                </a:solidFill>
                <a:effectLst/>
                <a:latin typeface="微软雅黑" panose="020B0503020204020204" pitchFamily="34" charset="-122"/>
                <a:ea typeface="微软雅黑" panose="020B0503020204020204" pitchFamily="34" charset="-122"/>
              </a:rPr>
              <a:t>带宽，约为</a:t>
            </a:r>
            <a:r>
              <a:rPr lang="en-US" altLang="zh-CN" b="0" i="0" dirty="0">
                <a:solidFill>
                  <a:schemeClr val="tx1"/>
                </a:solidFill>
                <a:effectLst/>
                <a:latin typeface="微软雅黑" panose="020B0503020204020204" pitchFamily="34" charset="-122"/>
                <a:ea typeface="微软雅黑" panose="020B0503020204020204" pitchFamily="34" charset="-122"/>
              </a:rPr>
              <a:t>IB</a:t>
            </a:r>
            <a:r>
              <a:rPr lang="zh-CN" altLang="en-US" b="0" i="0" dirty="0">
                <a:solidFill>
                  <a:schemeClr val="tx1"/>
                </a:solidFill>
                <a:effectLst/>
                <a:latin typeface="微软雅黑" panose="020B0503020204020204" pitchFamily="34" charset="-122"/>
                <a:ea typeface="微软雅黑" panose="020B0503020204020204" pitchFamily="34" charset="-122"/>
              </a:rPr>
              <a:t>（</a:t>
            </a:r>
            <a:r>
              <a:rPr lang="en-US" altLang="zh-CN" b="0" i="0" dirty="0">
                <a:solidFill>
                  <a:schemeClr val="tx1"/>
                </a:solidFill>
                <a:effectLst/>
                <a:latin typeface="微软雅黑" panose="020B0503020204020204" pitchFamily="34" charset="-122"/>
                <a:ea typeface="微软雅黑" panose="020B0503020204020204" pitchFamily="34" charset="-122"/>
              </a:rPr>
              <a:t>50 GB/s</a:t>
            </a:r>
            <a:r>
              <a:rPr lang="zh-CN" altLang="en-US" b="0" i="0" dirty="0">
                <a:solidFill>
                  <a:schemeClr val="tx1"/>
                </a:solidFill>
                <a:effectLst/>
                <a:latin typeface="微软雅黑" panose="020B0503020204020204" pitchFamily="34" charset="-122"/>
                <a:ea typeface="微软雅黑" panose="020B0503020204020204" pitchFamily="34" charset="-122"/>
              </a:rPr>
              <a:t>）的</a:t>
            </a:r>
            <a:r>
              <a:rPr lang="en-US" altLang="zh-CN" b="0" i="0" dirty="0">
                <a:solidFill>
                  <a:schemeClr val="tx1"/>
                </a:solidFill>
                <a:effectLst/>
                <a:latin typeface="微软雅黑" panose="020B0503020204020204" pitchFamily="34" charset="-122"/>
                <a:ea typeface="微软雅黑" panose="020B0503020204020204" pitchFamily="34" charset="-122"/>
              </a:rPr>
              <a:t>3.2</a:t>
            </a:r>
            <a:r>
              <a:rPr lang="zh-CN" altLang="en-US" b="0" i="0" dirty="0">
                <a:solidFill>
                  <a:schemeClr val="tx1"/>
                </a:solidFill>
                <a:effectLst/>
                <a:latin typeface="微软雅黑" panose="020B0503020204020204" pitchFamily="34" charset="-122"/>
                <a:ea typeface="微软雅黑" panose="020B0503020204020204" pitchFamily="34" charset="-122"/>
              </a:rPr>
              <a:t>倍</a:t>
            </a:r>
            <a:endParaRPr lang="zh-CN" altLang="en-US" b="0" i="0" dirty="0">
              <a:solidFill>
                <a:schemeClr val="tx1"/>
              </a:solidFill>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文本框 28"/>
          <p:cNvSpPr txBox="1"/>
          <p:nvPr/>
        </p:nvSpPr>
        <p:spPr>
          <a:xfrm>
            <a:off x="619492" y="51758"/>
            <a:ext cx="9958738"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3200" b="1" dirty="0">
                <a:solidFill>
                  <a:prstClr val="white"/>
                </a:solidFill>
                <a:latin typeface="微软雅黑" panose="020B0503020204020204" pitchFamily="34" charset="-122"/>
                <a:ea typeface="微软雅黑" panose="020B0503020204020204" pitchFamily="34" charset="-122"/>
              </a:rPr>
              <a:t>节点间通信</a:t>
            </a:r>
            <a:endParaRPr kumimoji="1" lang="zh-CN" altLang="en-US" sz="3200" b="1" dirty="0">
              <a:solidFill>
                <a:prstClr val="white"/>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a:stretch>
            <a:fillRect/>
          </a:stretch>
        </p:blipFill>
        <p:spPr>
          <a:xfrm>
            <a:off x="1175554" y="798037"/>
            <a:ext cx="9840891" cy="4933259"/>
          </a:xfrm>
          <a:prstGeom prst="rect">
            <a:avLst/>
          </a:prstGeom>
        </p:spPr>
      </p:pic>
      <p:sp>
        <p:nvSpPr>
          <p:cNvPr id="6" name="文本框 5"/>
          <p:cNvSpPr txBox="1"/>
          <p:nvPr/>
        </p:nvSpPr>
        <p:spPr>
          <a:xfrm>
            <a:off x="3823038" y="5892800"/>
            <a:ext cx="4545924" cy="369332"/>
          </a:xfrm>
          <a:prstGeom prst="rect">
            <a:avLst/>
          </a:prstGeom>
          <a:noFill/>
        </p:spPr>
        <p:txBody>
          <a:bodyPr wrap="none" rtlCol="0">
            <a:spAutoFit/>
          </a:bodyPr>
          <a:lstStyle/>
          <a:p>
            <a:pPr algn="ctr"/>
            <a:r>
              <a:rPr lang="zh-CN" altLang="en-US" dirty="0">
                <a:latin typeface="微软雅黑" panose="020B0503020204020204" pitchFamily="34" charset="-122"/>
                <a:ea typeface="微软雅黑" panose="020B0503020204020204" pitchFamily="34" charset="-122"/>
              </a:rPr>
              <a:t>传统的基于</a:t>
            </a:r>
            <a:r>
              <a:rPr lang="en-US" altLang="zh-CN" dirty="0" err="1">
                <a:latin typeface="微软雅黑" panose="020B0503020204020204" pitchFamily="34" charset="-122"/>
                <a:ea typeface="微软雅黑" panose="020B0503020204020204" pitchFamily="34" charset="-122"/>
              </a:rPr>
              <a:t>NVSwitch</a:t>
            </a:r>
            <a:r>
              <a:rPr lang="zh-CN" altLang="en-US" dirty="0">
                <a:latin typeface="微软雅黑" panose="020B0503020204020204" pitchFamily="34" charset="-122"/>
                <a:ea typeface="微软雅黑" panose="020B0503020204020204" pitchFamily="34" charset="-122"/>
              </a:rPr>
              <a:t>的</a:t>
            </a:r>
            <a:r>
              <a:rPr lang="en-US" altLang="zh-CN" dirty="0">
                <a:latin typeface="微软雅黑" panose="020B0503020204020204" pitchFamily="34" charset="-122"/>
                <a:ea typeface="微软雅黑" panose="020B0503020204020204" pitchFamily="34" charset="-122"/>
              </a:rPr>
              <a:t>All-to-All</a:t>
            </a:r>
            <a:r>
              <a:rPr lang="zh-CN" altLang="en-US" dirty="0">
                <a:latin typeface="微软雅黑" panose="020B0503020204020204" pitchFamily="34" charset="-122"/>
                <a:ea typeface="微软雅黑" panose="020B0503020204020204" pitchFamily="34" charset="-122"/>
              </a:rPr>
              <a:t>通信结构</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文本框 28"/>
          <p:cNvSpPr txBox="1"/>
          <p:nvPr/>
        </p:nvSpPr>
        <p:spPr>
          <a:xfrm>
            <a:off x="619492" y="51758"/>
            <a:ext cx="9958738"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3200" b="1" dirty="0">
                <a:solidFill>
                  <a:prstClr val="white"/>
                </a:solidFill>
                <a:latin typeface="微软雅黑" panose="020B0503020204020204" pitchFamily="34" charset="-122"/>
                <a:ea typeface="微软雅黑" panose="020B0503020204020204" pitchFamily="34" charset="-122"/>
              </a:rPr>
              <a:t>节点间通信</a:t>
            </a:r>
            <a:endParaRPr kumimoji="1" lang="zh-CN" altLang="en-US" sz="3200" b="1" dirty="0">
              <a:solidFill>
                <a:prstClr val="white"/>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619492" y="1123942"/>
            <a:ext cx="11026453" cy="4683142"/>
          </a:xfrm>
          <a:prstGeom prst="rect">
            <a:avLst/>
          </a:prstGeom>
          <a:noFill/>
        </p:spPr>
        <p:txBody>
          <a:bodyPr wrap="square">
            <a:spAutoFit/>
          </a:bodyPr>
          <a:lstStyle>
            <a:defPPr>
              <a:defRPr lang="zh-CN"/>
            </a:defPPr>
            <a:lvl1pPr indent="0">
              <a:lnSpc>
                <a:spcPct val="150000"/>
              </a:lnSpc>
              <a:spcAft>
                <a:spcPts val="0"/>
              </a:spcAft>
              <a:defRPr kumimoji="0" b="0"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stStyle>
          <a:p>
            <a:pPr indent="457200" algn="l">
              <a:spcBef>
                <a:spcPts val="600"/>
              </a:spcBef>
              <a:spcAft>
                <a:spcPts val="600"/>
              </a:spcAft>
            </a:pPr>
            <a:r>
              <a:rPr lang="zh-CN" altLang="en-US" sz="2400" b="1" i="0" dirty="0">
                <a:solidFill>
                  <a:schemeClr val="tx1"/>
                </a:solidFill>
                <a:effectLst/>
                <a:latin typeface="微软雅黑" panose="020B0503020204020204" pitchFamily="34" charset="-122"/>
                <a:ea typeface="微软雅黑" panose="020B0503020204020204" pitchFamily="34" charset="-122"/>
              </a:rPr>
              <a:t>带宽优化策略</a:t>
            </a:r>
            <a:endParaRPr lang="en-US" altLang="zh-CN" sz="2400" b="1" i="0" dirty="0">
              <a:solidFill>
                <a:schemeClr val="tx1"/>
              </a:solidFill>
              <a:effectLst/>
              <a:latin typeface="微软雅黑" panose="020B0503020204020204" pitchFamily="34" charset="-122"/>
              <a:ea typeface="微软雅黑" panose="020B0503020204020204" pitchFamily="34" charset="-122"/>
            </a:endParaRPr>
          </a:p>
          <a:p>
            <a:pPr indent="457200" algn="l"/>
            <a:r>
              <a:rPr lang="zh-CN" altLang="en-US" b="0" i="0" dirty="0">
                <a:solidFill>
                  <a:schemeClr val="tx1"/>
                </a:solidFill>
                <a:effectLst/>
                <a:latin typeface="微软雅黑" panose="020B0503020204020204" pitchFamily="34" charset="-122"/>
                <a:ea typeface="微软雅黑" panose="020B0503020204020204" pitchFamily="34" charset="-122"/>
              </a:rPr>
              <a:t>为了充分利用</a:t>
            </a:r>
            <a:r>
              <a:rPr lang="en-US" altLang="zh-CN" b="0" i="0" dirty="0">
                <a:solidFill>
                  <a:schemeClr val="tx1"/>
                </a:solidFill>
                <a:effectLst/>
                <a:latin typeface="微软雅黑" panose="020B0503020204020204" pitchFamily="34" charset="-122"/>
                <a:ea typeface="微软雅黑" panose="020B0503020204020204" pitchFamily="34" charset="-122"/>
              </a:rPr>
              <a:t>IB</a:t>
            </a:r>
            <a:r>
              <a:rPr lang="zh-CN" altLang="en-US" b="0" i="0" dirty="0">
                <a:solidFill>
                  <a:schemeClr val="tx1"/>
                </a:solidFill>
                <a:effectLst/>
                <a:latin typeface="微软雅黑" panose="020B0503020204020204" pitchFamily="34" charset="-122"/>
                <a:ea typeface="微软雅黑" panose="020B0503020204020204" pitchFamily="34" charset="-122"/>
              </a:rPr>
              <a:t>和</a:t>
            </a:r>
            <a:r>
              <a:rPr lang="en-US" altLang="zh-CN" b="0" i="0" dirty="0" err="1">
                <a:solidFill>
                  <a:schemeClr val="tx1"/>
                </a:solidFill>
                <a:effectLst/>
                <a:latin typeface="微软雅黑" panose="020B0503020204020204" pitchFamily="34" charset="-122"/>
                <a:ea typeface="微软雅黑" panose="020B0503020204020204" pitchFamily="34" charset="-122"/>
              </a:rPr>
              <a:t>NVLink</a:t>
            </a:r>
            <a:r>
              <a:rPr lang="zh-CN" altLang="en-US" b="0" i="0" dirty="0">
                <a:solidFill>
                  <a:schemeClr val="tx1"/>
                </a:solidFill>
                <a:effectLst/>
                <a:latin typeface="微软雅黑" panose="020B0503020204020204" pitchFamily="34" charset="-122"/>
                <a:ea typeface="微软雅黑" panose="020B0503020204020204" pitchFamily="34" charset="-122"/>
              </a:rPr>
              <a:t>的不同带宽，</a:t>
            </a:r>
            <a:r>
              <a:rPr lang="en-US" altLang="zh-CN" b="0" i="0" dirty="0">
                <a:solidFill>
                  <a:schemeClr val="tx1"/>
                </a:solidFill>
                <a:effectLst/>
                <a:latin typeface="微软雅黑" panose="020B0503020204020204" pitchFamily="34" charset="-122"/>
                <a:ea typeface="微软雅黑" panose="020B0503020204020204" pitchFamily="34" charset="-122"/>
              </a:rPr>
              <a:t>DeepSeek</a:t>
            </a:r>
            <a:r>
              <a:rPr lang="zh-CN" altLang="en-US" b="0" i="0" dirty="0">
                <a:solidFill>
                  <a:schemeClr val="tx1"/>
                </a:solidFill>
                <a:effectLst/>
                <a:latin typeface="微软雅黑" panose="020B0503020204020204" pitchFamily="34" charset="-122"/>
                <a:ea typeface="微软雅黑" panose="020B0503020204020204" pitchFamily="34" charset="-122"/>
              </a:rPr>
              <a:t>采用以下优化策略：</a:t>
            </a:r>
            <a:endParaRPr lang="zh-CN" altLang="en-US" b="0" i="0" dirty="0">
              <a:solidFill>
                <a:schemeClr val="tx1"/>
              </a:solidFill>
              <a:effectLst/>
              <a:latin typeface="微软雅黑" panose="020B0503020204020204" pitchFamily="34" charset="-122"/>
              <a:ea typeface="微软雅黑" panose="020B0503020204020204" pitchFamily="34" charset="-122"/>
            </a:endParaRPr>
          </a:p>
          <a:p>
            <a:pPr lvl="1">
              <a:lnSpc>
                <a:spcPct val="150000"/>
              </a:lnSpc>
              <a:buFont typeface="+mj-lt"/>
              <a:buAutoNum type="arabicPeriod"/>
            </a:pPr>
            <a:r>
              <a:rPr lang="en-US" altLang="zh-CN" b="1" i="0" dirty="0">
                <a:solidFill>
                  <a:schemeClr val="tx1"/>
                </a:solidFill>
                <a:effectLst/>
                <a:latin typeface="微软雅黑" panose="020B0503020204020204" pitchFamily="34" charset="-122"/>
                <a:ea typeface="微软雅黑" panose="020B0503020204020204" pitchFamily="34" charset="-122"/>
              </a:rPr>
              <a:t>Token</a:t>
            </a:r>
            <a:r>
              <a:rPr lang="zh-CN" altLang="en-US" b="1" i="0" dirty="0">
                <a:solidFill>
                  <a:schemeClr val="tx1"/>
                </a:solidFill>
                <a:effectLst/>
                <a:latin typeface="微软雅黑" panose="020B0503020204020204" pitchFamily="34" charset="-122"/>
                <a:ea typeface="微软雅黑" panose="020B0503020204020204" pitchFamily="34" charset="-122"/>
              </a:rPr>
              <a:t>分发限制</a:t>
            </a:r>
            <a:r>
              <a:rPr lang="zh-CN" altLang="en-US" b="0" i="0" dirty="0">
                <a:solidFill>
                  <a:schemeClr val="tx1"/>
                </a:solidFill>
                <a:effectLst/>
                <a:latin typeface="微软雅黑" panose="020B0503020204020204" pitchFamily="34" charset="-122"/>
                <a:ea typeface="微软雅黑" panose="020B0503020204020204" pitchFamily="34" charset="-122"/>
              </a:rPr>
              <a:t>：每个</a:t>
            </a:r>
            <a:r>
              <a:rPr lang="en-US" altLang="zh-CN" b="0" i="0" dirty="0">
                <a:solidFill>
                  <a:schemeClr val="tx1"/>
                </a:solidFill>
                <a:effectLst/>
                <a:latin typeface="微软雅黑" panose="020B0503020204020204" pitchFamily="34" charset="-122"/>
                <a:ea typeface="微软雅黑" panose="020B0503020204020204" pitchFamily="34" charset="-122"/>
              </a:rPr>
              <a:t>Token</a:t>
            </a:r>
            <a:r>
              <a:rPr lang="zh-CN" altLang="en-US" b="0" i="0" dirty="0">
                <a:solidFill>
                  <a:schemeClr val="tx1"/>
                </a:solidFill>
                <a:effectLst/>
                <a:latin typeface="微软雅黑" panose="020B0503020204020204" pitchFamily="34" charset="-122"/>
                <a:ea typeface="微软雅黑" panose="020B0503020204020204" pitchFamily="34" charset="-122"/>
              </a:rPr>
              <a:t>的分发限制为最多</a:t>
            </a:r>
            <a:r>
              <a:rPr lang="en-US" altLang="zh-CN" b="0" i="0" dirty="0">
                <a:solidFill>
                  <a:schemeClr val="tx1"/>
                </a:solidFill>
                <a:effectLst/>
                <a:latin typeface="微软雅黑" panose="020B0503020204020204" pitchFamily="34" charset="-122"/>
                <a:ea typeface="微软雅黑" panose="020B0503020204020204" pitchFamily="34" charset="-122"/>
              </a:rPr>
              <a:t>4</a:t>
            </a:r>
            <a:r>
              <a:rPr lang="zh-CN" altLang="en-US" b="0" i="0" dirty="0">
                <a:solidFill>
                  <a:schemeClr val="tx1"/>
                </a:solidFill>
                <a:effectLst/>
                <a:latin typeface="微软雅黑" panose="020B0503020204020204" pitchFamily="34" charset="-122"/>
                <a:ea typeface="微软雅黑" panose="020B0503020204020204" pitchFamily="34" charset="-122"/>
              </a:rPr>
              <a:t>个节点，以减少</a:t>
            </a:r>
            <a:r>
              <a:rPr lang="en-US" altLang="zh-CN" b="0" i="0" dirty="0">
                <a:solidFill>
                  <a:schemeClr val="tx1"/>
                </a:solidFill>
                <a:effectLst/>
                <a:latin typeface="微软雅黑" panose="020B0503020204020204" pitchFamily="34" charset="-122"/>
                <a:ea typeface="微软雅黑" panose="020B0503020204020204" pitchFamily="34" charset="-122"/>
              </a:rPr>
              <a:t>IB</a:t>
            </a:r>
            <a:r>
              <a:rPr lang="zh-CN" altLang="en-US" b="0" i="0" dirty="0">
                <a:solidFill>
                  <a:schemeClr val="tx1"/>
                </a:solidFill>
                <a:effectLst/>
                <a:latin typeface="微软雅黑" panose="020B0503020204020204" pitchFamily="34" charset="-122"/>
                <a:ea typeface="微软雅黑" panose="020B0503020204020204" pitchFamily="34" charset="-122"/>
              </a:rPr>
              <a:t>流量限制的影响。</a:t>
            </a:r>
            <a:endParaRPr lang="zh-CN" altLang="en-US" b="0" i="0" dirty="0">
              <a:solidFill>
                <a:schemeClr val="tx1"/>
              </a:solidFill>
              <a:effectLst/>
              <a:latin typeface="微软雅黑" panose="020B0503020204020204" pitchFamily="34" charset="-122"/>
              <a:ea typeface="微软雅黑" panose="020B0503020204020204" pitchFamily="34" charset="-122"/>
            </a:endParaRPr>
          </a:p>
          <a:p>
            <a:pPr lvl="1">
              <a:lnSpc>
                <a:spcPct val="150000"/>
              </a:lnSpc>
              <a:spcBef>
                <a:spcPts val="300"/>
              </a:spcBef>
              <a:spcAft>
                <a:spcPts val="300"/>
              </a:spcAft>
              <a:buFont typeface="+mj-lt"/>
              <a:buAutoNum type="arabicPeriod"/>
            </a:pPr>
            <a:r>
              <a:rPr lang="zh-CN" altLang="en-US" b="1" i="0" dirty="0">
                <a:solidFill>
                  <a:schemeClr val="tx1"/>
                </a:solidFill>
                <a:effectLst/>
                <a:latin typeface="微软雅黑" panose="020B0503020204020204" pitchFamily="34" charset="-122"/>
                <a:ea typeface="微软雅黑" panose="020B0503020204020204" pitchFamily="34" charset="-122"/>
              </a:rPr>
              <a:t>路由决策优化</a:t>
            </a:r>
            <a:r>
              <a:rPr lang="zh-CN" altLang="en-US" b="0" i="0" dirty="0">
                <a:solidFill>
                  <a:schemeClr val="tx1"/>
                </a:solidFill>
                <a:effectLst/>
                <a:latin typeface="微软雅黑" panose="020B0503020204020204" pitchFamily="34" charset="-122"/>
                <a:ea typeface="微软雅黑" panose="020B0503020204020204" pitchFamily="34" charset="-122"/>
              </a:rPr>
              <a:t>：</a:t>
            </a:r>
            <a:endParaRPr lang="zh-CN" altLang="en-US" b="0" i="0" dirty="0">
              <a:solidFill>
                <a:schemeClr val="tx1"/>
              </a:solidFill>
              <a:effectLst/>
              <a:latin typeface="微软雅黑" panose="020B0503020204020204" pitchFamily="34" charset="-122"/>
              <a:ea typeface="微软雅黑" panose="020B0503020204020204" pitchFamily="34" charset="-122"/>
            </a:endParaRPr>
          </a:p>
          <a:p>
            <a:pPr marL="1200150" lvl="2" indent="-285750">
              <a:lnSpc>
                <a:spcPct val="150000"/>
              </a:lnSpc>
              <a:spcBef>
                <a:spcPts val="300"/>
              </a:spcBef>
              <a:buFont typeface="+mj-lt"/>
              <a:buAutoNum type="arabicPeriod"/>
            </a:pPr>
            <a:r>
              <a:rPr lang="zh-CN" altLang="en-US" b="0" i="0" dirty="0">
                <a:effectLst/>
                <a:latin typeface="微软雅黑" panose="020B0503020204020204" pitchFamily="34" charset="-122"/>
                <a:ea typeface="微软雅黑" panose="020B0503020204020204" pitchFamily="34" charset="-122"/>
              </a:rPr>
              <a:t>节点间路由：通过</a:t>
            </a:r>
            <a:r>
              <a:rPr lang="en-US" altLang="zh-CN" b="0" i="0" dirty="0">
                <a:effectLst/>
                <a:latin typeface="微软雅黑" panose="020B0503020204020204" pitchFamily="34" charset="-122"/>
                <a:ea typeface="微软雅黑" panose="020B0503020204020204" pitchFamily="34" charset="-122"/>
              </a:rPr>
              <a:t>IB</a:t>
            </a:r>
            <a:r>
              <a:rPr lang="zh-CN" altLang="en-US" b="0" i="0" dirty="0">
                <a:effectLst/>
                <a:latin typeface="微软雅黑" panose="020B0503020204020204" pitchFamily="34" charset="-122"/>
                <a:ea typeface="微软雅黑" panose="020B0503020204020204" pitchFamily="34" charset="-122"/>
              </a:rPr>
              <a:t>传输到目标节点上具有相同节点内索引的</a:t>
            </a:r>
            <a:r>
              <a:rPr lang="en-US" altLang="zh-CN" b="0" i="0" dirty="0">
                <a:effectLst/>
                <a:latin typeface="微软雅黑" panose="020B0503020204020204" pitchFamily="34" charset="-122"/>
                <a:ea typeface="微软雅黑" panose="020B0503020204020204" pitchFamily="34" charset="-122"/>
              </a:rPr>
              <a:t>GPU</a:t>
            </a:r>
            <a:endParaRPr lang="en-US" altLang="zh-CN" b="0" i="0" dirty="0">
              <a:effectLst/>
              <a:latin typeface="微软雅黑" panose="020B0503020204020204" pitchFamily="34" charset="-122"/>
              <a:ea typeface="微软雅黑" panose="020B0503020204020204" pitchFamily="34" charset="-122"/>
            </a:endParaRPr>
          </a:p>
          <a:p>
            <a:pPr marL="1200150" lvl="2" indent="-285750">
              <a:lnSpc>
                <a:spcPct val="150000"/>
              </a:lnSpc>
              <a:spcBef>
                <a:spcPts val="300"/>
              </a:spcBef>
              <a:buFont typeface="+mj-lt"/>
              <a:buAutoNum type="arabicPeriod"/>
            </a:pPr>
            <a:r>
              <a:rPr lang="zh-CN" altLang="en-US" b="0" i="0" dirty="0">
                <a:effectLst/>
                <a:latin typeface="微软雅黑" panose="020B0503020204020204" pitchFamily="34" charset="-122"/>
                <a:ea typeface="微软雅黑" panose="020B0503020204020204" pitchFamily="34" charset="-122"/>
              </a:rPr>
              <a:t>节点内转发：通过</a:t>
            </a:r>
            <a:r>
              <a:rPr lang="en-US" altLang="zh-CN" b="0" i="0" dirty="0" err="1">
                <a:effectLst/>
                <a:latin typeface="微软雅黑" panose="020B0503020204020204" pitchFamily="34" charset="-122"/>
                <a:ea typeface="微软雅黑" panose="020B0503020204020204" pitchFamily="34" charset="-122"/>
              </a:rPr>
              <a:t>NVLink</a:t>
            </a:r>
            <a:r>
              <a:rPr lang="zh-CN" altLang="en-US" b="0" i="0" dirty="0">
                <a:effectLst/>
                <a:latin typeface="微软雅黑" panose="020B0503020204020204" pitchFamily="34" charset="-122"/>
                <a:ea typeface="微软雅黑" panose="020B0503020204020204" pitchFamily="34" charset="-122"/>
              </a:rPr>
              <a:t>转发到托管目标专家的特定</a:t>
            </a:r>
            <a:r>
              <a:rPr lang="en-US" altLang="zh-CN" b="0" i="0" dirty="0">
                <a:effectLst/>
                <a:latin typeface="微软雅黑" panose="020B0503020204020204" pitchFamily="34" charset="-122"/>
                <a:ea typeface="微软雅黑" panose="020B0503020204020204" pitchFamily="34" charset="-122"/>
              </a:rPr>
              <a:t>GPU</a:t>
            </a:r>
            <a:endParaRPr lang="en-US" altLang="zh-CN" b="0" i="0" dirty="0">
              <a:effectLst/>
              <a:latin typeface="微软雅黑" panose="020B0503020204020204" pitchFamily="34" charset="-122"/>
              <a:ea typeface="微软雅黑" panose="020B0503020204020204" pitchFamily="34" charset="-122"/>
            </a:endParaRPr>
          </a:p>
          <a:p>
            <a:pPr lvl="1">
              <a:lnSpc>
                <a:spcPct val="150000"/>
              </a:lnSpc>
              <a:spcBef>
                <a:spcPts val="300"/>
              </a:spcBef>
              <a:buFont typeface="+mj-lt"/>
              <a:buAutoNum type="arabicPeriod"/>
            </a:pPr>
            <a:r>
              <a:rPr lang="zh-CN" altLang="en-US" b="1" i="0" dirty="0">
                <a:solidFill>
                  <a:schemeClr val="tx1"/>
                </a:solidFill>
                <a:effectLst/>
                <a:latin typeface="微软雅黑" panose="020B0503020204020204" pitchFamily="34" charset="-122"/>
                <a:ea typeface="微软雅黑" panose="020B0503020204020204" pitchFamily="34" charset="-122"/>
              </a:rPr>
              <a:t>通信重叠</a:t>
            </a:r>
            <a:r>
              <a:rPr lang="zh-CN" altLang="en-US" b="0" i="0" dirty="0">
                <a:solidFill>
                  <a:schemeClr val="tx1"/>
                </a:solidFill>
                <a:effectLst/>
                <a:latin typeface="微软雅黑" panose="020B0503020204020204" pitchFamily="34" charset="-122"/>
                <a:ea typeface="微软雅黑" panose="020B0503020204020204" pitchFamily="34" charset="-122"/>
              </a:rPr>
              <a:t>：通过</a:t>
            </a:r>
            <a:r>
              <a:rPr lang="en-US" altLang="zh-CN" b="0" i="0" dirty="0">
                <a:solidFill>
                  <a:schemeClr val="tx1"/>
                </a:solidFill>
                <a:effectLst/>
                <a:latin typeface="微软雅黑" panose="020B0503020204020204" pitchFamily="34" charset="-122"/>
                <a:ea typeface="微软雅黑" panose="020B0503020204020204" pitchFamily="34" charset="-122"/>
              </a:rPr>
              <a:t>IB</a:t>
            </a:r>
            <a:r>
              <a:rPr lang="zh-CN" altLang="en-US" b="0" i="0" dirty="0">
                <a:solidFill>
                  <a:schemeClr val="tx1"/>
                </a:solidFill>
                <a:effectLst/>
                <a:latin typeface="微软雅黑" panose="020B0503020204020204" pitchFamily="34" charset="-122"/>
                <a:ea typeface="微软雅黑" panose="020B0503020204020204" pitchFamily="34" charset="-122"/>
              </a:rPr>
              <a:t>和</a:t>
            </a:r>
            <a:r>
              <a:rPr lang="en-US" altLang="zh-CN" b="0" i="0" dirty="0" err="1">
                <a:solidFill>
                  <a:schemeClr val="tx1"/>
                </a:solidFill>
                <a:effectLst/>
                <a:latin typeface="微软雅黑" panose="020B0503020204020204" pitchFamily="34" charset="-122"/>
                <a:ea typeface="微软雅黑" panose="020B0503020204020204" pitchFamily="34" charset="-122"/>
              </a:rPr>
              <a:t>NVLink</a:t>
            </a:r>
            <a:r>
              <a:rPr lang="zh-CN" altLang="en-US" b="0" i="0" dirty="0">
                <a:solidFill>
                  <a:schemeClr val="tx1"/>
                </a:solidFill>
                <a:effectLst/>
                <a:latin typeface="微软雅黑" panose="020B0503020204020204" pitchFamily="34" charset="-122"/>
                <a:ea typeface="微软雅黑" panose="020B0503020204020204" pitchFamily="34" charset="-122"/>
              </a:rPr>
              <a:t>的通信重叠，平均每个</a:t>
            </a:r>
            <a:r>
              <a:rPr lang="en-US" altLang="zh-CN" b="0" i="0" dirty="0">
                <a:solidFill>
                  <a:schemeClr val="tx1"/>
                </a:solidFill>
                <a:effectLst/>
                <a:latin typeface="微软雅黑" panose="020B0503020204020204" pitchFamily="34" charset="-122"/>
                <a:ea typeface="微软雅黑" panose="020B0503020204020204" pitchFamily="34" charset="-122"/>
              </a:rPr>
              <a:t>Token</a:t>
            </a:r>
            <a:r>
              <a:rPr lang="zh-CN" altLang="en-US" b="0" i="0" dirty="0">
                <a:solidFill>
                  <a:schemeClr val="tx1"/>
                </a:solidFill>
                <a:effectLst/>
                <a:latin typeface="微软雅黑" panose="020B0503020204020204" pitchFamily="34" charset="-122"/>
                <a:ea typeface="微软雅黑" panose="020B0503020204020204" pitchFamily="34" charset="-122"/>
              </a:rPr>
              <a:t>可以在每个节点选择</a:t>
            </a:r>
            <a:r>
              <a:rPr lang="en-US" altLang="zh-CN" b="0" i="0" dirty="0">
                <a:solidFill>
                  <a:schemeClr val="tx1"/>
                </a:solidFill>
                <a:effectLst/>
                <a:latin typeface="微软雅黑" panose="020B0503020204020204" pitchFamily="34" charset="-122"/>
                <a:ea typeface="微软雅黑" panose="020B0503020204020204" pitchFamily="34" charset="-122"/>
              </a:rPr>
              <a:t>3.2</a:t>
            </a:r>
            <a:r>
              <a:rPr lang="zh-CN" altLang="en-US" b="0" i="0" dirty="0">
                <a:solidFill>
                  <a:schemeClr val="tx1"/>
                </a:solidFill>
                <a:effectLst/>
                <a:latin typeface="微软雅黑" panose="020B0503020204020204" pitchFamily="34" charset="-122"/>
                <a:ea typeface="微软雅黑" panose="020B0503020204020204" pitchFamily="34" charset="-122"/>
              </a:rPr>
              <a:t>名专家，且不会</a:t>
            </a:r>
            <a:r>
              <a:rPr lang="zh-CN" altLang="en-US" b="0" i="0" dirty="0">
                <a:effectLst/>
                <a:latin typeface="微软雅黑" panose="020B0503020204020204" pitchFamily="34" charset="-122"/>
                <a:ea typeface="微软雅黑" panose="020B0503020204020204" pitchFamily="34" charset="-122"/>
              </a:rPr>
              <a:t>产生额外的</a:t>
            </a:r>
            <a:r>
              <a:rPr lang="en-US" altLang="zh-CN" b="0" i="0" dirty="0" err="1">
                <a:effectLst/>
                <a:latin typeface="微软雅黑" panose="020B0503020204020204" pitchFamily="34" charset="-122"/>
                <a:ea typeface="微软雅黑" panose="020B0503020204020204" pitchFamily="34" charset="-122"/>
              </a:rPr>
              <a:t>NVLink</a:t>
            </a:r>
            <a:r>
              <a:rPr lang="zh-CN" altLang="en-US" b="0" i="0" dirty="0">
                <a:effectLst/>
                <a:latin typeface="微软雅黑" panose="020B0503020204020204" pitchFamily="34" charset="-122"/>
                <a:ea typeface="微软雅黑" panose="020B0503020204020204" pitchFamily="34" charset="-122"/>
              </a:rPr>
              <a:t>开销。</a:t>
            </a:r>
            <a:endParaRPr lang="en-US" altLang="zh-CN" b="0" i="0" dirty="0">
              <a:effectLst/>
              <a:latin typeface="微软雅黑" panose="020B0503020204020204" pitchFamily="34" charset="-122"/>
              <a:ea typeface="微软雅黑" panose="020B0503020204020204" pitchFamily="34" charset="-122"/>
            </a:endParaRPr>
          </a:p>
          <a:p>
            <a:pPr indent="457200" algn="l">
              <a:spcBef>
                <a:spcPts val="600"/>
              </a:spcBef>
            </a:pPr>
            <a:r>
              <a:rPr lang="zh-CN" altLang="en-US" b="1" i="0" dirty="0">
                <a:solidFill>
                  <a:schemeClr val="tx1"/>
                </a:solidFill>
                <a:effectLst/>
                <a:latin typeface="微软雅黑" panose="020B0503020204020204" pitchFamily="34" charset="-122"/>
                <a:ea typeface="微软雅黑" panose="020B0503020204020204" pitchFamily="34" charset="-122"/>
              </a:rPr>
              <a:t>实际算法实现：</a:t>
            </a:r>
            <a:r>
              <a:rPr lang="en-US" altLang="zh-CN" b="0" i="0" dirty="0">
                <a:solidFill>
                  <a:schemeClr val="tx1"/>
                </a:solidFill>
                <a:effectLst/>
                <a:latin typeface="微软雅黑" panose="020B0503020204020204" pitchFamily="34" charset="-122"/>
                <a:ea typeface="微软雅黑" panose="020B0503020204020204" pitchFamily="34" charset="-122"/>
              </a:rPr>
              <a:t>V3/R1</a:t>
            </a:r>
            <a:r>
              <a:rPr lang="zh-CN" altLang="en-US" b="0" i="0" dirty="0">
                <a:solidFill>
                  <a:schemeClr val="tx1"/>
                </a:solidFill>
                <a:effectLst/>
                <a:latin typeface="微软雅黑" panose="020B0503020204020204" pitchFamily="34" charset="-122"/>
                <a:ea typeface="微软雅黑" panose="020B0503020204020204" pitchFamily="34" charset="-122"/>
              </a:rPr>
              <a:t>通过路由选择</a:t>
            </a:r>
            <a:r>
              <a:rPr lang="en-US" altLang="zh-CN" b="0" i="0" dirty="0">
                <a:solidFill>
                  <a:schemeClr val="tx1"/>
                </a:solidFill>
                <a:effectLst/>
                <a:latin typeface="微软雅黑" panose="020B0503020204020204" pitchFamily="34" charset="-122"/>
                <a:ea typeface="微软雅黑" panose="020B0503020204020204" pitchFamily="34" charset="-122"/>
              </a:rPr>
              <a:t>8</a:t>
            </a:r>
            <a:r>
              <a:rPr lang="zh-CN" altLang="en-US" b="0" i="0" dirty="0">
                <a:solidFill>
                  <a:schemeClr val="tx1"/>
                </a:solidFill>
                <a:effectLst/>
                <a:latin typeface="微软雅黑" panose="020B0503020204020204" pitchFamily="34" charset="-122"/>
                <a:ea typeface="微软雅黑" panose="020B0503020204020204" pitchFamily="34" charset="-122"/>
              </a:rPr>
              <a:t>个专家；在保持相同通信成本的情况下，架构可扩展到最多</a:t>
            </a:r>
            <a:r>
              <a:rPr lang="en-US" altLang="zh-CN" b="0" i="0" dirty="0">
                <a:solidFill>
                  <a:schemeClr val="tx1"/>
                </a:solidFill>
                <a:effectLst/>
                <a:latin typeface="微软雅黑" panose="020B0503020204020204" pitchFamily="34" charset="-122"/>
                <a:ea typeface="微软雅黑" panose="020B0503020204020204" pitchFamily="34" charset="-122"/>
              </a:rPr>
              <a:t>13</a:t>
            </a:r>
            <a:r>
              <a:rPr lang="zh-CN" altLang="en-US" b="0" i="0" dirty="0">
                <a:solidFill>
                  <a:schemeClr val="tx1"/>
                </a:solidFill>
                <a:effectLst/>
                <a:latin typeface="微软雅黑" panose="020B0503020204020204" pitchFamily="34" charset="-122"/>
                <a:ea typeface="微软雅黑" panose="020B0503020204020204" pitchFamily="34" charset="-122"/>
              </a:rPr>
              <a:t>个专家（</a:t>
            </a:r>
            <a:r>
              <a:rPr lang="en-US" altLang="zh-CN" b="0" i="0" dirty="0">
                <a:solidFill>
                  <a:schemeClr val="tx1"/>
                </a:solidFill>
                <a:effectLst/>
                <a:latin typeface="微软雅黑" panose="020B0503020204020204" pitchFamily="34" charset="-122"/>
                <a:ea typeface="微软雅黑" panose="020B0503020204020204" pitchFamily="34" charset="-122"/>
              </a:rPr>
              <a:t>4</a:t>
            </a:r>
            <a:r>
              <a:rPr lang="zh-CN" altLang="en-US" b="0" i="0" dirty="0">
                <a:solidFill>
                  <a:schemeClr val="tx1"/>
                </a:solidFill>
                <a:effectLst/>
                <a:latin typeface="微软雅黑" panose="020B0503020204020204" pitchFamily="34" charset="-122"/>
                <a:ea typeface="微软雅黑" panose="020B0503020204020204" pitchFamily="34" charset="-122"/>
              </a:rPr>
              <a:t>个节点</a:t>
            </a:r>
            <a:r>
              <a:rPr lang="en-US" altLang="zh-CN" b="0" i="0" dirty="0">
                <a:solidFill>
                  <a:schemeClr val="tx1"/>
                </a:solidFill>
                <a:effectLst/>
                <a:latin typeface="微软雅黑" panose="020B0503020204020204" pitchFamily="34" charset="-122"/>
                <a:ea typeface="微软雅黑" panose="020B0503020204020204" pitchFamily="34" charset="-122"/>
              </a:rPr>
              <a:t>×3.2</a:t>
            </a:r>
            <a:r>
              <a:rPr lang="zh-CN" altLang="en-US" b="0" i="0" dirty="0">
                <a:solidFill>
                  <a:schemeClr val="tx1"/>
                </a:solidFill>
                <a:effectLst/>
                <a:latin typeface="微软雅黑" panose="020B0503020204020204" pitchFamily="34" charset="-122"/>
                <a:ea typeface="微软雅黑" panose="020B0503020204020204" pitchFamily="34" charset="-122"/>
              </a:rPr>
              <a:t>个专家</a:t>
            </a:r>
            <a:r>
              <a:rPr lang="en-US" altLang="zh-CN" b="0" i="0" dirty="0">
                <a:solidFill>
                  <a:schemeClr val="tx1"/>
                </a:solidFill>
                <a:effectLst/>
                <a:latin typeface="微软雅黑" panose="020B0503020204020204" pitchFamily="34" charset="-122"/>
                <a:ea typeface="微软雅黑" panose="020B0503020204020204" pitchFamily="34" charset="-122"/>
              </a:rPr>
              <a:t>/</a:t>
            </a:r>
            <a:r>
              <a:rPr lang="zh-CN" altLang="en-US" b="0" i="0" dirty="0">
                <a:solidFill>
                  <a:schemeClr val="tx1"/>
                </a:solidFill>
                <a:effectLst/>
                <a:latin typeface="微软雅黑" panose="020B0503020204020204" pitchFamily="34" charset="-122"/>
                <a:ea typeface="微软雅黑" panose="020B0503020204020204" pitchFamily="34" charset="-122"/>
              </a:rPr>
              <a:t>节点）</a:t>
            </a:r>
            <a:endParaRPr lang="en-US" altLang="zh-CN" b="0" i="0" dirty="0">
              <a:solidFill>
                <a:schemeClr val="tx1"/>
              </a:solidFill>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文本框 28"/>
          <p:cNvSpPr txBox="1"/>
          <p:nvPr/>
        </p:nvSpPr>
        <p:spPr>
          <a:xfrm>
            <a:off x="619492" y="51758"/>
            <a:ext cx="9958738"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3200" b="1" dirty="0">
                <a:solidFill>
                  <a:prstClr val="white"/>
                </a:solidFill>
                <a:latin typeface="微软雅黑" panose="020B0503020204020204" pitchFamily="34" charset="-122"/>
                <a:ea typeface="微软雅黑" panose="020B0503020204020204" pitchFamily="34" charset="-122"/>
              </a:rPr>
              <a:t>节点间通信</a:t>
            </a:r>
            <a:endParaRPr kumimoji="1" lang="zh-CN" altLang="en-US" sz="3200" b="1" dirty="0">
              <a:solidFill>
                <a:prstClr val="white"/>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619492" y="1206828"/>
            <a:ext cx="11026453" cy="4075283"/>
          </a:xfrm>
          <a:prstGeom prst="rect">
            <a:avLst/>
          </a:prstGeom>
          <a:noFill/>
        </p:spPr>
        <p:txBody>
          <a:bodyPr wrap="square">
            <a:spAutoFit/>
          </a:bodyPr>
          <a:lstStyle>
            <a:defPPr>
              <a:defRPr lang="zh-CN"/>
            </a:defPPr>
            <a:lvl1pPr indent="0">
              <a:lnSpc>
                <a:spcPct val="150000"/>
              </a:lnSpc>
              <a:spcAft>
                <a:spcPts val="0"/>
              </a:spcAft>
              <a:defRPr kumimoji="0" b="0"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stStyle>
          <a:p>
            <a:pPr algn="l"/>
            <a:r>
              <a:rPr lang="en-US" altLang="zh-CN" sz="2400" b="1" i="0" dirty="0">
                <a:solidFill>
                  <a:schemeClr val="tx1"/>
                </a:solidFill>
                <a:effectLst/>
                <a:latin typeface="微软雅黑" panose="020B0503020204020204" pitchFamily="34" charset="-122"/>
                <a:ea typeface="微软雅黑" panose="020B0503020204020204" pitchFamily="34" charset="-122"/>
              </a:rPr>
              <a:t>Warp</a:t>
            </a:r>
            <a:r>
              <a:rPr lang="zh-CN" altLang="en-US" sz="2400" b="1" i="0" dirty="0">
                <a:solidFill>
                  <a:schemeClr val="tx1"/>
                </a:solidFill>
                <a:effectLst/>
                <a:latin typeface="微软雅黑" panose="020B0503020204020204" pitchFamily="34" charset="-122"/>
                <a:ea typeface="微软雅黑" panose="020B0503020204020204" pitchFamily="34" charset="-122"/>
              </a:rPr>
              <a:t>专用化技术</a:t>
            </a:r>
            <a:endParaRPr lang="en-US" altLang="zh-CN" sz="2400" b="1" i="0" dirty="0">
              <a:solidFill>
                <a:schemeClr val="tx1"/>
              </a:solidFill>
              <a:effectLst/>
              <a:latin typeface="微软雅黑" panose="020B0503020204020204" pitchFamily="34" charset="-122"/>
              <a:ea typeface="微软雅黑" panose="020B0503020204020204" pitchFamily="34" charset="-122"/>
            </a:endParaRPr>
          </a:p>
          <a:p>
            <a:pPr indent="457200" algn="l"/>
            <a:r>
              <a:rPr lang="en-US" altLang="zh-CN" b="0" i="0" dirty="0" err="1">
                <a:solidFill>
                  <a:schemeClr val="tx1"/>
                </a:solidFill>
                <a:effectLst/>
                <a:latin typeface="微软雅黑" panose="020B0503020204020204" pitchFamily="34" charset="-122"/>
                <a:ea typeface="微软雅黑" panose="020B0503020204020204" pitchFamily="34" charset="-122"/>
              </a:rPr>
              <a:t>DeepSeek</a:t>
            </a:r>
            <a:r>
              <a:rPr lang="zh-CN" altLang="en-US" b="0" i="0" dirty="0">
                <a:solidFill>
                  <a:schemeClr val="tx1"/>
                </a:solidFill>
                <a:effectLst/>
                <a:latin typeface="微软雅黑" panose="020B0503020204020204" pitchFamily="34" charset="-122"/>
                <a:ea typeface="微软雅黑" panose="020B0503020204020204" pitchFamily="34" charset="-122"/>
              </a:rPr>
              <a:t>采用</a:t>
            </a:r>
            <a:r>
              <a:rPr lang="en-US" altLang="zh-CN" b="0" i="0" dirty="0">
                <a:solidFill>
                  <a:schemeClr val="tx1"/>
                </a:solidFill>
                <a:effectLst/>
                <a:latin typeface="微软雅黑" panose="020B0503020204020204" pitchFamily="34" charset="-122"/>
                <a:ea typeface="微软雅黑" panose="020B0503020204020204" pitchFamily="34" charset="-122"/>
              </a:rPr>
              <a:t>warp</a:t>
            </a:r>
            <a:r>
              <a:rPr lang="zh-CN" altLang="en-US" b="0" i="0" dirty="0">
                <a:solidFill>
                  <a:schemeClr val="tx1"/>
                </a:solidFill>
                <a:effectLst/>
                <a:latin typeface="微软雅黑" panose="020B0503020204020204" pitchFamily="34" charset="-122"/>
                <a:ea typeface="微软雅黑" panose="020B0503020204020204" pitchFamily="34" charset="-122"/>
              </a:rPr>
              <a:t>（线程束）专用化技术，将</a:t>
            </a:r>
            <a:r>
              <a:rPr lang="en-US" altLang="zh-CN" b="0" i="0" dirty="0">
                <a:solidFill>
                  <a:schemeClr val="tx1"/>
                </a:solidFill>
                <a:effectLst/>
                <a:latin typeface="微软雅黑" panose="020B0503020204020204" pitchFamily="34" charset="-122"/>
                <a:ea typeface="微软雅黑" panose="020B0503020204020204" pitchFamily="34" charset="-122"/>
              </a:rPr>
              <a:t>20</a:t>
            </a:r>
            <a:r>
              <a:rPr lang="zh-CN" altLang="en-US" b="0" i="0" dirty="0">
                <a:solidFill>
                  <a:schemeClr val="tx1"/>
                </a:solidFill>
                <a:effectLst/>
                <a:latin typeface="微软雅黑" panose="020B0503020204020204" pitchFamily="34" charset="-122"/>
                <a:ea typeface="微软雅黑" panose="020B0503020204020204" pitchFamily="34" charset="-122"/>
              </a:rPr>
              <a:t>个</a:t>
            </a:r>
            <a:r>
              <a:rPr lang="en-US" altLang="zh-CN" b="0" i="0" dirty="0">
                <a:solidFill>
                  <a:schemeClr val="tx1"/>
                </a:solidFill>
                <a:effectLst/>
                <a:latin typeface="微软雅黑" panose="020B0503020204020204" pitchFamily="34" charset="-122"/>
                <a:ea typeface="微软雅黑" panose="020B0503020204020204" pitchFamily="34" charset="-122"/>
              </a:rPr>
              <a:t>SM</a:t>
            </a:r>
            <a:r>
              <a:rPr lang="zh-CN" altLang="en-US" b="0" i="0" dirty="0">
                <a:solidFill>
                  <a:schemeClr val="tx1"/>
                </a:solidFill>
                <a:effectLst/>
                <a:latin typeface="微软雅黑" panose="020B0503020204020204" pitchFamily="34" charset="-122"/>
                <a:ea typeface="微软雅黑" panose="020B0503020204020204" pitchFamily="34" charset="-122"/>
              </a:rPr>
              <a:t>划分为</a:t>
            </a:r>
            <a:r>
              <a:rPr lang="en-US" altLang="zh-CN" b="0" i="0" dirty="0">
                <a:solidFill>
                  <a:schemeClr val="tx1"/>
                </a:solidFill>
                <a:effectLst/>
                <a:latin typeface="微软雅黑" panose="020B0503020204020204" pitchFamily="34" charset="-122"/>
                <a:ea typeface="微软雅黑" panose="020B0503020204020204" pitchFamily="34" charset="-122"/>
              </a:rPr>
              <a:t>10</a:t>
            </a:r>
            <a:r>
              <a:rPr lang="zh-CN" altLang="en-US" b="0" i="0" dirty="0">
                <a:solidFill>
                  <a:schemeClr val="tx1"/>
                </a:solidFill>
                <a:effectLst/>
                <a:latin typeface="微软雅黑" panose="020B0503020204020204" pitchFamily="34" charset="-122"/>
                <a:ea typeface="微软雅黑" panose="020B0503020204020204" pitchFamily="34" charset="-122"/>
              </a:rPr>
              <a:t>个通信信道，具体实现如下：</a:t>
            </a:r>
            <a:endParaRPr lang="zh-CN" altLang="en-US" b="0" i="0" dirty="0">
              <a:solidFill>
                <a:schemeClr val="tx1"/>
              </a:solidFill>
              <a:effectLst/>
              <a:latin typeface="微软雅黑" panose="020B0503020204020204" pitchFamily="34" charset="-122"/>
              <a:ea typeface="微软雅黑" panose="020B0503020204020204" pitchFamily="34" charset="-122"/>
            </a:endParaRPr>
          </a:p>
          <a:p>
            <a:pPr lvl="1">
              <a:lnSpc>
                <a:spcPct val="150000"/>
              </a:lnSpc>
              <a:spcAft>
                <a:spcPts val="300"/>
              </a:spcAft>
              <a:buFont typeface="+mj-lt"/>
              <a:buAutoNum type="arabicPeriod"/>
            </a:pPr>
            <a:r>
              <a:rPr lang="zh-CN" altLang="en-US" b="1" i="0" dirty="0">
                <a:solidFill>
                  <a:schemeClr val="tx1"/>
                </a:solidFill>
                <a:effectLst/>
                <a:latin typeface="微软雅黑" panose="020B0503020204020204" pitchFamily="34" charset="-122"/>
                <a:ea typeface="微软雅黑" panose="020B0503020204020204" pitchFamily="34" charset="-122"/>
              </a:rPr>
              <a:t>调度过程</a:t>
            </a:r>
            <a:r>
              <a:rPr lang="zh-CN" altLang="en-US" b="0" i="0" dirty="0">
                <a:solidFill>
                  <a:schemeClr val="tx1"/>
                </a:solidFill>
                <a:effectLst/>
                <a:latin typeface="微软雅黑" panose="020B0503020204020204" pitchFamily="34" charset="-122"/>
                <a:ea typeface="微软雅黑" panose="020B0503020204020204" pitchFamily="34" charset="-122"/>
              </a:rPr>
              <a:t>：</a:t>
            </a:r>
            <a:r>
              <a:rPr lang="en-US" altLang="zh-CN" b="0" i="0" dirty="0">
                <a:effectLst/>
                <a:latin typeface="微软雅黑" panose="020B0503020204020204" pitchFamily="34" charset="-122"/>
                <a:ea typeface="微软雅黑" panose="020B0503020204020204" pitchFamily="34" charset="-122"/>
              </a:rPr>
              <a:t>IB</a:t>
            </a:r>
            <a:r>
              <a:rPr lang="zh-CN" altLang="en-US" b="0" i="0" dirty="0">
                <a:effectLst/>
                <a:latin typeface="微软雅黑" panose="020B0503020204020204" pitchFamily="34" charset="-122"/>
                <a:ea typeface="微软雅黑" panose="020B0503020204020204" pitchFamily="34" charset="-122"/>
              </a:rPr>
              <a:t>发送</a:t>
            </a:r>
            <a:r>
              <a:rPr lang="zh-CN" altLang="en-US" dirty="0">
                <a:latin typeface="微软雅黑" panose="020B0503020204020204" pitchFamily="34" charset="-122"/>
                <a:ea typeface="微软雅黑" panose="020B0503020204020204" pitchFamily="34" charset="-122"/>
              </a:rPr>
              <a:t>；</a:t>
            </a:r>
            <a:r>
              <a:rPr lang="en-US" altLang="zh-CN" b="0" i="0" dirty="0">
                <a:effectLst/>
                <a:latin typeface="微软雅黑" panose="020B0503020204020204" pitchFamily="34" charset="-122"/>
                <a:ea typeface="微软雅黑" panose="020B0503020204020204" pitchFamily="34" charset="-122"/>
              </a:rPr>
              <a:t>IB</a:t>
            </a:r>
            <a:r>
              <a:rPr lang="zh-CN" altLang="en-US" b="0" i="0" dirty="0">
                <a:effectLst/>
                <a:latin typeface="微软雅黑" panose="020B0503020204020204" pitchFamily="34" charset="-122"/>
                <a:ea typeface="微软雅黑" panose="020B0503020204020204" pitchFamily="34" charset="-122"/>
              </a:rPr>
              <a:t>到</a:t>
            </a:r>
            <a:r>
              <a:rPr lang="en-US" altLang="zh-CN" b="0" i="0" dirty="0" err="1">
                <a:effectLst/>
                <a:latin typeface="微软雅黑" panose="020B0503020204020204" pitchFamily="34" charset="-122"/>
                <a:ea typeface="微软雅黑" panose="020B0503020204020204" pitchFamily="34" charset="-122"/>
              </a:rPr>
              <a:t>NVLink</a:t>
            </a:r>
            <a:r>
              <a:rPr lang="zh-CN" altLang="en-US" b="0" i="0" dirty="0">
                <a:effectLst/>
                <a:latin typeface="微软雅黑" panose="020B0503020204020204" pitchFamily="34" charset="-122"/>
                <a:ea typeface="微软雅黑" panose="020B0503020204020204" pitchFamily="34" charset="-122"/>
              </a:rPr>
              <a:t>转发；</a:t>
            </a:r>
            <a:r>
              <a:rPr lang="en-US" altLang="zh-CN" b="0" i="0" dirty="0" err="1">
                <a:effectLst/>
                <a:latin typeface="微软雅黑" panose="020B0503020204020204" pitchFamily="34" charset="-122"/>
                <a:ea typeface="微软雅黑" panose="020B0503020204020204" pitchFamily="34" charset="-122"/>
              </a:rPr>
              <a:t>NVLink</a:t>
            </a:r>
            <a:r>
              <a:rPr lang="zh-CN" altLang="en-US" b="0" i="0" dirty="0">
                <a:effectLst/>
                <a:latin typeface="微软雅黑" panose="020B0503020204020204" pitchFamily="34" charset="-122"/>
                <a:ea typeface="微软雅黑" panose="020B0503020204020204" pitchFamily="34" charset="-122"/>
              </a:rPr>
              <a:t>接收</a:t>
            </a:r>
            <a:br>
              <a:rPr lang="zh-CN" altLang="en-US" b="0" i="0" dirty="0">
                <a:effectLst/>
                <a:latin typeface="微软雅黑" panose="020B0503020204020204" pitchFamily="34" charset="-122"/>
                <a:ea typeface="微软雅黑" panose="020B0503020204020204" pitchFamily="34" charset="-122"/>
              </a:rPr>
            </a:br>
            <a:r>
              <a:rPr lang="zh-CN" altLang="en-US" b="0" i="0" dirty="0">
                <a:effectLst/>
                <a:latin typeface="微软雅黑" panose="020B0503020204020204" pitchFamily="34" charset="-122"/>
                <a:ea typeface="微软雅黑" panose="020B0503020204020204" pitchFamily="34" charset="-122"/>
              </a:rPr>
              <a:t>以上任务由相应的</a:t>
            </a:r>
            <a:r>
              <a:rPr lang="en-US" altLang="zh-CN" b="0" i="0" dirty="0">
                <a:effectLst/>
                <a:latin typeface="微软雅黑" panose="020B0503020204020204" pitchFamily="34" charset="-122"/>
                <a:ea typeface="微软雅黑" panose="020B0503020204020204" pitchFamily="34" charset="-122"/>
              </a:rPr>
              <a:t>warp</a:t>
            </a:r>
            <a:r>
              <a:rPr lang="zh-CN" altLang="en-US" b="0" i="0" dirty="0">
                <a:effectLst/>
                <a:latin typeface="微软雅黑" panose="020B0503020204020204" pitchFamily="34" charset="-122"/>
                <a:ea typeface="微软雅黑" panose="020B0503020204020204" pitchFamily="34" charset="-122"/>
              </a:rPr>
              <a:t>处理，</a:t>
            </a:r>
            <a:r>
              <a:rPr lang="en-US" altLang="zh-CN" b="0" i="0" dirty="0">
                <a:effectLst/>
                <a:latin typeface="微软雅黑" panose="020B0503020204020204" pitchFamily="34" charset="-122"/>
                <a:ea typeface="微软雅黑" panose="020B0503020204020204" pitchFamily="34" charset="-122"/>
              </a:rPr>
              <a:t>warp</a:t>
            </a:r>
            <a:r>
              <a:rPr lang="zh-CN" altLang="en-US" b="0" i="0" dirty="0">
                <a:effectLst/>
                <a:latin typeface="微软雅黑" panose="020B0503020204020204" pitchFamily="34" charset="-122"/>
                <a:ea typeface="微软雅黑" panose="020B0503020204020204" pitchFamily="34" charset="-122"/>
              </a:rPr>
              <a:t>数量根据</a:t>
            </a:r>
            <a:r>
              <a:rPr lang="en-US" altLang="zh-CN" b="0" i="0" dirty="0">
                <a:effectLst/>
                <a:latin typeface="微软雅黑" panose="020B0503020204020204" pitchFamily="34" charset="-122"/>
                <a:ea typeface="微软雅黑" panose="020B0503020204020204" pitchFamily="34" charset="-122"/>
              </a:rPr>
              <a:t>SM</a:t>
            </a:r>
            <a:r>
              <a:rPr lang="zh-CN" altLang="en-US" b="0" i="0" dirty="0">
                <a:effectLst/>
                <a:latin typeface="微软雅黑" panose="020B0503020204020204" pitchFamily="34" charset="-122"/>
                <a:ea typeface="微软雅黑" panose="020B0503020204020204" pitchFamily="34" charset="-122"/>
              </a:rPr>
              <a:t>的实际工作负载动态调整。</a:t>
            </a:r>
            <a:endParaRPr lang="zh-CN" altLang="en-US" b="0" i="0" dirty="0">
              <a:effectLst/>
              <a:latin typeface="微软雅黑" panose="020B0503020204020204" pitchFamily="34" charset="-122"/>
              <a:ea typeface="微软雅黑" panose="020B0503020204020204" pitchFamily="34" charset="-122"/>
            </a:endParaRPr>
          </a:p>
          <a:p>
            <a:pPr lvl="1">
              <a:lnSpc>
                <a:spcPct val="150000"/>
              </a:lnSpc>
              <a:spcBef>
                <a:spcPts val="300"/>
              </a:spcBef>
              <a:spcAft>
                <a:spcPts val="300"/>
              </a:spcAft>
              <a:buFont typeface="+mj-lt"/>
              <a:buAutoNum type="arabicPeriod"/>
            </a:pPr>
            <a:r>
              <a:rPr lang="zh-CN" altLang="en-US" b="1" i="0" dirty="0">
                <a:solidFill>
                  <a:schemeClr val="tx1"/>
                </a:solidFill>
                <a:effectLst/>
                <a:latin typeface="微软雅黑" panose="020B0503020204020204" pitchFamily="34" charset="-122"/>
                <a:ea typeface="微软雅黑" panose="020B0503020204020204" pitchFamily="34" charset="-122"/>
              </a:rPr>
              <a:t>合并过程</a:t>
            </a:r>
            <a:r>
              <a:rPr lang="zh-CN" altLang="en-US" b="0" i="0" dirty="0">
                <a:solidFill>
                  <a:schemeClr val="tx1"/>
                </a:solidFill>
                <a:effectLst/>
                <a:latin typeface="微软雅黑" panose="020B0503020204020204" pitchFamily="34" charset="-122"/>
                <a:ea typeface="微软雅黑" panose="020B0503020204020204" pitchFamily="34" charset="-122"/>
              </a:rPr>
              <a:t>：</a:t>
            </a:r>
            <a:r>
              <a:rPr lang="en-US" altLang="zh-CN" b="0" i="0" dirty="0" err="1">
                <a:effectLst/>
                <a:latin typeface="微软雅黑" panose="020B0503020204020204" pitchFamily="34" charset="-122"/>
                <a:ea typeface="微软雅黑" panose="020B0503020204020204" pitchFamily="34" charset="-122"/>
              </a:rPr>
              <a:t>NVLink</a:t>
            </a:r>
            <a:r>
              <a:rPr lang="zh-CN" altLang="en-US" b="0" i="0" dirty="0">
                <a:effectLst/>
                <a:latin typeface="微软雅黑" panose="020B0503020204020204" pitchFamily="34" charset="-122"/>
                <a:ea typeface="微软雅黑" panose="020B0503020204020204" pitchFamily="34" charset="-122"/>
              </a:rPr>
              <a:t>发送；</a:t>
            </a:r>
            <a:r>
              <a:rPr lang="en-US" altLang="zh-CN" b="0" i="0" dirty="0" err="1">
                <a:effectLst/>
                <a:latin typeface="微软雅黑" panose="020B0503020204020204" pitchFamily="34" charset="-122"/>
                <a:ea typeface="微软雅黑" panose="020B0503020204020204" pitchFamily="34" charset="-122"/>
              </a:rPr>
              <a:t>NVLink</a:t>
            </a:r>
            <a:r>
              <a:rPr lang="zh-CN" altLang="en-US" b="0" i="0" dirty="0">
                <a:effectLst/>
                <a:latin typeface="微软雅黑" panose="020B0503020204020204" pitchFamily="34" charset="-122"/>
                <a:ea typeface="微软雅黑" panose="020B0503020204020204" pitchFamily="34" charset="-122"/>
              </a:rPr>
              <a:t>到</a:t>
            </a:r>
            <a:r>
              <a:rPr lang="en-US" altLang="zh-CN" b="0" i="0" dirty="0">
                <a:effectLst/>
                <a:latin typeface="微软雅黑" panose="020B0503020204020204" pitchFamily="34" charset="-122"/>
                <a:ea typeface="微软雅黑" panose="020B0503020204020204" pitchFamily="34" charset="-122"/>
              </a:rPr>
              <a:t>IB</a:t>
            </a:r>
            <a:r>
              <a:rPr lang="zh-CN" altLang="en-US" b="0" i="0" dirty="0">
                <a:effectLst/>
                <a:latin typeface="微软雅黑" panose="020B0503020204020204" pitchFamily="34" charset="-122"/>
                <a:ea typeface="微软雅黑" panose="020B0503020204020204" pitchFamily="34" charset="-122"/>
              </a:rPr>
              <a:t>的转发和累积；</a:t>
            </a:r>
            <a:r>
              <a:rPr lang="en-US" altLang="zh-CN" b="0" i="0" dirty="0">
                <a:effectLst/>
                <a:latin typeface="微软雅黑" panose="020B0503020204020204" pitchFamily="34" charset="-122"/>
                <a:ea typeface="微软雅黑" panose="020B0503020204020204" pitchFamily="34" charset="-122"/>
              </a:rPr>
              <a:t>IB</a:t>
            </a:r>
            <a:r>
              <a:rPr lang="zh-CN" altLang="en-US" b="0" i="0" dirty="0">
                <a:effectLst/>
                <a:latin typeface="微软雅黑" panose="020B0503020204020204" pitchFamily="34" charset="-122"/>
                <a:ea typeface="微软雅黑" panose="020B0503020204020204" pitchFamily="34" charset="-122"/>
              </a:rPr>
              <a:t>接收和累积</a:t>
            </a:r>
            <a:br>
              <a:rPr lang="zh-CN" altLang="en-US" b="0" i="0" dirty="0">
                <a:effectLst/>
                <a:latin typeface="微软雅黑" panose="020B0503020204020204" pitchFamily="34" charset="-122"/>
                <a:ea typeface="微软雅黑" panose="020B0503020204020204" pitchFamily="34" charset="-122"/>
              </a:rPr>
            </a:br>
            <a:r>
              <a:rPr lang="zh-CN" altLang="en-US" b="0" i="0" dirty="0">
                <a:effectLst/>
                <a:latin typeface="微软雅黑" panose="020B0503020204020204" pitchFamily="34" charset="-122"/>
                <a:ea typeface="微软雅黑" panose="020B0503020204020204" pitchFamily="34" charset="-122"/>
              </a:rPr>
              <a:t>这些任务也由动态调整的</a:t>
            </a:r>
            <a:r>
              <a:rPr lang="en-US" altLang="zh-CN" b="0" i="0" dirty="0">
                <a:effectLst/>
                <a:latin typeface="微软雅黑" panose="020B0503020204020204" pitchFamily="34" charset="-122"/>
                <a:ea typeface="微软雅黑" panose="020B0503020204020204" pitchFamily="34" charset="-122"/>
              </a:rPr>
              <a:t>warp</a:t>
            </a:r>
            <a:r>
              <a:rPr lang="zh-CN" altLang="en-US" b="0" i="0" dirty="0">
                <a:effectLst/>
                <a:latin typeface="微软雅黑" panose="020B0503020204020204" pitchFamily="34" charset="-122"/>
                <a:ea typeface="微软雅黑" panose="020B0503020204020204" pitchFamily="34" charset="-122"/>
              </a:rPr>
              <a:t>处理。</a:t>
            </a:r>
            <a:endParaRPr lang="zh-CN" altLang="en-US" b="0" i="0" dirty="0">
              <a:effectLst/>
              <a:latin typeface="微软雅黑" panose="020B0503020204020204" pitchFamily="34" charset="-122"/>
              <a:ea typeface="微软雅黑" panose="020B0503020204020204" pitchFamily="34" charset="-122"/>
            </a:endParaRPr>
          </a:p>
          <a:p>
            <a:pPr lvl="1">
              <a:lnSpc>
                <a:spcPct val="150000"/>
              </a:lnSpc>
              <a:spcBef>
                <a:spcPts val="300"/>
              </a:spcBef>
              <a:buFont typeface="+mj-lt"/>
              <a:buAutoNum type="arabicPeriod"/>
            </a:pPr>
            <a:r>
              <a:rPr lang="zh-CN" altLang="en-US" b="1" i="0" dirty="0">
                <a:solidFill>
                  <a:schemeClr val="tx1"/>
                </a:solidFill>
                <a:effectLst/>
                <a:latin typeface="微软雅黑" panose="020B0503020204020204" pitchFamily="34" charset="-122"/>
                <a:ea typeface="微软雅黑" panose="020B0503020204020204" pitchFamily="34" charset="-122"/>
              </a:rPr>
              <a:t>计算与通信重叠</a:t>
            </a:r>
            <a:r>
              <a:rPr lang="zh-CN" altLang="en-US" b="0" i="0" dirty="0">
                <a:solidFill>
                  <a:schemeClr val="tx1"/>
                </a:solidFill>
                <a:effectLst/>
                <a:latin typeface="微软雅黑" panose="020B0503020204020204" pitchFamily="34" charset="-122"/>
                <a:ea typeface="微软雅黑" panose="020B0503020204020204" pitchFamily="34" charset="-122"/>
              </a:rPr>
              <a:t>：</a:t>
            </a:r>
            <a:br>
              <a:rPr lang="zh-CN" altLang="en-US" b="0" i="0" dirty="0">
                <a:solidFill>
                  <a:schemeClr val="tx1"/>
                </a:solidFill>
                <a:effectLst/>
                <a:latin typeface="微软雅黑" panose="020B0503020204020204" pitchFamily="34" charset="-122"/>
                <a:ea typeface="微软雅黑" panose="020B0503020204020204" pitchFamily="34" charset="-122"/>
              </a:rPr>
            </a:br>
            <a:r>
              <a:rPr lang="en-US" altLang="zh-CN" b="0" i="0" dirty="0">
                <a:solidFill>
                  <a:schemeClr val="tx1"/>
                </a:solidFill>
                <a:effectLst/>
                <a:latin typeface="微软雅黑" panose="020B0503020204020204" pitchFamily="34" charset="-122"/>
                <a:ea typeface="微软雅黑" panose="020B0503020204020204" pitchFamily="34" charset="-122"/>
              </a:rPr>
              <a:t>dispatching</a:t>
            </a:r>
            <a:r>
              <a:rPr lang="zh-CN" altLang="en-US" b="0" i="0" dirty="0">
                <a:solidFill>
                  <a:schemeClr val="tx1"/>
                </a:solidFill>
                <a:effectLst/>
                <a:latin typeface="微软雅黑" panose="020B0503020204020204" pitchFamily="34" charset="-122"/>
                <a:ea typeface="微软雅黑" panose="020B0503020204020204" pitchFamily="34" charset="-122"/>
              </a:rPr>
              <a:t>和</a:t>
            </a:r>
            <a:r>
              <a:rPr lang="en-US" altLang="zh-CN" b="0" i="0" dirty="0">
                <a:solidFill>
                  <a:schemeClr val="tx1"/>
                </a:solidFill>
                <a:effectLst/>
                <a:latin typeface="微软雅黑" panose="020B0503020204020204" pitchFamily="34" charset="-122"/>
                <a:ea typeface="微软雅黑" panose="020B0503020204020204" pitchFamily="34" charset="-122"/>
              </a:rPr>
              <a:t>combining kernel</a:t>
            </a:r>
            <a:r>
              <a:rPr lang="zh-CN" altLang="en-US" b="0" i="0" dirty="0">
                <a:solidFill>
                  <a:schemeClr val="tx1"/>
                </a:solidFill>
                <a:effectLst/>
                <a:latin typeface="微软雅黑" panose="020B0503020204020204" pitchFamily="34" charset="-122"/>
                <a:ea typeface="微软雅黑" panose="020B0503020204020204" pitchFamily="34" charset="-122"/>
              </a:rPr>
              <a:t>与计算流重叠，采用定制的</a:t>
            </a:r>
            <a:r>
              <a:rPr lang="en-US" altLang="zh-CN" b="0" i="0" dirty="0">
                <a:solidFill>
                  <a:schemeClr val="tx1"/>
                </a:solidFill>
                <a:effectLst/>
                <a:latin typeface="微软雅黑" panose="020B0503020204020204" pitchFamily="34" charset="-122"/>
                <a:ea typeface="微软雅黑" panose="020B0503020204020204" pitchFamily="34" charset="-122"/>
              </a:rPr>
              <a:t>PTX</a:t>
            </a:r>
            <a:r>
              <a:rPr lang="zh-CN" altLang="en-US" b="0" i="0" dirty="0">
                <a:solidFill>
                  <a:schemeClr val="tx1"/>
                </a:solidFill>
                <a:effectLst/>
                <a:latin typeface="微软雅黑" panose="020B0503020204020204" pitchFamily="34" charset="-122"/>
                <a:ea typeface="微软雅黑" panose="020B0503020204020204" pitchFamily="34" charset="-122"/>
              </a:rPr>
              <a:t>（</a:t>
            </a:r>
            <a:r>
              <a:rPr lang="en-US" altLang="zh-CN" b="0" i="0" dirty="0">
                <a:solidFill>
                  <a:schemeClr val="tx1"/>
                </a:solidFill>
                <a:effectLst/>
                <a:latin typeface="微软雅黑" panose="020B0503020204020204" pitchFamily="34" charset="-122"/>
                <a:ea typeface="微软雅黑" panose="020B0503020204020204" pitchFamily="34" charset="-122"/>
              </a:rPr>
              <a:t>Parallel Thread Execution</a:t>
            </a:r>
            <a:r>
              <a:rPr lang="zh-CN" altLang="en-US" b="0" i="0" dirty="0">
                <a:solidFill>
                  <a:schemeClr val="tx1"/>
                </a:solidFill>
                <a:effectLst/>
                <a:latin typeface="微软雅黑" panose="020B0503020204020204" pitchFamily="34" charset="-122"/>
                <a:ea typeface="微软雅黑" panose="020B0503020204020204" pitchFamily="34" charset="-122"/>
              </a:rPr>
              <a:t>）指令自动调整通信块大小，减少对</a:t>
            </a:r>
            <a:r>
              <a:rPr lang="en-US" altLang="zh-CN" b="0" i="0" dirty="0">
                <a:solidFill>
                  <a:schemeClr val="tx1"/>
                </a:solidFill>
                <a:effectLst/>
                <a:latin typeface="微软雅黑" panose="020B0503020204020204" pitchFamily="34" charset="-122"/>
                <a:ea typeface="微软雅黑" panose="020B0503020204020204" pitchFamily="34" charset="-122"/>
              </a:rPr>
              <a:t>L2</a:t>
            </a:r>
            <a:r>
              <a:rPr lang="zh-CN" altLang="en-US" b="0" i="0" dirty="0">
                <a:solidFill>
                  <a:schemeClr val="tx1"/>
                </a:solidFill>
                <a:effectLst/>
                <a:latin typeface="微软雅黑" panose="020B0503020204020204" pitchFamily="34" charset="-122"/>
                <a:ea typeface="微软雅黑" panose="020B0503020204020204" pitchFamily="34" charset="-122"/>
              </a:rPr>
              <a:t>缓存的使用和对其他</a:t>
            </a:r>
            <a:r>
              <a:rPr lang="en-US" altLang="zh-CN" b="0" i="0" dirty="0">
                <a:solidFill>
                  <a:schemeClr val="tx1"/>
                </a:solidFill>
                <a:effectLst/>
                <a:latin typeface="微软雅黑" panose="020B0503020204020204" pitchFamily="34" charset="-122"/>
                <a:ea typeface="微软雅黑" panose="020B0503020204020204" pitchFamily="34" charset="-122"/>
              </a:rPr>
              <a:t>SM</a:t>
            </a:r>
            <a:r>
              <a:rPr lang="zh-CN" altLang="en-US" b="0" i="0" dirty="0">
                <a:solidFill>
                  <a:schemeClr val="tx1"/>
                </a:solidFill>
                <a:effectLst/>
                <a:latin typeface="微软雅黑" panose="020B0503020204020204" pitchFamily="34" charset="-122"/>
                <a:ea typeface="微软雅黑" panose="020B0503020204020204" pitchFamily="34" charset="-122"/>
              </a:rPr>
              <a:t>的干扰。</a:t>
            </a:r>
            <a:endParaRPr lang="zh-CN" altLang="en-US" b="0" i="0" dirty="0">
              <a:solidFill>
                <a:schemeClr val="tx1"/>
              </a:solidFill>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文本框 28"/>
          <p:cNvSpPr txBox="1"/>
          <p:nvPr/>
        </p:nvSpPr>
        <p:spPr>
          <a:xfrm>
            <a:off x="619492" y="51758"/>
            <a:ext cx="9958738"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3200" b="1" dirty="0">
                <a:solidFill>
                  <a:prstClr val="white"/>
                </a:solidFill>
                <a:latin typeface="微软雅黑" panose="020B0503020204020204" pitchFamily="34" charset="-122"/>
                <a:ea typeface="微软雅黑" panose="020B0503020204020204" pitchFamily="34" charset="-122"/>
              </a:rPr>
              <a:t>跨节点通信优化</a:t>
            </a:r>
            <a:endParaRPr kumimoji="1" lang="zh-CN" altLang="en-US" sz="3200" b="1" dirty="0">
              <a:solidFill>
                <a:prstClr val="white"/>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619492" y="669871"/>
            <a:ext cx="7042949" cy="5798832"/>
          </a:xfrm>
          <a:prstGeom prst="rect">
            <a:avLst/>
          </a:prstGeom>
          <a:noFill/>
        </p:spPr>
        <p:txBody>
          <a:bodyPr wrap="square">
            <a:spAutoFit/>
          </a:bodyPr>
          <a:lstStyle>
            <a:defPPr>
              <a:defRPr lang="zh-CN"/>
            </a:defPPr>
            <a:lvl1pPr indent="0">
              <a:lnSpc>
                <a:spcPct val="150000"/>
              </a:lnSpc>
              <a:spcAft>
                <a:spcPts val="0"/>
              </a:spcAft>
              <a:defRPr kumimoji="0" b="0"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stStyle>
          <a:p>
            <a:pPr algn="l"/>
            <a:r>
              <a:rPr lang="zh-CN" altLang="en-US" sz="2400" b="1" i="0" dirty="0">
                <a:solidFill>
                  <a:schemeClr val="tx1"/>
                </a:solidFill>
                <a:effectLst/>
                <a:latin typeface="微软雅黑" panose="020B0503020204020204" pitchFamily="34" charset="-122"/>
                <a:ea typeface="微软雅黑" panose="020B0503020204020204" pitchFamily="34" charset="-122"/>
              </a:rPr>
              <a:t>跨节点路由限制</a:t>
            </a:r>
            <a:endParaRPr lang="en-US" altLang="zh-CN" sz="2400" b="1" i="0" dirty="0">
              <a:solidFill>
                <a:schemeClr val="tx1"/>
              </a:solidFill>
              <a:effectLst/>
              <a:latin typeface="微软雅黑" panose="020B0503020204020204" pitchFamily="34" charset="-122"/>
              <a:ea typeface="微软雅黑" panose="020B0503020204020204" pitchFamily="34" charset="-122"/>
            </a:endParaRPr>
          </a:p>
          <a:p>
            <a:pPr indent="457200" algn="l"/>
            <a:r>
              <a:rPr lang="zh-CN" altLang="en-US" b="0" i="0" dirty="0">
                <a:solidFill>
                  <a:schemeClr val="tx1"/>
                </a:solidFill>
                <a:effectLst/>
                <a:latin typeface="微软雅黑" panose="020B0503020204020204" pitchFamily="34" charset="-122"/>
                <a:ea typeface="微软雅黑" panose="020B0503020204020204" pitchFamily="34" charset="-122"/>
              </a:rPr>
              <a:t>在通信优化过程中，部分</a:t>
            </a:r>
            <a:r>
              <a:rPr lang="en-US" altLang="zh-CN" b="0" i="0" dirty="0">
                <a:solidFill>
                  <a:schemeClr val="tx1"/>
                </a:solidFill>
                <a:effectLst/>
                <a:latin typeface="微软雅黑" panose="020B0503020204020204" pitchFamily="34" charset="-122"/>
                <a:ea typeface="微软雅黑" panose="020B0503020204020204" pitchFamily="34" charset="-122"/>
              </a:rPr>
              <a:t>Token</a:t>
            </a:r>
            <a:r>
              <a:rPr lang="zh-CN" altLang="en-US" b="0" i="0" dirty="0">
                <a:solidFill>
                  <a:schemeClr val="tx1"/>
                </a:solidFill>
                <a:effectLst/>
                <a:latin typeface="微软雅黑" panose="020B0503020204020204" pitchFamily="34" charset="-122"/>
                <a:ea typeface="微软雅黑" panose="020B0503020204020204" pitchFamily="34" charset="-122"/>
              </a:rPr>
              <a:t>会通过</a:t>
            </a:r>
            <a:r>
              <a:rPr lang="en-US" altLang="zh-CN" b="0" i="0" dirty="0">
                <a:solidFill>
                  <a:schemeClr val="tx1"/>
                </a:solidFill>
                <a:effectLst/>
                <a:latin typeface="微软雅黑" panose="020B0503020204020204" pitchFamily="34" charset="-122"/>
                <a:ea typeface="微软雅黑" panose="020B0503020204020204" pitchFamily="34" charset="-122"/>
              </a:rPr>
              <a:t>IB</a:t>
            </a:r>
            <a:r>
              <a:rPr lang="zh-CN" altLang="en-US" b="0" i="0" dirty="0">
                <a:solidFill>
                  <a:schemeClr val="tx1"/>
                </a:solidFill>
                <a:effectLst/>
                <a:latin typeface="微软雅黑" panose="020B0503020204020204" pitchFamily="34" charset="-122"/>
                <a:ea typeface="微软雅黑" panose="020B0503020204020204" pitchFamily="34" charset="-122"/>
              </a:rPr>
              <a:t>网络路由到其他物理节点。为了优化性能，</a:t>
            </a:r>
            <a:r>
              <a:rPr lang="en-US" altLang="zh-CN" b="0" i="0" dirty="0">
                <a:solidFill>
                  <a:schemeClr val="tx1"/>
                </a:solidFill>
                <a:effectLst/>
                <a:latin typeface="微软雅黑" panose="020B0503020204020204" pitchFamily="34" charset="-122"/>
                <a:ea typeface="微软雅黑" panose="020B0503020204020204" pitchFamily="34" charset="-122"/>
              </a:rPr>
              <a:t>DeepSeek</a:t>
            </a:r>
            <a:r>
              <a:rPr lang="zh-CN" altLang="en-US" b="0" i="0" dirty="0">
                <a:solidFill>
                  <a:schemeClr val="tx1"/>
                </a:solidFill>
                <a:effectLst/>
                <a:latin typeface="微软雅黑" panose="020B0503020204020204" pitchFamily="34" charset="-122"/>
                <a:ea typeface="微软雅黑" panose="020B0503020204020204" pitchFamily="34" charset="-122"/>
              </a:rPr>
              <a:t>采用了一种算法设计，限制每个</a:t>
            </a:r>
            <a:r>
              <a:rPr lang="en-US" altLang="zh-CN" b="0" i="0" dirty="0">
                <a:solidFill>
                  <a:schemeClr val="tx1"/>
                </a:solidFill>
                <a:effectLst/>
                <a:latin typeface="微软雅黑" panose="020B0503020204020204" pitchFamily="34" charset="-122"/>
                <a:ea typeface="微软雅黑" panose="020B0503020204020204" pitchFamily="34" charset="-122"/>
              </a:rPr>
              <a:t>Token</a:t>
            </a:r>
            <a:r>
              <a:rPr lang="zh-CN" altLang="en-US" b="0" i="0" dirty="0">
                <a:solidFill>
                  <a:schemeClr val="tx1"/>
                </a:solidFill>
                <a:effectLst/>
                <a:latin typeface="微软雅黑" panose="020B0503020204020204" pitchFamily="34" charset="-122"/>
                <a:ea typeface="微软雅黑" panose="020B0503020204020204" pitchFamily="34" charset="-122"/>
              </a:rPr>
              <a:t>最多路由到</a:t>
            </a:r>
            <a:r>
              <a:rPr lang="en-US" altLang="zh-CN" b="0" i="0" dirty="0">
                <a:solidFill>
                  <a:schemeClr val="tx1"/>
                </a:solidFill>
                <a:effectLst/>
                <a:latin typeface="微软雅黑" panose="020B0503020204020204" pitchFamily="34" charset="-122"/>
                <a:ea typeface="微软雅黑" panose="020B0503020204020204" pitchFamily="34" charset="-122"/>
              </a:rPr>
              <a:t>4</a:t>
            </a:r>
            <a:r>
              <a:rPr lang="zh-CN" altLang="en-US" b="0" i="0" dirty="0">
                <a:solidFill>
                  <a:schemeClr val="tx1"/>
                </a:solidFill>
                <a:effectLst/>
                <a:latin typeface="微软雅黑" panose="020B0503020204020204" pitchFamily="34" charset="-122"/>
                <a:ea typeface="微软雅黑" panose="020B0503020204020204" pitchFamily="34" charset="-122"/>
              </a:rPr>
              <a:t>个物理节点。这一设计在算法层面实现了对跨节点通信的有效控制。</a:t>
            </a:r>
            <a:endParaRPr lang="zh-CN" altLang="en-US" b="0" i="0" dirty="0">
              <a:solidFill>
                <a:schemeClr val="tx1"/>
              </a:solidFill>
              <a:effectLst/>
              <a:latin typeface="微软雅黑" panose="020B0503020204020204" pitchFamily="34" charset="-122"/>
              <a:ea typeface="微软雅黑" panose="020B0503020204020204" pitchFamily="34" charset="-122"/>
            </a:endParaRPr>
          </a:p>
          <a:p>
            <a:pPr algn="l"/>
            <a:r>
              <a:rPr lang="zh-CN" altLang="en-US" sz="2400" b="1" i="0" dirty="0">
                <a:solidFill>
                  <a:schemeClr val="tx1"/>
                </a:solidFill>
                <a:effectLst/>
                <a:latin typeface="微软雅黑" panose="020B0503020204020204" pitchFamily="34" charset="-122"/>
                <a:ea typeface="微软雅黑" panose="020B0503020204020204" pitchFamily="34" charset="-122"/>
              </a:rPr>
              <a:t>节点内专家选择</a:t>
            </a:r>
            <a:endParaRPr lang="en-US" altLang="zh-CN" sz="2400" b="1" i="0" dirty="0">
              <a:solidFill>
                <a:schemeClr val="tx1"/>
              </a:solidFill>
              <a:effectLst/>
              <a:latin typeface="微软雅黑" panose="020B0503020204020204" pitchFamily="34" charset="-122"/>
              <a:ea typeface="微软雅黑" panose="020B0503020204020204" pitchFamily="34" charset="-122"/>
            </a:endParaRPr>
          </a:p>
          <a:p>
            <a:pPr indent="457200" algn="l"/>
            <a:r>
              <a:rPr lang="zh-CN" altLang="en-US" b="0" i="0" dirty="0">
                <a:solidFill>
                  <a:schemeClr val="tx1"/>
                </a:solidFill>
                <a:effectLst/>
                <a:latin typeface="微软雅黑" panose="020B0503020204020204" pitchFamily="34" charset="-122"/>
                <a:ea typeface="微软雅黑" panose="020B0503020204020204" pitchFamily="34" charset="-122"/>
              </a:rPr>
              <a:t>在节点内，每个</a:t>
            </a:r>
            <a:r>
              <a:rPr lang="en-US" altLang="zh-CN" b="0" i="0" dirty="0">
                <a:solidFill>
                  <a:schemeClr val="tx1"/>
                </a:solidFill>
                <a:effectLst/>
                <a:latin typeface="微软雅黑" panose="020B0503020204020204" pitchFamily="34" charset="-122"/>
                <a:ea typeface="微软雅黑" panose="020B0503020204020204" pitchFamily="34" charset="-122"/>
              </a:rPr>
              <a:t>Token</a:t>
            </a:r>
            <a:r>
              <a:rPr lang="zh-CN" altLang="en-US" b="0" i="0" dirty="0">
                <a:solidFill>
                  <a:schemeClr val="tx1"/>
                </a:solidFill>
                <a:effectLst/>
                <a:latin typeface="微软雅黑" panose="020B0503020204020204" pitchFamily="34" charset="-122"/>
                <a:ea typeface="微软雅黑" panose="020B0503020204020204" pitchFamily="34" charset="-122"/>
              </a:rPr>
              <a:t>平均可以选择</a:t>
            </a:r>
            <a:r>
              <a:rPr lang="en-US" altLang="zh-CN" b="0" i="0" dirty="0">
                <a:solidFill>
                  <a:schemeClr val="tx1"/>
                </a:solidFill>
                <a:effectLst/>
                <a:latin typeface="微软雅黑" panose="020B0503020204020204" pitchFamily="34" charset="-122"/>
                <a:ea typeface="微软雅黑" panose="020B0503020204020204" pitchFamily="34" charset="-122"/>
              </a:rPr>
              <a:t>3.2</a:t>
            </a:r>
            <a:r>
              <a:rPr lang="zh-CN" altLang="en-US" b="0" i="0" dirty="0">
                <a:solidFill>
                  <a:schemeClr val="tx1"/>
                </a:solidFill>
                <a:effectLst/>
                <a:latin typeface="微软雅黑" panose="020B0503020204020204" pitchFamily="34" charset="-122"/>
                <a:ea typeface="微软雅黑" panose="020B0503020204020204" pitchFamily="34" charset="-122"/>
              </a:rPr>
              <a:t>个专家。这一数值的设定基于以下带宽比：</a:t>
            </a:r>
            <a:endParaRPr lang="zh-CN" altLang="en-US" b="0" i="0" dirty="0">
              <a:solidFill>
                <a:schemeClr val="tx1"/>
              </a:solidFill>
              <a:effectLst/>
              <a:latin typeface="微软雅黑" panose="020B0503020204020204" pitchFamily="34" charset="-122"/>
              <a:ea typeface="微软雅黑" panose="020B0503020204020204" pitchFamily="34" charset="-122"/>
            </a:endParaRPr>
          </a:p>
          <a:p>
            <a:pPr lvl="1">
              <a:lnSpc>
                <a:spcPct val="150000"/>
              </a:lnSpc>
              <a:buFont typeface="Arial" panose="020B0604020202090204" pitchFamily="34" charset="0"/>
              <a:buChar char="•"/>
            </a:pPr>
            <a:r>
              <a:rPr lang="en-US" altLang="zh-CN" b="1" i="0" dirty="0">
                <a:solidFill>
                  <a:schemeClr val="tx1"/>
                </a:solidFill>
                <a:effectLst/>
                <a:latin typeface="微软雅黑" panose="020B0503020204020204" pitchFamily="34" charset="-122"/>
                <a:ea typeface="微软雅黑" panose="020B0503020204020204" pitchFamily="34" charset="-122"/>
              </a:rPr>
              <a:t>IB</a:t>
            </a:r>
            <a:r>
              <a:rPr lang="zh-CN" altLang="en-US" b="1" i="0" dirty="0">
                <a:solidFill>
                  <a:schemeClr val="tx1"/>
                </a:solidFill>
                <a:effectLst/>
                <a:latin typeface="微软雅黑" panose="020B0503020204020204" pitchFamily="34" charset="-122"/>
                <a:ea typeface="微软雅黑" panose="020B0503020204020204" pitchFamily="34" charset="-122"/>
              </a:rPr>
              <a:t>带宽</a:t>
            </a:r>
            <a:r>
              <a:rPr lang="zh-CN" altLang="en-US" b="0" i="0" dirty="0">
                <a:solidFill>
                  <a:schemeClr val="tx1"/>
                </a:solidFill>
                <a:effectLst/>
                <a:latin typeface="微软雅黑" panose="020B0503020204020204" pitchFamily="34" charset="-122"/>
                <a:ea typeface="微软雅黑" panose="020B0503020204020204" pitchFamily="34" charset="-122"/>
              </a:rPr>
              <a:t>：</a:t>
            </a:r>
            <a:r>
              <a:rPr lang="en-US" altLang="zh-CN" b="0" i="0" dirty="0">
                <a:solidFill>
                  <a:schemeClr val="tx1"/>
                </a:solidFill>
                <a:effectLst/>
                <a:latin typeface="微软雅黑" panose="020B0503020204020204" pitchFamily="34" charset="-122"/>
                <a:ea typeface="微软雅黑" panose="020B0503020204020204" pitchFamily="34" charset="-122"/>
              </a:rPr>
              <a:t>50 GB/s</a:t>
            </a:r>
            <a:endParaRPr lang="en-US" altLang="zh-CN" b="0" i="0" dirty="0">
              <a:solidFill>
                <a:schemeClr val="tx1"/>
              </a:solidFill>
              <a:effectLst/>
              <a:latin typeface="微软雅黑" panose="020B0503020204020204" pitchFamily="34" charset="-122"/>
              <a:ea typeface="微软雅黑" panose="020B0503020204020204" pitchFamily="34" charset="-122"/>
            </a:endParaRPr>
          </a:p>
          <a:p>
            <a:pPr lvl="1">
              <a:lnSpc>
                <a:spcPct val="150000"/>
              </a:lnSpc>
              <a:spcBef>
                <a:spcPts val="300"/>
              </a:spcBef>
              <a:buFont typeface="Arial" panose="020B0604020202090204" pitchFamily="34" charset="0"/>
              <a:buChar char="•"/>
            </a:pPr>
            <a:r>
              <a:rPr lang="en-US" altLang="zh-CN" b="1" i="0" dirty="0" err="1">
                <a:solidFill>
                  <a:schemeClr val="tx1"/>
                </a:solidFill>
                <a:effectLst/>
                <a:latin typeface="微软雅黑" panose="020B0503020204020204" pitchFamily="34" charset="-122"/>
                <a:ea typeface="微软雅黑" panose="020B0503020204020204" pitchFamily="34" charset="-122"/>
              </a:rPr>
              <a:t>NVLink</a:t>
            </a:r>
            <a:r>
              <a:rPr lang="zh-CN" altLang="en-US" b="1" i="0" dirty="0">
                <a:solidFill>
                  <a:schemeClr val="tx1"/>
                </a:solidFill>
                <a:effectLst/>
                <a:latin typeface="微软雅黑" panose="020B0503020204020204" pitchFamily="34" charset="-122"/>
                <a:ea typeface="微软雅黑" panose="020B0503020204020204" pitchFamily="34" charset="-122"/>
              </a:rPr>
              <a:t>带宽</a:t>
            </a:r>
            <a:r>
              <a:rPr lang="zh-CN" altLang="en-US" b="0" i="0" dirty="0">
                <a:solidFill>
                  <a:schemeClr val="tx1"/>
                </a:solidFill>
                <a:effectLst/>
                <a:latin typeface="微软雅黑" panose="020B0503020204020204" pitchFamily="34" charset="-122"/>
                <a:ea typeface="微软雅黑" panose="020B0503020204020204" pitchFamily="34" charset="-122"/>
              </a:rPr>
              <a:t>：</a:t>
            </a:r>
            <a:r>
              <a:rPr lang="en-US" altLang="zh-CN" b="0" i="0" dirty="0">
                <a:solidFill>
                  <a:schemeClr val="tx1"/>
                </a:solidFill>
                <a:effectLst/>
                <a:latin typeface="微软雅黑" panose="020B0503020204020204" pitchFamily="34" charset="-122"/>
                <a:ea typeface="微软雅黑" panose="020B0503020204020204" pitchFamily="34" charset="-122"/>
              </a:rPr>
              <a:t>160 GB/s</a:t>
            </a:r>
            <a:endParaRPr lang="en-US" altLang="zh-CN" b="0" i="0" dirty="0">
              <a:solidFill>
                <a:schemeClr val="tx1"/>
              </a:solidFill>
              <a:effectLst/>
              <a:latin typeface="微软雅黑" panose="020B0503020204020204" pitchFamily="34" charset="-122"/>
              <a:ea typeface="微软雅黑" panose="020B0503020204020204" pitchFamily="34" charset="-122"/>
            </a:endParaRPr>
          </a:p>
          <a:p>
            <a:pPr lvl="1">
              <a:lnSpc>
                <a:spcPct val="150000"/>
              </a:lnSpc>
              <a:spcBef>
                <a:spcPts val="300"/>
              </a:spcBef>
              <a:buFont typeface="Arial" panose="020B0604020202090204" pitchFamily="34" charset="0"/>
              <a:buChar char="•"/>
            </a:pPr>
            <a:r>
              <a:rPr lang="zh-CN" altLang="en-US" b="1" i="0" dirty="0">
                <a:solidFill>
                  <a:schemeClr val="tx1"/>
                </a:solidFill>
                <a:effectLst/>
                <a:latin typeface="微软雅黑" panose="020B0503020204020204" pitchFamily="34" charset="-122"/>
                <a:ea typeface="微软雅黑" panose="020B0503020204020204" pitchFamily="34" charset="-122"/>
              </a:rPr>
              <a:t>带宽比值</a:t>
            </a:r>
            <a:r>
              <a:rPr lang="zh-CN" altLang="en-US" b="0" i="0" dirty="0">
                <a:solidFill>
                  <a:schemeClr val="tx1"/>
                </a:solidFill>
                <a:effectLst/>
                <a:latin typeface="微软雅黑" panose="020B0503020204020204" pitchFamily="34" charset="-122"/>
                <a:ea typeface="微软雅黑" panose="020B0503020204020204" pitchFamily="34" charset="-122"/>
              </a:rPr>
              <a:t>：</a:t>
            </a:r>
            <a:r>
              <a:rPr lang="en-US" altLang="zh-CN" b="0" i="0" dirty="0">
                <a:solidFill>
                  <a:schemeClr val="tx1"/>
                </a:solidFill>
                <a:effectLst/>
                <a:latin typeface="微软雅黑" panose="020B0503020204020204" pitchFamily="34" charset="-122"/>
                <a:ea typeface="微软雅黑" panose="020B0503020204020204" pitchFamily="34" charset="-122"/>
              </a:rPr>
              <a:t>3.2</a:t>
            </a:r>
            <a:r>
              <a:rPr lang="zh-CN" altLang="en-US" b="0" i="0" dirty="0">
                <a:solidFill>
                  <a:schemeClr val="tx1"/>
                </a:solidFill>
                <a:effectLst/>
                <a:latin typeface="微软雅黑" panose="020B0503020204020204" pitchFamily="34" charset="-122"/>
                <a:ea typeface="微软雅黑" panose="020B0503020204020204" pitchFamily="34" charset="-122"/>
              </a:rPr>
              <a:t>（</a:t>
            </a:r>
            <a:r>
              <a:rPr lang="en-US" altLang="zh-CN" b="0" i="0" dirty="0">
                <a:solidFill>
                  <a:schemeClr val="tx1"/>
                </a:solidFill>
                <a:effectLst/>
                <a:latin typeface="微软雅黑" panose="020B0503020204020204" pitchFamily="34" charset="-122"/>
                <a:ea typeface="微软雅黑" panose="020B0503020204020204" pitchFamily="34" charset="-122"/>
              </a:rPr>
              <a:t>160/50</a:t>
            </a:r>
            <a:r>
              <a:rPr lang="zh-CN" altLang="en-US" b="0" i="0" dirty="0">
                <a:solidFill>
                  <a:schemeClr val="tx1"/>
                </a:solidFill>
                <a:effectLst/>
                <a:latin typeface="微软雅黑" panose="020B0503020204020204" pitchFamily="34" charset="-122"/>
                <a:ea typeface="微软雅黑" panose="020B0503020204020204" pitchFamily="34" charset="-122"/>
              </a:rPr>
              <a:t>）</a:t>
            </a:r>
            <a:endParaRPr lang="zh-CN" altLang="en-US" b="0" i="0" dirty="0">
              <a:solidFill>
                <a:schemeClr val="tx1"/>
              </a:solidFill>
              <a:effectLst/>
              <a:latin typeface="微软雅黑" panose="020B0503020204020204" pitchFamily="34" charset="-122"/>
              <a:ea typeface="微软雅黑" panose="020B0503020204020204" pitchFamily="34" charset="-122"/>
            </a:endParaRPr>
          </a:p>
          <a:p>
            <a:pPr indent="457200" algn="l"/>
            <a:r>
              <a:rPr lang="zh-CN" altLang="en-US" b="0" i="0" dirty="0">
                <a:solidFill>
                  <a:schemeClr val="tx1"/>
                </a:solidFill>
                <a:effectLst/>
                <a:latin typeface="微软雅黑" panose="020B0503020204020204" pitchFamily="34" charset="-122"/>
                <a:ea typeface="微软雅黑" panose="020B0503020204020204" pitchFamily="34" charset="-122"/>
              </a:rPr>
              <a:t>这一设计确保了在节点内路由</a:t>
            </a:r>
            <a:r>
              <a:rPr lang="en-US" altLang="zh-CN" b="0" i="0" dirty="0">
                <a:solidFill>
                  <a:schemeClr val="tx1"/>
                </a:solidFill>
                <a:effectLst/>
                <a:latin typeface="微软雅黑" panose="020B0503020204020204" pitchFamily="34" charset="-122"/>
                <a:ea typeface="微软雅黑" panose="020B0503020204020204" pitchFamily="34" charset="-122"/>
              </a:rPr>
              <a:t>3.2</a:t>
            </a:r>
            <a:r>
              <a:rPr lang="zh-CN" altLang="en-US" b="0" i="0" dirty="0">
                <a:solidFill>
                  <a:schemeClr val="tx1"/>
                </a:solidFill>
                <a:effectLst/>
                <a:latin typeface="微软雅黑" panose="020B0503020204020204" pitchFamily="34" charset="-122"/>
                <a:ea typeface="微软雅黑" panose="020B0503020204020204" pitchFamily="34" charset="-122"/>
              </a:rPr>
              <a:t>个专家的时间与通过</a:t>
            </a:r>
            <a:r>
              <a:rPr lang="en-US" altLang="zh-CN" b="0" i="0" dirty="0">
                <a:solidFill>
                  <a:schemeClr val="tx1"/>
                </a:solidFill>
                <a:effectLst/>
                <a:latin typeface="微软雅黑" panose="020B0503020204020204" pitchFamily="34" charset="-122"/>
                <a:ea typeface="微软雅黑" panose="020B0503020204020204" pitchFamily="34" charset="-122"/>
              </a:rPr>
              <a:t>IB</a:t>
            </a:r>
            <a:r>
              <a:rPr lang="zh-CN" altLang="en-US" b="0" i="0" dirty="0">
                <a:solidFill>
                  <a:schemeClr val="tx1"/>
                </a:solidFill>
                <a:effectLst/>
                <a:latin typeface="微软雅黑" panose="020B0503020204020204" pitchFamily="34" charset="-122"/>
                <a:ea typeface="微软雅黑" panose="020B0503020204020204" pitchFamily="34" charset="-122"/>
              </a:rPr>
              <a:t>路由</a:t>
            </a:r>
            <a:r>
              <a:rPr lang="en-US" altLang="zh-CN" b="0" i="0" dirty="0">
                <a:solidFill>
                  <a:schemeClr val="tx1"/>
                </a:solidFill>
                <a:effectLst/>
                <a:latin typeface="微软雅黑" panose="020B0503020204020204" pitchFamily="34" charset="-122"/>
                <a:ea typeface="微软雅黑" panose="020B0503020204020204" pitchFamily="34" charset="-122"/>
              </a:rPr>
              <a:t>1</a:t>
            </a:r>
            <a:r>
              <a:rPr lang="zh-CN" altLang="en-US" b="0" i="0" dirty="0">
                <a:solidFill>
                  <a:schemeClr val="tx1"/>
                </a:solidFill>
                <a:effectLst/>
                <a:latin typeface="微软雅黑" panose="020B0503020204020204" pitchFamily="34" charset="-122"/>
                <a:ea typeface="微软雅黑" panose="020B0503020204020204" pitchFamily="34" charset="-122"/>
              </a:rPr>
              <a:t>个专家的时间相当，从而实现</a:t>
            </a:r>
            <a:r>
              <a:rPr lang="en-US" altLang="zh-CN" b="0" i="0" dirty="0">
                <a:solidFill>
                  <a:schemeClr val="tx1"/>
                </a:solidFill>
                <a:effectLst/>
                <a:latin typeface="微软雅黑" panose="020B0503020204020204" pitchFamily="34" charset="-122"/>
                <a:ea typeface="微软雅黑" panose="020B0503020204020204" pitchFamily="34" charset="-122"/>
              </a:rPr>
              <a:t>IB</a:t>
            </a:r>
            <a:r>
              <a:rPr lang="zh-CN" altLang="en-US" b="0" i="0" dirty="0">
                <a:solidFill>
                  <a:schemeClr val="tx1"/>
                </a:solidFill>
                <a:effectLst/>
                <a:latin typeface="微软雅黑" panose="020B0503020204020204" pitchFamily="34" charset="-122"/>
                <a:ea typeface="微软雅黑" panose="020B0503020204020204" pitchFamily="34" charset="-122"/>
              </a:rPr>
              <a:t>和</a:t>
            </a:r>
            <a:r>
              <a:rPr lang="en-US" altLang="zh-CN" b="0" i="0" dirty="0" err="1">
                <a:solidFill>
                  <a:schemeClr val="tx1"/>
                </a:solidFill>
                <a:effectLst/>
                <a:latin typeface="微软雅黑" panose="020B0503020204020204" pitchFamily="34" charset="-122"/>
                <a:ea typeface="微软雅黑" panose="020B0503020204020204" pitchFamily="34" charset="-122"/>
              </a:rPr>
              <a:t>NVLink</a:t>
            </a:r>
            <a:r>
              <a:rPr lang="zh-CN" altLang="en-US" b="0" i="0" dirty="0">
                <a:solidFill>
                  <a:schemeClr val="tx1"/>
                </a:solidFill>
                <a:effectLst/>
                <a:latin typeface="微软雅黑" panose="020B0503020204020204" pitchFamily="34" charset="-122"/>
                <a:ea typeface="微软雅黑" panose="020B0503020204020204" pitchFamily="34" charset="-122"/>
              </a:rPr>
              <a:t>传输时间的完全重叠。</a:t>
            </a:r>
            <a:endParaRPr lang="zh-CN" altLang="en-US" b="0" i="0" dirty="0">
              <a:solidFill>
                <a:schemeClr val="tx1"/>
              </a:solidFill>
              <a:effectLst/>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7467601" y="1784792"/>
            <a:ext cx="4651180" cy="420624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文本框 28"/>
          <p:cNvSpPr txBox="1"/>
          <p:nvPr/>
        </p:nvSpPr>
        <p:spPr>
          <a:xfrm>
            <a:off x="619492" y="51758"/>
            <a:ext cx="9958738"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3200" b="1" dirty="0">
                <a:solidFill>
                  <a:prstClr val="white"/>
                </a:solidFill>
                <a:latin typeface="微软雅黑" panose="020B0503020204020204" pitchFamily="34" charset="-122"/>
                <a:ea typeface="微软雅黑" panose="020B0503020204020204" pitchFamily="34" charset="-122"/>
              </a:rPr>
              <a:t>跨节点通信优化</a:t>
            </a:r>
            <a:endParaRPr kumimoji="1" lang="zh-CN" altLang="en-US" sz="3200" b="1" dirty="0">
              <a:solidFill>
                <a:prstClr val="white"/>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705956" y="921999"/>
            <a:ext cx="10593379" cy="4861560"/>
          </a:xfrm>
          <a:prstGeom prst="rect">
            <a:avLst/>
          </a:prstGeom>
          <a:noFill/>
        </p:spPr>
        <p:txBody>
          <a:bodyPr wrap="square">
            <a:spAutoFit/>
          </a:bodyPr>
          <a:lstStyle>
            <a:defPPr>
              <a:defRPr lang="zh-CN"/>
            </a:defPPr>
            <a:lvl1pPr indent="0">
              <a:lnSpc>
                <a:spcPct val="150000"/>
              </a:lnSpc>
              <a:spcAft>
                <a:spcPts val="0"/>
              </a:spcAft>
              <a:defRPr kumimoji="0" b="0"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stStyle>
          <a:p>
            <a:pPr algn="l">
              <a:spcAft>
                <a:spcPts val="600"/>
              </a:spcAft>
            </a:pPr>
            <a:r>
              <a:rPr lang="zh-CN" altLang="en-US" sz="2400" b="1" i="0" dirty="0">
                <a:solidFill>
                  <a:schemeClr val="tx1"/>
                </a:solidFill>
                <a:effectLst/>
                <a:latin typeface="微软雅黑" panose="020B0503020204020204" pitchFamily="34" charset="-122"/>
                <a:ea typeface="微软雅黑" panose="020B0503020204020204" pitchFamily="34" charset="-122"/>
              </a:rPr>
              <a:t>路由策略</a:t>
            </a:r>
            <a:endParaRPr lang="en-US" altLang="zh-CN" sz="2400" b="1" i="0" dirty="0">
              <a:solidFill>
                <a:schemeClr val="tx1"/>
              </a:solidFill>
              <a:effectLst/>
              <a:latin typeface="微软雅黑" panose="020B0503020204020204" pitchFamily="34" charset="-122"/>
              <a:ea typeface="微软雅黑" panose="020B0503020204020204" pitchFamily="34" charset="-122"/>
            </a:endParaRPr>
          </a:p>
          <a:p>
            <a:pPr indent="457200" algn="l">
              <a:spcAft>
                <a:spcPts val="600"/>
              </a:spcAft>
            </a:pPr>
            <a:r>
              <a:rPr lang="en-US" altLang="zh-CN" b="0" i="0" dirty="0" err="1">
                <a:solidFill>
                  <a:schemeClr val="tx1"/>
                </a:solidFill>
                <a:effectLst/>
                <a:latin typeface="微软雅黑" panose="020B0503020204020204" pitchFamily="34" charset="-122"/>
                <a:ea typeface="微软雅黑" panose="020B0503020204020204" pitchFamily="34" charset="-122"/>
              </a:rPr>
              <a:t>DeepSeek</a:t>
            </a:r>
            <a:r>
              <a:rPr lang="zh-CN" altLang="en-US" b="0" i="0" dirty="0">
                <a:solidFill>
                  <a:schemeClr val="tx1"/>
                </a:solidFill>
                <a:effectLst/>
                <a:latin typeface="微软雅黑" panose="020B0503020204020204" pitchFamily="34" charset="-122"/>
                <a:ea typeface="微软雅黑" panose="020B0503020204020204" pitchFamily="34" charset="-122"/>
              </a:rPr>
              <a:t>采用了一种确定性的路由策略，具有简单高效的特点：</a:t>
            </a:r>
            <a:endParaRPr lang="zh-CN" altLang="en-US" b="0" i="0" dirty="0">
              <a:solidFill>
                <a:schemeClr val="tx1"/>
              </a:solidFill>
              <a:effectLst/>
              <a:latin typeface="微软雅黑" panose="020B0503020204020204" pitchFamily="34" charset="-122"/>
              <a:ea typeface="微软雅黑" panose="020B0503020204020204" pitchFamily="34" charset="-122"/>
            </a:endParaRPr>
          </a:p>
          <a:p>
            <a:pPr marL="742950" lvl="1" indent="-285750">
              <a:lnSpc>
                <a:spcPct val="150000"/>
              </a:lnSpc>
              <a:spcAft>
                <a:spcPts val="600"/>
              </a:spcAft>
              <a:buFont typeface="Wingdings" panose="05000000000000000000" charset="0"/>
              <a:buChar char=""/>
            </a:pPr>
            <a:r>
              <a:rPr lang="zh-CN" altLang="en-US" b="1" i="0" dirty="0">
                <a:solidFill>
                  <a:schemeClr val="tx1"/>
                </a:solidFill>
                <a:effectLst/>
                <a:latin typeface="微软雅黑" panose="020B0503020204020204" pitchFamily="34" charset="-122"/>
                <a:ea typeface="微软雅黑" panose="020B0503020204020204" pitchFamily="34" charset="-122"/>
              </a:rPr>
              <a:t>跨节点转发</a:t>
            </a:r>
            <a:r>
              <a:rPr lang="zh-CN" altLang="en-US" b="0" i="0" dirty="0">
                <a:solidFill>
                  <a:schemeClr val="tx1"/>
                </a:solidFill>
                <a:effectLst/>
                <a:latin typeface="微软雅黑" panose="020B0503020204020204" pitchFamily="34" charset="-122"/>
                <a:ea typeface="微软雅黑" panose="020B0503020204020204" pitchFamily="34" charset="-122"/>
              </a:rPr>
              <a:t>：首先通过</a:t>
            </a:r>
            <a:r>
              <a:rPr lang="en-US" altLang="zh-CN" b="0" i="0" dirty="0">
                <a:solidFill>
                  <a:schemeClr val="tx1"/>
                </a:solidFill>
                <a:effectLst/>
                <a:latin typeface="微软雅黑" panose="020B0503020204020204" pitchFamily="34" charset="-122"/>
                <a:ea typeface="微软雅黑" panose="020B0503020204020204" pitchFamily="34" charset="-122"/>
              </a:rPr>
              <a:t>IB</a:t>
            </a:r>
            <a:r>
              <a:rPr lang="zh-CN" altLang="en-US" b="0" i="0" dirty="0">
                <a:solidFill>
                  <a:schemeClr val="tx1"/>
                </a:solidFill>
                <a:effectLst/>
                <a:latin typeface="微软雅黑" panose="020B0503020204020204" pitchFamily="34" charset="-122"/>
                <a:ea typeface="微软雅黑" panose="020B0503020204020204" pitchFamily="34" charset="-122"/>
              </a:rPr>
              <a:t>将</a:t>
            </a:r>
            <a:r>
              <a:rPr lang="en-US" altLang="zh-CN" b="0" i="0" dirty="0">
                <a:solidFill>
                  <a:schemeClr val="tx1"/>
                </a:solidFill>
                <a:effectLst/>
                <a:latin typeface="微软雅黑" panose="020B0503020204020204" pitchFamily="34" charset="-122"/>
                <a:ea typeface="微软雅黑" panose="020B0503020204020204" pitchFamily="34" charset="-122"/>
              </a:rPr>
              <a:t>Token</a:t>
            </a:r>
            <a:r>
              <a:rPr lang="zh-CN" altLang="en-US" b="0" i="0" dirty="0">
                <a:solidFill>
                  <a:schemeClr val="tx1"/>
                </a:solidFill>
                <a:effectLst/>
                <a:latin typeface="微软雅黑" panose="020B0503020204020204" pitchFamily="34" charset="-122"/>
                <a:ea typeface="微软雅黑" panose="020B0503020204020204" pitchFamily="34" charset="-122"/>
              </a:rPr>
              <a:t>转发到目标节点</a:t>
            </a:r>
            <a:endParaRPr lang="zh-CN" altLang="en-US" b="0" i="0" dirty="0">
              <a:solidFill>
                <a:schemeClr val="tx1"/>
              </a:solidFill>
              <a:effectLst/>
              <a:latin typeface="微软雅黑" panose="020B0503020204020204" pitchFamily="34" charset="-122"/>
              <a:ea typeface="微软雅黑" panose="020B0503020204020204" pitchFamily="34" charset="-122"/>
            </a:endParaRPr>
          </a:p>
          <a:p>
            <a:pPr marL="742950" lvl="1" indent="-285750">
              <a:lnSpc>
                <a:spcPct val="150000"/>
              </a:lnSpc>
              <a:spcBef>
                <a:spcPts val="300"/>
              </a:spcBef>
              <a:spcAft>
                <a:spcPts val="600"/>
              </a:spcAft>
              <a:buFont typeface="Wingdings" panose="05000000000000000000" charset="0"/>
              <a:buChar char=""/>
            </a:pPr>
            <a:r>
              <a:rPr lang="zh-CN" altLang="en-US" b="1" i="0" dirty="0">
                <a:solidFill>
                  <a:schemeClr val="tx1"/>
                </a:solidFill>
                <a:effectLst/>
                <a:latin typeface="微软雅黑" panose="020B0503020204020204" pitchFamily="34" charset="-122"/>
                <a:ea typeface="微软雅黑" panose="020B0503020204020204" pitchFamily="34" charset="-122"/>
              </a:rPr>
              <a:t>节点内转发</a:t>
            </a:r>
            <a:r>
              <a:rPr lang="zh-CN" altLang="en-US" b="0" i="0" dirty="0">
                <a:solidFill>
                  <a:schemeClr val="tx1"/>
                </a:solidFill>
                <a:effectLst/>
                <a:latin typeface="微软雅黑" panose="020B0503020204020204" pitchFamily="34" charset="-122"/>
                <a:ea typeface="微软雅黑" panose="020B0503020204020204" pitchFamily="34" charset="-122"/>
              </a:rPr>
              <a:t>：在目标节点内，通过</a:t>
            </a:r>
            <a:r>
              <a:rPr lang="en-US" altLang="zh-CN" b="0" i="0" dirty="0" err="1">
                <a:solidFill>
                  <a:schemeClr val="tx1"/>
                </a:solidFill>
                <a:effectLst/>
                <a:latin typeface="微软雅黑" panose="020B0503020204020204" pitchFamily="34" charset="-122"/>
                <a:ea typeface="微软雅黑" panose="020B0503020204020204" pitchFamily="34" charset="-122"/>
              </a:rPr>
              <a:t>NVLink</a:t>
            </a:r>
            <a:r>
              <a:rPr lang="zh-CN" altLang="en-US" b="0" i="0" dirty="0">
                <a:solidFill>
                  <a:schemeClr val="tx1"/>
                </a:solidFill>
                <a:effectLst/>
                <a:latin typeface="微软雅黑" panose="020B0503020204020204" pitchFamily="34" charset="-122"/>
                <a:ea typeface="微软雅黑" panose="020B0503020204020204" pitchFamily="34" charset="-122"/>
              </a:rPr>
              <a:t>将</a:t>
            </a:r>
            <a:r>
              <a:rPr lang="en-US" altLang="zh-CN" b="0" i="0" dirty="0">
                <a:solidFill>
                  <a:schemeClr val="tx1"/>
                </a:solidFill>
                <a:effectLst/>
                <a:latin typeface="微软雅黑" panose="020B0503020204020204" pitchFamily="34" charset="-122"/>
                <a:ea typeface="微软雅黑" panose="020B0503020204020204" pitchFamily="34" charset="-122"/>
              </a:rPr>
              <a:t>Token</a:t>
            </a:r>
            <a:r>
              <a:rPr lang="zh-CN" altLang="en-US" b="0" i="0" dirty="0">
                <a:solidFill>
                  <a:schemeClr val="tx1"/>
                </a:solidFill>
                <a:effectLst/>
                <a:latin typeface="微软雅黑" panose="020B0503020204020204" pitchFamily="34" charset="-122"/>
                <a:ea typeface="微软雅黑" panose="020B0503020204020204" pitchFamily="34" charset="-122"/>
              </a:rPr>
              <a:t>转发到对应的</a:t>
            </a:r>
            <a:r>
              <a:rPr lang="en-US" altLang="zh-CN" b="0" i="0" dirty="0">
                <a:solidFill>
                  <a:schemeClr val="tx1"/>
                </a:solidFill>
                <a:effectLst/>
                <a:latin typeface="微软雅黑" panose="020B0503020204020204" pitchFamily="34" charset="-122"/>
                <a:ea typeface="微软雅黑" panose="020B0503020204020204" pitchFamily="34" charset="-122"/>
              </a:rPr>
              <a:t>GPU</a:t>
            </a:r>
            <a:endParaRPr lang="zh-CN" altLang="en-US" b="0" i="0" dirty="0">
              <a:solidFill>
                <a:schemeClr val="tx1"/>
              </a:solidFill>
              <a:effectLst/>
              <a:latin typeface="微软雅黑" panose="020B0503020204020204" pitchFamily="34" charset="-122"/>
              <a:ea typeface="微软雅黑" panose="020B0503020204020204" pitchFamily="34" charset="-122"/>
            </a:endParaRPr>
          </a:p>
          <a:p>
            <a:pPr marL="742950" lvl="1" indent="-285750">
              <a:lnSpc>
                <a:spcPct val="150000"/>
              </a:lnSpc>
              <a:spcBef>
                <a:spcPts val="300"/>
              </a:spcBef>
              <a:spcAft>
                <a:spcPts val="600"/>
              </a:spcAft>
              <a:buFont typeface="Wingdings" panose="05000000000000000000" charset="0"/>
              <a:buChar char=""/>
            </a:pPr>
            <a:r>
              <a:rPr lang="en-US" altLang="zh-CN" b="1" i="0" dirty="0">
                <a:solidFill>
                  <a:schemeClr val="tx1"/>
                </a:solidFill>
                <a:effectLst/>
                <a:latin typeface="微软雅黑" panose="020B0503020204020204" pitchFamily="34" charset="-122"/>
                <a:ea typeface="微软雅黑" panose="020B0503020204020204" pitchFamily="34" charset="-122"/>
              </a:rPr>
              <a:t>Warp Specialization</a:t>
            </a:r>
            <a:r>
              <a:rPr lang="zh-CN" altLang="en-US" b="1" i="0" dirty="0">
                <a:solidFill>
                  <a:schemeClr val="tx1"/>
                </a:solidFill>
                <a:effectLst/>
                <a:latin typeface="微软雅黑" panose="020B0503020204020204" pitchFamily="34" charset="-122"/>
                <a:ea typeface="微软雅黑" panose="020B0503020204020204" pitchFamily="34" charset="-122"/>
              </a:rPr>
              <a:t>技术</a:t>
            </a:r>
            <a:r>
              <a:rPr lang="zh-CN" altLang="en-US" b="0" i="0" dirty="0">
                <a:solidFill>
                  <a:schemeClr val="tx1"/>
                </a:solidFill>
                <a:effectLst/>
                <a:latin typeface="微软雅黑" panose="020B0503020204020204" pitchFamily="34" charset="-122"/>
                <a:ea typeface="微软雅黑" panose="020B0503020204020204" pitchFamily="34" charset="-122"/>
              </a:rPr>
              <a:t>：利用</a:t>
            </a:r>
            <a:r>
              <a:rPr lang="en-US" altLang="zh-CN" b="0" i="0" dirty="0">
                <a:solidFill>
                  <a:schemeClr val="tx1"/>
                </a:solidFill>
                <a:effectLst/>
                <a:latin typeface="微软雅黑" panose="020B0503020204020204" pitchFamily="34" charset="-122"/>
                <a:ea typeface="微软雅黑" panose="020B0503020204020204" pitchFamily="34" charset="-122"/>
              </a:rPr>
              <a:t>H800 GPU</a:t>
            </a:r>
            <a:r>
              <a:rPr lang="zh-CN" altLang="en-US" b="0" i="0" dirty="0">
                <a:solidFill>
                  <a:schemeClr val="tx1"/>
                </a:solidFill>
                <a:effectLst/>
                <a:latin typeface="微软雅黑" panose="020B0503020204020204" pitchFamily="34" charset="-122"/>
                <a:ea typeface="微软雅黑" panose="020B0503020204020204" pitchFamily="34" charset="-122"/>
              </a:rPr>
              <a:t>的</a:t>
            </a:r>
            <a:r>
              <a:rPr lang="en-US" altLang="zh-CN" b="0" i="0" dirty="0">
                <a:solidFill>
                  <a:schemeClr val="tx1"/>
                </a:solidFill>
                <a:effectLst/>
                <a:latin typeface="微软雅黑" panose="020B0503020204020204" pitchFamily="34" charset="-122"/>
                <a:ea typeface="微软雅黑" panose="020B0503020204020204" pitchFamily="34" charset="-122"/>
              </a:rPr>
              <a:t>132</a:t>
            </a:r>
            <a:r>
              <a:rPr lang="zh-CN" altLang="en-US" b="0" i="0" dirty="0">
                <a:solidFill>
                  <a:schemeClr val="tx1"/>
                </a:solidFill>
                <a:effectLst/>
                <a:latin typeface="微软雅黑" panose="020B0503020204020204" pitchFamily="34" charset="-122"/>
                <a:ea typeface="微软雅黑" panose="020B0503020204020204" pitchFamily="34" charset="-122"/>
              </a:rPr>
              <a:t>个</a:t>
            </a:r>
            <a:r>
              <a:rPr lang="en-US" altLang="zh-CN" b="0" i="0" dirty="0">
                <a:solidFill>
                  <a:schemeClr val="tx1"/>
                </a:solidFill>
                <a:effectLst/>
                <a:latin typeface="微软雅黑" panose="020B0503020204020204" pitchFamily="34" charset="-122"/>
                <a:ea typeface="微软雅黑" panose="020B0503020204020204" pitchFamily="34" charset="-122"/>
              </a:rPr>
              <a:t>SM</a:t>
            </a:r>
            <a:r>
              <a:rPr lang="zh-CN" altLang="en-US" b="0" i="0" dirty="0">
                <a:solidFill>
                  <a:schemeClr val="tx1"/>
                </a:solidFill>
                <a:effectLst/>
                <a:latin typeface="微软雅黑" panose="020B0503020204020204" pitchFamily="34" charset="-122"/>
                <a:ea typeface="微软雅黑" panose="020B0503020204020204" pitchFamily="34" charset="-122"/>
              </a:rPr>
              <a:t>，其中</a:t>
            </a:r>
            <a:r>
              <a:rPr lang="en-US" altLang="zh-CN" b="0" i="0" dirty="0">
                <a:solidFill>
                  <a:schemeClr val="tx1"/>
                </a:solidFill>
                <a:effectLst/>
                <a:latin typeface="微软雅黑" panose="020B0503020204020204" pitchFamily="34" charset="-122"/>
                <a:ea typeface="微软雅黑" panose="020B0503020204020204" pitchFamily="34" charset="-122"/>
              </a:rPr>
              <a:t>20</a:t>
            </a:r>
            <a:r>
              <a:rPr lang="zh-CN" altLang="en-US" b="0" i="0" dirty="0">
                <a:solidFill>
                  <a:schemeClr val="tx1"/>
                </a:solidFill>
                <a:effectLst/>
                <a:latin typeface="微软雅黑" panose="020B0503020204020204" pitchFamily="34" charset="-122"/>
                <a:ea typeface="微软雅黑" panose="020B0503020204020204" pitchFamily="34" charset="-122"/>
              </a:rPr>
              <a:t>个</a:t>
            </a:r>
            <a:r>
              <a:rPr lang="en-US" altLang="zh-CN" b="0" i="0" dirty="0">
                <a:solidFill>
                  <a:schemeClr val="tx1"/>
                </a:solidFill>
                <a:effectLst/>
                <a:latin typeface="微软雅黑" panose="020B0503020204020204" pitchFamily="34" charset="-122"/>
                <a:ea typeface="微软雅黑" panose="020B0503020204020204" pitchFamily="34" charset="-122"/>
              </a:rPr>
              <a:t>SM</a:t>
            </a:r>
            <a:r>
              <a:rPr lang="zh-CN" altLang="en-US" b="0" i="0" dirty="0">
                <a:solidFill>
                  <a:schemeClr val="tx1"/>
                </a:solidFill>
                <a:effectLst/>
                <a:latin typeface="微软雅黑" panose="020B0503020204020204" pitchFamily="34" charset="-122"/>
                <a:ea typeface="微软雅黑" panose="020B0503020204020204" pitchFamily="34" charset="-122"/>
              </a:rPr>
              <a:t>专用于控制通信，其余</a:t>
            </a:r>
            <a:r>
              <a:rPr lang="en-US" altLang="zh-CN" b="0" i="0" dirty="0">
                <a:solidFill>
                  <a:schemeClr val="tx1"/>
                </a:solidFill>
                <a:effectLst/>
                <a:latin typeface="微软雅黑" panose="020B0503020204020204" pitchFamily="34" charset="-122"/>
                <a:ea typeface="微软雅黑" panose="020B0503020204020204" pitchFamily="34" charset="-122"/>
              </a:rPr>
              <a:t>SM</a:t>
            </a:r>
            <a:r>
              <a:rPr lang="zh-CN" altLang="en-US" b="0" i="0" dirty="0">
                <a:solidFill>
                  <a:schemeClr val="tx1"/>
                </a:solidFill>
                <a:effectLst/>
                <a:latin typeface="微软雅黑" panose="020B0503020204020204" pitchFamily="34" charset="-122"/>
                <a:ea typeface="微软雅黑" panose="020B0503020204020204" pitchFamily="34" charset="-122"/>
              </a:rPr>
              <a:t>用于计算。这</a:t>
            </a:r>
            <a:r>
              <a:rPr lang="en-US" altLang="zh-CN" b="0" i="0" dirty="0">
                <a:solidFill>
                  <a:schemeClr val="tx1"/>
                </a:solidFill>
                <a:effectLst/>
                <a:latin typeface="微软雅黑" panose="020B0503020204020204" pitchFamily="34" charset="-122"/>
                <a:ea typeface="微软雅黑" panose="020B0503020204020204" pitchFamily="34" charset="-122"/>
              </a:rPr>
              <a:t>20</a:t>
            </a:r>
            <a:r>
              <a:rPr lang="zh-CN" altLang="en-US" b="0" i="0" dirty="0">
                <a:solidFill>
                  <a:schemeClr val="tx1"/>
                </a:solidFill>
                <a:effectLst/>
                <a:latin typeface="微软雅黑" panose="020B0503020204020204" pitchFamily="34" charset="-122"/>
                <a:ea typeface="微软雅黑" panose="020B0503020204020204" pitchFamily="34" charset="-122"/>
              </a:rPr>
              <a:t>个通信</a:t>
            </a:r>
            <a:r>
              <a:rPr lang="en-US" altLang="zh-CN" b="0" i="0" dirty="0">
                <a:solidFill>
                  <a:schemeClr val="tx1"/>
                </a:solidFill>
                <a:effectLst/>
                <a:latin typeface="微软雅黑" panose="020B0503020204020204" pitchFamily="34" charset="-122"/>
                <a:ea typeface="微软雅黑" panose="020B0503020204020204" pitchFamily="34" charset="-122"/>
              </a:rPr>
              <a:t>SM</a:t>
            </a:r>
            <a:r>
              <a:rPr lang="zh-CN" altLang="en-US" b="0" i="0" dirty="0">
                <a:solidFill>
                  <a:schemeClr val="tx1"/>
                </a:solidFill>
                <a:effectLst/>
                <a:latin typeface="微软雅黑" panose="020B0503020204020204" pitchFamily="34" charset="-122"/>
                <a:ea typeface="微软雅黑" panose="020B0503020204020204" pitchFamily="34" charset="-122"/>
              </a:rPr>
              <a:t>会根据通信负载动态调整</a:t>
            </a:r>
            <a:r>
              <a:rPr lang="en-US" altLang="zh-CN" b="0" i="0" dirty="0">
                <a:solidFill>
                  <a:schemeClr val="tx1"/>
                </a:solidFill>
                <a:effectLst/>
                <a:latin typeface="微软雅黑" panose="020B0503020204020204" pitchFamily="34" charset="-122"/>
                <a:ea typeface="微软雅黑" panose="020B0503020204020204" pitchFamily="34" charset="-122"/>
              </a:rPr>
              <a:t>warp</a:t>
            </a:r>
            <a:r>
              <a:rPr lang="zh-CN" altLang="en-US" b="0" i="0" dirty="0">
                <a:solidFill>
                  <a:schemeClr val="tx1"/>
                </a:solidFill>
                <a:effectLst/>
                <a:latin typeface="微软雅黑" panose="020B0503020204020204" pitchFamily="34" charset="-122"/>
                <a:ea typeface="微软雅黑" panose="020B0503020204020204" pitchFamily="34" charset="-122"/>
              </a:rPr>
              <a:t>数量，并通过英伟达提供的底层</a:t>
            </a:r>
            <a:r>
              <a:rPr lang="en-US" altLang="zh-CN" b="0" i="0" dirty="0">
                <a:solidFill>
                  <a:schemeClr val="tx1"/>
                </a:solidFill>
                <a:effectLst/>
                <a:latin typeface="微软雅黑" panose="020B0503020204020204" pitchFamily="34" charset="-122"/>
                <a:ea typeface="微软雅黑" panose="020B0503020204020204" pitchFamily="34" charset="-122"/>
              </a:rPr>
              <a:t>PTX</a:t>
            </a:r>
            <a:r>
              <a:rPr lang="zh-CN" altLang="en-US" b="0" i="0" dirty="0">
                <a:solidFill>
                  <a:schemeClr val="tx1"/>
                </a:solidFill>
                <a:effectLst/>
                <a:latin typeface="微软雅黑" panose="020B0503020204020204" pitchFamily="34" charset="-122"/>
                <a:ea typeface="微软雅黑" panose="020B0503020204020204" pitchFamily="34" charset="-122"/>
              </a:rPr>
              <a:t>（</a:t>
            </a:r>
            <a:r>
              <a:rPr lang="en-US" altLang="zh-CN" b="0" i="0" dirty="0">
                <a:solidFill>
                  <a:schemeClr val="tx1"/>
                </a:solidFill>
                <a:effectLst/>
                <a:latin typeface="微软雅黑" panose="020B0503020204020204" pitchFamily="34" charset="-122"/>
                <a:ea typeface="微软雅黑" panose="020B0503020204020204" pitchFamily="34" charset="-122"/>
              </a:rPr>
              <a:t>Parallel Thread Execution</a:t>
            </a:r>
            <a:r>
              <a:rPr lang="zh-CN" altLang="en-US" b="0" i="0" dirty="0">
                <a:solidFill>
                  <a:schemeClr val="tx1"/>
                </a:solidFill>
                <a:effectLst/>
                <a:latin typeface="微软雅黑" panose="020B0503020204020204" pitchFamily="34" charset="-122"/>
                <a:ea typeface="微软雅黑" panose="020B0503020204020204" pitchFamily="34" charset="-122"/>
              </a:rPr>
              <a:t>）指令精确控制</a:t>
            </a:r>
            <a:r>
              <a:rPr lang="en-US" altLang="zh-CN" b="0" i="0" dirty="0">
                <a:solidFill>
                  <a:schemeClr val="tx1"/>
                </a:solidFill>
                <a:effectLst/>
                <a:latin typeface="微软雅黑" panose="020B0503020204020204" pitchFamily="34" charset="-122"/>
                <a:ea typeface="微软雅黑" panose="020B0503020204020204" pitchFamily="34" charset="-122"/>
              </a:rPr>
              <a:t>SM</a:t>
            </a:r>
            <a:r>
              <a:rPr lang="zh-CN" altLang="en-US" b="0" i="0" dirty="0">
                <a:solidFill>
                  <a:schemeClr val="tx1"/>
                </a:solidFill>
                <a:effectLst/>
                <a:latin typeface="微软雅黑" panose="020B0503020204020204" pitchFamily="34" charset="-122"/>
                <a:ea typeface="微软雅黑" panose="020B0503020204020204" pitchFamily="34" charset="-122"/>
              </a:rPr>
              <a:t>的使用</a:t>
            </a:r>
            <a:endParaRPr lang="zh-CN" altLang="en-US" b="0" i="0" dirty="0">
              <a:solidFill>
                <a:schemeClr val="tx1"/>
              </a:solidFill>
              <a:effectLst/>
              <a:latin typeface="微软雅黑" panose="020B0503020204020204" pitchFamily="34" charset="-122"/>
              <a:ea typeface="微软雅黑" panose="020B0503020204020204" pitchFamily="34" charset="-122"/>
            </a:endParaRPr>
          </a:p>
          <a:p>
            <a:pPr algn="l">
              <a:spcAft>
                <a:spcPts val="600"/>
              </a:spcAft>
            </a:pPr>
            <a:r>
              <a:rPr lang="zh-CN" altLang="en-US" sz="2400" b="1" i="0" dirty="0">
                <a:solidFill>
                  <a:schemeClr val="tx1"/>
                </a:solidFill>
                <a:effectLst/>
                <a:latin typeface="微软雅黑" panose="020B0503020204020204" pitchFamily="34" charset="-122"/>
                <a:ea typeface="微软雅黑" panose="020B0503020204020204" pitchFamily="34" charset="-122"/>
              </a:rPr>
              <a:t>动态调整机制</a:t>
            </a:r>
            <a:endParaRPr lang="en-US" altLang="zh-CN" sz="2400" b="1" i="0" dirty="0">
              <a:solidFill>
                <a:schemeClr val="tx1"/>
              </a:solidFill>
              <a:effectLst/>
              <a:latin typeface="微软雅黑" panose="020B0503020204020204" pitchFamily="34" charset="-122"/>
              <a:ea typeface="微软雅黑" panose="020B0503020204020204" pitchFamily="34" charset="-122"/>
            </a:endParaRPr>
          </a:p>
          <a:p>
            <a:pPr marL="742950" lvl="1" indent="-285750" algn="l">
              <a:spcAft>
                <a:spcPts val="600"/>
              </a:spcAft>
              <a:buFont typeface="Wingdings" panose="05000000000000000000" charset="0"/>
              <a:buChar char=""/>
            </a:pPr>
            <a:r>
              <a:rPr lang="zh-CN" altLang="en-US" b="1" i="0" dirty="0">
                <a:solidFill>
                  <a:schemeClr val="tx1"/>
                </a:solidFill>
                <a:effectLst/>
                <a:latin typeface="微软雅黑" panose="020B0503020204020204" pitchFamily="34" charset="-122"/>
                <a:ea typeface="微软雅黑" panose="020B0503020204020204" pitchFamily="34" charset="-122"/>
              </a:rPr>
              <a:t>通信负载感知</a:t>
            </a:r>
            <a:r>
              <a:rPr lang="zh-CN" altLang="en-US" b="0" i="0" dirty="0">
                <a:solidFill>
                  <a:schemeClr val="tx1"/>
                </a:solidFill>
                <a:effectLst/>
                <a:latin typeface="微软雅黑" panose="020B0503020204020204" pitchFamily="34" charset="-122"/>
                <a:ea typeface="微软雅黑" panose="020B0503020204020204" pitchFamily="34" charset="-122"/>
              </a:rPr>
              <a:t>：根据实际通信负载动态调整</a:t>
            </a:r>
            <a:r>
              <a:rPr lang="en-US" altLang="zh-CN" b="0" i="0" dirty="0">
                <a:solidFill>
                  <a:schemeClr val="tx1"/>
                </a:solidFill>
                <a:effectLst/>
                <a:latin typeface="微软雅黑" panose="020B0503020204020204" pitchFamily="34" charset="-122"/>
                <a:ea typeface="微软雅黑" panose="020B0503020204020204" pitchFamily="34" charset="-122"/>
              </a:rPr>
              <a:t>warp</a:t>
            </a:r>
            <a:r>
              <a:rPr lang="zh-CN" altLang="en-US" b="0" i="0" dirty="0">
                <a:solidFill>
                  <a:schemeClr val="tx1"/>
                </a:solidFill>
                <a:effectLst/>
                <a:latin typeface="微软雅黑" panose="020B0503020204020204" pitchFamily="34" charset="-122"/>
                <a:ea typeface="微软雅黑" panose="020B0503020204020204" pitchFamily="34" charset="-122"/>
              </a:rPr>
              <a:t>数量</a:t>
            </a:r>
            <a:endParaRPr lang="zh-CN" altLang="en-US" b="0" i="0" dirty="0">
              <a:solidFill>
                <a:schemeClr val="tx1"/>
              </a:solidFill>
              <a:effectLst/>
              <a:latin typeface="微软雅黑" panose="020B0503020204020204" pitchFamily="34" charset="-122"/>
              <a:ea typeface="微软雅黑" panose="020B0503020204020204" pitchFamily="34" charset="-122"/>
            </a:endParaRPr>
          </a:p>
          <a:p>
            <a:pPr marL="742950" lvl="1" indent="-285750" algn="l">
              <a:spcAft>
                <a:spcPts val="600"/>
              </a:spcAft>
              <a:buFont typeface="Wingdings" panose="05000000000000000000" charset="0"/>
              <a:buChar char=""/>
            </a:pPr>
            <a:r>
              <a:rPr lang="en-US" altLang="zh-CN" b="1" i="0" dirty="0">
                <a:solidFill>
                  <a:schemeClr val="tx1"/>
                </a:solidFill>
                <a:effectLst/>
                <a:latin typeface="微软雅黑" panose="020B0503020204020204" pitchFamily="34" charset="-122"/>
                <a:ea typeface="微软雅黑" panose="020B0503020204020204" pitchFamily="34" charset="-122"/>
              </a:rPr>
              <a:t>PTX</a:t>
            </a:r>
            <a:r>
              <a:rPr lang="zh-CN" altLang="en-US" b="1" i="0" dirty="0">
                <a:solidFill>
                  <a:schemeClr val="tx1"/>
                </a:solidFill>
                <a:effectLst/>
                <a:latin typeface="微软雅黑" panose="020B0503020204020204" pitchFamily="34" charset="-122"/>
                <a:ea typeface="微软雅黑" panose="020B0503020204020204" pitchFamily="34" charset="-122"/>
              </a:rPr>
              <a:t>指令优化</a:t>
            </a:r>
            <a:r>
              <a:rPr lang="zh-CN" altLang="en-US" b="0" i="0" dirty="0">
                <a:solidFill>
                  <a:schemeClr val="tx1"/>
                </a:solidFill>
                <a:effectLst/>
                <a:latin typeface="微软雅黑" panose="020B0503020204020204" pitchFamily="34" charset="-122"/>
                <a:ea typeface="微软雅黑" panose="020B0503020204020204" pitchFamily="34" charset="-122"/>
              </a:rPr>
              <a:t>：通过类似汇编层的编程语言（</a:t>
            </a:r>
            <a:r>
              <a:rPr lang="en-US" altLang="zh-CN" b="0" i="0" dirty="0">
                <a:solidFill>
                  <a:schemeClr val="tx1"/>
                </a:solidFill>
                <a:effectLst/>
                <a:latin typeface="微软雅黑" panose="020B0503020204020204" pitchFamily="34" charset="-122"/>
                <a:ea typeface="微软雅黑" panose="020B0503020204020204" pitchFamily="34" charset="-122"/>
              </a:rPr>
              <a:t>PTX</a:t>
            </a:r>
            <a:r>
              <a:rPr lang="zh-CN" altLang="en-US" b="0" i="0" dirty="0">
                <a:solidFill>
                  <a:schemeClr val="tx1"/>
                </a:solidFill>
                <a:effectLst/>
                <a:latin typeface="微软雅黑" panose="020B0503020204020204" pitchFamily="34" charset="-122"/>
                <a:ea typeface="微软雅黑" panose="020B0503020204020204" pitchFamily="34" charset="-122"/>
              </a:rPr>
              <a:t>）实现底层优化，减少资源冲突并提升效率</a:t>
            </a:r>
            <a:endParaRPr lang="zh-CN" altLang="en-US" b="0" i="0" dirty="0">
              <a:solidFill>
                <a:schemeClr val="tx1"/>
              </a:solidFill>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066419" y="3113111"/>
            <a:ext cx="6059170" cy="1106805"/>
          </a:xfrm>
          <a:prstGeom prst="rect">
            <a:avLst/>
          </a:prstGeom>
          <a:noFill/>
        </p:spPr>
        <p:txBody>
          <a:bodyPr wrap="none" rtlCol="0">
            <a:spAutoFit/>
          </a:bodyPr>
          <a:lstStyle>
            <a:defPPr>
              <a:defRPr lang="zh-CN"/>
            </a:defPPr>
            <a:lvl1pPr>
              <a:spcAft>
                <a:spcPts val="2400"/>
              </a:spcAft>
              <a:defRPr sz="5400" b="1">
                <a:latin typeface="微软雅黑" panose="020B0503020204020204" pitchFamily="34" charset="-122"/>
                <a:ea typeface="微软雅黑" panose="020B0503020204020204" pitchFamily="34" charset="-122"/>
              </a:defRPr>
            </a:lvl1pPr>
          </a:lstStyle>
          <a:p>
            <a:pPr algn="ctr"/>
            <a:r>
              <a:rPr lang="zh-CN" altLang="en-US" sz="6600" dirty="0"/>
              <a:t>内存创新</a:t>
            </a:r>
            <a:r>
              <a:rPr lang="zh-CN" altLang="en-US" sz="6600" dirty="0"/>
              <a:t>与优化</a:t>
            </a:r>
            <a:endParaRPr lang="en-US" altLang="zh-CN" sz="6600" dirty="0"/>
          </a:p>
        </p:txBody>
      </p:sp>
      <p:pic>
        <p:nvPicPr>
          <p:cNvPr id="3" name="图片 2"/>
          <p:cNvPicPr>
            <a:picLocks noChangeAspect="1"/>
          </p:cNvPicPr>
          <p:nvPr/>
        </p:nvPicPr>
        <p:blipFill rotWithShape="1">
          <a:blip r:embed="rId1"/>
          <a:srcRect l="59344" t="28824" b="47273"/>
          <a:stretch>
            <a:fillRect/>
          </a:stretch>
        </p:blipFill>
        <p:spPr>
          <a:xfrm>
            <a:off x="4204116" y="1426747"/>
            <a:ext cx="3783767" cy="1210147"/>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文本框 28"/>
          <p:cNvSpPr txBox="1"/>
          <p:nvPr/>
        </p:nvSpPr>
        <p:spPr>
          <a:xfrm>
            <a:off x="619492" y="51758"/>
            <a:ext cx="9958738"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内存优化</a:t>
            </a:r>
            <a:endParaRPr kumimoji="1" lang="zh-CN" alt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9" name="文本框 8"/>
          <p:cNvSpPr txBox="1"/>
          <p:nvPr/>
        </p:nvSpPr>
        <p:spPr>
          <a:xfrm>
            <a:off x="729204" y="841384"/>
            <a:ext cx="10845479" cy="4413837"/>
          </a:xfrm>
          <a:prstGeom prst="rect">
            <a:avLst/>
          </a:prstGeom>
          <a:noFill/>
        </p:spPr>
        <p:txBody>
          <a:bodyPr wrap="square">
            <a:spAutoFit/>
          </a:bodyPr>
          <a:lstStyle/>
          <a:p>
            <a:pPr algn="just">
              <a:lnSpc>
                <a:spcPct val="150000"/>
              </a:lnSpc>
            </a:pPr>
            <a:r>
              <a:rPr lang="zh-CN" altLang="en-US" sz="2400" b="1" i="0" dirty="0">
                <a:effectLst/>
                <a:latin typeface="微软雅黑" panose="020B0503020204020204" pitchFamily="34" charset="-122"/>
                <a:ea typeface="微软雅黑" panose="020B0503020204020204" pitchFamily="34" charset="-122"/>
              </a:rPr>
              <a:t>重计算技术</a:t>
            </a:r>
            <a:endParaRPr lang="zh-CN" altLang="en-US" sz="2400" b="0" i="0" dirty="0">
              <a:effectLst/>
              <a:latin typeface="微软雅黑" panose="020B0503020204020204" pitchFamily="34" charset="-122"/>
              <a:ea typeface="微软雅黑" panose="020B0503020204020204" pitchFamily="34" charset="-122"/>
            </a:endParaRPr>
          </a:p>
          <a:p>
            <a:pPr marL="742950" lvl="1" indent="-285750" algn="just">
              <a:lnSpc>
                <a:spcPct val="150000"/>
              </a:lnSpc>
              <a:buFont typeface="Wingdings" panose="05000000000000000000" pitchFamily="2" charset="2"/>
              <a:buChar char="p"/>
            </a:pPr>
            <a:r>
              <a:rPr lang="zh-CN" altLang="en-US" sz="2000" b="1" i="0" dirty="0">
                <a:effectLst/>
                <a:latin typeface="微软雅黑" panose="020B0503020204020204" pitchFamily="34" charset="-122"/>
                <a:ea typeface="微软雅黑" panose="020B0503020204020204" pitchFamily="34" charset="-122"/>
              </a:rPr>
              <a:t>动态计算机制</a:t>
            </a:r>
            <a:r>
              <a:rPr lang="zh-CN" altLang="en-US" sz="2000" b="0" i="0" dirty="0">
                <a:effectLst/>
                <a:latin typeface="微软雅黑" panose="020B0503020204020204" pitchFamily="34" charset="-122"/>
                <a:ea typeface="微软雅黑" panose="020B0503020204020204" pitchFamily="34" charset="-122"/>
              </a:rPr>
              <a:t>：前向传播中不存储中间结果，反向传播时重新计算</a:t>
            </a:r>
            <a:endParaRPr lang="zh-CN" altLang="en-US" sz="2000" b="0" i="0" dirty="0">
              <a:effectLst/>
              <a:latin typeface="微软雅黑" panose="020B0503020204020204" pitchFamily="34" charset="-122"/>
              <a:ea typeface="微软雅黑" panose="020B0503020204020204" pitchFamily="34" charset="-122"/>
            </a:endParaRPr>
          </a:p>
          <a:p>
            <a:pPr marL="742950" lvl="1" indent="-285750" algn="just">
              <a:lnSpc>
                <a:spcPct val="150000"/>
              </a:lnSpc>
              <a:buFont typeface="Wingdings" panose="05000000000000000000" pitchFamily="2" charset="2"/>
              <a:buChar char="p"/>
            </a:pPr>
            <a:r>
              <a:rPr lang="zh-CN" altLang="en-US" sz="2000" b="1" i="0" dirty="0">
                <a:effectLst/>
                <a:latin typeface="微软雅黑" panose="020B0503020204020204" pitchFamily="34" charset="-122"/>
                <a:ea typeface="微软雅黑" panose="020B0503020204020204" pitchFamily="34" charset="-122"/>
              </a:rPr>
              <a:t>内存节省效果</a:t>
            </a:r>
            <a:r>
              <a:rPr lang="zh-CN" altLang="en-US" sz="2000" b="0" i="0" dirty="0">
                <a:effectLst/>
                <a:latin typeface="微软雅黑" panose="020B0503020204020204" pitchFamily="34" charset="-122"/>
                <a:ea typeface="微软雅黑" panose="020B0503020204020204" pitchFamily="34" charset="-122"/>
              </a:rPr>
              <a:t>：减少显存占用约</a:t>
            </a:r>
            <a:r>
              <a:rPr lang="en-US" altLang="zh-CN" sz="2000" b="0" i="0" dirty="0">
                <a:effectLst/>
                <a:latin typeface="微软雅黑" panose="020B0503020204020204" pitchFamily="34" charset="-122"/>
                <a:ea typeface="微软雅黑" panose="020B0503020204020204" pitchFamily="34" charset="-122"/>
              </a:rPr>
              <a:t>30%-40%</a:t>
            </a:r>
            <a:endParaRPr lang="en-US" altLang="zh-CN" sz="2000" b="0" i="0" dirty="0">
              <a:effectLst/>
              <a:latin typeface="微软雅黑" panose="020B0503020204020204" pitchFamily="34" charset="-122"/>
              <a:ea typeface="微软雅黑" panose="020B0503020204020204" pitchFamily="34" charset="-122"/>
            </a:endParaRPr>
          </a:p>
          <a:p>
            <a:pPr marL="742950" lvl="1" indent="-285750" algn="just">
              <a:lnSpc>
                <a:spcPct val="150000"/>
              </a:lnSpc>
              <a:buFont typeface="Wingdings" panose="05000000000000000000" pitchFamily="2" charset="2"/>
              <a:buChar char="p"/>
            </a:pPr>
            <a:r>
              <a:rPr lang="zh-CN" altLang="en-US" sz="2000" b="1" i="0" dirty="0">
                <a:effectLst/>
                <a:latin typeface="微软雅黑" panose="020B0503020204020204" pitchFamily="34" charset="-122"/>
                <a:ea typeface="微软雅黑" panose="020B0503020204020204" pitchFamily="34" charset="-122"/>
              </a:rPr>
              <a:t>技术优势</a:t>
            </a:r>
            <a:r>
              <a:rPr lang="zh-CN" altLang="en-US" sz="2000" b="0" i="0" dirty="0">
                <a:effectLst/>
                <a:latin typeface="微软雅黑" panose="020B0503020204020204" pitchFamily="34" charset="-122"/>
                <a:ea typeface="微软雅黑" panose="020B0503020204020204" pitchFamily="34" charset="-122"/>
              </a:rPr>
              <a:t>：在时间与空间效率间取得平衡</a:t>
            </a:r>
            <a:endParaRPr lang="zh-CN" altLang="en-US" sz="2000" b="0" i="0" dirty="0">
              <a:effectLst/>
              <a:latin typeface="微软雅黑" panose="020B0503020204020204" pitchFamily="34" charset="-122"/>
              <a:ea typeface="微软雅黑" panose="020B0503020204020204" pitchFamily="34" charset="-122"/>
            </a:endParaRPr>
          </a:p>
          <a:p>
            <a:pPr algn="just">
              <a:lnSpc>
                <a:spcPct val="150000"/>
              </a:lnSpc>
              <a:spcBef>
                <a:spcPts val="600"/>
              </a:spcBef>
            </a:pPr>
            <a:r>
              <a:rPr lang="zh-CN" altLang="en-US" sz="2400" b="1" i="0" dirty="0">
                <a:effectLst/>
                <a:latin typeface="微软雅黑" panose="020B0503020204020204" pitchFamily="34" charset="-122"/>
                <a:ea typeface="微软雅黑" panose="020B0503020204020204" pitchFamily="34" charset="-122"/>
              </a:rPr>
              <a:t>分层存储设计</a:t>
            </a:r>
            <a:endParaRPr lang="zh-CN" altLang="en-US" sz="2400" b="0" i="0" dirty="0">
              <a:effectLst/>
              <a:latin typeface="微软雅黑" panose="020B0503020204020204" pitchFamily="34" charset="-122"/>
              <a:ea typeface="微软雅黑" panose="020B0503020204020204" pitchFamily="34" charset="-122"/>
            </a:endParaRPr>
          </a:p>
          <a:p>
            <a:pPr marL="742950" lvl="1" indent="-285750" algn="just">
              <a:lnSpc>
                <a:spcPct val="150000"/>
              </a:lnSpc>
              <a:buFont typeface="Wingdings" panose="05000000000000000000" pitchFamily="2" charset="2"/>
              <a:buChar char="p"/>
            </a:pPr>
            <a:r>
              <a:rPr lang="en-US" altLang="zh-CN" sz="2000" b="1" i="0" dirty="0">
                <a:effectLst/>
                <a:latin typeface="微软雅黑" panose="020B0503020204020204" pitchFamily="34" charset="-122"/>
                <a:ea typeface="微软雅黑" panose="020B0503020204020204" pitchFamily="34" charset="-122"/>
              </a:rPr>
              <a:t>CPU-GPU</a:t>
            </a:r>
            <a:r>
              <a:rPr lang="zh-CN" altLang="en-US" sz="2000" b="1" i="0" dirty="0">
                <a:effectLst/>
                <a:latin typeface="微软雅黑" panose="020B0503020204020204" pitchFamily="34" charset="-122"/>
                <a:ea typeface="微软雅黑" panose="020B0503020204020204" pitchFamily="34" charset="-122"/>
              </a:rPr>
              <a:t>混合存储</a:t>
            </a:r>
            <a:r>
              <a:rPr lang="zh-CN" altLang="en-US" sz="2000" b="0" i="0" dirty="0">
                <a:effectLst/>
                <a:latin typeface="微软雅黑" panose="020B0503020204020204" pitchFamily="34" charset="-122"/>
                <a:ea typeface="微软雅黑" panose="020B0503020204020204" pitchFamily="34" charset="-122"/>
              </a:rPr>
              <a:t>：</a:t>
            </a:r>
            <a:endParaRPr lang="zh-CN" altLang="en-US" sz="2000" b="0" i="0" dirty="0">
              <a:effectLst/>
              <a:latin typeface="微软雅黑" panose="020B0503020204020204" pitchFamily="34" charset="-122"/>
              <a:ea typeface="微软雅黑" panose="020B0503020204020204" pitchFamily="34" charset="-122"/>
            </a:endParaRPr>
          </a:p>
          <a:p>
            <a:pPr marL="1200150" lvl="2" indent="-285750" algn="just">
              <a:lnSpc>
                <a:spcPct val="150000"/>
              </a:lnSpc>
              <a:buFont typeface="Wingdings" panose="05000000000000000000" pitchFamily="2" charset="2"/>
              <a:buChar char="ü"/>
            </a:pPr>
            <a:r>
              <a:rPr lang="zh-CN" altLang="en-US" sz="2000" b="0" i="0" dirty="0">
                <a:effectLst/>
                <a:latin typeface="微软雅黑" panose="020B0503020204020204" pitchFamily="34" charset="-122"/>
                <a:ea typeface="微软雅黑" panose="020B0503020204020204" pitchFamily="34" charset="-122"/>
              </a:rPr>
              <a:t>模型参数的指数移动平均（</a:t>
            </a:r>
            <a:r>
              <a:rPr lang="en-US" altLang="zh-CN" sz="2000" b="0" i="0" dirty="0">
                <a:effectLst/>
                <a:latin typeface="微软雅黑" panose="020B0503020204020204" pitchFamily="34" charset="-122"/>
                <a:ea typeface="微软雅黑" panose="020B0503020204020204" pitchFamily="34" charset="-122"/>
              </a:rPr>
              <a:t>EMA</a:t>
            </a:r>
            <a:r>
              <a:rPr lang="zh-CN" altLang="en-US" sz="2000" b="0" i="0" dirty="0">
                <a:effectLst/>
                <a:latin typeface="微软雅黑" panose="020B0503020204020204" pitchFamily="34" charset="-122"/>
                <a:ea typeface="微软雅黑" panose="020B0503020204020204" pitchFamily="34" charset="-122"/>
              </a:rPr>
              <a:t>）存储至</a:t>
            </a:r>
            <a:r>
              <a:rPr lang="en-US" altLang="zh-CN" sz="2000" b="0" i="0" dirty="0">
                <a:effectLst/>
                <a:latin typeface="微软雅黑" panose="020B0503020204020204" pitchFamily="34" charset="-122"/>
                <a:ea typeface="微软雅黑" panose="020B0503020204020204" pitchFamily="34" charset="-122"/>
              </a:rPr>
              <a:t>CPU</a:t>
            </a:r>
            <a:r>
              <a:rPr lang="zh-CN" altLang="en-US" sz="2000" b="0" i="0" dirty="0">
                <a:effectLst/>
                <a:latin typeface="微软雅黑" panose="020B0503020204020204" pitchFamily="34" charset="-122"/>
                <a:ea typeface="微软雅黑" panose="020B0503020204020204" pitchFamily="34" charset="-122"/>
              </a:rPr>
              <a:t>内存</a:t>
            </a:r>
            <a:endParaRPr lang="zh-CN" altLang="en-US" sz="2000" b="0" i="0" dirty="0">
              <a:effectLst/>
              <a:latin typeface="微软雅黑" panose="020B0503020204020204" pitchFamily="34" charset="-122"/>
              <a:ea typeface="微软雅黑" panose="020B0503020204020204" pitchFamily="34" charset="-122"/>
            </a:endParaRPr>
          </a:p>
          <a:p>
            <a:pPr marL="1200150" lvl="2" indent="-285750" algn="just">
              <a:lnSpc>
                <a:spcPct val="150000"/>
              </a:lnSpc>
              <a:buFont typeface="Wingdings" panose="05000000000000000000" pitchFamily="2" charset="2"/>
              <a:buChar char="ü"/>
            </a:pPr>
            <a:r>
              <a:rPr lang="zh-CN" altLang="en-US" sz="2000" b="0" i="0" dirty="0">
                <a:effectLst/>
                <a:latin typeface="微软雅黑" panose="020B0503020204020204" pitchFamily="34" charset="-122"/>
                <a:ea typeface="微软雅黑" panose="020B0503020204020204" pitchFamily="34" charset="-122"/>
              </a:rPr>
              <a:t>高频访问数据保留在</a:t>
            </a:r>
            <a:r>
              <a:rPr lang="en-US" altLang="zh-CN" sz="2000" b="0" i="0" dirty="0">
                <a:effectLst/>
                <a:latin typeface="微软雅黑" panose="020B0503020204020204" pitchFamily="34" charset="-122"/>
                <a:ea typeface="微软雅黑" panose="020B0503020204020204" pitchFamily="34" charset="-122"/>
              </a:rPr>
              <a:t>GPU</a:t>
            </a:r>
            <a:r>
              <a:rPr lang="zh-CN" altLang="en-US" sz="2000" b="0" i="0" dirty="0">
                <a:effectLst/>
                <a:latin typeface="微软雅黑" panose="020B0503020204020204" pitchFamily="34" charset="-122"/>
                <a:ea typeface="微软雅黑" panose="020B0503020204020204" pitchFamily="34" charset="-122"/>
              </a:rPr>
              <a:t>显存</a:t>
            </a:r>
            <a:endParaRPr lang="zh-CN" altLang="en-US" sz="2000" b="0" i="0" dirty="0">
              <a:effectLst/>
              <a:latin typeface="微软雅黑" panose="020B0503020204020204" pitchFamily="34" charset="-122"/>
              <a:ea typeface="微软雅黑" panose="020B0503020204020204" pitchFamily="34" charset="-122"/>
            </a:endParaRPr>
          </a:p>
          <a:p>
            <a:pPr marL="742950" lvl="1" indent="-285750" algn="just">
              <a:lnSpc>
                <a:spcPct val="150000"/>
              </a:lnSpc>
              <a:buFont typeface="Wingdings" panose="05000000000000000000" pitchFamily="2" charset="2"/>
              <a:buChar char="p"/>
            </a:pPr>
            <a:r>
              <a:rPr lang="zh-CN" altLang="en-US" sz="2000" b="1" i="0" dirty="0">
                <a:effectLst/>
                <a:latin typeface="微软雅黑" panose="020B0503020204020204" pitchFamily="34" charset="-122"/>
                <a:ea typeface="微软雅黑" panose="020B0503020204020204" pitchFamily="34" charset="-122"/>
              </a:rPr>
              <a:t>显存释放效果</a:t>
            </a:r>
            <a:r>
              <a:rPr lang="zh-CN" altLang="en-US" sz="2000" b="0" i="0" dirty="0">
                <a:effectLst/>
                <a:latin typeface="微软雅黑" panose="020B0503020204020204" pitchFamily="34" charset="-122"/>
                <a:ea typeface="微软雅黑" panose="020B0503020204020204" pitchFamily="34" charset="-122"/>
              </a:rPr>
              <a:t>：降低</a:t>
            </a:r>
            <a:r>
              <a:rPr lang="en-US" altLang="zh-CN" sz="2000" b="0" i="0" dirty="0">
                <a:effectLst/>
                <a:latin typeface="微软雅黑" panose="020B0503020204020204" pitchFamily="34" charset="-122"/>
                <a:ea typeface="微软雅黑" panose="020B0503020204020204" pitchFamily="34" charset="-122"/>
              </a:rPr>
              <a:t>GPU</a:t>
            </a:r>
            <a:r>
              <a:rPr lang="zh-CN" altLang="en-US" sz="2000" b="0" i="0" dirty="0">
                <a:effectLst/>
                <a:latin typeface="微软雅黑" panose="020B0503020204020204" pitchFamily="34" charset="-122"/>
                <a:ea typeface="微软雅黑" panose="020B0503020204020204" pitchFamily="34" charset="-122"/>
              </a:rPr>
              <a:t>显存压力约</a:t>
            </a:r>
            <a:r>
              <a:rPr lang="en-US" altLang="zh-CN" sz="2000" b="0" i="0" dirty="0">
                <a:effectLst/>
                <a:latin typeface="微软雅黑" panose="020B0503020204020204" pitchFamily="34" charset="-122"/>
                <a:ea typeface="微软雅黑" panose="020B0503020204020204" pitchFamily="34" charset="-122"/>
              </a:rPr>
              <a:t>20%</a:t>
            </a:r>
            <a:endParaRPr lang="en-US" altLang="zh-CN" sz="2000" b="0" i="0" dirty="0">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文本框 28"/>
          <p:cNvSpPr txBox="1"/>
          <p:nvPr/>
        </p:nvSpPr>
        <p:spPr>
          <a:xfrm>
            <a:off x="619492" y="51758"/>
            <a:ext cx="9958738"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内存优化</a:t>
            </a:r>
            <a:endParaRPr kumimoji="1" lang="zh-CN" alt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grpSp>
        <p:nvGrpSpPr>
          <p:cNvPr id="7" name="组合 6"/>
          <p:cNvGrpSpPr/>
          <p:nvPr/>
        </p:nvGrpSpPr>
        <p:grpSpPr>
          <a:xfrm>
            <a:off x="2507665" y="3081207"/>
            <a:ext cx="7176670" cy="3222820"/>
            <a:chOff x="2507665" y="2534979"/>
            <a:chExt cx="7176670" cy="3222820"/>
          </a:xfrm>
        </p:grpSpPr>
        <p:pic>
          <p:nvPicPr>
            <p:cNvPr id="2" name="图片 1"/>
            <p:cNvPicPr>
              <a:picLocks noChangeAspect="1"/>
            </p:cNvPicPr>
            <p:nvPr/>
          </p:nvPicPr>
          <p:blipFill>
            <a:blip r:embed="rId1"/>
            <a:stretch>
              <a:fillRect/>
            </a:stretch>
          </p:blipFill>
          <p:spPr>
            <a:xfrm>
              <a:off x="2507665" y="2534979"/>
              <a:ext cx="7176670" cy="3222820"/>
            </a:xfrm>
            <a:prstGeom prst="rect">
              <a:avLst/>
            </a:prstGeom>
          </p:spPr>
        </p:pic>
        <p:sp>
          <p:nvSpPr>
            <p:cNvPr id="3" name="圆角矩形 2"/>
            <p:cNvSpPr/>
            <p:nvPr/>
          </p:nvSpPr>
          <p:spPr>
            <a:xfrm>
              <a:off x="3191317" y="3578877"/>
              <a:ext cx="5964794" cy="254336"/>
            </a:xfrm>
            <a:prstGeom prst="roundRect">
              <a:avLst/>
            </a:prstGeom>
            <a:noFill/>
            <a:ln w="254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 name="圆角矩形 4"/>
            <p:cNvSpPr/>
            <p:nvPr/>
          </p:nvSpPr>
          <p:spPr>
            <a:xfrm>
              <a:off x="3191317" y="5077477"/>
              <a:ext cx="5964794" cy="254336"/>
            </a:xfrm>
            <a:prstGeom prst="roundRect">
              <a:avLst/>
            </a:prstGeom>
            <a:noFill/>
            <a:ln w="254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sp>
        <p:nvSpPr>
          <p:cNvPr id="6" name="文本框 5"/>
          <p:cNvSpPr txBox="1"/>
          <p:nvPr/>
        </p:nvSpPr>
        <p:spPr>
          <a:xfrm>
            <a:off x="8200393" y="3984848"/>
            <a:ext cx="3278740" cy="46416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800100" lvl="1" indent="-342900" algn="ctr">
              <a:lnSpc>
                <a:spcPct val="150000"/>
              </a:lnSpc>
              <a:buFont typeface="Arial" panose="020B0604020202090204" pitchFamily="34" charset="0"/>
              <a:buChar char="•"/>
              <a:defRPr sz="2400" b="1"/>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ctr" defTabSz="914400" rtl="0" eaLnBrk="1" fontAlgn="auto" latinLnBrk="0" hangingPunct="1">
              <a:lnSpc>
                <a:spcPct val="150000"/>
              </a:lnSpc>
              <a:spcBef>
                <a:spcPts val="0"/>
              </a:spcBef>
              <a:spcAft>
                <a:spcPts val="0"/>
              </a:spcAft>
              <a:buClrTx/>
              <a:buSzTx/>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参数共享</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8" name="文本框 7"/>
          <p:cNvSpPr txBox="1"/>
          <p:nvPr/>
        </p:nvSpPr>
        <p:spPr>
          <a:xfrm>
            <a:off x="712866" y="841384"/>
            <a:ext cx="10766267" cy="2169312"/>
          </a:xfrm>
          <a:prstGeom prst="rect">
            <a:avLst/>
          </a:prstGeom>
          <a:noFill/>
        </p:spPr>
        <p:txBody>
          <a:bodyPr wrap="square">
            <a:spAutoFit/>
          </a:bodyPr>
          <a:lstStyle/>
          <a:p>
            <a:pPr algn="l">
              <a:lnSpc>
                <a:spcPct val="150000"/>
              </a:lnSpc>
              <a:spcBef>
                <a:spcPts val="300"/>
              </a:spcBef>
              <a:spcAft>
                <a:spcPts val="300"/>
              </a:spcAft>
            </a:pPr>
            <a:r>
              <a:rPr lang="en-US" altLang="zh-CN" sz="2400" b="1" i="0" dirty="0">
                <a:effectLst/>
                <a:latin typeface="微软雅黑" panose="020B0503020204020204" pitchFamily="34" charset="-122"/>
                <a:ea typeface="微软雅黑" panose="020B0503020204020204" pitchFamily="34" charset="-122"/>
              </a:rPr>
              <a:t>MTP</a:t>
            </a:r>
            <a:r>
              <a:rPr lang="zh-CN" altLang="en-US" sz="2400" b="1" i="0" dirty="0">
                <a:effectLst/>
                <a:latin typeface="微软雅黑" panose="020B0503020204020204" pitchFamily="34" charset="-122"/>
                <a:ea typeface="微软雅黑" panose="020B0503020204020204" pitchFamily="34" charset="-122"/>
              </a:rPr>
              <a:t>精度优化机制</a:t>
            </a:r>
            <a:endParaRPr lang="zh-CN" altLang="en-US" sz="2400" b="0" i="0" dirty="0">
              <a:effectLst/>
              <a:latin typeface="微软雅黑" panose="020B0503020204020204" pitchFamily="34" charset="-122"/>
              <a:ea typeface="微软雅黑" panose="020B0503020204020204" pitchFamily="34" charset="-122"/>
            </a:endParaRPr>
          </a:p>
          <a:p>
            <a:pPr marL="742950" lvl="1" indent="-285750" algn="l">
              <a:lnSpc>
                <a:spcPct val="150000"/>
              </a:lnSpc>
              <a:spcBef>
                <a:spcPts val="300"/>
              </a:spcBef>
              <a:spcAft>
                <a:spcPts val="300"/>
              </a:spcAft>
              <a:buFont typeface="Wingdings" panose="05000000000000000000" pitchFamily="2" charset="2"/>
              <a:buChar char="p"/>
            </a:pPr>
            <a:r>
              <a:rPr lang="zh-CN" altLang="en-US" sz="2000" b="1" i="0" dirty="0">
                <a:effectLst/>
                <a:latin typeface="微软雅黑" panose="020B0503020204020204" pitchFamily="34" charset="-122"/>
                <a:ea typeface="微软雅黑" panose="020B0503020204020204" pitchFamily="34" charset="-122"/>
              </a:rPr>
              <a:t>参数共享架构</a:t>
            </a:r>
            <a:r>
              <a:rPr lang="zh-CN" altLang="en-US" sz="2000" b="0" i="0" dirty="0">
                <a:effectLst/>
                <a:latin typeface="微软雅黑" panose="020B0503020204020204" pitchFamily="34" charset="-122"/>
                <a:ea typeface="微软雅黑" panose="020B0503020204020204" pitchFamily="34" charset="-122"/>
              </a:rPr>
              <a:t>：</a:t>
            </a:r>
            <a:endParaRPr lang="zh-CN" altLang="en-US" sz="2000" b="0" i="0" dirty="0">
              <a:effectLst/>
              <a:latin typeface="微软雅黑" panose="020B0503020204020204" pitchFamily="34" charset="-122"/>
              <a:ea typeface="微软雅黑" panose="020B0503020204020204" pitchFamily="34" charset="-122"/>
            </a:endParaRPr>
          </a:p>
          <a:p>
            <a:pPr marL="1200150" lvl="2" indent="-285750" algn="l">
              <a:lnSpc>
                <a:spcPct val="150000"/>
              </a:lnSpc>
              <a:spcBef>
                <a:spcPts val="300"/>
              </a:spcBef>
              <a:buFont typeface="Wingdings" panose="05000000000000000000" pitchFamily="2" charset="2"/>
              <a:buChar char="ü"/>
            </a:pPr>
            <a:r>
              <a:rPr lang="zh-CN" altLang="en-US" sz="2000" b="0" i="0" dirty="0">
                <a:effectLst/>
                <a:latin typeface="微软雅黑" panose="020B0503020204020204" pitchFamily="34" charset="-122"/>
                <a:ea typeface="微软雅黑" panose="020B0503020204020204" pitchFamily="34" charset="-122"/>
              </a:rPr>
              <a:t>主模型与</a:t>
            </a:r>
            <a:r>
              <a:rPr lang="en-US" altLang="zh-CN" sz="2000" b="0" i="0" dirty="0">
                <a:effectLst/>
                <a:latin typeface="微软雅黑" panose="020B0503020204020204" pitchFamily="34" charset="-122"/>
                <a:ea typeface="微软雅黑" panose="020B0503020204020204" pitchFamily="34" charset="-122"/>
              </a:rPr>
              <a:t>MTP</a:t>
            </a:r>
            <a:r>
              <a:rPr lang="zh-CN" altLang="en-US" sz="2000" b="0" i="0" dirty="0">
                <a:effectLst/>
                <a:latin typeface="微软雅黑" panose="020B0503020204020204" pitchFamily="34" charset="-122"/>
                <a:ea typeface="微软雅黑" panose="020B0503020204020204" pitchFamily="34" charset="-122"/>
              </a:rPr>
              <a:t>模块的</a:t>
            </a:r>
            <a:r>
              <a:rPr lang="en-US" altLang="zh-CN" sz="2000" b="0" i="0" dirty="0">
                <a:effectLst/>
                <a:latin typeface="微软雅黑" panose="020B0503020204020204" pitchFamily="34" charset="-122"/>
                <a:ea typeface="微软雅黑" panose="020B0503020204020204" pitchFamily="34" charset="-122"/>
              </a:rPr>
              <a:t>Output Head</a:t>
            </a:r>
            <a:r>
              <a:rPr lang="zh-CN" altLang="en-US" sz="2000" b="0" i="0" dirty="0">
                <a:effectLst/>
                <a:latin typeface="微软雅黑" panose="020B0503020204020204" pitchFamily="34" charset="-122"/>
                <a:ea typeface="微软雅黑" panose="020B0503020204020204" pitchFamily="34" charset="-122"/>
              </a:rPr>
              <a:t>、</a:t>
            </a:r>
            <a:r>
              <a:rPr lang="en-US" altLang="zh-CN" sz="2000" b="0" i="0" dirty="0">
                <a:effectLst/>
                <a:latin typeface="微软雅黑" panose="020B0503020204020204" pitchFamily="34" charset="-122"/>
                <a:ea typeface="微软雅黑" panose="020B0503020204020204" pitchFamily="34" charset="-122"/>
              </a:rPr>
              <a:t>Embedding</a:t>
            </a:r>
            <a:r>
              <a:rPr lang="zh-CN" altLang="en-US" sz="2000" b="0" i="0" dirty="0">
                <a:effectLst/>
                <a:latin typeface="微软雅黑" panose="020B0503020204020204" pitchFamily="34" charset="-122"/>
                <a:ea typeface="微软雅黑" panose="020B0503020204020204" pitchFamily="34" charset="-122"/>
              </a:rPr>
              <a:t>层部署在同一节点</a:t>
            </a:r>
            <a:endParaRPr lang="zh-CN" altLang="en-US" sz="2000" b="0" i="0" dirty="0">
              <a:effectLst/>
              <a:latin typeface="微软雅黑" panose="020B0503020204020204" pitchFamily="34" charset="-122"/>
              <a:ea typeface="微软雅黑" panose="020B0503020204020204" pitchFamily="34" charset="-122"/>
            </a:endParaRPr>
          </a:p>
          <a:p>
            <a:pPr marL="1200150" lvl="2" indent="-285750" algn="l">
              <a:lnSpc>
                <a:spcPct val="150000"/>
              </a:lnSpc>
              <a:spcBef>
                <a:spcPts val="300"/>
              </a:spcBef>
              <a:buFont typeface="Wingdings" panose="05000000000000000000" pitchFamily="2" charset="2"/>
              <a:buChar char="ü"/>
            </a:pPr>
            <a:r>
              <a:rPr lang="zh-CN" altLang="en-US" sz="2000" b="0" i="0" dirty="0">
                <a:effectLst/>
                <a:latin typeface="微软雅黑" panose="020B0503020204020204" pitchFamily="34" charset="-122"/>
                <a:ea typeface="微软雅黑" panose="020B0503020204020204" pitchFamily="34" charset="-122"/>
              </a:rPr>
              <a:t>实现参数共享与梯度聚合</a:t>
            </a:r>
            <a:endParaRPr lang="zh-CN" altLang="en-US" sz="2000" b="0" i="0" dirty="0">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066421" y="3113111"/>
            <a:ext cx="6059170" cy="1106805"/>
          </a:xfrm>
          <a:prstGeom prst="rect">
            <a:avLst/>
          </a:prstGeom>
          <a:noFill/>
        </p:spPr>
        <p:txBody>
          <a:bodyPr wrap="none" rtlCol="0">
            <a:spAutoFit/>
          </a:bodyPr>
          <a:lstStyle>
            <a:defPPr>
              <a:defRPr lang="zh-CN"/>
            </a:defPPr>
            <a:lvl1pPr>
              <a:spcAft>
                <a:spcPts val="2400"/>
              </a:spcAft>
              <a:defRPr sz="5400" b="1">
                <a:latin typeface="微软雅黑" panose="020B0503020204020204" pitchFamily="34" charset="-122"/>
                <a:ea typeface="微软雅黑" panose="020B0503020204020204" pitchFamily="34" charset="-122"/>
              </a:defRPr>
            </a:lvl1pPr>
          </a:lstStyle>
          <a:p>
            <a:pPr algn="ctr"/>
            <a:r>
              <a:rPr lang="zh-CN" altLang="en-US" sz="6600" dirty="0"/>
              <a:t>计算创新</a:t>
            </a:r>
            <a:r>
              <a:rPr lang="zh-CN" altLang="en-US" sz="6600" dirty="0"/>
              <a:t>与优化</a:t>
            </a:r>
            <a:endParaRPr lang="en-US" altLang="zh-CN" sz="6600" dirty="0"/>
          </a:p>
        </p:txBody>
      </p:sp>
      <p:pic>
        <p:nvPicPr>
          <p:cNvPr id="3" name="图片 2"/>
          <p:cNvPicPr>
            <a:picLocks noChangeAspect="1"/>
          </p:cNvPicPr>
          <p:nvPr/>
        </p:nvPicPr>
        <p:blipFill rotWithShape="1">
          <a:blip r:embed="rId1"/>
          <a:srcRect l="59344" t="28824" b="47273"/>
          <a:stretch>
            <a:fillRect/>
          </a:stretch>
        </p:blipFill>
        <p:spPr>
          <a:xfrm>
            <a:off x="4204116" y="1426747"/>
            <a:ext cx="3783767" cy="1210147"/>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433353" y="706096"/>
            <a:ext cx="4547722" cy="492384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800100" lvl="1" indent="-342900" algn="ctr">
              <a:lnSpc>
                <a:spcPct val="150000"/>
              </a:lnSpc>
              <a:buFont typeface="Arial" panose="020B0604020202090204" pitchFamily="34" charset="0"/>
              <a:buChar char="•"/>
              <a:defRPr sz="2400" b="1"/>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nSpc>
                <a:spcPct val="200000"/>
              </a:lnSpc>
              <a:buFont typeface="Wingdings" panose="05000000000000000000" pitchFamily="2" charset="2"/>
              <a:buChar char="Ø"/>
              <a:defRPr/>
            </a:pPr>
            <a:r>
              <a:rPr lang="zh-CN" altLang="en-US" sz="2400" dirty="0">
                <a:solidFill>
                  <a:srgbClr val="191B1F"/>
                </a:solidFill>
                <a:effectLst/>
                <a:latin typeface="微软雅黑" panose="020B0503020204020204" pitchFamily="34" charset="-122"/>
                <a:ea typeface="微软雅黑" panose="020B0503020204020204" pitchFamily="34" charset="-122"/>
              </a:rPr>
              <a:t>通常的大模型训练：</a:t>
            </a:r>
            <a:r>
              <a:rPr lang="en-US" altLang="zh-CN" sz="2400" dirty="0">
                <a:solidFill>
                  <a:srgbClr val="191B1F"/>
                </a:solidFill>
                <a:effectLst/>
                <a:latin typeface="微软雅黑" panose="020B0503020204020204" pitchFamily="34" charset="-122"/>
                <a:ea typeface="微软雅黑" panose="020B0503020204020204" pitchFamily="34" charset="-122"/>
              </a:rPr>
              <a:t>BF16</a:t>
            </a:r>
            <a:r>
              <a:rPr lang="zh-CN" altLang="en-US" sz="2400" dirty="0">
                <a:solidFill>
                  <a:srgbClr val="191B1F"/>
                </a:solidFill>
                <a:effectLst/>
                <a:latin typeface="微软雅黑" panose="020B0503020204020204" pitchFamily="34" charset="-122"/>
                <a:ea typeface="微软雅黑" panose="020B0503020204020204" pitchFamily="34" charset="-122"/>
              </a:rPr>
              <a:t> 或 </a:t>
            </a:r>
            <a:r>
              <a:rPr lang="en-US" altLang="zh-CN" sz="2400" dirty="0">
                <a:solidFill>
                  <a:srgbClr val="191B1F"/>
                </a:solidFill>
                <a:effectLst/>
                <a:latin typeface="微软雅黑" panose="020B0503020204020204" pitchFamily="34" charset="-122"/>
                <a:ea typeface="微软雅黑" panose="020B0503020204020204" pitchFamily="34" charset="-122"/>
              </a:rPr>
              <a:t>FP32</a:t>
            </a:r>
            <a:endParaRPr lang="en-US" altLang="zh-CN" sz="2400" dirty="0">
              <a:solidFill>
                <a:srgbClr val="191B1F"/>
              </a:solidFill>
              <a:effectLst/>
              <a:latin typeface="微软雅黑" panose="020B0503020204020204" pitchFamily="34" charset="-122"/>
              <a:ea typeface="微软雅黑" panose="020B0503020204020204" pitchFamily="34" charset="-122"/>
            </a:endParaRPr>
          </a:p>
          <a:p>
            <a:pPr marL="342900" indent="-342900">
              <a:lnSpc>
                <a:spcPct val="200000"/>
              </a:lnSpc>
              <a:buFont typeface="Wingdings" panose="05000000000000000000" pitchFamily="2" charset="2"/>
              <a:buChar char="Ø"/>
              <a:defRPr/>
            </a:pPr>
            <a:r>
              <a:rPr lang="en-US" altLang="zh-CN" sz="2400" dirty="0">
                <a:solidFill>
                  <a:srgbClr val="191B1F"/>
                </a:solidFill>
                <a:latin typeface="微软雅黑" panose="020B0503020204020204" pitchFamily="34" charset="-122"/>
                <a:ea typeface="微软雅黑" panose="020B0503020204020204" pitchFamily="34" charset="-122"/>
              </a:rPr>
              <a:t>FP8</a:t>
            </a:r>
            <a:r>
              <a:rPr lang="zh-CN" altLang="en-US" sz="2400" dirty="0">
                <a:solidFill>
                  <a:srgbClr val="191B1F"/>
                </a:solidFill>
                <a:latin typeface="微软雅黑" panose="020B0503020204020204" pitchFamily="34" charset="-122"/>
                <a:ea typeface="微软雅黑" panose="020B0503020204020204" pitchFamily="34" charset="-122"/>
              </a:rPr>
              <a:t>：速度快，省内存，但精度低，易失败</a:t>
            </a:r>
            <a:endParaRPr lang="zh-CN" altLang="en-US" sz="2400" dirty="0">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Ø"/>
              <a:defRPr/>
            </a:pP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DeepSeek</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混合精度框架</a:t>
            </a:r>
            <a:endPar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685800" indent="-342900">
              <a:lnSpc>
                <a:spcPct val="200000"/>
              </a:lnSpc>
              <a:buFont typeface="Arial" panose="020B0604020202090204" pitchFamily="34" charset="0"/>
              <a:buChar char="•"/>
              <a:defRPr/>
            </a:pPr>
            <a:r>
              <a:rPr lang="zh-CN" altLang="en-US" sz="2000" dirty="0">
                <a:solidFill>
                  <a:srgbClr val="262626"/>
                </a:solidFill>
                <a:effectLst/>
                <a:latin typeface="微软雅黑" panose="020B0503020204020204" pitchFamily="34" charset="-122"/>
                <a:ea typeface="微软雅黑" panose="020B0503020204020204" pitchFamily="34" charset="-122"/>
              </a:rPr>
              <a:t>训练过程：</a:t>
            </a:r>
            <a:r>
              <a:rPr lang="en-US" altLang="zh-CN" sz="2000" dirty="0">
                <a:solidFill>
                  <a:srgbClr val="262626"/>
                </a:solidFill>
                <a:effectLst/>
                <a:latin typeface="微软雅黑" panose="020B0503020204020204" pitchFamily="34" charset="-122"/>
                <a:ea typeface="微软雅黑" panose="020B0503020204020204" pitchFamily="34" charset="-122"/>
              </a:rPr>
              <a:t>FP8</a:t>
            </a:r>
            <a:endParaRPr lang="zh-CN" altLang="en-US" sz="2000" dirty="0">
              <a:latin typeface="微软雅黑" panose="020B0503020204020204" pitchFamily="34" charset="-122"/>
              <a:ea typeface="微软雅黑" panose="020B0503020204020204" pitchFamily="34" charset="-122"/>
            </a:endParaRPr>
          </a:p>
          <a:p>
            <a:pPr marL="685800" indent="-342900">
              <a:lnSpc>
                <a:spcPct val="200000"/>
              </a:lnSpc>
              <a:buFont typeface="Arial" panose="020B0604020202090204" pitchFamily="34" charset="0"/>
              <a:buChar char="•"/>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输出结果：</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BF16</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 </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 </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FP32</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9" name="文本框 28"/>
          <p:cNvSpPr txBox="1"/>
          <p:nvPr/>
        </p:nvSpPr>
        <p:spPr>
          <a:xfrm>
            <a:off x="619492" y="51758"/>
            <a:ext cx="9958738"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3200" b="1" dirty="0">
                <a:solidFill>
                  <a:prstClr val="white"/>
                </a:solidFill>
                <a:latin typeface="微软雅黑" panose="020B0503020204020204" pitchFamily="34" charset="-122"/>
                <a:ea typeface="微软雅黑" panose="020B0503020204020204" pitchFamily="34" charset="-122"/>
              </a:rPr>
              <a:t>计算</a:t>
            </a:r>
            <a:r>
              <a:rPr kumimoji="1" lang="zh-CN" alt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优化</a:t>
            </a:r>
            <a:endParaRPr kumimoji="1" lang="zh-CN" alt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1"/>
          <a:srcRect t="22714"/>
          <a:stretch>
            <a:fillRect/>
          </a:stretch>
        </p:blipFill>
        <p:spPr>
          <a:xfrm>
            <a:off x="5306321" y="1106795"/>
            <a:ext cx="6035448" cy="1925053"/>
          </a:xfrm>
          <a:prstGeom prst="rect">
            <a:avLst/>
          </a:prstGeom>
        </p:spPr>
      </p:pic>
      <p:pic>
        <p:nvPicPr>
          <p:cNvPr id="5" name="图片 4"/>
          <p:cNvPicPr>
            <a:picLocks noChangeAspect="1"/>
          </p:cNvPicPr>
          <p:nvPr/>
        </p:nvPicPr>
        <p:blipFill>
          <a:blip r:embed="rId2"/>
          <a:stretch>
            <a:fillRect/>
          </a:stretch>
        </p:blipFill>
        <p:spPr>
          <a:xfrm>
            <a:off x="5306320" y="3643921"/>
            <a:ext cx="6666527" cy="1925053"/>
          </a:xfrm>
          <a:prstGeom prst="rect">
            <a:avLst/>
          </a:prstGeom>
        </p:spPr>
      </p:pic>
      <p:sp>
        <p:nvSpPr>
          <p:cNvPr id="7" name="文本框 6"/>
          <p:cNvSpPr txBox="1"/>
          <p:nvPr/>
        </p:nvSpPr>
        <p:spPr>
          <a:xfrm>
            <a:off x="6684675" y="5629944"/>
            <a:ext cx="3278740" cy="46416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800100" lvl="1" indent="-342900" algn="ctr">
              <a:lnSpc>
                <a:spcPct val="150000"/>
              </a:lnSpc>
              <a:buFont typeface="Arial" panose="020B0604020202090204" pitchFamily="34" charset="0"/>
              <a:buChar char="•"/>
              <a:defRPr sz="2400" b="1"/>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ctr" defTabSz="914400" rtl="0" eaLnBrk="1" fontAlgn="auto" latinLnBrk="0" hangingPunct="1">
              <a:lnSpc>
                <a:spcPct val="150000"/>
              </a:lnSpc>
              <a:spcBef>
                <a:spcPts val="0"/>
              </a:spcBef>
              <a:spcAft>
                <a:spcPts val="0"/>
              </a:spcAft>
              <a:buClrTx/>
              <a:buSzTx/>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DeepSeek</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的混合精度框架</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8" name="文本框 7"/>
          <p:cNvSpPr txBox="1"/>
          <p:nvPr/>
        </p:nvSpPr>
        <p:spPr>
          <a:xfrm>
            <a:off x="6684675" y="3019504"/>
            <a:ext cx="3278740" cy="46416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800100" lvl="1" indent="-342900" algn="ctr">
              <a:lnSpc>
                <a:spcPct val="150000"/>
              </a:lnSpc>
              <a:buFont typeface="Arial" panose="020B0604020202090204" pitchFamily="34" charset="0"/>
              <a:buChar char="•"/>
              <a:defRPr sz="2400" b="1"/>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ctr" defTabSz="914400" rtl="0" eaLnBrk="1" fontAlgn="auto" latinLnBrk="0" hangingPunct="1">
              <a:lnSpc>
                <a:spcPct val="150000"/>
              </a:lnSpc>
              <a:spcBef>
                <a:spcPts val="0"/>
              </a:spcBef>
              <a:spcAft>
                <a:spcPts val="0"/>
              </a:spcAft>
              <a:buClrTx/>
              <a:buSzTx/>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不同数据格式对比</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5598861" y="1806386"/>
            <a:ext cx="6498057" cy="3245228"/>
          </a:xfrm>
          <a:prstGeom prst="rect">
            <a:avLst/>
          </a:prstGeom>
        </p:spPr>
      </p:pic>
      <p:sp>
        <p:nvSpPr>
          <p:cNvPr id="13" name="文本框 12"/>
          <p:cNvSpPr txBox="1"/>
          <p:nvPr/>
        </p:nvSpPr>
        <p:spPr>
          <a:xfrm>
            <a:off x="493508" y="720854"/>
            <a:ext cx="5438059" cy="541629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800100" lvl="1" indent="-342900" algn="ctr">
              <a:lnSpc>
                <a:spcPct val="150000"/>
              </a:lnSpc>
              <a:buFont typeface="Arial" panose="020B0604020202090204" pitchFamily="34" charset="0"/>
              <a:buChar char="•"/>
              <a:defRPr sz="2400" b="1"/>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nSpc>
                <a:spcPct val="200000"/>
              </a:lnSpc>
              <a:buFont typeface="Wingdings" panose="05000000000000000000" pitchFamily="2" charset="2"/>
              <a:buChar char="Ø"/>
              <a:defRPr/>
            </a:pPr>
            <a:r>
              <a:rPr lang="zh-CN" altLang="en-US" sz="2400" dirty="0">
                <a:latin typeface="微软雅黑" panose="020B0503020204020204" pitchFamily="34" charset="-122"/>
                <a:ea typeface="微软雅黑" panose="020B0503020204020204" pitchFamily="34" charset="-122"/>
              </a:rPr>
              <a:t>细粒度量化：分块定制压缩方案</a:t>
            </a:r>
            <a:endParaRPr lang="en-US" altLang="zh-CN" sz="2400" dirty="0">
              <a:latin typeface="微软雅黑" panose="020B0503020204020204" pitchFamily="34" charset="-122"/>
              <a:ea typeface="微软雅黑" panose="020B0503020204020204" pitchFamily="34" charset="-122"/>
            </a:endParaRPr>
          </a:p>
          <a:p>
            <a:pPr marL="685800" indent="-342900">
              <a:lnSpc>
                <a:spcPct val="200000"/>
              </a:lnSpc>
              <a:buFont typeface="Arial" panose="020B0604020202090204" pitchFamily="34" charset="0"/>
              <a:buChar char="•"/>
              <a:defRPr/>
            </a:pPr>
            <a:r>
              <a:rPr lang="zh-CN" altLang="en-US" sz="2000" dirty="0">
                <a:latin typeface="微软雅黑" panose="020B0503020204020204" pitchFamily="34" charset="-122"/>
                <a:ea typeface="微软雅黑" panose="020B0503020204020204" pitchFamily="34" charset="-122"/>
              </a:rPr>
              <a:t>激活值：</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 * </a:t>
            </a:r>
            <a:r>
              <a:rPr lang="en-US" altLang="zh-CN" sz="2000" dirty="0">
                <a:latin typeface="微软雅黑" panose="020B0503020204020204" pitchFamily="34" charset="-122"/>
                <a:ea typeface="微软雅黑" panose="020B0503020204020204" pitchFamily="34" charset="-122"/>
              </a:rPr>
              <a:t>128</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Tile</a:t>
            </a:r>
            <a:endParaRPr lang="en-US" altLang="zh-CN" sz="2000" dirty="0">
              <a:latin typeface="微软雅黑" panose="020B0503020204020204" pitchFamily="34" charset="-122"/>
              <a:ea typeface="微软雅黑" panose="020B0503020204020204" pitchFamily="34" charset="-122"/>
            </a:endParaRPr>
          </a:p>
          <a:p>
            <a:pPr marL="685800" indent="-342900">
              <a:lnSpc>
                <a:spcPct val="200000"/>
              </a:lnSpc>
              <a:buFont typeface="Arial" panose="020B0604020202090204" pitchFamily="34" charset="0"/>
              <a:buChar char="•"/>
              <a:defRPr/>
            </a:pPr>
            <a:r>
              <a:rPr lang="zh-CN" altLang="en-US" sz="2000" dirty="0">
                <a:latin typeface="微软雅黑" panose="020B0503020204020204" pitchFamily="34" charset="-122"/>
                <a:ea typeface="微软雅黑" panose="020B0503020204020204" pitchFamily="34" charset="-122"/>
              </a:rPr>
              <a:t>权重值：</a:t>
            </a:r>
            <a:r>
              <a:rPr lang="en-US" altLang="zh-CN" sz="2000" dirty="0">
                <a:latin typeface="微软雅黑" panose="020B0503020204020204" pitchFamily="34" charset="-122"/>
                <a:ea typeface="微软雅黑" panose="020B0503020204020204" pitchFamily="34" charset="-122"/>
              </a:rPr>
              <a:t>128</a:t>
            </a:r>
            <a:r>
              <a:rPr lang="zh-CN" altLang="en-US" sz="2000" dirty="0">
                <a:latin typeface="微软雅黑" panose="020B0503020204020204" pitchFamily="34" charset="-122"/>
                <a:ea typeface="微软雅黑" panose="020B0503020204020204" pitchFamily="34" charset="-122"/>
              </a:rPr>
              <a:t> * </a:t>
            </a:r>
            <a:r>
              <a:rPr lang="en-US" altLang="zh-CN" sz="2000" dirty="0">
                <a:latin typeface="微软雅黑" panose="020B0503020204020204" pitchFamily="34" charset="-122"/>
                <a:ea typeface="微软雅黑" panose="020B0503020204020204" pitchFamily="34" charset="-122"/>
              </a:rPr>
              <a:t>128</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Block</a:t>
            </a:r>
            <a:endParaRPr lang="zh-CN" altLang="en-US" sz="2000" dirty="0">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Ø"/>
              <a:defRPr/>
            </a:pPr>
            <a:r>
              <a:rPr lang="zh-CN" altLang="en-US" sz="2400" dirty="0">
                <a:solidFill>
                  <a:prstClr val="black"/>
                </a:solidFill>
                <a:latin typeface="微软雅黑" panose="020B0503020204020204" pitchFamily="34" charset="-122"/>
                <a:ea typeface="微软雅黑" panose="020B0503020204020204" pitchFamily="34" charset="-122"/>
              </a:rPr>
              <a:t>在线量化：实时动态校准</a:t>
            </a:r>
            <a:endParaRPr lang="en-US" altLang="zh-CN" sz="2400" dirty="0">
              <a:solidFill>
                <a:prstClr val="black"/>
              </a:solidFill>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Ø"/>
              <a:defRPr/>
            </a:pPr>
            <a:r>
              <a:rPr kumimoji="0" lang="zh-CN" altLang="en-US" sz="24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提高累加精度：关键环节用 </a:t>
            </a:r>
            <a:r>
              <a:rPr kumimoji="0" lang="en-US" altLang="zh-CN" sz="24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FP32</a:t>
            </a:r>
            <a:endParaRPr kumimoji="0" lang="en-US" altLang="zh-CN" sz="24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342900" indent="-342900">
              <a:lnSpc>
                <a:spcPct val="200000"/>
              </a:lnSpc>
              <a:buFont typeface="Wingdings" panose="05000000000000000000" pitchFamily="2" charset="2"/>
              <a:buChar char="Ø"/>
              <a:defRPr/>
            </a:pPr>
            <a:r>
              <a:rPr lang="zh-CN" altLang="en-US" sz="2400" dirty="0">
                <a:solidFill>
                  <a:srgbClr val="191B1F"/>
                </a:solidFill>
                <a:effectLst/>
                <a:latin typeface="微软雅黑" panose="020B0503020204020204" pitchFamily="34" charset="-122"/>
                <a:ea typeface="微软雅黑" panose="020B0503020204020204" pitchFamily="34" charset="-122"/>
              </a:rPr>
              <a:t>混合存储策略：</a:t>
            </a:r>
            <a:r>
              <a:rPr lang="zh-CN" altLang="en-US" sz="2400" dirty="0">
                <a:latin typeface="微软雅黑" panose="020B0503020204020204" pitchFamily="34" charset="-122"/>
                <a:ea typeface="微软雅黑" panose="020B0503020204020204" pitchFamily="34" charset="-122"/>
              </a:rPr>
              <a:t>精打细算省内存</a:t>
            </a:r>
            <a:endParaRPr lang="zh-CN" altLang="en-US" sz="2400" dirty="0">
              <a:latin typeface="微软雅黑" panose="020B0503020204020204" pitchFamily="34" charset="-122"/>
              <a:ea typeface="微软雅黑" panose="020B0503020204020204" pitchFamily="34" charset="-122"/>
            </a:endParaRPr>
          </a:p>
          <a:p>
            <a:pPr marL="685800" indent="-342900">
              <a:lnSpc>
                <a:spcPct val="200000"/>
              </a:lnSpc>
              <a:buFont typeface="Arial" panose="020B0604020202090204" pitchFamily="34" charset="0"/>
              <a:buChar char="•"/>
              <a:defRPr/>
            </a:pPr>
            <a:r>
              <a:rPr lang="zh-CN" altLang="en-US" sz="2000" dirty="0">
                <a:latin typeface="微软雅黑" panose="020B0503020204020204" pitchFamily="34" charset="-122"/>
                <a:ea typeface="微软雅黑" panose="020B0503020204020204" pitchFamily="34" charset="-122"/>
              </a:rPr>
              <a:t>激活值和临时数据：</a:t>
            </a:r>
            <a:r>
              <a:rPr lang="en-GB" altLang="zh-CN" sz="2000" dirty="0">
                <a:latin typeface="微软雅黑" panose="020B0503020204020204" pitchFamily="34" charset="-122"/>
                <a:ea typeface="微软雅黑" panose="020B0503020204020204" pitchFamily="34" charset="-122"/>
              </a:rPr>
              <a:t>FP8</a:t>
            </a:r>
            <a:endParaRPr lang="en-US" altLang="zh-CN" sz="2000" dirty="0">
              <a:latin typeface="微软雅黑" panose="020B0503020204020204" pitchFamily="34" charset="-122"/>
              <a:ea typeface="微软雅黑" panose="020B0503020204020204" pitchFamily="34" charset="-122"/>
            </a:endParaRPr>
          </a:p>
          <a:p>
            <a:pPr marL="685800" indent="-342900">
              <a:lnSpc>
                <a:spcPct val="200000"/>
              </a:lnSpc>
              <a:buFont typeface="Arial" panose="020B0604020202090204" pitchFamily="34" charset="0"/>
              <a:buChar char="•"/>
              <a:defRPr/>
            </a:pPr>
            <a:r>
              <a:rPr lang="zh-CN" altLang="en-US" sz="2000" dirty="0">
                <a:latin typeface="微软雅黑" panose="020B0503020204020204" pitchFamily="34" charset="-122"/>
                <a:ea typeface="微软雅黑" panose="020B0503020204020204" pitchFamily="34" charset="-122"/>
              </a:rPr>
              <a:t>权重梯度和优化器状态：</a:t>
            </a:r>
            <a:r>
              <a:rPr lang="en-GB" altLang="zh-CN" sz="2000" dirty="0">
                <a:latin typeface="微软雅黑" panose="020B0503020204020204" pitchFamily="34" charset="-122"/>
                <a:ea typeface="微软雅黑" panose="020B0503020204020204" pitchFamily="34" charset="-122"/>
              </a:rPr>
              <a:t> BF16</a:t>
            </a:r>
            <a:r>
              <a:rPr lang="zh-CN" altLang="en-US" sz="2000" dirty="0">
                <a:latin typeface="微软雅黑" panose="020B0503020204020204" pitchFamily="34" charset="-122"/>
                <a:ea typeface="微软雅黑" panose="020B0503020204020204" pitchFamily="34" charset="-122"/>
              </a:rPr>
              <a:t> </a:t>
            </a:r>
            <a:r>
              <a:rPr lang="en-GB"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 </a:t>
            </a:r>
            <a:r>
              <a:rPr lang="en-GB" altLang="zh-CN" sz="2000" dirty="0">
                <a:latin typeface="微软雅黑" panose="020B0503020204020204" pitchFamily="34" charset="-122"/>
                <a:ea typeface="微软雅黑" panose="020B0503020204020204" pitchFamily="34" charset="-122"/>
              </a:rPr>
              <a:t>FP32</a:t>
            </a:r>
            <a:endParaRPr lang="zh-CN" altLang="en-US" sz="2000" dirty="0">
              <a:latin typeface="微软雅黑" panose="020B0503020204020204" pitchFamily="34" charset="-122"/>
              <a:ea typeface="微软雅黑" panose="020B0503020204020204" pitchFamily="34" charset="-122"/>
            </a:endParaRPr>
          </a:p>
        </p:txBody>
      </p:sp>
      <p:sp>
        <p:nvSpPr>
          <p:cNvPr id="29" name="文本框 28"/>
          <p:cNvSpPr txBox="1"/>
          <p:nvPr/>
        </p:nvSpPr>
        <p:spPr>
          <a:xfrm>
            <a:off x="619492" y="51758"/>
            <a:ext cx="9958738"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计算优化</a:t>
            </a:r>
            <a:endParaRPr kumimoji="1" lang="zh-CN" alt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3" name="文本框 2"/>
          <p:cNvSpPr txBox="1"/>
          <p:nvPr/>
        </p:nvSpPr>
        <p:spPr>
          <a:xfrm>
            <a:off x="7208519" y="5148139"/>
            <a:ext cx="3278740" cy="46416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800100" lvl="1" indent="-342900" algn="ctr">
              <a:lnSpc>
                <a:spcPct val="150000"/>
              </a:lnSpc>
              <a:buFont typeface="Arial" panose="020B0604020202090204" pitchFamily="34" charset="0"/>
              <a:buChar char="•"/>
              <a:defRPr sz="2400" b="1"/>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ctr" defTabSz="914400" rtl="0" eaLnBrk="1" fontAlgn="auto" latinLnBrk="0" hangingPunct="1">
              <a:lnSpc>
                <a:spcPct val="150000"/>
              </a:lnSpc>
              <a:spcBef>
                <a:spcPts val="0"/>
              </a:spcBef>
              <a:spcAft>
                <a:spcPts val="0"/>
              </a:spcAft>
              <a:buClrTx/>
              <a:buSzTx/>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细粒度量化策略</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554279" y="3113111"/>
            <a:ext cx="5083444" cy="1446550"/>
          </a:xfrm>
          <a:prstGeom prst="rect">
            <a:avLst/>
          </a:prstGeom>
          <a:noFill/>
        </p:spPr>
        <p:txBody>
          <a:bodyPr wrap="none" rtlCol="0">
            <a:spAutoFit/>
          </a:bodyPr>
          <a:lstStyle>
            <a:defPPr>
              <a:defRPr lang="zh-CN"/>
            </a:defPPr>
            <a:lvl1pPr>
              <a:spcAft>
                <a:spcPts val="2400"/>
              </a:spcAft>
              <a:defRPr sz="5400" b="1">
                <a:latin typeface="微软雅黑" panose="020B0503020204020204" pitchFamily="34" charset="-122"/>
                <a:ea typeface="微软雅黑" panose="020B0503020204020204" pitchFamily="34" charset="-122"/>
              </a:defRPr>
            </a:lvl1pPr>
          </a:lstStyle>
          <a:p>
            <a:pPr algn="ctr"/>
            <a:r>
              <a:rPr lang="en-US" altLang="zh-CN" sz="8800" dirty="0"/>
              <a:t>THANKS</a:t>
            </a:r>
            <a:endParaRPr lang="en-US" altLang="zh-CN" sz="8800" dirty="0"/>
          </a:p>
        </p:txBody>
      </p:sp>
      <p:pic>
        <p:nvPicPr>
          <p:cNvPr id="3" name="图片 2"/>
          <p:cNvPicPr>
            <a:picLocks noChangeAspect="1"/>
          </p:cNvPicPr>
          <p:nvPr/>
        </p:nvPicPr>
        <p:blipFill rotWithShape="1">
          <a:blip r:embed="rId1"/>
          <a:srcRect l="59344" t="28824" b="47273"/>
          <a:stretch>
            <a:fillRect/>
          </a:stretch>
        </p:blipFill>
        <p:spPr>
          <a:xfrm>
            <a:off x="4204116" y="1426747"/>
            <a:ext cx="3783767" cy="1210147"/>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19492" y="779084"/>
            <a:ext cx="6915715" cy="329184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800100" lvl="1" indent="-342900" algn="ctr">
              <a:lnSpc>
                <a:spcPct val="150000"/>
              </a:lnSpc>
              <a:buFont typeface="Arial" panose="020B0604020202090204" pitchFamily="34" charset="0"/>
              <a:buChar char="•"/>
              <a:defRPr sz="2400" b="1"/>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200000"/>
              </a:lnSpc>
              <a:spcBef>
                <a:spcPts val="0"/>
              </a:spcBef>
              <a:spcAft>
                <a:spcPts val="0"/>
              </a:spcAft>
              <a:buClrTx/>
              <a:buSzTx/>
              <a:defRPr/>
            </a:pPr>
            <a:r>
              <a:rPr lang="zh-CN" altLang="en-US" sz="2400" b="1" dirty="0">
                <a:solidFill>
                  <a:prstClr val="black"/>
                </a:solidFill>
                <a:latin typeface="微软雅黑" panose="020B0503020204020204" pitchFamily="34" charset="-122"/>
                <a:ea typeface="微软雅黑" panose="020B0503020204020204" pitchFamily="34" charset="-122"/>
              </a:rPr>
              <a:t>自研并行训练框架：</a:t>
            </a:r>
            <a:r>
              <a:rPr lang="en-US" altLang="zh-CN" sz="2400" b="1" dirty="0">
                <a:solidFill>
                  <a:prstClr val="black"/>
                </a:solidFill>
                <a:latin typeface="微软雅黑" panose="020B0503020204020204" pitchFamily="34" charset="-122"/>
                <a:ea typeface="微软雅黑" panose="020B0503020204020204" pitchFamily="34" charset="-122"/>
              </a:rPr>
              <a:t>HAI-LLM</a:t>
            </a:r>
            <a:endParaRPr lang="en-US" altLang="zh-CN" sz="2400" b="1" dirty="0">
              <a:solidFill>
                <a:prstClr val="black"/>
              </a:solidFill>
              <a:latin typeface="微软雅黑" panose="020B0503020204020204" pitchFamily="34" charset="-122"/>
              <a:ea typeface="微软雅黑" panose="020B0503020204020204" pitchFamily="34" charset="-122"/>
            </a:endParaRPr>
          </a:p>
          <a:p>
            <a:pPr marL="685800" indent="-342900">
              <a:lnSpc>
                <a:spcPct val="200000"/>
              </a:lnSpc>
              <a:buFont typeface="Arial" panose="020B0604020202090204" pitchFamily="34" charset="0"/>
              <a:buChar char="•"/>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流水线并行（</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PP</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16</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路</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685800" indent="-342900">
              <a:lnSpc>
                <a:spcPct val="200000"/>
              </a:lnSpc>
              <a:buFont typeface="Arial" panose="020B0604020202090204" pitchFamily="34" charset="0"/>
              <a:buChar char="•"/>
              <a:defRPr/>
            </a:pPr>
            <a:r>
              <a:rPr lang="zh-CN" altLang="en-US" sz="2000" b="0" i="0" dirty="0">
                <a:solidFill>
                  <a:srgbClr val="191B1F"/>
                </a:solidFill>
                <a:effectLst/>
                <a:latin typeface="微软雅黑" panose="020B0503020204020204" pitchFamily="34" charset="-122"/>
                <a:ea typeface="微软雅黑" panose="020B0503020204020204" pitchFamily="34" charset="-122"/>
              </a:rPr>
              <a:t>专家并行（</a:t>
            </a:r>
            <a:r>
              <a:rPr lang="en-GB" altLang="zh-CN" sz="2000" b="0" i="0" dirty="0">
                <a:solidFill>
                  <a:srgbClr val="191B1F"/>
                </a:solidFill>
                <a:effectLst/>
                <a:latin typeface="微软雅黑" panose="020B0503020204020204" pitchFamily="34" charset="-122"/>
                <a:ea typeface="微软雅黑" panose="020B0503020204020204" pitchFamily="34" charset="-122"/>
              </a:rPr>
              <a:t>EP</a:t>
            </a:r>
            <a:r>
              <a:rPr lang="zh-CN" altLang="en-GB" sz="2000" b="0" i="0" dirty="0">
                <a:solidFill>
                  <a:srgbClr val="191B1F"/>
                </a:solidFill>
                <a:effectLst/>
                <a:latin typeface="微软雅黑" panose="020B0503020204020204" pitchFamily="34" charset="-122"/>
                <a:ea typeface="微软雅黑" panose="020B0503020204020204" pitchFamily="34" charset="-122"/>
              </a:rPr>
              <a:t>）</a:t>
            </a:r>
            <a:r>
              <a:rPr lang="zh-CN" altLang="en-US" sz="2000" b="0" i="0" dirty="0">
                <a:solidFill>
                  <a:srgbClr val="191B1F"/>
                </a:solidFill>
                <a:effectLst/>
                <a:latin typeface="微软雅黑" panose="020B0503020204020204" pitchFamily="34" charset="-122"/>
                <a:ea typeface="微软雅黑" panose="020B0503020204020204" pitchFamily="34" charset="-122"/>
              </a:rPr>
              <a:t>：</a:t>
            </a:r>
            <a:r>
              <a:rPr lang="en-US" altLang="zh-CN" sz="2000" b="0" i="0" dirty="0">
                <a:solidFill>
                  <a:srgbClr val="191B1F"/>
                </a:solidFill>
                <a:effectLst/>
                <a:latin typeface="微软雅黑" panose="020B0503020204020204" pitchFamily="34" charset="-122"/>
                <a:ea typeface="微软雅黑" panose="020B0503020204020204" pitchFamily="34" charset="-122"/>
              </a:rPr>
              <a:t>64</a:t>
            </a:r>
            <a:r>
              <a:rPr lang="zh-CN" altLang="en-US" sz="2000" b="0" i="0" dirty="0">
                <a:solidFill>
                  <a:srgbClr val="191B1F"/>
                </a:solidFill>
                <a:effectLst/>
                <a:latin typeface="微软雅黑" panose="020B0503020204020204" pitchFamily="34" charset="-122"/>
                <a:ea typeface="微软雅黑" panose="020B0503020204020204" pitchFamily="34" charset="-122"/>
              </a:rPr>
              <a:t>路，跨 </a:t>
            </a:r>
            <a:r>
              <a:rPr lang="en-US" altLang="zh-CN" sz="2000" b="0" i="0" dirty="0">
                <a:solidFill>
                  <a:srgbClr val="191B1F"/>
                </a:solidFill>
                <a:effectLst/>
                <a:latin typeface="微软雅黑" panose="020B0503020204020204" pitchFamily="34" charset="-122"/>
                <a:ea typeface="微软雅黑" panose="020B0503020204020204" pitchFamily="34" charset="-122"/>
              </a:rPr>
              <a:t>8</a:t>
            </a:r>
            <a:r>
              <a:rPr lang="zh-CN" altLang="en-US" sz="2000" b="0" i="0" dirty="0">
                <a:solidFill>
                  <a:srgbClr val="191B1F"/>
                </a:solidFill>
                <a:effectLst/>
                <a:latin typeface="微软雅黑" panose="020B0503020204020204" pitchFamily="34" charset="-122"/>
                <a:ea typeface="微软雅黑" panose="020B0503020204020204" pitchFamily="34" charset="-122"/>
              </a:rPr>
              <a:t> 个节点</a:t>
            </a:r>
            <a:endParaRPr lang="en-US" altLang="zh-CN" sz="2000" b="0" i="0" dirty="0">
              <a:solidFill>
                <a:srgbClr val="191B1F"/>
              </a:solidFill>
              <a:effectLst/>
              <a:latin typeface="微软雅黑" panose="020B0503020204020204" pitchFamily="34" charset="-122"/>
              <a:ea typeface="微软雅黑" panose="020B0503020204020204" pitchFamily="34" charset="-122"/>
            </a:endParaRPr>
          </a:p>
          <a:p>
            <a:pPr marL="685800" indent="-342900">
              <a:lnSpc>
                <a:spcPct val="200000"/>
              </a:lnSpc>
              <a:buFont typeface="Arial" panose="020B0604020202090204" pitchFamily="34" charset="0"/>
              <a:buChar char="•"/>
              <a:defRPr/>
            </a:pPr>
            <a:r>
              <a:rPr lang="zh-CN" altLang="en-US" sz="2000" b="0" i="0" dirty="0">
                <a:solidFill>
                  <a:srgbClr val="191B1F"/>
                </a:solidFill>
                <a:effectLst/>
                <a:latin typeface="微软雅黑" panose="020B0503020204020204" pitchFamily="34" charset="-122"/>
                <a:ea typeface="微软雅黑" panose="020B0503020204020204" pitchFamily="34" charset="-122"/>
              </a:rPr>
              <a:t>数据并行（</a:t>
            </a:r>
            <a:r>
              <a:rPr lang="en-GB" altLang="zh-CN" sz="2000" b="0" i="0" dirty="0">
                <a:solidFill>
                  <a:srgbClr val="191B1F"/>
                </a:solidFill>
                <a:effectLst/>
                <a:latin typeface="微软雅黑" panose="020B0503020204020204" pitchFamily="34" charset="-122"/>
                <a:ea typeface="微软雅黑" panose="020B0503020204020204" pitchFamily="34" charset="-122"/>
              </a:rPr>
              <a:t>DP</a:t>
            </a:r>
            <a:r>
              <a:rPr lang="zh-CN" altLang="en-GB" sz="2000" b="0" i="0" dirty="0">
                <a:solidFill>
                  <a:srgbClr val="191B1F"/>
                </a:solidFill>
                <a:effectLst/>
                <a:latin typeface="微软雅黑" panose="020B0503020204020204" pitchFamily="34" charset="-122"/>
                <a:ea typeface="微软雅黑" panose="020B0503020204020204" pitchFamily="34" charset="-122"/>
              </a:rPr>
              <a:t>）</a:t>
            </a:r>
            <a:r>
              <a:rPr lang="zh-CN" altLang="en-US" sz="2000" b="0" i="0" dirty="0">
                <a:solidFill>
                  <a:srgbClr val="191B1F"/>
                </a:solidFill>
                <a:effectLst/>
                <a:latin typeface="微软雅黑" panose="020B0503020204020204" pitchFamily="34" charset="-122"/>
                <a:ea typeface="微软雅黑" panose="020B0503020204020204" pitchFamily="34" charset="-122"/>
              </a:rPr>
              <a:t>：</a:t>
            </a:r>
            <a:r>
              <a:rPr lang="en-GB" altLang="zh-CN" sz="2000" b="0" i="0" dirty="0">
                <a:solidFill>
                  <a:srgbClr val="191B1F"/>
                </a:solidFill>
                <a:effectLst/>
                <a:latin typeface="微软雅黑" panose="020B0503020204020204" pitchFamily="34" charset="-122"/>
                <a:ea typeface="微软雅黑" panose="020B0503020204020204" pitchFamily="34" charset="-122"/>
              </a:rPr>
              <a:t>ZeRO-1 </a:t>
            </a:r>
            <a:endParaRPr lang="en-GB" altLang="zh-CN" sz="2000" b="0" i="0" dirty="0">
              <a:solidFill>
                <a:srgbClr val="191B1F"/>
              </a:solidFill>
              <a:effectLst/>
              <a:latin typeface="微软雅黑" panose="020B0503020204020204" pitchFamily="34" charset="-122"/>
              <a:ea typeface="微软雅黑" panose="020B0503020204020204" pitchFamily="34" charset="-122"/>
            </a:endParaRPr>
          </a:p>
          <a:p>
            <a:pPr marL="685800" indent="-342900">
              <a:lnSpc>
                <a:spcPct val="200000"/>
              </a:lnSpc>
              <a:buFont typeface="Arial" panose="020B0604020202090204" pitchFamily="34" charset="0"/>
              <a:buChar char="•"/>
              <a:defRPr/>
            </a:pPr>
            <a:r>
              <a:rPr kumimoji="0" lang="zh-CN" altLang="en-GB" sz="2000" u="none" strike="noStrike" kern="1200" cap="none" spc="0" normalizeH="0" baseline="0" noProof="0" dirty="0">
                <a:ln>
                  <a:noFill/>
                </a:ln>
                <a:solidFill>
                  <a:srgbClr val="191B1F"/>
                </a:solidFill>
                <a:uLnTx/>
                <a:uFillTx/>
                <a:latin typeface="微软雅黑" panose="020B0503020204020204" pitchFamily="34" charset="-122"/>
                <a:ea typeface="微软雅黑" panose="020B0503020204020204" pitchFamily="34" charset="-122"/>
              </a:rPr>
              <a:t>张</a:t>
            </a:r>
            <a:r>
              <a:rPr kumimoji="0" lang="zh-CN" altLang="en-US" sz="2000" u="none" strike="noStrike" kern="1200" cap="none" spc="0" normalizeH="0" baseline="0" noProof="0" dirty="0">
                <a:ln>
                  <a:noFill/>
                </a:ln>
                <a:solidFill>
                  <a:srgbClr val="191B1F"/>
                </a:solidFill>
                <a:uLnTx/>
                <a:uFillTx/>
                <a:latin typeface="微软雅黑" panose="020B0503020204020204" pitchFamily="34" charset="-122"/>
                <a:ea typeface="微软雅黑" panose="020B0503020204020204" pitchFamily="34" charset="-122"/>
              </a:rPr>
              <a:t>量并行（</a:t>
            </a:r>
            <a:r>
              <a:rPr kumimoji="0" lang="en-US" altLang="zh-CN" sz="2000" u="none" strike="noStrike" kern="1200" cap="none" spc="0" normalizeH="0" baseline="0" noProof="0" dirty="0">
                <a:ln>
                  <a:noFill/>
                </a:ln>
                <a:solidFill>
                  <a:srgbClr val="191B1F"/>
                </a:solidFill>
                <a:uLnTx/>
                <a:uFillTx/>
                <a:latin typeface="微软雅黑" panose="020B0503020204020204" pitchFamily="34" charset="-122"/>
                <a:ea typeface="微软雅黑" panose="020B0503020204020204" pitchFamily="34" charset="-122"/>
              </a:rPr>
              <a:t>TP</a:t>
            </a:r>
            <a:r>
              <a:rPr kumimoji="0" lang="zh-CN" altLang="en-US" sz="2000" u="none" strike="noStrike" kern="1200" cap="none" spc="0" normalizeH="0" baseline="0" noProof="0" dirty="0">
                <a:ln>
                  <a:noFill/>
                </a:ln>
                <a:solidFill>
                  <a:srgbClr val="191B1F"/>
                </a:solidFill>
                <a:uLnTx/>
                <a:uFillTx/>
                <a:latin typeface="微软雅黑" panose="020B0503020204020204" pitchFamily="34" charset="-122"/>
                <a:ea typeface="微软雅黑" panose="020B0503020204020204" pitchFamily="34" charset="-122"/>
              </a:rPr>
              <a:t>）：无</a:t>
            </a:r>
            <a:r>
              <a:rPr kumimoji="0" lang="en-US" altLang="zh-CN" sz="2000" u="none" strike="noStrike" kern="1200" cap="none" spc="0" normalizeH="0" baseline="0" noProof="0" dirty="0">
                <a:ln>
                  <a:noFill/>
                </a:ln>
                <a:solidFill>
                  <a:srgbClr val="191B1F"/>
                </a:solidFill>
                <a:uLnTx/>
                <a:uFillTx/>
                <a:latin typeface="微软雅黑" panose="020B0503020204020204" pitchFamily="34" charset="-122"/>
                <a:ea typeface="微软雅黑" panose="020B0503020204020204" pitchFamily="34" charset="-122"/>
              </a:rPr>
              <a:t>（</a:t>
            </a:r>
            <a:r>
              <a:rPr kumimoji="0" lang="zh-CN" altLang="en-US" sz="2000" u="none" strike="noStrike" kern="1200" cap="none" spc="0" normalizeH="0" baseline="0" noProof="0" dirty="0">
                <a:ln>
                  <a:noFill/>
                </a:ln>
                <a:solidFill>
                  <a:srgbClr val="191B1F"/>
                </a:solidFill>
                <a:uLnTx/>
                <a:uFillTx/>
                <a:latin typeface="微软雅黑" panose="020B0503020204020204" pitchFamily="34" charset="-122"/>
                <a:ea typeface="微软雅黑" panose="020B0503020204020204" pitchFamily="34" charset="-122"/>
              </a:rPr>
              <a:t>因通信开销大</a:t>
            </a:r>
            <a:r>
              <a:rPr kumimoji="0" lang="en-US" altLang="zh-CN" sz="2000" u="none" strike="noStrike" kern="1200" cap="none" spc="0" normalizeH="0" baseline="0" noProof="0" dirty="0">
                <a:ln>
                  <a:noFill/>
                </a:ln>
                <a:solidFill>
                  <a:srgbClr val="191B1F"/>
                </a:solidFill>
                <a:uLnTx/>
                <a:uFillTx/>
                <a:latin typeface="微软雅黑" panose="020B0503020204020204" pitchFamily="34" charset="-122"/>
                <a:ea typeface="微软雅黑" panose="020B0503020204020204" pitchFamily="34" charset="-122"/>
              </a:rPr>
              <a:t>）</a:t>
            </a:r>
            <a:endParaRPr kumimoji="0" lang="en-US" altLang="zh-CN" sz="2000" b="0" i="0" u="none" strike="noStrike" kern="1200" cap="none" spc="0" normalizeH="0" baseline="0" noProof="0" dirty="0">
              <a:ln>
                <a:noFill/>
              </a:ln>
              <a:solidFill>
                <a:srgbClr val="191B1F"/>
              </a:solidFill>
              <a:effectLst/>
              <a:uLnTx/>
              <a:uFillTx/>
              <a:latin typeface="微软雅黑" panose="020B0503020204020204" pitchFamily="34" charset="-122"/>
              <a:ea typeface="微软雅黑" panose="020B0503020204020204" pitchFamily="34" charset="-122"/>
            </a:endParaRPr>
          </a:p>
        </p:txBody>
      </p:sp>
      <p:sp>
        <p:nvSpPr>
          <p:cNvPr id="29" name="文本框 28"/>
          <p:cNvSpPr txBox="1"/>
          <p:nvPr/>
        </p:nvSpPr>
        <p:spPr>
          <a:xfrm>
            <a:off x="619492" y="51758"/>
            <a:ext cx="9958738"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3200" b="1" dirty="0">
                <a:solidFill>
                  <a:prstClr val="white"/>
                </a:solidFill>
                <a:latin typeface="微软雅黑" panose="020B0503020204020204" pitchFamily="34" charset="-122"/>
                <a:ea typeface="微软雅黑" panose="020B0503020204020204" pitchFamily="34" charset="-122"/>
              </a:rPr>
              <a:t>并行训练框架</a:t>
            </a:r>
            <a:endParaRPr kumimoji="1" lang="zh-CN" altLang="en-US" sz="3200" b="1" dirty="0">
              <a:solidFill>
                <a:prstClr val="white"/>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6626099" y="904268"/>
            <a:ext cx="5391783" cy="4376859"/>
          </a:xfrm>
          <a:prstGeom prst="rect">
            <a:avLst/>
          </a:prstGeom>
        </p:spPr>
      </p:pic>
      <p:pic>
        <p:nvPicPr>
          <p:cNvPr id="6" name="图片 5"/>
          <p:cNvPicPr>
            <a:picLocks noChangeAspect="1"/>
          </p:cNvPicPr>
          <p:nvPr/>
        </p:nvPicPr>
        <p:blipFill>
          <a:blip r:embed="rId2"/>
          <a:stretch>
            <a:fillRect/>
          </a:stretch>
        </p:blipFill>
        <p:spPr>
          <a:xfrm>
            <a:off x="514267" y="4121935"/>
            <a:ext cx="6111832" cy="2020509"/>
          </a:xfrm>
          <a:prstGeom prst="rect">
            <a:avLst/>
          </a:prstGeom>
        </p:spPr>
      </p:pic>
      <p:sp>
        <p:nvSpPr>
          <p:cNvPr id="7" name="文本框 6"/>
          <p:cNvSpPr txBox="1"/>
          <p:nvPr/>
        </p:nvSpPr>
        <p:spPr>
          <a:xfrm>
            <a:off x="7253295" y="5207034"/>
            <a:ext cx="4137389" cy="64633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800100" lvl="1" indent="-342900" algn="ctr">
              <a:lnSpc>
                <a:spcPct val="150000"/>
              </a:lnSpc>
              <a:buFont typeface="Arial" panose="020B0604020202090204" pitchFamily="34" charset="0"/>
              <a:buChar char="•"/>
              <a:defRPr sz="2400" b="1"/>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ctr" defTabSz="914400" rtl="0" eaLnBrk="1" fontAlgn="auto" latinLnBrk="0" hangingPunct="1">
              <a:spcBef>
                <a:spcPts val="0"/>
              </a:spcBef>
              <a:spcAft>
                <a:spcPts val="0"/>
              </a:spcAft>
              <a:buClrTx/>
              <a:buSzTx/>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网络拓扑情况</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R="0" lvl="0" algn="ctr" defTabSz="914400" rtl="0" eaLnBrk="1" fontAlgn="auto" latinLnBrk="0" hangingPunct="1">
              <a:spcBef>
                <a:spcPts val="0"/>
              </a:spcBef>
              <a:spcAft>
                <a:spcPts val="0"/>
              </a:spcAft>
              <a:buClrTx/>
              <a:buSzTx/>
              <a:defRPr/>
            </a:pPr>
            <a:r>
              <a:rPr lang="en-US" altLang="zh-CN" dirty="0">
                <a:solidFill>
                  <a:prstClr val="black"/>
                </a:solidFill>
                <a:latin typeface="微软雅黑" panose="020B0503020204020204" pitchFamily="34" charset="-122"/>
                <a:ea typeface="微软雅黑" panose="020B0503020204020204" pitchFamily="34" charset="-122"/>
              </a:rPr>
              <a:t>IB = 50 GB/s, </a:t>
            </a:r>
            <a:r>
              <a:rPr lang="en-US" altLang="zh-CN" dirty="0" err="1">
                <a:solidFill>
                  <a:prstClr val="black"/>
                </a:solidFill>
                <a:latin typeface="微软雅黑" panose="020B0503020204020204" pitchFamily="34" charset="-122"/>
                <a:ea typeface="微软雅黑" panose="020B0503020204020204" pitchFamily="34" charset="-122"/>
              </a:rPr>
              <a:t>NVLink</a:t>
            </a:r>
            <a:r>
              <a:rPr lang="en-US" altLang="zh-CN" dirty="0">
                <a:solidFill>
                  <a:prstClr val="black"/>
                </a:solidFill>
                <a:latin typeface="微软雅黑" panose="020B0503020204020204" pitchFamily="34" charset="-122"/>
                <a:ea typeface="微软雅黑" panose="020B0503020204020204" pitchFamily="34" charset="-122"/>
              </a:rPr>
              <a:t> = 160GB/s</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19492" y="791719"/>
            <a:ext cx="11162605" cy="219688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800100" lvl="1" indent="-342900" algn="ctr">
              <a:lnSpc>
                <a:spcPct val="150000"/>
              </a:lnSpc>
              <a:buFont typeface="Arial" panose="020B0604020202090204" pitchFamily="34" charset="0"/>
              <a:buChar char="•"/>
              <a:defRPr sz="2400" b="1"/>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nSpc>
                <a:spcPct val="200000"/>
              </a:lnSpc>
              <a:buFont typeface="Wingdings" panose="05000000000000000000" pitchFamily="2" charset="2"/>
              <a:buChar char="Ø"/>
              <a:defRPr/>
            </a:pPr>
            <a:r>
              <a:rPr lang="en-GB" altLang="zh-CN" sz="2400" i="0" dirty="0">
                <a:solidFill>
                  <a:srgbClr val="363737"/>
                </a:solidFill>
                <a:effectLst/>
                <a:latin typeface="微软雅黑" panose="020B0503020204020204" pitchFamily="34" charset="-122"/>
                <a:ea typeface="微软雅黑" panose="020B0503020204020204" pitchFamily="34" charset="-122"/>
              </a:rPr>
              <a:t>Mixture of Experts (</a:t>
            </a:r>
            <a:r>
              <a:rPr lang="en-GB" altLang="zh-CN" sz="2400" i="0" dirty="0" err="1">
                <a:solidFill>
                  <a:srgbClr val="363737"/>
                </a:solidFill>
                <a:effectLst/>
                <a:latin typeface="微软雅黑" panose="020B0503020204020204" pitchFamily="34" charset="-122"/>
                <a:ea typeface="微软雅黑" panose="020B0503020204020204" pitchFamily="34" charset="-122"/>
              </a:rPr>
              <a:t>MoE</a:t>
            </a:r>
            <a:r>
              <a:rPr lang="en-GB" altLang="zh-CN" sz="2400" i="0" dirty="0">
                <a:solidFill>
                  <a:srgbClr val="363737"/>
                </a:solidFill>
                <a:effectLst/>
                <a:latin typeface="微软雅黑" panose="020B0503020204020204" pitchFamily="34" charset="-122"/>
                <a:ea typeface="微软雅黑" panose="020B0503020204020204" pitchFamily="34" charset="-122"/>
              </a:rPr>
              <a:t>)</a:t>
            </a:r>
            <a:r>
              <a:rPr lang="zh-CN" altLang="en-US" sz="2400" dirty="0">
                <a:solidFill>
                  <a:srgbClr val="363737"/>
                </a:solidFill>
                <a:latin typeface="微软雅黑" panose="020B0503020204020204" pitchFamily="34" charset="-122"/>
                <a:ea typeface="微软雅黑" panose="020B0503020204020204" pitchFamily="34" charset="-122"/>
              </a:rPr>
              <a:t>：</a:t>
            </a:r>
            <a:r>
              <a:rPr lang="zh-CN" altLang="en-US" sz="2400" dirty="0">
                <a:solidFill>
                  <a:prstClr val="black"/>
                </a:solidFill>
                <a:latin typeface="微软雅黑" panose="020B0503020204020204" pitchFamily="34" charset="-122"/>
                <a:ea typeface="微软雅黑" panose="020B0503020204020204" pitchFamily="34" charset="-122"/>
              </a:rPr>
              <a:t>多个专家 </a:t>
            </a:r>
            <a:r>
              <a:rPr lang="en-US" altLang="zh-CN"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prstClr val="black"/>
                </a:solidFill>
                <a:latin typeface="微软雅黑" panose="020B0503020204020204" pitchFamily="34" charset="-122"/>
                <a:ea typeface="微软雅黑" panose="020B0503020204020204" pitchFamily="34" charset="-122"/>
              </a:rPr>
              <a:t> 专家路由</a:t>
            </a:r>
            <a:endParaRPr lang="en-US" altLang="zh-CN" sz="2400" dirty="0">
              <a:solidFill>
                <a:prstClr val="black"/>
              </a:solidFill>
              <a:latin typeface="微软雅黑" panose="020B0503020204020204" pitchFamily="34" charset="-122"/>
              <a:ea typeface="微软雅黑" panose="020B0503020204020204" pitchFamily="34" charset="-122"/>
            </a:endParaRPr>
          </a:p>
          <a:p>
            <a:pPr marL="342900" indent="-342900">
              <a:lnSpc>
                <a:spcPct val="200000"/>
              </a:lnSpc>
              <a:buFont typeface="Wingdings" panose="05000000000000000000" pitchFamily="2" charset="2"/>
              <a:buChar char="Ø"/>
              <a:defRPr/>
            </a:pPr>
            <a:r>
              <a:rPr lang="zh-CN" altLang="en-US" sz="2400" dirty="0">
                <a:solidFill>
                  <a:prstClr val="black"/>
                </a:solidFill>
                <a:latin typeface="微软雅黑" panose="020B0503020204020204" pitchFamily="34" charset="-122"/>
                <a:ea typeface="微软雅黑" panose="020B0503020204020204" pitchFamily="34" charset="-122"/>
              </a:rPr>
              <a:t>主要难点</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：负载均衡</a:t>
            </a:r>
            <a:endPar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342900" indent="-342900">
              <a:lnSpc>
                <a:spcPct val="200000"/>
              </a:lnSpc>
              <a:buFont typeface="Wingdings" panose="05000000000000000000" pitchFamily="2" charset="2"/>
              <a:buChar char="Ø"/>
              <a:defRPr/>
            </a:pPr>
            <a:r>
              <a:rPr lang="zh-CN" altLang="en-US" sz="2400" dirty="0">
                <a:solidFill>
                  <a:prstClr val="black"/>
                </a:solidFill>
                <a:latin typeface="微软雅黑" panose="020B0503020204020204" pitchFamily="34" charset="-122"/>
                <a:ea typeface="微软雅黑" panose="020B0503020204020204" pitchFamily="34" charset="-122"/>
              </a:rPr>
              <a:t>传统方案：</a:t>
            </a:r>
            <a:r>
              <a:rPr lang="zh-CN" altLang="en-US" sz="2400" b="0" i="0" dirty="0">
                <a:solidFill>
                  <a:srgbClr val="191B1F"/>
                </a:solidFill>
                <a:effectLst/>
                <a:latin typeface="微软雅黑" panose="020B0503020204020204" pitchFamily="34" charset="-122"/>
                <a:ea typeface="微软雅黑" panose="020B0503020204020204" pitchFamily="34" charset="-122"/>
              </a:rPr>
              <a:t>辅助损失，强制“平衡路由”</a:t>
            </a:r>
            <a:r>
              <a:rPr lang="en-US" altLang="zh-CN" sz="2400" dirty="0">
                <a:solidFill>
                  <a:srgbClr val="191B1F"/>
                </a:solidFill>
                <a:latin typeface="微软雅黑" panose="020B0503020204020204" pitchFamily="34" charset="-122"/>
                <a:ea typeface="微软雅黑" panose="020B0503020204020204" pitchFamily="34" charset="-122"/>
              </a:rPr>
              <a:t>——&gt; </a:t>
            </a:r>
            <a:r>
              <a:rPr lang="zh-CN" altLang="en-US" sz="2400" dirty="0">
                <a:solidFill>
                  <a:srgbClr val="191B1F"/>
                </a:solidFill>
                <a:effectLst/>
                <a:latin typeface="微软雅黑" panose="020B0503020204020204" pitchFamily="34" charset="-122"/>
                <a:ea typeface="微软雅黑" panose="020B0503020204020204" pitchFamily="34" charset="-122"/>
              </a:rPr>
              <a:t>极度损害模型性能</a:t>
            </a:r>
            <a:endParaRPr lang="en-US" altLang="zh-CN" sz="2400" dirty="0">
              <a:solidFill>
                <a:srgbClr val="191B1F"/>
              </a:solidFill>
              <a:effectLst/>
              <a:latin typeface="微软雅黑" panose="020B0503020204020204" pitchFamily="34" charset="-122"/>
              <a:ea typeface="微软雅黑" panose="020B0503020204020204" pitchFamily="34" charset="-122"/>
            </a:endParaRPr>
          </a:p>
        </p:txBody>
      </p:sp>
      <p:sp>
        <p:nvSpPr>
          <p:cNvPr id="29" name="文本框 28"/>
          <p:cNvSpPr txBox="1"/>
          <p:nvPr/>
        </p:nvSpPr>
        <p:spPr>
          <a:xfrm>
            <a:off x="619492" y="51758"/>
            <a:ext cx="9958738"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混合专家模型</a:t>
            </a:r>
            <a:endParaRPr kumimoji="1" lang="zh-CN" alt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grpSp>
        <p:nvGrpSpPr>
          <p:cNvPr id="10" name="组合 9"/>
          <p:cNvGrpSpPr/>
          <p:nvPr/>
        </p:nvGrpSpPr>
        <p:grpSpPr>
          <a:xfrm>
            <a:off x="485424" y="3252874"/>
            <a:ext cx="6742602" cy="2830636"/>
            <a:chOff x="239893" y="3193596"/>
            <a:chExt cx="7078443" cy="2971627"/>
          </a:xfrm>
        </p:grpSpPr>
        <p:pic>
          <p:nvPicPr>
            <p:cNvPr id="4" name="图片 3"/>
            <p:cNvPicPr>
              <a:picLocks noChangeAspect="1"/>
            </p:cNvPicPr>
            <p:nvPr/>
          </p:nvPicPr>
          <p:blipFill>
            <a:blip r:embed="rId1"/>
            <a:stretch>
              <a:fillRect/>
            </a:stretch>
          </p:blipFill>
          <p:spPr>
            <a:xfrm>
              <a:off x="299819" y="3292539"/>
              <a:ext cx="3479296" cy="2773742"/>
            </a:xfrm>
            <a:prstGeom prst="rect">
              <a:avLst/>
            </a:prstGeom>
          </p:spPr>
        </p:pic>
        <p:pic>
          <p:nvPicPr>
            <p:cNvPr id="7" name="图片 6"/>
            <p:cNvPicPr>
              <a:picLocks noChangeAspect="1"/>
            </p:cNvPicPr>
            <p:nvPr/>
          </p:nvPicPr>
          <p:blipFill>
            <a:blip r:embed="rId2"/>
            <a:stretch>
              <a:fillRect/>
            </a:stretch>
          </p:blipFill>
          <p:spPr>
            <a:xfrm>
              <a:off x="3779115" y="3292539"/>
              <a:ext cx="3479296" cy="2773742"/>
            </a:xfrm>
            <a:prstGeom prst="rect">
              <a:avLst/>
            </a:prstGeom>
          </p:spPr>
        </p:pic>
        <p:sp>
          <p:nvSpPr>
            <p:cNvPr id="8" name="圆角矩形 7"/>
            <p:cNvSpPr/>
            <p:nvPr/>
          </p:nvSpPr>
          <p:spPr>
            <a:xfrm>
              <a:off x="239893" y="3193596"/>
              <a:ext cx="7078443" cy="2971627"/>
            </a:xfrm>
            <a:prstGeom prst="roundRect">
              <a:avLst>
                <a:gd name="adj" fmla="val 6264"/>
              </a:avLst>
            </a:prstGeom>
            <a:noFill/>
            <a:ln w="25400">
              <a:solidFill>
                <a:schemeClr val="accent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1" name="组合 10"/>
          <p:cNvGrpSpPr/>
          <p:nvPr/>
        </p:nvGrpSpPr>
        <p:grpSpPr>
          <a:xfrm>
            <a:off x="7360355" y="3252874"/>
            <a:ext cx="3959781" cy="2830636"/>
            <a:chOff x="7459253" y="3193596"/>
            <a:chExt cx="4157013" cy="2971627"/>
          </a:xfrm>
        </p:grpSpPr>
        <p:pic>
          <p:nvPicPr>
            <p:cNvPr id="5" name="图片 4"/>
            <p:cNvPicPr>
              <a:picLocks noChangeAspect="1"/>
            </p:cNvPicPr>
            <p:nvPr/>
          </p:nvPicPr>
          <p:blipFill>
            <a:blip r:embed="rId3"/>
            <a:stretch>
              <a:fillRect/>
            </a:stretch>
          </p:blipFill>
          <p:spPr>
            <a:xfrm>
              <a:off x="7558448" y="3393435"/>
              <a:ext cx="3958621" cy="2571947"/>
            </a:xfrm>
            <a:prstGeom prst="rect">
              <a:avLst/>
            </a:prstGeom>
          </p:spPr>
        </p:pic>
        <p:sp>
          <p:nvSpPr>
            <p:cNvPr id="9" name="圆角矩形 8"/>
            <p:cNvSpPr/>
            <p:nvPr/>
          </p:nvSpPr>
          <p:spPr>
            <a:xfrm>
              <a:off x="7459253" y="3193596"/>
              <a:ext cx="4157013" cy="2971627"/>
            </a:xfrm>
            <a:prstGeom prst="roundRect">
              <a:avLst>
                <a:gd name="adj" fmla="val 6264"/>
              </a:avLst>
            </a:prstGeom>
            <a:noFill/>
            <a:ln w="25400">
              <a:solidFill>
                <a:schemeClr val="accent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19492" y="817447"/>
            <a:ext cx="6412324" cy="480073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800100" lvl="1" indent="-342900" algn="ctr">
              <a:lnSpc>
                <a:spcPct val="150000"/>
              </a:lnSpc>
              <a:buFont typeface="Arial" panose="020B0604020202090204" pitchFamily="34" charset="0"/>
              <a:buChar char="•"/>
              <a:defRPr sz="2400" b="1"/>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nSpc>
                <a:spcPct val="200000"/>
              </a:lnSpc>
              <a:buFont typeface="Wingdings" panose="05000000000000000000" pitchFamily="2" charset="2"/>
              <a:buChar char="Ø"/>
              <a:defRPr/>
            </a:pPr>
            <a:r>
              <a:rPr lang="zh-CN" altLang="en-US" sz="2400" dirty="0">
                <a:solidFill>
                  <a:srgbClr val="191B1F"/>
                </a:solidFill>
                <a:effectLst/>
                <a:latin typeface="微软雅黑" panose="020B0503020204020204" pitchFamily="34" charset="-122"/>
                <a:ea typeface="微软雅黑" panose="020B0503020204020204" pitchFamily="34" charset="-122"/>
              </a:rPr>
              <a:t>共享专家 </a:t>
            </a:r>
            <a:r>
              <a:rPr lang="en-US" altLang="zh-CN" sz="2400" dirty="0">
                <a:solidFill>
                  <a:srgbClr val="191B1F"/>
                </a:solidFill>
                <a:effectLst/>
                <a:latin typeface="微软雅黑" panose="020B0503020204020204" pitchFamily="34" charset="-122"/>
                <a:ea typeface="微软雅黑" panose="020B0503020204020204" pitchFamily="34" charset="-122"/>
              </a:rPr>
              <a:t>+</a:t>
            </a:r>
            <a:r>
              <a:rPr lang="zh-CN" altLang="en-US" sz="2400" dirty="0">
                <a:solidFill>
                  <a:srgbClr val="191B1F"/>
                </a:solidFill>
                <a:effectLst/>
                <a:latin typeface="微软雅黑" panose="020B0503020204020204" pitchFamily="34" charset="-122"/>
                <a:ea typeface="微软雅黑" panose="020B0503020204020204" pitchFamily="34" charset="-122"/>
              </a:rPr>
              <a:t> 路由专家</a:t>
            </a:r>
            <a:endParaRPr lang="en-US" altLang="zh-CN" sz="2400" dirty="0">
              <a:solidFill>
                <a:srgbClr val="191B1F"/>
              </a:solidFill>
              <a:effectLst/>
              <a:latin typeface="微软雅黑" panose="020B0503020204020204" pitchFamily="34" charset="-122"/>
              <a:ea typeface="微软雅黑" panose="020B0503020204020204" pitchFamily="34" charset="-122"/>
            </a:endParaRPr>
          </a:p>
          <a:p>
            <a:pPr marL="342900" indent="-342900">
              <a:lnSpc>
                <a:spcPct val="200000"/>
              </a:lnSpc>
              <a:buFont typeface="Wingdings" panose="05000000000000000000" pitchFamily="2" charset="2"/>
              <a:buChar char="Ø"/>
              <a:defRPr/>
            </a:pPr>
            <a:r>
              <a:rPr lang="zh-CN" altLang="en-GB" sz="2400" dirty="0">
                <a:solidFill>
                  <a:srgbClr val="191B1F"/>
                </a:solidFill>
                <a:effectLst/>
                <a:latin typeface="微软雅黑" panose="020B0503020204020204" pitchFamily="34" charset="-122"/>
                <a:ea typeface="微软雅黑" panose="020B0503020204020204" pitchFamily="34" charset="-122"/>
              </a:rPr>
              <a:t>提出</a:t>
            </a:r>
            <a:r>
              <a:rPr lang="zh-CN" altLang="en-US" sz="2400" dirty="0">
                <a:solidFill>
                  <a:srgbClr val="191B1F"/>
                </a:solidFill>
                <a:effectLst/>
                <a:latin typeface="微软雅黑" panose="020B0503020204020204" pitchFamily="34" charset="-122"/>
                <a:ea typeface="微软雅黑" panose="020B0503020204020204" pitchFamily="34" charset="-122"/>
              </a:rPr>
              <a:t> </a:t>
            </a:r>
            <a:r>
              <a:rPr lang="en-GB" altLang="zh-CN" sz="2400" dirty="0">
                <a:solidFill>
                  <a:srgbClr val="191B1F"/>
                </a:solidFill>
                <a:effectLst/>
                <a:latin typeface="微软雅黑" panose="020B0503020204020204" pitchFamily="34" charset="-122"/>
                <a:ea typeface="微软雅黑" panose="020B0503020204020204" pitchFamily="34" charset="-122"/>
              </a:rPr>
              <a:t>Auxiliary-Loss-Free Load Balancing</a:t>
            </a:r>
            <a:endParaRPr lang="en-GB" altLang="zh-CN" sz="2400" dirty="0">
              <a:solidFill>
                <a:srgbClr val="191B1F"/>
              </a:solidFill>
              <a:effectLst/>
              <a:latin typeface="微软雅黑" panose="020B0503020204020204" pitchFamily="34" charset="-122"/>
              <a:ea typeface="微软雅黑" panose="020B0503020204020204" pitchFamily="34" charset="-122"/>
            </a:endParaRPr>
          </a:p>
          <a:p>
            <a:pPr marL="342900" indent="-342900">
              <a:lnSpc>
                <a:spcPct val="200000"/>
              </a:lnSpc>
              <a:buFont typeface="Wingdings" panose="05000000000000000000" pitchFamily="2" charset="2"/>
              <a:buChar char="Ø"/>
              <a:defRPr/>
            </a:pPr>
            <a:r>
              <a:rPr lang="zh-CN" altLang="en-GB" sz="2400" dirty="0">
                <a:solidFill>
                  <a:srgbClr val="191B1F"/>
                </a:solidFill>
                <a:latin typeface="微软雅黑" panose="020B0503020204020204" pitchFamily="34" charset="-122"/>
                <a:ea typeface="微软雅黑" panose="020B0503020204020204" pitchFamily="34" charset="-122"/>
              </a:rPr>
              <a:t>引入</a:t>
            </a:r>
            <a:r>
              <a:rPr lang="zh-CN" altLang="en-US" sz="2400" dirty="0">
                <a:solidFill>
                  <a:srgbClr val="191B1F"/>
                </a:solidFill>
                <a:latin typeface="微软雅黑" panose="020B0503020204020204" pitchFamily="34" charset="-122"/>
                <a:ea typeface="微软雅黑" panose="020B0503020204020204" pitchFamily="34" charset="-122"/>
              </a:rPr>
              <a:t> </a:t>
            </a:r>
            <a:r>
              <a:rPr lang="en-US" altLang="zh-CN" sz="2400" dirty="0">
                <a:solidFill>
                  <a:srgbClr val="191B1F"/>
                </a:solidFill>
                <a:latin typeface="微软雅黑" panose="020B0503020204020204" pitchFamily="34" charset="-122"/>
                <a:ea typeface="微软雅黑" panose="020B0503020204020204" pitchFamily="34" charset="-122"/>
              </a:rPr>
              <a:t>Bias</a:t>
            </a:r>
            <a:r>
              <a:rPr lang="zh-CN" altLang="en-US" sz="2400" dirty="0">
                <a:solidFill>
                  <a:srgbClr val="191B1F"/>
                </a:solidFill>
                <a:latin typeface="微软雅黑" panose="020B0503020204020204" pitchFamily="34" charset="-122"/>
                <a:ea typeface="微软雅黑" panose="020B0503020204020204" pitchFamily="34" charset="-122"/>
              </a:rPr>
              <a:t>，确保负载平衡</a:t>
            </a:r>
            <a:endParaRPr lang="en-US" altLang="zh-CN" sz="2400" dirty="0">
              <a:solidFill>
                <a:srgbClr val="191B1F"/>
              </a:solidFill>
              <a:latin typeface="微软雅黑" panose="020B0503020204020204" pitchFamily="34" charset="-122"/>
              <a:ea typeface="微软雅黑" panose="020B0503020204020204" pitchFamily="34" charset="-122"/>
            </a:endParaRPr>
          </a:p>
          <a:p>
            <a:pPr marL="685800" indent="-342900">
              <a:lnSpc>
                <a:spcPct val="200000"/>
              </a:lnSpc>
              <a:buFont typeface="Arial" panose="020B0604020202090204" pitchFamily="34" charset="0"/>
              <a:buChar char="•"/>
              <a:defRPr/>
            </a:pPr>
            <a:r>
              <a:rPr lang="en-US" altLang="zh-CN" sz="2000" dirty="0">
                <a:solidFill>
                  <a:srgbClr val="191B1F"/>
                </a:solidFill>
                <a:latin typeface="微软雅黑" panose="020B0503020204020204" pitchFamily="34" charset="-122"/>
                <a:ea typeface="微软雅黑" panose="020B0503020204020204" pitchFamily="34" charset="-122"/>
              </a:rPr>
              <a:t>Bias</a:t>
            </a:r>
            <a:r>
              <a:rPr lang="zh-CN" altLang="en-US" sz="2000" dirty="0">
                <a:solidFill>
                  <a:srgbClr val="191B1F"/>
                </a:solidFill>
                <a:latin typeface="微软雅黑" panose="020B0503020204020204" pitchFamily="34" charset="-122"/>
                <a:ea typeface="微软雅黑" panose="020B0503020204020204" pitchFamily="34" charset="-122"/>
              </a:rPr>
              <a:t>只影响专家路由，不影响梯度</a:t>
            </a:r>
            <a:endParaRPr lang="en-US" altLang="zh-CN" sz="2000" dirty="0">
              <a:solidFill>
                <a:srgbClr val="191B1F"/>
              </a:solidFill>
              <a:latin typeface="微软雅黑" panose="020B0503020204020204" pitchFamily="34" charset="-122"/>
              <a:ea typeface="微软雅黑" panose="020B0503020204020204" pitchFamily="34" charset="-122"/>
            </a:endParaRPr>
          </a:p>
          <a:p>
            <a:pPr marL="342900" indent="-342900">
              <a:lnSpc>
                <a:spcPct val="200000"/>
              </a:lnSpc>
              <a:buFont typeface="Wingdings" panose="05000000000000000000" pitchFamily="2" charset="2"/>
              <a:buChar char="Ø"/>
              <a:defRPr/>
            </a:pPr>
            <a:r>
              <a:rPr lang="zh-CN" altLang="en-US" sz="2400" dirty="0">
                <a:solidFill>
                  <a:srgbClr val="191B1F"/>
                </a:solidFill>
                <a:latin typeface="微软雅黑" panose="020B0503020204020204" pitchFamily="34" charset="-122"/>
                <a:ea typeface="微软雅黑" panose="020B0503020204020204" pitchFamily="34" charset="-122"/>
              </a:rPr>
              <a:t>动态调整 </a:t>
            </a:r>
            <a:r>
              <a:rPr lang="en-US" altLang="zh-CN" sz="2400" dirty="0">
                <a:solidFill>
                  <a:srgbClr val="191B1F"/>
                </a:solidFill>
                <a:latin typeface="微软雅黑" panose="020B0503020204020204" pitchFamily="34" charset="-122"/>
                <a:ea typeface="微软雅黑" panose="020B0503020204020204" pitchFamily="34" charset="-122"/>
              </a:rPr>
              <a:t>Bias</a:t>
            </a:r>
            <a:endParaRPr lang="en-US" altLang="zh-CN" sz="2400" dirty="0">
              <a:solidFill>
                <a:srgbClr val="191B1F"/>
              </a:solidFill>
              <a:latin typeface="微软雅黑" panose="020B0503020204020204" pitchFamily="34" charset="-122"/>
              <a:ea typeface="微软雅黑" panose="020B0503020204020204" pitchFamily="34" charset="-122"/>
            </a:endParaRPr>
          </a:p>
          <a:p>
            <a:pPr marL="685800" indent="-342900">
              <a:lnSpc>
                <a:spcPct val="200000"/>
              </a:lnSpc>
              <a:buFont typeface="Arial" panose="020B0604020202090204" pitchFamily="34" charset="0"/>
              <a:buChar char="•"/>
              <a:defRPr/>
            </a:pPr>
            <a:r>
              <a:rPr lang="zh-CN" altLang="en-US" sz="2000" dirty="0">
                <a:solidFill>
                  <a:srgbClr val="191B1F"/>
                </a:solidFill>
                <a:latin typeface="微软雅黑" panose="020B0503020204020204" pitchFamily="34" charset="-122"/>
                <a:ea typeface="微软雅黑" panose="020B0503020204020204" pitchFamily="34" charset="-122"/>
              </a:rPr>
              <a:t>增加 </a:t>
            </a:r>
            <a:r>
              <a:rPr lang="en-US" altLang="zh-CN" sz="2000" dirty="0">
                <a:solidFill>
                  <a:srgbClr val="191B1F"/>
                </a:solidFill>
                <a:latin typeface="微软雅黑" panose="020B0503020204020204" pitchFamily="34" charset="-122"/>
                <a:ea typeface="微软雅黑" panose="020B0503020204020204" pitchFamily="34" charset="-122"/>
              </a:rPr>
              <a:t>Bias</a:t>
            </a:r>
            <a:r>
              <a:rPr lang="zh-CN" altLang="en-US" sz="2000" dirty="0">
                <a:solidFill>
                  <a:srgbClr val="191B1F"/>
                </a:solidFill>
                <a:latin typeface="微软雅黑" panose="020B0503020204020204" pitchFamily="34" charset="-122"/>
                <a:ea typeface="微软雅黑" panose="020B0503020204020204" pitchFamily="34" charset="-122"/>
              </a:rPr>
              <a:t>：对应专家 </a:t>
            </a:r>
            <a:r>
              <a:rPr lang="en-US" altLang="zh-CN" sz="2000" dirty="0">
                <a:solidFill>
                  <a:srgbClr val="191B1F"/>
                </a:solidFill>
                <a:latin typeface="微软雅黑" panose="020B0503020204020204" pitchFamily="34" charset="-122"/>
                <a:ea typeface="微软雅黑" panose="020B0503020204020204" pitchFamily="34" charset="-122"/>
              </a:rPr>
              <a:t>underloaded</a:t>
            </a:r>
            <a:endParaRPr lang="en-US" altLang="zh-CN" sz="2000" dirty="0">
              <a:solidFill>
                <a:srgbClr val="191B1F"/>
              </a:solidFill>
              <a:latin typeface="微软雅黑" panose="020B0503020204020204" pitchFamily="34" charset="-122"/>
              <a:ea typeface="微软雅黑" panose="020B0503020204020204" pitchFamily="34" charset="-122"/>
            </a:endParaRPr>
          </a:p>
          <a:p>
            <a:pPr marL="685800" indent="-342900">
              <a:lnSpc>
                <a:spcPct val="200000"/>
              </a:lnSpc>
              <a:buFont typeface="Arial" panose="020B0604020202090204" pitchFamily="34" charset="0"/>
              <a:buChar char="•"/>
              <a:defRPr/>
            </a:pPr>
            <a:r>
              <a:rPr lang="zh-CN" altLang="en-US" sz="2000" dirty="0">
                <a:solidFill>
                  <a:srgbClr val="191B1F"/>
                </a:solidFill>
                <a:latin typeface="微软雅黑" panose="020B0503020204020204" pitchFamily="34" charset="-122"/>
                <a:ea typeface="微软雅黑" panose="020B0503020204020204" pitchFamily="34" charset="-122"/>
              </a:rPr>
              <a:t>减小 </a:t>
            </a:r>
            <a:r>
              <a:rPr lang="en-US" altLang="zh-CN" sz="2000" dirty="0">
                <a:solidFill>
                  <a:srgbClr val="191B1F"/>
                </a:solidFill>
                <a:latin typeface="微软雅黑" panose="020B0503020204020204" pitchFamily="34" charset="-122"/>
                <a:ea typeface="微软雅黑" panose="020B0503020204020204" pitchFamily="34" charset="-122"/>
              </a:rPr>
              <a:t>Bias</a:t>
            </a:r>
            <a:r>
              <a:rPr lang="zh-CN" altLang="en-US" sz="2000" dirty="0">
                <a:solidFill>
                  <a:srgbClr val="191B1F"/>
                </a:solidFill>
                <a:latin typeface="微软雅黑" panose="020B0503020204020204" pitchFamily="34" charset="-122"/>
                <a:ea typeface="微软雅黑" panose="020B0503020204020204" pitchFamily="34" charset="-122"/>
              </a:rPr>
              <a:t>：对应专家 </a:t>
            </a:r>
            <a:r>
              <a:rPr lang="en-US" altLang="zh-CN" sz="2000" dirty="0">
                <a:solidFill>
                  <a:srgbClr val="191B1F"/>
                </a:solidFill>
                <a:latin typeface="微软雅黑" panose="020B0503020204020204" pitchFamily="34" charset="-122"/>
                <a:ea typeface="微软雅黑" panose="020B0503020204020204" pitchFamily="34" charset="-122"/>
              </a:rPr>
              <a:t>overloaded</a:t>
            </a:r>
            <a:endParaRPr lang="en-US" altLang="zh-CN" sz="2000" dirty="0">
              <a:solidFill>
                <a:srgbClr val="191B1F"/>
              </a:solidFill>
              <a:latin typeface="微软雅黑" panose="020B0503020204020204" pitchFamily="34" charset="-122"/>
              <a:ea typeface="微软雅黑" panose="020B0503020204020204" pitchFamily="34" charset="-122"/>
            </a:endParaRPr>
          </a:p>
        </p:txBody>
      </p:sp>
      <p:sp>
        <p:nvSpPr>
          <p:cNvPr id="29" name="文本框 28"/>
          <p:cNvSpPr txBox="1"/>
          <p:nvPr/>
        </p:nvSpPr>
        <p:spPr>
          <a:xfrm>
            <a:off x="619492" y="51758"/>
            <a:ext cx="9958738"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负载均衡优化</a:t>
            </a:r>
            <a:endParaRPr kumimoji="1" lang="zh-CN" alt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1"/>
          <a:stretch>
            <a:fillRect/>
          </a:stretch>
        </p:blipFill>
        <p:spPr>
          <a:xfrm>
            <a:off x="7516088" y="3429000"/>
            <a:ext cx="3881291" cy="2812691"/>
          </a:xfrm>
          <a:prstGeom prst="rect">
            <a:avLst/>
          </a:prstGeom>
        </p:spPr>
      </p:pic>
      <p:pic>
        <p:nvPicPr>
          <p:cNvPr id="9" name="图片 8"/>
          <p:cNvPicPr>
            <a:picLocks noChangeAspect="1"/>
          </p:cNvPicPr>
          <p:nvPr/>
        </p:nvPicPr>
        <p:blipFill>
          <a:blip r:embed="rId2"/>
          <a:stretch>
            <a:fillRect/>
          </a:stretch>
        </p:blipFill>
        <p:spPr>
          <a:xfrm>
            <a:off x="7031818" y="815351"/>
            <a:ext cx="4849833" cy="2615745"/>
          </a:xfrm>
          <a:prstGeom prst="rect">
            <a:avLst/>
          </a:prstGeom>
        </p:spPr>
      </p:pic>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5949</Words>
  <Application>WPS 表格</Application>
  <PresentationFormat>宽屏</PresentationFormat>
  <Paragraphs>300</Paragraphs>
  <Slides>40</Slides>
  <Notes>37</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40</vt:i4>
      </vt:variant>
    </vt:vector>
  </HeadingPairs>
  <TitlesOfParts>
    <vt:vector size="59" baseType="lpstr">
      <vt:lpstr>Arial</vt:lpstr>
      <vt:lpstr>宋体</vt:lpstr>
      <vt:lpstr>Wingdings</vt:lpstr>
      <vt:lpstr>Gill Sans MT</vt:lpstr>
      <vt:lpstr>苹方-简</vt:lpstr>
      <vt:lpstr>微软雅黑</vt:lpstr>
      <vt:lpstr>汉仪旗黑</vt:lpstr>
      <vt:lpstr>DengXian</vt:lpstr>
      <vt:lpstr>Times New Roman</vt:lpstr>
      <vt:lpstr>等线</vt:lpstr>
      <vt:lpstr>等线</vt:lpstr>
      <vt:lpstr>宋体</vt:lpstr>
      <vt:lpstr>Arial Unicode MS</vt:lpstr>
      <vt:lpstr>汉仪中等线KW</vt:lpstr>
      <vt:lpstr>汉仪书宋二KW</vt:lpstr>
      <vt:lpstr>Wingdings</vt:lpstr>
      <vt:lpstr>Apple Color Emoji</vt:lpstr>
      <vt:lpstr>等线</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渊虹</dc:creator>
  <cp:lastModifiedBy>王总辉</cp:lastModifiedBy>
  <cp:revision>125</cp:revision>
  <dcterms:created xsi:type="dcterms:W3CDTF">2025-02-16T15:34:17Z</dcterms:created>
  <dcterms:modified xsi:type="dcterms:W3CDTF">2025-02-16T15:34:17Z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AB89AC55735667D13CCCB167435F1765_42</vt:lpwstr>
  </property>
  <property fmtid="{D5CDD505-2E9C-101B-9397-08002B2CF9AE}" pid="3" name="KSOProductBuildVer">
    <vt:lpwstr>2052-6.11.0.8885</vt:lpwstr>
  </property>
</Properties>
</file>